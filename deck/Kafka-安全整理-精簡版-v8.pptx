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應用系統、管理介面(C3)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3af79df4-f267-44b4-9781-9bebd58cb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383280"/>
                <a:gridCol w="249631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綁在帳號或憑證的名稱上,只授權指定的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broker:Kafka 內;REST Proxy:憑證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 (C3)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84849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內部互連:內部帳號或專用憑證;C3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內部互連是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依選用的方案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b709640c-07a2-4493-a090-157fe2e842f3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3" name="bfc00ea5-0581-42d7-aa13-28043901d2e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只開放應用系統的 topic 與 consumer group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內;新系統上線申請帳號並綁定可存取資源(topic)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不另建帳號;新系統上線時簽發憑證,綁定可存取資源(topic) 的 role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600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密碼管理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於 Kafka 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依據憑證效期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管理介面(C3)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 + 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4" name="ce858fc9-1265-4ee9-99d5-a5b96062536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71423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0cec1a2-6df3-4036-8967-b3cc72b9fc27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ab32721f-0075-458d-ab2f-973d9a40a91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68580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291840"/>
                <a:gridCol w="4690872"/>
              </a:tblGrid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3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menu):分層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操作員只能從選單執行審核過的作業;能不能做由 Kafka 的 RBAC 決定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5" name="65b4a597-e821-42a3-b345-8c46f2d5ca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480560"/>
                <a:gridCol w="25877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層級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誰用(AD 群組)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控管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值班查看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健康檢查、topic 狀態、consumer 落後量、磁碟、憑證到期日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唯讀;不需單號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服務操作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重啟單一 broker、查看服務日誌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需單號;一次只重啟一台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變更作業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建立或修改 topic、新增應用系統帳號、更換密碼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需變更單;刪除要雙人確認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18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授權與緊急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kafka-rbac-admin、kafka-breakglass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指派權限、匯出 audit、緊急模式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雙人確認;全程記錄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2b9195ce-b1a0-480c-b87f-63aa87e60b23"/>
          <p:cNvSpPr/>
          <p:nvPr/>
        </p:nvSpPr>
        <p:spPr>
          <a:xfrm>
            <a:off x="548640" y="4909339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選單以操作員本人的 AD 帳號執行:選了沒權限的項目,Kafka 會拒絕,不是選單判斷</a:t>
            </a:r>
            <a:endParaRPr lang="en-US" sz="1250" dirty="0"/>
          </a:p>
        </p:txBody>
      </p:sp>
      <p:sp>
        <p:nvSpPr>
          <p:cNvPr id="4" name="0084674e-cf27-41a8-9dbe-d49547ec133a"/>
          <p:cNvSpPr/>
          <p:nvPr/>
        </p:nvSpPr>
        <p:spPr>
          <a:xfrm>
            <a:off x="548640" y="541843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每次執行留紀錄:時間、操作者、項目、單號、結果;變更類執行前顯示影響並要求確認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維運操作選單(OP menu):做法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一支 shell 選單放在跳板機;環境相依的部分可抽換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6" name="efe09189-644c-4894-8699-223152a8e86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572000"/>
                <a:gridCol w="44165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部分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負責什麼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換環境時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核心流程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登入身分 → 選單 → 單號 → 確認 → 執行 → 記錄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選單項目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每個項目一段:編號、層級、是否需單號與確認、做什麼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不用改;新增項目加一段即可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61091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環境後端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怎麼執行 Kafka 工具、重啟服務、看日誌、看磁碟、列憑證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只換這一個檔案:現在是 docker,正式環境是 VM(systemd、ssh)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d1d35159-cee9-47ec-a2ba-eb73589dfbff"/>
          <p:cNvSpPr/>
          <p:nvPr/>
        </p:nvSpPr>
        <p:spPr>
          <a:xfrm>
            <a:off x="548640" y="4315391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操作員輸入自己的 AD 帳密,密碼只存在記憶體;正式環境把選單設為登入殼層,離開選單即登出</a:t>
            </a:r>
            <a:endParaRPr lang="en-US" sz="1250" dirty="0"/>
          </a:p>
        </p:txBody>
      </p:sp>
      <p:sp>
        <p:nvSpPr>
          <p:cNvPr id="4" name="1b835936-80e1-4b3b-b084-e09a504c9668"/>
          <p:cNvSpPr/>
          <p:nvPr/>
        </p:nvSpPr>
        <p:spPr>
          <a:xfrm>
            <a:off x="548640" y="482449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已在 demo 驗證:管理員可建 topic、改設定、重啟 broker;唯讀帳號選「建立 topic」被拒並記錄為 DENIED</a:t>
            </a:r>
            <a:endParaRPr lang="en-US" sz="1250" dirty="0"/>
          </a:p>
        </p:txBody>
      </p:sp>
      <p:sp>
        <p:nvSpPr>
          <p:cNvPr id="5" name="a67b458b-5a9f-4b84-87a6-40ddf9bb6359"/>
          <p:cNvSpPr/>
          <p:nvPr/>
        </p:nvSpPr>
        <p:spPr>
          <a:xfrm>
            <a:off x="548640" y="533358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尚未做:雙人確認、授權與緊急層;VM 後端的骨架沒有實機可測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元件之間的連線;全部走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7" name="62b2d3a3-adc1-4e18-a611-57f93ee94d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4023360"/>
                <a:gridCol w="313639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互連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兩個方案,見下一頁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7212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10fadeb2-076a-4058-b32c-8ae6c6383532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叢集內部連線:兩個方案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controller 與 broker 之間的認證方式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8" name="72155315-761c-41bc-9c47-26cc4c826b4d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507992"/>
              </a:tblGrid>
              <a:tr h="4242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A:內部帳號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方案 B:共用一張專用憑證(mTLS)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憑證(mTLS)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憑證的名稱是 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要管的東西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兩份密碼:Kafka 內一份、設定檔一份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一張憑證,只放在 broker 與 controller;要含這些主機的名稱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定期要做的事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更換密碼,兩邊都要改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21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代價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初始化叢集時要先建帳號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多一張憑證;不需要任何內部帳號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58b3d591-5cc8-484b-84c9-556673bf8dce"/>
          <p:cNvSpPr/>
          <p:nvPr/>
        </p:nvSpPr>
        <p:spPr>
          <a:xfrm>
            <a:off x="548640" y="523176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方案 B 不能用共用的 server 憑證:管理介面(C3)也持有它,實測會讓未登入的人取得最高權限</a:t>
            </a:r>
            <a:endParaRPr lang="en-US" sz="1250" dirty="0"/>
          </a:p>
        </p:txBody>
      </p:sp>
      <p:sp>
        <p:nvSpPr>
          <p:cNvPr id="4" name="74bd1d06-8806-4531-8fc3-5021f7043b0c"/>
          <p:cNvSpPr/>
          <p:nvPr/>
        </p:nvSpPr>
        <p:spPr>
          <a:xfrm>
            <a:off x="548640" y="5740867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兩個方案的內部埠都要用防火牆限制,只開放給 broker 與 controller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9" name="bc49d537-5a0a-4d93-97f2-055c1067a6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651760"/>
                <a:gridCol w="459943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管理介面對 AD 查詢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管理介面使用者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跳板機接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操作員用本人帳號登入,選單沿用這個身分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412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操作員的作業項目清單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維運操作選單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依客戶現有 SOP 確認哪些項目要放進選單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