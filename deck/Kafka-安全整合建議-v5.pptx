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  <p:sldId r:id="rId51-created" id="288"/>
    <p:sldId r:id="rId52-created" id="289"/>
    <p:sldId r:id="rId53-created" id="290"/>
    <p:sldId r:id="rId54-created" id="291"/>
    <p:sldId r:id="rId55-created" id="292"/>
    <p:sldId r:id="rId56-created" id="293"/>
    <p:sldId r:id="rId57-created" id="294"/>
    <p:sldId r:id="rId58-created" id="295"/>
    <p:sldId r:id="rId59-created" id="296"/>
    <p:sldId r:id="rId60-created" id="297"/>
    <p:sldId r:id="rId61-created" id="298"/>
    <p:sldId r:id="rId62-created" id="29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Relationship Id="rId51-created" Type="http://schemas.openxmlformats.org/officeDocument/2006/relationships/slide" Target="slides/slide40.xml"/><Relationship Id="rId52-created" Type="http://schemas.openxmlformats.org/officeDocument/2006/relationships/slide" Target="slides/slide41.xml"/><Relationship Id="rId53-created" Type="http://schemas.openxmlformats.org/officeDocument/2006/relationships/slide" Target="slides/slide42.xml"/><Relationship Id="rId54-created" Type="http://schemas.openxmlformats.org/officeDocument/2006/relationships/slide" Target="slides/slide43.xml"/><Relationship Id="rId55-created" Type="http://schemas.openxmlformats.org/officeDocument/2006/relationships/slide" Target="slides/slide44.xml"/><Relationship Id="rId56-created" Type="http://schemas.openxmlformats.org/officeDocument/2006/relationships/slide" Target="slides/slide45.xml"/><Relationship Id="rId57-created" Type="http://schemas.openxmlformats.org/officeDocument/2006/relationships/slide" Target="slides/slide46.xml"/><Relationship Id="rId58-created" Type="http://schemas.openxmlformats.org/officeDocument/2006/relationships/slide" Target="slides/slide47.xml"/><Relationship Id="rId59-created" Type="http://schemas.openxmlformats.org/officeDocument/2006/relationships/slide" Target="slides/slide48.xml"/><Relationship Id="rId60-created" Type="http://schemas.openxmlformats.org/officeDocument/2006/relationships/slide" Target="slides/slide49.xml"/><Relationship Id="rId61-created" Type="http://schemas.openxmlformats.org/officeDocument/2006/relationships/slide" Target="slides/slide50.xml"/><Relationship Id="rId62-created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8-created" Type="http://schemas.openxmlformats.org/officeDocument/2006/relationships/image" Target="../media/media15.png"/><Relationship Id="rId9-created" Type="http://schemas.openxmlformats.org/officeDocument/2006/relationships/image" Target="../media/media16.png"/><Relationship Id="rId10-created" Type="http://schemas.openxmlformats.org/officeDocument/2006/relationships/image" Target="../media/media17.png"/><Relationship Id="rId11-created" Type="http://schemas.openxmlformats.org/officeDocument/2006/relationships/image" Target="../media/media18.png"/><Relationship Id="rId12-created" Type="http://schemas.openxmlformats.org/officeDocument/2006/relationships/image" Target="../media/media1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安全整合建議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依客戶前提的整體方案,與行內 CyberArk 的整合方式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客戶前提與本方案的對應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每一項前提都有一個明確的做法;細節在後面各章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0cbe01e3-5d5c-433e-ac3f-e23fd1275b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本方案的做法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只有 user 與 group;使用者名稱 =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帳號登入,授權綁在 AD 群組;服務與平台元件不佔用 AD 帳號;身分名稱以 AD 記錄為準(登入不分大小寫)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憑證要少:共用一張 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 server 憑證只做傳輸加密、不當身分;需要身分的元件各一張 client 憑證(C3、REST Proxy、初始化用的 bootstrap、經 REST Proxy 的應用系統)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RHEL 9 VM,手動安裝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 + systemd;維運選單(OP menu)放跳板機;不依賴自動化工具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有系統只能用 HTTP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Proxy;以 client 憑證為身分,REST Proxy 代為向 MDS 取 token,身分一路傳到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人只能唯讀,依 AD 群組分層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 個 AD 群組對應角色;需要變更時臨時加入群組、做完移出,Kafka 端零變更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負載平衡用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只放在 REST Proxy 前面,L4 透傳;REST Proxy 連 MDS 設多台即可,不需要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當「秘密管理層」:人的特權存取、主機帳號輪替、應用程式取密碼;不改變身分與授權設計(第五章)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一、整體架構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元件、連線與四條身分路徑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整體架構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正式環境的元件與主要連線;內部埠只開給 broker 與 controller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309dbff-0385-4751-8e04-fdacc1c09547"/>
          <p:cNvSpPr/>
          <p:nvPr/>
        </p:nvSpPr>
        <p:spPr>
          <a:xfrm>
            <a:off x="548640" y="172747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fd949bbd-dda9-46ba-a7a9-7acebaa05435"/>
          <p:cNvSpPr/>
          <p:nvPr/>
        </p:nvSpPr>
        <p:spPr>
          <a:xfrm>
            <a:off x="12344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dd738b5e-11b3-4491-9414-3c9f09f03ff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355141" y="1966751"/>
            <a:ext cx="307238" cy="307238"/>
          </a:xfrm>
          <a:prstGeom prst="rect">
            <a:avLst/>
          </a:prstGeom>
        </p:spPr>
      </p:pic>
      <p:sp>
        <p:nvSpPr>
          <p:cNvPr id="5" name="9089dea3-90a5-490d-854d-aa60df8821eb"/>
          <p:cNvSpPr/>
          <p:nvPr/>
        </p:nvSpPr>
        <p:spPr>
          <a:xfrm>
            <a:off x="621792" y="2448697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</a:t>
            </a:r>
            <a:endParaRPr lang="en-US" sz="1400" dirty="0"/>
          </a:p>
        </p:txBody>
      </p:sp>
      <p:sp>
        <p:nvSpPr>
          <p:cNvPr id="6" name="53656900-43c3-4f12-a0c3-e3bb346040cc"/>
          <p:cNvSpPr/>
          <p:nvPr/>
        </p:nvSpPr>
        <p:spPr>
          <a:xfrm>
            <a:off x="640080" y="283052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帳號;瀏覽器、工具、腳本</a:t>
            </a:r>
            <a:endParaRPr lang="en-US" sz="1050" dirty="0"/>
          </a:p>
        </p:txBody>
      </p:sp>
      <p:sp>
        <p:nvSpPr>
          <p:cNvPr id="7" name="476ab40d-add4-470b-bdaa-8f958bc24cd6"/>
          <p:cNvSpPr/>
          <p:nvPr/>
        </p:nvSpPr>
        <p:spPr>
          <a:xfrm>
            <a:off x="548640" y="321234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0aaf2fa3-0a85-4903-b3d7-9df9bc2cb002"/>
          <p:cNvSpPr/>
          <p:nvPr/>
        </p:nvSpPr>
        <p:spPr>
          <a:xfrm>
            <a:off x="12344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bd144183-5d4c-4cff-8304-7052ca92596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1355141" y="3451621"/>
            <a:ext cx="307238" cy="307238"/>
          </a:xfrm>
          <a:prstGeom prst="rect">
            <a:avLst/>
          </a:prstGeom>
        </p:spPr>
      </p:pic>
      <p:sp>
        <p:nvSpPr>
          <p:cNvPr id="10" name="633d51e3-bcca-4a5e-b009-bd539010d233"/>
          <p:cNvSpPr/>
          <p:nvPr/>
        </p:nvSpPr>
        <p:spPr>
          <a:xfrm>
            <a:off x="621792" y="393356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應用系統</a:t>
            </a:r>
            <a:endParaRPr lang="en-US" sz="1400" dirty="0"/>
          </a:p>
        </p:txBody>
      </p:sp>
      <p:sp>
        <p:nvSpPr>
          <p:cNvPr id="11" name="27451403-4e9d-4a1e-b577-d85b80f1f251"/>
          <p:cNvSpPr/>
          <p:nvPr/>
        </p:nvSpPr>
        <p:spPr>
          <a:xfrm>
            <a:off x="640080" y="431539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帳號或 client 憑證</a:t>
            </a:r>
            <a:endParaRPr lang="en-US" sz="1050" dirty="0"/>
          </a:p>
        </p:txBody>
      </p:sp>
      <p:sp>
        <p:nvSpPr>
          <p:cNvPr id="12" name="a36807e6-5bda-4012-9ed6-ad0cc22f7f3d"/>
          <p:cNvSpPr/>
          <p:nvPr/>
        </p:nvSpPr>
        <p:spPr>
          <a:xfrm>
            <a:off x="548640" y="469721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85d59003-b2a2-409f-8d1a-ed3f4ed32a0e"/>
          <p:cNvSpPr/>
          <p:nvPr/>
        </p:nvSpPr>
        <p:spPr>
          <a:xfrm>
            <a:off x="12344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fafabe84-5b79-4231-9364-ba2eca137a8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355141" y="4936491"/>
            <a:ext cx="307238" cy="307238"/>
          </a:xfrm>
          <a:prstGeom prst="rect">
            <a:avLst/>
          </a:prstGeom>
        </p:spPr>
      </p:pic>
      <p:sp>
        <p:nvSpPr>
          <p:cNvPr id="15" name="d6b96e8a-7a2b-489c-adb3-e7efd1d019a3"/>
          <p:cNvSpPr/>
          <p:nvPr/>
        </p:nvSpPr>
        <p:spPr>
          <a:xfrm>
            <a:off x="621792" y="541843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跳板機 + OP menu</a:t>
            </a:r>
            <a:endParaRPr lang="en-US" sz="1300" dirty="0"/>
          </a:p>
        </p:txBody>
      </p:sp>
      <p:sp>
        <p:nvSpPr>
          <p:cNvPr id="16" name="4b8a45b7-fb7f-4d3c-9c7b-87c8223917c3"/>
          <p:cNvSpPr/>
          <p:nvPr/>
        </p:nvSpPr>
        <p:spPr>
          <a:xfrm>
            <a:off x="640080" y="5800262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本人 AD 身分</a:t>
            </a:r>
            <a:endParaRPr lang="en-US" sz="1050" dirty="0"/>
          </a:p>
        </p:txBody>
      </p:sp>
      <p:sp>
        <p:nvSpPr>
          <p:cNvPr id="17" name="c0b5def1-75af-4248-9140-d4fdf082b437"/>
          <p:cNvSpPr/>
          <p:nvPr/>
        </p:nvSpPr>
        <p:spPr>
          <a:xfrm>
            <a:off x="3017520" y="172747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abd28bd5-5f3b-4f48-a0e2-97be77a619f2"/>
          <p:cNvSpPr/>
          <p:nvPr/>
        </p:nvSpPr>
        <p:spPr>
          <a:xfrm>
            <a:off x="37490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eee02ba5-97ff-41bc-8c9d-2ecb0910ce9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869741" y="1966751"/>
            <a:ext cx="307238" cy="307238"/>
          </a:xfrm>
          <a:prstGeom prst="rect">
            <a:avLst/>
          </a:prstGeom>
        </p:spPr>
      </p:pic>
      <p:sp>
        <p:nvSpPr>
          <p:cNvPr id="20" name="45ed64ab-40c5-47b4-8123-e97315066270"/>
          <p:cNvSpPr/>
          <p:nvPr/>
        </p:nvSpPr>
        <p:spPr>
          <a:xfrm>
            <a:off x="3090672" y="2448697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a39e519a-92e1-4425-87a5-63c715514179"/>
          <p:cNvSpPr/>
          <p:nvPr/>
        </p:nvSpPr>
        <p:spPr>
          <a:xfrm>
            <a:off x="3108960" y="283052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HTTPS;人用 AD,自身用憑證</a:t>
            </a:r>
            <a:endParaRPr lang="en-US" sz="1050" dirty="0"/>
          </a:p>
        </p:txBody>
      </p:sp>
      <p:sp>
        <p:nvSpPr>
          <p:cNvPr id="22" name="4964ac48-dfa1-45f8-90d2-38d6113e8d65"/>
          <p:cNvSpPr/>
          <p:nvPr/>
        </p:nvSpPr>
        <p:spPr>
          <a:xfrm>
            <a:off x="3017520" y="321234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3" name="e5a6b2f5-9b4e-45e6-872f-6bbf375bda94"/>
          <p:cNvSpPr/>
          <p:nvPr/>
        </p:nvSpPr>
        <p:spPr>
          <a:xfrm>
            <a:off x="37490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4" name="26a9c96f-2ca0-483a-82b2-5c00640495a3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69741" y="3451621"/>
            <a:ext cx="307238" cy="307238"/>
          </a:xfrm>
          <a:prstGeom prst="rect">
            <a:avLst/>
          </a:prstGeom>
        </p:spPr>
      </p:pic>
      <p:sp>
        <p:nvSpPr>
          <p:cNvPr id="25" name="3ba7a021-13fd-4219-962f-da8e96dde380"/>
          <p:cNvSpPr/>
          <p:nvPr/>
        </p:nvSpPr>
        <p:spPr>
          <a:xfrm>
            <a:off x="3090672" y="393356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F5 → REST Proxy</a:t>
            </a:r>
            <a:endParaRPr lang="en-US" sz="1400" dirty="0"/>
          </a:p>
        </p:txBody>
      </p:sp>
      <p:sp>
        <p:nvSpPr>
          <p:cNvPr id="26" name="e8bc1fb4-8036-4c05-b8d8-c9c6c1ff683c"/>
          <p:cNvSpPr/>
          <p:nvPr/>
        </p:nvSpPr>
        <p:spPr>
          <a:xfrm>
            <a:off x="3108960" y="431539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 透傳;帳密或 client 憑證</a:t>
            </a:r>
            <a:endParaRPr lang="en-US" sz="1050" dirty="0"/>
          </a:p>
        </p:txBody>
      </p:sp>
      <p:sp>
        <p:nvSpPr>
          <p:cNvPr id="27" name="3e01a41e-e1f1-4e7a-b34b-a2d9c9edf19f"/>
          <p:cNvSpPr/>
          <p:nvPr/>
        </p:nvSpPr>
        <p:spPr>
          <a:xfrm>
            <a:off x="3017520" y="469721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f56cc88e-6d23-4512-a263-09e91d0d5c90"/>
          <p:cNvSpPr/>
          <p:nvPr/>
        </p:nvSpPr>
        <p:spPr>
          <a:xfrm>
            <a:off x="37490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9" name="ebc9c77c-9cb7-4417-97af-1e7a12fe0283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3869741" y="4936491"/>
            <a:ext cx="307238" cy="307238"/>
          </a:xfrm>
          <a:prstGeom prst="rect">
            <a:avLst/>
          </a:prstGeom>
        </p:spPr>
      </p:pic>
      <p:sp>
        <p:nvSpPr>
          <p:cNvPr id="30" name="83da1811-4e29-4807-893d-793b15d18000"/>
          <p:cNvSpPr/>
          <p:nvPr/>
        </p:nvSpPr>
        <p:spPr>
          <a:xfrm>
            <a:off x="3090672" y="541843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</a:t>
            </a:r>
            <a:endParaRPr lang="en-US" sz="1400" dirty="0"/>
          </a:p>
        </p:txBody>
      </p:sp>
      <p:sp>
        <p:nvSpPr>
          <p:cNvPr id="31" name="e9292932-acf7-4c1c-9736-42fc313df533"/>
          <p:cNvSpPr/>
          <p:nvPr/>
        </p:nvSpPr>
        <p:spPr>
          <a:xfrm>
            <a:off x="3108960" y="5800262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+ 帳密</a:t>
            </a:r>
            <a:endParaRPr lang="en-US" sz="1050" dirty="0"/>
          </a:p>
        </p:txBody>
      </p:sp>
      <p:sp>
        <p:nvSpPr>
          <p:cNvPr id="32" name="d3542508-61e3-4a2b-b775-576794df39e0"/>
          <p:cNvSpPr/>
          <p:nvPr/>
        </p:nvSpPr>
        <p:spPr>
          <a:xfrm>
            <a:off x="5669280" y="1727475"/>
            <a:ext cx="3657600" cy="441218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40e514b9-46ea-4808-beae-ee7aafcdb9c4"/>
          <p:cNvSpPr/>
          <p:nvPr/>
        </p:nvSpPr>
        <p:spPr>
          <a:xfrm>
            <a:off x="5760720" y="1769899"/>
            <a:ext cx="3474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34" name="00cb3c40-d82a-45f2-be96-211bf8dfb4aa"/>
          <p:cNvSpPr/>
          <p:nvPr/>
        </p:nvSpPr>
        <p:spPr>
          <a:xfrm>
            <a:off x="5852160" y="2151723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5" name="5c2672ee-947f-4019-be88-d4f58b550920"/>
          <p:cNvSpPr/>
          <p:nvPr/>
        </p:nvSpPr>
        <p:spPr>
          <a:xfrm>
            <a:off x="7223760" y="227899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6" name="c8950c36-b035-418b-a902-056331af399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7344461" y="2390999"/>
            <a:ext cx="307238" cy="307238"/>
          </a:xfrm>
          <a:prstGeom prst="rect">
            <a:avLst/>
          </a:prstGeom>
        </p:spPr>
      </p:pic>
      <p:sp>
        <p:nvSpPr>
          <p:cNvPr id="37" name="997d60a0-e51a-4c9b-a18f-bb7a737f1347"/>
          <p:cNvSpPr/>
          <p:nvPr/>
        </p:nvSpPr>
        <p:spPr>
          <a:xfrm>
            <a:off x="5925312" y="287294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×N(內建 MDS)</a:t>
            </a:r>
            <a:endParaRPr lang="en-US" sz="1300" dirty="0"/>
          </a:p>
        </p:txBody>
      </p:sp>
      <p:sp>
        <p:nvSpPr>
          <p:cNvPr id="38" name="bb0289da-8cde-4222-b5aa-f00d9f4bd9b0"/>
          <p:cNvSpPr/>
          <p:nvPr/>
        </p:nvSpPr>
        <p:spPr>
          <a:xfrm>
            <a:off x="5943600" y="325477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對外埠:AD 帳密、SCRAM、token</a:t>
            </a:r>
            <a:endParaRPr lang="en-US" sz="1050" dirty="0"/>
          </a:p>
        </p:txBody>
      </p:sp>
      <p:sp>
        <p:nvSpPr>
          <p:cNvPr id="39" name="89719c38-0515-408c-8ea5-cf551d763a80"/>
          <p:cNvSpPr/>
          <p:nvPr/>
        </p:nvSpPr>
        <p:spPr>
          <a:xfrm>
            <a:off x="5852160" y="3636594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0" name="6b6212cb-3bef-4fc6-84f3-f99625a5f2d3"/>
          <p:cNvSpPr/>
          <p:nvPr/>
        </p:nvSpPr>
        <p:spPr>
          <a:xfrm>
            <a:off x="7223760" y="37638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1" name="884b8ca7-aec8-488a-b731-0a7efa36497a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344461" y="3875870"/>
            <a:ext cx="307238" cy="307238"/>
          </a:xfrm>
          <a:prstGeom prst="rect">
            <a:avLst/>
          </a:prstGeom>
        </p:spPr>
      </p:pic>
      <p:sp>
        <p:nvSpPr>
          <p:cNvPr id="42" name="c3afa5ca-63d4-479b-b168-d1ba0d5a2feb"/>
          <p:cNvSpPr/>
          <p:nvPr/>
        </p:nvSpPr>
        <p:spPr>
          <a:xfrm>
            <a:off x="5925312" y="435781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×3</a:t>
            </a:r>
            <a:endParaRPr lang="en-US" sz="1300" dirty="0"/>
          </a:p>
        </p:txBody>
      </p:sp>
      <p:sp>
        <p:nvSpPr>
          <p:cNvPr id="43" name="2e3fc919-c98b-42c8-9215-9dde83a43aca"/>
          <p:cNvSpPr/>
          <p:nvPr/>
        </p:nvSpPr>
        <p:spPr>
          <a:xfrm>
            <a:off x="5943600" y="473964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內部憑證(mTLS);只接 broker</a:t>
            </a:r>
            <a:endParaRPr lang="en-US" sz="1050" dirty="0"/>
          </a:p>
        </p:txBody>
      </p:sp>
      <p:sp>
        <p:nvSpPr>
          <p:cNvPr id="44" name="0c7741cb-fa0c-437d-bafa-02a5c9f870ec"/>
          <p:cNvSpPr/>
          <p:nvPr/>
        </p:nvSpPr>
        <p:spPr>
          <a:xfrm>
            <a:off x="5852160" y="5079039"/>
            <a:ext cx="3291840" cy="97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內部連線:mTLS,broker 與 controller 共用一張內部憑證(身分是 super user);MDS 負責驗證、授權、簽 token</a:t>
            </a:r>
            <a:endParaRPr lang="en-US" sz="1050" dirty="0"/>
          </a:p>
        </p:txBody>
      </p:sp>
      <p:sp>
        <p:nvSpPr>
          <p:cNvPr id="45" name="70b61560-5c92-49a8-8237-c3fe1b386adb"/>
          <p:cNvSpPr/>
          <p:nvPr/>
        </p:nvSpPr>
        <p:spPr>
          <a:xfrm>
            <a:off x="9692640" y="172747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6" name="1aaa54ee-27af-4c91-8bbc-35261f52407e"/>
          <p:cNvSpPr/>
          <p:nvPr/>
        </p:nvSpPr>
        <p:spPr>
          <a:xfrm>
            <a:off x="10392156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7" name="c905ec1b-2833-40ad-9690-5d4c8e0f6c63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10512857" y="1966751"/>
            <a:ext cx="307238" cy="307238"/>
          </a:xfrm>
          <a:prstGeom prst="rect">
            <a:avLst/>
          </a:prstGeom>
        </p:spPr>
      </p:pic>
      <p:sp>
        <p:nvSpPr>
          <p:cNvPr id="48" name="0ef3f939-dc43-48ae-a460-632e4cd0820f"/>
          <p:cNvSpPr/>
          <p:nvPr/>
        </p:nvSpPr>
        <p:spPr>
          <a:xfrm>
            <a:off x="9765792" y="2448697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</p:txBody>
      </p:sp>
      <p:sp>
        <p:nvSpPr>
          <p:cNvPr id="49" name="d238d323-e358-4000-9eb2-6e12af7b26a7"/>
          <p:cNvSpPr/>
          <p:nvPr/>
        </p:nvSpPr>
        <p:spPr>
          <a:xfrm>
            <a:off x="9784080" y="283052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使用者與群組;加密連線</a:t>
            </a:r>
            <a:endParaRPr lang="en-US" sz="1050" dirty="0"/>
          </a:p>
        </p:txBody>
      </p:sp>
      <p:sp>
        <p:nvSpPr>
          <p:cNvPr id="50" name="e47b4e9f-cd1d-49e5-aef9-a226464b84a2"/>
          <p:cNvSpPr/>
          <p:nvPr/>
        </p:nvSpPr>
        <p:spPr>
          <a:xfrm>
            <a:off x="9692640" y="321234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1" name="2e44ab23-73d1-495e-b2ad-7c1c7a8e477a"/>
          <p:cNvSpPr/>
          <p:nvPr/>
        </p:nvSpPr>
        <p:spPr>
          <a:xfrm>
            <a:off x="10392156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52" name="7a7da651-313e-494b-8cbd-97d610621f03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10512857" y="3451621"/>
            <a:ext cx="307238" cy="307238"/>
          </a:xfrm>
          <a:prstGeom prst="rect">
            <a:avLst/>
          </a:prstGeom>
        </p:spPr>
      </p:pic>
      <p:sp>
        <p:nvSpPr>
          <p:cNvPr id="53" name="dfa54b76-c7c5-4a5a-bbd3-d244eb1c13de"/>
          <p:cNvSpPr/>
          <p:nvPr/>
        </p:nvSpPr>
        <p:spPr>
          <a:xfrm>
            <a:off x="9765792" y="393356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</a:t>
            </a:r>
            <a:endParaRPr lang="en-US" sz="1400" dirty="0"/>
          </a:p>
        </p:txBody>
      </p:sp>
      <p:sp>
        <p:nvSpPr>
          <p:cNvPr id="54" name="d11358c2-cf57-4ceb-bb54-911dac5410d9"/>
          <p:cNvSpPr/>
          <p:nvPr/>
        </p:nvSpPr>
        <p:spPr>
          <a:xfrm>
            <a:off x="9784080" y="431539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PSM、CPM、CCP</a:t>
            </a:r>
            <a:endParaRPr lang="en-US" sz="1050" dirty="0"/>
          </a:p>
        </p:txBody>
      </p:sp>
      <p:sp>
        <p:nvSpPr>
          <p:cNvPr id="55" name="8308f08c-6136-472a-9c15-34d660c53c15"/>
          <p:cNvSpPr/>
          <p:nvPr/>
        </p:nvSpPr>
        <p:spPr>
          <a:xfrm>
            <a:off x="9692640" y="469721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56" name="982350cf-fba1-445d-ba84-7105bc953137"/>
          <p:cNvSpPr/>
          <p:nvPr/>
        </p:nvSpPr>
        <p:spPr>
          <a:xfrm>
            <a:off x="10392156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57" name="f877a95b-fd92-4546-9c1a-1f187837b50c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10512857" y="4936491"/>
            <a:ext cx="307238" cy="307238"/>
          </a:xfrm>
          <a:prstGeom prst="rect">
            <a:avLst/>
          </a:prstGeom>
        </p:spPr>
      </p:pic>
      <p:sp>
        <p:nvSpPr>
          <p:cNvPr id="58" name="5f8b248e-886d-466f-bf99-42761a580ab1"/>
          <p:cNvSpPr/>
          <p:nvPr/>
        </p:nvSpPr>
        <p:spPr>
          <a:xfrm>
            <a:off x="9765792" y="541843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</a:t>
            </a:r>
            <a:endParaRPr lang="en-US" sz="1400" dirty="0"/>
          </a:p>
        </p:txBody>
      </p:sp>
      <p:sp>
        <p:nvSpPr>
          <p:cNvPr id="59" name="7fa3ff4d-caf8-4584-879c-bec9e7f14efd"/>
          <p:cNvSpPr/>
          <p:nvPr/>
        </p:nvSpPr>
        <p:spPr>
          <a:xfrm>
            <a:off x="9784080" y="5800262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內部埠只開給叢集</a:t>
            </a:r>
            <a:endParaRPr lang="en-US" sz="1050" dirty="0"/>
          </a:p>
        </p:txBody>
      </p:sp>
      <p:sp>
        <p:nvSpPr>
          <p:cNvPr id="60" name="35f86081-4fad-477e-8088-4a00f588b8c6"/>
          <p:cNvSpPr/>
          <p:nvPr/>
        </p:nvSpPr>
        <p:spPr>
          <a:xfrm>
            <a:off x="2468880" y="2406272"/>
            <a:ext cx="5486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1" name="0d7aeca3-3a09-4385-9524-c0dc133e18bd"/>
          <p:cNvSpPr/>
          <p:nvPr/>
        </p:nvSpPr>
        <p:spPr>
          <a:xfrm>
            <a:off x="2468880" y="3891143"/>
            <a:ext cx="54864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62" name="4dee9c04-d2a0-40e2-b340-99cf95b6067d"/>
          <p:cNvSpPr/>
          <p:nvPr/>
        </p:nvSpPr>
        <p:spPr>
          <a:xfrm>
            <a:off x="5029200" y="2406272"/>
            <a:ext cx="640080" cy="212124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3" name="480a0dfc-c7be-4afc-b8de-97bed98e29e0"/>
          <p:cNvSpPr/>
          <p:nvPr/>
        </p:nvSpPr>
        <p:spPr>
          <a:xfrm flipV="1">
            <a:off x="5029200" y="3212345"/>
            <a:ext cx="640080" cy="678798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4" name="b1656b39-a2ab-4c3f-9c58-7ed757e40c32"/>
          <p:cNvSpPr/>
          <p:nvPr/>
        </p:nvSpPr>
        <p:spPr>
          <a:xfrm flipV="1">
            <a:off x="9235440" y="2406272"/>
            <a:ext cx="457200" cy="296974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5" name="b2d6ea79-d063-461f-baac-ff8508f99596"/>
          <p:cNvSpPr/>
          <p:nvPr/>
        </p:nvSpPr>
        <p:spPr>
          <a:xfrm flipH="1">
            <a:off x="9235440" y="3891143"/>
            <a:ext cx="457200" cy="0"/>
          </a:xfrm>
          <a:prstGeom prst="line">
            <a:avLst/>
          </a:prstGeom>
          <a:noFill/>
          <a:ln w="28575">
            <a:solidFill>
              <a:srgbClr val="B3261E"/>
            </a:solidFill>
            <a:prstDash val="dash"/>
            <a:tailEnd type="triangle"/>
          </a:ln>
        </p:spPr>
      </p:sp>
      <p:sp>
        <p:nvSpPr>
          <p:cNvPr id="66" name="cd237cc7-b4a5-4e15-9367-c26e16c2ea5a"/>
          <p:cNvSpPr/>
          <p:nvPr/>
        </p:nvSpPr>
        <p:spPr>
          <a:xfrm>
            <a:off x="2468880" y="5376013"/>
            <a:ext cx="3200400" cy="42425"/>
          </a:xfrm>
          <a:prstGeom prst="line">
            <a:avLst/>
          </a:prstGeom>
          <a:noFill/>
          <a:ln w="28575">
            <a:solidFill>
              <a:srgbClr val="156082"/>
            </a:solidFill>
            <a:prstDash val="dash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四條身分路徑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誰用什麼身分進來;最後都由 broker 的 RBAC 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74927b52-f069-483d-8ed0-8349f09504f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200400"/>
                <a:gridCol w="31363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密碼或憑證放哪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 → MDS 向 AD 驗證 → 簽發 1 小時 token;C3 與 REST Proxy 以本人身分連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群組;依「現在」的群組判斷,異動立即生效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AD;不經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服務(直連)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內建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角色綁在帳號上;只開放自己的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 + 應用端;密碼由 CyberArk 保管與取用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憑證(C3、REST Proxy、bootstrap)向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必須是 SystemAdmin(官方要求);REST Proxy 可代為申請,受保護清單擋特權身分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各主機 0600;私鑰可由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憑證經 REST Proxy,代為向 MDS 取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看到的是該系統,不是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應用端;私鑰可由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be74fe86-db86-41ea-b56b-3e534c132699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憑證只做傳輸加密;把它當身分會讓所有持有者變成同一個人(實測),所以不綁任何角色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二、人與授權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AD 帳號、7 個群組、唯讀與臨時提權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人:AD 帳號登入,授權跟著群組走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帳號與群組都在 AD;人員異動只改 AD,Kafka 端不用改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511cd794-39e2-4bab-ac7c-45d2238ff3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Proxy、工具、OP menu 都用 AD 帳密;登入大小寫不分,系統內的身分名稱以 AD 記錄的 CN 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群組;加入群組約數秒生效(MDS 定期重讀群組);移出群組後已發出的 token 立刻失去權限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離職與調動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只改 AD;帳號停用前,已發出的 token 在到期前仍能通過認證但沒有任何權限,所以離職要同時停用 AD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角色綁定的主體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群組用 Group:名稱;個人與憑證用 User:名稱,區分大小寫,要寫 AD 記錄的寫法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唯讀原則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正式環境人只有讀取權;建 topic、改授權、看叢集狀態分給三個維運群組,臨時加入、做完移出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6bd7ee8c-a0d2-47b3-b7a7-53d31c5a52b0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 AD 密碼不經 CyberArk;CyberArk 管的是「主機登入」與「機器密碼」(第五章)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群組與角色(7 組)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高權限群組平常是空的;每個群組指定負責人,定期覆核成員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c1d720c7-c425-4468-8891-f8e9d7ffa38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908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實際能做什麼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DeveloperRead(該系統的 topic)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topic、讀資料;正式環境人的日常權限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看叢集狀態;建不了 topic、讀不到資料、改不了授權,連 topic 細節也看不到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ResourceOwner(Topic、Group)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 與 consumer group,讀得到資料,並能在自己範圍內改授權 → 強角色,只臨時加入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叢集設定、建立應用系統的 SCRAM 帳號;不能讀寫資料、不能改授權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只管授權(指派、移除角色),不能建 topic、不能讀資料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SecurityAdmin、AuditAdmin、audit 紀錄的讀取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檢視授權設定、audit 設定與紀錄;不能改授權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全部權限;平常沒有人,緊急時經核准臨時加入,事後移出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f3d48a50-2184-4d85-9343-0141dbd14499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「能做什麼」是實測結果,不是推論;topic-admin 比直覺強,所以列為臨時角色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人只能唯讀:臨時提權與收回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需要變更時的流程;全程只動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e64d934-eb7a-454f-ab03-92af8d89313d"/>
          <p:cNvSpPr/>
          <p:nvPr/>
        </p:nvSpPr>
        <p:spPr>
          <a:xfrm>
            <a:off x="548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c2986ef-b790-4a07-8d05-8aedad7d6546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1bb0381e-71c7-4f55-91f5-68813869372c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</a:t>
            </a:r>
            <a:endParaRPr lang="en-US" sz="1400" dirty="0"/>
          </a:p>
        </p:txBody>
      </p:sp>
      <p:sp>
        <p:nvSpPr>
          <p:cNvPr id="5" name="f3c7e14c-d96e-4e42-bd80-f3449bfe57e5"/>
          <p:cNvSpPr/>
          <p:nvPr/>
        </p:nvSpPr>
        <p:spPr>
          <a:xfrm>
            <a:off x="640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依現行核准方式提出;指定群組與時限</a:t>
            </a:r>
            <a:endParaRPr lang="en-US" sz="1100" dirty="0"/>
          </a:p>
        </p:txBody>
      </p:sp>
      <p:sp>
        <p:nvSpPr>
          <p:cNvPr id="6" name="58dc41f6-5f69-486f-bb77-2b109c287d99"/>
          <p:cNvSpPr/>
          <p:nvPr/>
        </p:nvSpPr>
        <p:spPr>
          <a:xfrm>
            <a:off x="2834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759ffe52-c5e2-4c84-be1b-ecce9c28331d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781c479e-4849-4025-958d-1519d0708f1c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</a:t>
            </a:r>
            <a:endParaRPr lang="en-US" sz="1400" dirty="0"/>
          </a:p>
        </p:txBody>
      </p:sp>
      <p:sp>
        <p:nvSpPr>
          <p:cNvPr id="9" name="1293bd43-e3c7-4e74-9d39-fe7f483c0dca"/>
          <p:cNvSpPr/>
          <p:nvPr/>
        </p:nvSpPr>
        <p:spPr>
          <a:xfrm>
            <a:off x="2926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管理員把人加進 kafka-topic-admin 等群組</a:t>
            </a:r>
            <a:endParaRPr lang="en-US" sz="1100" dirty="0"/>
          </a:p>
        </p:txBody>
      </p:sp>
      <p:sp>
        <p:nvSpPr>
          <p:cNvPr id="10" name="744f5023-ef49-41ad-9db0-498db8d34073"/>
          <p:cNvSpPr/>
          <p:nvPr/>
        </p:nvSpPr>
        <p:spPr>
          <a:xfrm>
            <a:off x="5120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047cc792-f7f6-4e3b-a58d-7b59845547c0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4a23d491-d042-4ae6-b4ab-2bf02d5c75db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數秒內生效</a:t>
            </a:r>
            <a:endParaRPr lang="en-US" sz="1400" dirty="0"/>
          </a:p>
        </p:txBody>
      </p:sp>
      <p:sp>
        <p:nvSpPr>
          <p:cNvPr id="13" name="bb2c564a-ea0c-4045-a004-9d717ddab21f"/>
          <p:cNvSpPr/>
          <p:nvPr/>
        </p:nvSpPr>
        <p:spPr>
          <a:xfrm>
            <a:off x="5212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定期重讀群組;本人用同一個帳號操作</a:t>
            </a:r>
            <a:endParaRPr lang="en-US" sz="1100" dirty="0"/>
          </a:p>
        </p:txBody>
      </p:sp>
      <p:sp>
        <p:nvSpPr>
          <p:cNvPr id="14" name="9b7c1255-eb84-4406-b32d-3cdfca2aac79"/>
          <p:cNvSpPr/>
          <p:nvPr/>
        </p:nvSpPr>
        <p:spPr>
          <a:xfrm>
            <a:off x="7406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07220806-f270-425b-8171-f2bffdbf98aa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336ec824-dddd-45b4-8c46-9801b9f1e0a8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做完移出</a:t>
            </a:r>
            <a:endParaRPr lang="en-US" sz="1400" dirty="0"/>
          </a:p>
        </p:txBody>
      </p:sp>
      <p:sp>
        <p:nvSpPr>
          <p:cNvPr id="17" name="5412969d-89a9-4365-b8a8-61efb6dcd78a"/>
          <p:cNvSpPr/>
          <p:nvPr/>
        </p:nvSpPr>
        <p:spPr>
          <a:xfrm>
            <a:off x="7498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時限到或工作完成即移出;已發出的 token 立刻失去權限</a:t>
            </a:r>
            <a:endParaRPr lang="en-US" sz="1100" dirty="0"/>
          </a:p>
        </p:txBody>
      </p:sp>
      <p:sp>
        <p:nvSpPr>
          <p:cNvPr id="18" name="7037ff02-5d6c-4a64-8bcd-76d082548d8a"/>
          <p:cNvSpPr/>
          <p:nvPr/>
        </p:nvSpPr>
        <p:spPr>
          <a:xfrm>
            <a:off x="9692640" y="1769899"/>
            <a:ext cx="1947672" cy="19515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9" name="77e740b7-db44-4a6c-b44c-84abf7c5d972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86776220-bd3b-4277-b60e-e3b6ae7a9ab1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事後可查</a:t>
            </a:r>
            <a:endParaRPr lang="en-US" sz="1400" dirty="0"/>
          </a:p>
        </p:txBody>
      </p:sp>
      <p:sp>
        <p:nvSpPr>
          <p:cNvPr id="21" name="1421fd21-93d4-44b3-bfa5-e7717f07cebd"/>
          <p:cNvSpPr/>
          <p:nvPr/>
        </p:nvSpPr>
        <p:spPr>
          <a:xfrm>
            <a:off x="9784080" y="2745671"/>
            <a:ext cx="1764792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紀錄:誰、什麼時候、對什麼做了什麼、結果</a:t>
            </a:r>
            <a:endParaRPr lang="en-US" sz="1100" dirty="0"/>
          </a:p>
        </p:txBody>
      </p:sp>
      <p:sp>
        <p:nvSpPr>
          <p:cNvPr id="22" name="2e0cf26c-1d1c-4595-854a-834f3b6ddec7"/>
          <p:cNvSpPr/>
          <p:nvPr/>
        </p:nvSpPr>
        <p:spPr>
          <a:xfrm>
            <a:off x="2651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54f22987-e8bb-490e-ac91-bf21a128f791"/>
          <p:cNvSpPr/>
          <p:nvPr/>
        </p:nvSpPr>
        <p:spPr>
          <a:xfrm>
            <a:off x="4937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e9d97f64-0237-415e-a108-33b2fe85dfaa"/>
          <p:cNvSpPr/>
          <p:nvPr/>
        </p:nvSpPr>
        <p:spPr>
          <a:xfrm>
            <a:off x="7223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eaa4e5d7-fda6-4afa-bf0e-bde2999e031b"/>
          <p:cNvSpPr/>
          <p:nvPr/>
        </p:nvSpPr>
        <p:spPr>
          <a:xfrm>
            <a:off x="9509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7" name="63774e4d-4564-4845-9c51-200f726352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加入哪個群組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看叢集健康、分割區狀態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kafka-ops(看得到、改不了)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topic、重設 consumer 讀取位置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kafka-topic-admin(強角色,做完立刻移出)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新系統上線要授權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kafka-rbac-admin(只管授權)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建立應用系統帳號、叢集設定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三、應用系統、平台元件與線路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SCRAM、client 憑證、F5、傳輸加密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應用系統:兩種連線方式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能用 Kafka 用戶端的直連;只能 HTTP 的經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0f3c3189-1a9a-446a-a69c-7783b5b0c37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帳號(Kafka 內建,不佔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憑證;REST Proxy 以自己的憑證向 MDS 代為申請該系統的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與 audit 看到的是該系統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最小權限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只開放自己的 topic 與 consumer group;碰別的 topic 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上線流程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建帳號 → 綁角色 → 密碼交付(建議經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簽憑證 → 綁角色 → 私鑰交付(建議經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密碼或憑證更換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新帳號並行 → 應用切換 → 停舊,不中斷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憑證到期前換發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必要的保護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密碼不落地:啟動時從 CyberArk 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受保護清單:管理員與平台身分不可被代為申請;清單區分大小寫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44af6b6b-7ee9-4185-818e-e54543c45a5c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的憑證可以代任何不在受保護清單的身分,所以清單要列入所有特權身分,寫法要與 AD 記錄一致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平台元件與憑證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憑證總數:一張共用 server 憑證 + 一張內部憑證 + 各元件一張 client 憑證 + 經 REST Proxy 的系統各一張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26e38c34-9ba9-42c3-93da-d29c1bacc02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要注意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憑證(1 張)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所有元件的 TLS 加密;名稱要涵蓋所有主機與 F5 的名稱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只做加密、不當身分、不綁任何角色;不要收斂憑證用途(C3 內部會出示它)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自身向 MDS 認證;該身分必須是 SystemAdmin(官方要求)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拿到私鑰等於管理員:檔案權限、不入版本庫、列入受保護清單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代應用系統向 MDS 申請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同上;受保護清單擋特權身分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內部憑證(1 張,broker 與 controller 共用)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內部埠與 controller 埠的 mTLS;身分是 super user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拿到私鑰等於叢集管理員:每台 0600、不入版本庫;稽核分不出是哪一台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初始化第一批授權;平常不用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封存,建議由 CyberArk 保管、依單借出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的系統各一張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該系統的身分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隨系統數增加;命名規範先定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800ac675-bcab-41c8-a1fd-1bb2f1efe13b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可用行內既有的 AD CS;若 CyberArk 含 Certificate Manager 也可由它簽發與續期(選配)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負載平衡(F5)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只放在 REST Proxy 前面;其他連線不需要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02066d85-b3d4-4896-b0ce-3630eab6f8e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做法與依據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 → F5 → REST Proxy ×N;broker、MDS、C3 不經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L4(TCP)透傳。F5 不終止 TLS:終止會讓 REST Proxy 看不到 client 憑證,憑證身分全部失效(實測 401)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危險設定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 終止 TLS 再用固定憑證連後端:所有呼叫者(含沒憑證的)都變成同一個身分(實測)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名稱要含 F5 的虛擬伺服器名稱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consumer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consumer 實例綁在某一台,需要 sticky(同一來源固定到同一台);producer 不需要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設定多台 MDS 位址即可自動切換(實測:停一台仍全部成功,首次切換約 8 秒),不需要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要確認的 F5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虛擬伺服器類型、後端 TLS session 復用、persistence、idle timeout、SNAT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傳輸加密與入口保護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每一條線都加密;每一個入口都要認證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e586b1db-f667-4ceb-a797-8821235d02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935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線路或入口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→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加密連線(636 埠),信任行內 CA;只有連 AD 的 broker 需要信任庫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憑證若有中繼 CA,信任庫要放進中繼 CA(實測)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 →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 HTTPS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使用者端要信任行內 CA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Prometheus、Alertmanager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+ 帳密;C3 與 broker 推送指標都帶帳密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沒有細部授權:帳密依用途分開;日誌會印出帳密標頭,要保護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內建 Admin REST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依官方設定安全擴充:匿名擋下、依使用者角色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未設定時完全沒有認證;與 MDS 共用埠,不能靠防火牆擋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內部埠(broker 互連、controller)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mTLS:broker 與 controller 共用一張內部憑證;防火牆只開給叢集節點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憑證身分是 super user,私鑰要保護;稽核分不出是哪一台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應用與工具 →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TLS;人用 AD 帳密、服務用 SCRAM、元件用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同一個對外埠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帳號被偷之後:六道防線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假設某個帳密外洩,多久被發現、能做多少事、多久失效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2" name="cfb89b3f-8a95-4799-952f-2141acd932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  <a:gridCol w="3017520"/>
                <a:gridCol w="258775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效果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測試環境結果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重新認證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 re-authentication:長連線每隔一段時間重新驗證(建議 1 小時)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帳號被停用或改密碼後,既有長連線在期限內被切斷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改密碼後舊連線被切斷(測試值 60 秒)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認證失敗告警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認證失敗次數的告警規則(Prometheus)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密碼被猜、被撞庫時能發現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連續失敗觸發告警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版本與套件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 TLS 1.3 / 1.2 與 AEAD 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擋掉老舊、較弱的套件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設定前 broker 接受舊的 CBC 套件;設定後被拒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單一來源連線上限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每個來源 IP 的連線數上限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一個來源不能開無限條連線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超過上限的連線被拒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流量配額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quota(位元組/秒)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被偷的帳號最多能灌多少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超過配額即被限速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帳戶鎖定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的鎖定原則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擋暴力猜密碼;但鎖定也能被拿來鎖別人的帳號(雙面刃)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鎖定後 MDS 與 Kafka 同時失敗;緊急路徑與機器帳號不受影響;解鎖即恢復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SCRAM 帳號:停用,不要刪除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Apache Kafka 已知問題;影響 Confluent Platform 8.3.x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d7c32f63-39e9-4838-bcc3-733afeb2c6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71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已知問題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刪除 SCRAM 憑證後,broker 重放 metadata 時會丟掉整組 SCRAM 使用者(KAFKA-20774);修復在 Kafka 4.5.0(尚未發行),Confluent Platform 8.3.x 內含 Kafka 4.3.x,受影響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症狀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內部通道用 SCRAM:broker 重啟後起不來。內部通道用 mTLS:broker 起得來,但對外埠所有 SCRAM 登入失敗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何時發生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全新叢集刪除一個 SCRAM 帳號後重啟 broker 即重現;跑很久、已有 metadata 快照的叢集不一定重現——沒重現不代表安全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本方案的做法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停用 = 覆寫成隨機密碼 + 解除角色,一律不刪除;內部通道採 mTLS,降低 broker 起不來的風險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已經刪過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重建被刪的同名帳號(任何密碼),再滾動重啟 broker 即恢復;不必清資料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Schema Registry 與欄位級加密(CSFLE)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授權沿用同一套身分與群組;欄位加密本身需要加購授權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4" name="41e78b37-d05b-49b4-bbec-cb6df9ccb1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5196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做法與結果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要帳密:不帶或密碼錯 401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subject 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跟 AD 群組走:訂單群組只能碰 orders. 開頭的 subject,其他被拒;列出 subject 只看到有權限的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金鑰加密金鑰(KEK)管理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只有 security 群組能建;應用群組只被授權讀;無角色者被拒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Schema Registry 自身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 client 憑證向 MDS 換 token 連 Kafka,不佔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規則沒生效的風險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沒開規則 extension 時,加密規則被默默丟掉、資料以明文寫入;上線前與每次改規則後,要讀 topic 原始位元組確認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欄位實際加密與解密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註冊帶加密規則的 schema 需要企業版加 CSFLE 加購授權,否則回 402;加密、解密、金鑰輪替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未驗證(待授權)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解密權限與 KMS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由 KMS 控制,不是 Kafka 的 RBAC;內建支援 AWS、Azure、GCP、HashiCorp Vault;地端 HSM 需自訂 Java 驅動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依官方文件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監控、告警與稽核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看得到、告得了、查得到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5" name="e8f3050c-b43b-4cf0-9b14-bd2770439b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監控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搭配 Prometheus;指標由 broker 推送;維護前用 OP menu 對該節點靜音告警,做完即結束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告警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Alertmanager 路由;靜音與告警變更要有人看(有帳密就能靜音,所以帳密分開)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稽核(audit)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寫入 audit 事件:誰、什麼時候、對什麼、允許或拒絕;授權變更(含非管理員的嘗試)都有紀錄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定期覆核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匯出權限清單(角色、主體、資源範圍)供覆核;SystemAdmin 保持最少人數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紀錄保護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每個動作留紀錄並集中到 syslog;C3、Prometheus 日誌含帳密標頭,權限要收緊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四、日常維運與緊急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OP menu、跳板機與主機、初始化與緊急模式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OP menu:分層與真正的門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操作員只從選單執行審核過的作業;選單不判斷權限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6" name="3e056a1b-521c-4c3a-86db-848a5abe3f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4480560"/>
                <a:gridCol w="24963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真正的門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健康檢查(含身分鏈)、topic 狀態、consumer 落後量、磁碟、憑證到期日、leader 分布、生效設定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RBAC:唯讀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broker、滾動重啟、維護模式、查看服務日誌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 sudo 規則;一次一台,每台等叢集恢復才換下一台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kafka-topic-admin;kafka-cluster-admin + 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topic、應用系統帳號上線與下架、更換密碼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RBAC;執行前顯示影響並要求確認;可限制時段、同一時間只允許一人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kafka-rbac-admin、kafka-security;緊急模式依 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指派權限、匯出與查詢 audit、匯出權限清單、緊急模式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RBAC;緊急模式經 sudo 切換專用帳號,逐條記錄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cf437b20-40f7-4c83-9877-20634d312ebc"/>
          <p:cNvSpPr/>
          <p:nvPr/>
        </p:nvSpPr>
        <p:spPr>
          <a:xfrm>
            <a:off x="548640" y="5418438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的動作由 RBAC 依本人 AD 帳號判斷;主機的動作由 sudo 規則判斷;每次執行留紀錄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跳板機與主機:兩種情況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不影響 Kafka 本身(broker 查 AD 不需要主機加入網域);只影響人怎麼登入主機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7" name="a3f9e714-cf44-4e22-9e39-ee18256afc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622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主機沒有加入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帳號;OP menu 直接取登入者,不再問帳密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本機帳號(或經 CyberArk PSM 代登入);OP menu 自己問 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直接引用 AD 群組;人員異動只改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維護本機帳號與群組,或把 PSM 當門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操作員用本人身分 ssh;主機日誌直接看得到是誰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用自動化帳號 ssh(key 由 CyberArk 保管與輪替、執行時取);「是誰」靠 OP menu 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份量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root 與 breakglass、PSM 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加上日常 ssh 身分也靠它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較簡單、稽核直接;若客戶可做,建議這條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可行;多一個自動化帳號要管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30c13649-af52-4f36-89f4-9e057366fda8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 兩種情況都支援,只差一個設定;待客戶回答:主機與跳板機是否加入 AD、人連主機是否一律經 PSM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初始化與緊急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bootstrap 只用於初始化;緊急時用自己的身分加 breakglass 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397a525-c840-40b3-b546-6470ec1d9a2e"/>
          <p:cNvSpPr/>
          <p:nvPr/>
        </p:nvSpPr>
        <p:spPr>
          <a:xfrm>
            <a:off x="54864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79286459-486b-4257-8896-28f5a2ec0c5e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65923985-00f8-447a-8d48-442464b9bda1"/>
          <p:cNvSpPr/>
          <p:nvPr/>
        </p:nvSpPr>
        <p:spPr>
          <a:xfrm>
            <a:off x="64008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初始化</a:t>
            </a:r>
            <a:endParaRPr lang="en-US" sz="1400" dirty="0"/>
          </a:p>
        </p:txBody>
      </p:sp>
      <p:sp>
        <p:nvSpPr>
          <p:cNvPr id="5" name="05cc3651-6bac-4c78-a65f-ca731a9fac47"/>
          <p:cNvSpPr/>
          <p:nvPr/>
        </p:nvSpPr>
        <p:spPr>
          <a:xfrm>
            <a:off x="64008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bootstrap 憑證建立第一批授權:C3、REST Proxy、7 個群組</a:t>
            </a:r>
            <a:endParaRPr lang="en-US" sz="1100" dirty="0"/>
          </a:p>
        </p:txBody>
      </p:sp>
      <p:sp>
        <p:nvSpPr>
          <p:cNvPr id="6" name="02ef9224-0882-43d3-a8d2-687fedba7b99"/>
          <p:cNvSpPr/>
          <p:nvPr/>
        </p:nvSpPr>
        <p:spPr>
          <a:xfrm>
            <a:off x="338328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419f40fb-1656-48ba-b927-d9b8ca2dbde5"/>
          <p:cNvSpPr/>
          <p:nvPr/>
        </p:nvSpPr>
        <p:spPr>
          <a:xfrm>
            <a:off x="349300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75f82afa-3ab1-4926-829f-09dfc0dad965"/>
          <p:cNvSpPr/>
          <p:nvPr/>
        </p:nvSpPr>
        <p:spPr>
          <a:xfrm>
            <a:off x="347472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驗收</a:t>
            </a:r>
            <a:endParaRPr lang="en-US" sz="1400" dirty="0"/>
          </a:p>
        </p:txBody>
      </p:sp>
      <p:sp>
        <p:nvSpPr>
          <p:cNvPr id="9" name="7656ad0b-f568-4b95-bf19-d090f388e110"/>
          <p:cNvSpPr/>
          <p:nvPr/>
        </p:nvSpPr>
        <p:spPr>
          <a:xfrm>
            <a:off x="347472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AD 身分確認:rbac-admin 能改授權、ops 不能變更、無群組被拒</a:t>
            </a:r>
            <a:endParaRPr lang="en-US" sz="1100" dirty="0"/>
          </a:p>
        </p:txBody>
      </p:sp>
      <p:sp>
        <p:nvSpPr>
          <p:cNvPr id="10" name="edac95fa-37c3-4e60-a2a5-f6bc38198cee"/>
          <p:cNvSpPr/>
          <p:nvPr/>
        </p:nvSpPr>
        <p:spPr>
          <a:xfrm>
            <a:off x="621792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1" name="41ebce2c-2af1-4ff6-b6f0-3faa25d73fb8"/>
          <p:cNvSpPr/>
          <p:nvPr/>
        </p:nvSpPr>
        <p:spPr>
          <a:xfrm>
            <a:off x="632764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91a51dc7-a9a0-4a65-a190-d222cde692ee"/>
          <p:cNvSpPr/>
          <p:nvPr/>
        </p:nvSpPr>
        <p:spPr>
          <a:xfrm>
            <a:off x="630936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封存</a:t>
            </a:r>
            <a:endParaRPr lang="en-US" sz="1400" dirty="0"/>
          </a:p>
        </p:txBody>
      </p:sp>
      <p:sp>
        <p:nvSpPr>
          <p:cNvPr id="13" name="f5875913-5745-4170-873d-fdee90729705"/>
          <p:cNvSpPr/>
          <p:nvPr/>
        </p:nvSpPr>
        <p:spPr>
          <a:xfrm>
            <a:off x="630936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憑證私鑰離線保管(建議 CyberArk);日常不使用</a:t>
            </a:r>
            <a:endParaRPr lang="en-US" sz="1100" dirty="0"/>
          </a:p>
        </p:txBody>
      </p:sp>
      <p:sp>
        <p:nvSpPr>
          <p:cNvPr id="14" name="41e483c9-0156-4e43-83b6-cf50f6833da7"/>
          <p:cNvSpPr/>
          <p:nvPr/>
        </p:nvSpPr>
        <p:spPr>
          <a:xfrm>
            <a:off x="9052560" y="1769899"/>
            <a:ext cx="2587752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a3edaf9b-c3b0-45cb-a0e9-b39b8569d024"/>
          <p:cNvSpPr/>
          <p:nvPr/>
        </p:nvSpPr>
        <p:spPr>
          <a:xfrm>
            <a:off x="916228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d4c66e7-0cf9-4fb9-87b4-7e4a58e58a7f"/>
          <p:cNvSpPr/>
          <p:nvPr/>
        </p:nvSpPr>
        <p:spPr>
          <a:xfrm>
            <a:off x="9144000" y="2295968"/>
            <a:ext cx="24048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緊急</a:t>
            </a:r>
            <a:endParaRPr lang="en-US" sz="1400" dirty="0"/>
          </a:p>
        </p:txBody>
      </p:sp>
      <p:sp>
        <p:nvSpPr>
          <p:cNvPr id="17" name="f66563d7-de32-4608-9448-a67500b74837"/>
          <p:cNvSpPr/>
          <p:nvPr/>
        </p:nvSpPr>
        <p:spPr>
          <a:xfrm>
            <a:off x="9144000" y="2745671"/>
            <a:ext cx="2404872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經核准臨時加入 kafka-breakglass,用本人身分操作;事後移出並查 audit</a:t>
            </a:r>
            <a:endParaRPr lang="en-US" sz="1100" dirty="0"/>
          </a:p>
        </p:txBody>
      </p:sp>
      <p:sp>
        <p:nvSpPr>
          <p:cNvPr id="18" name="11b34581-8513-40f9-8e81-2a617dced45b"/>
          <p:cNvSpPr/>
          <p:nvPr/>
        </p:nvSpPr>
        <p:spPr>
          <a:xfrm>
            <a:off x="320040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53745115-87bc-4614-95bc-ff5a27efffdf"/>
          <p:cNvSpPr/>
          <p:nvPr/>
        </p:nvSpPr>
        <p:spPr>
          <a:xfrm>
            <a:off x="603504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e324c447-8bc8-40c6-b0b3-d2d658e9489c"/>
          <p:cNvSpPr/>
          <p:nvPr/>
        </p:nvSpPr>
        <p:spPr>
          <a:xfrm>
            <a:off x="886968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18" name="41d3210e-7d38-4eef-9e26-22487e107cf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06293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或 MDS 身分機制失效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憑證經 OP menu 緊急模式(sudo 切換專用帳號)執行單一指令,逐條記錄;事後輪替憑證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 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保持最少;平常 kafka-breakglass 是空的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緊急模式每一條指令都記錄;CyberArk PSM 可加錄影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五、CyberArk 整合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先懂元件,再看接在哪裡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是什麼:會用到的元件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一套「特權存取與秘密管理」平台;不同模組解決不同問題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9" name="e6cf56b1-5fef-4c15-b606-1a7d0d2b78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我們用在哪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加密保存密碼、私鑰等「秘密」;PVWA 是管理與申請的網頁介面(核准流程、借出紀錄)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保管 bootstrap 私鑰、root 密碼、breakglass 相關;依單借出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自動定期更換被納管帳號的密碼或 SSH key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輪替跳板機與各主機的 root、本機帳號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/ PSM for SSH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人連主機時由它代登入(密碼不經手)並錄影;可當跳板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人登入跳板機與主機;緊急操作有錄影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應用程式用的取密碼 API:以應用識別 + 主機或憑證認證,回傳密碼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應用系統啟動時取 SCRAM 密碼;平台元件啟動前取設定檔密碼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新一代的秘密管理(含 Kubernetes、CI/CD);host 身分換短效 token 取秘密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若客戶已採用,可取代 CCP 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小工具:啟動程式前把秘密變成環境變數,不改程式碼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不方便改程式的應用或腳本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Certificate Manager(選配)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憑證簽發、到期追蹤與自動續期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憑證與 client 憑證的生命週期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整合總圖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身分與授權不變;CyberArk 只接管「密碼與私鑰放哪、誰能拿、怎麼輪替、怎麼錄影」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0" name="0a11f440-0d8b-4d64-a931-b673289d0e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4389120"/>
                <a:gridCol w="15819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現有機制(不變)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接入點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帳密換 token;角色綁 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不經 CyberArk;只有「登入跳板機」這段可先過 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+ OP menu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身分 + sudo;動作留紀錄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代登入與錄影;sudo 引用 AD 群組;緊急操作有錄影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OS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 + sudoers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 定期輪替 root 與本機帳號;人要用時經 PSM 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/ 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 0600;群組平常空的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私鑰存 Vault,依單核准借出、用完換發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帳密或 client 憑證 + 最小權限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啟動時向 CCP 取密碼或私鑰,在記憶體使用、不落地;不改程式用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/ Conjur /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平台元件設定檔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設定檔內的密碼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Confluent Secret Protection 加密設定檔,主金鑰啟動時向 CCP 取;或啟動前取密碼寫 0600 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+ Secret Protection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一張憑證只做加密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(選配)Certificate Manager 簽發與續期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 Manager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9001e72e-0c30-4bd1-bef8-bd707d601715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 SCRAM 密碼沒有現成的 CPM 平台:用「新帳號並行 → 切換 → 停舊」腳本,由 CPM 自訂平台或排程呼叫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人連主機的三種模式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決定 OP menu 的 ssh 身分怎麼設計;要向客戶確認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1" name="f5613b92-a48a-44b7-9353-91edce54bbd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  <a:gridCol w="23134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人怎麼連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 OP menu 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A. PSM 就是跳板機(最常見)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帳號連 PSM for SSH,由它取主機帳密開 session、錄影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22 埠通常只開給 PSM;原本的跳板機變成被納管的主機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用自動化帳號 ssh 各主機,key 由 CyberArk 保管、執行時取;人仍以 AD 身分登入選單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B. PSM 在跳板機前面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維持跳板機直連主機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幾乎不用改;補上 CyberArk 管理的 key 與集中紀錄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C. 兩層都經 PSM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進跳板機,再經 PSM 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繞兩次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ssh 要改成經 PSM,複雜,不建議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38ac8c96-266f-4877-8b38-0c64253cc487"/>
          <p:cNvSpPr/>
          <p:nvPr/>
        </p:nvSpPr>
        <p:spPr>
          <a:xfrm>
            <a:off x="548640" y="516388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建議:A 或 B 皆可;重點是「主機 22 埠允許哪些來源」與「跳板機是否加入 AD」,兩個答案決定做法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應用程式取密碼與輪替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密碼不落地;換密碼不中斷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095cb99-591d-4a99-8e33-d9b08253274f"/>
          <p:cNvSpPr/>
          <p:nvPr/>
        </p:nvSpPr>
        <p:spPr>
          <a:xfrm>
            <a:off x="548640" y="1685050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取密碼(每次啟動)</a:t>
            </a:r>
            <a:endParaRPr lang="en-US" sz="1350" dirty="0"/>
          </a:p>
        </p:txBody>
      </p:sp>
      <p:sp>
        <p:nvSpPr>
          <p:cNvPr id="3" name="f101b941-88e4-44cf-b127-1cf1dc9b6cc0"/>
          <p:cNvSpPr/>
          <p:nvPr/>
        </p:nvSpPr>
        <p:spPr>
          <a:xfrm>
            <a:off x="5486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" name="a961b575-e89e-400a-b896-b0a853719895"/>
          <p:cNvSpPr/>
          <p:nvPr/>
        </p:nvSpPr>
        <p:spPr>
          <a:xfrm>
            <a:off x="6583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d012bd13-05f5-44c7-98f8-901a4d81b5b2"/>
          <p:cNvSpPr/>
          <p:nvPr/>
        </p:nvSpPr>
        <p:spPr>
          <a:xfrm>
            <a:off x="6400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</a:t>
            </a:r>
            <a:endParaRPr lang="en-US" sz="1400" dirty="0"/>
          </a:p>
        </p:txBody>
      </p:sp>
      <p:sp>
        <p:nvSpPr>
          <p:cNvPr id="6" name="e0dcfb7f-0455-4352-a9f8-86854e4bea84"/>
          <p:cNvSpPr/>
          <p:nvPr/>
        </p:nvSpPr>
        <p:spPr>
          <a:xfrm>
            <a:off x="6400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應用以 AppID + 主機或憑證向 CCP 認證</a:t>
            </a:r>
            <a:endParaRPr lang="en-US" sz="1100" dirty="0"/>
          </a:p>
        </p:txBody>
      </p:sp>
      <p:sp>
        <p:nvSpPr>
          <p:cNvPr id="7" name="c5e351d8-3b68-45a8-aea0-37d3cb991fd7"/>
          <p:cNvSpPr/>
          <p:nvPr/>
        </p:nvSpPr>
        <p:spPr>
          <a:xfrm>
            <a:off x="32918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f9310702-85c5-4599-a558-3051ddf1c280"/>
          <p:cNvSpPr/>
          <p:nvPr/>
        </p:nvSpPr>
        <p:spPr>
          <a:xfrm>
            <a:off x="34015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50a2c087-089d-4141-9837-dc26afe01998"/>
          <p:cNvSpPr/>
          <p:nvPr/>
        </p:nvSpPr>
        <p:spPr>
          <a:xfrm>
            <a:off x="33832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</a:t>
            </a:r>
            <a:endParaRPr lang="en-US" sz="1400" dirty="0"/>
          </a:p>
        </p:txBody>
      </p:sp>
      <p:sp>
        <p:nvSpPr>
          <p:cNvPr id="10" name="1fc8edb5-b9bb-49b8-a19d-4d84a5f78fe3"/>
          <p:cNvSpPr/>
          <p:nvPr/>
        </p:nvSpPr>
        <p:spPr>
          <a:xfrm>
            <a:off x="33832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取得 SCRAM 帳密(或憑證私鑰)</a:t>
            </a:r>
            <a:endParaRPr lang="en-US" sz="1100" dirty="0"/>
          </a:p>
        </p:txBody>
      </p:sp>
      <p:sp>
        <p:nvSpPr>
          <p:cNvPr id="11" name="420059c6-dc88-4203-b7f4-a4a5ddcd537a"/>
          <p:cNvSpPr/>
          <p:nvPr/>
        </p:nvSpPr>
        <p:spPr>
          <a:xfrm>
            <a:off x="60350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2" name="7a70a214-7222-4efc-9ebe-5d2973022d3d"/>
          <p:cNvSpPr/>
          <p:nvPr/>
        </p:nvSpPr>
        <p:spPr>
          <a:xfrm>
            <a:off x="61447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c40a9200-a37b-4f15-9dc3-ef1e89261c95"/>
          <p:cNvSpPr/>
          <p:nvPr/>
        </p:nvSpPr>
        <p:spPr>
          <a:xfrm>
            <a:off x="61264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記憶體使用</a:t>
            </a:r>
            <a:endParaRPr lang="en-US" sz="1400" dirty="0"/>
          </a:p>
        </p:txBody>
      </p:sp>
      <p:sp>
        <p:nvSpPr>
          <p:cNvPr id="14" name="8b66110c-b37b-4eb4-872f-8fe6ddb1b115"/>
          <p:cNvSpPr/>
          <p:nvPr/>
        </p:nvSpPr>
        <p:spPr>
          <a:xfrm>
            <a:off x="61264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組成連線設定,不寫入磁碟</a:t>
            </a:r>
            <a:endParaRPr lang="en-US" sz="1100" dirty="0"/>
          </a:p>
        </p:txBody>
      </p:sp>
      <p:sp>
        <p:nvSpPr>
          <p:cNvPr id="15" name="a4138125-6ee0-424e-b81b-5767e0c5c98d"/>
          <p:cNvSpPr/>
          <p:nvPr/>
        </p:nvSpPr>
        <p:spPr>
          <a:xfrm>
            <a:off x="8778240" y="2024449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6" name="a2aef3ca-bd62-4f8e-b7db-44047144ba69"/>
          <p:cNvSpPr/>
          <p:nvPr/>
        </p:nvSpPr>
        <p:spPr>
          <a:xfrm>
            <a:off x="88879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9ea684c7-d181-42db-96cf-ca90e078511c"/>
          <p:cNvSpPr/>
          <p:nvPr/>
        </p:nvSpPr>
        <p:spPr>
          <a:xfrm>
            <a:off x="8869680" y="2550517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400" dirty="0"/>
          </a:p>
        </p:txBody>
      </p:sp>
      <p:sp>
        <p:nvSpPr>
          <p:cNvPr id="18" name="e76f16e3-ca37-4512-8c4a-82d2eb52441c"/>
          <p:cNvSpPr/>
          <p:nvPr/>
        </p:nvSpPr>
        <p:spPr>
          <a:xfrm>
            <a:off x="8869680" y="3000221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認證;broker RBAC 判斷</a:t>
            </a:r>
            <a:endParaRPr lang="en-US" sz="1100" dirty="0"/>
          </a:p>
        </p:txBody>
      </p:sp>
      <p:sp>
        <p:nvSpPr>
          <p:cNvPr id="19" name="0cd2b27b-7448-4d97-bd1f-8325b817a780"/>
          <p:cNvSpPr/>
          <p:nvPr/>
        </p:nvSpPr>
        <p:spPr>
          <a:xfrm>
            <a:off x="31089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0d283e48-1e44-46d3-a91d-8c49829391f9"/>
          <p:cNvSpPr/>
          <p:nvPr/>
        </p:nvSpPr>
        <p:spPr>
          <a:xfrm>
            <a:off x="58521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1" name="78da9c09-b083-4f7f-9823-8aaad811228b"/>
          <p:cNvSpPr/>
          <p:nvPr/>
        </p:nvSpPr>
        <p:spPr>
          <a:xfrm>
            <a:off x="85953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2" name="c06d2dc6-fddd-4ed6-a18f-d3f0e31b9e4a"/>
          <p:cNvSpPr/>
          <p:nvPr/>
        </p:nvSpPr>
        <p:spPr>
          <a:xfrm>
            <a:off x="548640" y="3848718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輪替(定期或事件觸發)</a:t>
            </a:r>
            <a:endParaRPr lang="en-US" sz="1350" dirty="0"/>
          </a:p>
        </p:txBody>
      </p:sp>
      <p:sp>
        <p:nvSpPr>
          <p:cNvPr id="23" name="ae67a4f2-810b-4910-b0fb-baa718daaa2f"/>
          <p:cNvSpPr/>
          <p:nvPr/>
        </p:nvSpPr>
        <p:spPr>
          <a:xfrm>
            <a:off x="5486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dba1832f-10ca-4244-99d1-7709355a79f7"/>
          <p:cNvSpPr/>
          <p:nvPr/>
        </p:nvSpPr>
        <p:spPr>
          <a:xfrm>
            <a:off x="6583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9e7d3461-196d-43f8-84a0-81c674579138"/>
          <p:cNvSpPr/>
          <p:nvPr/>
        </p:nvSpPr>
        <p:spPr>
          <a:xfrm>
            <a:off x="6400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建新帳號</a:t>
            </a:r>
            <a:endParaRPr lang="en-US" sz="1400" dirty="0"/>
          </a:p>
        </p:txBody>
      </p:sp>
      <p:sp>
        <p:nvSpPr>
          <p:cNvPr id="26" name="392e06fc-9870-4fe9-ac1f-16a2da0cfa02"/>
          <p:cNvSpPr/>
          <p:nvPr/>
        </p:nvSpPr>
        <p:spPr>
          <a:xfrm>
            <a:off x="6400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v2 帳號並綁同樣角色,寫回 Vault</a:t>
            </a:r>
            <a:endParaRPr lang="en-US" sz="1100" dirty="0"/>
          </a:p>
        </p:txBody>
      </p:sp>
      <p:sp>
        <p:nvSpPr>
          <p:cNvPr id="27" name="2a457173-bea6-4061-aa22-629e93801b3c"/>
          <p:cNvSpPr/>
          <p:nvPr/>
        </p:nvSpPr>
        <p:spPr>
          <a:xfrm>
            <a:off x="32918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2632be59-4f27-40b1-b1aa-a0a38a8eb71d"/>
          <p:cNvSpPr/>
          <p:nvPr/>
        </p:nvSpPr>
        <p:spPr>
          <a:xfrm>
            <a:off x="34015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231d7a00-fef8-4115-830f-1b0b1f0e2fcc"/>
          <p:cNvSpPr/>
          <p:nvPr/>
        </p:nvSpPr>
        <p:spPr>
          <a:xfrm>
            <a:off x="33832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並行</a:t>
            </a:r>
            <a:endParaRPr lang="en-US" sz="1400" dirty="0"/>
          </a:p>
        </p:txBody>
      </p:sp>
      <p:sp>
        <p:nvSpPr>
          <p:cNvPr id="30" name="e3cccdbf-4a90-43b4-883d-32f1856d10da"/>
          <p:cNvSpPr/>
          <p:nvPr/>
        </p:nvSpPr>
        <p:spPr>
          <a:xfrm>
            <a:off x="33832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新舊同時可用,應用逐批重啟切換</a:t>
            </a:r>
            <a:endParaRPr lang="en-US" sz="1100" dirty="0"/>
          </a:p>
        </p:txBody>
      </p:sp>
      <p:sp>
        <p:nvSpPr>
          <p:cNvPr id="31" name="f4e14dfc-ed3e-4156-a66e-206ee3f83e3a"/>
          <p:cNvSpPr/>
          <p:nvPr/>
        </p:nvSpPr>
        <p:spPr>
          <a:xfrm>
            <a:off x="60350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2" name="a2d3eca0-626f-4293-996c-eeab7abea310"/>
          <p:cNvSpPr/>
          <p:nvPr/>
        </p:nvSpPr>
        <p:spPr>
          <a:xfrm>
            <a:off x="61447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37db23fa-fe6f-4f29-b956-ffdb97fe551f"/>
          <p:cNvSpPr/>
          <p:nvPr/>
        </p:nvSpPr>
        <p:spPr>
          <a:xfrm>
            <a:off x="61264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停舊</a:t>
            </a:r>
            <a:endParaRPr lang="en-US" sz="1400" dirty="0"/>
          </a:p>
        </p:txBody>
      </p:sp>
      <p:sp>
        <p:nvSpPr>
          <p:cNvPr id="34" name="3db2a2be-c3ed-4e7c-a8c1-369fd8e2f946"/>
          <p:cNvSpPr/>
          <p:nvPr/>
        </p:nvSpPr>
        <p:spPr>
          <a:xfrm>
            <a:off x="61264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全部切換後停用舊帳號,舊密碼立刻失效</a:t>
            </a:r>
            <a:endParaRPr lang="en-US" sz="1100" dirty="0"/>
          </a:p>
        </p:txBody>
      </p:sp>
      <p:sp>
        <p:nvSpPr>
          <p:cNvPr id="35" name="2a0b50b4-0011-4247-97c6-3ba6bf40cdc0"/>
          <p:cNvSpPr/>
          <p:nvPr/>
        </p:nvSpPr>
        <p:spPr>
          <a:xfrm>
            <a:off x="8778240" y="4188117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cc942c7d-acae-4600-91e2-8aec99c1cd8a"/>
          <p:cNvSpPr/>
          <p:nvPr/>
        </p:nvSpPr>
        <p:spPr>
          <a:xfrm>
            <a:off x="88879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d210e820-2d01-4db0-ae6e-c37199f674d0"/>
          <p:cNvSpPr/>
          <p:nvPr/>
        </p:nvSpPr>
        <p:spPr>
          <a:xfrm>
            <a:off x="8869680" y="4714185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誰來做</a:t>
            </a:r>
            <a:endParaRPr lang="en-US" sz="1400" dirty="0"/>
          </a:p>
        </p:txBody>
      </p:sp>
      <p:sp>
        <p:nvSpPr>
          <p:cNvPr id="38" name="5ef25d77-09a3-471f-bbe7-ebc99b28f7a7"/>
          <p:cNvSpPr/>
          <p:nvPr/>
        </p:nvSpPr>
        <p:spPr>
          <a:xfrm>
            <a:off x="8869680" y="5163889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CPM 自訂平台呼叫腳本,或排程;全程 audit 可查</a:t>
            </a:r>
            <a:endParaRPr lang="en-US" sz="1100" dirty="0"/>
          </a:p>
        </p:txBody>
      </p:sp>
      <p:sp>
        <p:nvSpPr>
          <p:cNvPr id="39" name="f33b05d1-7f0d-410b-a852-877ccf508d54"/>
          <p:cNvSpPr/>
          <p:nvPr/>
        </p:nvSpPr>
        <p:spPr>
          <a:xfrm>
            <a:off x="31089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0" name="95c375b9-5bb3-4596-bcf3-ec466aa879bb"/>
          <p:cNvSpPr/>
          <p:nvPr/>
        </p:nvSpPr>
        <p:spPr>
          <a:xfrm>
            <a:off x="58521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1" name="0afa2e8d-1aee-4466-9b91-a0028eb08951"/>
          <p:cNvSpPr/>
          <p:nvPr/>
        </p:nvSpPr>
        <p:spPr>
          <a:xfrm>
            <a:off x="85953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設定檔密碼加密:輪替與重啟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Confluent Secret Protection;主金鑰由 CyberArk 保管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3" name="ef99a7be-7839-466f-b4b0-4a1f8c502aa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做法與結果(測試環境實測)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兩層金鑰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主金鑰(CyberArk 保管,啟動時取)加密資料金鑰;資料金鑰加密設定檔裡的密碼。叢集共用同一把主金鑰、同一份密文檔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輪替主金鑰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只重包資料金鑰,值的密文不變;需要「目前的」與「新的」passphrase(也要保管,只讓管理員讀);新主金鑰只顯示一次,要立刻寫回 CyberArk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輪替資料金鑰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只需要目前的 passphrase;所有值重新加密;主金鑰不變,CyberArk 不用動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檔與主金鑰要成對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新檔配舊金鑰、舊檔配新金鑰都解不開;不成對時 broker 起不來。輪替前先備好舊檔與舊主金鑰以便退回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一定要重啟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啟動時才讀。維護窗口內一台一台做:換檔 → 取新主金鑰 → 重啟 → 確認健康 → 下一台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重啟期間服務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 2 台 broker、副本 2:輪替並滾動重啟期間持續寫入 1200 筆,全部寫入、零遺失;正式環境建議副本 3、最小同步副本 2,controller 也逐台重啟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passphrase 在這個版本的指令只能直接放在指令列(不讀檔),輪替要在受控的管理主機上做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六、平台韌性、可觀測性與應用開發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高可用、監控告警、憑證、容量、日誌與追蹤、應用端可靠性、資料契約、Connect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高可用:壞幾台還撐得住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3 台 controller、3 台以上 broker、副本 3、min.insync.replicas 2;順序與數字都用停機實測確認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4" name="6ea46b1f-8eea-4679-9b81-4397a15417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1 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寫入(acks=all)不中斷;副本不足的分區數(URP)大於 0 是要告警的訊號;恢復後補齊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2 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acks=all 被擋;acks=1 的 producer 回報成功,consumer 卻讀不到(高水位不前進),恢復後才出現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1 台 controller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叢集照常:建 topic、寫入都正常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2 台 controller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失去多數:建 topic、describe 沒回應;既有 topic 的讀寫暫時還可用,不是可依賴的容錯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滾動重啟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一台一台(等 URP 回 0),controller 非 active 先、active 最後;背景寫入零失敗零遺失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動態 quorum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測試用靜態 quorum;正式環境建議動態 quorum 並在 VM 上演練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監控與告警:兩條指標路徑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告警要「真的會響」;銀行自有監控走 JMX exporter,不依賴 Control Center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5" name="d6c1689b-8f82-4462-bd24-cd8d68153f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97680"/>
                <a:gridCol w="42336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telemetry → Prometheus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JMX exporter → Prometheus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 Center 的資料來源,保留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銀行自有監控與告警的建議路徑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偵測時間(停 1 台 broker)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約 150 到 250 秒(指標 60 秒送一次)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約 35 秒(每 15 秒抓一次)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依賴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與 C3 綁在一起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獨立於 C3;既有 Prometheus、Grafana 可直接用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必設告警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URP、under-min-isr、離線分區、active controller 不是 1、controller 掉線、broker fenced、unclean election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同一組,另加「抓不到 exporter」的監控的監控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2b7bccb0-7f6e-4335-a4c8-aff3e51121f5"/>
          <p:cNvSpPr/>
          <p:nvPr/>
        </p:nvSpPr>
        <p:spPr>
          <a:xfrm>
            <a:off x="548640" y="4654790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監控端點也要保護:exporter 用 HTTPS + 帳密(JMX exporter 不支援 mTLS)、blackbox 用 mTLS;Prometheus 與 Alertmanager 依用途分開帳號</a:t>
            </a:r>
            <a:endParaRPr lang="en-US" sz="1250" dirty="0"/>
          </a:p>
        </p:txBody>
      </p:sp>
      <p:sp>
        <p:nvSpPr>
          <p:cNvPr id="4" name="1ea73d6e-951d-4a3c-a009-36dd677255df"/>
          <p:cNvSpPr/>
          <p:nvPr/>
        </p:nvSpPr>
        <p:spPr>
          <a:xfrm>
            <a:off x="548640" y="516388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磁碟用量要另外用 node_exporter;consumer lag 用 kafka_exporter(社群專案,上線前評估維護狀況)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告警送到人:寄成信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值班的人不會盯著畫面;通知的設計比通道重要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6" name="197ebd8e-e090-4eb7-9528-6f1b5573922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624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通道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Alertmanager 以 SMTP 寄到行內自架的郵件伺服器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以測試用郵件伺服器驗證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依嚴重度分流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critical 寄值班信箱、warning 寄維運群組信箱;主旨寫明狀態、告警名稱、嚴重度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同類合併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同名同嚴重度的告警合併成一封(group_by),一次壞多台不洗版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發生與解除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1 台 broker 約 30 秒收到 FIRING,恢復後約 40 秒收到 RESOLVED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郵件伺服器保護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強制 STARTTLS 並要帳密;Alertmanager 的密碼從檔案讀,用行內 CA 驗證伺服器憑證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其他通道、靜音與抑制、高可用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簡訊、通訊軟體、工單 webhook;靜音與抑制規則;Alertmanager 多實例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憑證:到期監控與不停機換憑證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憑證過期是常見的停機原因;換憑證要有預檢、金絲雀與不依賴被換掉的那條路的回退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7" name="1ba5610e-fca0-4dfc-b470-ad4bbaf513f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624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到期監控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blackbox 對各端點做 TLS 探測,看「實際送出」的憑證(不是看檔案);&lt; 30 天告警;client 憑證與 CA 用檔案巡檢補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不停機換憑證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動態 keystore 重載(listener 層級),逐台設定:預檢 → 先換一台當金絲雀並用 client 角度驗證 → 其餘;寫入零失敗、不重啟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不同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新憑證的 DN、SAN 與現有不同,broker 拒絕更新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別的 CA 簽的憑證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會接受,client 全部驗證失敗;影響限於金絲雀;回退必須走不經對外埠的帶外路徑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只涵蓋 Kafka 的 listener;MDS 等 Jetty 入口要重啟;動態設定存在叢集 metadata,靜態設定要同步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容量:分區搬家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新增 broker 不會自動搬舊資料;搬家要有回退檔、限速與收尾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fb90b6a-d591-4f06-bd7d-d7fbb2f75121"/>
          <p:cNvSpPr/>
          <p:nvPr/>
        </p:nvSpPr>
        <p:spPr>
          <a:xfrm>
            <a:off x="548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62776ac7-42dc-45d6-a00a-d5a716f37a00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e8de0696-6aa3-49c9-8d4a-1f37cac14730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存回退檔</a:t>
            </a:r>
            <a:endParaRPr lang="en-US" sz="1400" dirty="0"/>
          </a:p>
        </p:txBody>
      </p:sp>
      <p:sp>
        <p:nvSpPr>
          <p:cNvPr id="5" name="43a822dc-612e-450a-8a23-78b2b71699d3"/>
          <p:cNvSpPr/>
          <p:nvPr/>
        </p:nvSpPr>
        <p:spPr>
          <a:xfrm>
            <a:off x="640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搬家前先把目前的指派存起來;--generate 的建議只是草稿</a:t>
            </a:r>
            <a:endParaRPr lang="en-US" sz="1100" dirty="0"/>
          </a:p>
        </p:txBody>
      </p:sp>
      <p:sp>
        <p:nvSpPr>
          <p:cNvPr id="6" name="ce3d3953-b331-4967-b927-a22a9a056cb7"/>
          <p:cNvSpPr/>
          <p:nvPr/>
        </p:nvSpPr>
        <p:spPr>
          <a:xfrm>
            <a:off x="2834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576c59ff-9342-4433-8385-de33633ff795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e2c63c80-b67f-42f2-8faa-96d5d47c7b00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審過的計畫</a:t>
            </a:r>
            <a:endParaRPr lang="en-US" sz="1400" dirty="0"/>
          </a:p>
        </p:txBody>
      </p:sp>
      <p:sp>
        <p:nvSpPr>
          <p:cNvPr id="9" name="d3f05e02-2cec-4c8f-a3d4-2c06330a17aa"/>
          <p:cNvSpPr/>
          <p:nvPr/>
        </p:nvSpPr>
        <p:spPr>
          <a:xfrm>
            <a:off x="2926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人審:搬哪些、搬多少資料、是否違反機架規劃</a:t>
            </a:r>
            <a:endParaRPr lang="en-US" sz="1100" dirty="0"/>
          </a:p>
        </p:txBody>
      </p:sp>
      <p:sp>
        <p:nvSpPr>
          <p:cNvPr id="10" name="47b5a7d0-2535-4433-8ac1-2b95f76a6e93"/>
          <p:cNvSpPr/>
          <p:nvPr/>
        </p:nvSpPr>
        <p:spPr>
          <a:xfrm>
            <a:off x="5120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1" name="6bcdd88f-21a7-4b8e-9a04-3764baa34311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244eee17-c094-42bf-ab06-37154d36b85f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限速執行</a:t>
            </a:r>
            <a:endParaRPr lang="en-US" sz="1400" dirty="0"/>
          </a:p>
        </p:txBody>
      </p:sp>
      <p:sp>
        <p:nvSpPr>
          <p:cNvPr id="13" name="7c229d3d-eda7-4ab8-b534-04fe431ab681"/>
          <p:cNvSpPr/>
          <p:nvPr/>
        </p:nvSpPr>
        <p:spPr>
          <a:xfrm>
            <a:off x="5212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--execute --throttle;背景寫入實測零失敗</a:t>
            </a:r>
            <a:endParaRPr lang="en-US" sz="1100" dirty="0"/>
          </a:p>
        </p:txBody>
      </p:sp>
      <p:sp>
        <p:nvSpPr>
          <p:cNvPr id="14" name="c6be75d6-ef0a-4f97-911f-d43ba600d061"/>
          <p:cNvSpPr/>
          <p:nvPr/>
        </p:nvSpPr>
        <p:spPr>
          <a:xfrm>
            <a:off x="7406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4e23f710-f731-44ff-a86f-ea824949455e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c4ad4c3f-8d46-42b6-a64a-b1b7fcbe3c4f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--verify 收尾</a:t>
            </a:r>
            <a:endParaRPr lang="en-US" sz="1400" dirty="0"/>
          </a:p>
        </p:txBody>
      </p:sp>
      <p:sp>
        <p:nvSpPr>
          <p:cNvPr id="17" name="2bf811e1-0a92-4a08-ae38-bce5ee000030"/>
          <p:cNvSpPr/>
          <p:nvPr/>
        </p:nvSpPr>
        <p:spPr>
          <a:xfrm>
            <a:off x="7498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完成時自動移除限速;不收尾,限速設定會殘留在 broker 與 topic</a:t>
            </a:r>
            <a:endParaRPr lang="en-US" sz="1100" dirty="0"/>
          </a:p>
        </p:txBody>
      </p:sp>
      <p:sp>
        <p:nvSpPr>
          <p:cNvPr id="18" name="298296a1-530b-4b32-8140-cf66c9b0fa7b"/>
          <p:cNvSpPr/>
          <p:nvPr/>
        </p:nvSpPr>
        <p:spPr>
          <a:xfrm>
            <a:off x="9692640" y="1769899"/>
            <a:ext cx="1947672" cy="2121243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9" name="699cc9aa-f0ea-4ba0-9d23-9d994d5136c7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003b563b-991b-43f0-a9e0-791f23f67cc5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必要時取消</a:t>
            </a:r>
            <a:endParaRPr lang="en-US" sz="1400" dirty="0"/>
          </a:p>
        </p:txBody>
      </p:sp>
      <p:sp>
        <p:nvSpPr>
          <p:cNvPr id="21" name="fefd025c-5866-45b5-bbb0-e743b6f07436"/>
          <p:cNvSpPr/>
          <p:nvPr/>
        </p:nvSpPr>
        <p:spPr>
          <a:xfrm>
            <a:off x="9784080" y="2745671"/>
            <a:ext cx="1764792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--cancel 回到搬家前並清除限速</a:t>
            </a:r>
            <a:endParaRPr lang="en-US" sz="1100" dirty="0"/>
          </a:p>
        </p:txBody>
      </p:sp>
      <p:sp>
        <p:nvSpPr>
          <p:cNvPr id="22" name="8f775cc2-d4a4-45fb-8cd0-5326f511898b"/>
          <p:cNvSpPr/>
          <p:nvPr/>
        </p:nvSpPr>
        <p:spPr>
          <a:xfrm>
            <a:off x="2651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098bcb01-1bfd-4fd8-9bb0-a29ac5d0b1a6"/>
          <p:cNvSpPr/>
          <p:nvPr/>
        </p:nvSpPr>
        <p:spPr>
          <a:xfrm>
            <a:off x="4937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351fc314-c1ea-42e0-b2ba-4b1b686fc342"/>
          <p:cNvSpPr/>
          <p:nvPr/>
        </p:nvSpPr>
        <p:spPr>
          <a:xfrm>
            <a:off x="7223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c60cd536-2562-483c-ab7f-03199cc3c706"/>
          <p:cNvSpPr/>
          <p:nvPr/>
        </p:nvSpPr>
        <p:spPr>
          <a:xfrm>
            <a:off x="9509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873da847-af21-4a89-a28d-3e5661884976"/>
          <p:cNvSpPr/>
          <p:nvPr/>
        </p:nvSpPr>
        <p:spPr>
          <a:xfrm>
            <a:off x="548640" y="4315391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搬家期間不要同時做滾動重啟或換憑證;限速值依服務延遲逐步調,不要憑感覺</a:t>
            </a:r>
            <a:endParaRPr lang="en-US" sz="1250" dirty="0"/>
          </a:p>
        </p:txBody>
      </p:sp>
      <p:sp>
        <p:nvSpPr>
          <p:cNvPr id="27" name="1059e5ef-1cab-4e17-a71c-c8e99b243a28"/>
          <p:cNvSpPr/>
          <p:nvPr/>
        </p:nvSpPr>
        <p:spPr>
          <a:xfrm>
            <a:off x="548640" y="4824490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Self-Balancing 與 Tiered Storage 尚未驗證(授權與版本資格要向 Confluent 確認)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Grafana 全元件監控,以及日誌與追蹤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Control Center 只看得到 broker 與 controller;Grafana 把 Kafka、主機、consumer、日誌、追蹤放在一起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9" name="2d739dbe-109d-4d1a-94d7-351b8f1688b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624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官方儀表板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Confluent 的 KRaft 儀表板原樣匯入(固定版本、校驗雜湊);匯入成功不等於有資料,要逐個查詢確認,不改官方內容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主機與 consumer lag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node_exporter(磁碟等)、kafka_exporter(lag;帳號只有 Describe);兩者都 mTLS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Grafana 本身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HTTPS、AD 登入、群組對映角色;本機 admin 只留緊急用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日誌與追蹤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Loki、Tempo、Alloy;資料先寫進 Kafka 再送下游:下游停機資料不掉;trace 跨過 Kafka 串起 producer 與 consumer(程式碼不改)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稽核事件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audit topic 一併進 Loki,在 Grafana 查「誰對什麼被拒」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高可用、取樣、脫敏、Loki 存取控制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Loki 本身沒有 RBAC;取樣與脫敏要在上線前決定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應用開發:可靠性要靠寫法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叢集再穩,應用寫法不對一樣會重複或掉資料;預設行為要先讓開發者看過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0" name="cd7be34b-2b6a-4c87-a738-2b52e8acf5a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實測結果與建議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冪等 producer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凍結造成逾時重送:關閉冪等會多寫重複(1500 → 1505),開啟為 0;預設就是開,不要手動關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手動提交 offset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處理後、提交前當機,重啟後同一批被再處理(at-least-once);消費端處理要能容許重複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rebalance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eager 收回全部分區、cooperative 只收回要換人的;長駐服務偏好 cooperative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靜態成員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滾動部署時動態成員每個實例都觸發 rebalance,靜態成員(group.instance.id)不會;代價是故障轉移要等 session timeout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交易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abort 的訊息仍在 log;消費端要設 read_committed,否則看得到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 consumer protocol、exactly-once 完整流程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KIP-848、consume-transform-produce、Streams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Schema 演進與資料契約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schema 怎麼改才不會讓另一端壞掉:把「約定」變成機器擋得住的規則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1" name="f3b18071-dce8-4593-a501-909fa159d8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實測結果與建議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相容性模式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BACKWARD 先升級 consumer、FORWARD 先升級 producer、FULL 不拘;選哪個取決於兩端誰先上線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TRANSITIVE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只比最新版會漏掉更早的版本;topic 會被重播就用 TRANSITIVE;檢查要對照全部版本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註冊前先檢查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用相容性檢查 API 放進 CI,不要等上線才被拒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兩道關卡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授權擋是 403、不相容擋是 409,兩道獨立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命名策略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RecordNameStrategy 讓 subject 脫離 topic,依 topic 前綴的授權就失效;選它是架構決定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資料契約規則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 條件規則在寫入端擋下壞資料;只在 client 端序列化器執行,不能取代 broker 端授權;正式授權範圍要向 Confluent 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測試環境已驗證(授權待確認)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Kafka Connect:授權、身分、壞資料與密碼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連接器長期在背景跑、手上常握著別的系統的帳密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2" name="77755bd4-bf3f-413f-95fb-b208b8073ba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做法與結果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誰能管連接器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走 HTTPS,認證用 AD 帳密,授權依群組與連接器名稱;無權限者列表為空、建立 403;命名規則是授權設計的一部分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連接器的身分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每個連接器用自己的 AD 服務帳號(最小權限),不共用 worker 的身分;worker 本身不給資料 topic 的讀取權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壞資料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預設遇到第一筆壞資料就停;errors.tolerance=all 加 DLQ 好壞分流並附錯誤標頭;DLQ 要有告警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密碼不落地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連接器設定存在 Kafka 的 topic;直接寫密碼就是明文;改用 config provider 引用密碼檔(由 CyberArk 提供)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 worker、source 連接器、密碼輪替生效方式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單一 worker 與檔案型連接器做過;其餘沒有做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七、待確認、限制與導入順序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/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要向客戶確認的事項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答案會決定幾個分支的做法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3" name="c73101e3-a87d-42da-8a38-791e5ade13e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27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問題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使用者名稱與 CN 是否完全相同(含大小寫);Kafka 群組放哪個 OU;群組人數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群組查詢設定、主體寫法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跳板機與各主機是否加入 AD;人連主機是否一律經 PSM;主機 22 埠允許哪些來源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登入與 sudo 設計、OP menu 的 ssh 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有哪些模組(PSM、CPM、CCP、Conjur、Summon、Certificate Manager);應用主機與 Kafka 節點能否連到 CCP / PSM;AppID 用 IP 還是憑證認;輪替週期與負責人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第五章每一列的做法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虛擬伺服器類型(L4)、後端 TLS session 復用、persistence、idle timeout、SNAT;REST Proxy 幾台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憑證名稱、sticky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變更管理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變更核准方式;維運作業項目清單;現有 OP menu 樣貌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的核准檢查與項目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由誰簽(AD CS 或 Certificate Manager);有效期政策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憑證生命週期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是否需要欄位級加密(CSFLE);取得加購授權的方式;地端 KMS 或 HSM 的型號與是否有 Java 驅動;重新認證間隔、連線上限與配額的政策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CSFLE 能否導入、金鑰放哪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未驗證與限制(如實說明)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已實測的以外,這些尚未在客戶環境驗證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4" name="894e472a-8f5c-41c7-a7cd-25bf7c459ef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CyberArk:秘密管理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已用 CyberArk 的開源版 Conjur 實測「應用程式取密碼、輪替、OP menu 取帳密、設定檔密碼不落地」;商業版 CCP / Conjur 的 API 細節以客戶版本文件為準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CyberArk:PAM(PSM、CPM、PVWA)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無法在測試環境重現,整合方式為通用模式;需在客戶環境 PoC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真實 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巢狀群組、群組異動的實際延遲、AD 憑證鏈(中繼 CA)要以客戶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以同類負載平衡器實測 L4 透傳可行、L7 終止不可;F5 本身的行為要以客戶設定驗證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 controller 與 RHEL 部署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設計依官方文件;以本方案的測試環境為準,未在客戶 VM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未驗證;建議 C3 不經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密碼輪替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已實測新舊並行流程(建新帳號、驗證、隔離、看 audit、才停用舊帳號,停用是覆寫成隨機密碼、不刪除);由 CPM 自訂平台或排程觸發同一支腳本,需在客戶環境確認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停用帳號對已連線的影響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實測:只停用 SCRAM 憑證擋不住已連著的連線,必須先解除角色;長連線的應用要能在失敗時重新取帳密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 可用性與根的秘密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取不到帳密應用與 broker 起不來,要規劃高可用與重試;機器 API key(secret zero)的保護與輪替未示範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未驗證與限制(續)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資料保護、金鑰管理與參數值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5" name="bd70c56a-632b-4861-a223-4f36f6aa757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欄位級加密(CSFLE)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需要企業版加 CSFLE 加購授權;測試環境的試用授權註冊加密規則會被拒(HTTP 402),所以加密、解密、金鑰輪替都未驗證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地端 KMS 與 HSM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內建只支援 AWS、Azure、GCP、HashiCorp Vault;HSM 需自訂 Java 驅動(官方有介面說明,未見 HSM 範例);廠商是否有現成驅動未確認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能否當 KMS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開源版 Conjur 是秘密管理,不是 KMS(它把秘密交出去,不代為加解密);PAM 等其他模組是否提供 KMS 式服務未確認,要問客戶的 CyberArk 窗口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主金鑰輪替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已實測單台與兩台共用同一把金鑰的逐台重啟;更多台與 controller 的流程依官方文件與同樣原則,正式環境要在維護窗口內演練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刪除問題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 Apache Kafka 回報與測試環境實測;升級到含修復的版本(4.5.0 以上)前維持「停用不刪除」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防線參數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重新認證 60 秒、連線上限 2、配額等是測試值;正式值要依客戶的應用特性與容量評估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導入順序建議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先把身分與授權做對,再接 CyberArk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393f176-31ef-43cb-84c1-82e0e53e40a2"/>
          <p:cNvSpPr/>
          <p:nvPr/>
        </p:nvSpPr>
        <p:spPr>
          <a:xfrm>
            <a:off x="548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aafe3d8e-6d93-49fc-916d-3f5816bc19d0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d47f9e99-ca30-45f4-b81b-fc789ed05de8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基礎</a:t>
            </a:r>
            <a:endParaRPr lang="en-US" sz="1400" dirty="0"/>
          </a:p>
        </p:txBody>
      </p:sp>
      <p:sp>
        <p:nvSpPr>
          <p:cNvPr id="5" name="259aab29-539a-4ca4-bb78-1b4a46e6c11a"/>
          <p:cNvSpPr/>
          <p:nvPr/>
        </p:nvSpPr>
        <p:spPr>
          <a:xfrm>
            <a:off x="640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群組與唯讀查詢帳號;憑證;叢集與 TLS;初始授權與驗收</a:t>
            </a:r>
            <a:endParaRPr lang="en-US" sz="1100" dirty="0"/>
          </a:p>
        </p:txBody>
      </p:sp>
      <p:sp>
        <p:nvSpPr>
          <p:cNvPr id="6" name="6056fee6-88ac-4ba8-bed4-cced190b788a"/>
          <p:cNvSpPr/>
          <p:nvPr/>
        </p:nvSpPr>
        <p:spPr>
          <a:xfrm>
            <a:off x="2834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6e494f85-1ee3-4568-b332-08199b332773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1b358255-73e8-482e-8247-7303821c230b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人與系統上線</a:t>
            </a:r>
            <a:endParaRPr lang="en-US" sz="1400" dirty="0"/>
          </a:p>
        </p:txBody>
      </p:sp>
      <p:sp>
        <p:nvSpPr>
          <p:cNvPr id="9" name="0c0879ff-aff5-45cd-8acd-15105e0c7dab"/>
          <p:cNvSpPr/>
          <p:nvPr/>
        </p:nvSpPr>
        <p:spPr>
          <a:xfrm>
            <a:off x="2926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C3、REST Proxy、F5;應用系統帳號與憑證;命名規範</a:t>
            </a:r>
            <a:endParaRPr lang="en-US" sz="1100" dirty="0"/>
          </a:p>
        </p:txBody>
      </p:sp>
      <p:sp>
        <p:nvSpPr>
          <p:cNvPr id="10" name="dcb4135d-069f-41a6-b91b-ab5fdc2b2819"/>
          <p:cNvSpPr/>
          <p:nvPr/>
        </p:nvSpPr>
        <p:spPr>
          <a:xfrm>
            <a:off x="5120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1" name="abbd3368-b2a4-41a6-8b67-bef20b7ba7fb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ab5a66a-d77f-43e7-9b1a-1196909fcb3d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</a:t>
            </a:r>
            <a:endParaRPr lang="en-US" sz="1400" dirty="0"/>
          </a:p>
        </p:txBody>
      </p:sp>
      <p:sp>
        <p:nvSpPr>
          <p:cNvPr id="13" name="d738cb00-0964-4087-871d-d6b29ca77ab8"/>
          <p:cNvSpPr/>
          <p:nvPr/>
        </p:nvSpPr>
        <p:spPr>
          <a:xfrm>
            <a:off x="5212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menu、監控告警、audit 匯出與覆核;緊急流程演練</a:t>
            </a:r>
            <a:endParaRPr lang="en-US" sz="1100" dirty="0"/>
          </a:p>
        </p:txBody>
      </p:sp>
      <p:sp>
        <p:nvSpPr>
          <p:cNvPr id="14" name="28d50f40-08f5-4b62-ba60-c52fac0af846"/>
          <p:cNvSpPr/>
          <p:nvPr/>
        </p:nvSpPr>
        <p:spPr>
          <a:xfrm>
            <a:off x="7406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dc80aa43-43df-499e-87f2-eae8a557c7eb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2c3b8d59-c9a4-4b63-b111-3a54f4bca725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第一階段</a:t>
            </a:r>
            <a:endParaRPr lang="en-US" sz="1400" dirty="0"/>
          </a:p>
        </p:txBody>
      </p:sp>
      <p:sp>
        <p:nvSpPr>
          <p:cNvPr id="17" name="0f1779e8-a2c9-457f-ab52-ed4508ff22b0"/>
          <p:cNvSpPr/>
          <p:nvPr/>
        </p:nvSpPr>
        <p:spPr>
          <a:xfrm>
            <a:off x="7498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 代登入與錄影;CPM 輪替主機帳號;bootstrap 私鑰入 Vault</a:t>
            </a:r>
            <a:endParaRPr lang="en-US" sz="1100" dirty="0"/>
          </a:p>
        </p:txBody>
      </p:sp>
      <p:sp>
        <p:nvSpPr>
          <p:cNvPr id="18" name="ee9b00d9-efd9-4c32-8a9f-4b0832f675bd"/>
          <p:cNvSpPr/>
          <p:nvPr/>
        </p:nvSpPr>
        <p:spPr>
          <a:xfrm>
            <a:off x="9692640" y="1769899"/>
            <a:ext cx="1947672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9" name="ae882867-1834-4f5f-ba55-efda4416dea8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0cee21e4-a180-47e7-a110-f9ea8af56c95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第二階段</a:t>
            </a:r>
            <a:endParaRPr lang="en-US" sz="1400" dirty="0"/>
          </a:p>
        </p:txBody>
      </p:sp>
      <p:sp>
        <p:nvSpPr>
          <p:cNvPr id="21" name="e52b998e-fc13-4df7-9ce4-5eba9ef6072f"/>
          <p:cNvSpPr/>
          <p:nvPr/>
        </p:nvSpPr>
        <p:spPr>
          <a:xfrm>
            <a:off x="9784080" y="2745671"/>
            <a:ext cx="1764792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應用程式經 CCP 取密碼;設定檔密碼不落地;SCRAM 輪替自動化</a:t>
            </a:r>
            <a:endParaRPr lang="en-US" sz="1100" dirty="0"/>
          </a:p>
        </p:txBody>
      </p:sp>
      <p:sp>
        <p:nvSpPr>
          <p:cNvPr id="22" name="3f0379ea-8194-4dbc-9e40-03145d9510fe"/>
          <p:cNvSpPr/>
          <p:nvPr/>
        </p:nvSpPr>
        <p:spPr>
          <a:xfrm>
            <a:off x="2651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675e56ae-5b43-4ecc-a1cd-cce4dc9bfb81"/>
          <p:cNvSpPr/>
          <p:nvPr/>
        </p:nvSpPr>
        <p:spPr>
          <a:xfrm>
            <a:off x="4937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1c183e11-d0a2-46db-bf6b-3f0a0b2535fa"/>
          <p:cNvSpPr/>
          <p:nvPr/>
        </p:nvSpPr>
        <p:spPr>
          <a:xfrm>
            <a:off x="7223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2d58c5a8-39c8-4f4e-907b-c41d55a28457"/>
          <p:cNvSpPr/>
          <p:nvPr/>
        </p:nvSpPr>
        <p:spPr>
          <a:xfrm>
            <a:off x="9509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0af2428c-8710-4cf9-9907-60df694feaad"/>
          <p:cNvSpPr/>
          <p:nvPr/>
        </p:nvSpPr>
        <p:spPr>
          <a:xfrm>
            <a:off x="548640" y="4400241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到 3 步已在測試環境完整驗證;第 4、5 步依客戶回答的 CyberArk 模組決定範圍</a:t>
            </a:r>
            <a:endParaRPr lang="en-US" sz="1250" dirty="0"/>
          </a:p>
        </p:txBody>
      </p:sp>
      <p:sp>
        <p:nvSpPr>
          <p:cNvPr id="27" name="1765a074-a927-407a-b89b-09217e161cc7"/>
          <p:cNvSpPr/>
          <p:nvPr/>
        </p:nvSpPr>
        <p:spPr>
          <a:xfrm>
            <a:off x="548640" y="490933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每一步都有驗收標準:身分對、權限對、紀錄查得到;不過關不進下一步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