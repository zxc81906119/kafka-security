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結論版,只講做法與結果。出處、實測依據與限制在各頁備忘稿,完整版有逐項前提與驗證狀態。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 表格內容:controller 的 9093 用 SASL/PLAIN 靜態內部帳號;broker 的 INTERNAL 9092 用 SCRAM(kafka-broker、controller 連 broker 用 kafka-controller);CLIENT 9094 同時支援 PLAIN+LDAP、SCRAM、OAUTHBEARER;MDS 8091 接受 Basic(AD)、Bearer token 與 client 憑證(REQUESTED);REST Proxy 人走 Basic、legacy app 用 client 憑證經 /impersonate 換 token;C3 人用本人 AD 帳密換 token;Prometheus 與 Alertmanager 用 Basic,沒有權限分級。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mTLS。本頁是在 demo 實測啟用 TLS + Basic 的結果(spike/c3-monitoring-tls,用 override 檔啟用,帳密為 demo 測試值):①broker 推指標:telemetry exporter 的 base url 改 https,api.key / api.secret 就是 Prometheus 的 Basic 帳密,另設信任庫(confluent.telemetry.exporter.&lt;名稱&gt;.https.ssl.truststore.*);實測 Prometheus 的 OTLP 端點回 200,兩台 broker 的指標都進來。未更新的 broker 仍用 HTTP,Prometheus 日誌是 client sent an HTTP request to an HTTPS server。②Prometheus 送告警給 Alertmanager:必須在 Prometheus 的設定檔 alerting 區段設 scheme: https、basic_auth、tls_config.ca_file;官方 TLS + Basic 頁沒有寫這一段,對照實測:沒設時日誌是 Error sending alerts … bad response status 400,Alertmanager 一筆都沒收到;設了之後測試告警送達。③C3 查 Prometheus:confluent.controlcenter.prometheus.url 改 https、ssl.truststore.*、basic.auth.user.info;實測 C3 總覽畫面有指標、查詢計數持續增加(PKCS12 信任庫可用)。④C3 連 Alertmanager:alertmanager.url 改 https + 同樣兩項;C3 的狀態 API 回 ONLINE,故意改錯密碼則變 OFFLINE。web-config 檔(Prometheus --web.config.file):tls_server_config 放共用 server 憑證與私鑰,basic_auth_users 放 bcrypt 雜湊(htpasswd -B 可產生)。共用 server 憑證的 SAN 原本沒有 prometheus 與 alertmanager,openssl 驗證主機名稱 prometheus 回 hostname mismatch;用同一把 key、同一個 CA 重簽、SAN 補上這兩個名稱後通過,所以導入時共用憑證的 SAN 要涵蓋 Prometheus 與 Alertmanager 的主機名稱。未啟用時(demo 預設)實測:不帶憑證可讀指標,Alertmanager 可無認證建立與刪除靜音;啟用後,無帳密與錯誤密碼都是 401,無帳密建立靜音也是 401。C3 畫面建立 trigger 與 email action 已實測:C3 把 trigger 寫成 Prometheus 規則檔(trigger_rules-generated.yml)並通知 Prometheus 重新載入,由 Prometheus 評估並送告警給 Alertmanager;action 寫進 alertmanager-generated.yml(receiver 與依 alertname 的路由),再對 Alertmanager 發 POST /-/reload(帶 Basic),實測重新載入成功、Alertmanager 執行中的設定出現新 receiver。C3 沒有靜音功能(告警區只有 Overview、History、Triggers、Actions),靜音只能直接對 Alertmanager 的 API 操作。C3 的 INFO 日誌會印出請求標頭,包含 Authorization: Basic(Base64 解開即帳密),日誌檔需要保護。未驗證:C3 建立的 trigger 實際觸發並寄出通知(demo 用假的 SMTP)、mTLS 做法、confluent.controlcenter.*.alias.name 的作用(本實測沒設也能運作)。demo 映像的 Prometheus 設定檔是靜態檔,實際安裝套件是否由 C3 自動產生 alerting 設定,未驗證。沒有 Schema Registry 時,C3 預設連 localhost:8081,把 schema.registry.enable 設為 false 可關閉該連線。 為什麼用 Basic 不用 mTLS:官方兩種都支援(TLS + Basic 自 7.5,另有 mTLS 設定頁);依客戶前提(憑證越少越好),mTLS 要替 broker、C3、Prometheus、Alertmanager 各發 client 憑證,Basic 只要帳號密碼,所以選 Basic;帳密的代價見下。防火牆:Prometheus 9090 要開給 broker(推指標)與 C3;Alertmanager 9093 要開給 C3 與 Prometheus(送告警);這四條以外不用開。新增的要管理項目:Prometheus 與 Alertmanager 各一組 Basic 帳密(demo 用同名 c3),bcrypt 雜湊在 web-config,明文放在 broker 設定(api.secret)與 C3 設定(basic.auth.user.info),輪替流程未驗證,應列入「要管理的憑證與帳號」清單;共用 server 憑證的私鑰也要放到 Prometheus 與 Alertmanager 的主機,私鑰的存放處變多,外洩風險範圍變大。Basic 沒有唯讀與寫入的分級:broker、C3 查指標、C3 重載規則都用同一組帳密(官方也沒有提供分級)。未驗證:KRaft controller 是否也要設 telemetry exporter(demo 的 controller 沒設,正式環境有 3 個 controller)、Prometheus 與 Alertmanager 更換共用憑證時是否要重啟、email 告警帶 SMTP 帳密時帳密如何寫進 alertmanager-generated.yml、帶 Basic 的使用者能否呼叫 Prometheus 的 /-/quit(映像啟動時有開 --web.enable-lifecycle)、人用瀏覽器直接開 Prometheus 或 Alertmanager 網頁的體驗。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逐項依據與驗證狀態見完整版第 27 頁(風險與對策)與第 29 頁(已驗證 vs 待驗證)。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完整版第 30 頁有八件事(另含 Java 版本與 Prometheus、Alertmanager 部署)。AD 群組巢狀、大小寫的實際行為尚未在真實 AD 驗證。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2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3.png"/><Relationship Id="rId4-created" Type="http://schemas.openxmlformats.org/officeDocument/2006/relationships/image" Target="../media/media14.png"/><Relationship Id="rId5-created" Type="http://schemas.openxmlformats.org/officeDocument/2006/relationships/image" Target="../media/media1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4.png"/><Relationship Id="rId9-created" Type="http://schemas.openxmlformats.org/officeDocument/2006/relationships/image" Target="../media/media14.png"/><Relationship Id="rId10-created" Type="http://schemas.openxmlformats.org/officeDocument/2006/relationships/image" Target="../media/media14.png"/><Relationship Id="rId11-created" Type="http://schemas.openxmlformats.org/officeDocument/2006/relationships/image" Target="../media/media14.png"/><Relationship Id="rId12-created" Type="http://schemas.openxmlformats.org/officeDocument/2006/relationships/image" Target="../media/media13.png"/><Relationship Id="rId13-created" Type="http://schemas.openxmlformats.org/officeDocument/2006/relationships/image" Target="../media/media14.png"/><Relationship Id="rId14-created" Type="http://schemas.openxmlformats.org/officeDocument/2006/relationships/image" Target="../media/media14.png"/><Relationship Id="rId15-created" Type="http://schemas.openxmlformats.org/officeDocument/2006/relationships/image" Target="../media/media14.png"/><Relationship Id="rId16-created" Type="http://schemas.openxmlformats.org/officeDocument/2006/relationships/image" Target="../media/media14.png"/><Relationship Id="rId17-created" Type="http://schemas.openxmlformats.org/officeDocument/2006/relationships/image" Target="../media/media13.png"/><Relationship Id="rId18-created" Type="http://schemas.openxmlformats.org/officeDocument/2006/relationships/image" Target="../media/media13.png"/><Relationship Id="rId19-created" Type="http://schemas.openxmlformats.org/officeDocument/2006/relationships/image" Target="../media/media13.png"/><Relationship Id="rId20-created" Type="http://schemas.openxmlformats.org/officeDocument/2006/relationships/image" Target="../media/media13.png"/><Relationship Id="rId21-created" Type="http://schemas.openxmlformats.org/officeDocument/2006/relationships/image" Target="../media/media13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20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0.png"/><Relationship Id="rId3-created" Type="http://schemas.openxmlformats.org/officeDocument/2006/relationships/image" Target="../media/media21.png"/><Relationship Id="rId4-created" Type="http://schemas.openxmlformats.org/officeDocument/2006/relationships/image" Target="../media/media22.png"/><Relationship Id="rId5-created" Type="http://schemas.openxmlformats.org/officeDocument/2006/relationships/image" Target="../media/media23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結論版:每個元件怎麼做</a:t>
            </a:r>
          </a:p>
        </p:txBody>
      </p:sp>
      <p:sp>
        <p:nvSpPr>
          <p:cNvPr id="2" name="f1fc3e72-98a6-4059-b43a-da61c4dda2ac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9a32a96-f5c8-429f-b26e-f5269fc7afe0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e41f67e-22ed-4dcc-85c1-86e84362a402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6e43268-1188-403e-a8c6-cbdeb467308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83c7c6ff-5791-4419-b30a-5722bc6c81a8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046ece3b-4ff8-4449-9e5f-f60d79586308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aca9c8f2-d600-431b-ae1c-042e322ce4ea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c89050e1-3c19-4572-8d9f-5d5f78b51a44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6cd6028f-1df3-43fe-9f20-44984942add3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972e8564-5dc0-4740-b9e9-b09a40270f7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42a75c8c-5527-4996-bc9d-f4f1bd12bc54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13248f07-58f5-4fcd-82ce-cc9de1f62d81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312e9a80-3453-4212-8a57-cccef4c24df1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7c9001cb-d969-4231-be9f-fba197f4b18a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e8609340-eacf-48f4-9b08-3d1f7c0200f5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5e88e8f8-7522-470b-b71b-21fb8cc5c17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349a798e-33ed-4667-9e44-2133cfaed981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629e148d-a124-4f6f-85e4-7c2b48d37dda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0c1f9b8f-1b3f-4bf4-b28c-c56cfb7eaecf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b11aa99f-6e59-4840-a05a-68ead8894785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9761967c-6d95-4d9a-b177-2eb23524c36f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0a4d4706-d2d5-455d-8a3b-73fd4f018b78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共用一組憑證,只做加密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不承載權限;身分另外處理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ce7de98-6893-47b9-904c-216f5c917563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9aaec5fa-a190-4fe5-b795-08195df11dd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c8f804d9-7be1-427f-a0b1-53895053190c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d83dad06-e763-4b8a-acc1-8daab85f0f25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941dd7b6-fac0-4f3c-ae4a-bdcacf652c3c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41695c96-3737-4c9e-ac39-7dbb1c389f54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29e5ff3e-88dc-43d7-a182-02d5a1706dcf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887b245f-1179-4676-9c05-14c1905ac4e9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64103c89-0312-4ffc-a75d-21816e1a2e13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bb0ee022-503c-40a3-beb8-967b8b2773a4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081f0130-3ee4-4329-97e5-2caf70241fe5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48f0aa39-3468-40dc-8791-4a3e0a8f5f4b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321df2f3-9d73-4296-9601-3e5c09b45902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ebe49bcf-4b8e-4f29-8ae5-61eed0c3ef63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542744fb-f962-4677-8801-ac3d8b9b54cc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e30185ba-9ede-4f61-bebf-996e7ae96d07"/>
          <p:cNvSpPr/>
          <p:nvPr/>
        </p:nvSpPr>
        <p:spPr>
          <a:xfrm>
            <a:off x="6309360" y="181232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只做傳輸加密,不承載權限</a:t>
            </a:r>
            <a:endParaRPr lang="en-US" sz="1250" dirty="0"/>
          </a:p>
        </p:txBody>
      </p:sp>
      <p:sp>
        <p:nvSpPr>
          <p:cNvPr id="18" name="49188340-a8da-4ed9-af86-054088db047c"/>
          <p:cNvSpPr/>
          <p:nvPr/>
        </p:nvSpPr>
        <p:spPr>
          <a:xfrm>
            <a:off x="6309360" y="2363848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共用憑證的身分(CN)永遠不綁任何 role</a:t>
            </a:r>
            <a:endParaRPr lang="en-US" sz="1250" dirty="0"/>
          </a:p>
        </p:txBody>
      </p:sp>
      <p:sp>
        <p:nvSpPr>
          <p:cNvPr id="19" name="2e3d36a1-4247-4a61-b449-043513b4693a"/>
          <p:cNvSpPr/>
          <p:nvPr/>
        </p:nvSpPr>
        <p:spPr>
          <a:xfrm>
            <a:off x="6309360" y="2915371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涵蓋所有元件主機名稱(含 Prometheus、Alertmanager)</a:t>
            </a:r>
            <a:endParaRPr lang="en-US" sz="1200" dirty="0"/>
          </a:p>
        </p:txBody>
      </p:sp>
      <p:sp>
        <p:nvSpPr>
          <p:cNvPr id="20" name="af11b846-6635-4b63-916a-8f98bc265376"/>
          <p:cNvSpPr/>
          <p:nvPr/>
        </p:nvSpPr>
        <p:spPr>
          <a:xfrm>
            <a:off x="6309360" y="346689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平台元件另用 client 憑證換 token(c3、restproxy、bootstrap)</a:t>
            </a:r>
            <a:endParaRPr lang="en-US" sz="1200" dirty="0"/>
          </a:p>
        </p:txBody>
      </p:sp>
      <p:sp>
        <p:nvSpPr>
          <p:cNvPr id="21" name="d3df7edd-d315-443d-85ca-c86daff99baf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另匯入 AD 的 LDAPS CA root,一份設定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每個元件各用什麼認證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認證、授權與傳輸加密一覽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d884cdfc-87f3-4d59-9b44-28c164b04d5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3657600"/>
                <a:gridCol w="1828800"/>
                <a:gridCol w="1216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誰連進來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controller(9093)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靜態內部帳號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broker(INTERNAL 9092)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SCRAM(kafka-broker、kafka-controller)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broker(CLIENT 9094)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人、服務、平台元件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PLAIN+LDAP;服務 SCRAM;平台 OAUTHBEARER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MDS(8091)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人、平台元件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Basic(AD)、Bearer、client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人、legacy app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Basic;legacy app 憑證換 token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token 主體走 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帳密換 token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依本人的 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無分級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d322d55-c437-468b-bc5a-f9ed2dbd0368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47e59c85-5870-4551-813e-6224950ec843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90a72739-f821-4251-881a-d9cca9340e8a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d2fee02f-d72b-48e8-8df5-82d256bf1d02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1bf4d55a-095f-43ae-974a-6b9470545c9b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1e33408c-f9e2-4b94-9f26-2ecd542ec3bc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59b870bb-7170-4600-8657-68d319ddea9f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5916576e-f725-4c1a-a7e7-0747a887bcb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d006e8da-04a4-4778-a899-df99235c9ec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c2ec8aa6-997e-43a1-bcfa-b7a5d972e7e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d18e7bd3-1972-4543-871d-1859b06312c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c07e37b2-2f3f-419b-92c3-7e4268bcc9ac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10a16d94-197b-47b4-8121-9b29b3a6441a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7de2af28-771d-4456-a4e8-cb8f33a3175c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5791324c-c5de-42d6-b402-476e1e69773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11bab679-b115-4bf2-8ebb-25f3421d431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208ffdb4-3013-4ca2-b7fe-dc622c3742d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8c1ee10e-eb3f-4b29-9edd-967ac566dcd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80fb2478-391d-4c98-9c3c-d76c91f989af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799c8b81-49d9-4ea9-a58c-50e0e4044b87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afd92707-c306-4d4e-99e2-80c804bafd0e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50b3e466-1810-4428-be14-ecb948966558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cb9169e6-acff-41d0-901a-8ad87b0be851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595bdea9-e001-4ade-827f-eb193bdb89e3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7ff50171-f71d-41d7-95d2-a09d7475f06f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ecf8a1e5-9caa-4f02-8824-960b499c6bbb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43f5585d-d9d7-4130-aa6f-659e0aab2423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142b634e-d79c-4c23-ac39-8cfad12c0b73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0112e3fb-bd37-4142-8be3-61bf5e06787d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94426187-b086-4acc-a63a-dbf01c92bef8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89abbb3d-eaa8-41ee-b591-a2bbefeebb16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bd254f51-4577-49ad-979d-8c1e5736a619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90ff0be3-fa7c-45c7-b43d-f54ea857eb20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45e04cf6-1799-4f87-99bb-9a5bf147265f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b525e1a3-3447-468b-b880-0b4ae8fd2694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53907900-9bef-4058-9d79-15d176214925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b8785936-aac3-4aef-8f0f-78317c597262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2a5c5429-ade2-40d9-bf95-e8025f340830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c416703c-4d11-4874-91cb-812f53a1b6e3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e260cd9f-ff86-4438-8d5d-ec71ebeaa960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ef16bca4-8ac6-4419-9ed1-9772bedc1df2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e03581ba-eb35-4483-be57-0baa0bdb410c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b45942db-7d29-449b-a4bc-eb7fa6f57bba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b4b1cc8d-5165-4f0d-bac5-048b5d902200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5f7ca0be-db4d-4a19-baec-af565b16551c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5c7a8452-b58d-4b3a-b776-602f917e0464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12beff9e-c62a-4da2-856f-376be12cb68c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c56bf13-d4e4-4734-9fbd-bb2dc1207033"/>
          <p:cNvSpPr/>
          <p:nvPr/>
        </p:nvSpPr>
        <p:spPr>
          <a:xfrm>
            <a:off x="548640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1e46c8f5-b293-41e3-a7c3-6938f81e3a70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f45b43ed-ceae-48f6-a447-05a57a57f18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78541c3b-27fd-4ba7-a5f8-08e439553ffe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 內</a:t>
            </a:r>
            <a:endParaRPr lang="en-US" sz="1500" dirty="0"/>
          </a:p>
        </p:txBody>
      </p:sp>
      <p:sp>
        <p:nvSpPr>
          <p:cNvPr id="6" name="a40da799-edd5-4e53-a353-a869f758d182"/>
          <p:cNvSpPr/>
          <p:nvPr/>
        </p:nvSpPr>
        <p:spPr>
          <a:xfrm>
            <a:off x="640080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不放 AD</a:t>
            </a:r>
            <a:endParaRPr lang="en-US" sz="1200" dirty="0"/>
          </a:p>
        </p:txBody>
      </p:sp>
      <p:sp>
        <p:nvSpPr>
          <p:cNvPr id="7" name="58ad90bb-21af-4509-9159-dcb8b503c539"/>
          <p:cNvSpPr/>
          <p:nvPr/>
        </p:nvSpPr>
        <p:spPr>
          <a:xfrm>
            <a:off x="4325112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6bdca18f-8c3e-4967-8500-fb2e14f7500d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9" name="f641b410-81ba-405f-b880-b3876da9426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61c3d0f1-6ed6-439a-84c8-28d73c290fd7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500" dirty="0"/>
          </a:p>
        </p:txBody>
      </p:sp>
      <p:sp>
        <p:nvSpPr>
          <p:cNvPr id="11" name="0feabfd6-6fd9-48a1-be33-849f8892ec50"/>
          <p:cNvSpPr/>
          <p:nvPr/>
        </p:nvSpPr>
        <p:spPr>
          <a:xfrm>
            <a:off x="4416552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</a:t>
            </a:r>
            <a:endParaRPr lang="en-US" sz="1200" dirty="0"/>
          </a:p>
        </p:txBody>
      </p:sp>
      <p:sp>
        <p:nvSpPr>
          <p:cNvPr id="12" name="aa32ceed-2fd1-40c8-a244-1e54c246f580"/>
          <p:cNvSpPr/>
          <p:nvPr/>
        </p:nvSpPr>
        <p:spPr>
          <a:xfrm>
            <a:off x="8101584" y="1685050"/>
            <a:ext cx="3538728" cy="16121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b1950e12-04f6-4a18-a0cf-8092a5232d92"/>
          <p:cNvSpPr/>
          <p:nvPr/>
        </p:nvSpPr>
        <p:spPr>
          <a:xfrm>
            <a:off x="9596628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b71651ea-34f6-4cb0-8a88-34fcc9c8faa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24326"/>
            <a:ext cx="307238" cy="307238"/>
          </a:xfrm>
          <a:prstGeom prst="rect">
            <a:avLst/>
          </a:prstGeom>
        </p:spPr>
      </p:pic>
      <p:sp>
        <p:nvSpPr>
          <p:cNvPr id="15" name="e87e06df-edc8-4c8a-a285-22d59c6c31ab"/>
          <p:cNvSpPr/>
          <p:nvPr/>
        </p:nvSpPr>
        <p:spPr>
          <a:xfrm>
            <a:off x="8174736" y="2406272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搭配 TLS</a:t>
            </a:r>
            <a:endParaRPr lang="en-US" sz="1500" dirty="0"/>
          </a:p>
        </p:txBody>
      </p:sp>
      <p:sp>
        <p:nvSpPr>
          <p:cNvPr id="16" name="3115ffbb-6ef8-4070-8196-1b4eb05a6f93"/>
          <p:cNvSpPr/>
          <p:nvPr/>
        </p:nvSpPr>
        <p:spPr>
          <a:xfrm>
            <a:off x="8193024" y="2788096"/>
            <a:ext cx="3355848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200" dirty="0"/>
          </a:p>
        </p:txBody>
      </p:sp>
      <p:sp>
        <p:nvSpPr>
          <p:cNvPr id="17" name="835a8c10-7caf-4d84-a1a6-a8ccdae041ac"/>
          <p:cNvSpPr/>
          <p:nvPr/>
        </p:nvSpPr>
        <p:spPr>
          <a:xfrm>
            <a:off x="548640" y="3551744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輪替:同帳號改密碼</a:t>
            </a:r>
            <a:endParaRPr lang="en-US" sz="1400" dirty="0"/>
          </a:p>
        </p:txBody>
      </p:sp>
      <p:sp>
        <p:nvSpPr>
          <p:cNvPr id="18" name="6fdc9895-8a2d-4c4e-a075-f733282eab8f"/>
          <p:cNvSpPr/>
          <p:nvPr/>
        </p:nvSpPr>
        <p:spPr>
          <a:xfrm>
            <a:off x="548640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19" name="be54aef8-0472-45d4-ad88-b3ace0255b2e"/>
          <p:cNvSpPr/>
          <p:nvPr/>
        </p:nvSpPr>
        <p:spPr>
          <a:xfrm>
            <a:off x="3063240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0" name="b0d09d7a-2d4f-4f5a-8209-a333c568ebb8"/>
          <p:cNvSpPr/>
          <p:nvPr/>
        </p:nvSpPr>
        <p:spPr>
          <a:xfrm>
            <a:off x="3410712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21" name="519e61fd-a8c2-4381-90ed-408c0b9b0a3f"/>
          <p:cNvSpPr/>
          <p:nvPr/>
        </p:nvSpPr>
        <p:spPr>
          <a:xfrm>
            <a:off x="5925312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d78fdc2f-0bcf-4bd1-8d75-078fc0ea05cf"/>
          <p:cNvSpPr/>
          <p:nvPr/>
        </p:nvSpPr>
        <p:spPr>
          <a:xfrm>
            <a:off x="6272784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23" name="f79982be-147b-44d4-9ff3-4cde4c4f95fa"/>
          <p:cNvSpPr/>
          <p:nvPr/>
        </p:nvSpPr>
        <p:spPr>
          <a:xfrm>
            <a:off x="8787384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4" name="b20a9637-9a8d-4eb9-a7e8-908229e95b4c"/>
          <p:cNvSpPr/>
          <p:nvPr/>
        </p:nvSpPr>
        <p:spPr>
          <a:xfrm>
            <a:off x="9134856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25" name="643c9996-35ae-4d1e-97fa-9e777b443894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舊密碼對新連線立即失效;已連線的 client 不受影響,改完立刻換 client</a:t>
            </a:r>
            <a:endParaRPr lang="en-US" sz="1400" dirty="0"/>
          </a:p>
        </p:txBody>
      </p:sp>
      <p:sp>
        <p:nvSpPr>
          <p:cNvPr id="26" name="e37190d3-d3c0-4f6d-8a67-813c057133b4"/>
          <p:cNvSpPr/>
          <p:nvPr/>
        </p:nvSpPr>
        <p:spPr>
          <a:xfrm>
            <a:off x="548640" y="5460863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不能有失敗窗口的服務:改用新帳號並行(client 要改帳號、role 要重綁)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416c136-f727-4988-a5a0-59f78b872f2b"/>
          <p:cNvSpPr/>
          <p:nvPr/>
        </p:nvSpPr>
        <p:spPr>
          <a:xfrm>
            <a:off x="54864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a7de5193-8c03-40f4-9224-344d5cf67e11"/>
          <p:cNvSpPr/>
          <p:nvPr/>
        </p:nvSpPr>
        <p:spPr>
          <a:xfrm>
            <a:off x="139446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0f0decf0-d778-4940-b92a-488792c33b9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515161" y="2094025"/>
            <a:ext cx="307238" cy="307238"/>
          </a:xfrm>
          <a:prstGeom prst="rect">
            <a:avLst/>
          </a:prstGeom>
        </p:spPr>
      </p:pic>
      <p:sp>
        <p:nvSpPr>
          <p:cNvPr id="5" name="2513ab65-044e-424b-83fc-4f511bec8035"/>
          <p:cNvSpPr/>
          <p:nvPr/>
        </p:nvSpPr>
        <p:spPr>
          <a:xfrm>
            <a:off x="62179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500" dirty="0"/>
          </a:p>
        </p:txBody>
      </p:sp>
      <p:sp>
        <p:nvSpPr>
          <p:cNvPr id="6" name="1cf63f3f-a490-457d-9252-825cfc4f0a7d"/>
          <p:cNvSpPr/>
          <p:nvPr/>
        </p:nvSpPr>
        <p:spPr>
          <a:xfrm>
            <a:off x="64008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出示 client 憑證</a:t>
            </a:r>
            <a:endParaRPr lang="en-US" sz="1200" dirty="0"/>
          </a:p>
        </p:txBody>
      </p:sp>
      <p:sp>
        <p:nvSpPr>
          <p:cNvPr id="7" name="66a79cc9-4417-4a8c-b04c-01f3ae0859c4"/>
          <p:cNvSpPr/>
          <p:nvPr/>
        </p:nvSpPr>
        <p:spPr>
          <a:xfrm>
            <a:off x="278892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1666bbcb-0a1c-478c-b2d3-be965ec9e748"/>
          <p:cNvSpPr/>
          <p:nvPr/>
        </p:nvSpPr>
        <p:spPr>
          <a:xfrm>
            <a:off x="342900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9" name="f1434ebd-b6fd-46e0-a284-6a3f502b0c49"/>
          <p:cNvSpPr/>
          <p:nvPr/>
        </p:nvSpPr>
        <p:spPr>
          <a:xfrm>
            <a:off x="427482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0" name="34a7463d-43d1-43f8-8440-07c4a2da04c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395521" y="2094025"/>
            <a:ext cx="307238" cy="307238"/>
          </a:xfrm>
          <a:prstGeom prst="rect">
            <a:avLst/>
          </a:prstGeom>
        </p:spPr>
      </p:pic>
      <p:sp>
        <p:nvSpPr>
          <p:cNvPr id="11" name="89eec07a-bec2-4a0b-b437-5727815b6d4c"/>
          <p:cNvSpPr/>
          <p:nvPr/>
        </p:nvSpPr>
        <p:spPr>
          <a:xfrm>
            <a:off x="350215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2" name="8a898d46-369b-4f40-b8dc-810e487c8224"/>
          <p:cNvSpPr/>
          <p:nvPr/>
        </p:nvSpPr>
        <p:spPr>
          <a:xfrm>
            <a:off x="352044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CN → 主體</a:t>
            </a:r>
            <a:endParaRPr lang="en-US" sz="1200" dirty="0"/>
          </a:p>
        </p:txBody>
      </p:sp>
      <p:sp>
        <p:nvSpPr>
          <p:cNvPr id="13" name="e78f2a48-c253-4f52-88d5-e0b2134dfe37"/>
          <p:cNvSpPr/>
          <p:nvPr/>
        </p:nvSpPr>
        <p:spPr>
          <a:xfrm>
            <a:off x="566928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b9c24784-cccd-4a28-9020-64db07d220eb"/>
          <p:cNvSpPr/>
          <p:nvPr/>
        </p:nvSpPr>
        <p:spPr>
          <a:xfrm>
            <a:off x="630936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045dc24c-5f65-4a03-b8d9-eefe96279301"/>
          <p:cNvSpPr/>
          <p:nvPr/>
        </p:nvSpPr>
        <p:spPr>
          <a:xfrm>
            <a:off x="715518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7eb57d43-63f8-4b13-ae3c-bd55bad8ea1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275881" y="2094025"/>
            <a:ext cx="307238" cy="307238"/>
          </a:xfrm>
          <a:prstGeom prst="rect">
            <a:avLst/>
          </a:prstGeom>
        </p:spPr>
      </p:pic>
      <p:sp>
        <p:nvSpPr>
          <p:cNvPr id="17" name="e9697626-524f-497e-b2eb-7cd6d4cdb9f3"/>
          <p:cNvSpPr/>
          <p:nvPr/>
        </p:nvSpPr>
        <p:spPr>
          <a:xfrm>
            <a:off x="638251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500" dirty="0"/>
          </a:p>
        </p:txBody>
      </p:sp>
      <p:sp>
        <p:nvSpPr>
          <p:cNvPr id="18" name="197e3ffe-dcc4-4f96-8c9f-5e3ca9786127"/>
          <p:cNvSpPr/>
          <p:nvPr/>
        </p:nvSpPr>
        <p:spPr>
          <a:xfrm>
            <a:off x="640080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代為申請 token</a:t>
            </a:r>
            <a:endParaRPr lang="en-US" sz="1200" dirty="0"/>
          </a:p>
        </p:txBody>
      </p:sp>
      <p:sp>
        <p:nvSpPr>
          <p:cNvPr id="19" name="dd8664e7-1c33-4aba-8013-90a766b35e59"/>
          <p:cNvSpPr/>
          <p:nvPr/>
        </p:nvSpPr>
        <p:spPr>
          <a:xfrm>
            <a:off x="854964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1bc4b335-acb4-44c9-920e-54b5c1bf6c9e"/>
          <p:cNvSpPr/>
          <p:nvPr/>
        </p:nvSpPr>
        <p:spPr>
          <a:xfrm>
            <a:off x="918972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1d81c873-5a97-40c1-8cc0-348e8bc20e28"/>
          <p:cNvSpPr/>
          <p:nvPr/>
        </p:nvSpPr>
        <p:spPr>
          <a:xfrm>
            <a:off x="10035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2" name="788b1124-cfac-499c-ad1f-620ebfe1b18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2094025"/>
            <a:ext cx="307238" cy="307238"/>
          </a:xfrm>
          <a:prstGeom prst="rect">
            <a:avLst/>
          </a:prstGeom>
        </p:spPr>
      </p:pic>
      <p:sp>
        <p:nvSpPr>
          <p:cNvPr id="23" name="ba71971a-4c65-43a3-a35c-49459f9e5e24"/>
          <p:cNvSpPr/>
          <p:nvPr/>
        </p:nvSpPr>
        <p:spPr>
          <a:xfrm>
            <a:off x="926287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24" name="b7f09da3-49ca-4eda-90ae-79ed7238466d"/>
          <p:cNvSpPr/>
          <p:nvPr/>
        </p:nvSpPr>
        <p:spPr>
          <a:xfrm>
            <a:off x="928116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驗章,依 token 授權</a:t>
            </a:r>
            <a:endParaRPr lang="en-US" sz="1200" dirty="0"/>
          </a:p>
        </p:txBody>
      </p:sp>
      <p:sp>
        <p:nvSpPr>
          <p:cNvPr id="25" name="12acd487-e02c-456e-bf1f-40018f3e70d7"/>
          <p:cNvSpPr/>
          <p:nvPr/>
        </p:nvSpPr>
        <p:spPr>
          <a:xfrm>
            <a:off x="548640" y="3975992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人走 Basic(AD 帳密)經 REST Proxy,不用憑證</a:t>
            </a:r>
            <a:endParaRPr lang="en-US" sz="1300" dirty="0"/>
          </a:p>
        </p:txBody>
      </p:sp>
      <p:sp>
        <p:nvSpPr>
          <p:cNvPr id="26" name="b99005e5-9b46-4012-851e-ed636dfebf66"/>
          <p:cNvSpPr/>
          <p:nvPr/>
        </p:nvSpPr>
        <p:spPr>
          <a:xfrm>
            <a:off x="548640" y="4527516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憑證身分只能綁 User:,不能綁群組</a:t>
            </a:r>
            <a:endParaRPr lang="en-US" sz="1300" dirty="0"/>
          </a:p>
        </p:txBody>
      </p:sp>
      <p:sp>
        <p:nvSpPr>
          <p:cNvPr id="27" name="12a3e39d-511b-485c-ab65-a16e5e523fe0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憑證可代人:特權身分要列入保護清單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c39a5ec-2baa-4285-b945-688c6d804a3b"/>
          <p:cNvSpPr/>
          <p:nvPr/>
        </p:nvSpPr>
        <p:spPr>
          <a:xfrm>
            <a:off x="548640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4130014-e20a-488b-b5e7-3a9f5655ab92"/>
          <p:cNvSpPr/>
          <p:nvPr/>
        </p:nvSpPr>
        <p:spPr>
          <a:xfrm>
            <a:off x="777240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813c160-a9db-4af5-a6b3-bd2fb4350de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88934"/>
            <a:ext cx="409651" cy="409651"/>
          </a:xfrm>
          <a:prstGeom prst="rect">
            <a:avLst/>
          </a:prstGeom>
        </p:spPr>
      </p:pic>
      <p:sp>
        <p:nvSpPr>
          <p:cNvPr id="5" name="3e16945a-23ff-46d0-88bf-bd9fa51ac80a"/>
          <p:cNvSpPr/>
          <p:nvPr/>
        </p:nvSpPr>
        <p:spPr>
          <a:xfrm>
            <a:off x="1691640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2000" dirty="0"/>
          </a:p>
        </p:txBody>
      </p:sp>
      <p:sp>
        <p:nvSpPr>
          <p:cNvPr id="6" name="b823976c-e113-4592-b626-82dc753aa50a"/>
          <p:cNvSpPr/>
          <p:nvPr/>
        </p:nvSpPr>
        <p:spPr>
          <a:xfrm>
            <a:off x="822960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帳密登入,取得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帶本人的 token 連 broker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看到的是本人</a:t>
            </a:r>
            <a:endParaRPr lang="en-US" sz="1400" dirty="0"/>
          </a:p>
        </p:txBody>
      </p:sp>
      <p:sp>
        <p:nvSpPr>
          <p:cNvPr id="7" name="0ad4a1a9-ad72-4a8e-a75d-de7e584c1c63"/>
          <p:cNvSpPr/>
          <p:nvPr/>
        </p:nvSpPr>
        <p:spPr>
          <a:xfrm>
            <a:off x="6199632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e0920c2-4b71-4d6a-8af6-6cb2888eff5c"/>
          <p:cNvSpPr/>
          <p:nvPr/>
        </p:nvSpPr>
        <p:spPr>
          <a:xfrm>
            <a:off x="6428232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9245d57a-ed5a-4e58-8956-799a10ed07b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9166" y="2088934"/>
            <a:ext cx="409651" cy="409651"/>
          </a:xfrm>
          <a:prstGeom prst="rect">
            <a:avLst/>
          </a:prstGeom>
        </p:spPr>
      </p:pic>
      <p:sp>
        <p:nvSpPr>
          <p:cNvPr id="10" name="978dee25-2fb4-4f9c-9880-5c8c3dcb9fcc"/>
          <p:cNvSpPr/>
          <p:nvPr/>
        </p:nvSpPr>
        <p:spPr>
          <a:xfrm>
            <a:off x="7342632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2000" dirty="0"/>
          </a:p>
        </p:txBody>
      </p:sp>
      <p:sp>
        <p:nvSpPr>
          <p:cNvPr id="11" name="35074c44-fe5e-4e6c-9f26-47b68de0e5f9"/>
          <p:cNvSpPr/>
          <p:nvPr/>
        </p:nvSpPr>
        <p:spPr>
          <a:xfrm>
            <a:off x="6473952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身分是 User:c3,需要 SystemAdmin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不依賴任何人的帳號</a:t>
            </a:r>
            <a:endParaRPr lang="en-US" sz="1400" dirty="0"/>
          </a:p>
        </p:txBody>
      </p:sp>
      <p:sp>
        <p:nvSpPr>
          <p:cNvPr id="12" name="341cea6f-9dec-4bfc-abff-d2612feca7d2"/>
          <p:cNvSpPr/>
          <p:nvPr/>
        </p:nvSpPr>
        <p:spPr>
          <a:xfrm>
            <a:off x="548640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憑證等於管理員:私鑰要保護</a:t>
            </a:r>
            <a:endParaRPr lang="en-US" sz="1300" dirty="0"/>
          </a:p>
        </p:txBody>
      </p:sp>
      <p:sp>
        <p:nvSpPr>
          <p:cNvPr id="13" name="a5252232-9eef-46cb-8a5d-0ea1ff36b90f"/>
          <p:cNvSpPr/>
          <p:nvPr/>
        </p:nvSpPr>
        <p:spPr>
          <a:xfrm>
            <a:off x="6199632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只用 OAUTHBEARER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監控元件啟用 TLS + Basic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指標與告警的四條連線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7f328cb-ea3a-49ea-a0ce-dfc364303289"/>
          <p:cNvSpPr/>
          <p:nvPr/>
        </p:nvSpPr>
        <p:spPr>
          <a:xfrm>
            <a:off x="54864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709f0f3f-8a05-42d3-9bd2-7474496b82c1"/>
          <p:cNvSpPr/>
          <p:nvPr/>
        </p:nvSpPr>
        <p:spPr>
          <a:xfrm>
            <a:off x="164592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574925d3-dfaf-486f-9a6b-77c0afd7469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24326"/>
            <a:ext cx="307238" cy="307238"/>
          </a:xfrm>
          <a:prstGeom prst="rect">
            <a:avLst/>
          </a:prstGeom>
        </p:spPr>
      </p:pic>
      <p:sp>
        <p:nvSpPr>
          <p:cNvPr id="5" name="00a7fc02-1873-47b4-9743-0794c4d25caa"/>
          <p:cNvSpPr/>
          <p:nvPr/>
        </p:nvSpPr>
        <p:spPr>
          <a:xfrm>
            <a:off x="62179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 / 2</a:t>
            </a:r>
            <a:endParaRPr lang="en-US" sz="1400" dirty="0"/>
          </a:p>
        </p:txBody>
      </p:sp>
      <p:sp>
        <p:nvSpPr>
          <p:cNvPr id="6" name="6606b74c-94d6-4146-977c-433db9ef7ccb"/>
          <p:cNvSpPr/>
          <p:nvPr/>
        </p:nvSpPr>
        <p:spPr>
          <a:xfrm>
            <a:off x="64008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telemetry exporter</a:t>
            </a:r>
            <a:endParaRPr lang="en-US" sz="1100" dirty="0"/>
          </a:p>
        </p:txBody>
      </p:sp>
      <p:sp>
        <p:nvSpPr>
          <p:cNvPr id="7" name="e79ee137-f7cf-4161-aa72-2b4a3a36e90a"/>
          <p:cNvSpPr/>
          <p:nvPr/>
        </p:nvSpPr>
        <p:spPr>
          <a:xfrm>
            <a:off x="475488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fb4af989-1b20-4325-83c5-c1f72f7f12b7"/>
          <p:cNvSpPr/>
          <p:nvPr/>
        </p:nvSpPr>
        <p:spPr>
          <a:xfrm>
            <a:off x="585216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f5b0510-b995-4823-b8f4-13adb7eb083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72861" y="1924326"/>
            <a:ext cx="307238" cy="307238"/>
          </a:xfrm>
          <a:prstGeom prst="rect">
            <a:avLst/>
          </a:prstGeom>
        </p:spPr>
      </p:pic>
      <p:sp>
        <p:nvSpPr>
          <p:cNvPr id="10" name="59a38caa-a9f0-4c90-a401-cfca14165589"/>
          <p:cNvSpPr/>
          <p:nvPr/>
        </p:nvSpPr>
        <p:spPr>
          <a:xfrm>
            <a:off x="482803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eea679d3-5fee-4fb6-a58b-f0e77aa8b961"/>
          <p:cNvSpPr/>
          <p:nvPr/>
        </p:nvSpPr>
        <p:spPr>
          <a:xfrm>
            <a:off x="484632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 · 9090</a:t>
            </a:r>
            <a:endParaRPr lang="en-US" sz="1100" dirty="0"/>
          </a:p>
        </p:txBody>
      </p:sp>
      <p:sp>
        <p:nvSpPr>
          <p:cNvPr id="12" name="5b6f0f1d-cdda-40f5-afb2-ff45cd626fdd"/>
          <p:cNvSpPr/>
          <p:nvPr/>
        </p:nvSpPr>
        <p:spPr>
          <a:xfrm>
            <a:off x="8897112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53cee5b4-5224-40f1-a740-4aaa4530b2a1"/>
          <p:cNvSpPr/>
          <p:nvPr/>
        </p:nvSpPr>
        <p:spPr>
          <a:xfrm>
            <a:off x="999439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ca338bd6-eae3-4ae7-aba3-063094b18d7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0115093" y="1924326"/>
            <a:ext cx="307238" cy="307238"/>
          </a:xfrm>
          <a:prstGeom prst="rect">
            <a:avLst/>
          </a:prstGeom>
        </p:spPr>
      </p:pic>
      <p:sp>
        <p:nvSpPr>
          <p:cNvPr id="15" name="9a31aa8d-feed-438b-b0e5-9b361c19d080"/>
          <p:cNvSpPr/>
          <p:nvPr/>
        </p:nvSpPr>
        <p:spPr>
          <a:xfrm>
            <a:off x="8970264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7767164d-9a62-4150-a47a-fb989de8c2fa"/>
          <p:cNvSpPr/>
          <p:nvPr/>
        </p:nvSpPr>
        <p:spPr>
          <a:xfrm>
            <a:off x="8988552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 · 9093</a:t>
            </a:r>
            <a:endParaRPr lang="en-US" sz="1100" dirty="0"/>
          </a:p>
        </p:txBody>
      </p:sp>
      <p:sp>
        <p:nvSpPr>
          <p:cNvPr id="17" name="ffb45383-618c-483a-a4ae-f85121b544a4"/>
          <p:cNvSpPr/>
          <p:nvPr/>
        </p:nvSpPr>
        <p:spPr>
          <a:xfrm>
            <a:off x="4754880" y="3763868"/>
            <a:ext cx="2743200" cy="127274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341ee5cc-fa47-443a-93c8-e8d14df372cf"/>
          <p:cNvSpPr/>
          <p:nvPr/>
        </p:nvSpPr>
        <p:spPr>
          <a:xfrm>
            <a:off x="5852160" y="3891143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5b99b2e6-52b7-4cb4-bb87-e2636e50110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972861" y="4003144"/>
            <a:ext cx="307238" cy="307238"/>
          </a:xfrm>
          <a:prstGeom prst="rect">
            <a:avLst/>
          </a:prstGeom>
        </p:spPr>
      </p:pic>
      <p:sp>
        <p:nvSpPr>
          <p:cNvPr id="20" name="abde6079-c1e6-4627-bb45-df10bceef7f6"/>
          <p:cNvSpPr/>
          <p:nvPr/>
        </p:nvSpPr>
        <p:spPr>
          <a:xfrm>
            <a:off x="4828032" y="4485091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cf3df987-3a1f-4a09-879a-3c884d6dfa30"/>
          <p:cNvSpPr/>
          <p:nvPr/>
        </p:nvSpPr>
        <p:spPr>
          <a:xfrm>
            <a:off x="4846320" y="4866915"/>
            <a:ext cx="2560320" cy="12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</a:t>
            </a:r>
            <a:endParaRPr lang="en-US" sz="1100" dirty="0"/>
          </a:p>
        </p:txBody>
      </p:sp>
      <p:sp>
        <p:nvSpPr>
          <p:cNvPr id="22" name="497bb5f8-aa94-4a7a-8307-9a5b1eb0f025"/>
          <p:cNvSpPr/>
          <p:nvPr/>
        </p:nvSpPr>
        <p:spPr>
          <a:xfrm>
            <a:off x="3291840" y="2448697"/>
            <a:ext cx="1463040" cy="0"/>
          </a:xfrm>
          <a:prstGeom prst="line">
            <a:avLst/>
          </a:prstGeom>
          <a:noFill/>
          <a:ln w="3175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23" name="ca4cf671-e526-4e11-83d9-b44c33b6b0dd"/>
          <p:cNvSpPr/>
          <p:nvPr/>
        </p:nvSpPr>
        <p:spPr>
          <a:xfrm>
            <a:off x="3337560" y="1982024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推指標</a:t>
            </a:r>
            <a:endParaRPr lang="en-US" sz="1200" dirty="0"/>
          </a:p>
        </p:txBody>
      </p:sp>
      <p:sp>
        <p:nvSpPr>
          <p:cNvPr id="24" name="89d824d3-7a9e-48f8-931d-e2a40c9ef628"/>
          <p:cNvSpPr/>
          <p:nvPr/>
        </p:nvSpPr>
        <p:spPr>
          <a:xfrm>
            <a:off x="3337560" y="2533547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5" name="3366594a-7ba6-4d6d-9aca-a26bfd3390d8"/>
          <p:cNvSpPr/>
          <p:nvPr/>
        </p:nvSpPr>
        <p:spPr>
          <a:xfrm>
            <a:off x="7498080" y="2448697"/>
            <a:ext cx="1399032" cy="0"/>
          </a:xfrm>
          <a:prstGeom prst="line">
            <a:avLst/>
          </a:prstGeom>
          <a:noFill/>
          <a:ln w="317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6" name="a626bb9a-787d-4c1d-a92b-2c2626a73db3"/>
          <p:cNvSpPr/>
          <p:nvPr/>
        </p:nvSpPr>
        <p:spPr>
          <a:xfrm>
            <a:off x="7543800" y="1982024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送告警</a:t>
            </a:r>
            <a:endParaRPr lang="en-US" sz="1200" dirty="0"/>
          </a:p>
        </p:txBody>
      </p:sp>
      <p:sp>
        <p:nvSpPr>
          <p:cNvPr id="27" name="6bff2a32-f341-4d49-b418-bff9fea481b2"/>
          <p:cNvSpPr/>
          <p:nvPr/>
        </p:nvSpPr>
        <p:spPr>
          <a:xfrm>
            <a:off x="7543800" y="2533547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8" name="9ebbab47-027d-4216-bf6a-50a05b92d7b2"/>
          <p:cNvSpPr/>
          <p:nvPr/>
        </p:nvSpPr>
        <p:spPr>
          <a:xfrm flipV="1">
            <a:off x="6126480" y="3254770"/>
            <a:ext cx="0" cy="509098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9" name="7e2ebf78-b346-43ef-b901-13093d879c44"/>
          <p:cNvSpPr/>
          <p:nvPr/>
        </p:nvSpPr>
        <p:spPr>
          <a:xfrm>
            <a:off x="6217920" y="3339619"/>
            <a:ext cx="15544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查指標 · 重載規則</a:t>
            </a:r>
            <a:endParaRPr lang="en-US" sz="1200" dirty="0"/>
          </a:p>
        </p:txBody>
      </p:sp>
      <p:sp>
        <p:nvSpPr>
          <p:cNvPr id="30" name="dca64e57-1d9b-422b-a9bf-c2ce76be2abe"/>
          <p:cNvSpPr/>
          <p:nvPr/>
        </p:nvSpPr>
        <p:spPr>
          <a:xfrm>
            <a:off x="6217920" y="3551744"/>
            <a:ext cx="155448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1" name="e17c5a0c-21b1-4e3d-b967-96e44394e8ee"/>
          <p:cNvSpPr/>
          <p:nvPr/>
        </p:nvSpPr>
        <p:spPr>
          <a:xfrm flipV="1">
            <a:off x="7498080" y="3254770"/>
            <a:ext cx="2743200" cy="1018197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1676f5be-91a4-434b-bfb3-c9b9576547d6"/>
          <p:cNvSpPr/>
          <p:nvPr/>
        </p:nvSpPr>
        <p:spPr>
          <a:xfrm>
            <a:off x="8732520" y="4018417"/>
            <a:ext cx="23774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狀態 · 重載設定</a:t>
            </a:r>
            <a:endParaRPr lang="en-US" sz="1200" dirty="0"/>
          </a:p>
        </p:txBody>
      </p:sp>
      <p:sp>
        <p:nvSpPr>
          <p:cNvPr id="33" name="175d304b-6228-4de6-a6e1-4027f126bcef"/>
          <p:cNvSpPr/>
          <p:nvPr/>
        </p:nvSpPr>
        <p:spPr>
          <a:xfrm>
            <a:off x="8732520" y="4230542"/>
            <a:ext cx="237744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4" name="31731116-b6eb-4948-83c8-9dad21b6afaa"/>
          <p:cNvSpPr/>
          <p:nvPr/>
        </p:nvSpPr>
        <p:spPr>
          <a:xfrm>
            <a:off x="548640" y="5248738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四條連線都用 TLS + Basic,不另發 client 憑證</a:t>
            </a:r>
            <a:endParaRPr lang="en-US" sz="1200" dirty="0"/>
          </a:p>
        </p:txBody>
      </p:sp>
      <p:sp>
        <p:nvSpPr>
          <p:cNvPr id="35" name="b5c22933-c2ae-4040-8024-59b4dac3ba48"/>
          <p:cNvSpPr/>
          <p:nvPr/>
        </p:nvSpPr>
        <p:spPr>
          <a:xfrm>
            <a:off x="6199632" y="5248738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日誌會印出帳密標頭,日誌要保護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看得到被拒,但不是全記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稽核需求要另外盤點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a0b5f2a-257b-469f-bb87-88fd69f553c0"/>
          <p:cNvSpPr/>
          <p:nvPr/>
        </p:nvSpPr>
        <p:spPr>
          <a:xfrm>
            <a:off x="548640" y="1769899"/>
            <a:ext cx="5440680" cy="50909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80543e15-f22b-4b9b-a783-749f7987f490"/>
          <p:cNvSpPr/>
          <p:nvPr/>
        </p:nvSpPr>
        <p:spPr>
          <a:xfrm>
            <a:off x="731520" y="1837779"/>
            <a:ext cx="502920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看得到</a:t>
            </a:r>
            <a:endParaRPr lang="en-US" sz="1700" dirty="0"/>
          </a:p>
        </p:txBody>
      </p:sp>
      <p:sp>
        <p:nvSpPr>
          <p:cNvPr id="4" name="17038a6c-0b19-454e-8714-076fdc1c2569"/>
          <p:cNvSpPr/>
          <p:nvPr/>
        </p:nvSpPr>
        <p:spPr>
          <a:xfrm>
            <a:off x="548640" y="2448697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誰被拒絕</a:t>
            </a:r>
            <a:endParaRPr lang="en-US" sz="1400" dirty="0"/>
          </a:p>
        </p:txBody>
      </p:sp>
      <p:sp>
        <p:nvSpPr>
          <p:cNvPr id="5" name="8f222264-f249-4467-8fad-45984edfb736"/>
          <p:cNvSpPr/>
          <p:nvPr/>
        </p:nvSpPr>
        <p:spPr>
          <a:xfrm>
            <a:off x="548640" y="3127495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誰嘗試改授權</a:t>
            </a:r>
            <a:endParaRPr lang="en-US" sz="1400" dirty="0"/>
          </a:p>
        </p:txBody>
      </p:sp>
      <p:sp>
        <p:nvSpPr>
          <p:cNvPr id="6" name="d014f1b1-41a4-49a1-a108-45518005ec55"/>
          <p:cNvSpPr/>
          <p:nvPr/>
        </p:nvSpPr>
        <p:spPr>
          <a:xfrm>
            <a:off x="548640" y="3806293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誰讀寫了哪個 topic(需設定規則)</a:t>
            </a:r>
            <a:endParaRPr lang="en-US" sz="1400" dirty="0"/>
          </a:p>
        </p:txBody>
      </p:sp>
      <p:sp>
        <p:nvSpPr>
          <p:cNvPr id="7" name="a45265ad-2171-4c35-a831-769f8f731c1a"/>
          <p:cNvSpPr/>
          <p:nvPr/>
        </p:nvSpPr>
        <p:spPr>
          <a:xfrm>
            <a:off x="6199632" y="1769899"/>
            <a:ext cx="5440680" cy="509098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8" name="e6b8171f-52e4-4b5b-836c-9f4eacf87a7e"/>
          <p:cNvSpPr/>
          <p:nvPr/>
        </p:nvSpPr>
        <p:spPr>
          <a:xfrm>
            <a:off x="6382512" y="1837779"/>
            <a:ext cx="502920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看不到</a:t>
            </a:r>
            <a:endParaRPr lang="en-US" sz="1700" dirty="0"/>
          </a:p>
        </p:txBody>
      </p:sp>
      <p:sp>
        <p:nvSpPr>
          <p:cNvPr id="9" name="74973448-b6c0-443e-a969-c1e1bee6e1f6"/>
          <p:cNvSpPr/>
          <p:nvPr/>
        </p:nvSpPr>
        <p:spPr>
          <a:xfrm>
            <a:off x="6199632" y="2448697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部分被拒的動作(例:缺冪等寫入權限)</a:t>
            </a:r>
            <a:endParaRPr lang="en-US" sz="1400" dirty="0"/>
          </a:p>
        </p:txBody>
      </p:sp>
      <p:sp>
        <p:nvSpPr>
          <p:cNvPr id="10" name="aa94d857-6295-4f1b-9b0e-dac5944a7578"/>
          <p:cNvSpPr/>
          <p:nvPr/>
        </p:nvSpPr>
        <p:spPr>
          <a:xfrm>
            <a:off x="6199632" y="3127495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 REST Proxy 代為操作的身分</a:t>
            </a:r>
            <a:endParaRPr lang="en-US" sz="1400" dirty="0"/>
          </a:p>
        </p:txBody>
      </p:sp>
      <p:sp>
        <p:nvSpPr>
          <p:cNvPr id="11" name="c6bc4cca-4ef4-4cbe-b30e-673d9cdaae0c"/>
          <p:cNvSpPr/>
          <p:nvPr/>
        </p:nvSpPr>
        <p:spPr>
          <a:xfrm>
            <a:off x="6199632" y="3806293"/>
            <a:ext cx="544068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共用帳號只剩一個名字,要用個人身分</a:t>
            </a:r>
            <a:endParaRPr lang="en-US" sz="1400" dirty="0"/>
          </a:p>
        </p:txBody>
      </p:sp>
      <p:sp>
        <p:nvSpPr>
          <p:cNvPr id="12" name="ada351de-6b39-4aad-b9a4-b9adc261557d"/>
          <p:cNvSpPr/>
          <p:nvPr/>
        </p:nvSpPr>
        <p:spPr>
          <a:xfrm>
            <a:off x="548640" y="473964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不能假設所有拒絕都查得到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五個要留意的風險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c955cfff-137f-463d-9758-d2a512a54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850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audit 不是全記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部分被拒的動作查不到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稽核需求另外盤點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4b05fa89-b066-4bfe-95af-0becc528b9a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RBAC、audit、C3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