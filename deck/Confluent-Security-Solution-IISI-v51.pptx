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  <p:sldId r:id="rId50-created" id="28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Relationship Id="rId50-created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封面。客戶前提:RHEL 9 手動部署、AD 只有 user 與 group。範圍:Kafka(含 controller 與 MDS RBAC)、REST Proxy、Control Center。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六個前提:AD 只有 user/group(沒有服務帳號);希望憑證數量越少越好(設計上共用一組 server 憑證);RHEL 9 手動部署、尚無 Ansible;legacy app 只能 HTTP;權限要依職責分層(不同職責不同權限,唯讀只是其中一層;做法是 AD 群組 + RBAC);範圍限於 Kafka、REST Proxy、C3。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是否能不重啟載入新憑證未驗證。正式環境有 3 個 controller,需逐台重啟以維持 quorum;demo 只有 1 個 controller,多 controller 搭配 TLS 與 RBAC 的滾動重啟未驗證。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人用 SASL/PLAIN,broker 把帳密交給 LDAP(AD)驗證密碼;登入時不查群組,群組由 MDS writer 定期從 AD 同步,授權時依帳號名稱查本地快取(實測);服務用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users)。MDS 簽發的 token 不含群組:實測 yujie、gary 的 token 只有 jti、iss、sub、exp、iat、nbf、azp、auth_time;PLAIN+LDAP 登入也只驗證密碼、不查群組。授權時 broker 用主體名稱查 writer 同步進 RBAC topic 的群組對照快取(實測:只綁 Group:kafka-developers,yujie 不需任何個別設定就能讀取;移除綁定即被拒),所以才需要 writer 定期向 AD 同步。官方文件對 MDS 自簽 token 是否含群組沒有說明,以上為實測觀察。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上一頁是預設做法:同帳號直接改密碼,client 只改密碼,role binding 不動;缺點是 client 換好之前重新連線會失敗(已連線的不受影響,實測)。新帳號並行用在不能承受任何失敗窗口的服務:建立新帳號並重綁相同 role,client 改帳號與密碼並逐步切換,全部切完後刪舊帳號與舊 binding(ch09 實測;RBAC 綁的是主體名稱,所以新帳號必須重綁)。代價:每次輪替 client 都要改帳號名稱並重啟,所以不建議作為日常輪替。官方:CFK 認證管理文件對內部帳號與 MDS 的 LDAP bind 帳號的輪替使用新舊並行,該文件沒有涵蓋 SCRAM;Apache Kafka 與 Confluent 的 SCRAM 文件都沒有說明密碼輪替流程,所以兩種做法都是依實測與客戶條件做的選擇。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mTLS。本頁是在 demo 實測啟用 TLS + Basic 的結果(spike/c3-monitoring-tls,用 override 檔啟用,帳密為 demo 測試值):①broker 推指標:telemetry exporter 的 base url 改 https,api.key / api.secret 就是 Prometheus 的 Basic 帳密,另設信任庫(confluent.telemetry.exporter.&lt;名稱&gt;.https.ssl.truststore.*);實測 Prometheus 的 OTLP 端點回 200,兩台 broker 的指標都進來。未更新的 broker 仍用 HTTP,Prometheus 日誌是 client sent an HTTP request to an HTTPS server。②Prometheus 送告警給 Alertmanager:必須在 Prometheus 的設定檔 alerting 區段設 scheme: https、basic_auth、tls_config.ca_file;官方 TLS + Basic 頁沒有寫這一段,對照實測:沒設時日誌是 Error sending alerts … bad response status 400,Alertmanager 一筆都沒收到;設了之後測試告警送達。③C3 查 Prometheus:confluent.controlcenter.prometheus.url 改 https、ssl.truststore.*、basic.auth.user.info;實測 C3 總覽畫面有指標、查詢計數持續增加(PKCS12 信任庫可用)。④C3 連 Alertmanager:alertmanager.url 改 https + 同樣兩項;C3 的狀態 API 回 ONLINE,故意改錯密碼則變 OFFLINE。web-config 檔(Prometheus --web.config.file):tls_server_config 放共用 server 憑證與私鑰,basic_auth_users 放 bcrypt 雜湊(htpasswd -B 可產生)。共用 server 憑證的 SAN 原本沒有 prometheus 與 alertmanager,openssl 驗證主機名稱 prometheus 回 hostname mismatch;用同一把 key、同一個 CA 重簽、SAN 補上這兩個名稱後通過,所以導入時共用憑證的 SAN 要涵蓋 Prometheus 與 Alertmanager 的主機名稱。未啟用時(demo 預設)實測:不帶憑證可讀指標,Alertmanager 可無認證建立與刪除靜音;啟用後,無帳密與錯誤密碼都是 401,無帳密建立靜音也是 401。C3 畫面建立 trigger 與 email action 已實測:C3 把 trigger 寫成 Prometheus 規則檔(trigger_rules-generated.yml)並通知 Prometheus 重新載入,由 Prometheus 評估並送告警給 Alertmanager;action 寫進 alertmanager-generated.yml(receiver 與依 alertname 的路由),再對 Alertmanager 發 POST /-/reload(帶 Basic),實測重新載入成功、Alertmanager 執行中的設定出現新 receiver。C3 沒有靜音功能(告警區只有 Overview、History、Triggers、Actions),靜音只能直接對 Alertmanager 的 API 操作。C3 的 INFO 日誌會印出請求標頭,包含 Authorization: Basic(Base64 解開即帳密),日誌檔需要保護。未驗證:C3 建立的 trigger 實際觸發並寄出通知(demo 用假的 SMTP)、mTLS 做法、confluent.controlcenter.*.alias.name 的作用(本實測沒設也能運作)。demo 映像的 Prometheus 設定檔是靜態檔,實際安裝套件是否由 C3 自動產生 alerting 設定,未驗證。沒有 Schema Registry 時,C3 預設連 localhost:8081,把 schema.registry.enable 設為 false 可關閉該連線。 為什麼用 Basic 不用 mTLS:官方兩種都支援(TLS + Basic 自 7.5,另有 mTLS 設定頁);依客戶前提(憑證越少越好),mTLS 要替 broker、C3、Prometheus、Alertmanager 各發 client 憑證,Basic 只要帳號密碼,所以選 Basic;帳密的代價見下。防火牆:Prometheus 9090 要開給 broker(推指標)與 C3;Alertmanager 9093 要開給 C3 與 Prometheus(送告警);這四條以外不用開。新增的要管理項目:Prometheus 與 Alertmanager 各一組 Basic 帳密(demo 用同名 c3),bcrypt 雜湊在 web-config,明文放在 broker 設定(api.secret)與 C3 設定(basic.auth.user.info),輪替流程未驗證,應列入「要管理的憑證與帳號」清單;共用 server 憑證的私鑰也要放到 Prometheus 與 Alertmanager 的主機,私鑰的存放處變多,外洩風險範圍變大。Basic 沒有唯讀與寫入的分級:broker、C3 查指標、C3 重載規則都用同一組帳密(官方也沒有提供分級)。未驗證:KRaft controller 是否也要設 telemetry exporter(demo 的 controller 沒設,正式環境有 3 個 controller)、Prometheus 與 Alertmanager 更換共用憑證時是否要重啟、email 告警帶 SMTP 帳密時帳密如何寫進 alertmanager-generated.yml、帶 Basic 的使用者能否呼叫 Prometheus 的 /-/quit(映像啟動時有開 --web.enable-lifecycle)、人用瀏覽器直接開 Prometheus 或 Alertmanager 網頁的體驗。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查不到,原因未明;本 demo 的 router 只排除 kafka-broker 與 kafka-controller 兩個內部身分,c3 不排除(曾觀察到記錄 allowed 事件時 C3 每幾秒產生 ListOffsets/OffsetFetch 而洗版審計 topic;現行 router 不記被允許的 consume)。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broker(controller 不需要 LDAP 設定,實測)。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人的三條路徑:C3(Basic→token→Bearer)、CLI 直連 broker(SASL/PLAIN + LDAP callback)、REST Proxy(Basic 轉 MDS 換 token)。授權都依 AD 群組。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機器三條路徑:應用用 SCRAM 直連;legacy app 用 client 憑證經 REST Proxy;平台元件(C3、REST Proxy)用 client 憑證向 MDS 換 token。憑證身分只能綁 User:,不能綁群組。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的憑證可省,前提是客戶能建專用 AD 帳號(非真人)讓 app 走 Basic。另需保管:MDS token 簽章金鑰對(私鑰在 MDS broker 與 controller、公鑰在 broker / REST Proxy / C3,外洩可偽造 token,輪替流程未驗證)、內部帳號 kafka-broker / kafka-controller(SCRAM 與 PLAIN 靜態帳號,輪替流程未驗證)、AD LDAPS CA root 信任庫。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六個主要風險與對策。前兩項是平台元件憑證的風險(c3 憑證=管理員、restproxy 憑證可代人),都是實測發現。第三項:共用 server 私鑰外洩可偽裝伺服器,也能以共用身分向 MDS 認證(該身分不綁 role,無權限);MDS token 簽章私鑰外洩可偽造任何人的 token,其輪替流程未驗證。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如實呈現:左邊是 demo 已實跑驗證的項目;右邊是尚未驗證或需在客戶環境確認的項目。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請客戶確認的八件事。第 3 項決定 legacy app 要不要 client 憑證;第 2 項決定 Kafka 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21.png"/><Relationship Id="rId6-created" Type="http://schemas.openxmlformats.org/officeDocument/2006/relationships/image" Target="../media/media22.png"/><Relationship Id="rId7-created" Type="http://schemas.openxmlformats.org/officeDocument/2006/relationships/image" Target="../media/media17.png"/><Relationship Id="rId8-created" Type="http://schemas.openxmlformats.org/officeDocument/2006/relationships/image" Target="../media/media23.png"/><Relationship Id="rId9-created" Type="http://schemas.openxmlformats.org/officeDocument/2006/relationships/image" Target="../media/media24.png"/><Relationship Id="rId10-created" Type="http://schemas.openxmlformats.org/officeDocument/2006/relationships/image" Target="../media/media25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7.png"/><Relationship Id="rId3-created" Type="http://schemas.openxmlformats.org/officeDocument/2006/relationships/image" Target="../media/media28.png"/><Relationship Id="rId4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30.png"/><Relationship Id="rId5-created" Type="http://schemas.openxmlformats.org/officeDocument/2006/relationships/image" Target="../media/media31.png"/><Relationship Id="rId6-created" Type="http://schemas.openxmlformats.org/officeDocument/2006/relationships/image" Target="../media/media32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29.png"/><Relationship Id="rId5-created" Type="http://schemas.openxmlformats.org/officeDocument/2006/relationships/image" Target="../media/media33.png"/><Relationship Id="rId6-created" Type="http://schemas.openxmlformats.org/officeDocument/2006/relationships/image" Target="../media/media34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35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17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37.png"/><Relationship Id="rId5-created" Type="http://schemas.openxmlformats.org/officeDocument/2006/relationships/image" Target="../media/media11.png"/><Relationship Id="rId6-created" Type="http://schemas.openxmlformats.org/officeDocument/2006/relationships/image" Target="../media/media9.png"/><Relationship Id="rId7-created" Type="http://schemas.openxmlformats.org/officeDocument/2006/relationships/image" Target="../media/media38.png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39.png"/><Relationship Id="rId4-created" Type="http://schemas.openxmlformats.org/officeDocument/2006/relationships/image" Target="../media/media40.png"/><Relationship Id="rId5-created" Type="http://schemas.openxmlformats.org/officeDocument/2006/relationships/image" Target="../media/media40.png"/><Relationship Id="rId6-created" Type="http://schemas.openxmlformats.org/officeDocument/2006/relationships/image" Target="../media/media39.png"/><Relationship Id="rId7-created" Type="http://schemas.openxmlformats.org/officeDocument/2006/relationships/image" Target="../media/media40.png"/><Relationship Id="rId8-created" Type="http://schemas.openxmlformats.org/officeDocument/2006/relationships/image" Target="../media/media40.png"/><Relationship Id="rId9-created" Type="http://schemas.openxmlformats.org/officeDocument/2006/relationships/image" Target="../media/media40.png"/><Relationship Id="rId10-created" Type="http://schemas.openxmlformats.org/officeDocument/2006/relationships/image" Target="../media/media40.png"/><Relationship Id="rId11-created" Type="http://schemas.openxmlformats.org/officeDocument/2006/relationships/image" Target="../media/media40.png"/><Relationship Id="rId12-created" Type="http://schemas.openxmlformats.org/officeDocument/2006/relationships/image" Target="../media/media39.png"/><Relationship Id="rId13-created" Type="http://schemas.openxmlformats.org/officeDocument/2006/relationships/image" Target="../media/media40.png"/><Relationship Id="rId14-created" Type="http://schemas.openxmlformats.org/officeDocument/2006/relationships/image" Target="../media/media40.png"/><Relationship Id="rId15-created" Type="http://schemas.openxmlformats.org/officeDocument/2006/relationships/image" Target="../media/media40.png"/><Relationship Id="rId16-created" Type="http://schemas.openxmlformats.org/officeDocument/2006/relationships/image" Target="../media/media40.png"/><Relationship Id="rId17-created" Type="http://schemas.openxmlformats.org/officeDocument/2006/relationships/image" Target="../media/media39.png"/><Relationship Id="rId18-created" Type="http://schemas.openxmlformats.org/officeDocument/2006/relationships/image" Target="../media/media39.png"/><Relationship Id="rId19-created" Type="http://schemas.openxmlformats.org/officeDocument/2006/relationships/image" Target="../media/media39.png"/><Relationship Id="rId20-created" Type="http://schemas.openxmlformats.org/officeDocument/2006/relationships/image" Target="../media/media39.png"/><Relationship Id="rId21-created" Type="http://schemas.openxmlformats.org/officeDocument/2006/relationships/image" Target="../media/media39.png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1.png"/><Relationship Id="rId3-created" Type="http://schemas.openxmlformats.org/officeDocument/2006/relationships/image" Target="../media/media38.png"/><Relationship Id="rId4-created" Type="http://schemas.openxmlformats.org/officeDocument/2006/relationships/image" Target="../media/media42.png"/><Relationship Id="rIdNotes1" Type="http://schemas.openxmlformats.org/officeDocument/2006/relationships/notesSlide" Target="../notesSlides/notesSlide1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7.png"/><Relationship Id="rId3-created" Type="http://schemas.openxmlformats.org/officeDocument/2006/relationships/image" Target="../media/media15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19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2.png"/><Relationship Id="rId8-created" Type="http://schemas.openxmlformats.org/officeDocument/2006/relationships/image" Target="../media/media30.png"/><Relationship Id="rId9-created" Type="http://schemas.openxmlformats.org/officeDocument/2006/relationships/image" Target="../media/media43.png"/><Relationship Id="rIdNotes1" Type="http://schemas.openxmlformats.org/officeDocument/2006/relationships/notesSlide" Target="../notesSlides/notesSlide1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Notes1" Type="http://schemas.openxmlformats.org/officeDocument/2006/relationships/notesSlide" Target="../notesSlides/notesSlide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1.png"/><Relationship Id="rId3-created" Type="http://schemas.openxmlformats.org/officeDocument/2006/relationships/image" Target="../media/media44.png"/><Relationship Id="rId4-created" Type="http://schemas.openxmlformats.org/officeDocument/2006/relationships/image" Target="../media/media45.png"/><Relationship Id="rId5-created" Type="http://schemas.openxmlformats.org/officeDocument/2006/relationships/image" Target="../media/media21.png"/><Relationship Id="rIdNotes1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4.png"/><Relationship Id="rId3-created" Type="http://schemas.openxmlformats.org/officeDocument/2006/relationships/image" Target="../media/media46.png"/><Relationship Id="rId4-created" Type="http://schemas.openxmlformats.org/officeDocument/2006/relationships/image" Target="../media/media38.png"/><Relationship Id="rIdNotes1" Type="http://schemas.openxmlformats.org/officeDocument/2006/relationships/notesSlide" Target="../notesSlides/notesSlide20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44.png"/><Relationship Id="rIdNotes1" Type="http://schemas.openxmlformats.org/officeDocument/2006/relationships/notesSlide" Target="../notesSlides/notesSlide2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7.png"/><Relationship Id="rId4-created" Type="http://schemas.openxmlformats.org/officeDocument/2006/relationships/image" Target="../media/media20.png"/><Relationship Id="rIdNotes1" Type="http://schemas.openxmlformats.org/officeDocument/2006/relationships/notesSlide" Target="../notesSlides/notesSlide2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2.png"/><Relationship Id="rId4-created" Type="http://schemas.openxmlformats.org/officeDocument/2006/relationships/image" Target="../media/media35.png"/><Relationship Id="rIdNotes1" Type="http://schemas.openxmlformats.org/officeDocument/2006/relationships/notesSlide" Target="../notesSlides/notesSlide2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8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19.png"/><Relationship Id="rId5-created" Type="http://schemas.openxmlformats.org/officeDocument/2006/relationships/image" Target="../media/media49.png"/><Relationship Id="rId6-created" Type="http://schemas.openxmlformats.org/officeDocument/2006/relationships/image" Target="../media/media21.png"/><Relationship Id="rId7-created" Type="http://schemas.openxmlformats.org/officeDocument/2006/relationships/image" Target="../media/media50.png"/><Relationship Id="rIdNotes1" Type="http://schemas.openxmlformats.org/officeDocument/2006/relationships/notesSlide" Target="../notesSlides/notesSlide2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1.png"/><Relationship Id="rId3-created" Type="http://schemas.openxmlformats.org/officeDocument/2006/relationships/image" Target="../media/media52.png"/><Relationship Id="rId4-created" Type="http://schemas.openxmlformats.org/officeDocument/2006/relationships/image" Target="../media/media53.png"/><Relationship Id="rId5-created" Type="http://schemas.openxmlformats.org/officeDocument/2006/relationships/image" Target="../media/media54.png"/><Relationship Id="rId6-created" Type="http://schemas.openxmlformats.org/officeDocument/2006/relationships/image" Target="../media/media55.png"/><Relationship Id="rId7-created" Type="http://schemas.openxmlformats.org/officeDocument/2006/relationships/image" Target="../media/media56.png"/><Relationship Id="rIdNotes1" Type="http://schemas.openxmlformats.org/officeDocument/2006/relationships/notesSlide" Target="../notesSlides/notesSlide2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7.png"/><Relationship Id="rId3-created" Type="http://schemas.openxmlformats.org/officeDocument/2006/relationships/image" Target="../media/media58.png"/><Relationship Id="rId4-created" Type="http://schemas.openxmlformats.org/officeDocument/2006/relationships/image" Target="../media/media59.png"/><Relationship Id="rIdNotes1" Type="http://schemas.openxmlformats.org/officeDocument/2006/relationships/notesSlide" Target="../notesSlides/notesSlide28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60.png"/><Relationship Id="rIdNotes1" Type="http://schemas.openxmlformats.org/officeDocument/2006/relationships/notesSlide" Target="../notesSlides/notesSlide29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1.png"/><Relationship Id="rId3-created" Type="http://schemas.openxmlformats.org/officeDocument/2006/relationships/image" Target="../media/media62.png"/><Relationship Id="rId4-created" Type="http://schemas.openxmlformats.org/officeDocument/2006/relationships/image" Target="../media/media12.png"/><Relationship Id="rId5-created" Type="http://schemas.openxmlformats.org/officeDocument/2006/relationships/image" Target="../media/media63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64.png"/><Relationship Id="rId8-created" Type="http://schemas.openxmlformats.org/officeDocument/2006/relationships/image" Target="../media/media19.png"/><Relationship Id="rId9-created" Type="http://schemas.openxmlformats.org/officeDocument/2006/relationships/image" Target="../media/media65.png"/><Relationship Id="rIdNotes1" Type="http://schemas.openxmlformats.org/officeDocument/2006/relationships/notesSlide" Target="../notesSlides/notesSlide30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6.png"/><Relationship Id="rId3-created" Type="http://schemas.openxmlformats.org/officeDocument/2006/relationships/image" Target="../media/media67.png"/><Relationship Id="rId4-created" Type="http://schemas.openxmlformats.org/officeDocument/2006/relationships/image" Target="../media/media11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依客戶前提設計:AD 僅有 user / group</a:t>
            </a:r>
          </a:p>
        </p:txBody>
      </p:sp>
      <p:sp>
        <p:nvSpPr>
          <p:cNvPr id="2" name="1704bd6d-603d-4e26-b770-bf6e41a49499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客戶前提與設計原則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先把限制說清楚,方案才站得住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六個前提決定了方案的形狀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3a2b750-b164-4030-a6e6-54cc6fa6734d"/>
          <p:cNvSpPr/>
          <p:nvPr/>
        </p:nvSpPr>
        <p:spPr>
          <a:xfrm>
            <a:off x="548640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3821b061-690d-4faa-80aa-d1e3cc294c74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afa8c7b1-63b1-4a95-92d8-0bb739106c5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81dc1905-7cb5-4b0d-bb8f-c667a333501d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</a:t>
            </a:r>
            <a:endParaRPr lang="en-US" sz="1700" dirty="0"/>
          </a:p>
        </p:txBody>
      </p:sp>
      <p:sp>
        <p:nvSpPr>
          <p:cNvPr id="6" name="42394a51-7311-4a50-8d8d-4e1f70560343"/>
          <p:cNvSpPr/>
          <p:nvPr/>
        </p:nvSpPr>
        <p:spPr>
          <a:xfrm>
            <a:off x="640080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沒有服務帳號</a:t>
            </a:r>
            <a:endParaRPr lang="en-US" sz="1300" dirty="0"/>
          </a:p>
        </p:txBody>
      </p:sp>
      <p:sp>
        <p:nvSpPr>
          <p:cNvPr id="7" name="09932c92-8c7b-4ba8-ab06-b1e900a7654d"/>
          <p:cNvSpPr/>
          <p:nvPr/>
        </p:nvSpPr>
        <p:spPr>
          <a:xfrm>
            <a:off x="4325112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39b0cb57-44eb-464a-9287-ceefd9d5b512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9672ec4e-dd56-41f4-873d-47b98116a66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5d3b1f11-f6fa-4a8c-85ad-229abe15139e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憑證數量越少越好</a:t>
            </a:r>
            <a:endParaRPr lang="en-US" sz="1700" dirty="0"/>
          </a:p>
        </p:txBody>
      </p:sp>
      <p:sp>
        <p:nvSpPr>
          <p:cNvPr id="11" name="9dffd4c5-6e09-4e6d-97c2-a5ec80494b87"/>
          <p:cNvSpPr/>
          <p:nvPr/>
        </p:nvSpPr>
        <p:spPr>
          <a:xfrm>
            <a:off x="4416552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希望憑證管理最小化</a:t>
            </a:r>
            <a:endParaRPr lang="en-US" sz="1300" dirty="0"/>
          </a:p>
        </p:txBody>
      </p:sp>
      <p:sp>
        <p:nvSpPr>
          <p:cNvPr id="12" name="54f2f9c0-3a69-4057-b30f-f4abbdc3c6c4"/>
          <p:cNvSpPr/>
          <p:nvPr/>
        </p:nvSpPr>
        <p:spPr>
          <a:xfrm>
            <a:off x="8101584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3" name="60ff923a-af65-4fd4-9a2d-7e766e0723a4"/>
          <p:cNvSpPr/>
          <p:nvPr/>
        </p:nvSpPr>
        <p:spPr>
          <a:xfrm>
            <a:off x="9587484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4" name="1bf3819b-2ec1-4226-9d0c-b4d9027f028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66751"/>
            <a:ext cx="307238" cy="307238"/>
          </a:xfrm>
          <a:prstGeom prst="rect">
            <a:avLst/>
          </a:prstGeom>
        </p:spPr>
      </p:pic>
      <p:sp>
        <p:nvSpPr>
          <p:cNvPr id="15" name="b946a948-77e9-42e2-90fb-98585d2a6779"/>
          <p:cNvSpPr/>
          <p:nvPr/>
        </p:nvSpPr>
        <p:spPr>
          <a:xfrm>
            <a:off x="8174736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· 手動安裝</a:t>
            </a:r>
            <a:endParaRPr lang="en-US" sz="1700" dirty="0"/>
          </a:p>
        </p:txBody>
      </p:sp>
      <p:sp>
        <p:nvSpPr>
          <p:cNvPr id="16" name="d7a13df6-b0d3-4d6f-8596-139be173ae9c"/>
          <p:cNvSpPr/>
          <p:nvPr/>
        </p:nvSpPr>
        <p:spPr>
          <a:xfrm>
            <a:off x="8193024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目前沒有 Ansible</a:t>
            </a:r>
            <a:endParaRPr lang="en-US" sz="1300" dirty="0"/>
          </a:p>
        </p:txBody>
      </p:sp>
      <p:sp>
        <p:nvSpPr>
          <p:cNvPr id="17" name="45af3bf5-d3cd-4f8c-a213-3b9629ec5dfc"/>
          <p:cNvSpPr/>
          <p:nvPr/>
        </p:nvSpPr>
        <p:spPr>
          <a:xfrm>
            <a:off x="548640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93d3009a-1ce0-43c9-8fe6-0ad9cb5ba204"/>
          <p:cNvSpPr/>
          <p:nvPr/>
        </p:nvSpPr>
        <p:spPr>
          <a:xfrm>
            <a:off x="2034540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ee44ff55-3b5b-4531-bf34-583940296a6b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4257694"/>
            <a:ext cx="307238" cy="307238"/>
          </a:xfrm>
          <a:prstGeom prst="rect">
            <a:avLst/>
          </a:prstGeom>
        </p:spPr>
      </p:pic>
      <p:sp>
        <p:nvSpPr>
          <p:cNvPr id="20" name="b6c4dffd-f574-4464-ada1-a72ee9014d82"/>
          <p:cNvSpPr/>
          <p:nvPr/>
        </p:nvSpPr>
        <p:spPr>
          <a:xfrm>
            <a:off x="621792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700" dirty="0"/>
          </a:p>
        </p:txBody>
      </p:sp>
      <p:sp>
        <p:nvSpPr>
          <p:cNvPr id="21" name="88fe1d58-a22b-4d1a-9099-52ba40250544"/>
          <p:cNvSpPr/>
          <p:nvPr/>
        </p:nvSpPr>
        <p:spPr>
          <a:xfrm>
            <a:off x="640080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不能用 Kafka client</a:t>
            </a:r>
            <a:endParaRPr lang="en-US" sz="1300" dirty="0"/>
          </a:p>
        </p:txBody>
      </p:sp>
      <p:sp>
        <p:nvSpPr>
          <p:cNvPr id="22" name="36ec89b4-39c7-4b42-94a3-45e62b32b09a"/>
          <p:cNvSpPr/>
          <p:nvPr/>
        </p:nvSpPr>
        <p:spPr>
          <a:xfrm>
            <a:off x="4325112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7a421718-48b4-412b-9870-36d357d67257"/>
          <p:cNvSpPr/>
          <p:nvPr/>
        </p:nvSpPr>
        <p:spPr>
          <a:xfrm>
            <a:off x="5811012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139dfd21-04aa-45a4-9083-53505918cadb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4257694"/>
            <a:ext cx="307238" cy="307238"/>
          </a:xfrm>
          <a:prstGeom prst="rect">
            <a:avLst/>
          </a:prstGeom>
        </p:spPr>
      </p:pic>
      <p:sp>
        <p:nvSpPr>
          <p:cNvPr id="25" name="f95e6639-884a-43ac-9308-6c09c2e20f03"/>
          <p:cNvSpPr/>
          <p:nvPr/>
        </p:nvSpPr>
        <p:spPr>
          <a:xfrm>
            <a:off x="4398264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不同職責,不同權限</a:t>
            </a:r>
            <a:endParaRPr lang="en-US" sz="1700" dirty="0"/>
          </a:p>
        </p:txBody>
      </p:sp>
      <p:sp>
        <p:nvSpPr>
          <p:cNvPr id="26" name="0882c523-b7d6-485b-8866-2cf9bbf4622a"/>
          <p:cNvSpPr/>
          <p:nvPr/>
        </p:nvSpPr>
        <p:spPr>
          <a:xfrm>
            <a:off x="4416552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分層授權,不是全有或全無</a:t>
            </a:r>
            <a:endParaRPr lang="en-US" sz="1300" dirty="0"/>
          </a:p>
        </p:txBody>
      </p:sp>
      <p:sp>
        <p:nvSpPr>
          <p:cNvPr id="27" name="1006d42e-4fda-4611-b63b-e206ab36c1a6"/>
          <p:cNvSpPr/>
          <p:nvPr/>
        </p:nvSpPr>
        <p:spPr>
          <a:xfrm>
            <a:off x="8101584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7c69ea04-f490-4ca1-b920-bd9dee69d3c6"/>
          <p:cNvSpPr/>
          <p:nvPr/>
        </p:nvSpPr>
        <p:spPr>
          <a:xfrm>
            <a:off x="9587484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7f83a7d9-92cc-47b5-9c77-d520a553a52d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4257694"/>
            <a:ext cx="307238" cy="307238"/>
          </a:xfrm>
          <a:prstGeom prst="rect">
            <a:avLst/>
          </a:prstGeom>
        </p:spPr>
      </p:pic>
      <p:sp>
        <p:nvSpPr>
          <p:cNvPr id="30" name="4ada472b-48ab-48ee-be49-bfd45a387cb5"/>
          <p:cNvSpPr/>
          <p:nvPr/>
        </p:nvSpPr>
        <p:spPr>
          <a:xfrm>
            <a:off x="8174736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</a:t>
            </a:r>
            <a:endParaRPr lang="en-US" sz="1700" dirty="0"/>
          </a:p>
        </p:txBody>
      </p:sp>
      <p:sp>
        <p:nvSpPr>
          <p:cNvPr id="31" name="392ef5d1-ee98-42f0-9b04-3882f1fd8565"/>
          <p:cNvSpPr/>
          <p:nvPr/>
        </p:nvSpPr>
        <p:spPr>
          <a:xfrm>
            <a:off x="8193024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· REST Proxy · C3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設計原則:兩個身分平面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AD,機器走 SCRAM 或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15ef876-52d3-4201-adba-27e55805f78d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3036079f-6b89-48f8-8050-44dc77ef4075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8e000949-e0b6-4c1b-89ce-dd685b1d262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de6625ae-bb4c-45f1-974a-ca1f451e8961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78672f42-1630-4313-ad90-f97c92106bcb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dc86f496-6536-4c7a-a8e8-b2a1ed4762fd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c00fddb8-a3ce-4ca9-a568-171eacb48291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c10642bf-d3a0-4f62-99e5-3d23cc620a7c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655a5a2e-02d4-44f1-8ab1-04c0aec9feb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905a2601-344e-4d4b-99c9-1edc3ad626bc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8cd5c6d3-61b6-4c99-8ebd-2f7f387b9d62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7144fdf7-3bce-473c-8993-23eb5f15fd99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a93fe780-eacf-40b2-b41e-5ac2037677d7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95b45f53-b78c-409d-9731-31e6404108da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74f1c7fa-0a60-45fd-bd14-cc9c794845b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763a2f1a-b200-49a9-b235-dd500b1d41d7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8cd8e5f2-6958-4ba3-9e5f-2da96775c39d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集中管理授權規則</a:t>
            </a:r>
            <a:endParaRPr lang="en-US" sz="1100" dirty="0"/>
          </a:p>
        </p:txBody>
      </p:sp>
      <p:sp>
        <p:nvSpPr>
          <p:cNvPr id="19" name="3ec61912-359f-4125-a44c-65ce27b5feff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1a45e174-869f-42bc-975c-66fcecac3fe4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4a1e8955-02f5-4813-b382-4db4a812c5a5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f7a8b71c-9108-454f-8f52-bc3a094ac258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方案總覽:組件與安全機制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各組件怎麼認證、授權,以及貫穿全案的機制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65a344b-1f03-4059-a9fc-7d149687f1a7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9c850a63-785d-437c-acec-42bfb5431518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b2c783cc-4c6f-470b-ac0f-bb6ae0fddc1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dc0fabb0-77f4-4fca-a7c2-16773d6bf501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6" name="a8ee2101-c940-4e7c-b1a1-efc2c0238517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7" name="a6f3cc71-41e5-4c3c-b3f0-0eca0e99df75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ca2dbb66-5dbe-4296-869e-c46869d7ad67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f4aaa84b-6819-4b24-8a74-ceef286c9b1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69e8e535-1389-4fb3-a9cf-a536adf9dab5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1" name="be22c946-94e6-4449-83c2-2adbdf924842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2" name="32f33ece-62f6-45bc-845a-c479377afee0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c9e51601-dea9-439a-9477-2f2b46448176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04457f4f-de28-4582-9924-a676b2ce6e9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04b54619-e1df-4a06-b9b3-bdee7c5da54c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6" name="d493fe3f-964b-4167-a780-f1ffba2abd28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17" name="e6f2883b-2acb-4b9d-9232-a5183d2a7194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8b705d85-6130-4cba-936a-ba60f18599ca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129f1298-8014-4f9e-afaa-0b39e99c0868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f0c79488-b9db-4d99-ba64-0e5bcb585c0a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21" name="9819bd00-42c3-439d-b285-466ac3ef2106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22" name="029026fe-f07a-47c4-9518-8d57dee7f897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716a588d-66b3-48fb-90f5-e97b5dcb49f7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62a98f15-4d43-456f-a885-38b942c80a7c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0d4b61da-7ee0-4686-9190-db34228ef5f8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26" name="e9eb3935-7386-4705-ab17-e7869f8fc6b3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27" name="43baf109-48b4-41c8-b974-d4ab4c61f3db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f8c3c8cb-830c-4d5e-a3a5-4ab883f848fe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1746aaef-652f-4a03-9376-d440011c04d1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00c1f59c-bdfe-490a-b0b8-95b35aadb9db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31" name="a6a978a8-31a5-4a4b-9550-c1f0de9e466f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32" name="defd7a51-f4b9-4383-82d7-bcba6caabaab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f22f655a-6e5a-45fa-9b3d-1c8f4a74b26f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4" name="c7933b19-4d3a-427b-83cd-8916351a1c43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b8f9da18-12fc-4be7-9048-a482e901c91e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36" name="0183e075-17e0-49ce-87e9-7b08f6f97328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37" name="4d13d0f4-7b75-40dc-be0f-46b97e20d34e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b921752c-e0ee-4379-88f8-ded4267289ce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f1fb4910-99e6-4776-b0e0-6660b9b3c3c4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04a8e1f5-567d-4b82-9b09-a8d284991cf0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df4fdc9a-92cf-469d-8f8e-2ea1953ed4ac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50efc6b9-6c79-4b18-8311-f5947f540a6d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918a2efb-4204-493e-aef5-33bbcf4bec57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677cc489-5752-455f-bb80-288ae33c1820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0ed12dc2-f66a-4388-b273-a479d3e22beb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e1547059-1b80-4405-a331-d91f74e77852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逐項介紹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每一項:傳輸加密 · 認證 · 授權 · 注意事項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TLS 與憑證:共用 1 組,只做加密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共用 server 憑證只加密;平台元件的 client 憑證用來換 token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20617f4-b64b-4fc4-9da7-725e148b5836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7a109b33-f129-4b11-a478-b2bf7088dfc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3f335453-8078-4481-aef7-1e574a8e0a84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d7712fd0-f722-4a2a-a3c0-457716dec05e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bb3594f0-4a0f-4a83-9bd6-560505586290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2e0c1e3e-0e5f-473a-8453-f4812400d494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465fca87-074f-44ba-af3e-de3b42ca2771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ef610027-2dcf-4b50-9566-c59971a236d2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42dc2fea-7ccb-40fe-8798-a4114a6f4fcf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5c7160ab-e66b-48e9-a934-8ad9741a01a1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898a6cfa-ab5f-43ff-8352-fbacca8897b5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37a185e5-7f1f-4393-9cdc-3a1062fc0a28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e1eff833-a42f-4a30-a14a-43016c0e74d3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022dff5b-98fc-4c88-b542-d92af710a306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9eedda05-9a6c-4def-89ee-7b58f8b3b23b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356cb9ae-5e2b-43f9-bec6-4191fcbd3eb2"/>
          <p:cNvSpPr/>
          <p:nvPr/>
        </p:nvSpPr>
        <p:spPr>
          <a:xfrm>
            <a:off x="548640" y="4230542"/>
            <a:ext cx="5486400" cy="135759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953b3604-45fd-426d-9a4d-790fd5636906"/>
          <p:cNvSpPr/>
          <p:nvPr/>
        </p:nvSpPr>
        <p:spPr>
          <a:xfrm>
            <a:off x="731520" y="4315391"/>
            <a:ext cx="512064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端</a:t>
            </a:r>
            <a:endParaRPr lang="en-US" sz="1500" dirty="0"/>
          </a:p>
        </p:txBody>
      </p:sp>
      <p:sp>
        <p:nvSpPr>
          <p:cNvPr id="19" name="388f9a5e-65c5-44d6-a4e5-bde79b3e331f"/>
          <p:cNvSpPr/>
          <p:nvPr/>
        </p:nvSpPr>
        <p:spPr>
          <a:xfrm>
            <a:off x="731520" y="4697215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只需 truststore(匯入 CA root)</a:t>
            </a:r>
            <a:endParaRPr lang="en-US" sz="1200" dirty="0"/>
          </a:p>
        </p:txBody>
      </p:sp>
      <p:sp>
        <p:nvSpPr>
          <p:cNvPr id="20" name="365d8be2-fadd-4fbd-af9b-d79e5e69d24f"/>
          <p:cNvSpPr/>
          <p:nvPr/>
        </p:nvSpPr>
        <p:spPr>
          <a:xfrm>
            <a:off x="731520" y="5121464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broker(含 MDS):匯入 AD 的 LDAPS CA root,一份設定</a:t>
            </a:r>
            <a:endParaRPr lang="en-US" sz="1200" dirty="0"/>
          </a:p>
        </p:txBody>
      </p:sp>
      <p:sp>
        <p:nvSpPr>
          <p:cNvPr id="21" name="21374ccd-24d2-4674-9f66-ba77b32e4355"/>
          <p:cNvSpPr/>
          <p:nvPr/>
        </p:nvSpPr>
        <p:spPr>
          <a:xfrm>
            <a:off x="6400800" y="1685050"/>
            <a:ext cx="5239512" cy="2375792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2" name="1ec11c33-a56a-4e3d-8779-fa0d3953e9da"/>
          <p:cNvSpPr/>
          <p:nvPr/>
        </p:nvSpPr>
        <p:spPr>
          <a:xfrm>
            <a:off x="6583680" y="1769899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3" name="3c787b5b-bd8e-41ef-b19f-c17d3d5e7359"/>
          <p:cNvSpPr/>
          <p:nvPr/>
        </p:nvSpPr>
        <p:spPr>
          <a:xfrm>
            <a:off x="6583680" y="2236573"/>
            <a:ext cx="1371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4" name="92619d12-816c-46a6-b282-93ac56500722"/>
          <p:cNvSpPr/>
          <p:nvPr/>
        </p:nvSpPr>
        <p:spPr>
          <a:xfrm>
            <a:off x="8046720" y="2236573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200" dirty="0"/>
          </a:p>
        </p:txBody>
      </p:sp>
      <p:sp>
        <p:nvSpPr>
          <p:cNvPr id="25" name="b810e268-6234-4bd2-ae1f-524b34f8b26d"/>
          <p:cNvSpPr/>
          <p:nvPr/>
        </p:nvSpPr>
        <p:spPr>
          <a:xfrm>
            <a:off x="9692640" y="2236573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26" name="a6769dc4-c6cd-41d5-a32f-8faa359b5849"/>
          <p:cNvSpPr/>
          <p:nvPr/>
        </p:nvSpPr>
        <p:spPr>
          <a:xfrm>
            <a:off x="6583680" y="2686277"/>
            <a:ext cx="493776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7" name="1556a19d-4778-4363-b043-2ed6974ce4e3"/>
          <p:cNvSpPr/>
          <p:nvPr/>
        </p:nvSpPr>
        <p:spPr>
          <a:xfrm>
            <a:off x="6400800" y="4145692"/>
            <a:ext cx="5239512" cy="1527295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8" name="cb258c71-bfbd-472f-82aa-2bd7378c6000"/>
          <p:cNvSpPr/>
          <p:nvPr/>
        </p:nvSpPr>
        <p:spPr>
          <a:xfrm>
            <a:off x="6583680" y="4213572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要請客戶簽認</a:t>
            </a:r>
            <a:endParaRPr lang="en-US" sz="1500" dirty="0"/>
          </a:p>
        </p:txBody>
      </p:sp>
      <p:sp>
        <p:nvSpPr>
          <p:cNvPr id="29" name="e88cc902-f975-49e3-afbd-8d1626cd86b2"/>
          <p:cNvSpPr/>
          <p:nvPr/>
        </p:nvSpPr>
        <p:spPr>
          <a:xfrm>
            <a:off x="6583680" y="4569941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0" name="3123184d-4515-4970-a29a-a0a05a993727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共用憑證只負責加密、不承載權限;身分另外處理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憑證更換:三種情境,順序不能錯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依單節點實驗結果整理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3808e4e-f83f-4249-a0ee-3be8b65b971e"/>
          <p:cNvSpPr/>
          <p:nvPr/>
        </p:nvSpPr>
        <p:spPr>
          <a:xfrm>
            <a:off x="548640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98c074fe-f9ac-4efd-b3f5-08db0c44e70b"/>
          <p:cNvSpPr/>
          <p:nvPr/>
        </p:nvSpPr>
        <p:spPr>
          <a:xfrm>
            <a:off x="685800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265af26b-6640-4e4c-9e9a-60469209da4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06501" y="1898871"/>
            <a:ext cx="307238" cy="307238"/>
          </a:xfrm>
          <a:prstGeom prst="rect">
            <a:avLst/>
          </a:prstGeom>
        </p:spPr>
      </p:pic>
      <p:sp>
        <p:nvSpPr>
          <p:cNvPr id="5" name="c904cf86-edcc-47a0-80d4-4dbee1865214"/>
          <p:cNvSpPr/>
          <p:nvPr/>
        </p:nvSpPr>
        <p:spPr>
          <a:xfrm>
            <a:off x="1371600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 server 憑證</a:t>
            </a:r>
            <a:endParaRPr lang="en-US" sz="1400" dirty="0"/>
          </a:p>
        </p:txBody>
      </p:sp>
      <p:sp>
        <p:nvSpPr>
          <p:cNvPr id="6" name="26a367fc-3aa1-4279-8719-cb3a51c8ccdc"/>
          <p:cNvSpPr/>
          <p:nvPr/>
        </p:nvSpPr>
        <p:spPr>
          <a:xfrm>
            <a:off x="1371600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不變(例如到期更新)</a:t>
            </a:r>
            <a:endParaRPr lang="en-US" sz="1100" dirty="0"/>
          </a:p>
        </p:txBody>
      </p:sp>
      <p:sp>
        <p:nvSpPr>
          <p:cNvPr id="7" name="84730ebe-21a0-4330-bf23-fb11fe8e68ec"/>
          <p:cNvSpPr/>
          <p:nvPr/>
        </p:nvSpPr>
        <p:spPr>
          <a:xfrm>
            <a:off x="731520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keystore(新憑證)</a:t>
            </a:r>
            <a:endParaRPr lang="en-US" sz="1150" dirty="0"/>
          </a:p>
        </p:txBody>
      </p:sp>
      <p:sp>
        <p:nvSpPr>
          <p:cNvPr id="8" name="4b11023f-cf03-4b62-9683-ccf17a395f20"/>
          <p:cNvSpPr/>
          <p:nvPr/>
        </p:nvSpPr>
        <p:spPr>
          <a:xfrm>
            <a:off x="2331720" y="2957796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9" name="a467a0d8-f61d-43b6-a0bc-ea8b1a10768a"/>
          <p:cNvSpPr/>
          <p:nvPr/>
        </p:nvSpPr>
        <p:spPr>
          <a:xfrm>
            <a:off x="731520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truststore 不動</a:t>
            </a:r>
            <a:endParaRPr lang="en-US" sz="1150" dirty="0"/>
          </a:p>
        </p:txBody>
      </p:sp>
      <p:sp>
        <p:nvSpPr>
          <p:cNvPr id="10" name="03e126f8-b380-4522-bf12-c0a77514f77c"/>
          <p:cNvSpPr/>
          <p:nvPr/>
        </p:nvSpPr>
        <p:spPr>
          <a:xfrm>
            <a:off x="2331720" y="3636594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11" name="8ddaccdb-d9ce-46a6-a794-b4685979b741"/>
          <p:cNvSpPr/>
          <p:nvPr/>
        </p:nvSpPr>
        <p:spPr>
          <a:xfrm>
            <a:off x="731520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不用改</a:t>
            </a:r>
            <a:endParaRPr lang="en-US" sz="1150" dirty="0"/>
          </a:p>
        </p:txBody>
      </p:sp>
      <p:sp>
        <p:nvSpPr>
          <p:cNvPr id="12" name="5d252349-5d4b-4f9b-a206-477a09bbce16"/>
          <p:cNvSpPr/>
          <p:nvPr/>
        </p:nvSpPr>
        <p:spPr>
          <a:xfrm>
            <a:off x="731520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3" name="1efcb607-161a-4db9-aedf-2f8ed5d0564e"/>
          <p:cNvSpPr/>
          <p:nvPr/>
        </p:nvSpPr>
        <p:spPr>
          <a:xfrm>
            <a:off x="4311396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f3926362-0e1d-41a4-ad49-a2ffb6fbfb7b"/>
          <p:cNvSpPr/>
          <p:nvPr/>
        </p:nvSpPr>
        <p:spPr>
          <a:xfrm>
            <a:off x="4448556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a0e03ae8-2e2d-4c35-9fe3-a1752370452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69257" y="1898871"/>
            <a:ext cx="307238" cy="307238"/>
          </a:xfrm>
          <a:prstGeom prst="rect">
            <a:avLst/>
          </a:prstGeom>
        </p:spPr>
      </p:pic>
      <p:sp>
        <p:nvSpPr>
          <p:cNvPr id="16" name="4cf6ca3c-bbe0-457d-8572-23267973ebcb"/>
          <p:cNvSpPr/>
          <p:nvPr/>
        </p:nvSpPr>
        <p:spPr>
          <a:xfrm>
            <a:off x="5134356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根換新、金鑰不變</a:t>
            </a:r>
            <a:endParaRPr lang="en-US" sz="1400" dirty="0"/>
          </a:p>
        </p:txBody>
      </p:sp>
      <p:sp>
        <p:nvSpPr>
          <p:cNvPr id="17" name="e9e8d4b5-c033-4d05-8d5a-a5ab1d3d1ef4"/>
          <p:cNvSpPr/>
          <p:nvPr/>
        </p:nvSpPr>
        <p:spPr>
          <a:xfrm>
            <a:off x="5134356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同一把金鑰重新簽發根憑證</a:t>
            </a:r>
            <a:endParaRPr lang="en-US" sz="1100" dirty="0"/>
          </a:p>
        </p:txBody>
      </p:sp>
      <p:sp>
        <p:nvSpPr>
          <p:cNvPr id="18" name="784d7f6c-8ace-4994-af8e-9f2c1fa1c7cc"/>
          <p:cNvSpPr/>
          <p:nvPr/>
        </p:nvSpPr>
        <p:spPr>
          <a:xfrm>
            <a:off x="4494276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信任庫換成新根</a:t>
            </a:r>
            <a:endParaRPr lang="en-US" sz="1150" dirty="0"/>
          </a:p>
        </p:txBody>
      </p:sp>
      <p:sp>
        <p:nvSpPr>
          <p:cNvPr id="19" name="342d08d6-1b74-4f89-ad40-304ee2844176"/>
          <p:cNvSpPr/>
          <p:nvPr/>
        </p:nvSpPr>
        <p:spPr>
          <a:xfrm>
            <a:off x="6099048" y="2957796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6278b19b-721b-4583-a3bd-6da71995bc74"/>
          <p:cNvSpPr/>
          <p:nvPr/>
        </p:nvSpPr>
        <p:spPr>
          <a:xfrm>
            <a:off x="4494276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舊的 server / client 憑證照常通過</a:t>
            </a:r>
            <a:endParaRPr lang="en-US" sz="1150" dirty="0"/>
          </a:p>
        </p:txBody>
      </p:sp>
      <p:sp>
        <p:nvSpPr>
          <p:cNvPr id="21" name="cd006bdc-3ecc-45f8-89f8-64f04f139cdf"/>
          <p:cNvSpPr/>
          <p:nvPr/>
        </p:nvSpPr>
        <p:spPr>
          <a:xfrm>
            <a:off x="6099048" y="3636594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e12399d1-955e-4f57-82a0-4a088b7ea9e5"/>
          <p:cNvSpPr/>
          <p:nvPr/>
        </p:nvSpPr>
        <p:spPr>
          <a:xfrm>
            <a:off x="4494276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不用重簽任何憑證</a:t>
            </a:r>
            <a:endParaRPr lang="en-US" sz="1150" dirty="0"/>
          </a:p>
        </p:txBody>
      </p:sp>
      <p:sp>
        <p:nvSpPr>
          <p:cNvPr id="23" name="251da6a0-3058-4c8f-8ebd-6e5eb64f8bc5"/>
          <p:cNvSpPr/>
          <p:nvPr/>
        </p:nvSpPr>
        <p:spPr>
          <a:xfrm>
            <a:off x="4494276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4" name="771f67ef-3512-434b-a27d-62d07672e742"/>
          <p:cNvSpPr/>
          <p:nvPr/>
        </p:nvSpPr>
        <p:spPr>
          <a:xfrm>
            <a:off x="8074152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5" name="507e75e4-6423-4cdf-b015-c6eebdabda53"/>
          <p:cNvSpPr/>
          <p:nvPr/>
        </p:nvSpPr>
        <p:spPr>
          <a:xfrm>
            <a:off x="8211312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6" name="6ba90032-73c7-46e2-881c-c0c182dadf7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32013" y="1898871"/>
            <a:ext cx="307238" cy="307238"/>
          </a:xfrm>
          <a:prstGeom prst="rect">
            <a:avLst/>
          </a:prstGeom>
        </p:spPr>
      </p:pic>
      <p:sp>
        <p:nvSpPr>
          <p:cNvPr id="27" name="59be7f6c-eea9-4142-a604-5d4c471791aa"/>
          <p:cNvSpPr/>
          <p:nvPr/>
        </p:nvSpPr>
        <p:spPr>
          <a:xfrm>
            <a:off x="8897112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換金鑰</a:t>
            </a:r>
            <a:endParaRPr lang="en-US" sz="1400" dirty="0"/>
          </a:p>
        </p:txBody>
      </p:sp>
      <p:sp>
        <p:nvSpPr>
          <p:cNvPr id="28" name="d137c7dc-83ba-450b-ba09-a9d67733951e"/>
          <p:cNvSpPr/>
          <p:nvPr/>
        </p:nvSpPr>
        <p:spPr>
          <a:xfrm>
            <a:off x="8897112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29" name="5169ee2b-2973-404c-9727-bbaa6d58d3f7"/>
          <p:cNvSpPr/>
          <p:nvPr/>
        </p:nvSpPr>
        <p:spPr>
          <a:xfrm>
            <a:off x="8257032" y="2533547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52c93b52-ea61-4f60-9a26-87df7fdcebe6"/>
          <p:cNvSpPr/>
          <p:nvPr/>
        </p:nvSpPr>
        <p:spPr>
          <a:xfrm>
            <a:off x="8668512" y="2491122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1" name="155c3821-4101-41e2-992a-89faf2061b4d"/>
          <p:cNvSpPr/>
          <p:nvPr/>
        </p:nvSpPr>
        <p:spPr>
          <a:xfrm>
            <a:off x="8257032" y="3042645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6edf7807-d7a7-4c31-b324-4e47abd9b55e"/>
          <p:cNvSpPr/>
          <p:nvPr/>
        </p:nvSpPr>
        <p:spPr>
          <a:xfrm>
            <a:off x="8668512" y="3000221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server 憑證(新 CA 簽發)</a:t>
            </a:r>
            <a:endParaRPr lang="en-US" sz="1100" dirty="0"/>
          </a:p>
        </p:txBody>
      </p:sp>
      <p:sp>
        <p:nvSpPr>
          <p:cNvPr id="33" name="a42e2313-7071-45b6-9ed0-1dbae2c18d26"/>
          <p:cNvSpPr/>
          <p:nvPr/>
        </p:nvSpPr>
        <p:spPr>
          <a:xfrm>
            <a:off x="8257032" y="3551744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a90e0638-9ee5-4fbd-b0f7-47448e10b2c9"/>
          <p:cNvSpPr/>
          <p:nvPr/>
        </p:nvSpPr>
        <p:spPr>
          <a:xfrm>
            <a:off x="8668512" y="3509319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5" name="9a6527ec-2636-4556-850e-56dd73d4f9d6"/>
          <p:cNvSpPr/>
          <p:nvPr/>
        </p:nvSpPr>
        <p:spPr>
          <a:xfrm>
            <a:off x="8257032" y="4060842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842ec144-7b2d-44f3-a338-c987eed617b5"/>
          <p:cNvSpPr/>
          <p:nvPr/>
        </p:nvSpPr>
        <p:spPr>
          <a:xfrm>
            <a:off x="8668512" y="4018417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全部確認後,才移除舊根</a:t>
            </a:r>
            <a:endParaRPr lang="en-US" sz="1100" dirty="0"/>
          </a:p>
        </p:txBody>
      </p:sp>
      <p:sp>
        <p:nvSpPr>
          <p:cNvPr id="37" name="c04d73be-b2d3-4a6e-8456-b6d098c462e7"/>
          <p:cNvSpPr/>
          <p:nvPr/>
        </p:nvSpPr>
        <p:spPr>
          <a:xfrm>
            <a:off x="8257032" y="4502061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8" name="730785a4-e192-4775-a82d-44843f6d488b"/>
          <p:cNvSpPr/>
          <p:nvPr/>
        </p:nvSpPr>
        <p:spPr>
          <a:xfrm>
            <a:off x="8257032" y="4960249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39" name="7907b4b6-8cc5-4065-9a48-00618c7cd7aa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 CFK 憑證文件建議:先更新所有信任庫、再換憑證、逐台重啟,每個元件就緒再做下一個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元件更換順序:先信任、後出示、最後移除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CA 換金鑰的情境:依 demo 實際環境演練整理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ae5d5b7-e6ed-4244-9967-19a7c494ae86"/>
          <p:cNvSpPr/>
          <p:nvPr/>
        </p:nvSpPr>
        <p:spPr>
          <a:xfrm>
            <a:off x="3017520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信任庫:新舊並存</a:t>
            </a:r>
            <a:endParaRPr lang="en-US" sz="1200" dirty="0"/>
          </a:p>
        </p:txBody>
      </p:sp>
      <p:sp>
        <p:nvSpPr>
          <p:cNvPr id="3" name="8d01bf65-0673-494a-af24-a55067f7cd67"/>
          <p:cNvSpPr/>
          <p:nvPr/>
        </p:nvSpPr>
        <p:spPr>
          <a:xfrm>
            <a:off x="5175504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換 server 憑證</a:t>
            </a:r>
            <a:endParaRPr lang="en-US" sz="1200" dirty="0"/>
          </a:p>
        </p:txBody>
      </p:sp>
      <p:sp>
        <p:nvSpPr>
          <p:cNvPr id="4" name="39d2582b-037f-48ee-a4c5-7a5e41d79969"/>
          <p:cNvSpPr/>
          <p:nvPr/>
        </p:nvSpPr>
        <p:spPr>
          <a:xfrm>
            <a:off x="7333488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重簽 client 憑證</a:t>
            </a:r>
            <a:endParaRPr lang="en-US" sz="1200" dirty="0"/>
          </a:p>
        </p:txBody>
      </p:sp>
      <p:sp>
        <p:nvSpPr>
          <p:cNvPr id="5" name="7adc9072-d144-4697-bb6c-815db5d39cdd"/>
          <p:cNvSpPr/>
          <p:nvPr/>
        </p:nvSpPr>
        <p:spPr>
          <a:xfrm>
            <a:off x="9491472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移除舊根</a:t>
            </a:r>
            <a:endParaRPr lang="en-US" sz="1200" dirty="0"/>
          </a:p>
        </p:txBody>
      </p:sp>
      <p:sp>
        <p:nvSpPr>
          <p:cNvPr id="6" name="2ae0c9b6-4fa5-4bc9-b24a-2e0e565715f5"/>
          <p:cNvSpPr/>
          <p:nvPr/>
        </p:nvSpPr>
        <p:spPr>
          <a:xfrm>
            <a:off x="548640" y="2278998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31970620-2baf-4f56-ad88-b1210ad8a32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58368" y="2380818"/>
            <a:ext cx="347472" cy="347472"/>
          </a:xfrm>
          <a:prstGeom prst="rect">
            <a:avLst/>
          </a:prstGeom>
        </p:spPr>
      </p:pic>
      <p:sp>
        <p:nvSpPr>
          <p:cNvPr id="8" name="45ec8848-95c8-43a7-a007-43959c70abe2"/>
          <p:cNvSpPr/>
          <p:nvPr/>
        </p:nvSpPr>
        <p:spPr>
          <a:xfrm>
            <a:off x="1097280" y="2278998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9" name="45781545-b430-4986-ad6c-696ba157cb5d"/>
          <p:cNvSpPr/>
          <p:nvPr/>
        </p:nvSpPr>
        <p:spPr>
          <a:xfrm>
            <a:off x="3017520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0" name="98707f38-d8a7-402f-ac48-cea8a1ace5cf"/>
          <p:cNvSpPr/>
          <p:nvPr/>
        </p:nvSpPr>
        <p:spPr>
          <a:xfrm>
            <a:off x="5175504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1" name="e4c4b9a2-1add-419a-83a8-6d5451b31387"/>
          <p:cNvSpPr/>
          <p:nvPr/>
        </p:nvSpPr>
        <p:spPr>
          <a:xfrm>
            <a:off x="7333488" y="2278998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2" name="466cdb82-cc94-459d-9c5f-618b10cee54d"/>
          <p:cNvSpPr/>
          <p:nvPr/>
        </p:nvSpPr>
        <p:spPr>
          <a:xfrm>
            <a:off x="9491472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3" name="a1f31ea1-d61b-43bb-8182-23bdbfa6c78b"/>
          <p:cNvSpPr/>
          <p:nvPr/>
        </p:nvSpPr>
        <p:spPr>
          <a:xfrm>
            <a:off x="548640" y="2906886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6a8a88c2-ffbe-4906-b072-7dd8f65b8df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368" y="3008706"/>
            <a:ext cx="347472" cy="347472"/>
          </a:xfrm>
          <a:prstGeom prst="rect">
            <a:avLst/>
          </a:prstGeom>
        </p:spPr>
      </p:pic>
      <p:sp>
        <p:nvSpPr>
          <p:cNvPr id="15" name="9e762537-514c-4d94-96b0-912c87fd9bd8"/>
          <p:cNvSpPr/>
          <p:nvPr/>
        </p:nvSpPr>
        <p:spPr>
          <a:xfrm>
            <a:off x="1097280" y="2906886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broker(含 MDS)</a:t>
            </a:r>
            <a:endParaRPr lang="en-US" sz="1200" dirty="0"/>
          </a:p>
        </p:txBody>
      </p:sp>
      <p:sp>
        <p:nvSpPr>
          <p:cNvPr id="16" name="91c4746e-d45e-4234-babf-2c2ee825ce61"/>
          <p:cNvSpPr/>
          <p:nvPr/>
        </p:nvSpPr>
        <p:spPr>
          <a:xfrm>
            <a:off x="3017520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7" name="ee1ffaed-04c7-4457-b5f4-1b158bc05a57"/>
          <p:cNvSpPr/>
          <p:nvPr/>
        </p:nvSpPr>
        <p:spPr>
          <a:xfrm>
            <a:off x="5175504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8" name="e1970133-dabf-4b56-bf44-fbfde7a101d2"/>
          <p:cNvSpPr/>
          <p:nvPr/>
        </p:nvSpPr>
        <p:spPr>
          <a:xfrm>
            <a:off x="7333488" y="2906886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9" name="0f3e57c8-1728-48fa-bdf6-83b3e0c7eb0e"/>
          <p:cNvSpPr/>
          <p:nvPr/>
        </p:nvSpPr>
        <p:spPr>
          <a:xfrm>
            <a:off x="9491472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0" name="d02ebc70-6e21-4f7c-98f8-8c77dfcead18"/>
          <p:cNvSpPr/>
          <p:nvPr/>
        </p:nvSpPr>
        <p:spPr>
          <a:xfrm>
            <a:off x="548640" y="3534774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28b40bab-0eb7-4721-92fa-5497ba66756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658368" y="3636594"/>
            <a:ext cx="347472" cy="347472"/>
          </a:xfrm>
          <a:prstGeom prst="rect">
            <a:avLst/>
          </a:prstGeom>
        </p:spPr>
      </p:pic>
      <p:sp>
        <p:nvSpPr>
          <p:cNvPr id="22" name="39b23134-703c-4480-a6dc-7dc824c0bec4"/>
          <p:cNvSpPr/>
          <p:nvPr/>
        </p:nvSpPr>
        <p:spPr>
          <a:xfrm>
            <a:off x="1097280" y="3534774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bbba1ecf-ee20-42b7-bfd2-192cc0ad2b20"/>
          <p:cNvSpPr/>
          <p:nvPr/>
        </p:nvSpPr>
        <p:spPr>
          <a:xfrm>
            <a:off x="3017520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4" name="7e08168f-5aa0-4148-9b06-a9738dfb61bc"/>
          <p:cNvSpPr/>
          <p:nvPr/>
        </p:nvSpPr>
        <p:spPr>
          <a:xfrm>
            <a:off x="5175504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5" name="52c8d967-8dae-473a-b0af-136a9b9712c4"/>
          <p:cNvSpPr/>
          <p:nvPr/>
        </p:nvSpPr>
        <p:spPr>
          <a:xfrm>
            <a:off x="7333488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6" name="a69a24dd-ca60-429d-804b-710ef0a0b0b0"/>
          <p:cNvSpPr/>
          <p:nvPr/>
        </p:nvSpPr>
        <p:spPr>
          <a:xfrm>
            <a:off x="9491472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7" name="3166e095-8780-4733-9485-9e530e46ba2e"/>
          <p:cNvSpPr/>
          <p:nvPr/>
        </p:nvSpPr>
        <p:spPr>
          <a:xfrm>
            <a:off x="548640" y="4162662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8" name="923ece19-3c4d-4bc1-bfaa-0eed81a6b2dd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58368" y="4264482"/>
            <a:ext cx="347472" cy="347472"/>
          </a:xfrm>
          <a:prstGeom prst="rect">
            <a:avLst/>
          </a:prstGeom>
        </p:spPr>
      </p:pic>
      <p:sp>
        <p:nvSpPr>
          <p:cNvPr id="29" name="df4018b9-e6a5-4c0f-bbf8-c2ab276ad2ae"/>
          <p:cNvSpPr/>
          <p:nvPr/>
        </p:nvSpPr>
        <p:spPr>
          <a:xfrm>
            <a:off x="1097280" y="4162662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30" name="77adc456-cf53-4a07-9224-beee4c7682c9"/>
          <p:cNvSpPr/>
          <p:nvPr/>
        </p:nvSpPr>
        <p:spPr>
          <a:xfrm>
            <a:off x="3017520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1" name="537fcc99-213c-433d-992e-fac02951f4e7"/>
          <p:cNvSpPr/>
          <p:nvPr/>
        </p:nvSpPr>
        <p:spPr>
          <a:xfrm>
            <a:off x="5175504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2" name="df87ddd8-f3ff-4d03-8812-e3be83cc41a9"/>
          <p:cNvSpPr/>
          <p:nvPr/>
        </p:nvSpPr>
        <p:spPr>
          <a:xfrm>
            <a:off x="7333488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3" name="72f4328a-d279-49e6-ac7e-56c52edf667e"/>
          <p:cNvSpPr/>
          <p:nvPr/>
        </p:nvSpPr>
        <p:spPr>
          <a:xfrm>
            <a:off x="9491472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4" name="4f8b03b1-ac2d-4e9e-9109-1f04e97c0658"/>
          <p:cNvSpPr/>
          <p:nvPr/>
        </p:nvSpPr>
        <p:spPr>
          <a:xfrm>
            <a:off x="548640" y="4790550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5" name="2e3f08e3-690e-4971-9684-fd0fef09860b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8368" y="4892370"/>
            <a:ext cx="347472" cy="347472"/>
          </a:xfrm>
          <a:prstGeom prst="rect">
            <a:avLst/>
          </a:prstGeom>
        </p:spPr>
      </p:pic>
      <p:sp>
        <p:nvSpPr>
          <p:cNvPr id="36" name="91ffe26a-27ec-48cf-8255-31a1125f2675"/>
          <p:cNvSpPr/>
          <p:nvPr/>
        </p:nvSpPr>
        <p:spPr>
          <a:xfrm>
            <a:off x="1097280" y="4790550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/ CLI(client)</a:t>
            </a:r>
            <a:endParaRPr lang="en-US" sz="1200" dirty="0"/>
          </a:p>
        </p:txBody>
      </p:sp>
      <p:sp>
        <p:nvSpPr>
          <p:cNvPr id="37" name="f5b1540d-fe28-4c7a-8d45-a02b51940130"/>
          <p:cNvSpPr/>
          <p:nvPr/>
        </p:nvSpPr>
        <p:spPr>
          <a:xfrm>
            <a:off x="3017520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信任庫加新根</a:t>
            </a:r>
            <a:endParaRPr lang="en-US" sz="1150" dirty="0"/>
          </a:p>
        </p:txBody>
      </p:sp>
      <p:sp>
        <p:nvSpPr>
          <p:cNvPr id="38" name="7d3fe761-7d0e-4b50-98ce-5928b8065e1e"/>
          <p:cNvSpPr/>
          <p:nvPr/>
        </p:nvSpPr>
        <p:spPr>
          <a:xfrm>
            <a:off x="5175504" y="4790550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39" name="a7ad83c1-8d62-472a-84c6-47273598382f"/>
          <p:cNvSpPr/>
          <p:nvPr/>
        </p:nvSpPr>
        <p:spPr>
          <a:xfrm>
            <a:off x="7333488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換新憑證</a:t>
            </a:r>
            <a:endParaRPr lang="en-US" sz="1150" dirty="0"/>
          </a:p>
        </p:txBody>
      </p:sp>
      <p:sp>
        <p:nvSpPr>
          <p:cNvPr id="40" name="67ed20d8-6748-4430-a694-72cafd356af2"/>
          <p:cNvSpPr/>
          <p:nvPr/>
        </p:nvSpPr>
        <p:spPr>
          <a:xfrm>
            <a:off x="9491472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信任庫移除舊根</a:t>
            </a:r>
            <a:endParaRPr lang="en-US" sz="1150" dirty="0"/>
          </a:p>
        </p:txBody>
      </p:sp>
      <p:sp>
        <p:nvSpPr>
          <p:cNvPr id="41" name="1c0a7396-8130-4b8c-a716-922c1d9f6360"/>
          <p:cNvSpPr/>
          <p:nvPr/>
        </p:nvSpPr>
        <p:spPr>
          <a:xfrm>
            <a:off x="54864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每階段:controller(逐台)→ broker(逐台)→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CFK 憑證文件:信任庫先於憑證、每階段全部元件做完 · 元件順序:參考升級文件</a:t>
            </a:r>
            <a:endParaRPr lang="en-US" sz="1150" dirty="0"/>
          </a:p>
        </p:txBody>
      </p:sp>
      <p:sp>
        <p:nvSpPr>
          <p:cNvPr id="42" name="c736979c-3316-4944-abe6-446851aab531"/>
          <p:cNvSpPr/>
          <p:nvPr/>
        </p:nvSpPr>
        <p:spPr>
          <a:xfrm>
            <a:off x="6199632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只換檔沒重啟,各元件仍出示舊憑證(實測)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與 broker 沒有 client 憑證 → ③ 階段不用重啟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Controller(KRaft)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只認內部帳號,人與服務都不直接連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8531b4b-a6a4-4071-8f33-c89eaf9b3b2a"/>
          <p:cNvSpPr/>
          <p:nvPr/>
        </p:nvSpPr>
        <p:spPr>
          <a:xfrm>
            <a:off x="54864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20e081fc-3e60-4f87-bb53-cd89a5af464c"/>
          <p:cNvSpPr/>
          <p:nvPr/>
        </p:nvSpPr>
        <p:spPr>
          <a:xfrm>
            <a:off x="10515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8e8c993c-00b7-4beb-a029-007155487f5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72261" y="1966751"/>
            <a:ext cx="307238" cy="307238"/>
          </a:xfrm>
          <a:prstGeom prst="rect">
            <a:avLst/>
          </a:prstGeom>
        </p:spPr>
      </p:pic>
      <p:sp>
        <p:nvSpPr>
          <p:cNvPr id="5" name="d0f8d9d4-a588-4fe0-9c56-2f013513c516"/>
          <p:cNvSpPr/>
          <p:nvPr/>
        </p:nvSpPr>
        <p:spPr>
          <a:xfrm>
            <a:off x="54864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1</a:t>
            </a:r>
            <a:endParaRPr lang="en-US" sz="1200" dirty="0"/>
          </a:p>
        </p:txBody>
      </p:sp>
      <p:sp>
        <p:nvSpPr>
          <p:cNvPr id="6" name="fdfc0cde-2033-44e5-94f9-f0db82bfbac3"/>
          <p:cNvSpPr/>
          <p:nvPr/>
        </p:nvSpPr>
        <p:spPr>
          <a:xfrm>
            <a:off x="228600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7" name="f1e76d17-3566-4728-9073-2cb24d843311"/>
          <p:cNvSpPr/>
          <p:nvPr/>
        </p:nvSpPr>
        <p:spPr>
          <a:xfrm>
            <a:off x="2788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8" name="f3cdaf71-5df9-4a03-a9fd-947217b7be3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909621" y="1966751"/>
            <a:ext cx="307238" cy="307238"/>
          </a:xfrm>
          <a:prstGeom prst="rect">
            <a:avLst/>
          </a:prstGeom>
        </p:spPr>
      </p:pic>
      <p:sp>
        <p:nvSpPr>
          <p:cNvPr id="9" name="606c984c-b574-45dd-976d-3899366dd808"/>
          <p:cNvSpPr/>
          <p:nvPr/>
        </p:nvSpPr>
        <p:spPr>
          <a:xfrm>
            <a:off x="228600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2</a:t>
            </a:r>
            <a:endParaRPr lang="en-US" sz="1200" dirty="0"/>
          </a:p>
        </p:txBody>
      </p:sp>
      <p:sp>
        <p:nvSpPr>
          <p:cNvPr id="10" name="fe61ffc0-cb05-478f-b5df-a7fe8b51b9b6"/>
          <p:cNvSpPr/>
          <p:nvPr/>
        </p:nvSpPr>
        <p:spPr>
          <a:xfrm>
            <a:off x="402336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5f6a047c-a7c6-4d9d-8df0-1c99135bf6b1"/>
          <p:cNvSpPr/>
          <p:nvPr/>
        </p:nvSpPr>
        <p:spPr>
          <a:xfrm>
            <a:off x="452628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b54f8879-505c-45ee-b56f-15350774f84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646981" y="1966751"/>
            <a:ext cx="307238" cy="307238"/>
          </a:xfrm>
          <a:prstGeom prst="rect">
            <a:avLst/>
          </a:prstGeom>
        </p:spPr>
      </p:pic>
      <p:sp>
        <p:nvSpPr>
          <p:cNvPr id="13" name="79e6c637-546c-4bce-a4e4-3dce8720611c"/>
          <p:cNvSpPr/>
          <p:nvPr/>
        </p:nvSpPr>
        <p:spPr>
          <a:xfrm>
            <a:off x="402336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3</a:t>
            </a:r>
            <a:endParaRPr lang="en-US" sz="1200" dirty="0"/>
          </a:p>
        </p:txBody>
      </p:sp>
      <p:sp>
        <p:nvSpPr>
          <p:cNvPr id="14" name="3db33aef-e83c-49be-add0-7a9dcea8ddbd"/>
          <p:cNvSpPr/>
          <p:nvPr/>
        </p:nvSpPr>
        <p:spPr>
          <a:xfrm>
            <a:off x="548640" y="2957796"/>
            <a:ext cx="50292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5" name="4d22d8fc-1d6f-4c98-9bd1-95e42b66570c"/>
          <p:cNvSpPr/>
          <p:nvPr/>
        </p:nvSpPr>
        <p:spPr>
          <a:xfrm>
            <a:off x="5943600" y="1769899"/>
            <a:ext cx="5696712" cy="2036394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6" name="012cd5e7-52a1-4621-8617-5830f35dd712"/>
          <p:cNvSpPr/>
          <p:nvPr/>
        </p:nvSpPr>
        <p:spPr>
          <a:xfrm>
            <a:off x="6126480" y="1854749"/>
            <a:ext cx="53035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</a:t>
            </a:r>
            <a:endParaRPr lang="en-US" sz="1500" dirty="0"/>
          </a:p>
        </p:txBody>
      </p:sp>
      <p:sp>
        <p:nvSpPr>
          <p:cNvPr id="17" name="f1d81515-1b57-4d4a-ba0f-aa1e623b4026"/>
          <p:cNvSpPr/>
          <p:nvPr/>
        </p:nvSpPr>
        <p:spPr>
          <a:xfrm>
            <a:off x="6126480" y="2278998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</a:t>
            </a:r>
            <a:endParaRPr lang="en-US" sz="1200" dirty="0"/>
          </a:p>
        </p:txBody>
      </p:sp>
      <p:sp>
        <p:nvSpPr>
          <p:cNvPr id="18" name="87ad991e-7b0b-4bc1-8862-ffcf9731a96a"/>
          <p:cNvSpPr/>
          <p:nvPr/>
        </p:nvSpPr>
        <p:spPr>
          <a:xfrm>
            <a:off x="7772400" y="227899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200" dirty="0"/>
          </a:p>
        </p:txBody>
      </p:sp>
      <p:sp>
        <p:nvSpPr>
          <p:cNvPr id="19" name="c27a6b7c-da46-47fb-b80d-cdbb29d0e5cb"/>
          <p:cNvSpPr/>
          <p:nvPr/>
        </p:nvSpPr>
        <p:spPr>
          <a:xfrm>
            <a:off x="9601200" y="2278998"/>
            <a:ext cx="18288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靜態內部帳號</a:t>
            </a:r>
            <a:endParaRPr lang="en-US" sz="1200" dirty="0"/>
          </a:p>
        </p:txBody>
      </p:sp>
      <p:sp>
        <p:nvSpPr>
          <p:cNvPr id="20" name="8c05e489-884c-495c-a37e-fee655cb731f"/>
          <p:cNvSpPr/>
          <p:nvPr/>
        </p:nvSpPr>
        <p:spPr>
          <a:xfrm>
            <a:off x="6126480" y="2788096"/>
            <a:ext cx="53035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1" name="f1c668e5-f68b-40e6-a883-b5f0be6f8142"/>
          <p:cNvSpPr/>
          <p:nvPr/>
        </p:nvSpPr>
        <p:spPr>
          <a:xfrm>
            <a:off x="548640" y="3594169"/>
            <a:ext cx="5029200" cy="933347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2" name="39033ae2-0421-4735-8251-7b9ec90be0fb"/>
          <p:cNvSpPr/>
          <p:nvPr/>
        </p:nvSpPr>
        <p:spPr>
          <a:xfrm>
            <a:off x="731520" y="3679018"/>
            <a:ext cx="466344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 + super.users</a:t>
            </a:r>
            <a:endParaRPr lang="en-US" sz="1300" dirty="0"/>
          </a:p>
        </p:txBody>
      </p:sp>
      <p:sp>
        <p:nvSpPr>
          <p:cNvPr id="23" name="3823fff7-1635-45ce-a4ab-ac4a15ce0896"/>
          <p:cNvSpPr/>
          <p:nvPr/>
        </p:nvSpPr>
        <p:spPr>
          <a:xfrm>
            <a:off x="548640" y="4739640"/>
            <a:ext cx="5029200" cy="8484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5018a2e0-f3b9-4650-93e7-ad562697ef1f"/>
          <p:cNvSpPr/>
          <p:nvPr/>
        </p:nvSpPr>
        <p:spPr>
          <a:xfrm>
            <a:off x="685800" y="482449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d1da3351-5f1e-4084-9739-f20fbf92563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26618" y="4955158"/>
            <a:ext cx="358445" cy="358445"/>
          </a:xfrm>
          <a:prstGeom prst="rect">
            <a:avLst/>
          </a:prstGeom>
        </p:spPr>
      </p:pic>
      <p:sp>
        <p:nvSpPr>
          <p:cNvPr id="26" name="8723efbe-8655-4d19-9d37-694b4cf0a4d1"/>
          <p:cNvSpPr/>
          <p:nvPr/>
        </p:nvSpPr>
        <p:spPr>
          <a:xfrm>
            <a:off x="1463040" y="4824490"/>
            <a:ext cx="402336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7" name="576161e8-437b-4b6e-baaf-653c2a98f93d"/>
          <p:cNvSpPr/>
          <p:nvPr/>
        </p:nvSpPr>
        <p:spPr>
          <a:xfrm>
            <a:off x="5943600" y="3933568"/>
            <a:ext cx="5696712" cy="1696995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96930443-b6d4-440b-962d-35ff51e0dbac"/>
          <p:cNvSpPr/>
          <p:nvPr/>
        </p:nvSpPr>
        <p:spPr>
          <a:xfrm>
            <a:off x="608076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fdf41bc5-2681-467c-a629-fd61d023961e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221578" y="4191511"/>
            <a:ext cx="358445" cy="358445"/>
          </a:xfrm>
          <a:prstGeom prst="rect">
            <a:avLst/>
          </a:prstGeom>
        </p:spPr>
      </p:pic>
      <p:sp>
        <p:nvSpPr>
          <p:cNvPr id="30" name="412ae678-1400-43ea-b0bc-8090855ff2ed"/>
          <p:cNvSpPr/>
          <p:nvPr/>
        </p:nvSpPr>
        <p:spPr>
          <a:xfrm>
            <a:off x="6903720" y="3992962"/>
            <a:ext cx="4572000" cy="161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1" name="deb5ba3e-d650-40e4-b5b7-9f75f6fc6692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只認內部帳號;人與服務都不直接連它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Broker:三個入口,各管一件事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 PLAIN + AD、服務 SCRAM、平台 OAUTHBEARER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ee919bd-51a0-42f0-8dbe-da50dad197ad"/>
          <p:cNvSpPr/>
          <p:nvPr/>
        </p:nvSpPr>
        <p:spPr>
          <a:xfrm>
            <a:off x="548640" y="1727475"/>
            <a:ext cx="2103120" cy="364853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e0eb8479-7cc8-4979-858a-7b7e4342ae98"/>
          <p:cNvSpPr/>
          <p:nvPr/>
        </p:nvSpPr>
        <p:spPr>
          <a:xfrm>
            <a:off x="1051560" y="1897174"/>
            <a:ext cx="1097280" cy="1018197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f94b5830-6160-4237-b2a1-69d2a3a7454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92962" y="2121177"/>
            <a:ext cx="614477" cy="614477"/>
          </a:xfrm>
          <a:prstGeom prst="rect">
            <a:avLst/>
          </a:prstGeom>
        </p:spPr>
      </p:pic>
      <p:sp>
        <p:nvSpPr>
          <p:cNvPr id="5" name="1d2c2063-7837-4f84-b42e-3ed9ddeecd1f"/>
          <p:cNvSpPr/>
          <p:nvPr/>
        </p:nvSpPr>
        <p:spPr>
          <a:xfrm>
            <a:off x="548640" y="3042645"/>
            <a:ext cx="21031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2000" dirty="0"/>
          </a:p>
        </p:txBody>
      </p:sp>
      <p:sp>
        <p:nvSpPr>
          <p:cNvPr id="6" name="109f583b-4883-499b-804c-5db0ba77f123"/>
          <p:cNvSpPr/>
          <p:nvPr/>
        </p:nvSpPr>
        <p:spPr>
          <a:xfrm>
            <a:off x="640080" y="3509319"/>
            <a:ext cx="192024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埠不要求 client 憑證(MDS 才要求)</a:t>
            </a:r>
            <a:endParaRPr lang="en-US" sz="1100" dirty="0"/>
          </a:p>
        </p:txBody>
      </p:sp>
      <p:sp>
        <p:nvSpPr>
          <p:cNvPr id="7" name="28c88324-f85d-4c7a-b1a9-3b9092cf378a"/>
          <p:cNvSpPr/>
          <p:nvPr/>
        </p:nvSpPr>
        <p:spPr>
          <a:xfrm flipV="1">
            <a:off x="2651760" y="2278998"/>
            <a:ext cx="457200" cy="1272746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8" name="8aec793e-7f46-4d5a-8b20-d314ea2ff164"/>
          <p:cNvSpPr/>
          <p:nvPr/>
        </p:nvSpPr>
        <p:spPr>
          <a:xfrm>
            <a:off x="3108960" y="1727475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54b6f509-b27b-4f16-8fc9-fca33b10fcaf"/>
          <p:cNvSpPr/>
          <p:nvPr/>
        </p:nvSpPr>
        <p:spPr>
          <a:xfrm>
            <a:off x="3246120" y="19820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db52b0d8-86f0-4442-bcb2-6e8448a538a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386938" y="2112692"/>
            <a:ext cx="358445" cy="358445"/>
          </a:xfrm>
          <a:prstGeom prst="rect">
            <a:avLst/>
          </a:prstGeom>
        </p:spPr>
      </p:pic>
      <p:sp>
        <p:nvSpPr>
          <p:cNvPr id="11" name="b0b87e8a-5987-407a-ac37-f1e76df794e9"/>
          <p:cNvSpPr/>
          <p:nvPr/>
        </p:nvSpPr>
        <p:spPr>
          <a:xfrm>
            <a:off x="4069080" y="1829294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</a:t>
            </a:r>
            <a:endParaRPr lang="en-US" sz="1700" dirty="0"/>
          </a:p>
        </p:txBody>
      </p:sp>
      <p:sp>
        <p:nvSpPr>
          <p:cNvPr id="12" name="810345d5-bea8-4826-ab53-84888d86abc5"/>
          <p:cNvSpPr/>
          <p:nvPr/>
        </p:nvSpPr>
        <p:spPr>
          <a:xfrm>
            <a:off x="4069080" y="2278998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SCRAM-SHA-512</a:t>
            </a:r>
            <a:endParaRPr lang="en-US" sz="1300" dirty="0"/>
          </a:p>
        </p:txBody>
      </p:sp>
      <p:sp>
        <p:nvSpPr>
          <p:cNvPr id="13" name="eaae9acd-c5e0-44a9-959b-84669f095ed6"/>
          <p:cNvSpPr/>
          <p:nvPr/>
        </p:nvSpPr>
        <p:spPr>
          <a:xfrm>
            <a:off x="8229600" y="1829294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</a:t>
            </a:r>
            <a:endParaRPr lang="en-US" sz="1200" dirty="0"/>
          </a:p>
        </p:txBody>
      </p:sp>
      <p:sp>
        <p:nvSpPr>
          <p:cNvPr id="14" name="947be9fe-538e-494b-b5a1-f399b442af56"/>
          <p:cNvSpPr/>
          <p:nvPr/>
        </p:nvSpPr>
        <p:spPr>
          <a:xfrm flipV="1">
            <a:off x="2651760" y="3551744"/>
            <a:ext cx="45720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5" name="892895dd-34f2-4a70-aa05-55f5dbe1a2ba"/>
          <p:cNvSpPr/>
          <p:nvPr/>
        </p:nvSpPr>
        <p:spPr>
          <a:xfrm>
            <a:off x="3108960" y="3000221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6" name="4d92ddd3-cbf3-40fd-8f00-c32ca182a932"/>
          <p:cNvSpPr/>
          <p:nvPr/>
        </p:nvSpPr>
        <p:spPr>
          <a:xfrm>
            <a:off x="3246120" y="325477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7" name="84a2e16a-0d55-4ca4-8780-76f981e8f64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386938" y="3385438"/>
            <a:ext cx="358445" cy="358445"/>
          </a:xfrm>
          <a:prstGeom prst="rect">
            <a:avLst/>
          </a:prstGeom>
        </p:spPr>
      </p:pic>
      <p:sp>
        <p:nvSpPr>
          <p:cNvPr id="18" name="a4a53d49-158b-4bb6-95c1-4f39531ba3e1"/>
          <p:cNvSpPr/>
          <p:nvPr/>
        </p:nvSpPr>
        <p:spPr>
          <a:xfrm>
            <a:off x="4069080" y="3102040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700" dirty="0"/>
          </a:p>
        </p:txBody>
      </p:sp>
      <p:sp>
        <p:nvSpPr>
          <p:cNvPr id="19" name="4d58ea96-02e3-4448-aab1-c4d0ecdfc2e0"/>
          <p:cNvSpPr/>
          <p:nvPr/>
        </p:nvSpPr>
        <p:spPr>
          <a:xfrm>
            <a:off x="4069080" y="3551744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0" name="276ce16e-6e98-43a8-bcd3-fae93f76cec2"/>
          <p:cNvSpPr/>
          <p:nvPr/>
        </p:nvSpPr>
        <p:spPr>
          <a:xfrm>
            <a:off x="8229600" y="3102040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服務 · token</a:t>
            </a:r>
            <a:endParaRPr lang="en-US" sz="1200" dirty="0"/>
          </a:p>
        </p:txBody>
      </p:sp>
      <p:sp>
        <p:nvSpPr>
          <p:cNvPr id="21" name="45c6c05a-6c25-4570-a9cd-19c46a933ee7"/>
          <p:cNvSpPr/>
          <p:nvPr/>
        </p:nvSpPr>
        <p:spPr>
          <a:xfrm>
            <a:off x="2651760" y="3551744"/>
            <a:ext cx="457200" cy="1272746"/>
          </a:xfrm>
          <a:prstGeom prst="line">
            <a:avLst/>
          </a:prstGeom>
          <a:noFill/>
          <a:ln w="22225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22" name="f47be179-7e58-4aa8-bc37-5e0ca764a652"/>
          <p:cNvSpPr/>
          <p:nvPr/>
        </p:nvSpPr>
        <p:spPr>
          <a:xfrm>
            <a:off x="3108960" y="4272966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e1ceab4d-f330-4c46-a4ae-599f909d228e"/>
          <p:cNvSpPr/>
          <p:nvPr/>
        </p:nvSpPr>
        <p:spPr>
          <a:xfrm>
            <a:off x="3246120" y="4527516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c2e7fa14-d4bb-4a1b-8e5f-bf33feee591d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386938" y="4658184"/>
            <a:ext cx="358445" cy="358445"/>
          </a:xfrm>
          <a:prstGeom prst="rect">
            <a:avLst/>
          </a:prstGeom>
        </p:spPr>
      </p:pic>
      <p:sp>
        <p:nvSpPr>
          <p:cNvPr id="25" name="3665940b-e651-4ee6-8f3f-86e3345064e5"/>
          <p:cNvSpPr/>
          <p:nvPr/>
        </p:nvSpPr>
        <p:spPr>
          <a:xfrm>
            <a:off x="4069080" y="4374786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8091</a:t>
            </a:r>
            <a:endParaRPr lang="en-US" sz="1700" dirty="0"/>
          </a:p>
        </p:txBody>
      </p:sp>
      <p:sp>
        <p:nvSpPr>
          <p:cNvPr id="26" name="813f0125-1b0a-4533-9c01-6eef48b45502"/>
          <p:cNvSpPr/>
          <p:nvPr/>
        </p:nvSpPr>
        <p:spPr>
          <a:xfrm>
            <a:off x="4069080" y="4824490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7" name="138d00c8-2a64-4875-af05-1a854026941b"/>
          <p:cNvSpPr/>
          <p:nvPr/>
        </p:nvSpPr>
        <p:spPr>
          <a:xfrm>
            <a:off x="8229600" y="4374786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 · 管理 API</a:t>
            </a:r>
            <a:endParaRPr lang="en-US" sz="1200" dirty="0"/>
          </a:p>
        </p:txBody>
      </p:sp>
      <p:sp>
        <p:nvSpPr>
          <p:cNvPr id="28" name="687a4412-2378-4aeb-9756-157090445d62"/>
          <p:cNvSpPr/>
          <p:nvPr/>
        </p:nvSpPr>
        <p:spPr>
          <a:xfrm>
            <a:off x="548640" y="5588137"/>
            <a:ext cx="758952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29" name="793cc24b-5205-497c-8f51-a05dd70d3415"/>
          <p:cNvSpPr/>
          <p:nvPr/>
        </p:nvSpPr>
        <p:spPr>
          <a:xfrm>
            <a:off x="8275320" y="5588137"/>
            <a:ext cx="3364992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防火牆:9092 只開給 broker / controller 節點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MDS:RBAC 的中樞(內嵌於 broker)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換 token、管 RBAC、向 AD 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576d1da-75f0-45c3-9bce-9b84f293b8e5"/>
          <p:cNvSpPr/>
          <p:nvPr/>
        </p:nvSpPr>
        <p:spPr>
          <a:xfrm>
            <a:off x="54864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0E2841">
              <a:alpha val="12000"/>
            </a:srgbClr>
          </a:solidFill>
          <a:ln w="19050">
            <a:solidFill>
              <a:srgbClr val="0E2841"/>
            </a:solidFill>
            <a:prstDash val="solid"/>
          </a:ln>
        </p:spPr>
      </p:sp>
      <p:sp>
        <p:nvSpPr>
          <p:cNvPr id="3" name="3e1ec9dd-58da-43f8-9bbe-2974691e41d6"/>
          <p:cNvSpPr/>
          <p:nvPr/>
        </p:nvSpPr>
        <p:spPr>
          <a:xfrm>
            <a:off x="15316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0E2841">
              <a:alpha val="15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4" name="3637581b-1e40-47e8-83c7-608b2ec0293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652321" y="1966751"/>
            <a:ext cx="307238" cy="307238"/>
          </a:xfrm>
          <a:prstGeom prst="rect">
            <a:avLst/>
          </a:prstGeom>
        </p:spPr>
      </p:pic>
      <p:sp>
        <p:nvSpPr>
          <p:cNvPr id="5" name="e8b4f439-2c4e-47c5-902c-be1d2829e01e"/>
          <p:cNvSpPr/>
          <p:nvPr/>
        </p:nvSpPr>
        <p:spPr>
          <a:xfrm>
            <a:off x="62179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管理者</a:t>
            </a:r>
            <a:endParaRPr lang="en-US" sz="1400" dirty="0"/>
          </a:p>
        </p:txBody>
      </p:sp>
      <p:sp>
        <p:nvSpPr>
          <p:cNvPr id="6" name="6a964749-3b09-4d17-9ef7-664d90afecc4"/>
          <p:cNvSpPr/>
          <p:nvPr/>
        </p:nvSpPr>
        <p:spPr>
          <a:xfrm>
            <a:off x="64008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C3 或 API 指派 role binding</a:t>
            </a:r>
            <a:endParaRPr lang="en-US" sz="1150" dirty="0"/>
          </a:p>
        </p:txBody>
      </p:sp>
      <p:sp>
        <p:nvSpPr>
          <p:cNvPr id="7" name="5cd43c58-9ca5-42e9-b964-ce827396afda"/>
          <p:cNvSpPr/>
          <p:nvPr/>
        </p:nvSpPr>
        <p:spPr>
          <a:xfrm>
            <a:off x="338328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8" name="c169cf2c-e3ac-469f-9e72-084e3e2c7bdc"/>
          <p:cNvSpPr/>
          <p:nvPr/>
        </p:nvSpPr>
        <p:spPr>
          <a:xfrm>
            <a:off x="43662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9" name="c3e498e4-6bbf-43c8-9b88-cc7ded37c47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486961" y="1966751"/>
            <a:ext cx="307238" cy="307238"/>
          </a:xfrm>
          <a:prstGeom prst="rect">
            <a:avLst/>
          </a:prstGeom>
        </p:spPr>
      </p:pic>
      <p:sp>
        <p:nvSpPr>
          <p:cNvPr id="10" name="e6600115-1175-46ed-ae38-bc5181dca832"/>
          <p:cNvSpPr/>
          <p:nvPr/>
        </p:nvSpPr>
        <p:spPr>
          <a:xfrm>
            <a:off x="345643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11" name="ba192994-c02b-410a-8c32-aa14e7b0fcaa"/>
          <p:cNvSpPr/>
          <p:nvPr/>
        </p:nvSpPr>
        <p:spPr>
          <a:xfrm>
            <a:off x="347472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token · 管理 RBAC</a:t>
            </a:r>
            <a:endParaRPr lang="en-US" sz="1150" dirty="0"/>
          </a:p>
        </p:txBody>
      </p:sp>
      <p:sp>
        <p:nvSpPr>
          <p:cNvPr id="12" name="46e48fba-1b56-42e1-b622-8c907172d67b"/>
          <p:cNvSpPr/>
          <p:nvPr/>
        </p:nvSpPr>
        <p:spPr>
          <a:xfrm>
            <a:off x="621792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ce70a6c0-0e73-481f-ba06-062545eca1c0"/>
          <p:cNvSpPr/>
          <p:nvPr/>
        </p:nvSpPr>
        <p:spPr>
          <a:xfrm>
            <a:off x="720090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b2fba827-6d54-4dee-9d7d-75bdf93c20b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321601" y="1966751"/>
            <a:ext cx="307238" cy="307238"/>
          </a:xfrm>
          <a:prstGeom prst="rect">
            <a:avLst/>
          </a:prstGeom>
        </p:spPr>
      </p:pic>
      <p:sp>
        <p:nvSpPr>
          <p:cNvPr id="15" name="3a9d43b2-cb75-48e5-b135-41b5078e11ec"/>
          <p:cNvSpPr/>
          <p:nvPr/>
        </p:nvSpPr>
        <p:spPr>
          <a:xfrm>
            <a:off x="629107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topic</a:t>
            </a:r>
            <a:endParaRPr lang="en-US" sz="1400" dirty="0"/>
          </a:p>
        </p:txBody>
      </p:sp>
      <p:sp>
        <p:nvSpPr>
          <p:cNvPr id="16" name="8f422d5f-20b9-405f-9072-3b5c94b5b2db"/>
          <p:cNvSpPr/>
          <p:nvPr/>
        </p:nvSpPr>
        <p:spPr>
          <a:xfrm>
            <a:off x="630936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 binding 與使用者→群組</a:t>
            </a:r>
            <a:endParaRPr lang="en-US" sz="1150" dirty="0"/>
          </a:p>
        </p:txBody>
      </p:sp>
      <p:sp>
        <p:nvSpPr>
          <p:cNvPr id="17" name="69dc0153-dcf7-4600-a409-c51ea5e01031"/>
          <p:cNvSpPr/>
          <p:nvPr/>
        </p:nvSpPr>
        <p:spPr>
          <a:xfrm>
            <a:off x="905256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75b87566-0e14-47ff-98a3-714534655887"/>
          <p:cNvSpPr/>
          <p:nvPr/>
        </p:nvSpPr>
        <p:spPr>
          <a:xfrm>
            <a:off x="10035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0db2e673-7519-4eb9-9314-046016c44fb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1966751"/>
            <a:ext cx="307238" cy="307238"/>
          </a:xfrm>
          <a:prstGeom prst="rect">
            <a:avLst/>
          </a:prstGeom>
        </p:spPr>
      </p:pic>
      <p:sp>
        <p:nvSpPr>
          <p:cNvPr id="20" name="a802dd79-b97e-41d3-abb6-8e1e861cb98c"/>
          <p:cNvSpPr/>
          <p:nvPr/>
        </p:nvSpPr>
        <p:spPr>
          <a:xfrm>
            <a:off x="912571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每台 broker</a:t>
            </a:r>
            <a:endParaRPr lang="en-US" sz="1400" dirty="0"/>
          </a:p>
        </p:txBody>
      </p:sp>
      <p:sp>
        <p:nvSpPr>
          <p:cNvPr id="21" name="2c7c987f-33e4-4797-873a-ff09d67736da"/>
          <p:cNvSpPr/>
          <p:nvPr/>
        </p:nvSpPr>
        <p:spPr>
          <a:xfrm>
            <a:off x="914400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讀取並 cache,本地授權</a:t>
            </a:r>
            <a:endParaRPr lang="en-US" sz="1150" dirty="0"/>
          </a:p>
        </p:txBody>
      </p:sp>
      <p:sp>
        <p:nvSpPr>
          <p:cNvPr id="22" name="304c546b-3d94-4c8b-9cbb-c9762bffd475"/>
          <p:cNvSpPr/>
          <p:nvPr/>
        </p:nvSpPr>
        <p:spPr>
          <a:xfrm>
            <a:off x="306324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03682921-24e7-4ad3-8c47-b3309bf2aa26"/>
          <p:cNvSpPr/>
          <p:nvPr/>
        </p:nvSpPr>
        <p:spPr>
          <a:xfrm>
            <a:off x="589788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064209df-4b08-490f-aeec-50562c1e36d9"/>
          <p:cNvSpPr/>
          <p:nvPr/>
        </p:nvSpPr>
        <p:spPr>
          <a:xfrm>
            <a:off x="873252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ed426441-a97b-4a12-83a9-ad2d6325c78e"/>
          <p:cNvSpPr/>
          <p:nvPr/>
        </p:nvSpPr>
        <p:spPr>
          <a:xfrm>
            <a:off x="3383280" y="3806293"/>
            <a:ext cx="2514600" cy="18666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6" name="1bbccc09-89f6-4d86-894b-4f1ad36da6c1"/>
          <p:cNvSpPr/>
          <p:nvPr/>
        </p:nvSpPr>
        <p:spPr>
          <a:xfrm>
            <a:off x="436626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e9a160a4-2427-458d-aa95-aef5b64ec59b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486961" y="4045569"/>
            <a:ext cx="307238" cy="307238"/>
          </a:xfrm>
          <a:prstGeom prst="rect">
            <a:avLst/>
          </a:prstGeom>
        </p:spPr>
      </p:pic>
      <p:sp>
        <p:nvSpPr>
          <p:cNvPr id="28" name="62dda9b9-fcb0-4886-8b6e-7319ccebb812"/>
          <p:cNvSpPr/>
          <p:nvPr/>
        </p:nvSpPr>
        <p:spPr>
          <a:xfrm>
            <a:off x="3456432" y="4527516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9" name="fadf7282-70ff-4b27-99ba-3c199e1b868f"/>
          <p:cNvSpPr/>
          <p:nvPr/>
        </p:nvSpPr>
        <p:spPr>
          <a:xfrm>
            <a:off x="3474720" y="4909339"/>
            <a:ext cx="2331720" cy="721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0" name="e469936d-1ff3-4849-bd6d-5b052e1b1d86"/>
          <p:cNvSpPr/>
          <p:nvPr/>
        </p:nvSpPr>
        <p:spPr>
          <a:xfrm>
            <a:off x="4636008" y="3509319"/>
            <a:ext cx="0" cy="296974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b9929d6c-102c-415c-aa5e-0e97f8b2293a"/>
          <p:cNvSpPr/>
          <p:nvPr/>
        </p:nvSpPr>
        <p:spPr>
          <a:xfrm>
            <a:off x="4709160" y="3534774"/>
            <a:ext cx="12801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 / bind</a:t>
            </a:r>
            <a:endParaRPr lang="en-US" sz="1000" dirty="0"/>
          </a:p>
        </p:txBody>
      </p:sp>
      <p:sp>
        <p:nvSpPr>
          <p:cNvPr id="32" name="6b3bb49d-18b7-47f3-b930-726c261a3c92"/>
          <p:cNvSpPr/>
          <p:nvPr/>
        </p:nvSpPr>
        <p:spPr>
          <a:xfrm>
            <a:off x="6217920" y="3806293"/>
            <a:ext cx="5422392" cy="1866694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77aa515b-1b38-4e2b-b76c-7cb8c03bd9ef"/>
          <p:cNvSpPr/>
          <p:nvPr/>
        </p:nvSpPr>
        <p:spPr>
          <a:xfrm>
            <a:off x="6400800" y="3891143"/>
            <a:ext cx="50292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</a:t>
            </a:r>
            <a:endParaRPr lang="en-US" sz="1500" dirty="0"/>
          </a:p>
        </p:txBody>
      </p:sp>
      <p:sp>
        <p:nvSpPr>
          <p:cNvPr id="34" name="0aa504f3-f939-473c-a225-09325276e0c1"/>
          <p:cNvSpPr/>
          <p:nvPr/>
        </p:nvSpPr>
        <p:spPr>
          <a:xfrm>
            <a:off x="6400800" y="4230542"/>
            <a:ext cx="5074920" cy="144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5" name="5414e87b-5584-4e3e-af59-e532cac61434"/>
          <p:cNvSpPr/>
          <p:nvPr/>
        </p:nvSpPr>
        <p:spPr>
          <a:xfrm>
            <a:off x="548640" y="3806293"/>
            <a:ext cx="2514600" cy="1866694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55bc0801-c744-4367-a346-7601360e67d7"/>
          <p:cNvSpPr/>
          <p:nvPr/>
        </p:nvSpPr>
        <p:spPr>
          <a:xfrm>
            <a:off x="141732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7" name="f9e841c5-911d-47b7-842a-9aa75dfc5f79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538021" y="4045569"/>
            <a:ext cx="307238" cy="307238"/>
          </a:xfrm>
          <a:prstGeom prst="rect">
            <a:avLst/>
          </a:prstGeom>
        </p:spPr>
      </p:pic>
      <p:sp>
        <p:nvSpPr>
          <p:cNvPr id="38" name="94b3fa05-822a-445a-b6e7-534265134a99"/>
          <p:cNvSpPr/>
          <p:nvPr/>
        </p:nvSpPr>
        <p:spPr>
          <a:xfrm>
            <a:off x="640080" y="4527516"/>
            <a:ext cx="23317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DN;不要用真人帳號;建議 LDAPS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 → role:依職責分層授權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 AD,不同群組 = 不同權限層級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63f789b-e537-44af-ad89-8155f820219b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e3988ea1-096a-430d-8d49-3647ceae2c3b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2a63fd91-697e-4c89-b248-3dbdd1706bc3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a0a05873-61d3-49f5-b2cf-becff8fd51dd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f3f0b730-3fb4-4f81-b3a1-64d2fb81ecb3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adc87be0-809c-4974-b82c-83b98d953d68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09ea32cd-3c03-4f61-8b69-99afb6c3bed5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1edc8a16-a651-48db-b3a2-d1bfe7f66a6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fc77a3bc-b79f-446d-afbf-dbd64c8f83b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bc3e421f-af65-4f9a-b399-f2d81512575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20f97b9d-ead4-40c6-84d0-362f9763bc5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e8b04cc7-72b4-499e-becd-c14ff4079e35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0525e598-5473-4e64-9045-4ba2f6046758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45ea2490-41d9-4254-b051-e3272b9fa789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07a97e5d-c20b-46b5-9d78-c125839a3e2e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3b7b7a6a-0036-4d88-a13a-e35a1ccec827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af107a0f-836a-424c-9e64-40ab888570f8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0972a863-bcb2-480a-9874-f0baee99b65e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397ca831-f957-4055-b8ce-628e35d529d4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827ebd98-29bd-4087-b83f-74c14a9c99d2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5eb60e2e-beb3-4003-8c0a-23829b126935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ec0bbcfe-437a-405f-8f4e-a7f902657773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2331901a-992b-4b17-86d2-c6c4739c7416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e4f64ac7-d763-4ec2-915e-5a49411b3cc0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9a0b67f0-b836-4ac8-b37f-0439234f65cb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09659908-f29a-4787-9ba5-8a80b69ab8f7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71a76c9e-dccd-45ab-bb7f-1ffb713ead5e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a0aa3a19-627a-41d6-bac7-6c8ef6865881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df2ab39b-6791-4872-a0c0-dce1ba12d6cb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34a91fdc-fe00-4ed5-8498-77369ace4d1e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ea51a608-dd46-43d9-a8b9-f362fefbba94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bc3ce5cb-a385-4c53-9c8a-4c5d1485f846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cad6039f-e25e-40d5-a554-a1a3689e904d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5095ed2d-a03f-47af-9d20-7a98ee9cc066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a76ec6f5-6f14-4d48-a9ef-86b7c2b92748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cf188997-a61a-4f73-955c-9cf957796391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8d45a9a6-3fd5-444d-aacb-daedcb5b20ab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07ca3d21-84f9-4e11-b37f-b1db155d2bcf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6431f97c-aff3-46b9-a924-e1c8ebfa515c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96d4533f-5236-4762-b159-40ab394418bd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44a5a360-c7ed-461e-9621-d4279a27b720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8c59f889-a24e-49de-a078-ba108bd8cb69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928112cd-2807-466c-8066-062513524d8a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8ad1956c-3d33-429d-be87-c9a701fcf21d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1c12dd29-348e-4a1c-8320-ad9a46865b23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ad9605da-bc55-4e03-9b61-0779d587ebb7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全程留痕</a:t>
            </a:r>
            <a:endParaRPr lang="en-US" sz="1400" dirty="0"/>
          </a:p>
        </p:txBody>
      </p:sp>
      <p:sp>
        <p:nvSpPr>
          <p:cNvPr id="48" name="08fb17c6-baa5-4408-b2d2-151c88f62961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e6e393e-2f1c-44f3-91b0-bfbda5e91ad2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49f5de36-01e6-4b42-a868-b06311fcf95a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5254c2e8-72a9-4a90-9597-cb8036c30c4a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674a0a61-db07-4bca-9274-a5a7bde29504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c9e84e19-280b-4d88-a52f-57b2e52da95a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c3f9a3ce-ef3c-4b9c-9c81-efdb40955976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f97cefc1-b3f4-470a-905e-541f8b212600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93464e2e-f222-4f9c-8b87-65dbc20cbe97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ebdde38e-4330-4034-be50-f26acc910bc8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f4ccfc95-85cc-4d4e-88fd-e9c7a5cd4a78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1f57d98c-c057-49fc-a157-39ca04a64c54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03964e59-da01-434d-a738-a872a12218ec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337cbf0f-35aa-4ae7-bbc7-79109f8b6c7c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88031f54-ac7c-4f58-aec7-004e601644fc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46f8530f-f1fd-45dd-ab33-1f99ebc2254e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61981160-35a1-4208-bb77-e795e991ab86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74f30a69-1054-4903-addf-b2a0b89448c2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a4f505e4-f49d-4e17-aabe-9541d88a6e26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1b404cfa-49c9-4987-8c05-494b6c11cc05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91653f5a-2bc4-4ad1-ae64-98a2cd559b85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6eb39d6e-e400-4993-bfe4-d4dab2115273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6d41fcf6-d4a5-40fa-9dfb-991b3e56677f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6243c6bb-97f3-4d55-89f3-cd6d5764db11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6823ccbe-209a-4fa2-a0af-43d5069777ee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ed93b833-3806-49e4-b37e-0c16722a8891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fe59c846-7bc8-48da-93f4-12ab79676789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e2e19afa-5d9e-4cd8-a5f2-f17cf50ce804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c06db510-7dd8-4dbf-a32c-bb2ca71a2e25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01821875-dca5-495e-8cd6-a8538a3c6bc1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e58d6527-263c-48d4-80dc-3599e094615f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637a6c82-4923-4f22-a27e-e4631c0a707b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292bfb86-b33e-4e94-8a29-55f7964e2de7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dfc968cf-d353-4c8f-92d3-3b1bae134944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72d3fa30-3ea6-4db0-bee8-be3c5a5c738a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c998707f-9509-4f39-8ee8-2c6ec0a17be4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948d6410-2baf-4e69-9ad1-68f9c0b8b43b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a00b0771-db0e-4cd9-aeaa-dd56de84a4ab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85bff794-e02a-41bd-9e80-19e55e40baae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服務帳號:SCRAM,不放 AD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沒有服務帳號 → SCRAM + 最小權限 + 輪替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af44dfe-6191-4635-b22e-7869cffce61b"/>
          <p:cNvSpPr/>
          <p:nvPr/>
        </p:nvSpPr>
        <p:spPr>
          <a:xfrm>
            <a:off x="548640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bd0b48fe-783e-40c2-98bb-8a5d5888bb32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57e8d803-b376-4e28-9ad0-c27d6a74b492"/>
          <p:cNvSpPr/>
          <p:nvPr/>
        </p:nvSpPr>
        <p:spPr>
          <a:xfrm>
            <a:off x="640080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</a:t>
            </a:r>
            <a:endParaRPr lang="en-US" sz="1400" dirty="0"/>
          </a:p>
        </p:txBody>
      </p:sp>
      <p:sp>
        <p:nvSpPr>
          <p:cNvPr id="5" name="4bf09f92-10df-4a4f-a122-55a5122cb05e"/>
          <p:cNvSpPr/>
          <p:nvPr/>
        </p:nvSpPr>
        <p:spPr>
          <a:xfrm>
            <a:off x="640080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kafka-configs 在 Kafka 內建立</a:t>
            </a:r>
            <a:endParaRPr lang="en-US" sz="1100" dirty="0"/>
          </a:p>
        </p:txBody>
      </p:sp>
      <p:sp>
        <p:nvSpPr>
          <p:cNvPr id="6" name="7d692d9f-36af-4ee3-9b25-c3fc50cbdc51"/>
          <p:cNvSpPr/>
          <p:nvPr/>
        </p:nvSpPr>
        <p:spPr>
          <a:xfrm>
            <a:off x="2560320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575c188b-1b9b-484f-a4b5-0470ad1ff6a6"/>
          <p:cNvSpPr/>
          <p:nvPr/>
        </p:nvSpPr>
        <p:spPr>
          <a:xfrm>
            <a:off x="2816352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2980998c-6ae8-419d-bce7-0159cc861824"/>
          <p:cNvSpPr/>
          <p:nvPr/>
        </p:nvSpPr>
        <p:spPr>
          <a:xfrm>
            <a:off x="2926080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4a24b7f0-6280-4d40-9037-c09991f36b32"/>
          <p:cNvSpPr/>
          <p:nvPr/>
        </p:nvSpPr>
        <p:spPr>
          <a:xfrm>
            <a:off x="2907792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保管</a:t>
            </a:r>
            <a:endParaRPr lang="en-US" sz="1400" dirty="0"/>
          </a:p>
        </p:txBody>
      </p:sp>
      <p:sp>
        <p:nvSpPr>
          <p:cNvPr id="10" name="47405b99-184e-4132-9e3b-55a3540bd53b"/>
          <p:cNvSpPr/>
          <p:nvPr/>
        </p:nvSpPr>
        <p:spPr>
          <a:xfrm>
            <a:off x="2907792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密碼放密碼庫</a:t>
            </a:r>
            <a:endParaRPr lang="en-US" sz="1100" dirty="0"/>
          </a:p>
        </p:txBody>
      </p:sp>
      <p:sp>
        <p:nvSpPr>
          <p:cNvPr id="11" name="cc12469a-bb3c-4486-8f1d-5845a9a00f8a"/>
          <p:cNvSpPr/>
          <p:nvPr/>
        </p:nvSpPr>
        <p:spPr>
          <a:xfrm>
            <a:off x="4828032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ebfcb21d-afc5-402a-b24f-4741c4eba026"/>
          <p:cNvSpPr/>
          <p:nvPr/>
        </p:nvSpPr>
        <p:spPr>
          <a:xfrm>
            <a:off x="5084064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ef90fb6d-f08f-4cc0-bc7c-c59c821e74b2"/>
          <p:cNvSpPr/>
          <p:nvPr/>
        </p:nvSpPr>
        <p:spPr>
          <a:xfrm>
            <a:off x="5193792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ba4d2292-bb91-4571-9ee4-5633cbf90693"/>
          <p:cNvSpPr/>
          <p:nvPr/>
        </p:nvSpPr>
        <p:spPr>
          <a:xfrm>
            <a:off x="5175504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400" dirty="0"/>
          </a:p>
        </p:txBody>
      </p:sp>
      <p:sp>
        <p:nvSpPr>
          <p:cNvPr id="15" name="6c22a9ee-7065-4b21-84af-76abeb3dc7d6"/>
          <p:cNvSpPr/>
          <p:nvPr/>
        </p:nvSpPr>
        <p:spPr>
          <a:xfrm>
            <a:off x="5175504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前綴最小權限</a:t>
            </a:r>
            <a:endParaRPr lang="en-US" sz="1100" dirty="0"/>
          </a:p>
        </p:txBody>
      </p:sp>
      <p:sp>
        <p:nvSpPr>
          <p:cNvPr id="16" name="aa9cdbf1-9b2e-44c8-b212-bc72617bf37f"/>
          <p:cNvSpPr/>
          <p:nvPr/>
        </p:nvSpPr>
        <p:spPr>
          <a:xfrm>
            <a:off x="7095744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7" name="007018c5-8689-4a63-a079-2e8da37012fa"/>
          <p:cNvSpPr/>
          <p:nvPr/>
        </p:nvSpPr>
        <p:spPr>
          <a:xfrm>
            <a:off x="7351776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1e402881-3220-42af-8857-65b5719971e7"/>
          <p:cNvSpPr/>
          <p:nvPr/>
        </p:nvSpPr>
        <p:spPr>
          <a:xfrm>
            <a:off x="7461504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ed80f4cc-546b-4dc2-9ec2-145f2a887333"/>
          <p:cNvSpPr/>
          <p:nvPr/>
        </p:nvSpPr>
        <p:spPr>
          <a:xfrm>
            <a:off x="7443216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</a:t>
            </a:r>
            <a:endParaRPr lang="en-US" sz="1400" dirty="0"/>
          </a:p>
        </p:txBody>
      </p:sp>
      <p:sp>
        <p:nvSpPr>
          <p:cNvPr id="20" name="10f320ac-0d43-49c7-aca7-a9406ad0a69b"/>
          <p:cNvSpPr/>
          <p:nvPr/>
        </p:nvSpPr>
        <p:spPr>
          <a:xfrm>
            <a:off x="7443216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 600</a:t>
            </a:r>
            <a:endParaRPr lang="en-US" sz="1100" dirty="0"/>
          </a:p>
        </p:txBody>
      </p:sp>
      <p:sp>
        <p:nvSpPr>
          <p:cNvPr id="21" name="4b03e5a1-b6b3-48b1-8102-c3087069cde9"/>
          <p:cNvSpPr/>
          <p:nvPr/>
        </p:nvSpPr>
        <p:spPr>
          <a:xfrm>
            <a:off x="9363456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06872d8b-73a1-4c3d-b046-3212e1838326"/>
          <p:cNvSpPr/>
          <p:nvPr/>
        </p:nvSpPr>
        <p:spPr>
          <a:xfrm>
            <a:off x="9619488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22863bff-f108-47c1-bf06-77afb7140a28"/>
          <p:cNvSpPr/>
          <p:nvPr/>
        </p:nvSpPr>
        <p:spPr>
          <a:xfrm>
            <a:off x="9729216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030d0ffb-641a-4477-8bc2-498e19652e34"/>
          <p:cNvSpPr/>
          <p:nvPr/>
        </p:nvSpPr>
        <p:spPr>
          <a:xfrm>
            <a:off x="9710928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</a:t>
            </a:r>
            <a:endParaRPr lang="en-US" sz="1400" dirty="0"/>
          </a:p>
        </p:txBody>
      </p:sp>
      <p:sp>
        <p:nvSpPr>
          <p:cNvPr id="25" name="06f44147-b73f-4280-9d82-b9602c3d97c4"/>
          <p:cNvSpPr/>
          <p:nvPr/>
        </p:nvSpPr>
        <p:spPr>
          <a:xfrm>
            <a:off x="9710928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client 換新密碼</a:t>
            </a:r>
            <a:endParaRPr lang="en-US" sz="1100" dirty="0"/>
          </a:p>
        </p:txBody>
      </p:sp>
      <p:sp>
        <p:nvSpPr>
          <p:cNvPr id="26" name="ea4d91e3-cf0d-42b4-9c57-96e731935c7f"/>
          <p:cNvSpPr/>
          <p:nvPr/>
        </p:nvSpPr>
        <p:spPr>
          <a:xfrm>
            <a:off x="54864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047779d1-ca65-4d09-8b37-e2dc83cf9b4d"/>
          <p:cNvSpPr/>
          <p:nvPr/>
        </p:nvSpPr>
        <p:spPr>
          <a:xfrm>
            <a:off x="73152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1f73de6d-0695-4b81-ba13-33fe1f868fa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4021811"/>
            <a:ext cx="358445" cy="358445"/>
          </a:xfrm>
          <a:prstGeom prst="rect">
            <a:avLst/>
          </a:prstGeom>
        </p:spPr>
      </p:pic>
      <p:sp>
        <p:nvSpPr>
          <p:cNvPr id="29" name="c341871d-87d3-48ef-92ad-e80fcad817f7"/>
          <p:cNvSpPr/>
          <p:nvPr/>
        </p:nvSpPr>
        <p:spPr>
          <a:xfrm>
            <a:off x="150876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 AD</a:t>
            </a:r>
            <a:endParaRPr lang="en-US" sz="1300" dirty="0"/>
          </a:p>
        </p:txBody>
      </p:sp>
      <p:sp>
        <p:nvSpPr>
          <p:cNvPr id="30" name="f7ffe06e-b6e7-4a81-8816-fbd7d0edab65"/>
          <p:cNvSpPr/>
          <p:nvPr/>
        </p:nvSpPr>
        <p:spPr>
          <a:xfrm>
            <a:off x="425196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3fe3aeb9-3570-4f3d-b264-625369ec4172"/>
          <p:cNvSpPr/>
          <p:nvPr/>
        </p:nvSpPr>
        <p:spPr>
          <a:xfrm>
            <a:off x="443484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2" name="8eed8c1a-fc52-482d-b6e3-86ef1cec8fc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5658" y="4021811"/>
            <a:ext cx="358445" cy="358445"/>
          </a:xfrm>
          <a:prstGeom prst="rect">
            <a:avLst/>
          </a:prstGeom>
        </p:spPr>
      </p:pic>
      <p:sp>
        <p:nvSpPr>
          <p:cNvPr id="33" name="a7d5f2c0-79fb-4822-adbc-9c2b9960a5ff"/>
          <p:cNvSpPr/>
          <p:nvPr/>
        </p:nvSpPr>
        <p:spPr>
          <a:xfrm>
            <a:off x="521208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要有輪替流程與提醒</a:t>
            </a:r>
            <a:endParaRPr lang="en-US" sz="1300" dirty="0"/>
          </a:p>
        </p:txBody>
      </p:sp>
      <p:sp>
        <p:nvSpPr>
          <p:cNvPr id="34" name="cfeb9f32-2f09-4893-9e80-c4cb0858a013"/>
          <p:cNvSpPr/>
          <p:nvPr/>
        </p:nvSpPr>
        <p:spPr>
          <a:xfrm>
            <a:off x="7955280" y="3721443"/>
            <a:ext cx="3685032" cy="1018197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5" name="0ff8446f-d02c-4336-b399-c2bc235f62f3"/>
          <p:cNvSpPr/>
          <p:nvPr/>
        </p:nvSpPr>
        <p:spPr>
          <a:xfrm>
            <a:off x="813816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6" name="7170b1a8-faa8-4432-b3b9-32a87d66c55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78978" y="4021811"/>
            <a:ext cx="358445" cy="358445"/>
          </a:xfrm>
          <a:prstGeom prst="rect">
            <a:avLst/>
          </a:prstGeom>
        </p:spPr>
      </p:pic>
      <p:sp>
        <p:nvSpPr>
          <p:cNvPr id="37" name="9e11a133-f1a6-4b81-a662-40392225db02"/>
          <p:cNvSpPr/>
          <p:nvPr/>
        </p:nvSpPr>
        <p:spPr>
          <a:xfrm>
            <a:off x="8915400" y="3806293"/>
            <a:ext cx="26517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官方:SCRAM 搭配 TLS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300" dirty="0"/>
          </a:p>
        </p:txBody>
      </p:sp>
      <p:sp>
        <p:nvSpPr>
          <p:cNvPr id="38" name="6c2dcddc-fb72-4519-a27e-18e18191c675"/>
          <p:cNvSpPr/>
          <p:nvPr/>
        </p:nvSpPr>
        <p:spPr>
          <a:xfrm>
            <a:off x="548640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端改密碼</a:t>
            </a:r>
            <a:endParaRPr lang="en-US" sz="1200" dirty="0"/>
          </a:p>
        </p:txBody>
      </p:sp>
      <p:sp>
        <p:nvSpPr>
          <p:cNvPr id="39" name="8f9ddfea-620c-4150-9f62-2318667df4bb"/>
          <p:cNvSpPr/>
          <p:nvPr/>
        </p:nvSpPr>
        <p:spPr>
          <a:xfrm>
            <a:off x="3063240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bce2f367-5bf2-4d45-a044-b68539aad46d"/>
          <p:cNvSpPr/>
          <p:nvPr/>
        </p:nvSpPr>
        <p:spPr>
          <a:xfrm>
            <a:off x="3410712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client 換新密碼並重啟</a:t>
            </a:r>
            <a:endParaRPr lang="en-US" sz="1200" dirty="0"/>
          </a:p>
        </p:txBody>
      </p:sp>
      <p:sp>
        <p:nvSpPr>
          <p:cNvPr id="41" name="83ec5d0a-deab-44c2-b812-4876c8eb2310"/>
          <p:cNvSpPr/>
          <p:nvPr/>
        </p:nvSpPr>
        <p:spPr>
          <a:xfrm>
            <a:off x="5925312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2" name="5e84d607-a7bf-4c97-b9d2-4cd2ec9916a1"/>
          <p:cNvSpPr/>
          <p:nvPr/>
        </p:nvSpPr>
        <p:spPr>
          <a:xfrm>
            <a:off x="6272784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驗證新密碼可用</a:t>
            </a:r>
            <a:endParaRPr lang="en-US" sz="1200" dirty="0"/>
          </a:p>
        </p:txBody>
      </p:sp>
      <p:sp>
        <p:nvSpPr>
          <p:cNvPr id="43" name="6fc50ce7-d888-459b-94a5-411bb31464f6"/>
          <p:cNvSpPr/>
          <p:nvPr/>
        </p:nvSpPr>
        <p:spPr>
          <a:xfrm>
            <a:off x="8787384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4" name="41c065c7-c3bf-4a4e-870e-5842dbe1d71b"/>
          <p:cNvSpPr/>
          <p:nvPr/>
        </p:nvSpPr>
        <p:spPr>
          <a:xfrm>
            <a:off x="9134856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驗證舊密碼已失效</a:t>
            </a:r>
            <a:endParaRPr lang="en-US" sz="1200" dirty="0"/>
          </a:p>
        </p:txBody>
      </p:sp>
      <p:sp>
        <p:nvSpPr>
          <p:cNvPr id="45" name="b6f1296a-2a27-485e-b08d-5136303e68d9"/>
          <p:cNvSpPr/>
          <p:nvPr/>
        </p:nvSpPr>
        <p:spPr>
          <a:xfrm>
            <a:off x="548640" y="546086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 = 取代:舊密碼對新連線立即失效(實測)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已連線的 client 不受影響;改完立刻換 client,換好之前重新連線的會失敗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特例:不能有失敗窗口的服務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新帳號並行:新舊同時有效,代價是 client 要改帳號、role 要重綁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71ff535-321e-4724-88eb-8c061c160e36"/>
          <p:cNvSpPr/>
          <p:nvPr/>
        </p:nvSpPr>
        <p:spPr>
          <a:xfrm>
            <a:off x="548640" y="1685050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上一頁的做法,會有一段失敗窗口</a:t>
            </a:r>
            <a:endParaRPr lang="en-US" sz="1400" dirty="0"/>
          </a:p>
        </p:txBody>
      </p:sp>
      <p:sp>
        <p:nvSpPr>
          <p:cNvPr id="3" name="5d41425f-1f81-4dfc-8ec8-47dd4b4af3ec"/>
          <p:cNvSpPr/>
          <p:nvPr/>
        </p:nvSpPr>
        <p:spPr>
          <a:xfrm>
            <a:off x="548640" y="2066874"/>
            <a:ext cx="2926080" cy="848497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端改密碼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舊密碼對新連線立即失效</a:t>
            </a:r>
            <a:endParaRPr lang="en-US" sz="1400" dirty="0"/>
          </a:p>
        </p:txBody>
      </p:sp>
      <p:sp>
        <p:nvSpPr>
          <p:cNvPr id="4" name="3a3b64d0-2e60-40ba-a314-3828dda0416c"/>
          <p:cNvSpPr/>
          <p:nvPr/>
        </p:nvSpPr>
        <p:spPr>
          <a:xfrm>
            <a:off x="3474720" y="2491122"/>
            <a:ext cx="36576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" name="3286bda4-8c62-48fd-9e26-0769b48e5969"/>
          <p:cNvSpPr/>
          <p:nvPr/>
        </p:nvSpPr>
        <p:spPr>
          <a:xfrm>
            <a:off x="3840480" y="2066874"/>
            <a:ext cx="4572000" cy="848497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失敗窗口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還沒換新密碼、就重新連線 → 失敗</a:t>
            </a:r>
            <a:endParaRPr lang="en-US" sz="1400" dirty="0"/>
          </a:p>
        </p:txBody>
      </p:sp>
      <p:sp>
        <p:nvSpPr>
          <p:cNvPr id="6" name="4278aa42-b3aa-4f48-80ea-bea9ac31c76a"/>
          <p:cNvSpPr/>
          <p:nvPr/>
        </p:nvSpPr>
        <p:spPr>
          <a:xfrm>
            <a:off x="8412480" y="2491122"/>
            <a:ext cx="36576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7" name="b1feb042-3b71-4224-9d91-a13c94be3103"/>
          <p:cNvSpPr/>
          <p:nvPr/>
        </p:nvSpPr>
        <p:spPr>
          <a:xfrm>
            <a:off x="8778240" y="2066874"/>
            <a:ext cx="2862072" cy="848497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換好新密碼</a:t>
            </a:r>
            <a:endParaRPr lang="en-US" sz="1400" dirty="0"/>
          </a:p>
        </p:txBody>
      </p:sp>
      <p:sp>
        <p:nvSpPr>
          <p:cNvPr id="8" name="b9ddaa4c-7489-4b63-a877-4143096e53a9"/>
          <p:cNvSpPr/>
          <p:nvPr/>
        </p:nvSpPr>
        <p:spPr>
          <a:xfrm>
            <a:off x="548640" y="3212345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不能承受窗口的服務:改用新帳號並行(新舊同時有效)</a:t>
            </a:r>
            <a:endParaRPr lang="en-US" sz="1400" dirty="0"/>
          </a:p>
        </p:txBody>
      </p:sp>
      <p:sp>
        <p:nvSpPr>
          <p:cNvPr id="9" name="37f37d65-98ef-4eb0-afa2-a9ec2038e1a3"/>
          <p:cNvSpPr/>
          <p:nvPr/>
        </p:nvSpPr>
        <p:spPr>
          <a:xfrm>
            <a:off x="548640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建新帳號 svc-x-v2</a:t>
            </a:r>
            <a:endParaRPr lang="en-US" sz="1200" dirty="0"/>
          </a:p>
        </p:txBody>
      </p:sp>
      <p:sp>
        <p:nvSpPr>
          <p:cNvPr id="10" name="a130d453-57f8-483d-a473-42220384c5a1"/>
          <p:cNvSpPr/>
          <p:nvPr/>
        </p:nvSpPr>
        <p:spPr>
          <a:xfrm>
            <a:off x="3063240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5ebac96f-2b2d-478a-8073-d7b4395a4b13"/>
          <p:cNvSpPr/>
          <p:nvPr/>
        </p:nvSpPr>
        <p:spPr>
          <a:xfrm>
            <a:off x="3410712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重綁相同 role</a:t>
            </a:r>
            <a:endParaRPr lang="en-US" sz="1200" dirty="0"/>
          </a:p>
        </p:txBody>
      </p:sp>
      <p:sp>
        <p:nvSpPr>
          <p:cNvPr id="12" name="f7e5fcb2-5c82-45c5-8035-59b93be49a3b"/>
          <p:cNvSpPr/>
          <p:nvPr/>
        </p:nvSpPr>
        <p:spPr>
          <a:xfrm>
            <a:off x="5925312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93abc7ff-f9ac-459a-bd97-5e4046a33334"/>
          <p:cNvSpPr/>
          <p:nvPr/>
        </p:nvSpPr>
        <p:spPr>
          <a:xfrm>
            <a:off x="6272784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client 改帳號與密碼</a:t>
            </a:r>
            <a:endParaRPr lang="en-US" sz="1200" dirty="0"/>
          </a:p>
        </p:txBody>
      </p:sp>
      <p:sp>
        <p:nvSpPr>
          <p:cNvPr id="14" name="c9618bf0-bfa1-4cdd-8e0c-36bc931378ad"/>
          <p:cNvSpPr/>
          <p:nvPr/>
        </p:nvSpPr>
        <p:spPr>
          <a:xfrm>
            <a:off x="8787384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4aadad09-ca7a-471c-ae4b-4bbb65c74aff"/>
          <p:cNvSpPr/>
          <p:nvPr/>
        </p:nvSpPr>
        <p:spPr>
          <a:xfrm>
            <a:off x="9134856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刪舊帳號與舊 binding</a:t>
            </a:r>
            <a:endParaRPr lang="en-US" sz="1200" dirty="0"/>
          </a:p>
        </p:txBody>
      </p:sp>
      <p:sp>
        <p:nvSpPr>
          <p:cNvPr id="16" name="61f51c6c-328f-4aa9-9031-951199e7f0b6"/>
          <p:cNvSpPr/>
          <p:nvPr/>
        </p:nvSpPr>
        <p:spPr>
          <a:xfrm>
            <a:off x="548640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舊帳號仍可使用</a:t>
            </a:r>
            <a:endParaRPr lang="en-US" sz="1100" dirty="0"/>
          </a:p>
        </p:txBody>
      </p:sp>
      <p:sp>
        <p:nvSpPr>
          <p:cNvPr id="17" name="6d956bbf-619b-4d5c-93c4-6e887eb67a9f"/>
          <p:cNvSpPr/>
          <p:nvPr/>
        </p:nvSpPr>
        <p:spPr>
          <a:xfrm>
            <a:off x="3410712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綁的是帳號名稱</a:t>
            </a:r>
            <a:endParaRPr lang="en-US" sz="1100" dirty="0"/>
          </a:p>
        </p:txBody>
      </p:sp>
      <p:sp>
        <p:nvSpPr>
          <p:cNvPr id="18" name="9f604dc1-7553-4879-a566-052dedb242fb"/>
          <p:cNvSpPr/>
          <p:nvPr/>
        </p:nvSpPr>
        <p:spPr>
          <a:xfrm>
            <a:off x="6272784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逐步切換,新舊並存</a:t>
            </a:r>
            <a:endParaRPr lang="en-US" sz="1100" dirty="0"/>
          </a:p>
        </p:txBody>
      </p:sp>
      <p:sp>
        <p:nvSpPr>
          <p:cNvPr id="19" name="2f0e6dc1-845b-421e-a647-beeb7eb8005f"/>
          <p:cNvSpPr/>
          <p:nvPr/>
        </p:nvSpPr>
        <p:spPr>
          <a:xfrm>
            <a:off x="9134856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全部切完才刪</a:t>
            </a:r>
            <a:endParaRPr lang="en-US" sz="1100" dirty="0"/>
          </a:p>
        </p:txBody>
      </p:sp>
      <p:sp>
        <p:nvSpPr>
          <p:cNvPr id="20" name="fa60ede5-3057-45e6-818b-9ddad23ec510"/>
          <p:cNvSpPr/>
          <p:nvPr/>
        </p:nvSpPr>
        <p:spPr>
          <a:xfrm>
            <a:off x="548640" y="4612365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代價:每次輪替,client 都要改帳號名稱並重啟</a:t>
            </a:r>
            <a:endParaRPr lang="en-US" sz="1200" dirty="0"/>
          </a:p>
        </p:txBody>
      </p:sp>
      <p:sp>
        <p:nvSpPr>
          <p:cNvPr id="21" name="db055a9d-5455-4024-bcd1-85317e798f9b"/>
          <p:cNvSpPr/>
          <p:nvPr/>
        </p:nvSpPr>
        <p:spPr>
          <a:xfrm>
            <a:off x="6199632" y="4612365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代價:新帳號的 role binding 要重綁</a:t>
            </a:r>
            <a:endParaRPr lang="en-US" sz="1200" dirty="0"/>
          </a:p>
        </p:txBody>
      </p:sp>
      <p:sp>
        <p:nvSpPr>
          <p:cNvPr id="22" name="133b9b38-b4c4-4176-8099-8dd8b30a522e"/>
          <p:cNvSpPr/>
          <p:nvPr/>
        </p:nvSpPr>
        <p:spPr>
          <a:xfrm>
            <a:off x="548640" y="5376013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只有不能承受失敗窗口的服務才用;日常輪替仍用同帳號改密碼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Proxy:legacy app 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 Basic、機器用 client 憑證,身分一路傳到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44b8ccc-4924-45f4-8008-01e845c21c7d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3" name="ceeaa164-6f91-4366-a767-7648723da08f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" name="8d894084-987a-4e1b-b55b-860cfd191d19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d343b3d1-01ae-4940-aad8-35b489e7d77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6" name="e2a20366-0b51-4f2b-a8f9-12abcbada154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95e9e628-5b4f-4e38-8e76-33f27c06aa1a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8" name="6ff05c9f-8df0-4726-a829-2ca41b32394c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7a5fbb65-e2ed-4900-bddd-a4c3886bb0ba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b000d320-685e-452c-ab5c-b82ff942829b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c52e0e09-cc62-4bc3-ba94-459e4ea5a87d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d5f9c9e3-3926-449b-8b82-454b33d2764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de952b08-bd43-4cf7-ab70-a9d37472ac34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5d2ac056-56fe-4aa4-bd7f-2d38bd66a95d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3b454d50-5ddb-4e7b-8172-298a0f0dab37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7e0cbc59-ba21-4591-8ae2-153927e524b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49ac7ce9-30c2-405f-9e09-6bcddba30bd4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f3fca108-e2df-4c1c-9210-f8ef05921e2d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20073326-de42-44e7-86cd-e3c471b47f84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447b253e-cf79-49ff-8b58-0285337d913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9d74ce0b-1b05-41e7-8f9d-c2c06d5fbb1c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21377b29-d6fb-4fd1-a10d-22c8e54d745d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a8531511-871a-4d24-a311-9ecb21951135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516803d8-7253-43ba-8515-9130159d3881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dbed3c15-9346-437d-a7cc-16aa533a1f2d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7e780da4-b43e-4053-8430-64f67e7d8a7f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ea175d2c-80c3-4790-a05b-cc2b0b03a613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機器(legacy app)</a:t>
            </a:r>
            <a:endParaRPr lang="en-US" sz="1400" dirty="0"/>
          </a:p>
        </p:txBody>
      </p:sp>
      <p:sp>
        <p:nvSpPr>
          <p:cNvPr id="28" name="b9546f75-e1ab-47dd-9e92-52ad3280da57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a549022a-6c72-4ac6-afc2-9a7631431d21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2b87f66b-d462-49bc-8085-f37213ffb8d0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45d3b7b6-c828-412f-bd04-355d201d7910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0b5cf77f-e434-4d15-bbd3-8ecb785164a4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ebd0ef7b-e087-4b83-ac52-9d70139ed733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8260edcb-8420-484b-8fd9-f63a571ba8c1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657a44c9-e02d-49c9-94be-82af1ed0091c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bf2c546b-9695-4da6-bfad-31e570f918b4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61e99e2f-dc8b-4a6f-95af-1ce083ef8de7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d865819d-9b55-4b97-8e3c-e2d1caf6e20e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239e7eef-3142-41f2-897c-63435cfd9c86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337793fa-507e-4429-988b-fe630913611f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8ee58755-9393-4f51-87cb-6da9f7e9b2a4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f408dccc-4af1-4bc4-93c6-635165d05b2e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2e39435b-b30f-4a15-9483-74d81e00501c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b5c00f3a-d749-4a19-9bfe-ac743a932ff0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292fa3ab-1677-4eb0-be47-f50a070b4b05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7f383b1a-da67-4495-9138-f3ffe14a0705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208a335c-f15f-468a-8928-ce36d4df1062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30066284-ff76-41ec-b458-7b1001c2d3cb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10088fc5-f61d-4f2a-ba12-4dda0eebafc4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f85ed71c-bee5-44c0-9c84-05a0cb6e9e04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a5949cbf-a12e-4399-bc7a-63b683241bcc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8a3c2b7f-5c61-454e-8fcd-cff4d75b7a05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端 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c614dbf4-6292-491b-8a0b-6aa8ddf6ecec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Center:人用本人身分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C3 自己的背景工作才用憑證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088acaa-c9dc-407c-891f-b842ef0bf9d2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682b732d-ca29-41bd-aa33-f6c9b9a36c64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eb4dd521-edb1-4c35-9660-88a990426941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c766ff9b-51b1-497d-bb73-59022606991d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6" name="63f9f6ee-e11f-45b2-bfbd-3eaaf7ae447b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c949ad5d-0f94-472a-98fe-006a18c15665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20a79c30-919d-4a4e-92bf-90a6e4d23f26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8fd73c22-d90e-4b5f-84c8-f8031937bb5e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3f0ed4ba-339d-455d-9000-3cc11ed516f8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55a0421b-56bf-4ce1-bfbe-07c6385991ed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1afd972f-a648-40e7-88b5-4805c1cf86f4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39da2d24-ee00-428e-b68b-b074ae0a567d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edce5443-3ffb-40cb-a5c5-43e809347e1a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7af78d85-d66d-4d63-a74e-c904d2459a73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壽命可設(demo 1 小時)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登入上限預設 6 小時</a:t>
            </a:r>
            <a:endParaRPr lang="en-US" sz="1100" dirty="0"/>
          </a:p>
        </p:txBody>
      </p:sp>
      <p:sp>
        <p:nvSpPr>
          <p:cNvPr id="16" name="d41d77ac-f843-4bde-a265-26c8b713465c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ffb2ee3f-cfe3-4bd6-ad8d-0cc3de600b6d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42eede6a-1010-45af-939c-590ccc3426cc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8a80fc43-3843-4371-9e1f-d2738a863763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3f7bec82-679c-431e-8546-cb6d2305e924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1" name="6e2efcc2-9a79-4680-b849-2101d1745777"/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da215a0c-0feb-4a89-af5e-785d8379fff5"/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716f192c-5a21-4b94-a6a8-85b74e43c47f"/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d1a71baa-7357-4a2c-824c-d8597571147c"/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</a:t>
            </a:r>
            <a:endParaRPr lang="en-US" sz="1400" dirty="0"/>
          </a:p>
        </p:txBody>
      </p:sp>
      <p:sp>
        <p:nvSpPr>
          <p:cNvPr id="25" name="6d91a56f-81ee-41e0-88b6-8ebaee7c5005"/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自己的 API: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本地驗章(實測)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轉給 MDS 的請求: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由 MDS 驗證</a:t>
            </a:r>
            <a:endParaRPr lang="en-US" sz="1100" dirty="0"/>
          </a:p>
        </p:txBody>
      </p:sp>
      <p:sp>
        <p:nvSpPr>
          <p:cNvPr id="26" name="fa394021-f002-415f-bac6-dc22f0995e15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d33f9cab-13ff-4e23-bcfd-67dc4058e54b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852ff175-9373-47b7-93c0-b1a8606c76f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d5a5b730-f6be-4a52-9b65-7490c2d957e0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059c0d4e-028e-49b9-aae4-887a7c6814c5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a2e04801-c991-43ad-ac1a-1814b209982f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68ffd136-13a1-4935-8851-c6e1da02fe3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94784e54-bf7f-48ed-a638-8c33bcd18592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43015223-3781-4b0b-aca2-348127986a56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0cf1ca31-5237-454d-a649-ab5c500b548d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0605d4ea-6718-4e4a-a3f3-15fc68c35157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周邊:Prometheus · Alertmanager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指標與告警的四條連線,都要 TLS + Basic(實測通過)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dc11bd5-601b-4fc5-9ea1-f136fc9d0ac8"/>
          <p:cNvSpPr/>
          <p:nvPr/>
        </p:nvSpPr>
        <p:spPr>
          <a:xfrm>
            <a:off x="548640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aa59be5a-33d4-44de-9f66-0f632be0ae7b"/>
          <p:cNvSpPr/>
          <p:nvPr/>
        </p:nvSpPr>
        <p:spPr>
          <a:xfrm>
            <a:off x="164592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7f590ea4-1e2b-451b-894e-b324569ff56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24326"/>
            <a:ext cx="307238" cy="307238"/>
          </a:xfrm>
          <a:prstGeom prst="rect">
            <a:avLst/>
          </a:prstGeom>
        </p:spPr>
      </p:pic>
      <p:sp>
        <p:nvSpPr>
          <p:cNvPr id="5" name="5b40be09-c909-4960-8b41-2d5fb71ce72c"/>
          <p:cNvSpPr/>
          <p:nvPr/>
        </p:nvSpPr>
        <p:spPr>
          <a:xfrm>
            <a:off x="621792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 / 2</a:t>
            </a:r>
            <a:endParaRPr lang="en-US" sz="1400" dirty="0"/>
          </a:p>
        </p:txBody>
      </p:sp>
      <p:sp>
        <p:nvSpPr>
          <p:cNvPr id="6" name="513aa6b0-ac68-4b76-bf90-8ab90ddb99c7"/>
          <p:cNvSpPr/>
          <p:nvPr/>
        </p:nvSpPr>
        <p:spPr>
          <a:xfrm>
            <a:off x="640080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telemetry exporter</a:t>
            </a:r>
            <a:endParaRPr lang="en-US" sz="1100" dirty="0"/>
          </a:p>
        </p:txBody>
      </p:sp>
      <p:sp>
        <p:nvSpPr>
          <p:cNvPr id="7" name="a381cf7f-8f49-4f56-a024-fd35b80df629"/>
          <p:cNvSpPr/>
          <p:nvPr/>
        </p:nvSpPr>
        <p:spPr>
          <a:xfrm>
            <a:off x="4754880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de3d5602-da0b-42a3-a020-094bf7921c9e"/>
          <p:cNvSpPr/>
          <p:nvPr/>
        </p:nvSpPr>
        <p:spPr>
          <a:xfrm>
            <a:off x="585216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2f02f54d-1d7b-46d4-9e84-fc52cce295b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72861" y="1924326"/>
            <a:ext cx="307238" cy="307238"/>
          </a:xfrm>
          <a:prstGeom prst="rect">
            <a:avLst/>
          </a:prstGeom>
        </p:spPr>
      </p:pic>
      <p:sp>
        <p:nvSpPr>
          <p:cNvPr id="10" name="c72aea9b-073f-4242-8805-5addff684e31"/>
          <p:cNvSpPr/>
          <p:nvPr/>
        </p:nvSpPr>
        <p:spPr>
          <a:xfrm>
            <a:off x="4828032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d4faf5bd-9580-4a65-b684-5074ede417b7"/>
          <p:cNvSpPr/>
          <p:nvPr/>
        </p:nvSpPr>
        <p:spPr>
          <a:xfrm>
            <a:off x="4846320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 · 9090</a:t>
            </a:r>
            <a:endParaRPr lang="en-US" sz="1100" dirty="0"/>
          </a:p>
        </p:txBody>
      </p:sp>
      <p:sp>
        <p:nvSpPr>
          <p:cNvPr id="12" name="f1d9c406-e8d8-434d-abeb-797756b099f6"/>
          <p:cNvSpPr/>
          <p:nvPr/>
        </p:nvSpPr>
        <p:spPr>
          <a:xfrm>
            <a:off x="8897112" y="1685050"/>
            <a:ext cx="2743200" cy="1569720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901a7ff9-9652-4c0a-8ba6-433ddc92fa27"/>
          <p:cNvSpPr/>
          <p:nvPr/>
        </p:nvSpPr>
        <p:spPr>
          <a:xfrm>
            <a:off x="999439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f4707bc8-a24c-434e-ab9e-13032329028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0115093" y="1924326"/>
            <a:ext cx="307238" cy="307238"/>
          </a:xfrm>
          <a:prstGeom prst="rect">
            <a:avLst/>
          </a:prstGeom>
        </p:spPr>
      </p:pic>
      <p:sp>
        <p:nvSpPr>
          <p:cNvPr id="15" name="3c7b1dda-e601-4d6c-a6e0-cab549df065e"/>
          <p:cNvSpPr/>
          <p:nvPr/>
        </p:nvSpPr>
        <p:spPr>
          <a:xfrm>
            <a:off x="8970264" y="2406272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9df2c0ef-59cc-4ae3-8350-998ad1a4caae"/>
          <p:cNvSpPr/>
          <p:nvPr/>
        </p:nvSpPr>
        <p:spPr>
          <a:xfrm>
            <a:off x="8988552" y="2788096"/>
            <a:ext cx="25603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 · 9093</a:t>
            </a:r>
            <a:endParaRPr lang="en-US" sz="1100" dirty="0"/>
          </a:p>
        </p:txBody>
      </p:sp>
      <p:sp>
        <p:nvSpPr>
          <p:cNvPr id="17" name="de7cf660-127a-435c-8ff1-92f88973d03e"/>
          <p:cNvSpPr/>
          <p:nvPr/>
        </p:nvSpPr>
        <p:spPr>
          <a:xfrm>
            <a:off x="4754880" y="3763868"/>
            <a:ext cx="2743200" cy="1272746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da9560c5-447d-40ac-bee2-8741010a661a"/>
          <p:cNvSpPr/>
          <p:nvPr/>
        </p:nvSpPr>
        <p:spPr>
          <a:xfrm>
            <a:off x="5852160" y="3891143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89d95d25-ae2c-41ee-b44d-798f57ee0565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5972861" y="4003144"/>
            <a:ext cx="307238" cy="307238"/>
          </a:xfrm>
          <a:prstGeom prst="rect">
            <a:avLst/>
          </a:prstGeom>
        </p:spPr>
      </p:pic>
      <p:sp>
        <p:nvSpPr>
          <p:cNvPr id="20" name="4d5be64b-d424-4c96-b449-a406b3946871"/>
          <p:cNvSpPr/>
          <p:nvPr/>
        </p:nvSpPr>
        <p:spPr>
          <a:xfrm>
            <a:off x="4828032" y="4485091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21" name="132a5504-dc63-4fd7-9018-c0caeb1f35b7"/>
          <p:cNvSpPr/>
          <p:nvPr/>
        </p:nvSpPr>
        <p:spPr>
          <a:xfrm>
            <a:off x="4846320" y="4866915"/>
            <a:ext cx="2560320" cy="127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</a:t>
            </a:r>
            <a:endParaRPr lang="en-US" sz="1100" dirty="0"/>
          </a:p>
        </p:txBody>
      </p:sp>
      <p:sp>
        <p:nvSpPr>
          <p:cNvPr id="22" name="d2a982d0-4182-4220-aa1d-6180089828cf"/>
          <p:cNvSpPr/>
          <p:nvPr/>
        </p:nvSpPr>
        <p:spPr>
          <a:xfrm>
            <a:off x="3291840" y="2448697"/>
            <a:ext cx="1463040" cy="0"/>
          </a:xfrm>
          <a:prstGeom prst="line">
            <a:avLst/>
          </a:prstGeom>
          <a:noFill/>
          <a:ln w="3175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23" name="c82ccbfd-702f-407b-8356-112a02b7d86d"/>
          <p:cNvSpPr/>
          <p:nvPr/>
        </p:nvSpPr>
        <p:spPr>
          <a:xfrm>
            <a:off x="3337560" y="1982024"/>
            <a:ext cx="1371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推指標</a:t>
            </a:r>
            <a:endParaRPr lang="en-US" sz="1200" dirty="0"/>
          </a:p>
        </p:txBody>
      </p:sp>
      <p:sp>
        <p:nvSpPr>
          <p:cNvPr id="24" name="a2ace526-542e-4bda-9da3-089c27239fc4"/>
          <p:cNvSpPr/>
          <p:nvPr/>
        </p:nvSpPr>
        <p:spPr>
          <a:xfrm>
            <a:off x="3337560" y="2533547"/>
            <a:ext cx="1371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25" name="c6f699f2-7897-4a4a-813f-5aa8820b9439"/>
          <p:cNvSpPr/>
          <p:nvPr/>
        </p:nvSpPr>
        <p:spPr>
          <a:xfrm>
            <a:off x="7498080" y="2448697"/>
            <a:ext cx="1399032" cy="0"/>
          </a:xfrm>
          <a:prstGeom prst="line">
            <a:avLst/>
          </a:prstGeom>
          <a:noFill/>
          <a:ln w="317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6" name="986fdbdd-e5e0-45ee-9b85-1c9087bbca3a"/>
          <p:cNvSpPr/>
          <p:nvPr/>
        </p:nvSpPr>
        <p:spPr>
          <a:xfrm>
            <a:off x="7543800" y="1982024"/>
            <a:ext cx="1325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送告警</a:t>
            </a:r>
            <a:endParaRPr lang="en-US" sz="1200" dirty="0"/>
          </a:p>
        </p:txBody>
      </p:sp>
      <p:sp>
        <p:nvSpPr>
          <p:cNvPr id="27" name="1911134a-52b7-4bc2-bac3-d1f81406c594"/>
          <p:cNvSpPr/>
          <p:nvPr/>
        </p:nvSpPr>
        <p:spPr>
          <a:xfrm>
            <a:off x="7543800" y="2533547"/>
            <a:ext cx="1325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28" name="9feb6502-4cfb-43d2-bb73-6a0c6eb9ff09"/>
          <p:cNvSpPr/>
          <p:nvPr/>
        </p:nvSpPr>
        <p:spPr>
          <a:xfrm flipV="1">
            <a:off x="6126480" y="3254770"/>
            <a:ext cx="0" cy="509098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9" name="73aa5a6a-dd2d-4c73-a801-dc15937e0468"/>
          <p:cNvSpPr/>
          <p:nvPr/>
        </p:nvSpPr>
        <p:spPr>
          <a:xfrm>
            <a:off x="6217920" y="3339619"/>
            <a:ext cx="15544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查指標 · 重載規則</a:t>
            </a:r>
            <a:endParaRPr lang="en-US" sz="1200" dirty="0"/>
          </a:p>
        </p:txBody>
      </p:sp>
      <p:sp>
        <p:nvSpPr>
          <p:cNvPr id="30" name="84c289a6-8463-4727-aeb0-4a62f2cfcc8a"/>
          <p:cNvSpPr/>
          <p:nvPr/>
        </p:nvSpPr>
        <p:spPr>
          <a:xfrm>
            <a:off x="6217920" y="3551744"/>
            <a:ext cx="155448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31" name="54e1d797-cd4e-429d-9ed9-af86c2850565"/>
          <p:cNvSpPr/>
          <p:nvPr/>
        </p:nvSpPr>
        <p:spPr>
          <a:xfrm flipV="1">
            <a:off x="7498080" y="3254770"/>
            <a:ext cx="2743200" cy="1018197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e6c01c11-2e9c-4c3a-a585-1a478172f258"/>
          <p:cNvSpPr/>
          <p:nvPr/>
        </p:nvSpPr>
        <p:spPr>
          <a:xfrm>
            <a:off x="8732520" y="4018417"/>
            <a:ext cx="237744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狀態 · 重載設定</a:t>
            </a:r>
            <a:endParaRPr lang="en-US" sz="1200" dirty="0"/>
          </a:p>
        </p:txBody>
      </p:sp>
      <p:sp>
        <p:nvSpPr>
          <p:cNvPr id="33" name="4794e74b-be84-4b72-afa1-193f16028121"/>
          <p:cNvSpPr/>
          <p:nvPr/>
        </p:nvSpPr>
        <p:spPr>
          <a:xfrm>
            <a:off x="8732520" y="4230542"/>
            <a:ext cx="2377440" cy="21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+ Basic</a:t>
            </a:r>
            <a:endParaRPr lang="en-US" sz="1000" dirty="0"/>
          </a:p>
        </p:txBody>
      </p:sp>
      <p:sp>
        <p:nvSpPr>
          <p:cNvPr id="34" name="a9da2a29-fb31-4ad4-b6f1-c24dd270eb61"/>
          <p:cNvSpPr/>
          <p:nvPr/>
        </p:nvSpPr>
        <p:spPr>
          <a:xfrm>
            <a:off x="548640" y="5206314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 Basic 不用 mTLS:客戶希望憑證越少越好,不另發 client 憑證</a:t>
            </a:r>
            <a:endParaRPr lang="en-US" sz="1100" dirty="0"/>
          </a:p>
        </p:txBody>
      </p:sp>
      <p:sp>
        <p:nvSpPr>
          <p:cNvPr id="35" name="0afc2177-441a-48e9-92db-75245ac01fa9"/>
          <p:cNvSpPr/>
          <p:nvPr/>
        </p:nvSpPr>
        <p:spPr>
          <a:xfrm>
            <a:off x="6199632" y="5206314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要補 prometheus、alertmanager(實測:否則主機名稱驗證失敗)</a:t>
            </a:r>
            <a:endParaRPr lang="en-US" sz="1100" dirty="0"/>
          </a:p>
        </p:txBody>
      </p:sp>
      <p:sp>
        <p:nvSpPr>
          <p:cNvPr id="36" name="1778c413-8872-4eb1-8df6-d5af842b68bd"/>
          <p:cNvSpPr/>
          <p:nvPr/>
        </p:nvSpPr>
        <p:spPr>
          <a:xfrm>
            <a:off x="548640" y="5672987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 的 alerting 要設 https + 帳密 + CA(官方頁未寫,實測必要)</a:t>
            </a:r>
            <a:endParaRPr lang="en-US" sz="1100" dirty="0"/>
          </a:p>
        </p:txBody>
      </p:sp>
      <p:sp>
        <p:nvSpPr>
          <p:cNvPr id="37" name="0511e69c-bb40-4a12-9a3b-d21e4a05733c"/>
          <p:cNvSpPr/>
          <p:nvPr/>
        </p:nvSpPr>
        <p:spPr>
          <a:xfrm>
            <a:off x="6199632" y="5672987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日誌會印出 Basic 標頭(Base64 即帳密)→ 日誌要保護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log:誰被拒、誰改了授權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預設只記錄 Management 與 Authorize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31a20bc-352c-48fa-bbc4-55b4e3f30b9e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" name="a55a08c0-43e1-4936-9746-cf52abe33f39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" name="3980d8f3-6743-4d82-b6df-c2eb9dc3dde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ec264eea-2819-4337-be6c-d62af3728bdc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6" name="725997bb-4608-45bd-8eea-38a1f9bb7534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5546db02-c470-44dc-8140-234b2d78da99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9e6adcd6-0343-4866-86ca-771252a539f8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6c7c3c9a-b35b-449b-aeab-a67238ed65d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489823c1-4d15-4bb4-b923-41e04ee5681f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508a75f0-6e1f-427f-83c3-23aac43aaca1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a0cf42f2-179b-4c6a-83ef-29825b6a7fd8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2d5ab152-bf76-4e2e-9328-51627cd0e206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8053e88b-fe30-4b0c-84e8-84b371c7d51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1640e455-1fb6-4ece-b9fc-bcf6288db8ec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b32f43e1-45c4-46b8-ba59-21ceb6c90304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86415e96-9642-4a0b-b36b-1ba51da0ba8d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4144a536-a318-430d-b89a-c7f34b7a8249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166d9171-c9cd-49aa-bb95-3535ec66bb8f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9d09c853-5571-4cc4-96db-3fbe85c8b17b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43cb0277-d94d-4959-870b-61a1ce7cad3d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3f69c66d-158e-4059-b358-c49215e88de6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5cf4c357-377c-4370-8856-520a4205b011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整合起來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全景 · 人與機器的完整路徑 · 要管理的憑證 · 導入步驟 · 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全景整合圖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人與機器如何進入,由 MDS 的 RBAC 集中判斷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eacafdb-00be-4968-93d1-4a5216a4dca9"/>
          <p:cNvSpPr/>
          <p:nvPr/>
        </p:nvSpPr>
        <p:spPr>
          <a:xfrm>
            <a:off x="457200" y="1642625"/>
            <a:ext cx="2560320" cy="1824269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10dd4a3f-a818-4969-acce-722e79fbd67b"/>
          <p:cNvSpPr/>
          <p:nvPr/>
        </p:nvSpPr>
        <p:spPr>
          <a:xfrm>
            <a:off x="594360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d5afcb09-0e83-4b1f-afc9-d5e0674e0c6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5178" y="1900568"/>
            <a:ext cx="358445" cy="358445"/>
          </a:xfrm>
          <a:prstGeom prst="rect">
            <a:avLst/>
          </a:prstGeom>
        </p:spPr>
      </p:pic>
      <p:sp>
        <p:nvSpPr>
          <p:cNvPr id="5" name="e127dd17-e523-48d3-a339-1e55550bf2b8"/>
          <p:cNvSpPr/>
          <p:nvPr/>
        </p:nvSpPr>
        <p:spPr>
          <a:xfrm>
            <a:off x="1325880" y="1769899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800" dirty="0"/>
          </a:p>
        </p:txBody>
      </p:sp>
      <p:sp>
        <p:nvSpPr>
          <p:cNvPr id="6" name="f1e54c3f-bc54-4567-bdd8-0aea825f08ab"/>
          <p:cNvSpPr/>
          <p:nvPr/>
        </p:nvSpPr>
        <p:spPr>
          <a:xfrm>
            <a:off x="594360" y="2491122"/>
            <a:ext cx="233172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身分來自 AD</a:t>
            </a:r>
            <a:endParaRPr lang="en-US" sz="1200" dirty="0"/>
          </a:p>
        </p:txBody>
      </p:sp>
      <p:sp>
        <p:nvSpPr>
          <p:cNvPr id="7" name="2715df1b-ce7e-4ed0-ac57-144b2b176423"/>
          <p:cNvSpPr/>
          <p:nvPr/>
        </p:nvSpPr>
        <p:spPr>
          <a:xfrm>
            <a:off x="457200" y="3721443"/>
            <a:ext cx="2560320" cy="18666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81402c3a-eed0-49b6-a1b1-9523410c6efb"/>
          <p:cNvSpPr/>
          <p:nvPr/>
        </p:nvSpPr>
        <p:spPr>
          <a:xfrm>
            <a:off x="594360" y="38487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03b52d91-9b80-417f-83f0-15563f7d077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5178" y="3979386"/>
            <a:ext cx="358445" cy="358445"/>
          </a:xfrm>
          <a:prstGeom prst="rect">
            <a:avLst/>
          </a:prstGeom>
        </p:spPr>
      </p:pic>
      <p:sp>
        <p:nvSpPr>
          <p:cNvPr id="10" name="08896b82-dbb5-434b-8916-ea2f840b2935"/>
          <p:cNvSpPr/>
          <p:nvPr/>
        </p:nvSpPr>
        <p:spPr>
          <a:xfrm>
            <a:off x="1325880" y="3848718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1800" dirty="0"/>
          </a:p>
        </p:txBody>
      </p:sp>
      <p:sp>
        <p:nvSpPr>
          <p:cNvPr id="11" name="d3e5f868-5531-411e-b612-59c23d2def05"/>
          <p:cNvSpPr/>
          <p:nvPr/>
        </p:nvSpPr>
        <p:spPr>
          <a:xfrm>
            <a:off x="594360" y="4569941"/>
            <a:ext cx="233172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連 Kafka;憑證連 REST Proxy</a:t>
            </a:r>
            <a:endParaRPr lang="en-US" sz="1200" dirty="0"/>
          </a:p>
        </p:txBody>
      </p:sp>
      <p:sp>
        <p:nvSpPr>
          <p:cNvPr id="12" name="a519d6bc-7d9f-42a7-b8ca-5c826731662e"/>
          <p:cNvSpPr/>
          <p:nvPr/>
        </p:nvSpPr>
        <p:spPr>
          <a:xfrm>
            <a:off x="3611880" y="1642625"/>
            <a:ext cx="2331720" cy="3945512"/>
          </a:xfrm>
          <a:prstGeom prst="roundRect">
            <a:avLst>
              <a:gd name="adj" fmla="val 9000"/>
            </a:avLst>
          </a:prstGeom>
          <a:solidFill>
            <a:srgbClr val="0F9ED5">
              <a:alpha val="12000"/>
            </a:srgbClr>
          </a:solidFill>
          <a:ln w="19050">
            <a:solidFill>
              <a:srgbClr val="0F9ED5"/>
            </a:solidFill>
            <a:prstDash val="solid"/>
          </a:ln>
        </p:spPr>
      </p:sp>
      <p:sp>
        <p:nvSpPr>
          <p:cNvPr id="13" name="644c1d5a-87cb-4096-becc-09a51acb314c"/>
          <p:cNvSpPr/>
          <p:nvPr/>
        </p:nvSpPr>
        <p:spPr>
          <a:xfrm>
            <a:off x="3611880" y="1702020"/>
            <a:ext cx="2331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F9ED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入口</a:t>
            </a:r>
            <a:endParaRPr lang="en-US" sz="1500" dirty="0"/>
          </a:p>
        </p:txBody>
      </p:sp>
      <p:sp>
        <p:nvSpPr>
          <p:cNvPr id="14" name="895283b2-4efc-4d99-859d-d466df1f1285"/>
          <p:cNvSpPr/>
          <p:nvPr/>
        </p:nvSpPr>
        <p:spPr>
          <a:xfrm>
            <a:off x="3794760" y="2109298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→ token</a:t>
            </a:r>
            <a:endParaRPr lang="en-US" sz="1300" dirty="0"/>
          </a:p>
        </p:txBody>
      </p:sp>
      <p:sp>
        <p:nvSpPr>
          <p:cNvPr id="15" name="59e3db16-bbc9-40fc-9f7c-f499acf8090a"/>
          <p:cNvSpPr/>
          <p:nvPr/>
        </p:nvSpPr>
        <p:spPr>
          <a:xfrm>
            <a:off x="3794760" y="3339619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app:憑證</a:t>
            </a:r>
            <a:endParaRPr lang="en-US" sz="1300" dirty="0"/>
          </a:p>
        </p:txBody>
      </p:sp>
      <p:sp>
        <p:nvSpPr>
          <p:cNvPr id="16" name="ab76d4fd-5b53-47a3-9b50-59a0ae6ace8b"/>
          <p:cNvSpPr/>
          <p:nvPr/>
        </p:nvSpPr>
        <p:spPr>
          <a:xfrm>
            <a:off x="3794760" y="4569941"/>
            <a:ext cx="196596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應用:SCRAM</a:t>
            </a:r>
            <a:endParaRPr lang="en-US" sz="1300" dirty="0"/>
          </a:p>
        </p:txBody>
      </p:sp>
      <p:sp>
        <p:nvSpPr>
          <p:cNvPr id="17" name="ad83861a-3985-4eb2-b5a3-5ab52ca6eb50"/>
          <p:cNvSpPr/>
          <p:nvPr/>
        </p:nvSpPr>
        <p:spPr>
          <a:xfrm>
            <a:off x="3017520" y="2703246"/>
            <a:ext cx="59436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8" name="e35b47e1-c880-4ef1-b28b-ed400f959ac6"/>
          <p:cNvSpPr/>
          <p:nvPr/>
        </p:nvSpPr>
        <p:spPr>
          <a:xfrm>
            <a:off x="3017520" y="4654790"/>
            <a:ext cx="594360" cy="0"/>
          </a:xfrm>
          <a:prstGeom prst="line">
            <a:avLst/>
          </a:prstGeom>
          <a:noFill/>
          <a:ln w="381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524adccc-8e4b-4ff6-8d8d-b2316feba706"/>
          <p:cNvSpPr/>
          <p:nvPr/>
        </p:nvSpPr>
        <p:spPr>
          <a:xfrm>
            <a:off x="6492240" y="1642625"/>
            <a:ext cx="3566160" cy="3945512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0" name="895912c2-30b8-4705-82e9-9c23fa76080c"/>
          <p:cNvSpPr/>
          <p:nvPr/>
        </p:nvSpPr>
        <p:spPr>
          <a:xfrm>
            <a:off x="6675120" y="1702020"/>
            <a:ext cx="32004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21" name="94a69d54-41a7-4bff-a1d7-5374413a6e09"/>
          <p:cNvSpPr/>
          <p:nvPr/>
        </p:nvSpPr>
        <p:spPr>
          <a:xfrm>
            <a:off x="6675120" y="2109298"/>
            <a:ext cx="150876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2" name="8fe8e948-9d5b-40dc-8ce3-7a9a74b75486"/>
          <p:cNvSpPr/>
          <p:nvPr/>
        </p:nvSpPr>
        <p:spPr>
          <a:xfrm>
            <a:off x="8275320" y="2109298"/>
            <a:ext cx="160020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3" name="9c22be66-2006-4ee5-9f02-9b24927c9507"/>
          <p:cNvSpPr/>
          <p:nvPr/>
        </p:nvSpPr>
        <p:spPr>
          <a:xfrm>
            <a:off x="6675120" y="3424469"/>
            <a:ext cx="3200400" cy="6787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controller(正式 3 個)</a:t>
            </a:r>
            <a:endParaRPr lang="en-US" sz="1250" dirty="0"/>
          </a:p>
        </p:txBody>
      </p:sp>
      <p:sp>
        <p:nvSpPr>
          <p:cNvPr id="24" name="36f66bbd-fd4d-4427-a10b-133d5326fc67"/>
          <p:cNvSpPr/>
          <p:nvPr/>
        </p:nvSpPr>
        <p:spPr>
          <a:xfrm>
            <a:off x="6675120" y="4315391"/>
            <a:ext cx="320040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本地 cache</a:t>
            </a:r>
            <a:endParaRPr lang="en-US" sz="1300" dirty="0"/>
          </a:p>
        </p:txBody>
      </p:sp>
      <p:sp>
        <p:nvSpPr>
          <p:cNvPr id="25" name="01ddd1ae-e5dd-4a45-8f84-89c2058a98d4"/>
          <p:cNvSpPr/>
          <p:nvPr/>
        </p:nvSpPr>
        <p:spPr>
          <a:xfrm>
            <a:off x="5943600" y="3594169"/>
            <a:ext cx="54864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3c1ea05b-2731-4d77-95eb-6ccc0a8ba121"/>
          <p:cNvSpPr/>
          <p:nvPr/>
        </p:nvSpPr>
        <p:spPr>
          <a:xfrm>
            <a:off x="10607040" y="1642625"/>
            <a:ext cx="1143000" cy="1612145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ab358ad8-79da-42ed-acbe-3a0bc12a6fa1"/>
          <p:cNvSpPr/>
          <p:nvPr/>
        </p:nvSpPr>
        <p:spPr>
          <a:xfrm>
            <a:off x="10863072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a0472abc-6b84-4156-be86-a39733ce221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1003890" y="1900568"/>
            <a:ext cx="358445" cy="358445"/>
          </a:xfrm>
          <a:prstGeom prst="rect">
            <a:avLst/>
          </a:prstGeom>
        </p:spPr>
      </p:pic>
      <p:sp>
        <p:nvSpPr>
          <p:cNvPr id="29" name="f01d544c-cf33-4f5a-b3df-6dcd59e337bd"/>
          <p:cNvSpPr/>
          <p:nvPr/>
        </p:nvSpPr>
        <p:spPr>
          <a:xfrm>
            <a:off x="10607040" y="2491122"/>
            <a:ext cx="11430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</a:t>
            </a:r>
            <a:endParaRPr lang="en-US" sz="1400" dirty="0"/>
          </a:p>
        </p:txBody>
      </p:sp>
      <p:sp>
        <p:nvSpPr>
          <p:cNvPr id="30" name="7dfa3f1a-ba45-4216-98a3-ffce4b917bbc"/>
          <p:cNvSpPr/>
          <p:nvPr/>
        </p:nvSpPr>
        <p:spPr>
          <a:xfrm>
            <a:off x="10058400" y="2448697"/>
            <a:ext cx="54864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d69ccd1e-c65a-49a4-8558-2df1065e1ec9"/>
          <p:cNvSpPr/>
          <p:nvPr/>
        </p:nvSpPr>
        <p:spPr>
          <a:xfrm>
            <a:off x="10607040" y="3551744"/>
            <a:ext cx="1143000" cy="20363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2" name="7afe321e-f08b-45eb-83b5-d80bab77dcce"/>
          <p:cNvSpPr/>
          <p:nvPr/>
        </p:nvSpPr>
        <p:spPr>
          <a:xfrm>
            <a:off x="10863072" y="36790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3" name="10878d2f-c6ba-41b6-9262-44855d52dce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1003890" y="3809687"/>
            <a:ext cx="358445" cy="358445"/>
          </a:xfrm>
          <a:prstGeom prst="rect">
            <a:avLst/>
          </a:prstGeom>
        </p:spPr>
      </p:pic>
      <p:sp>
        <p:nvSpPr>
          <p:cNvPr id="34" name="a5f0563f-4725-4b94-924d-f49547cd5589"/>
          <p:cNvSpPr/>
          <p:nvPr/>
        </p:nvSpPr>
        <p:spPr>
          <a:xfrm>
            <a:off x="10607040" y="4357816"/>
            <a:ext cx="114300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(C3 用)</a:t>
            </a:r>
            <a:endParaRPr lang="en-US" sz="1000" dirty="0"/>
          </a:p>
        </p:txBody>
      </p:sp>
      <p:sp>
        <p:nvSpPr>
          <p:cNvPr id="35" name="1bb87bc5-bf9e-4c0e-97b9-10a95b35fe35"/>
          <p:cNvSpPr/>
          <p:nvPr/>
        </p:nvSpPr>
        <p:spPr>
          <a:xfrm>
            <a:off x="457200" y="5800262"/>
            <a:ext cx="91440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100" dirty="0"/>
          </a:p>
        </p:txBody>
      </p:sp>
      <p:sp>
        <p:nvSpPr>
          <p:cNvPr id="36" name="4149f4b1-2976-4f83-9ef2-108d5159f3bc"/>
          <p:cNvSpPr/>
          <p:nvPr/>
        </p:nvSpPr>
        <p:spPr>
          <a:xfrm>
            <a:off x="1508760" y="5800262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 / 服務</a:t>
            </a:r>
            <a:endParaRPr lang="en-US" sz="1100" dirty="0"/>
          </a:p>
        </p:txBody>
      </p:sp>
      <p:sp>
        <p:nvSpPr>
          <p:cNvPr id="37" name="1370c281-2156-4fdd-96b5-50efafa06130"/>
          <p:cNvSpPr/>
          <p:nvPr/>
        </p:nvSpPr>
        <p:spPr>
          <a:xfrm>
            <a:off x="32004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 / 平台</a:t>
            </a:r>
            <a:endParaRPr lang="en-US" sz="1100" dirty="0"/>
          </a:p>
        </p:txBody>
      </p:sp>
      <p:sp>
        <p:nvSpPr>
          <p:cNvPr id="38" name="26603aa3-2012-4871-871f-4db353800c28"/>
          <p:cNvSpPr/>
          <p:nvPr/>
        </p:nvSpPr>
        <p:spPr>
          <a:xfrm>
            <a:off x="48006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100" dirty="0"/>
          </a:p>
        </p:txBody>
      </p:sp>
      <p:sp>
        <p:nvSpPr>
          <p:cNvPr id="39" name="ec86c65c-48d5-4229-803f-d72af0a23cad"/>
          <p:cNvSpPr/>
          <p:nvPr/>
        </p:nvSpPr>
        <p:spPr>
          <a:xfrm>
            <a:off x="6583680" y="5800262"/>
            <a:ext cx="5120640" cy="3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授權集中在 MDS 的 RBAC;人綁 AD 群組,服務綁 User: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三條路徑,同一套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73e0f6f-4336-4bbf-81ad-e71982c39826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b6593d76-dc38-4ef1-bd70-e130da1a81ae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d9de8225-1d54-4475-b8a4-3ced3dd6808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7b2974a1-45c2-4788-bdf6-adf3e3999a5f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6" name="bdd4bee4-de1e-4f74-afc8-82eda2e09348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3b2f94e2-12be-4fbb-980a-eafe48085145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929975df-f75c-4312-a7c5-2322e0c9dc39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(JWT,壽命可設)</a:t>
            </a:r>
            <a:endParaRPr lang="en-US" sz="1100" dirty="0"/>
          </a:p>
        </p:txBody>
      </p:sp>
      <p:sp>
        <p:nvSpPr>
          <p:cNvPr id="9" name="e6249ec5-298e-4153-a93a-c0ef367684de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bf9d7c47-c842-43e8-b688-703421550a4b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5158688c-fbac-44ac-af43-b604040b78a7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5fe1e00a-9754-4989-bd60-ce6862be6279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b4b7fa9f-a3b9-435f-856c-944c125e3d02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91f20ea2-b5cb-4609-87c6-bf60768ae658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b0787604-4b2e-426f-98ab-52ed905364d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e1c58d7a-4695-45ec-806e-c5108b974043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6525a5f7-8f2c-4c96-a563-b38de6be1761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aebf3fdc-aac6-461b-82bf-b55891b90c15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f07ac3ca-2043-4d27-bce5-92082935902a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驗證密碼</a:t>
            </a:r>
            <a:endParaRPr lang="en-US" sz="1100" dirty="0"/>
          </a:p>
        </p:txBody>
      </p:sp>
      <p:sp>
        <p:nvSpPr>
          <p:cNvPr id="20" name="eb9cc361-5078-4c15-806b-3df2b8117c3a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38d55707-4ff8-4658-8f13-d478f2058d74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本人帳號</a:t>
            </a:r>
            <a:endParaRPr lang="en-US" sz="1100" dirty="0"/>
          </a:p>
        </p:txBody>
      </p:sp>
      <p:sp>
        <p:nvSpPr>
          <p:cNvPr id="22" name="4b7eeeed-042b-4f02-bdeb-ee717741c61d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9d0abeb9-c373-4aae-b9b8-0efb301fdb10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4" name="138ce2d9-9d79-450c-8e6d-a0e502d265f4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c7796492-fc37-40bd-bfaf-55a8cfb1727c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d1ff3f8c-f6dc-4f45-85c1-6312678cb2c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1832fb6f-b741-48df-8ae7-fc8de9a1ded2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31f7a576-8466-4ffd-90f7-ce23659708e8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fc066e07-d6bb-4989-8641-2b59743db885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82e289eb-da55-4e2d-b850-c299201d51a1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9aed6815-83f7-465c-a41f-ce73206ff0b9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5a0edcc2-61b0-4b5e-9a27-449c7d2e9844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ae2fcd63-58c0-4896-934b-c99cd65fa399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9ed227ad-4e19-429e-85b0-0bb2c2cb3cb9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5e16a589-7cce-43ee-b234-df1f0fb900bb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三條路徑最後都由 RBAC 依「AD 群組」授權並留 audit:人員異動只改 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機器的完整路徑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身分在 Kafka 內或憑證,RBAC 綁 User: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d7b4314-bfb4-4551-9339-3fd35aa6854b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03f56112-b19a-4d6f-8c1d-91495f984108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92f1a7f6-93c5-4f4c-a957-a75f7a45547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16840adf-bb6d-4c0d-b783-8c3a816ee4b3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400" dirty="0"/>
          </a:p>
        </p:txBody>
      </p:sp>
      <p:sp>
        <p:nvSpPr>
          <p:cNvPr id="6" name="9759f56d-57f9-4d98-9596-2db993f50266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</a:t>
            </a:r>
            <a:endParaRPr lang="en-US" sz="1100" dirty="0"/>
          </a:p>
        </p:txBody>
      </p:sp>
      <p:sp>
        <p:nvSpPr>
          <p:cNvPr id="7" name="a21bc5fe-4fce-4ddc-bbdd-3317e7d8c63f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afcb170a-feb7-4f8d-a820-4f91e61d89a9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(帳密在 KRaft)</a:t>
            </a:r>
            <a:endParaRPr lang="en-US" sz="1100" dirty="0"/>
          </a:p>
        </p:txBody>
      </p:sp>
      <p:sp>
        <p:nvSpPr>
          <p:cNvPr id="9" name="5dfa55d7-8fcd-475f-a5c5-fed0f3a11a72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0c13051a-40dd-45f8-9147-71b2594fd95a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svc-x</a:t>
            </a:r>
            <a:endParaRPr lang="en-US" sz="1100" dirty="0"/>
          </a:p>
        </p:txBody>
      </p:sp>
      <p:sp>
        <p:nvSpPr>
          <p:cNvPr id="11" name="3028e90c-f73e-447a-996d-91ea0f02eb2a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883b5646-46c8-4ebd-9d5c-0ec14bfe703d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User:svc-x</a:t>
            </a:r>
            <a:endParaRPr lang="en-US" sz="1100" dirty="0"/>
          </a:p>
        </p:txBody>
      </p:sp>
      <p:sp>
        <p:nvSpPr>
          <p:cNvPr id="13" name="072c1761-f323-4411-a55d-19a459244d57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4" name="7e4fd917-7f66-4d69-a84e-23bc4c57eeea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8990bfe1-e632-4dc4-a925-16b0c778183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0ffae27e-b241-4946-8997-4514cac4785a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</a:t>
            </a:r>
            <a:endParaRPr lang="en-US" sz="1400" dirty="0"/>
          </a:p>
        </p:txBody>
      </p:sp>
      <p:sp>
        <p:nvSpPr>
          <p:cNvPr id="17" name="b9b0b0b7-aed2-417e-b5c6-f90f75dde3cf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 = 主體)</a:t>
            </a:r>
            <a:endParaRPr lang="en-US" sz="1100" dirty="0"/>
          </a:p>
        </p:txBody>
      </p:sp>
      <p:sp>
        <p:nvSpPr>
          <p:cNvPr id="18" name="3d0e5d84-dbbd-4594-ae5c-0c4da6020124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aa3dad74-9d93-4526-95f8-e27ed39c8693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/impersonate</a:t>
            </a:r>
            <a:endParaRPr lang="en-US" sz="1100" dirty="0"/>
          </a:p>
        </p:txBody>
      </p:sp>
      <p:sp>
        <p:nvSpPr>
          <p:cNvPr id="20" name="383c7187-7872-427c-baac-c2d24268682a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b5852ece-9d3b-42bd-b53d-25250df14210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</p:txBody>
      </p:sp>
      <p:sp>
        <p:nvSpPr>
          <p:cNvPr id="22" name="ba44e43a-ae46-4cd8-b6ea-6058fd9b5b8a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3" name="c2e358ff-b67a-4086-bf05-a8330ec9583f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User:app</a:t>
            </a:r>
            <a:endParaRPr lang="en-US" sz="1100" dirty="0"/>
          </a:p>
        </p:txBody>
      </p:sp>
      <p:sp>
        <p:nvSpPr>
          <p:cNvPr id="24" name="bee2a62a-6162-42f7-8440-7916ff4f97de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5" name="854a7d40-60ec-4337-9e68-cae3a940849a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83bdcda8-4979-4531-b7d2-9ed0b53b4b1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68f81dbf-e23b-441c-9012-03aef4ed7af7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</a:t>
            </a:r>
            <a:endParaRPr lang="en-US" sz="1400" dirty="0"/>
          </a:p>
        </p:txBody>
      </p:sp>
      <p:sp>
        <p:nvSpPr>
          <p:cNvPr id="28" name="d37a4515-cf92-40e9-94d9-a444b53333af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(CN=c3 / restproxy)</a:t>
            </a:r>
            <a:endParaRPr lang="en-US" sz="1100" dirty="0"/>
          </a:p>
        </p:txBody>
      </p:sp>
      <p:sp>
        <p:nvSpPr>
          <p:cNvPr id="29" name="1024990c-ba75-45f8-bd3e-1e6b54f63584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0" name="b28e625c-9373-4a8d-bf6c-a7082570f50f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換 token</a:t>
            </a:r>
            <a:endParaRPr lang="en-US" sz="1100" dirty="0"/>
          </a:p>
        </p:txBody>
      </p:sp>
      <p:sp>
        <p:nvSpPr>
          <p:cNvPr id="31" name="25d99f78-7eb9-44e2-9850-45ced890b2a8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2" name="1d95a829-6647-401f-a4c0-43be12402905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C3:SystemAdmin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Proxy:專屬 role</a:t>
            </a:r>
            <a:endParaRPr lang="en-US" sz="1100" dirty="0"/>
          </a:p>
        </p:txBody>
      </p:sp>
      <p:sp>
        <p:nvSpPr>
          <p:cNvPr id="33" name="c1a7732f-dcbf-4226-a5b0-4876c8b8445a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4" name="e3fdcc97-098d-4753-918f-dc695644c3ab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防被冒充</a:t>
            </a:r>
            <a:endParaRPr lang="en-US" sz="1100" dirty="0"/>
          </a:p>
        </p:txBody>
      </p:sp>
      <p:sp>
        <p:nvSpPr>
          <p:cNvPr id="35" name="06920ae6-404b-495e-ae95-5fd1d806df42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機器不進 AD:身分在 Kafka 內(SCRAM)或憑證(CN),RBAC 綁 User:,授權事件皆留 audit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客戶實際要維運的清單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3" name="9ada4273-430c-4c45-8020-9795eaed70d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 / 備註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所有節點 secrets 目錄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涵蓋全部;逐台換;換 CA 時 truststore 先信任新舊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3(c3 · restproxy · bootstrap)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對應主機;bootstrap 離線保管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CN,CN 不變則不用重綁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可省:若客戶能建專用 AD 帳號,改 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token 簽章金鑰對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私鑰:MDS broker 與 controller;公鑰:broker · REST Proxy · C3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 = 可偽造 token;輪替未驗證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內;密碼放密碼庫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密碼不自動到期 → 輪替流程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唯讀帳號與 LDAPS 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 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設定(權限 600)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 user / group OU;建議 LDAPS;AD 憑證更換時更新信任庫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內部與 break-glass 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+ JAAS 設定檔;bootstrap 密碼封存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kafka-broker · kafka-controller · bootstrap(break-glass);輪替未驗證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人員異動只改 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8e9a9e12-40cf-4656-8cc7-301205587fcd"/>
          <p:cNvSpPr/>
          <p:nvPr/>
        </p:nvSpPr>
        <p:spPr>
          <a:xfrm>
            <a:off x="548640" y="584268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最少化:1 server 憑證 + 2 長期 client 憑證 + 1 備用(bootstrap)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導入步驟(RHEL 9 手動部署)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Ansible:先標準化手動流程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a60f213-a628-4e94-8ff8-b1dbe5b2f876"/>
          <p:cNvSpPr/>
          <p:nvPr/>
        </p:nvSpPr>
        <p:spPr>
          <a:xfrm>
            <a:off x="5486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c613900-2037-48ac-9247-ad3f9bce2a84"/>
          <p:cNvSpPr/>
          <p:nvPr/>
        </p:nvSpPr>
        <p:spPr>
          <a:xfrm>
            <a:off x="11887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4dbe3f28-2110-4ded-9b8b-8691f1058c17"/>
          <p:cNvSpPr/>
          <p:nvPr/>
        </p:nvSpPr>
        <p:spPr>
          <a:xfrm>
            <a:off x="10972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3c3abe73-3544-42fc-9115-e0d92448ab7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28039" y="2485183"/>
            <a:ext cx="332842" cy="332842"/>
          </a:xfrm>
          <a:prstGeom prst="rect">
            <a:avLst/>
          </a:prstGeom>
        </p:spPr>
      </p:pic>
      <p:sp>
        <p:nvSpPr>
          <p:cNvPr id="6" name="c494dd28-06d9-416d-a89b-5e456178a3c0"/>
          <p:cNvSpPr/>
          <p:nvPr/>
        </p:nvSpPr>
        <p:spPr>
          <a:xfrm>
            <a:off x="6217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憑證與 truststore</a:t>
            </a:r>
            <a:endParaRPr lang="en-US" sz="1250" dirty="0"/>
          </a:p>
        </p:txBody>
      </p:sp>
      <p:sp>
        <p:nvSpPr>
          <p:cNvPr id="7" name="4a2cc9cd-8a2a-4698-8629-d215835efbfb"/>
          <p:cNvSpPr/>
          <p:nvPr/>
        </p:nvSpPr>
        <p:spPr>
          <a:xfrm>
            <a:off x="6400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AD 的 LDAPS CA 與 MDS 金鑰對</a:t>
            </a:r>
            <a:endParaRPr lang="en-US" sz="1050" dirty="0"/>
          </a:p>
        </p:txBody>
      </p:sp>
      <p:sp>
        <p:nvSpPr>
          <p:cNvPr id="8" name="e0319ae4-4176-46ee-9445-db0cc6534169"/>
          <p:cNvSpPr/>
          <p:nvPr/>
        </p:nvSpPr>
        <p:spPr>
          <a:xfrm>
            <a:off x="224028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57c7bb0c-22a8-475c-8acf-2bf51b60279b"/>
          <p:cNvSpPr/>
          <p:nvPr/>
        </p:nvSpPr>
        <p:spPr>
          <a:xfrm>
            <a:off x="242316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0" name="73b57618-7c84-4626-8136-364ea547d177"/>
          <p:cNvSpPr/>
          <p:nvPr/>
        </p:nvSpPr>
        <p:spPr>
          <a:xfrm>
            <a:off x="306324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79102848-f1d4-457a-8d42-79aa37a1f014"/>
          <p:cNvSpPr/>
          <p:nvPr/>
        </p:nvSpPr>
        <p:spPr>
          <a:xfrm>
            <a:off x="297180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71248c5d-698f-4740-b321-cb4f51640c6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102559" y="2485183"/>
            <a:ext cx="332842" cy="332842"/>
          </a:xfrm>
          <a:prstGeom prst="rect">
            <a:avLst/>
          </a:prstGeom>
        </p:spPr>
      </p:pic>
      <p:sp>
        <p:nvSpPr>
          <p:cNvPr id="13" name="a516b7c4-5fcd-4561-8c90-77444121d6b3"/>
          <p:cNvSpPr/>
          <p:nvPr/>
        </p:nvSpPr>
        <p:spPr>
          <a:xfrm>
            <a:off x="249631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a928fd8e-979b-4fd3-8ee8-39897dfbd9bf"/>
          <p:cNvSpPr/>
          <p:nvPr/>
        </p:nvSpPr>
        <p:spPr>
          <a:xfrm>
            <a:off x="251460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format + add-scram</a:t>
            </a:r>
            <a:endParaRPr lang="en-US" sz="1050" dirty="0"/>
          </a:p>
        </p:txBody>
      </p:sp>
      <p:sp>
        <p:nvSpPr>
          <p:cNvPr id="15" name="c0f2fe18-dff0-4deb-8c83-e3275b452570"/>
          <p:cNvSpPr/>
          <p:nvPr/>
        </p:nvSpPr>
        <p:spPr>
          <a:xfrm>
            <a:off x="411480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3c2ce8e2-98b1-432f-b715-fa4da85eefce"/>
          <p:cNvSpPr/>
          <p:nvPr/>
        </p:nvSpPr>
        <p:spPr>
          <a:xfrm>
            <a:off x="429768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7" name="9af9698b-010f-4c2f-bb47-417f552cf429"/>
          <p:cNvSpPr/>
          <p:nvPr/>
        </p:nvSpPr>
        <p:spPr>
          <a:xfrm>
            <a:off x="493776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70cad592-4b6b-4f5f-bdbc-e788cf164717"/>
          <p:cNvSpPr/>
          <p:nvPr/>
        </p:nvSpPr>
        <p:spPr>
          <a:xfrm>
            <a:off x="484632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7038e1c8-c562-4b18-bf95-c4b5c88ee31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977079" y="2485183"/>
            <a:ext cx="332842" cy="332842"/>
          </a:xfrm>
          <a:prstGeom prst="rect">
            <a:avLst/>
          </a:prstGeom>
        </p:spPr>
      </p:pic>
      <p:sp>
        <p:nvSpPr>
          <p:cNvPr id="20" name="872d5e7c-9ece-4f19-94b9-99c5bae810cc"/>
          <p:cNvSpPr/>
          <p:nvPr/>
        </p:nvSpPr>
        <p:spPr>
          <a:xfrm>
            <a:off x="437083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+ MDS + LDAP</a:t>
            </a:r>
            <a:endParaRPr lang="en-US" sz="1250" dirty="0"/>
          </a:p>
        </p:txBody>
      </p:sp>
      <p:sp>
        <p:nvSpPr>
          <p:cNvPr id="21" name="e046e5da-d737-4f31-8708-8f7e82001c31"/>
          <p:cNvSpPr/>
          <p:nvPr/>
        </p:nvSpPr>
        <p:spPr>
          <a:xfrm>
            <a:off x="438912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三個入口</a:t>
            </a:r>
            <a:endParaRPr lang="en-US" sz="1050" dirty="0"/>
          </a:p>
        </p:txBody>
      </p:sp>
      <p:sp>
        <p:nvSpPr>
          <p:cNvPr id="22" name="91204d5c-a38a-41ad-8a45-2ba2ff0f8324"/>
          <p:cNvSpPr/>
          <p:nvPr/>
        </p:nvSpPr>
        <p:spPr>
          <a:xfrm>
            <a:off x="598932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8dae1c1c-11d5-4ab5-9712-7b0f8bb0f7f5"/>
          <p:cNvSpPr/>
          <p:nvPr/>
        </p:nvSpPr>
        <p:spPr>
          <a:xfrm>
            <a:off x="617220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05db5957-67c1-4051-a259-18aa8bf5d919"/>
          <p:cNvSpPr/>
          <p:nvPr/>
        </p:nvSpPr>
        <p:spPr>
          <a:xfrm>
            <a:off x="681228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263aec76-ee10-44e6-8180-80eb1cfefab7"/>
          <p:cNvSpPr/>
          <p:nvPr/>
        </p:nvSpPr>
        <p:spPr>
          <a:xfrm>
            <a:off x="672084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cdab1dda-dc44-4790-b5f4-942ddaa628a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851599" y="2485183"/>
            <a:ext cx="332842" cy="332842"/>
          </a:xfrm>
          <a:prstGeom prst="rect">
            <a:avLst/>
          </a:prstGeom>
        </p:spPr>
      </p:pic>
      <p:sp>
        <p:nvSpPr>
          <p:cNvPr id="27" name="5eb1ee5c-eab3-4eb9-bcfb-e55420eab0e4"/>
          <p:cNvSpPr/>
          <p:nvPr/>
        </p:nvSpPr>
        <p:spPr>
          <a:xfrm>
            <a:off x="624535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第一批 role binding</a:t>
            </a:r>
            <a:endParaRPr lang="en-US" sz="1250" dirty="0"/>
          </a:p>
        </p:txBody>
      </p:sp>
      <p:sp>
        <p:nvSpPr>
          <p:cNvPr id="28" name="64ece374-ff7f-4487-98f7-5d3a24e0c65b"/>
          <p:cNvSpPr/>
          <p:nvPr/>
        </p:nvSpPr>
        <p:spPr>
          <a:xfrm>
            <a:off x="626364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→ kafka-admins</a:t>
            </a:r>
            <a:endParaRPr lang="en-US" sz="1050" dirty="0"/>
          </a:p>
        </p:txBody>
      </p:sp>
      <p:sp>
        <p:nvSpPr>
          <p:cNvPr id="29" name="b3e08415-077f-4333-ba86-31e67cc3cdc6"/>
          <p:cNvSpPr/>
          <p:nvPr/>
        </p:nvSpPr>
        <p:spPr>
          <a:xfrm>
            <a:off x="786384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0" name="2b0bda98-3f0c-466a-bdd5-44153ab4e31a"/>
          <p:cNvSpPr/>
          <p:nvPr/>
        </p:nvSpPr>
        <p:spPr>
          <a:xfrm>
            <a:off x="804672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1" name="9aee9417-6a7f-4a38-aec4-ba773e362bca"/>
          <p:cNvSpPr/>
          <p:nvPr/>
        </p:nvSpPr>
        <p:spPr>
          <a:xfrm>
            <a:off x="868680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6a7529cf-4c82-4d40-a9f7-a1729fb6de63"/>
          <p:cNvSpPr/>
          <p:nvPr/>
        </p:nvSpPr>
        <p:spPr>
          <a:xfrm>
            <a:off x="859536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453f652c-8b11-4150-b660-ecbc19943b9e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726119" y="2485183"/>
            <a:ext cx="332842" cy="332842"/>
          </a:xfrm>
          <a:prstGeom prst="rect">
            <a:avLst/>
          </a:prstGeom>
        </p:spPr>
      </p:pic>
      <p:sp>
        <p:nvSpPr>
          <p:cNvPr id="34" name="50197c11-a84a-4999-9fcf-21d76808d4ca"/>
          <p:cNvSpPr/>
          <p:nvPr/>
        </p:nvSpPr>
        <p:spPr>
          <a:xfrm>
            <a:off x="811987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· C3</a:t>
            </a:r>
            <a:endParaRPr lang="en-US" sz="1250" dirty="0"/>
          </a:p>
        </p:txBody>
      </p:sp>
      <p:sp>
        <p:nvSpPr>
          <p:cNvPr id="35" name="3d93994f-5176-4f40-83d8-ab765ef1868b"/>
          <p:cNvSpPr/>
          <p:nvPr/>
        </p:nvSpPr>
        <p:spPr>
          <a:xfrm>
            <a:off x="813816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Prometheus + Alertmanager</a:t>
            </a:r>
            <a:endParaRPr lang="en-US" sz="1050" dirty="0"/>
          </a:p>
        </p:txBody>
      </p:sp>
      <p:sp>
        <p:nvSpPr>
          <p:cNvPr id="36" name="86fd485d-0067-4db5-9721-1527a49a94a9"/>
          <p:cNvSpPr/>
          <p:nvPr/>
        </p:nvSpPr>
        <p:spPr>
          <a:xfrm>
            <a:off x="973836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7" name="4a2b3e73-e71f-4dfc-9829-8e27c1f7640b"/>
          <p:cNvSpPr/>
          <p:nvPr/>
        </p:nvSpPr>
        <p:spPr>
          <a:xfrm>
            <a:off x="99212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03938f08-bef2-48d5-9034-6afd229046d8"/>
          <p:cNvSpPr/>
          <p:nvPr/>
        </p:nvSpPr>
        <p:spPr>
          <a:xfrm>
            <a:off x="105613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4a6aa396-6b03-471f-8850-6603bad8a185"/>
          <p:cNvSpPr/>
          <p:nvPr/>
        </p:nvSpPr>
        <p:spPr>
          <a:xfrm>
            <a:off x="104698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7b9dcc26-fd4e-48f2-84b8-885341a9b2de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600639" y="2485183"/>
            <a:ext cx="332842" cy="332842"/>
          </a:xfrm>
          <a:prstGeom prst="rect">
            <a:avLst/>
          </a:prstGeom>
        </p:spPr>
      </p:pic>
      <p:sp>
        <p:nvSpPr>
          <p:cNvPr id="41" name="18ec6f36-998f-447e-9ff6-40859fc71aab"/>
          <p:cNvSpPr/>
          <p:nvPr/>
        </p:nvSpPr>
        <p:spPr>
          <a:xfrm>
            <a:off x="99943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與驗證</a:t>
            </a:r>
            <a:endParaRPr lang="en-US" sz="1250" dirty="0"/>
          </a:p>
        </p:txBody>
      </p:sp>
      <p:sp>
        <p:nvSpPr>
          <p:cNvPr id="42" name="9f452efa-cc6f-4c83-8ff2-d5d3feffddff"/>
          <p:cNvSpPr/>
          <p:nvPr/>
        </p:nvSpPr>
        <p:spPr>
          <a:xfrm>
            <a:off x="100126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路由 + 逐項驗證</a:t>
            </a:r>
            <a:endParaRPr lang="en-US" sz="1050" dirty="0"/>
          </a:p>
        </p:txBody>
      </p:sp>
      <p:sp>
        <p:nvSpPr>
          <p:cNvPr id="43" name="9060300d-1a22-4ea3-97df-7d0522df4385"/>
          <p:cNvSpPr/>
          <p:nvPr/>
        </p:nvSpPr>
        <p:spPr>
          <a:xfrm>
            <a:off x="548640" y="452751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要在 format 時預建 kafka-broker / kafka-controller 的 SCRAM 憑證,否則授權器起不來(實測)</a:t>
            </a:r>
            <a:endParaRPr lang="en-US" sz="1300" dirty="0"/>
          </a:p>
        </p:txBody>
      </p:sp>
      <p:sp>
        <p:nvSpPr>
          <p:cNvPr id="44" name="345bd308-a4cc-474a-af85-bd656fccea53"/>
          <p:cNvSpPr/>
          <p:nvPr/>
        </p:nvSpPr>
        <p:spPr>
          <a:xfrm>
            <a:off x="548640" y="50366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5" name="21eb0781-aaaf-4ea2-ae9b-42f3e5afd79e"/>
          <p:cNvSpPr/>
          <p:nvPr/>
        </p:nvSpPr>
        <p:spPr>
          <a:xfrm>
            <a:off x="548640" y="5588137"/>
            <a:ext cx="11091672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六個主要風險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99db819-2344-40cd-b765-0a06273dc4ef"/>
          <p:cNvSpPr/>
          <p:nvPr/>
        </p:nvSpPr>
        <p:spPr>
          <a:xfrm>
            <a:off x="548640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e786b0f1-7f21-42a7-9359-9a469a079851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1c37da06-51d8-4c24-98b7-3f02ff58dca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b97281d6-07de-49f2-8f18-1ecb4f49f819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</a:t>
            </a:r>
            <a:endParaRPr lang="en-US" sz="1350" dirty="0"/>
          </a:p>
        </p:txBody>
      </p:sp>
      <p:sp>
        <p:nvSpPr>
          <p:cNvPr id="6" name="284b4394-08be-4e16-a1f9-e436adb29f9d"/>
          <p:cNvSpPr/>
          <p:nvPr/>
        </p:nvSpPr>
        <p:spPr>
          <a:xfrm>
            <a:off x="685800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7" name="ff11c984-4a0d-4cd6-9bbc-f5dd62493a21"/>
          <p:cNvSpPr/>
          <p:nvPr/>
        </p:nvSpPr>
        <p:spPr>
          <a:xfrm>
            <a:off x="685800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8" name="f294158d-d320-4ca8-9d41-78619d66707e"/>
          <p:cNvSpPr/>
          <p:nvPr/>
        </p:nvSpPr>
        <p:spPr>
          <a:xfrm>
            <a:off x="4325112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48f967a7-aae1-464d-8a6e-66256d37006b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4cf6c50e-5b78-4aed-809c-b59c3a9d00a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09bfe107-1bfd-4361-8753-2cb25eda95e9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</a:t>
            </a:r>
            <a:endParaRPr lang="en-US" sz="1350" dirty="0"/>
          </a:p>
        </p:txBody>
      </p:sp>
      <p:sp>
        <p:nvSpPr>
          <p:cNvPr id="12" name="3e047e3d-2401-4617-82d8-f5d2200b730c"/>
          <p:cNvSpPr/>
          <p:nvPr/>
        </p:nvSpPr>
        <p:spPr>
          <a:xfrm>
            <a:off x="4462272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3" name="e2f55d87-5f0d-4813-89da-f15bff4a6ca0"/>
          <p:cNvSpPr/>
          <p:nvPr/>
        </p:nvSpPr>
        <p:spPr>
          <a:xfrm>
            <a:off x="4462272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對策:特權身分逐一以 User: 列入</a:t>
            </a:r>
            <a:endParaRPr lang="en-US" sz="1050" dirty="0"/>
          </a:p>
        </p:txBody>
      </p:sp>
      <p:sp>
        <p:nvSpPr>
          <p:cNvPr id="14" name="566db287-9c3c-4bb1-bbd9-da61b9cde14c"/>
          <p:cNvSpPr/>
          <p:nvPr/>
        </p:nvSpPr>
        <p:spPr>
          <a:xfrm>
            <a:off x="8101584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1f5761cc-c7f3-4535-9f3c-18512844f239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f50bd635-c979-48c1-840b-08730b8f335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14312742-226d-470c-af5e-62d7de6b6f77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私鑰外洩(server · token)</a:t>
            </a:r>
            <a:endParaRPr lang="en-US" sz="1350" dirty="0"/>
          </a:p>
        </p:txBody>
      </p:sp>
      <p:sp>
        <p:nvSpPr>
          <p:cNvPr id="18" name="814a1251-8f3d-4765-8dad-c1a0ac801f6c"/>
          <p:cNvSpPr/>
          <p:nvPr/>
        </p:nvSpPr>
        <p:spPr>
          <a:xfrm>
            <a:off x="8238744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發現:server 私鑰外洩 = 可偽裝伺服器;token 簽章私鑰外洩 = 可偽造任何人的 token</a:t>
            </a:r>
            <a:endParaRPr lang="en-US" sz="1050" dirty="0"/>
          </a:p>
        </p:txBody>
      </p:sp>
      <p:sp>
        <p:nvSpPr>
          <p:cNvPr id="19" name="84112ae3-721a-40c7-8a13-eb02cbec119d"/>
          <p:cNvSpPr/>
          <p:nvPr/>
        </p:nvSpPr>
        <p:spPr>
          <a:xfrm>
            <a:off x="8238744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對策:權限 600;最小化存放;輪替計畫;共用身分不綁 role</a:t>
            </a:r>
            <a:endParaRPr lang="en-US" sz="1050" dirty="0"/>
          </a:p>
        </p:txBody>
      </p:sp>
      <p:sp>
        <p:nvSpPr>
          <p:cNvPr id="20" name="cb9ad4a1-08f2-4c77-9acb-4ecd61fdfcb1"/>
          <p:cNvSpPr/>
          <p:nvPr/>
        </p:nvSpPr>
        <p:spPr>
          <a:xfrm>
            <a:off x="548640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3a84553f-d0af-49bd-8f09-ef3f93e3e9e7"/>
          <p:cNvSpPr/>
          <p:nvPr/>
        </p:nvSpPr>
        <p:spPr>
          <a:xfrm>
            <a:off x="685800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2" name="be1d7f60-85cb-4269-a550-ca70131b21ab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96442" y="4222905"/>
            <a:ext cx="281635" cy="281635"/>
          </a:xfrm>
          <a:prstGeom prst="rect">
            <a:avLst/>
          </a:prstGeom>
        </p:spPr>
      </p:pic>
      <p:sp>
        <p:nvSpPr>
          <p:cNvPr id="23" name="c68f39c7-c676-4ebc-ba57-423d56215ff9"/>
          <p:cNvSpPr/>
          <p:nvPr/>
        </p:nvSpPr>
        <p:spPr>
          <a:xfrm>
            <a:off x="1280160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</a:t>
            </a:r>
            <a:endParaRPr lang="en-US" sz="1350" dirty="0"/>
          </a:p>
        </p:txBody>
      </p:sp>
      <p:sp>
        <p:nvSpPr>
          <p:cNvPr id="24" name="e5f3df1a-033d-481a-baba-32ec996cebb7"/>
          <p:cNvSpPr/>
          <p:nvPr/>
        </p:nvSpPr>
        <p:spPr>
          <a:xfrm>
            <a:off x="685800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5" name="4e30a735-90c4-46dd-842c-49d4a9252bf1"/>
          <p:cNvSpPr/>
          <p:nvPr/>
        </p:nvSpPr>
        <p:spPr>
          <a:xfrm>
            <a:off x="685800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對策:密碼庫 + 輪替流程 + 提醒</a:t>
            </a:r>
            <a:endParaRPr lang="en-US" sz="1050" dirty="0"/>
          </a:p>
        </p:txBody>
      </p:sp>
      <p:sp>
        <p:nvSpPr>
          <p:cNvPr id="26" name="6f3b99b8-a3b7-4ebc-85f2-68492d367564"/>
          <p:cNvSpPr/>
          <p:nvPr/>
        </p:nvSpPr>
        <p:spPr>
          <a:xfrm>
            <a:off x="4325112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5593bf65-2ae3-4098-bb3d-5aac49925612"/>
          <p:cNvSpPr/>
          <p:nvPr/>
        </p:nvSpPr>
        <p:spPr>
          <a:xfrm>
            <a:off x="4462272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8" name="34d8bc98-f942-421b-b28e-988c03d9707c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72914" y="4222905"/>
            <a:ext cx="281635" cy="281635"/>
          </a:xfrm>
          <a:prstGeom prst="rect">
            <a:avLst/>
          </a:prstGeom>
        </p:spPr>
      </p:pic>
      <p:sp>
        <p:nvSpPr>
          <p:cNvPr id="29" name="f5bb23e4-37f9-4994-901e-5ed5252838e3"/>
          <p:cNvSpPr/>
          <p:nvPr/>
        </p:nvSpPr>
        <p:spPr>
          <a:xfrm>
            <a:off x="5056632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監控元件預設未認證</a:t>
            </a:r>
            <a:endParaRPr lang="en-US" sz="1350" dirty="0"/>
          </a:p>
        </p:txBody>
      </p:sp>
      <p:sp>
        <p:nvSpPr>
          <p:cNvPr id="30" name="056683a5-d928-4d52-b508-f199d6763fa9"/>
          <p:cNvSpPr/>
          <p:nvPr/>
        </p:nvSpPr>
        <p:spPr>
          <a:xfrm>
            <a:off x="4462272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1" name="63142e6b-efd1-45ea-bbb9-eb912cc736a5"/>
          <p:cNvSpPr/>
          <p:nvPr/>
        </p:nvSpPr>
        <p:spPr>
          <a:xfrm>
            <a:off x="4462272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2" name="b2599d90-27d4-4642-ac30-ef1aabb77918"/>
          <p:cNvSpPr/>
          <p:nvPr/>
        </p:nvSpPr>
        <p:spPr>
          <a:xfrm>
            <a:off x="8101584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064fa416-8c31-4fad-96ad-839cf7d69af8"/>
          <p:cNvSpPr/>
          <p:nvPr/>
        </p:nvSpPr>
        <p:spPr>
          <a:xfrm>
            <a:off x="8238744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ab740fe3-0ff9-490b-97b6-c255beca5ae7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349386" y="4222905"/>
            <a:ext cx="281635" cy="281635"/>
          </a:xfrm>
          <a:prstGeom prst="rect">
            <a:avLst/>
          </a:prstGeom>
        </p:spPr>
      </p:pic>
      <p:sp>
        <p:nvSpPr>
          <p:cNvPr id="35" name="2c5a60ae-482b-4164-b867-781b81ed5a32"/>
          <p:cNvSpPr/>
          <p:nvPr/>
        </p:nvSpPr>
        <p:spPr>
          <a:xfrm>
            <a:off x="8833104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</a:t>
            </a:r>
            <a:endParaRPr lang="en-US" sz="1350" dirty="0"/>
          </a:p>
        </p:txBody>
      </p:sp>
      <p:sp>
        <p:nvSpPr>
          <p:cNvPr id="36" name="bb7e9f40-2f29-4165-a5e4-a79a6a0eb7ed"/>
          <p:cNvSpPr/>
          <p:nvPr/>
        </p:nvSpPr>
        <p:spPr>
          <a:xfrm>
            <a:off x="8238744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7" name="5bf91993-5764-442a-aa9a-da8525a41bd8"/>
          <p:cNvSpPr/>
          <p:nvPr/>
        </p:nvSpPr>
        <p:spPr>
          <a:xfrm>
            <a:off x="8238744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對策:稽核需求另外盤點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兩個操作陷阱和一項待驗證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2d33ad2-c6ac-47ff-badd-2340f60b19ba"/>
          <p:cNvSpPr/>
          <p:nvPr/>
        </p:nvSpPr>
        <p:spPr>
          <a:xfrm>
            <a:off x="548640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b6d53045-5506-46af-899e-4fd8a0eb5af4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aec86177-1c04-4c2f-9e7a-75550dc488b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1739cf6c-02d6-412e-9848-010e9074195c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 cookie 優先於 Basic</a:t>
            </a:r>
            <a:endParaRPr lang="en-US" sz="1350" dirty="0"/>
          </a:p>
        </p:txBody>
      </p:sp>
      <p:sp>
        <p:nvSpPr>
          <p:cNvPr id="6" name="430a15f3-b69f-473f-9d46-082ea4387868"/>
          <p:cNvSpPr/>
          <p:nvPr/>
        </p:nvSpPr>
        <p:spPr>
          <a:xfrm>
            <a:off x="685800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7" name="e534cbf0-9f3d-4ea0-85c0-8936178eecc6"/>
          <p:cNvSpPr/>
          <p:nvPr/>
        </p:nvSpPr>
        <p:spPr>
          <a:xfrm>
            <a:off x="685800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8" name="79840766-cf94-4499-9ac8-85ca218ba734"/>
          <p:cNvSpPr/>
          <p:nvPr/>
        </p:nvSpPr>
        <p:spPr>
          <a:xfrm>
            <a:off x="4325112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fe9cb4bd-6637-43b6-a4b9-b55d35b51b42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4a4e3124-c893-4c6f-9c0b-86ad5498e5c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24116f4d-cec0-4d1a-9415-0ac35b6c6bb9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移出群組後的延遲</a:t>
            </a:r>
            <a:endParaRPr lang="en-US" sz="1350" dirty="0"/>
          </a:p>
        </p:txBody>
      </p:sp>
      <p:sp>
        <p:nvSpPr>
          <p:cNvPr id="12" name="e0286ace-b7f3-4b89-b1c8-8e1297c65de2"/>
          <p:cNvSpPr/>
          <p:nvPr/>
        </p:nvSpPr>
        <p:spPr>
          <a:xfrm>
            <a:off x="4462272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3" name="6615ec67-534e-4e2f-8386-2a210b700858"/>
          <p:cNvSpPr/>
          <p:nvPr/>
        </p:nvSpPr>
        <p:spPr>
          <a:xfrm>
            <a:off x="4462272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4" name="6f006ec6-f891-4ea6-baaa-084ba676b3cf"/>
          <p:cNvSpPr/>
          <p:nvPr/>
        </p:nvSpPr>
        <p:spPr>
          <a:xfrm>
            <a:off x="8101584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0cdbc6db-f962-4a6a-9adf-f5f74621a9e6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b6800fda-4bdb-4786-8a8d-5e34bf551cf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577256b3-1a43-4069-9550-a8e46902fe5a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controller 的機制</a:t>
            </a:r>
            <a:endParaRPr lang="en-US" sz="1350" dirty="0"/>
          </a:p>
        </p:txBody>
      </p:sp>
      <p:sp>
        <p:nvSpPr>
          <p:cNvPr id="18" name="2e3254ab-f52a-477f-bc41-9b4e842cb8e4"/>
          <p:cNvSpPr/>
          <p:nvPr/>
        </p:nvSpPr>
        <p:spPr>
          <a:xfrm>
            <a:off x="8238744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19" name="a799582c-4750-4681-980f-564bb30451a6"/>
          <p:cNvSpPr/>
          <p:nvPr/>
        </p:nvSpPr>
        <p:spPr>
          <a:xfrm>
            <a:off x="8238744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0" name="f6c71abb-f631-46be-b829-1dd624106dd6"/>
          <p:cNvSpPr/>
          <p:nvPr/>
        </p:nvSpPr>
        <p:spPr>
          <a:xfrm>
            <a:off x="548640" y="448509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前兩項是已實測的操作陷阱,第三項導入前須實機驗證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已驗證 vs 待驗證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誠實呈現目前的驗證範圍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fa87a74-8b6b-425d-ac54-8ca792433463"/>
          <p:cNvSpPr/>
          <p:nvPr/>
        </p:nvSpPr>
        <p:spPr>
          <a:xfrm>
            <a:off x="548640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d66150ab-e7a8-490d-9875-d1f00bc9e8e4"/>
          <p:cNvSpPr/>
          <p:nvPr/>
        </p:nvSpPr>
        <p:spPr>
          <a:xfrm>
            <a:off x="731520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77e4ac5d-fb5e-4501-b203-c705b6f2490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1942993"/>
            <a:ext cx="358445" cy="358445"/>
          </a:xfrm>
          <a:prstGeom prst="rect">
            <a:avLst/>
          </a:prstGeom>
        </p:spPr>
      </p:pic>
      <p:sp>
        <p:nvSpPr>
          <p:cNvPr id="5" name="1c9623ee-9426-4d2e-bb16-3fa819862b59"/>
          <p:cNvSpPr/>
          <p:nvPr/>
        </p:nvSpPr>
        <p:spPr>
          <a:xfrm>
            <a:off x="1508760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已實跑驗證</a:t>
            </a:r>
            <a:endParaRPr lang="en-US" sz="1700" dirty="0"/>
          </a:p>
        </p:txBody>
      </p:sp>
      <p:sp>
        <p:nvSpPr>
          <p:cNvPr id="6" name="8661e673-2a8d-4f7a-84f6-7ca083630237"/>
          <p:cNvSpPr/>
          <p:nvPr/>
        </p:nvSpPr>
        <p:spPr>
          <a:xfrm>
            <a:off x="777240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 RBAC:加入群組生效(demo 5 秒;預設 60 秒)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7" name="ef14a103-83f3-4542-9b98-5c63c007c628"/>
          <p:cNvSpPr/>
          <p:nvPr/>
        </p:nvSpPr>
        <p:spPr>
          <a:xfrm>
            <a:off x="6199632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e167fcd2-0478-4663-ac89-a308293ca1f9"/>
          <p:cNvSpPr/>
          <p:nvPr/>
        </p:nvSpPr>
        <p:spPr>
          <a:xfrm>
            <a:off x="6382512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79889e1a-efe3-499e-b4f0-0c9e3feffb0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1942993"/>
            <a:ext cx="358445" cy="358445"/>
          </a:xfrm>
          <a:prstGeom prst="rect">
            <a:avLst/>
          </a:prstGeom>
        </p:spPr>
      </p:pic>
      <p:sp>
        <p:nvSpPr>
          <p:cNvPr id="10" name="3024f2b1-1a32-4f00-a453-0839e70a0599"/>
          <p:cNvSpPr/>
          <p:nvPr/>
        </p:nvSpPr>
        <p:spPr>
          <a:xfrm>
            <a:off x="7159752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待驗證 / 待確認</a:t>
            </a:r>
            <a:endParaRPr lang="en-US" sz="1700" dirty="0"/>
          </a:p>
        </p:txBody>
      </p:sp>
      <p:sp>
        <p:nvSpPr>
          <p:cNvPr id="11" name="b8591730-cb23-42b2-b3c0-4bed3d21b6b9"/>
          <p:cNvSpPr/>
          <p:nvPr/>
        </p:nvSpPr>
        <p:spPr>
          <a:xfrm>
            <a:off x="6428232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縮短 token 壽命對元件換 token 頻率的影響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MDS 金鑰對與內部帳號的輪替流程</a:t>
            </a:r>
            <a:endParaRPr lang="en-US" sz="1300" dirty="0"/>
          </a:p>
        </p:txBody>
      </p:sp>
      <p:sp>
        <p:nvSpPr>
          <p:cNvPr id="12" name="c59de4de-10cd-47c7-ae2e-328be55b5faf"/>
          <p:cNvSpPr/>
          <p:nvPr/>
        </p:nvSpPr>
        <p:spPr>
          <a:xfrm>
            <a:off x="548640" y="5630562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使用 OpenLDAP 模擬 AD;商用功能(RBAC、audit、C3)需 license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八件需要客戶回覆的事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ac55ea1-d228-4b05-a7dc-3d2d0bf5040c"/>
          <p:cNvSpPr/>
          <p:nvPr/>
        </p:nvSpPr>
        <p:spPr>
          <a:xfrm>
            <a:off x="54864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dc5c18e8-9d5c-4161-bb28-a9dd8ee9a8aa"/>
          <p:cNvSpPr/>
          <p:nvPr/>
        </p:nvSpPr>
        <p:spPr>
          <a:xfrm>
            <a:off x="68580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f055bf39-55ed-4528-9fa1-51442e25fb01"/>
          <p:cNvSpPr/>
          <p:nvPr/>
        </p:nvSpPr>
        <p:spPr>
          <a:xfrm>
            <a:off x="132588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de28b35b-640b-46db-9530-360bb419adb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446581" y="1941296"/>
            <a:ext cx="307238" cy="307238"/>
          </a:xfrm>
          <a:prstGeom prst="rect">
            <a:avLst/>
          </a:prstGeom>
        </p:spPr>
      </p:pic>
      <p:sp>
        <p:nvSpPr>
          <p:cNvPr id="6" name="51632f3b-4bac-478e-8df1-8975599f8e7a"/>
          <p:cNvSpPr/>
          <p:nvPr/>
        </p:nvSpPr>
        <p:spPr>
          <a:xfrm>
            <a:off x="205740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唯讀查詢帳號(bind DN)與 LDAPS</a:t>
            </a:r>
            <a:endParaRPr lang="en-US" sz="1300" dirty="0"/>
          </a:p>
        </p:txBody>
      </p:sp>
      <p:sp>
        <p:nvSpPr>
          <p:cNvPr id="7" name="bcfb0020-a499-48af-880f-5b1a87193f83"/>
          <p:cNvSpPr/>
          <p:nvPr/>
        </p:nvSpPr>
        <p:spPr>
          <a:xfrm>
            <a:off x="617220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da795e3a-b7cf-48fd-ad9e-0663237ab07d"/>
          <p:cNvSpPr/>
          <p:nvPr/>
        </p:nvSpPr>
        <p:spPr>
          <a:xfrm>
            <a:off x="630936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6c754da8-6c83-4333-8231-fd6ea553587d"/>
          <p:cNvSpPr/>
          <p:nvPr/>
        </p:nvSpPr>
        <p:spPr>
          <a:xfrm>
            <a:off x="694944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6c4093f9-8102-443d-b4b0-971879a5634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070141" y="1941296"/>
            <a:ext cx="307238" cy="307238"/>
          </a:xfrm>
          <a:prstGeom prst="rect">
            <a:avLst/>
          </a:prstGeom>
        </p:spPr>
      </p:pic>
      <p:sp>
        <p:nvSpPr>
          <p:cNvPr id="11" name="1c328a7f-4080-41e6-afd9-9cbd791c8b2e"/>
          <p:cNvSpPr/>
          <p:nvPr/>
        </p:nvSpPr>
        <p:spPr>
          <a:xfrm>
            <a:off x="768096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憑證由誰簽發:有無 AD CS(內部 CA)與根憑證散佈方式</a:t>
            </a:r>
            <a:endParaRPr lang="en-US" sz="1300" dirty="0"/>
          </a:p>
        </p:txBody>
      </p:sp>
      <p:sp>
        <p:nvSpPr>
          <p:cNvPr id="12" name="432b8937-668c-4430-940c-423f136d87f9"/>
          <p:cNvSpPr/>
          <p:nvPr/>
        </p:nvSpPr>
        <p:spPr>
          <a:xfrm>
            <a:off x="54864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74fd1526-1fff-47c2-9f8c-1aa0319ebae9"/>
          <p:cNvSpPr/>
          <p:nvPr/>
        </p:nvSpPr>
        <p:spPr>
          <a:xfrm>
            <a:off x="68580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1e99c613-ff89-445b-9ec4-604968553502"/>
          <p:cNvSpPr/>
          <p:nvPr/>
        </p:nvSpPr>
        <p:spPr>
          <a:xfrm>
            <a:off x="132588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79a187a3-881e-4fd3-9428-3fae7ca2b58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446581" y="2959493"/>
            <a:ext cx="307238" cy="307238"/>
          </a:xfrm>
          <a:prstGeom prst="rect">
            <a:avLst/>
          </a:prstGeom>
        </p:spPr>
      </p:pic>
      <p:sp>
        <p:nvSpPr>
          <p:cNvPr id="16" name="70dd2336-3784-48c5-be7c-08c6c92e6386"/>
          <p:cNvSpPr/>
          <p:nvPr/>
        </p:nvSpPr>
        <p:spPr>
          <a:xfrm>
            <a:off x="205740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能否為 legacy app 建立專用 AD 帳號(非真人)</a:t>
            </a:r>
            <a:endParaRPr lang="en-US" sz="1300" dirty="0"/>
          </a:p>
        </p:txBody>
      </p:sp>
      <p:sp>
        <p:nvSpPr>
          <p:cNvPr id="17" name="0241a04a-61a8-443f-b613-123a749811ef"/>
          <p:cNvSpPr/>
          <p:nvPr/>
        </p:nvSpPr>
        <p:spPr>
          <a:xfrm>
            <a:off x="617220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d28d2d89-f97c-4f54-89e1-0a6802ceb35e"/>
          <p:cNvSpPr/>
          <p:nvPr/>
        </p:nvSpPr>
        <p:spPr>
          <a:xfrm>
            <a:off x="630936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2b832681-8d94-418a-a2ed-327a377ba251"/>
          <p:cNvSpPr/>
          <p:nvPr/>
        </p:nvSpPr>
        <p:spPr>
          <a:xfrm>
            <a:off x="694944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0" name="3d9752a4-161f-48fb-b0f8-0d6727bba91d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070141" y="2959493"/>
            <a:ext cx="307238" cy="307238"/>
          </a:xfrm>
          <a:prstGeom prst="rect">
            <a:avLst/>
          </a:prstGeom>
        </p:spPr>
      </p:pic>
      <p:sp>
        <p:nvSpPr>
          <p:cNvPr id="21" name="e2f05f9a-aaa8-4c9e-8452-d66884220f0d"/>
          <p:cNvSpPr/>
          <p:nvPr/>
        </p:nvSpPr>
        <p:spPr>
          <a:xfrm>
            <a:off x="768096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 / audit / C3</a:t>
            </a:r>
            <a:endParaRPr lang="en-US" sz="1300" dirty="0"/>
          </a:p>
        </p:txBody>
      </p:sp>
      <p:sp>
        <p:nvSpPr>
          <p:cNvPr id="22" name="91e9a616-3fef-4996-873f-34e19fbb6111"/>
          <p:cNvSpPr/>
          <p:nvPr/>
        </p:nvSpPr>
        <p:spPr>
          <a:xfrm>
            <a:off x="54864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db1432e5-e7a4-4d9e-9eb4-36e772881537"/>
          <p:cNvSpPr/>
          <p:nvPr/>
        </p:nvSpPr>
        <p:spPr>
          <a:xfrm>
            <a:off x="68580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d2b5cc56-c459-4a80-b81d-393146b6e3db"/>
          <p:cNvSpPr/>
          <p:nvPr/>
        </p:nvSpPr>
        <p:spPr>
          <a:xfrm>
            <a:off x="132588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5" name="fdaad939-4375-41ad-ab71-25c57dace3ac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1446581" y="3977689"/>
            <a:ext cx="307238" cy="307238"/>
          </a:xfrm>
          <a:prstGeom prst="rect">
            <a:avLst/>
          </a:prstGeom>
        </p:spPr>
      </p:pic>
      <p:sp>
        <p:nvSpPr>
          <p:cNvPr id="26" name="20e7c806-8336-4e10-b39e-88a9095a9cbb"/>
          <p:cNvSpPr/>
          <p:nvPr/>
        </p:nvSpPr>
        <p:spPr>
          <a:xfrm>
            <a:off x="205740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7" name="7edb84ba-53c1-4c1d-946b-6c9dad49429f"/>
          <p:cNvSpPr/>
          <p:nvPr/>
        </p:nvSpPr>
        <p:spPr>
          <a:xfrm>
            <a:off x="617220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87227a58-8178-4594-a51a-10c26631d516"/>
          <p:cNvSpPr/>
          <p:nvPr/>
        </p:nvSpPr>
        <p:spPr>
          <a:xfrm>
            <a:off x="630936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8b7af660-58b2-435a-8f56-f371643b0bdc"/>
          <p:cNvSpPr/>
          <p:nvPr/>
        </p:nvSpPr>
        <p:spPr>
          <a:xfrm>
            <a:off x="694944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0" name="ab9355b5-cc10-4bdb-8404-066726b599fa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070141" y="3977689"/>
            <a:ext cx="307238" cy="307238"/>
          </a:xfrm>
          <a:prstGeom prst="rect">
            <a:avLst/>
          </a:prstGeom>
        </p:spPr>
      </p:pic>
      <p:sp>
        <p:nvSpPr>
          <p:cNvPr id="31" name="2ff9e176-9dae-410d-8195-66042c7f6953"/>
          <p:cNvSpPr/>
          <p:nvPr/>
        </p:nvSpPr>
        <p:spPr>
          <a:xfrm>
            <a:off x="768096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2" name="5d9e609a-8eb3-4548-8b41-a2031581b1bf"/>
          <p:cNvSpPr/>
          <p:nvPr/>
        </p:nvSpPr>
        <p:spPr>
          <a:xfrm>
            <a:off x="54864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205e92db-7e7b-440b-97c1-d560efad507d"/>
          <p:cNvSpPr/>
          <p:nvPr/>
        </p:nvSpPr>
        <p:spPr>
          <a:xfrm>
            <a:off x="68580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e14a7275-3374-4ee3-bc19-70ed410f7a9f"/>
          <p:cNvSpPr/>
          <p:nvPr/>
        </p:nvSpPr>
        <p:spPr>
          <a:xfrm>
            <a:off x="132588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5" name="ee77d6d3-1c2f-4b7f-8af0-b7426cf832f9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446581" y="4995886"/>
            <a:ext cx="307238" cy="307238"/>
          </a:xfrm>
          <a:prstGeom prst="rect">
            <a:avLst/>
          </a:prstGeom>
        </p:spPr>
      </p:pic>
      <p:sp>
        <p:nvSpPr>
          <p:cNvPr id="36" name="823e3701-7024-47fa-b34c-45f26f87addf"/>
          <p:cNvSpPr/>
          <p:nvPr/>
        </p:nvSpPr>
        <p:spPr>
          <a:xfrm>
            <a:off x="205740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7" name="1744056a-3222-46b0-b1bf-82e787a76ab2"/>
          <p:cNvSpPr/>
          <p:nvPr/>
        </p:nvSpPr>
        <p:spPr>
          <a:xfrm>
            <a:off x="617220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536cd607-ebe3-4d70-b848-ffd98584c08d"/>
          <p:cNvSpPr/>
          <p:nvPr/>
        </p:nvSpPr>
        <p:spPr>
          <a:xfrm>
            <a:off x="630936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ff74a4b2-9670-4adb-85ca-3f9a38446437"/>
          <p:cNvSpPr/>
          <p:nvPr/>
        </p:nvSpPr>
        <p:spPr>
          <a:xfrm>
            <a:off x="694944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47a2bccf-6d5e-46f6-959f-03e08305e26d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070141" y="4995886"/>
            <a:ext cx="307238" cy="307238"/>
          </a:xfrm>
          <a:prstGeom prst="rect">
            <a:avLst/>
          </a:prstGeom>
        </p:spPr>
      </p:pic>
      <p:sp>
        <p:nvSpPr>
          <p:cNvPr id="41" name="580bacf0-3191-48bd-b920-749bf309f232"/>
          <p:cNvSpPr/>
          <p:nvPr/>
        </p:nvSpPr>
        <p:spPr>
          <a:xfrm>
            <a:off x="768096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2" name="79ae0e7a-40f1-43fd-8981-33d2889dedc3"/>
          <p:cNvSpPr/>
          <p:nvPr/>
        </p:nvSpPr>
        <p:spPr>
          <a:xfrm>
            <a:off x="548640" y="575783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項若可行:legacy app 走 Basic,不需要 client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接下來的三件事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8d6c844-3b44-4978-8156-f9f8d8eea1d3"/>
          <p:cNvSpPr/>
          <p:nvPr/>
        </p:nvSpPr>
        <p:spPr>
          <a:xfrm>
            <a:off x="548640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a9e8f334-3a9a-4769-b833-ac3cc908692a"/>
          <p:cNvSpPr/>
          <p:nvPr/>
        </p:nvSpPr>
        <p:spPr>
          <a:xfrm>
            <a:off x="2034540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0fc58e82-5d74-43b5-ae4f-2052fc99ebd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178875"/>
            <a:ext cx="307238" cy="307238"/>
          </a:xfrm>
          <a:prstGeom prst="rect">
            <a:avLst/>
          </a:prstGeom>
        </p:spPr>
      </p:pic>
      <p:sp>
        <p:nvSpPr>
          <p:cNvPr id="5" name="8fa2f082-987e-4cff-b542-b3c97c2a3dc7"/>
          <p:cNvSpPr/>
          <p:nvPr/>
        </p:nvSpPr>
        <p:spPr>
          <a:xfrm>
            <a:off x="621792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80063227-9e2b-4f6c-bb1f-18f46a667148"/>
          <p:cNvSpPr/>
          <p:nvPr/>
        </p:nvSpPr>
        <p:spPr>
          <a:xfrm>
            <a:off x="640080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回覆前一頁的八件事</a:t>
            </a:r>
            <a:endParaRPr lang="en-US" sz="1300" dirty="0"/>
          </a:p>
        </p:txBody>
      </p:sp>
      <p:sp>
        <p:nvSpPr>
          <p:cNvPr id="7" name="9440d5eb-fd87-4b88-b5a8-c6adc7741b60"/>
          <p:cNvSpPr/>
          <p:nvPr/>
        </p:nvSpPr>
        <p:spPr>
          <a:xfrm>
            <a:off x="4069080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42f5954f-9b96-4bb7-9c25-caa55e0d4459"/>
          <p:cNvSpPr/>
          <p:nvPr/>
        </p:nvSpPr>
        <p:spPr>
          <a:xfrm>
            <a:off x="4325112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f068d50e-62f5-4c76-862c-63e54cb33bd7"/>
          <p:cNvSpPr/>
          <p:nvPr/>
        </p:nvSpPr>
        <p:spPr>
          <a:xfrm>
            <a:off x="5811012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82b1e1b4-1484-49fa-8c1d-442102f5de5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178875"/>
            <a:ext cx="307238" cy="307238"/>
          </a:xfrm>
          <a:prstGeom prst="rect">
            <a:avLst/>
          </a:prstGeom>
        </p:spPr>
      </p:pic>
      <p:sp>
        <p:nvSpPr>
          <p:cNvPr id="11" name="83c31279-88eb-4665-8d66-f2ae9c2e9209"/>
          <p:cNvSpPr/>
          <p:nvPr/>
        </p:nvSpPr>
        <p:spPr>
          <a:xfrm>
            <a:off x="4398264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571f738c-3c39-43ec-9564-b3b5b13eccbb"/>
          <p:cNvSpPr/>
          <p:nvPr/>
        </p:nvSpPr>
        <p:spPr>
          <a:xfrm>
            <a:off x="4416552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adcff18a-b56c-453d-a3ad-9ea5f091c722"/>
          <p:cNvSpPr/>
          <p:nvPr/>
        </p:nvSpPr>
        <p:spPr>
          <a:xfrm>
            <a:off x="7845552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300c86f3-4d45-48bf-93f2-b36176544943"/>
          <p:cNvSpPr/>
          <p:nvPr/>
        </p:nvSpPr>
        <p:spPr>
          <a:xfrm>
            <a:off x="8101584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b8deca3d-e57a-42ab-9783-3490e0cd9007"/>
          <p:cNvSpPr/>
          <p:nvPr/>
        </p:nvSpPr>
        <p:spPr>
          <a:xfrm>
            <a:off x="9587484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43889e14-1056-4da9-8b1c-06f770a6b20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178875"/>
            <a:ext cx="307238" cy="307238"/>
          </a:xfrm>
          <a:prstGeom prst="rect">
            <a:avLst/>
          </a:prstGeom>
        </p:spPr>
      </p:pic>
      <p:sp>
        <p:nvSpPr>
          <p:cNvPr id="17" name="733112a7-a839-4191-890c-ac50d5fe456e"/>
          <p:cNvSpPr/>
          <p:nvPr/>
        </p:nvSpPr>
        <p:spPr>
          <a:xfrm>
            <a:off x="8174736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22875442-30a3-457f-8b83-1ecf3df914f5"/>
          <p:cNvSpPr/>
          <p:nvPr/>
        </p:nvSpPr>
        <p:spPr>
          <a:xfrm>
            <a:off x="8193024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補上目前未驗證的項目</a:t>
            </a:r>
            <a:endParaRPr lang="en-US" sz="1300" dirty="0"/>
          </a:p>
        </p:txBody>
      </p:sp>
      <p:sp>
        <p:nvSpPr>
          <p:cNvPr id="19" name="5a599155-9b0e-45db-8dd7-b23c8c2e3447"/>
          <p:cNvSpPr/>
          <p:nvPr/>
        </p:nvSpPr>
        <p:spPr>
          <a:xfrm>
            <a:off x="548640" y="440024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與 Word 手冊可作為每一步的實作與證據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