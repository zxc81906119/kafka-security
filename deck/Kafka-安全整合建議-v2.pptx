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r:id="rId19-created" id="256"/>
    <p:sldId r:id="rId20-created" id="257"/>
    <p:sldId r:id="rId21-created" id="258"/>
    <p:sldId r:id="rId22-created" id="259"/>
    <p:sldId r:id="rId23-created" id="260"/>
    <p:sldId r:id="rId24-created" id="261"/>
    <p:sldId r:id="rId25-created" id="262"/>
    <p:sldId r:id="rId26-created" id="263"/>
    <p:sldId r:id="rId27-created" id="264"/>
    <p:sldId r:id="rId28-created" id="265"/>
    <p:sldId r:id="rId29-created" id="266"/>
    <p:sldId r:id="rId30-created" id="267"/>
    <p:sldId r:id="rId31-created" id="268"/>
    <p:sldId r:id="rId32-created" id="269"/>
    <p:sldId r:id="rId33-created" id="270"/>
    <p:sldId r:id="rId34-created" id="271"/>
    <p:sldId r:id="rId35-created" id="272"/>
    <p:sldId r:id="rId36-created" id="273"/>
    <p:sldId r:id="rId37-created" id="274"/>
    <p:sldId r:id="rId38-created" id="275"/>
    <p:sldId r:id="rId39-created" id="276"/>
    <p:sldId r:id="rId40-created" id="277"/>
    <p:sldId r:id="rId41-created" id="278"/>
    <p:sldId r:id="rId42-created" id="279"/>
    <p:sldId r:id="rId43-created" id="280"/>
    <p:sldId r:id="rId44-created" id="281"/>
    <p:sldId r:id="rId45-created" id="282"/>
    <p:sldId r:id="rId46-created" id="283"/>
    <p:sldId r:id="rId47-created" id="28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DD98"/>
    <a:srgbClr val="FBD190"/>
    <a:srgbClr val="F7C3BF"/>
    <a:srgbClr val="E58813"/>
    <a:srgbClr val="215F9A"/>
    <a:srgbClr val="A0C6EA"/>
    <a:srgbClr val="FFFFFF"/>
    <a:srgbClr val="F0BFB5"/>
    <a:srgbClr val="309B39"/>
    <a:srgbClr val="4E95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78" autoAdjust="0"/>
    <p:restoredTop sz="90831" autoAdjust="0"/>
  </p:normalViewPr>
  <p:slideViewPr>
    <p:cSldViewPr snapToGrid="0">
      <p:cViewPr varScale="1">
        <p:scale>
          <a:sx n="100" d="100"/>
          <a:sy n="100" d="100"/>
        </p:scale>
        <p:origin x="87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3348" y="64"/>
      </p:cViewPr>
      <p:guideLst/>
    </p:cSldViewPr>
  </p:notesViewPr>
  <p:gridSpacing cx="76200" cy="76200"/>
</p:viewPr>
</file>

<file path=ppt/_rels/presentation.xml.rels><?xml version="1.0" encoding="UTF-8" standalone="yes"?>
<Relationships xmlns="http://schemas.openxmlformats.org/package/2006/relationships"><Relationship Id="rId13" Type="http://schemas.openxmlformats.org/officeDocument/2006/relationships/theme" Target="theme/theme1.xml"/><Relationship Id="rId18" Type="http://schemas.openxmlformats.org/officeDocument/2006/relationships/customXml" Target="../customXml/item3.xml"/><Relationship Id="rId12" Type="http://schemas.openxmlformats.org/officeDocument/2006/relationships/viewProps" Target="viewProps.xml"/><Relationship Id="rId17" Type="http://schemas.openxmlformats.org/officeDocument/2006/relationships/customXml" Target="../customXml/item2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11" Type="http://schemas.openxmlformats.org/officeDocument/2006/relationships/presProps" Target="presProps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Relationship Id="rId19-created" Type="http://schemas.openxmlformats.org/officeDocument/2006/relationships/slide" Target="slides/slide8.xml"/><Relationship Id="rId20-created" Type="http://schemas.openxmlformats.org/officeDocument/2006/relationships/slide" Target="slides/slide9.xml"/><Relationship Id="rId21-created" Type="http://schemas.openxmlformats.org/officeDocument/2006/relationships/slide" Target="slides/slide10.xml"/><Relationship Id="rId22-created" Type="http://schemas.openxmlformats.org/officeDocument/2006/relationships/slide" Target="slides/slide11.xml"/><Relationship Id="rId23-created" Type="http://schemas.openxmlformats.org/officeDocument/2006/relationships/slide" Target="slides/slide12.xml"/><Relationship Id="rId24-created" Type="http://schemas.openxmlformats.org/officeDocument/2006/relationships/slide" Target="slides/slide13.xml"/><Relationship Id="rId25-created" Type="http://schemas.openxmlformats.org/officeDocument/2006/relationships/slide" Target="slides/slide14.xml"/><Relationship Id="rId26-created" Type="http://schemas.openxmlformats.org/officeDocument/2006/relationships/slide" Target="slides/slide15.xml"/><Relationship Id="rId27-created" Type="http://schemas.openxmlformats.org/officeDocument/2006/relationships/slide" Target="slides/slide16.xml"/><Relationship Id="rId28-created" Type="http://schemas.openxmlformats.org/officeDocument/2006/relationships/slide" Target="slides/slide17.xml"/><Relationship Id="rId29-created" Type="http://schemas.openxmlformats.org/officeDocument/2006/relationships/slide" Target="slides/slide18.xml"/><Relationship Id="rId30-created" Type="http://schemas.openxmlformats.org/officeDocument/2006/relationships/slide" Target="slides/slide19.xml"/><Relationship Id="rId31-created" Type="http://schemas.openxmlformats.org/officeDocument/2006/relationships/slide" Target="slides/slide20.xml"/><Relationship Id="rId32-created" Type="http://schemas.openxmlformats.org/officeDocument/2006/relationships/slide" Target="slides/slide21.xml"/><Relationship Id="rId33-created" Type="http://schemas.openxmlformats.org/officeDocument/2006/relationships/slide" Target="slides/slide22.xml"/><Relationship Id="rId34-created" Type="http://schemas.openxmlformats.org/officeDocument/2006/relationships/slide" Target="slides/slide23.xml"/><Relationship Id="rId35-created" Type="http://schemas.openxmlformats.org/officeDocument/2006/relationships/slide" Target="slides/slide24.xml"/><Relationship Id="rId36-created" Type="http://schemas.openxmlformats.org/officeDocument/2006/relationships/slide" Target="slides/slide25.xml"/><Relationship Id="rId37-created" Type="http://schemas.openxmlformats.org/officeDocument/2006/relationships/slide" Target="slides/slide26.xml"/><Relationship Id="rId38-created" Type="http://schemas.openxmlformats.org/officeDocument/2006/relationships/slide" Target="slides/slide27.xml"/><Relationship Id="rId39-created" Type="http://schemas.openxmlformats.org/officeDocument/2006/relationships/slide" Target="slides/slide28.xml"/><Relationship Id="rId40-created" Type="http://schemas.openxmlformats.org/officeDocument/2006/relationships/slide" Target="slides/slide29.xml"/><Relationship Id="rId41-created" Type="http://schemas.openxmlformats.org/officeDocument/2006/relationships/slide" Target="slides/slide30.xml"/><Relationship Id="rId42-created" Type="http://schemas.openxmlformats.org/officeDocument/2006/relationships/slide" Target="slides/slide31.xml"/><Relationship Id="rId43-created" Type="http://schemas.openxmlformats.org/officeDocument/2006/relationships/slide" Target="slides/slide32.xml"/><Relationship Id="rId44-created" Type="http://schemas.openxmlformats.org/officeDocument/2006/relationships/slide" Target="slides/slide33.xml"/><Relationship Id="rId45-created" Type="http://schemas.openxmlformats.org/officeDocument/2006/relationships/slide" Target="slides/slide34.xml"/><Relationship Id="rId46-created" Type="http://schemas.openxmlformats.org/officeDocument/2006/relationships/slide" Target="slides/slide35.xml"/><Relationship Id="rId47-created" Type="http://schemas.openxmlformats.org/officeDocument/2006/relationships/slide" Target="slides/slide3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李佳瑋(Verna Lee)" userId="e1c3b0e1-f32c-4f80-a53d-28435f812829" providerId="ADAL" clId="{98DFDF9A-BA9F-460C-9972-2EFD4D4006C5}"/>
    <pc:docChg chg="undo custSel modSld">
      <pc:chgData name="李佳瑋(Verna Lee)" userId="e1c3b0e1-f32c-4f80-a53d-28435f812829" providerId="ADAL" clId="{98DFDF9A-BA9F-460C-9972-2EFD4D4006C5}" dt="2026-07-09T02:00:46.557" v="31" actId="20577"/>
      <pc:docMkLst>
        <pc:docMk/>
      </pc:docMkLst>
      <pc:sldChg chg="modSp mod">
        <pc:chgData name="李佳瑋(Verna Lee)" userId="e1c3b0e1-f32c-4f80-a53d-28435f812829" providerId="ADAL" clId="{98DFDF9A-BA9F-460C-9972-2EFD4D4006C5}" dt="2026-07-09T02:00:46.557" v="31" actId="20577"/>
        <pc:sldMkLst>
          <pc:docMk/>
          <pc:sldMk cId="2405286114" sldId="2147479732"/>
        </pc:sldMkLst>
        <pc:spChg chg="mod">
          <ac:chgData name="李佳瑋(Verna Lee)" userId="e1c3b0e1-f32c-4f80-a53d-28435f812829" providerId="ADAL" clId="{98DFDF9A-BA9F-460C-9972-2EFD4D4006C5}" dt="2026-07-09T02:00:46.557" v="31" actId="20577"/>
          <ac:spMkLst>
            <pc:docMk/>
            <pc:sldMk cId="2405286114" sldId="2147479732"/>
            <ac:spMk id="7" creationId="{B7015A52-C78C-CF8D-BCE5-84E85316611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F220F292-CE53-EB57-05AF-5B0FA193F35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A59F771-CF13-F789-00D5-E17C2F60C9B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CFDE2-6473-4080-A831-20006FDCD7F5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67AFBE0-C5E6-EC79-5695-0B034507F50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DB5B6BF-F741-592B-6177-C1F32AD83B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45ED1B-6EFA-4E36-AE60-E978C66F0D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10105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F6CD30-1523-45E2-9237-ECEAB48C50E8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15F5AC-016A-4A80-A5C2-27F05F9D97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6288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296315A3-9032-F201-BBE0-DCF1E284C8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sp>
        <p:nvSpPr>
          <p:cNvPr id="2" name="標題 22">
            <a:extLst>
              <a:ext uri="{FF2B5EF4-FFF2-40B4-BE49-F238E27FC236}">
                <a16:creationId xmlns:a16="http://schemas.microsoft.com/office/drawing/2014/main" id="{79256E4C-BBB3-F4EF-4575-2E9C1831D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4857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3" name="文字版面配置區 5">
            <a:extLst>
              <a:ext uri="{FF2B5EF4-FFF2-40B4-BE49-F238E27FC236}">
                <a16:creationId xmlns:a16="http://schemas.microsoft.com/office/drawing/2014/main" id="{A6E1F61F-101A-0690-91DE-D0570033B0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5276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pic>
        <p:nvPicPr>
          <p:cNvPr id="5" name="圖形 4">
            <a:extLst>
              <a:ext uri="{FF2B5EF4-FFF2-40B4-BE49-F238E27FC236}">
                <a16:creationId xmlns:a16="http://schemas.microsoft.com/office/drawing/2014/main" id="{D70598D0-A8AD-D246-77FD-6577B18E89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2668" y="450774"/>
            <a:ext cx="3857540" cy="495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473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大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33DF4201-5DEC-2FDC-1DF3-476EEFC04C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23"/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4" name="頁尾版面配置區 4">
            <a:extLst>
              <a:ext uri="{FF2B5EF4-FFF2-40B4-BE49-F238E27FC236}">
                <a16:creationId xmlns:a16="http://schemas.microsoft.com/office/drawing/2014/main" id="{87540F65-87CD-6C6D-7C2F-09D4A4A1E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9" name="投影片編號版面配置區 5">
            <a:extLst>
              <a:ext uri="{FF2B5EF4-FFF2-40B4-BE49-F238E27FC236}">
                <a16:creationId xmlns:a16="http://schemas.microsoft.com/office/drawing/2014/main" id="{5A55E343-F865-91E4-FA15-92BF8924B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E3E0B239-8BA9-5B22-4759-168A4206DD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29029" y="1574164"/>
            <a:ext cx="4491593" cy="412150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5" name="標題 22">
            <a:extLst>
              <a:ext uri="{FF2B5EF4-FFF2-40B4-BE49-F238E27FC236}">
                <a16:creationId xmlns:a16="http://schemas.microsoft.com/office/drawing/2014/main" id="{2DB15313-D7B9-05DF-1CAE-1059D2BCF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83913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扉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40F7A88E-D44F-2933-E9C4-14D87A5665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10" name="標題 22">
            <a:extLst>
              <a:ext uri="{FF2B5EF4-FFF2-40B4-BE49-F238E27FC236}">
                <a16:creationId xmlns:a16="http://schemas.microsoft.com/office/drawing/2014/main" id="{59FA8356-E8DD-76B4-5DAB-17A19E506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291" y="1558384"/>
            <a:ext cx="5359906" cy="913944"/>
          </a:xfrm>
        </p:spPr>
        <p:txBody>
          <a:bodyPr anchor="t">
            <a:normAutofit/>
          </a:bodyPr>
          <a:lstStyle>
            <a:lvl1pPr algn="l">
              <a:defRPr sz="4400"/>
            </a:lvl1pPr>
          </a:lstStyle>
          <a:p>
            <a:endParaRPr lang="zh-TW" altLang="en-US" dirty="0"/>
          </a:p>
        </p:txBody>
      </p:sp>
      <p:sp>
        <p:nvSpPr>
          <p:cNvPr id="6" name="頁尾版面配置區 4">
            <a:extLst>
              <a:ext uri="{FF2B5EF4-FFF2-40B4-BE49-F238E27FC236}">
                <a16:creationId xmlns:a16="http://schemas.microsoft.com/office/drawing/2014/main" id="{D2A5E82D-1701-8097-24BD-A40A303AC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C636A1CB-A47A-70E7-8341-AF4E6A2EB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14" name="文字版面配置區 5">
            <a:extLst>
              <a:ext uri="{FF2B5EF4-FFF2-40B4-BE49-F238E27FC236}">
                <a16:creationId xmlns:a16="http://schemas.microsoft.com/office/drawing/2014/main" id="{3D57D4E3-466B-F37C-94E9-4316C2EDD1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5665" y="2637655"/>
            <a:ext cx="4690533" cy="2467743"/>
          </a:xfrm>
        </p:spPr>
        <p:txBody>
          <a:bodyPr>
            <a:normAutofit/>
          </a:bodyPr>
          <a:lstStyle>
            <a:lvl1pPr marL="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8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  <a:endParaRPr lang="en-US" altLang="zh-TW" dirty="0"/>
          </a:p>
          <a:p>
            <a:pPr lvl="0"/>
            <a:endParaRPr lang="en-US" altLang="zh-TW" dirty="0"/>
          </a:p>
          <a:p>
            <a:pPr lvl="0"/>
            <a:endParaRPr lang="zh-TW" altLang="en-US" dirty="0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83A233EB-4F1C-C1BE-EE2F-E6DCBF9B727B}"/>
              </a:ext>
            </a:extLst>
          </p:cNvPr>
          <p:cNvCxnSpPr>
            <a:cxnSpLocks/>
          </p:cNvCxnSpPr>
          <p:nvPr userDrawn="1"/>
        </p:nvCxnSpPr>
        <p:spPr>
          <a:xfrm>
            <a:off x="1066291" y="2472330"/>
            <a:ext cx="5359906" cy="0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4700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22">
            <a:extLst>
              <a:ext uri="{FF2B5EF4-FFF2-40B4-BE49-F238E27FC236}">
                <a16:creationId xmlns:a16="http://schemas.microsoft.com/office/drawing/2014/main" id="{8DC90A93-214B-7E1A-1224-4B8404FA6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48AED433-A3D3-13A9-C64A-C1BCBD58F6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151745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7222"/>
            <a:ext cx="5427210" cy="495195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9DE40350-99D9-B04A-08E7-7D34B5E2219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59065" y="1437222"/>
            <a:ext cx="5427210" cy="495195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pic>
        <p:nvPicPr>
          <p:cNvPr id="10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B0E74920-CCE3-AD0A-81AD-5076A9113C6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3" name="頁尾版面配置區 4">
            <a:extLst>
              <a:ext uri="{FF2B5EF4-FFF2-40B4-BE49-F238E27FC236}">
                <a16:creationId xmlns:a16="http://schemas.microsoft.com/office/drawing/2014/main" id="{DCFB3551-A66B-5033-9475-EFCF4022B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A0D83EF-D797-A055-3F82-BAFFEC731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7" name="標題 22">
            <a:extLst>
              <a:ext uri="{FF2B5EF4-FFF2-40B4-BE49-F238E27FC236}">
                <a16:creationId xmlns:a16="http://schemas.microsoft.com/office/drawing/2014/main" id="{3FD9C074-B93F-02AC-0718-67BD93B28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8" name="文字版面配置區 5">
            <a:extLst>
              <a:ext uri="{FF2B5EF4-FFF2-40B4-BE49-F238E27FC236}">
                <a16:creationId xmlns:a16="http://schemas.microsoft.com/office/drawing/2014/main" id="{67DD077B-8E85-4451-9E7F-6B3782D4B7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724469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_無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4" name="標題 22">
            <a:extLst>
              <a:ext uri="{FF2B5EF4-FFF2-40B4-BE49-F238E27FC236}">
                <a16:creationId xmlns:a16="http://schemas.microsoft.com/office/drawing/2014/main" id="{AED04AC0-B8AA-CF4B-0B44-9B1DA2343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1089377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5" name="文字版面配置區 5">
            <a:extLst>
              <a:ext uri="{FF2B5EF4-FFF2-40B4-BE49-F238E27FC236}">
                <a16:creationId xmlns:a16="http://schemas.microsoft.com/office/drawing/2014/main" id="{AB0B1B1C-096C-F6D4-901F-F00A7C1836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1089378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55060235-ABDB-2658-8864-CBBC1F24A7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058061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3513CD57-DD09-17D5-B102-6F347923CE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5" name="圖形 4">
            <a:extLst>
              <a:ext uri="{FF2B5EF4-FFF2-40B4-BE49-F238E27FC236}">
                <a16:creationId xmlns:a16="http://schemas.microsoft.com/office/drawing/2014/main" id="{7D4709F3-40B3-06D6-AB2D-93898D13C1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6" name="標題 22">
            <a:extLst>
              <a:ext uri="{FF2B5EF4-FFF2-40B4-BE49-F238E27FC236}">
                <a16:creationId xmlns:a16="http://schemas.microsoft.com/office/drawing/2014/main" id="{23D48F7A-3F1F-4329-1211-400E999EB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3841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7" name="文字版面配置區 5">
            <a:extLst>
              <a:ext uri="{FF2B5EF4-FFF2-40B4-BE49-F238E27FC236}">
                <a16:creationId xmlns:a16="http://schemas.microsoft.com/office/drawing/2014/main" id="{2631B874-6616-2955-7E7A-0E6987140A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4260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3877963235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FDF5C43-AB60-0FED-FFB9-19495D002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1592139-8FC5-3643-4B0D-804E16658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8F6A111-24DC-635D-D015-EDEB19D48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60750B2-8042-7E5A-D4BA-2DC95B8C84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C41E099-1AA8-7B80-DD06-E354FBED5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060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0" indent="-1800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400" b="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72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108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u"/>
        <a:defRPr sz="1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144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p"/>
        <a:defRPr sz="16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9.png"/><Relationship Id="rId3-created" Type="http://schemas.openxmlformats.org/officeDocument/2006/relationships/image" Target="../media/media10.png"/><Relationship Id="rId4-created" Type="http://schemas.openxmlformats.org/officeDocument/2006/relationships/image" Target="../media/media11.png"/><Relationship Id="rId5-created" Type="http://schemas.openxmlformats.org/officeDocument/2006/relationships/image" Target="../media/media12.png"/><Relationship Id="rId6-created" Type="http://schemas.openxmlformats.org/officeDocument/2006/relationships/image" Target="../media/media13.png"/><Relationship Id="rId7-created" Type="http://schemas.openxmlformats.org/officeDocument/2006/relationships/image" Target="../media/media14.png"/><Relationship Id="rId8-created" Type="http://schemas.openxmlformats.org/officeDocument/2006/relationships/image" Target="../media/media15.png"/><Relationship Id="rId9-created" Type="http://schemas.openxmlformats.org/officeDocument/2006/relationships/image" Target="../media/media16.png"/><Relationship Id="rId10-created" Type="http://schemas.openxmlformats.org/officeDocument/2006/relationships/image" Target="../media/media17.png"/><Relationship Id="rId11-created" Type="http://schemas.openxmlformats.org/officeDocument/2006/relationships/image" Target="../media/media18.png"/><Relationship Id="rId12-created" Type="http://schemas.openxmlformats.org/officeDocument/2006/relationships/image" Target="../media/media19.pn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5D9BE6-4BEC-7ECB-2700-52511025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Kafka 安全整合建議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67800F6-27CD-3259-1507-AA36A5B7EC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>
                <a:latin typeface="微軟正黑體"/>
                <a:ea typeface="微軟正黑體"/>
              </a:rPr>
              <a:t>依客戶前提的整體方案,與行內 CyberArk 的整合方式</a:t>
            </a:r>
          </a:p>
        </p:txBody>
      </p:sp>
    </p:spTree>
    <p:extLst>
      <p:ext uri="{BB962C8B-B14F-4D97-AF65-F5344CB8AC3E}">
        <p14:creationId xmlns:p14="http://schemas.microsoft.com/office/powerpoint/2010/main" val="2781418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客戶前提與本方案的對應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每一項前提都有一個明確的做法;細節在後面各章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2" name="9f1a6546-df56-4f6f-87ae-77492493d7ec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79983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客戶前提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本方案的做法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只有 user 與 group;使用者名稱 = CN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人用 AD 帳號登入,授權綁在 AD 群組;服務與平台元件不佔用 AD 帳號;身分名稱以 AD 記錄為準(登入不分大小寫)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憑證要少:共用一張 server 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一張 server 憑證只做傳輸加密、不當身分;需要身分的元件各一張 client 憑證(C3、REST Proxy、初始化用的 bootstrap、經 REST Proxy 的應用系統)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RHEL 9 VM,手動安裝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設定檔 + systemd;維運選單(OP menu)放跳板機;不依賴自動化工具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有系統只能用 HTTP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經 REST Proxy;以 client 憑證為身分,REST Proxy 代為向 MDS 取 token,身分一路傳到 broker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人只能唯讀,依 AD 群組分層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7 個 AD 群組對應角色;需要變更時臨時加入群組、做完移出,Kafka 端零變更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負載平衡用 F5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只放在 REST Proxy 前面,L4 透傳;REST Proxy 連 MDS 設多台即可,不需要 LB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有 CyberArk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當「秘密管理層」:人的特權存取、主機帳號輪替、應用程式取密碼;不改變身分與授權設計(第五章)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3F7094-EC21-E78F-AC34-F4F53628B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一、整體架構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06BFE2-4BF9-CFC3-8E03-EAD162958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D320015-D646-FEF2-0479-8E4932E3E5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元件、連線與四條身分路徑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BE9FD1-8D94-8885-5EBE-98A66BDA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</p:spTree>
    <p:extLst>
      <p:ext uri="{BB962C8B-B14F-4D97-AF65-F5344CB8AC3E}">
        <p14:creationId xmlns:p14="http://schemas.microsoft.com/office/powerpoint/2010/main" val="16725382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整體架構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正式環境的元件與主要連線;內部埠只開給 broker 與 controller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4ccc9f53-7506-4053-9e3f-c28dd027ab5f"/>
          <p:cNvSpPr/>
          <p:nvPr/>
        </p:nvSpPr>
        <p:spPr>
          <a:xfrm>
            <a:off x="548640" y="1727475"/>
            <a:ext cx="1920240" cy="1357596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5c60e55e-d65e-411f-9523-ae3fba95719c"/>
          <p:cNvSpPr/>
          <p:nvPr/>
        </p:nvSpPr>
        <p:spPr>
          <a:xfrm>
            <a:off x="123444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e90a4aa8-91f9-49f3-bef9-d3da6c43d1b0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355141" y="1966751"/>
            <a:ext cx="307238" cy="307238"/>
          </a:xfrm>
          <a:prstGeom prst="rect">
            <a:avLst/>
          </a:prstGeom>
        </p:spPr>
      </p:pic>
      <p:sp>
        <p:nvSpPr>
          <p:cNvPr id="5" name="f67ec701-b9df-44c9-a2c0-894f09b4d673"/>
          <p:cNvSpPr/>
          <p:nvPr/>
        </p:nvSpPr>
        <p:spPr>
          <a:xfrm>
            <a:off x="621792" y="2448697"/>
            <a:ext cx="17739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使用者</a:t>
            </a:r>
            <a:endParaRPr lang="en-US" sz="1400" dirty="0"/>
          </a:p>
        </p:txBody>
      </p:sp>
      <p:sp>
        <p:nvSpPr>
          <p:cNvPr id="6" name="4ecfe0d3-0c40-484f-88e4-a31f9d7a4691"/>
          <p:cNvSpPr/>
          <p:nvPr/>
        </p:nvSpPr>
        <p:spPr>
          <a:xfrm>
            <a:off x="640080" y="2830521"/>
            <a:ext cx="1737360" cy="21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帳號;瀏覽器、工具、腳本</a:t>
            </a:r>
            <a:endParaRPr lang="en-US" sz="1050" dirty="0"/>
          </a:p>
        </p:txBody>
      </p:sp>
      <p:sp>
        <p:nvSpPr>
          <p:cNvPr id="7" name="812b9a56-4ab7-40d9-93c6-0ee239b451cd"/>
          <p:cNvSpPr/>
          <p:nvPr/>
        </p:nvSpPr>
        <p:spPr>
          <a:xfrm>
            <a:off x="548640" y="3212345"/>
            <a:ext cx="1920240" cy="1357596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8" name="1669bf06-2ff8-4fdd-b278-b1f2ca446170"/>
          <p:cNvSpPr/>
          <p:nvPr/>
        </p:nvSpPr>
        <p:spPr>
          <a:xfrm>
            <a:off x="1234440" y="333961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9" name="8954a6c8-581d-44d2-a780-a9583eef516a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1355141" y="3451621"/>
            <a:ext cx="307238" cy="307238"/>
          </a:xfrm>
          <a:prstGeom prst="rect">
            <a:avLst/>
          </a:prstGeom>
        </p:spPr>
      </p:pic>
      <p:sp>
        <p:nvSpPr>
          <p:cNvPr id="10" name="994cf6c6-8368-421d-890d-c7d7f23e08ea"/>
          <p:cNvSpPr/>
          <p:nvPr/>
        </p:nvSpPr>
        <p:spPr>
          <a:xfrm>
            <a:off x="621792" y="3933568"/>
            <a:ext cx="17739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應用系統</a:t>
            </a:r>
            <a:endParaRPr lang="en-US" sz="1400" dirty="0"/>
          </a:p>
        </p:txBody>
      </p:sp>
      <p:sp>
        <p:nvSpPr>
          <p:cNvPr id="11" name="2b3dab78-35d2-436e-ae7a-4c424d621f0f"/>
          <p:cNvSpPr/>
          <p:nvPr/>
        </p:nvSpPr>
        <p:spPr>
          <a:xfrm>
            <a:off x="640080" y="4315391"/>
            <a:ext cx="1737360" cy="21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SCRAM 帳號或 client 憑證</a:t>
            </a:r>
            <a:endParaRPr lang="en-US" sz="1050" dirty="0"/>
          </a:p>
        </p:txBody>
      </p:sp>
      <p:sp>
        <p:nvSpPr>
          <p:cNvPr id="12" name="31c1c98b-7f84-4669-818e-c0d459b8283b"/>
          <p:cNvSpPr/>
          <p:nvPr/>
        </p:nvSpPr>
        <p:spPr>
          <a:xfrm>
            <a:off x="548640" y="4697215"/>
            <a:ext cx="1920240" cy="1357596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3" name="d8f801b5-654c-4983-825c-24a25f87a949"/>
          <p:cNvSpPr/>
          <p:nvPr/>
        </p:nvSpPr>
        <p:spPr>
          <a:xfrm>
            <a:off x="1234440" y="4824490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4" name="8786e340-159b-4684-86f6-36cd3546facb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1355141" y="4936491"/>
            <a:ext cx="307238" cy="307238"/>
          </a:xfrm>
          <a:prstGeom prst="rect">
            <a:avLst/>
          </a:prstGeom>
        </p:spPr>
      </p:pic>
      <p:sp>
        <p:nvSpPr>
          <p:cNvPr id="15" name="fdc42a6d-5d91-4aff-a2cb-b434d83dc732"/>
          <p:cNvSpPr/>
          <p:nvPr/>
        </p:nvSpPr>
        <p:spPr>
          <a:xfrm>
            <a:off x="621792" y="5418438"/>
            <a:ext cx="17739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跳板機 + OP menu</a:t>
            </a:r>
            <a:endParaRPr lang="en-US" sz="1300" dirty="0"/>
          </a:p>
        </p:txBody>
      </p:sp>
      <p:sp>
        <p:nvSpPr>
          <p:cNvPr id="16" name="f8951826-67f1-424f-bfe3-0e57f9daa883"/>
          <p:cNvSpPr/>
          <p:nvPr/>
        </p:nvSpPr>
        <p:spPr>
          <a:xfrm>
            <a:off x="640080" y="5800262"/>
            <a:ext cx="1737360" cy="21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本人 AD 身分</a:t>
            </a:r>
            <a:endParaRPr lang="en-US" sz="1050" dirty="0"/>
          </a:p>
        </p:txBody>
      </p:sp>
      <p:sp>
        <p:nvSpPr>
          <p:cNvPr id="17" name="8e9d730d-f63d-47e2-a8f5-bab73d865166"/>
          <p:cNvSpPr/>
          <p:nvPr/>
        </p:nvSpPr>
        <p:spPr>
          <a:xfrm>
            <a:off x="3017520" y="1727475"/>
            <a:ext cx="2011680" cy="1357596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8" name="a180ab7f-3dbd-42ff-92cb-f8536ea98bc8"/>
          <p:cNvSpPr/>
          <p:nvPr/>
        </p:nvSpPr>
        <p:spPr>
          <a:xfrm>
            <a:off x="374904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9" name="90874954-ba02-477d-8d53-ef6ddd864f05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3869741" y="1966751"/>
            <a:ext cx="307238" cy="307238"/>
          </a:xfrm>
          <a:prstGeom prst="rect">
            <a:avLst/>
          </a:prstGeom>
        </p:spPr>
      </p:pic>
      <p:sp>
        <p:nvSpPr>
          <p:cNvPr id="20" name="6ea829ce-d5ab-4f01-91f3-2e7941454ba7"/>
          <p:cNvSpPr/>
          <p:nvPr/>
        </p:nvSpPr>
        <p:spPr>
          <a:xfrm>
            <a:off x="3090672" y="2448697"/>
            <a:ext cx="186537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 Center</a:t>
            </a:r>
            <a:endParaRPr lang="en-US" sz="1400" dirty="0"/>
          </a:p>
        </p:txBody>
      </p:sp>
      <p:sp>
        <p:nvSpPr>
          <p:cNvPr id="21" name="329efb80-c4ed-4d55-89a6-7af7a142378e"/>
          <p:cNvSpPr/>
          <p:nvPr/>
        </p:nvSpPr>
        <p:spPr>
          <a:xfrm>
            <a:off x="3108960" y="2830521"/>
            <a:ext cx="1828800" cy="21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HTTPS;人用 AD,自身用憑證</a:t>
            </a:r>
            <a:endParaRPr lang="en-US" sz="1050" dirty="0"/>
          </a:p>
        </p:txBody>
      </p:sp>
      <p:sp>
        <p:nvSpPr>
          <p:cNvPr id="22" name="b531fc64-cdc6-4226-aa14-83b59b371371"/>
          <p:cNvSpPr/>
          <p:nvPr/>
        </p:nvSpPr>
        <p:spPr>
          <a:xfrm>
            <a:off x="3017520" y="3212345"/>
            <a:ext cx="2011680" cy="1357596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3" name="980ebf33-3a73-47ad-a4c9-f1951de18bfb"/>
          <p:cNvSpPr/>
          <p:nvPr/>
        </p:nvSpPr>
        <p:spPr>
          <a:xfrm>
            <a:off x="3749040" y="333961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24" name="743b4857-6de2-4372-8f04-592aefe94701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3869741" y="3451621"/>
            <a:ext cx="307238" cy="307238"/>
          </a:xfrm>
          <a:prstGeom prst="rect">
            <a:avLst/>
          </a:prstGeom>
        </p:spPr>
      </p:pic>
      <p:sp>
        <p:nvSpPr>
          <p:cNvPr id="25" name="0853ca26-ad6a-4baa-bb5e-42a8e28fa3d8"/>
          <p:cNvSpPr/>
          <p:nvPr/>
        </p:nvSpPr>
        <p:spPr>
          <a:xfrm>
            <a:off x="3090672" y="3933568"/>
            <a:ext cx="186537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F5 → REST Proxy</a:t>
            </a:r>
            <a:endParaRPr lang="en-US" sz="1400" dirty="0"/>
          </a:p>
        </p:txBody>
      </p:sp>
      <p:sp>
        <p:nvSpPr>
          <p:cNvPr id="26" name="1470c227-5cbc-4104-896f-27288e154e65"/>
          <p:cNvSpPr/>
          <p:nvPr/>
        </p:nvSpPr>
        <p:spPr>
          <a:xfrm>
            <a:off x="3108960" y="4315391"/>
            <a:ext cx="1828800" cy="21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L4 透傳;帳密或 client 憑證</a:t>
            </a:r>
            <a:endParaRPr lang="en-US" sz="1050" dirty="0"/>
          </a:p>
        </p:txBody>
      </p:sp>
      <p:sp>
        <p:nvSpPr>
          <p:cNvPr id="27" name="585bf107-82b6-4abf-a0a7-b65ccb79df96"/>
          <p:cNvSpPr/>
          <p:nvPr/>
        </p:nvSpPr>
        <p:spPr>
          <a:xfrm>
            <a:off x="3017520" y="4697215"/>
            <a:ext cx="2011680" cy="1357596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8" name="0595c129-14a8-4bfc-a1eb-6f98c8e65491"/>
          <p:cNvSpPr/>
          <p:nvPr/>
        </p:nvSpPr>
        <p:spPr>
          <a:xfrm>
            <a:off x="3749040" y="4824490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29" name="fbbbf5b5-d7fa-4563-84ea-d830801888f9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3869741" y="4936491"/>
            <a:ext cx="307238" cy="307238"/>
          </a:xfrm>
          <a:prstGeom prst="rect">
            <a:avLst/>
          </a:prstGeom>
        </p:spPr>
      </p:pic>
      <p:sp>
        <p:nvSpPr>
          <p:cNvPr id="30" name="eeef569f-58c7-4817-a402-86c5d53cbf05"/>
          <p:cNvSpPr/>
          <p:nvPr/>
        </p:nvSpPr>
        <p:spPr>
          <a:xfrm>
            <a:off x="3090672" y="5418438"/>
            <a:ext cx="186537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監控</a:t>
            </a:r>
            <a:endParaRPr lang="en-US" sz="1400" dirty="0"/>
          </a:p>
        </p:txBody>
      </p:sp>
      <p:sp>
        <p:nvSpPr>
          <p:cNvPr id="31" name="e2c68c2a-1006-42be-bbb1-63bc99c28179"/>
          <p:cNvSpPr/>
          <p:nvPr/>
        </p:nvSpPr>
        <p:spPr>
          <a:xfrm>
            <a:off x="3108960" y="5800262"/>
            <a:ext cx="1828800" cy="21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TLS + 帳密</a:t>
            </a:r>
            <a:endParaRPr lang="en-US" sz="1050" dirty="0"/>
          </a:p>
        </p:txBody>
      </p:sp>
      <p:sp>
        <p:nvSpPr>
          <p:cNvPr id="32" name="785b8a82-5992-4d89-b4d9-7162cd9e5a44"/>
          <p:cNvSpPr/>
          <p:nvPr/>
        </p:nvSpPr>
        <p:spPr>
          <a:xfrm>
            <a:off x="5669280" y="1727475"/>
            <a:ext cx="3657600" cy="4412186"/>
          </a:xfrm>
          <a:prstGeom prst="roundRect">
            <a:avLst>
              <a:gd name="adj" fmla="val 54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33" name="aa735947-2121-4d36-97cb-a520d24b32a2"/>
          <p:cNvSpPr/>
          <p:nvPr/>
        </p:nvSpPr>
        <p:spPr>
          <a:xfrm>
            <a:off x="5760720" y="1769899"/>
            <a:ext cx="347472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 叢集</a:t>
            </a:r>
            <a:endParaRPr lang="en-US" sz="1500" dirty="0"/>
          </a:p>
        </p:txBody>
      </p:sp>
      <p:sp>
        <p:nvSpPr>
          <p:cNvPr id="34" name="6afbc95c-b84b-4367-9a7e-15cef5757a9d"/>
          <p:cNvSpPr/>
          <p:nvPr/>
        </p:nvSpPr>
        <p:spPr>
          <a:xfrm>
            <a:off x="5852160" y="2151723"/>
            <a:ext cx="3291840" cy="1357596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35" name="5724d644-3b4d-4691-88ca-5b82ad0f79c4"/>
          <p:cNvSpPr/>
          <p:nvPr/>
        </p:nvSpPr>
        <p:spPr>
          <a:xfrm>
            <a:off x="7223760" y="2278998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36" name="4e2ecb6c-74ce-4165-b277-ea064a544105" descr="preencoded.png">    </p:cNvPr>
          <p:cNvPicPr>
            <a:picLocks noChangeAspect="1"/>
          </p:cNvPicPr>
          <p:nvPr/>
        </p:nvPicPr>
        <p:blipFill>
          <a:blip r:embed="rId8-created"/>
          <a:stretch>
            <a:fillRect/>
          </a:stretch>
        </p:blipFill>
        <p:spPr>
          <a:xfrm>
            <a:off x="7344461" y="2390999"/>
            <a:ext cx="307238" cy="307238"/>
          </a:xfrm>
          <a:prstGeom prst="rect">
            <a:avLst/>
          </a:prstGeom>
        </p:spPr>
      </p:pic>
      <p:sp>
        <p:nvSpPr>
          <p:cNvPr id="37" name="9b3bb768-8f85-446b-8527-24cae2f8be5e"/>
          <p:cNvSpPr/>
          <p:nvPr/>
        </p:nvSpPr>
        <p:spPr>
          <a:xfrm>
            <a:off x="5925312" y="2872946"/>
            <a:ext cx="31455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×N(內建 MDS)</a:t>
            </a:r>
            <a:endParaRPr lang="en-US" sz="1300" dirty="0"/>
          </a:p>
        </p:txBody>
      </p:sp>
      <p:sp>
        <p:nvSpPr>
          <p:cNvPr id="38" name="144cd0d3-bc13-45c3-b3cb-4b9133f69a83"/>
          <p:cNvSpPr/>
          <p:nvPr/>
        </p:nvSpPr>
        <p:spPr>
          <a:xfrm>
            <a:off x="5943600" y="3254770"/>
            <a:ext cx="3108960" cy="21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對外埠:AD 帳密、SCRAM、token</a:t>
            </a:r>
            <a:endParaRPr lang="en-US" sz="1050" dirty="0"/>
          </a:p>
        </p:txBody>
      </p:sp>
      <p:sp>
        <p:nvSpPr>
          <p:cNvPr id="39" name="b632eeab-76c0-4a75-be01-dec569880154"/>
          <p:cNvSpPr/>
          <p:nvPr/>
        </p:nvSpPr>
        <p:spPr>
          <a:xfrm>
            <a:off x="5852160" y="3636594"/>
            <a:ext cx="3291840" cy="1357596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40" name="1ed464e5-de44-4d3f-8a59-1c719dd0da33"/>
          <p:cNvSpPr/>
          <p:nvPr/>
        </p:nvSpPr>
        <p:spPr>
          <a:xfrm>
            <a:off x="7223760" y="3763868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41" name="f08c1c55-7696-430c-9ba8-109b44e8b383" descr="preencoded.png">    </p:cNvPr>
          <p:cNvPicPr>
            <a:picLocks noChangeAspect="1"/>
          </p:cNvPicPr>
          <p:nvPr/>
        </p:nvPicPr>
        <p:blipFill>
          <a:blip r:embed="rId9-created"/>
          <a:stretch>
            <a:fillRect/>
          </a:stretch>
        </p:blipFill>
        <p:spPr>
          <a:xfrm>
            <a:off x="7344461" y="3875870"/>
            <a:ext cx="307238" cy="307238"/>
          </a:xfrm>
          <a:prstGeom prst="rect">
            <a:avLst/>
          </a:prstGeom>
        </p:spPr>
      </p:pic>
      <p:sp>
        <p:nvSpPr>
          <p:cNvPr id="42" name="35f07899-9582-4fc4-a940-be244e2b3a08"/>
          <p:cNvSpPr/>
          <p:nvPr/>
        </p:nvSpPr>
        <p:spPr>
          <a:xfrm>
            <a:off x="5925312" y="4357816"/>
            <a:ext cx="31455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×3</a:t>
            </a:r>
            <a:endParaRPr lang="en-US" sz="1300" dirty="0"/>
          </a:p>
        </p:txBody>
      </p:sp>
      <p:sp>
        <p:nvSpPr>
          <p:cNvPr id="43" name="a2981b75-7f5f-49dd-87c5-d8563af34b53"/>
          <p:cNvSpPr/>
          <p:nvPr/>
        </p:nvSpPr>
        <p:spPr>
          <a:xfrm>
            <a:off x="5943600" y="4739640"/>
            <a:ext cx="3108960" cy="21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內部帳號;只接 broker</a:t>
            </a:r>
            <a:endParaRPr lang="en-US" sz="1050" dirty="0"/>
          </a:p>
        </p:txBody>
      </p:sp>
      <p:sp>
        <p:nvSpPr>
          <p:cNvPr id="44" name="fa1690aa-f3f4-4cbf-bf4f-1bd4a84b6cf2"/>
          <p:cNvSpPr/>
          <p:nvPr/>
        </p:nvSpPr>
        <p:spPr>
          <a:xfrm>
            <a:off x="5852160" y="5079039"/>
            <a:ext cx="3291840" cy="97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內部連線:內部帳號(super user);全部 TLS,共用 server 憑證;MDS 負責驗證、授權、簽 token</a:t>
            </a:r>
            <a:endParaRPr lang="en-US" sz="1050" dirty="0"/>
          </a:p>
        </p:txBody>
      </p:sp>
      <p:sp>
        <p:nvSpPr>
          <p:cNvPr id="45" name="ed1cd926-eae1-473e-8413-b4e12c092451"/>
          <p:cNvSpPr/>
          <p:nvPr/>
        </p:nvSpPr>
        <p:spPr>
          <a:xfrm>
            <a:off x="9692640" y="1727475"/>
            <a:ext cx="1947672" cy="1357596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46" name="6b974110-3447-4be5-8e91-f8fb44f23c28"/>
          <p:cNvSpPr/>
          <p:nvPr/>
        </p:nvSpPr>
        <p:spPr>
          <a:xfrm>
            <a:off x="10392156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7" name="3f2a2d7e-ef37-458d-bb27-1981ac25c43a" descr="preencoded.png">    </p:cNvPr>
          <p:cNvPicPr>
            <a:picLocks noChangeAspect="1"/>
          </p:cNvPicPr>
          <p:nvPr/>
        </p:nvPicPr>
        <p:blipFill>
          <a:blip r:embed="rId10-created"/>
          <a:stretch>
            <a:fillRect/>
          </a:stretch>
        </p:blipFill>
        <p:spPr>
          <a:xfrm>
            <a:off x="10512857" y="1966751"/>
            <a:ext cx="307238" cy="307238"/>
          </a:xfrm>
          <a:prstGeom prst="rect">
            <a:avLst/>
          </a:prstGeom>
        </p:spPr>
      </p:pic>
      <p:sp>
        <p:nvSpPr>
          <p:cNvPr id="48" name="adea51ee-9018-47fd-9f78-bbb0d31bd338"/>
          <p:cNvSpPr/>
          <p:nvPr/>
        </p:nvSpPr>
        <p:spPr>
          <a:xfrm>
            <a:off x="9765792" y="2448697"/>
            <a:ext cx="1801368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</a:t>
            </a:r>
            <a:endParaRPr lang="en-US" sz="1400" dirty="0"/>
          </a:p>
        </p:txBody>
      </p:sp>
      <p:sp>
        <p:nvSpPr>
          <p:cNvPr id="49" name="9e9ce6c9-fd76-4220-8eb9-47e7a709886e"/>
          <p:cNvSpPr/>
          <p:nvPr/>
        </p:nvSpPr>
        <p:spPr>
          <a:xfrm>
            <a:off x="9784080" y="2830521"/>
            <a:ext cx="1764792" cy="21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使用者與群組;加密連線</a:t>
            </a:r>
            <a:endParaRPr lang="en-US" sz="1050" dirty="0"/>
          </a:p>
        </p:txBody>
      </p:sp>
      <p:sp>
        <p:nvSpPr>
          <p:cNvPr id="50" name="d0087488-bffb-4d07-a6da-0a975859cbb1"/>
          <p:cNvSpPr/>
          <p:nvPr/>
        </p:nvSpPr>
        <p:spPr>
          <a:xfrm>
            <a:off x="9692640" y="3212345"/>
            <a:ext cx="1947672" cy="1357596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51" name="c20f4eef-fd91-46a9-86c1-875c5f7a6a03"/>
          <p:cNvSpPr/>
          <p:nvPr/>
        </p:nvSpPr>
        <p:spPr>
          <a:xfrm>
            <a:off x="10392156" y="333961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52" name="69d64cef-c9f9-4d49-a026-8bc445f8bb09" descr="preencoded.png">    </p:cNvPr>
          <p:cNvPicPr>
            <a:picLocks noChangeAspect="1"/>
          </p:cNvPicPr>
          <p:nvPr/>
        </p:nvPicPr>
        <p:blipFill>
          <a:blip r:embed="rId11-created"/>
          <a:stretch>
            <a:fillRect/>
          </a:stretch>
        </p:blipFill>
        <p:spPr>
          <a:xfrm>
            <a:off x="10512857" y="3451621"/>
            <a:ext cx="307238" cy="307238"/>
          </a:xfrm>
          <a:prstGeom prst="rect">
            <a:avLst/>
          </a:prstGeom>
        </p:spPr>
      </p:pic>
      <p:sp>
        <p:nvSpPr>
          <p:cNvPr id="53" name="31754ed2-f21e-4056-aace-89d6cec98a69"/>
          <p:cNvSpPr/>
          <p:nvPr/>
        </p:nvSpPr>
        <p:spPr>
          <a:xfrm>
            <a:off x="9765792" y="3933568"/>
            <a:ext cx="1801368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CyberArk</a:t>
            </a:r>
            <a:endParaRPr lang="en-US" sz="1400" dirty="0"/>
          </a:p>
        </p:txBody>
      </p:sp>
      <p:sp>
        <p:nvSpPr>
          <p:cNvPr id="54" name="2f013c88-32e7-40a1-b99e-cc999e08a728"/>
          <p:cNvSpPr/>
          <p:nvPr/>
        </p:nvSpPr>
        <p:spPr>
          <a:xfrm>
            <a:off x="9784080" y="4315391"/>
            <a:ext cx="1764792" cy="21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PSM、CPM、CCP</a:t>
            </a:r>
            <a:endParaRPr lang="en-US" sz="1050" dirty="0"/>
          </a:p>
        </p:txBody>
      </p:sp>
      <p:sp>
        <p:nvSpPr>
          <p:cNvPr id="55" name="33cf8886-1711-4ff7-acb7-3173c79621f5"/>
          <p:cNvSpPr/>
          <p:nvPr/>
        </p:nvSpPr>
        <p:spPr>
          <a:xfrm>
            <a:off x="9692640" y="4697215"/>
            <a:ext cx="1947672" cy="1357596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56" name="00213f40-e90c-44a0-8e10-782a3499115f"/>
          <p:cNvSpPr/>
          <p:nvPr/>
        </p:nvSpPr>
        <p:spPr>
          <a:xfrm>
            <a:off x="10392156" y="4824490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57" name="90a9a356-66dd-435a-b99a-fbd7c5b48961" descr="preencoded.png">    </p:cNvPr>
          <p:cNvPicPr>
            <a:picLocks noChangeAspect="1"/>
          </p:cNvPicPr>
          <p:nvPr/>
        </p:nvPicPr>
        <p:blipFill>
          <a:blip r:embed="rId12-created"/>
          <a:stretch>
            <a:fillRect/>
          </a:stretch>
        </p:blipFill>
        <p:spPr>
          <a:xfrm>
            <a:off x="10512857" y="4936491"/>
            <a:ext cx="307238" cy="307238"/>
          </a:xfrm>
          <a:prstGeom prst="rect">
            <a:avLst/>
          </a:prstGeom>
        </p:spPr>
      </p:pic>
      <p:sp>
        <p:nvSpPr>
          <p:cNvPr id="58" name="69163aba-84d5-4df0-9319-8a45aed99932"/>
          <p:cNvSpPr/>
          <p:nvPr/>
        </p:nvSpPr>
        <p:spPr>
          <a:xfrm>
            <a:off x="9765792" y="5418438"/>
            <a:ext cx="1801368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防火牆</a:t>
            </a:r>
            <a:endParaRPr lang="en-US" sz="1400" dirty="0"/>
          </a:p>
        </p:txBody>
      </p:sp>
      <p:sp>
        <p:nvSpPr>
          <p:cNvPr id="59" name="a41ba80b-75a0-47d2-b914-1579d1aa1e16"/>
          <p:cNvSpPr/>
          <p:nvPr/>
        </p:nvSpPr>
        <p:spPr>
          <a:xfrm>
            <a:off x="9784080" y="5800262"/>
            <a:ext cx="1764792" cy="21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內部埠只開給叢集</a:t>
            </a:r>
            <a:endParaRPr lang="en-US" sz="1050" dirty="0"/>
          </a:p>
        </p:txBody>
      </p:sp>
      <p:sp>
        <p:nvSpPr>
          <p:cNvPr id="60" name="5f93aa23-d4cf-413f-93de-ee587a22878a"/>
          <p:cNvSpPr/>
          <p:nvPr/>
        </p:nvSpPr>
        <p:spPr>
          <a:xfrm>
            <a:off x="2468880" y="2406272"/>
            <a:ext cx="548640" cy="0"/>
          </a:xfrm>
          <a:prstGeom prst="line">
            <a:avLst/>
          </a:prstGeom>
          <a:noFill/>
          <a:ln w="2857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61" name="2e10da7e-ba74-48d6-b385-7381ce1cec9f"/>
          <p:cNvSpPr/>
          <p:nvPr/>
        </p:nvSpPr>
        <p:spPr>
          <a:xfrm>
            <a:off x="2468880" y="3891143"/>
            <a:ext cx="548640" cy="0"/>
          </a:xfrm>
          <a:prstGeom prst="line">
            <a:avLst/>
          </a:prstGeom>
          <a:noFill/>
          <a:ln w="2857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62" name="31de0eaf-dbbe-4772-87e2-c5b4c8bc0e27"/>
          <p:cNvSpPr/>
          <p:nvPr/>
        </p:nvSpPr>
        <p:spPr>
          <a:xfrm>
            <a:off x="5029200" y="2406272"/>
            <a:ext cx="640080" cy="212124"/>
          </a:xfrm>
          <a:prstGeom prst="line">
            <a:avLst/>
          </a:prstGeom>
          <a:noFill/>
          <a:ln w="28575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63" name="ed96acd1-6813-4636-ab6b-6749ca6dfe76"/>
          <p:cNvSpPr/>
          <p:nvPr/>
        </p:nvSpPr>
        <p:spPr>
          <a:xfrm flipV="1">
            <a:off x="5029200" y="3212345"/>
            <a:ext cx="640080" cy="678798"/>
          </a:xfrm>
          <a:prstGeom prst="line">
            <a:avLst/>
          </a:prstGeom>
          <a:noFill/>
          <a:ln w="28575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64" name="44e33789-c8be-4ea9-9b84-4cc28094ba72"/>
          <p:cNvSpPr/>
          <p:nvPr/>
        </p:nvSpPr>
        <p:spPr>
          <a:xfrm flipV="1">
            <a:off x="9235440" y="2406272"/>
            <a:ext cx="457200" cy="296974"/>
          </a:xfrm>
          <a:prstGeom prst="line">
            <a:avLst/>
          </a:prstGeom>
          <a:noFill/>
          <a:ln w="2857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65" name="a931ddfb-bedf-4b0e-84ac-181953cafc73"/>
          <p:cNvSpPr/>
          <p:nvPr/>
        </p:nvSpPr>
        <p:spPr>
          <a:xfrm flipH="1">
            <a:off x="9235440" y="3891143"/>
            <a:ext cx="457200" cy="0"/>
          </a:xfrm>
          <a:prstGeom prst="line">
            <a:avLst/>
          </a:prstGeom>
          <a:noFill/>
          <a:ln w="28575">
            <a:solidFill>
              <a:srgbClr val="B3261E"/>
            </a:solidFill>
            <a:prstDash val="dash"/>
            <a:tailEnd type="triangle"/>
          </a:ln>
        </p:spPr>
      </p:sp>
      <p:sp>
        <p:nvSpPr>
          <p:cNvPr id="66" name="1fa3206f-1351-4f53-83f4-9fd75e70c1c0"/>
          <p:cNvSpPr/>
          <p:nvPr/>
        </p:nvSpPr>
        <p:spPr>
          <a:xfrm>
            <a:off x="2468880" y="5376013"/>
            <a:ext cx="3200400" cy="42425"/>
          </a:xfrm>
          <a:prstGeom prst="line">
            <a:avLst/>
          </a:prstGeom>
          <a:noFill/>
          <a:ln w="28575">
            <a:solidFill>
              <a:srgbClr val="156082"/>
            </a:solidFill>
            <a:prstDash val="dash"/>
            <a:tailEnd type="triangle"/>
          </a:ln>
        </p:spPr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四條身分路徑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誰用什麼身分進來;最後都由 broker 的 RBAC 判斷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4" name="9fab25f6-caaf-4919-b06c-af61f9446e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017520"/>
                <a:gridCol w="3200400"/>
                <a:gridCol w="313639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對象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密碼或憑證放哪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80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帳密 → MDS 向 AD 驗證 → 簽發 1 小時 token;C3 與 REST Proxy 以本人身分連 broker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角色綁在 AD 群組;依「現在」的群組判斷,異動立即生效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AD;不經 CyberArk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服務(直連)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內建 SCRAM 帳號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角色綁在帳號上;只開放自己的 topic 與 consumer group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內 + 應用端;密碼由 CyberArk 保管與取用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80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平台元件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憑證(C3、REST Proxy、bootstrap)向 MDS 換 token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必須是 SystemAdmin(官方要求);REST Proxy 可代為申請,受保護清單擋特權身分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各主機 0600;私鑰可由 CyberArk 保管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只能 HTTP 的系統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憑證經 REST Proxy,代為向 MDS 取 token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角色綁在憑證的名稱上;broker 看到的是該系統,不是 REST Proxy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應用端;私鑰可由 CyberArk 保管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3" name="c201eb05-a5ed-40b1-af4d-46d606721a72"/>
          <p:cNvSpPr/>
          <p:nvPr/>
        </p:nvSpPr>
        <p:spPr>
          <a:xfrm>
            <a:off x="548640" y="5672987"/>
            <a:ext cx="11091672" cy="39030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共用 server 憑證只做傳輸加密;把它當身分會讓所有持有者變成同一個人(實測),所以不綁任何角色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3F7094-EC21-E78F-AC34-F4F53628B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二、人與授權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06BFE2-4BF9-CFC3-8E03-EAD162958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D320015-D646-FEF2-0479-8E4932E3E5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AD 帳號、7 個群組、唯讀與臨時提權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BE9FD1-8D94-8885-5EBE-98A66BDA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</p:spTree>
    <p:extLst>
      <p:ext uri="{BB962C8B-B14F-4D97-AF65-F5344CB8AC3E}">
        <p14:creationId xmlns:p14="http://schemas.microsoft.com/office/powerpoint/2010/main" val="16725382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人:AD 帳號登入,授權跟著群組走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帳號與群組都在 AD;人員異動只改 AD,Kafka 端不用改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5" name="328c2b95-1243-46af-b9d0-e3589e5b12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71423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做法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登入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C3、REST Proxy、工具、OP menu 都用 AD 帳密;登入大小寫不分,系統內的身分名稱以 AD 記錄的 CN 為準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角色綁在 AD 群組;加入群組約數秒生效(MDS 定期重讀群組);移出群組後已發出的 token 立刻失去權限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離職與調動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只改 AD;帳號停用前,已發出的 token 在到期前仍能通過認證但沒有任何權限,所以離職要同時停用 AD 帳號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角色綁定的主體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群組用 Group:名稱;個人與憑證用 User:名稱,區分大小寫,要寫 AD 記錄的寫法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唯讀原則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正式環境人只有讀取權;建 topic、改授權、看叢集狀態分給三個維運群組,臨時加入、做完移出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13a22d7d-caf1-4976-90db-450c166958e8"/>
          <p:cNvSpPr/>
          <p:nvPr/>
        </p:nvSpPr>
        <p:spPr>
          <a:xfrm>
            <a:off x="548640" y="5588137"/>
            <a:ext cx="11091672" cy="39030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人的 AD 密碼不經 CyberArk;CyberArk 管的是「主機登入」與「機器密碼」(第五章)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AD 群組與角色(7 組)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高權限群組平常是空的;每個群組指定負責人,定期覆核成員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6" name="54792aba-33a3-46b6-a83a-530c03cfc79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657600"/>
                <a:gridCol w="469087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群組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對應的角色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實際能做什麼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466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kafka-&lt;系統&gt;-read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DeveloperRead(該系統的 topic)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看 topic、讀資料;正式環境人的日常權限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kafka-ops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Operator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看叢集狀態;建不了 topic、讀不到資料、改不了授權,連 topic 細節也看不到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66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kafka-topic-admin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ResourceOwner(Topic、Group)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建立、刪除、修改 topic 與 consumer group,讀得到資料,並能在自己範圍內改授權 → 強角色,只臨時加入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kafka-cluster-admin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ClusterAdmin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叢集設定、建立應用系統的 SCRAM 帳號;不能讀寫資料、不能改授權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66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kafka-rbac-admin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UserAdmin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只管授權(指派、移除角色),不能建 topic、不能讀資料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kafka-security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SecurityAdmin、AuditAdmin、audit 紀錄的讀取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檢視授權設定、audit 設定與紀錄;不能改授權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66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kafka-breakglass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SystemAdmin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全部權限;平常沒有人,緊急時經核准臨時加入,事後移出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de44fc49-42a9-4b98-826a-26a305f1e4ae"/>
          <p:cNvSpPr/>
          <p:nvPr/>
        </p:nvSpPr>
        <p:spPr>
          <a:xfrm>
            <a:off x="548640" y="5715412"/>
            <a:ext cx="11091672" cy="39030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「能做什麼」是實測結果,不是推論;topic-admin 比直覺強,所以列為臨時角色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人只能唯讀:臨時提權與收回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需要變更時的流程;全程只動 AD,Kafka 端零變更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e181019d-3446-4a50-b48e-05706ef9814a"/>
          <p:cNvSpPr/>
          <p:nvPr/>
        </p:nvSpPr>
        <p:spPr>
          <a:xfrm>
            <a:off x="548640" y="1769899"/>
            <a:ext cx="2103120" cy="1951544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96b22f54-69a1-4202-a936-327d3daaf8e2"/>
          <p:cNvSpPr/>
          <p:nvPr/>
        </p:nvSpPr>
        <p:spPr>
          <a:xfrm>
            <a:off x="65836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a84d2b55-8a11-4106-9a3a-e7885b68955c"/>
          <p:cNvSpPr/>
          <p:nvPr/>
        </p:nvSpPr>
        <p:spPr>
          <a:xfrm>
            <a:off x="640080" y="2295968"/>
            <a:ext cx="192024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申請</a:t>
            </a:r>
            <a:endParaRPr lang="en-US" sz="1400" dirty="0"/>
          </a:p>
        </p:txBody>
      </p:sp>
      <p:sp>
        <p:nvSpPr>
          <p:cNvPr id="5" name="93fe93c8-5ed0-4922-a19e-a9ffb147da40"/>
          <p:cNvSpPr/>
          <p:nvPr/>
        </p:nvSpPr>
        <p:spPr>
          <a:xfrm>
            <a:off x="640080" y="2745671"/>
            <a:ext cx="192024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依現行核准方式提出;指定群組與時限</a:t>
            </a:r>
            <a:endParaRPr lang="en-US" sz="1100" dirty="0"/>
          </a:p>
        </p:txBody>
      </p:sp>
      <p:sp>
        <p:nvSpPr>
          <p:cNvPr id="6" name="e12394ed-f433-4cad-8fdb-90798398f42b"/>
          <p:cNvSpPr/>
          <p:nvPr/>
        </p:nvSpPr>
        <p:spPr>
          <a:xfrm>
            <a:off x="2834640" y="1769899"/>
            <a:ext cx="2103120" cy="1951544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7" name="f8487c6b-a2bc-429a-8e02-bbff6b71a5dd"/>
          <p:cNvSpPr/>
          <p:nvPr/>
        </p:nvSpPr>
        <p:spPr>
          <a:xfrm>
            <a:off x="294436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3f4772ff-2fa9-43cc-8080-0d2e7ea9e403"/>
          <p:cNvSpPr/>
          <p:nvPr/>
        </p:nvSpPr>
        <p:spPr>
          <a:xfrm>
            <a:off x="2926080" y="2295968"/>
            <a:ext cx="192024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加入 AD 群組</a:t>
            </a:r>
            <a:endParaRPr lang="en-US" sz="1400" dirty="0"/>
          </a:p>
        </p:txBody>
      </p:sp>
      <p:sp>
        <p:nvSpPr>
          <p:cNvPr id="9" name="4f508a46-ad1e-458e-8e55-5f46eb605d0b"/>
          <p:cNvSpPr/>
          <p:nvPr/>
        </p:nvSpPr>
        <p:spPr>
          <a:xfrm>
            <a:off x="2926080" y="2745671"/>
            <a:ext cx="192024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管理員把人加進 kafka-topic-admin 等群組</a:t>
            </a:r>
            <a:endParaRPr lang="en-US" sz="1100" dirty="0"/>
          </a:p>
        </p:txBody>
      </p:sp>
      <p:sp>
        <p:nvSpPr>
          <p:cNvPr id="10" name="8c6c06a9-6d06-4f8f-afc2-a202b957f5bb"/>
          <p:cNvSpPr/>
          <p:nvPr/>
        </p:nvSpPr>
        <p:spPr>
          <a:xfrm>
            <a:off x="5120640" y="1769899"/>
            <a:ext cx="2103120" cy="1951544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1" name="fd2aea54-ee00-4113-8eac-22020ede4541"/>
          <p:cNvSpPr/>
          <p:nvPr/>
        </p:nvSpPr>
        <p:spPr>
          <a:xfrm>
            <a:off x="523036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96B24"/>
          </a:solidFill>
          <a:ln w="19050">
            <a:solidFill>
              <a:srgbClr val="196B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28e9a44f-f2f3-44ca-915c-017104f6735e"/>
          <p:cNvSpPr/>
          <p:nvPr/>
        </p:nvSpPr>
        <p:spPr>
          <a:xfrm>
            <a:off x="5212080" y="2295968"/>
            <a:ext cx="192024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數秒內生效</a:t>
            </a:r>
            <a:endParaRPr lang="en-US" sz="1400" dirty="0"/>
          </a:p>
        </p:txBody>
      </p:sp>
      <p:sp>
        <p:nvSpPr>
          <p:cNvPr id="13" name="64628a35-67cd-4db9-8b6f-4b8cff7bfd40"/>
          <p:cNvSpPr/>
          <p:nvPr/>
        </p:nvSpPr>
        <p:spPr>
          <a:xfrm>
            <a:off x="5212080" y="2745671"/>
            <a:ext cx="192024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定期重讀群組;本人用同一個帳號操作</a:t>
            </a:r>
            <a:endParaRPr lang="en-US" sz="1100" dirty="0"/>
          </a:p>
        </p:txBody>
      </p:sp>
      <p:sp>
        <p:nvSpPr>
          <p:cNvPr id="14" name="8a98929b-7f65-4583-a542-f7c7e7b95e33"/>
          <p:cNvSpPr/>
          <p:nvPr/>
        </p:nvSpPr>
        <p:spPr>
          <a:xfrm>
            <a:off x="7406640" y="1769899"/>
            <a:ext cx="2103120" cy="1951544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5" name="2e1dd83a-4488-47ce-a5de-e7e2b72445ed"/>
          <p:cNvSpPr/>
          <p:nvPr/>
        </p:nvSpPr>
        <p:spPr>
          <a:xfrm>
            <a:off x="751636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96B24"/>
          </a:solidFill>
          <a:ln w="19050">
            <a:solidFill>
              <a:srgbClr val="196B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a24223b7-666b-473b-8485-ed61d14245eb"/>
          <p:cNvSpPr/>
          <p:nvPr/>
        </p:nvSpPr>
        <p:spPr>
          <a:xfrm>
            <a:off x="7498080" y="2295968"/>
            <a:ext cx="192024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做完移出</a:t>
            </a:r>
            <a:endParaRPr lang="en-US" sz="1400" dirty="0"/>
          </a:p>
        </p:txBody>
      </p:sp>
      <p:sp>
        <p:nvSpPr>
          <p:cNvPr id="17" name="231e2dde-1d29-4769-859c-64be041ba140"/>
          <p:cNvSpPr/>
          <p:nvPr/>
        </p:nvSpPr>
        <p:spPr>
          <a:xfrm>
            <a:off x="7498080" y="2745671"/>
            <a:ext cx="192024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時限到或工作完成即移出;已發出的 token 立刻失去權限</a:t>
            </a:r>
            <a:endParaRPr lang="en-US" sz="1100" dirty="0"/>
          </a:p>
        </p:txBody>
      </p:sp>
      <p:sp>
        <p:nvSpPr>
          <p:cNvPr id="18" name="d097adfd-09bb-406f-8438-1676a2e9e0bf"/>
          <p:cNvSpPr/>
          <p:nvPr/>
        </p:nvSpPr>
        <p:spPr>
          <a:xfrm>
            <a:off x="9692640" y="1769899"/>
            <a:ext cx="1947672" cy="1951544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19" name="b9d2c490-4735-4779-9f97-c52221efd27a"/>
          <p:cNvSpPr/>
          <p:nvPr/>
        </p:nvSpPr>
        <p:spPr>
          <a:xfrm>
            <a:off x="980236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7A4EAB"/>
          </a:solidFill>
          <a:ln w="19050">
            <a:solidFill>
              <a:srgbClr val="7A4EA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acd81bb4-bf6a-4743-9ba6-2feb91db238f"/>
          <p:cNvSpPr/>
          <p:nvPr/>
        </p:nvSpPr>
        <p:spPr>
          <a:xfrm>
            <a:off x="9784080" y="2295968"/>
            <a:ext cx="1764792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事後可查</a:t>
            </a:r>
            <a:endParaRPr lang="en-US" sz="1400" dirty="0"/>
          </a:p>
        </p:txBody>
      </p:sp>
      <p:sp>
        <p:nvSpPr>
          <p:cNvPr id="21" name="f29d6b43-0d5e-47bf-b6be-4b43e9b295e6"/>
          <p:cNvSpPr/>
          <p:nvPr/>
        </p:nvSpPr>
        <p:spPr>
          <a:xfrm>
            <a:off x="9784080" y="2745671"/>
            <a:ext cx="1764792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紀錄:誰、什麼時候、對什麼做了什麼、結果</a:t>
            </a:r>
            <a:endParaRPr lang="en-US" sz="1100" dirty="0"/>
          </a:p>
        </p:txBody>
      </p:sp>
      <p:sp>
        <p:nvSpPr>
          <p:cNvPr id="22" name="d9d12fce-e1f0-48b0-b4fa-12fa8adae327"/>
          <p:cNvSpPr/>
          <p:nvPr/>
        </p:nvSpPr>
        <p:spPr>
          <a:xfrm>
            <a:off x="2651760" y="2745671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3" name="da0f965f-dc23-4084-973d-e3f256953a09"/>
          <p:cNvSpPr/>
          <p:nvPr/>
        </p:nvSpPr>
        <p:spPr>
          <a:xfrm>
            <a:off x="4937760" y="2745671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4" name="d052d705-2239-471d-84f2-372e1fcc2611"/>
          <p:cNvSpPr/>
          <p:nvPr/>
        </p:nvSpPr>
        <p:spPr>
          <a:xfrm>
            <a:off x="7223760" y="2745671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5" name="71ceaf2c-c819-464e-aa73-06526f12c740"/>
          <p:cNvSpPr/>
          <p:nvPr/>
        </p:nvSpPr>
        <p:spPr>
          <a:xfrm>
            <a:off x="9509760" y="2745671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graphicFrame>
        <p:nvGraphicFramePr>
          <p:cNvPr id="7" name="5b4c8e1d-a478-40ad-8dd8-4cad1739e9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060842"/>
          <a:ext cx="68580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348472"/>
              </a:tblGrid>
              <a:tr h="3393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情境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加入哪個群組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356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看叢集健康、分割區狀態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kafka-ops(看得到、改不了)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建立或修改 topic、重設 consumer 讀取位置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kafka-topic-admin(強角色,做完立刻移出)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56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新系統上線要授權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kafka-rbac-admin(只管授權)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建立應用系統帳號、叢集設定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kafka-cluster-admin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3F7094-EC21-E78F-AC34-F4F53628B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三、應用系統、平台元件與線路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06BFE2-4BF9-CFC3-8E03-EAD162958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D320015-D646-FEF2-0479-8E4932E3E5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SCRAM、client 憑證、F5、傳輸加密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BE9FD1-8D94-8885-5EBE-98A66BDA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</p:spTree>
    <p:extLst>
      <p:ext uri="{BB962C8B-B14F-4D97-AF65-F5344CB8AC3E}">
        <p14:creationId xmlns:p14="http://schemas.microsoft.com/office/powerpoint/2010/main" val="16725382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應用系統:兩種連線方式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能用 Kafka 用戶端的直連;只能 HTTP 的經 REST Proxy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8" name="7c896146-d178-41b1-be13-a6f3d7d304d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480560"/>
                <a:gridCol w="450799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直連 broker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經 REST Proxy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SCRAM 帳號(Kafka 內建,不佔 AD)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憑證;REST Proxy 以自己的憑證向 MDS 代為申請該系統的 token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角色綁在帳號上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角色綁在憑證的名稱上;broker 與 audit 看到的是該系統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最小權限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只開放自己的 topic 與 consumer group;碰別的 topic 被拒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相同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上線流程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建帳號 → 綁角色 → 密碼交付(建議經 CyberArk)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簽憑證 → 綁角色 → 私鑰交付(建議經 CyberArk)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密碼或憑證更換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新帳號並行 → 應用切換 → 停舊,不中斷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憑證到期前換發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必要的保護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密碼不落地:啟動時從 CyberArk 取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受保護清單:管理員與平台身分不可被代為申請;清單區分大小寫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3" name="949557d4-9f6c-4588-8b72-afb53371e082"/>
          <p:cNvSpPr/>
          <p:nvPr/>
        </p:nvSpPr>
        <p:spPr>
          <a:xfrm>
            <a:off x="548640" y="5672987"/>
            <a:ext cx="11091672" cy="39030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 的憑證可以代任何不在受保護清單的身分,所以清單要列入所有特權身分,寫法要與 AD 記錄一致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平台元件與憑證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憑證總數:一張共用 server 憑證 + 各元件一張 client 憑證 + 經 REST Proxy 的系統各一張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9" name="5df73f09-e0b4-41de-86fa-46f7f197b89d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206240"/>
                <a:gridCol w="414223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用途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要注意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</a:tr>
              <a:tr h="54303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共用 server 憑證(1 張)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所有元件的 TLS 加密;名稱要涵蓋所有主機與 F5 的名稱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只做加密、不當身分、不綁任何角色;不要收斂憑證用途(C3 內部會出示它)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303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的 client 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自身向 MDS 認證;該身分必須是 SystemAdmin(官方要求)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拿到私鑰等於管理員:檔案權限、不入版本庫、列入受保護清單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4303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 的 client 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代應用系統向 MDS 申請 token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同上;受保護清單擋特權身分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303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bootstrap 的 client 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初始化第一批授權;平常不用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封存,建議由 CyberArk 保管、依單借出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4303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只能 HTTP 的系統各一張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該系統的身分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隨系統數增加;命名規範先定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5ef25e35-cbc2-47f7-bd70-2ab36d6d726c"/>
          <p:cNvSpPr/>
          <p:nvPr/>
        </p:nvSpPr>
        <p:spPr>
          <a:xfrm>
            <a:off x="548640" y="5460863"/>
            <a:ext cx="11091672" cy="39030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CA 可用行內既有的 AD CS;若 CyberArk 含 Certificate Manager 也可由它簽發與續期(選配)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負載平衡(F5)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只放在 REST Proxy 前面;其他連線不需要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10" name="65562794-b0ae-4e69-90d7-b30c5b671a7c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71423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做法與依據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位置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應用系統 → F5 → REST Proxy ×N;broker、MDS、C3 不經 F5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模式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L4(TCP)透傳。F5 不終止 TLS:終止會讓 REST Proxy 看不到 client 憑證,憑證身分全部失效(實測 401)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危險設定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F5 終止 TLS 再用固定憑證連後端:所有呼叫者(含沒憑證的)都變成同一個身分(實測)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server 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名稱要含 F5 的虛擬伺服器名稱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consumer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 的 consumer 實例綁在某一台,需要 sticky(同一來源固定到同一台);producer 不需要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 → MDS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設定多台 MDS 位址即可自動切換(實測:停一台仍全部成功,首次切換約 8 秒),不需要 LB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要確認的 F5 設定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虛擬伺服器類型、後端 TLS session 復用、persistence、idle timeout、SNAT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傳輸加密與入口保護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每一條線都加密;每一個入口都要認證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11" name="4d120f75-bc54-4fcf-b625-98b534d4fb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572000"/>
                <a:gridCol w="359359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線路或入口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做法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說明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 → AD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加密連線(636 埠),信任行內 CA;只有連 AD 的 broker 需要信任庫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憑證若有中繼 CA,信任庫要放進中繼 CA(實測)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使用者 → C3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只開 HTTPS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使用者端要信任行內 CA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Prometheus、Alertmanager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TLS + 帳密;C3 與 broker 推送指標都帶帳密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沒有細部授權:帳密依用途分開;日誌會印出帳密標頭,要保護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 內建 Admin REST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依官方設定安全擴充:匿名擋下、依使用者角色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未設定時完全沒有認證;與 MDS 共用埠,不能靠防火牆擋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內部埠(broker 互連、controller)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防火牆只開給叢集節點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內部帳號是 super user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應用與工具 → broker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TLS;人用 AD 帳密、服務用 SCRAM、元件用 token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同一個對外埠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監控、告警與稽核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看得到、告得了、查得到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12" name="3c2e4533-59d3-41d2-accc-a744e821531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853135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做法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</a:tr>
              <a:tr h="5939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監控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搭配 Prometheus;指標由 broker 推送;維護前用 OP menu 對該節點靜音告警,做完即結束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39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告警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Alertmanager 路由;靜音與告警變更要有人看(有帳密就能靜音,所以帳密分開)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939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稽核(audit)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 寫入 audit 事件:誰、什麼時候、對什麼、允許或拒絕;授權變更(含非管理員的嘗試)都有紀錄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39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定期覆核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OP menu 匯出權限清單(角色、主體、資源範圍)供覆核;SystemAdmin 保持最少人數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939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紀錄保護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OP menu 每個動作留紀錄並集中到 syslog;C3、Prometheus 日誌含帳密標頭,權限要收緊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3F7094-EC21-E78F-AC34-F4F53628B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四、日常維運與緊急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06BFE2-4BF9-CFC3-8E03-EAD162958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D320015-D646-FEF2-0479-8E4932E3E5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OP menu、跳板機與主機、初始化與緊急模式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BE9FD1-8D94-8885-5EBE-98A66BDA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</p:spTree>
    <p:extLst>
      <p:ext uri="{BB962C8B-B14F-4D97-AF65-F5344CB8AC3E}">
        <p14:creationId xmlns:p14="http://schemas.microsoft.com/office/powerpoint/2010/main" val="16725382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OP menu:分層與真正的門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操作員只從選單執行審核過的作業;選單不判斷權限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13" name="11e249f5-ea5b-4556-bb27-4b04b10c0a8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468880"/>
                <a:gridCol w="4480560"/>
                <a:gridCol w="249631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層級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誰用(AD 群組)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真正的門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6787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值班查看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kafka-ops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健康檢查(含身分鏈)、topic 狀態、consumer 落後量、磁碟、憑證到期日、leader 分布、生效設定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RBAC:唯讀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87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服務操作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kafka-ops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重啟單一 broker、滾動重啟、維護模式、查看服務日誌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各節點 sudo 規則;一次一台,每台等叢集恢復才換下一台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787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變更作業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kafka-topic-admin;kafka-cluster-admin + kafka-rbac-admin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建立或修改 topic、應用系統帳號上線與下架、更換密碼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RBAC;執行前顯示影響並要求確認;可限制時段、同一時間只允許一人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87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授權與緊急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kafka-rbac-admin、kafka-security;緊急模式依 sudo 規則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指派權限、匯出與查詢 audit、匯出權限清單、緊急模式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RBAC;緊急模式經 sudo 切換專用帳號,逐條記錄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3" name="ca3f370d-7043-4ff6-b11b-982cc8a26e4d"/>
          <p:cNvSpPr/>
          <p:nvPr/>
        </p:nvSpPr>
        <p:spPr>
          <a:xfrm>
            <a:off x="548640" y="5418438"/>
            <a:ext cx="11091672" cy="39030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 的動作由 RBAC 依本人 AD 帳號判斷;主機的動作由 sudo 規則判斷;每次執行留紀錄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跳板機與主機:兩種情況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不影響 Kafka 本身(broker 查 AD 不需要主機加入網域);只影響人怎麼登入主機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14" name="2a29a608-43bd-4373-98a8-b7abe08607c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434840"/>
                <a:gridCol w="446227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主機有加入 AD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主機沒有加入 AD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5939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登入跳板機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本人 AD 帳號;OP menu 直接取登入者,不再問帳密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本機帳號(或經 CyberArk PSM 代登入);OP menu 自己問 AD 帳密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39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sudo 規則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直接引用 AD 群組;人員異動只改 AD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維護本機帳號與群組,或把 PSM 當門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939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跳板機 → 主機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操作員用本人身分 ssh;主機日誌直接看得到是誰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用自動化帳號 ssh(key 由 CyberArk 保管與輪替、執行時取);「是誰」靠 OP menu 紀錄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39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CyberArk 份量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管 root 與 breakglass、PSM 錄影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加上日常 ssh 身分也靠它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939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建議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較簡單、稽核直接;若客戶可做,建議這條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可行;多一個自動化帳號要管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d3dc29f3-f075-4b48-9d1c-61f77d0e530b"/>
          <p:cNvSpPr/>
          <p:nvPr/>
        </p:nvSpPr>
        <p:spPr>
          <a:xfrm>
            <a:off x="548640" y="5588137"/>
            <a:ext cx="11091672" cy="39030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 menu 兩種情況都支援,只差一個設定;待客戶回答:主機與跳板機是否加入 AD、人連主機是否一律經 PSM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初始化與緊急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bootstrap 只用於初始化;緊急時用自己的身分加 breakglass 群組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b4f4432f-4583-45e1-90a2-240d0ca893c9"/>
          <p:cNvSpPr/>
          <p:nvPr/>
        </p:nvSpPr>
        <p:spPr>
          <a:xfrm>
            <a:off x="548640" y="1769899"/>
            <a:ext cx="2651760" cy="1781844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" name="8a5f90c1-9cea-4ce3-b99c-ea580cff7e04"/>
          <p:cNvSpPr/>
          <p:nvPr/>
        </p:nvSpPr>
        <p:spPr>
          <a:xfrm>
            <a:off x="65836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96B24"/>
          </a:solidFill>
          <a:ln w="19050">
            <a:solidFill>
              <a:srgbClr val="196B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963eef41-34c1-42d4-83e3-3f2b5e020c11"/>
          <p:cNvSpPr/>
          <p:nvPr/>
        </p:nvSpPr>
        <p:spPr>
          <a:xfrm>
            <a:off x="640080" y="2295968"/>
            <a:ext cx="246888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初始化</a:t>
            </a:r>
            <a:endParaRPr lang="en-US" sz="1400" dirty="0"/>
          </a:p>
        </p:txBody>
      </p:sp>
      <p:sp>
        <p:nvSpPr>
          <p:cNvPr id="5" name="847de94e-2771-4a45-a344-2eabc6dbda63"/>
          <p:cNvSpPr/>
          <p:nvPr/>
        </p:nvSpPr>
        <p:spPr>
          <a:xfrm>
            <a:off x="640080" y="2745671"/>
            <a:ext cx="246888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用 bootstrap 憑證建立第一批授權:C3、REST Proxy、7 個群組</a:t>
            </a:r>
            <a:endParaRPr lang="en-US" sz="1100" dirty="0"/>
          </a:p>
        </p:txBody>
      </p:sp>
      <p:sp>
        <p:nvSpPr>
          <p:cNvPr id="6" name="48a35331-5cf9-4713-a22e-0885848cfea5"/>
          <p:cNvSpPr/>
          <p:nvPr/>
        </p:nvSpPr>
        <p:spPr>
          <a:xfrm>
            <a:off x="3383280" y="1769899"/>
            <a:ext cx="2651760" cy="1781844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7" name="de270fbe-5032-47d3-95bb-ca52fb838ff7"/>
          <p:cNvSpPr/>
          <p:nvPr/>
        </p:nvSpPr>
        <p:spPr>
          <a:xfrm>
            <a:off x="349300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10a1ad59-01cb-43ab-b91e-77cfacf326c6"/>
          <p:cNvSpPr/>
          <p:nvPr/>
        </p:nvSpPr>
        <p:spPr>
          <a:xfrm>
            <a:off x="3474720" y="2295968"/>
            <a:ext cx="246888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驗收</a:t>
            </a:r>
            <a:endParaRPr lang="en-US" sz="1400" dirty="0"/>
          </a:p>
        </p:txBody>
      </p:sp>
      <p:sp>
        <p:nvSpPr>
          <p:cNvPr id="9" name="2787b31d-4362-4dfe-8721-38a1e5f742be"/>
          <p:cNvSpPr/>
          <p:nvPr/>
        </p:nvSpPr>
        <p:spPr>
          <a:xfrm>
            <a:off x="3474720" y="2745671"/>
            <a:ext cx="246888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用 AD 身分確認:rbac-admin 能改授權、ops 不能變更、無群組被拒</a:t>
            </a:r>
            <a:endParaRPr lang="en-US" sz="1100" dirty="0"/>
          </a:p>
        </p:txBody>
      </p:sp>
      <p:sp>
        <p:nvSpPr>
          <p:cNvPr id="10" name="a4d3538f-124d-4680-9954-3b0b50e0aafd"/>
          <p:cNvSpPr/>
          <p:nvPr/>
        </p:nvSpPr>
        <p:spPr>
          <a:xfrm>
            <a:off x="6217920" y="1769899"/>
            <a:ext cx="2651760" cy="1781844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11" name="6486ceb2-6a0b-4e7d-a2e5-b3f264db6ebb"/>
          <p:cNvSpPr/>
          <p:nvPr/>
        </p:nvSpPr>
        <p:spPr>
          <a:xfrm>
            <a:off x="632764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B3261E"/>
          </a:solidFill>
          <a:ln w="19050">
            <a:solidFill>
              <a:srgbClr val="B3261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078ca60b-3b63-4420-89ed-18829a0005eb"/>
          <p:cNvSpPr/>
          <p:nvPr/>
        </p:nvSpPr>
        <p:spPr>
          <a:xfrm>
            <a:off x="6309360" y="2295968"/>
            <a:ext cx="246888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封存</a:t>
            </a:r>
            <a:endParaRPr lang="en-US" sz="1400" dirty="0"/>
          </a:p>
        </p:txBody>
      </p:sp>
      <p:sp>
        <p:nvSpPr>
          <p:cNvPr id="13" name="fd422410-fb89-41b9-9b64-bf0e56651ee5"/>
          <p:cNvSpPr/>
          <p:nvPr/>
        </p:nvSpPr>
        <p:spPr>
          <a:xfrm>
            <a:off x="6309360" y="2745671"/>
            <a:ext cx="246888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bootstrap 憑證私鑰離線保管(建議 CyberArk);日常不使用</a:t>
            </a:r>
            <a:endParaRPr lang="en-US" sz="1100" dirty="0"/>
          </a:p>
        </p:txBody>
      </p:sp>
      <p:sp>
        <p:nvSpPr>
          <p:cNvPr id="14" name="fad15982-f935-4da8-9bc9-4d0b9ceecade"/>
          <p:cNvSpPr/>
          <p:nvPr/>
        </p:nvSpPr>
        <p:spPr>
          <a:xfrm>
            <a:off x="9052560" y="1769899"/>
            <a:ext cx="2587752" cy="1781844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15" name="92b22b2e-d828-47b4-be7d-69bca3764952"/>
          <p:cNvSpPr/>
          <p:nvPr/>
        </p:nvSpPr>
        <p:spPr>
          <a:xfrm>
            <a:off x="916228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B3261E"/>
          </a:solidFill>
          <a:ln w="19050">
            <a:solidFill>
              <a:srgbClr val="B3261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fe5da47a-c781-4064-9a91-31f128371931"/>
          <p:cNvSpPr/>
          <p:nvPr/>
        </p:nvSpPr>
        <p:spPr>
          <a:xfrm>
            <a:off x="9144000" y="2295968"/>
            <a:ext cx="2404872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緊急</a:t>
            </a:r>
            <a:endParaRPr lang="en-US" sz="1400" dirty="0"/>
          </a:p>
        </p:txBody>
      </p:sp>
      <p:sp>
        <p:nvSpPr>
          <p:cNvPr id="17" name="aed4f009-cee1-408a-9956-4886c4246a39"/>
          <p:cNvSpPr/>
          <p:nvPr/>
        </p:nvSpPr>
        <p:spPr>
          <a:xfrm>
            <a:off x="9144000" y="2745671"/>
            <a:ext cx="2404872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經核准臨時加入 kafka-breakglass,用本人身分操作;事後移出並查 audit</a:t>
            </a:r>
            <a:endParaRPr lang="en-US" sz="1100" dirty="0"/>
          </a:p>
        </p:txBody>
      </p:sp>
      <p:sp>
        <p:nvSpPr>
          <p:cNvPr id="18" name="d7c32119-ecf1-4ff3-90cf-de9170a221f2"/>
          <p:cNvSpPr/>
          <p:nvPr/>
        </p:nvSpPr>
        <p:spPr>
          <a:xfrm>
            <a:off x="3200400" y="2660822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9" name="6c91d03d-444d-4682-afcf-dfe92deca3fb"/>
          <p:cNvSpPr/>
          <p:nvPr/>
        </p:nvSpPr>
        <p:spPr>
          <a:xfrm>
            <a:off x="6035040" y="2660822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0" name="367add5a-246b-4230-a3af-b014574a39af"/>
          <p:cNvSpPr/>
          <p:nvPr/>
        </p:nvSpPr>
        <p:spPr>
          <a:xfrm>
            <a:off x="8869680" y="2660822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graphicFrame>
        <p:nvGraphicFramePr>
          <p:cNvPr id="15" name="c2713f12-56cc-422d-8411-551ce47df2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806293"/>
          <a:ext cx="68580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348472"/>
              </a:tblGrid>
              <a:tr h="3393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情境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處理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</a:tr>
              <a:tr h="4242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或 MDS 身分機制失效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bootstrap 憑證經 OP menu 緊急模式(sudo 切換專用帳號)執行單一指令,逐條記錄;事後輪替憑證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42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SystemAdmin 人數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保持最少;平常 kafka-breakglass 是空的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242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紀錄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緊急模式每一條指令都記錄;CyberArk PSM 可加錄影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3F7094-EC21-E78F-AC34-F4F53628B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五、CyberArk 整合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06BFE2-4BF9-CFC3-8E03-EAD162958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D320015-D646-FEF2-0479-8E4932E3E5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先懂元件,再看接在哪裡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BE9FD1-8D94-8885-5EBE-98A66BDA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</p:spTree>
    <p:extLst>
      <p:ext uri="{BB962C8B-B14F-4D97-AF65-F5344CB8AC3E}">
        <p14:creationId xmlns:p14="http://schemas.microsoft.com/office/powerpoint/2010/main" val="16725382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CyberArk 是什麼:會用到的元件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一套「特權存取與秘密管理」平台;不同模組解決不同問題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16" name="402f3b34-9bb9-4315-9fb5-c3719a7933e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572000"/>
                <a:gridCol w="414223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元件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做什麼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我們用在哪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Vault + PVWA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加密保存密碼、私鑰等「秘密」;PVWA 是管理與申請的網頁介面(核准流程、借出紀錄)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保管 bootstrap 私鑰、root 密碼、breakglass 相關;依單借出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CPM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自動定期更換被納管帳號的密碼或 SSH key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輪替跳板機與各主機的 root、本機帳號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PSM / PSM for SSH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人連主機時由它代登入(密碼不經手)並錄影;可當跳板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人登入跳板機與主機;緊急操作有錄影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CCP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應用程式用的取密碼 API:以應用識別 + 主機或憑證認證,回傳密碼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應用系統啟動時取 SCRAM 密碼;平台元件啟動前取設定檔密碼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Conjur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新一代的秘密管理(含 Kubernetes、CI/CD);host 身分換短效 token 取秘密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若客戶已採用,可取代 CCP 的角色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Summon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小工具:啟動程式前把秘密變成環境變數,不改程式碼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不方便改程式的應用或腳本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Certificate Manager(選配)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憑證簽發、到期追蹤與自動續期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共用 server 憑證與 client 憑證的生命週期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CyberArk 整合總圖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身分與授權不變;CyberArk 只接管「密碼與私鑰放哪、誰能拿、怎麼輪替、怎麼錄影」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17" name="0043fd1b-10ba-4310-88af-8552c6d3baf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200400"/>
                <a:gridCol w="4389120"/>
                <a:gridCol w="1581912"/>
              </a:tblGrid>
              <a:tr h="356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對象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現有機制(不變)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CyberArk 接入點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模組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帳密換 token;角色綁 AD 群組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不經 CyberArk;只有「登入跳板機」這段可先過 PSM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—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跳板機 + OP menu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本人 AD 身分 + sudo;動作留紀錄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PSM 代登入與錄影;sudo 引用 AD 群組;緊急操作有錄影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PSM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主機 OS 帳號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本機帳號 + sudoers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CPM 定期輪替 root 與本機帳號;人要用時經 PSM 借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CPM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bootstrap / breakglass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憑證 0600;群組平常空的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私鑰存 Vault,依單核准借出、用完換發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Vault + PVWA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應用系統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SCRAM 帳密或 client 憑證 + 最小權限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啟動時向 CCP 取密碼或私鑰,在記憶體使用、不落地;不改程式用 Summon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CCP / Conjur / Summon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平台元件設定檔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設定檔內的密碼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Confluent Secret Protection 加密設定檔,主金鑰啟動時向 CCP 取;或啟動前取密碼寫 0600 檔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CCP + Secret Protection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共用 server 憑證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一張憑證只做加密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(選配)Certificate Manager 簽發與續期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Cert Manager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2bc7b82a-7485-42ae-ae11-f098afc36d03"/>
          <p:cNvSpPr/>
          <p:nvPr/>
        </p:nvSpPr>
        <p:spPr>
          <a:xfrm>
            <a:off x="548640" y="5715412"/>
            <a:ext cx="11091672" cy="39030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 的 SCRAM 密碼沒有現成的 CPM 平台:用「新帳號並行 → 切換 → 停舊」腳本,由 CPM 自訂平台或排程呼叫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人連主機的三種模式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決定 OP menu 的 ssh 身分怎麼設計;要向客戶確認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18" name="fce10b39-853b-4fec-af63-51c373c826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291840"/>
                <a:gridCol w="3291840"/>
                <a:gridCol w="231343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模式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人怎麼連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跳板機 → 主機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對 OP menu 的影響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</a:tr>
              <a:tr h="8909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A. PSM 就是跳板機(最常見)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人用 AD 帳號連 PSM for SSH,由它取主機帳密開 session、錄影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主機 22 埠通常只開給 PSM;原本的跳板機變成被納管的主機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OP menu 用自動化帳號 ssh 各主機,key 由 CyberArk 保管、執行時取;人仍以 AD 身分登入選單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09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B. PSM 在跳板機前面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人經 PSM 進跳板機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維持跳板機直連主機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幾乎不用改;補上 CyberArk 管理的 key 與集中紀錄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8909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C. 兩層都經 PSM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人經 PSM 進跳板機,再經 PSM 連主機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繞兩次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ssh 要改成經 PSM,複雜,不建議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f50cf6fe-780c-457e-9f90-5381625b915a"/>
          <p:cNvSpPr/>
          <p:nvPr/>
        </p:nvSpPr>
        <p:spPr>
          <a:xfrm>
            <a:off x="548640" y="5163889"/>
            <a:ext cx="11091672" cy="39030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建議:A 或 B 皆可;重點是「主機 22 埠允許哪些來源」與「跳板機是否加入 AD」,兩個答案決定做法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應用程式取密碼與輪替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密碼不落地;換密碼不中斷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0a730db0-6dc4-4e8a-a721-37ec10926cd1"/>
          <p:cNvSpPr/>
          <p:nvPr/>
        </p:nvSpPr>
        <p:spPr>
          <a:xfrm>
            <a:off x="548640" y="1685050"/>
            <a:ext cx="548640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取密碼(每次啟動)</a:t>
            </a:r>
            <a:endParaRPr lang="en-US" sz="1350" dirty="0"/>
          </a:p>
        </p:txBody>
      </p:sp>
      <p:sp>
        <p:nvSpPr>
          <p:cNvPr id="3" name="ddb2162e-8431-408c-a616-bd7ce769616a"/>
          <p:cNvSpPr/>
          <p:nvPr/>
        </p:nvSpPr>
        <p:spPr>
          <a:xfrm>
            <a:off x="548640" y="2024449"/>
            <a:ext cx="2560320" cy="1612145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4" name="cd5ddf35-ff19-4b69-a283-074432c32724"/>
          <p:cNvSpPr/>
          <p:nvPr/>
        </p:nvSpPr>
        <p:spPr>
          <a:xfrm>
            <a:off x="658368" y="2126268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cf2bc50d-8209-4f1f-9c8d-c607c9721803"/>
          <p:cNvSpPr/>
          <p:nvPr/>
        </p:nvSpPr>
        <p:spPr>
          <a:xfrm>
            <a:off x="640080" y="2550517"/>
            <a:ext cx="237744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認證</a:t>
            </a:r>
            <a:endParaRPr lang="en-US" sz="1400" dirty="0"/>
          </a:p>
        </p:txBody>
      </p:sp>
      <p:sp>
        <p:nvSpPr>
          <p:cNvPr id="6" name="0cda0222-d3df-4700-8a93-4e1f58c18bd8"/>
          <p:cNvSpPr/>
          <p:nvPr/>
        </p:nvSpPr>
        <p:spPr>
          <a:xfrm>
            <a:off x="640080" y="3000221"/>
            <a:ext cx="237744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應用以 AppID + 主機或憑證向 CCP 認證</a:t>
            </a:r>
            <a:endParaRPr lang="en-US" sz="1100" dirty="0"/>
          </a:p>
        </p:txBody>
      </p:sp>
      <p:sp>
        <p:nvSpPr>
          <p:cNvPr id="7" name="54bdee9a-8ce3-4713-ab9e-43c3810628c6"/>
          <p:cNvSpPr/>
          <p:nvPr/>
        </p:nvSpPr>
        <p:spPr>
          <a:xfrm>
            <a:off x="3291840" y="2024449"/>
            <a:ext cx="2560320" cy="1612145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8" name="7ce5b02c-a67d-45c1-abb6-40ed41839861"/>
          <p:cNvSpPr/>
          <p:nvPr/>
        </p:nvSpPr>
        <p:spPr>
          <a:xfrm>
            <a:off x="3401568" y="2126268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38dff99b-dcb1-4bf0-9641-8f49923877c9"/>
          <p:cNvSpPr/>
          <p:nvPr/>
        </p:nvSpPr>
        <p:spPr>
          <a:xfrm>
            <a:off x="3383280" y="2550517"/>
            <a:ext cx="237744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取密碼</a:t>
            </a:r>
            <a:endParaRPr lang="en-US" sz="1400" dirty="0"/>
          </a:p>
        </p:txBody>
      </p:sp>
      <p:sp>
        <p:nvSpPr>
          <p:cNvPr id="10" name="6ddc265e-6415-4a75-9f4c-ab2869746993"/>
          <p:cNvSpPr/>
          <p:nvPr/>
        </p:nvSpPr>
        <p:spPr>
          <a:xfrm>
            <a:off x="3383280" y="3000221"/>
            <a:ext cx="237744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取得 SCRAM 帳密(或憑證私鑰)</a:t>
            </a:r>
            <a:endParaRPr lang="en-US" sz="1100" dirty="0"/>
          </a:p>
        </p:txBody>
      </p:sp>
      <p:sp>
        <p:nvSpPr>
          <p:cNvPr id="11" name="56f179cc-f456-44f0-b441-f8bf4411c6fa"/>
          <p:cNvSpPr/>
          <p:nvPr/>
        </p:nvSpPr>
        <p:spPr>
          <a:xfrm>
            <a:off x="6035040" y="2024449"/>
            <a:ext cx="2560320" cy="1612145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2" name="3f18d49f-b0f7-4623-ba2d-08391ee6c9fc"/>
          <p:cNvSpPr/>
          <p:nvPr/>
        </p:nvSpPr>
        <p:spPr>
          <a:xfrm>
            <a:off x="6144768" y="2126268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ffa15c58-a1bb-4f3c-8701-937ecf38b9e5"/>
          <p:cNvSpPr/>
          <p:nvPr/>
        </p:nvSpPr>
        <p:spPr>
          <a:xfrm>
            <a:off x="6126480" y="2550517"/>
            <a:ext cx="237744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記憶體使用</a:t>
            </a:r>
            <a:endParaRPr lang="en-US" sz="1400" dirty="0"/>
          </a:p>
        </p:txBody>
      </p:sp>
      <p:sp>
        <p:nvSpPr>
          <p:cNvPr id="14" name="5aa5e254-1ade-47c5-a02c-812d6e891d9c"/>
          <p:cNvSpPr/>
          <p:nvPr/>
        </p:nvSpPr>
        <p:spPr>
          <a:xfrm>
            <a:off x="6126480" y="3000221"/>
            <a:ext cx="237744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組成連線設定,不寫入磁碟</a:t>
            </a:r>
            <a:endParaRPr lang="en-US" sz="1100" dirty="0"/>
          </a:p>
        </p:txBody>
      </p:sp>
      <p:sp>
        <p:nvSpPr>
          <p:cNvPr id="15" name="0f65d8fd-bc2a-42a5-9bbd-e75ba8509e3c"/>
          <p:cNvSpPr/>
          <p:nvPr/>
        </p:nvSpPr>
        <p:spPr>
          <a:xfrm>
            <a:off x="8778240" y="2024449"/>
            <a:ext cx="2862072" cy="1612145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16" name="dbaf52c6-6f19-4db6-a08e-dd132f1131e7"/>
          <p:cNvSpPr/>
          <p:nvPr/>
        </p:nvSpPr>
        <p:spPr>
          <a:xfrm>
            <a:off x="8887968" y="2126268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7A4EAB"/>
          </a:solidFill>
          <a:ln w="19050">
            <a:solidFill>
              <a:srgbClr val="7A4EA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b7a3305c-1ec6-4980-be33-5788909eee6a"/>
          <p:cNvSpPr/>
          <p:nvPr/>
        </p:nvSpPr>
        <p:spPr>
          <a:xfrm>
            <a:off x="8869680" y="2550517"/>
            <a:ext cx="2679192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連 broker</a:t>
            </a:r>
            <a:endParaRPr lang="en-US" sz="1400" dirty="0"/>
          </a:p>
        </p:txBody>
      </p:sp>
      <p:sp>
        <p:nvSpPr>
          <p:cNvPr id="18" name="f9e297d0-ed52-452f-bce3-2568349d88a6"/>
          <p:cNvSpPr/>
          <p:nvPr/>
        </p:nvSpPr>
        <p:spPr>
          <a:xfrm>
            <a:off x="8869680" y="3000221"/>
            <a:ext cx="2679192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SCRAM 認證;broker RBAC 判斷</a:t>
            </a:r>
            <a:endParaRPr lang="en-US" sz="1100" dirty="0"/>
          </a:p>
        </p:txBody>
      </p:sp>
      <p:sp>
        <p:nvSpPr>
          <p:cNvPr id="19" name="310c407f-3653-4459-998f-02ae87743c72"/>
          <p:cNvSpPr/>
          <p:nvPr/>
        </p:nvSpPr>
        <p:spPr>
          <a:xfrm>
            <a:off x="3108960" y="2830521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0" name="eb939b37-e0b9-4a6b-a5c2-b65d46d3dcfe"/>
          <p:cNvSpPr/>
          <p:nvPr/>
        </p:nvSpPr>
        <p:spPr>
          <a:xfrm>
            <a:off x="5852160" y="2830521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1" name="e3dad0c9-9a79-4bbe-ad6a-38bbf9e878dd"/>
          <p:cNvSpPr/>
          <p:nvPr/>
        </p:nvSpPr>
        <p:spPr>
          <a:xfrm>
            <a:off x="8595360" y="2830521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2" name="037c566f-80f6-4548-b1b6-2ffab54617ee"/>
          <p:cNvSpPr/>
          <p:nvPr/>
        </p:nvSpPr>
        <p:spPr>
          <a:xfrm>
            <a:off x="548640" y="3848718"/>
            <a:ext cx="548640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輪替(定期或事件觸發)</a:t>
            </a:r>
            <a:endParaRPr lang="en-US" sz="1350" dirty="0"/>
          </a:p>
        </p:txBody>
      </p:sp>
      <p:sp>
        <p:nvSpPr>
          <p:cNvPr id="23" name="014b1721-3737-4ad3-9310-2f075ef23200"/>
          <p:cNvSpPr/>
          <p:nvPr/>
        </p:nvSpPr>
        <p:spPr>
          <a:xfrm>
            <a:off x="548640" y="4188117"/>
            <a:ext cx="2560320" cy="1612145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4" name="c7868d63-09c9-428a-802f-2e76cf4f0518"/>
          <p:cNvSpPr/>
          <p:nvPr/>
        </p:nvSpPr>
        <p:spPr>
          <a:xfrm>
            <a:off x="658368" y="4289936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96B24"/>
          </a:solidFill>
          <a:ln w="19050">
            <a:solidFill>
              <a:srgbClr val="196B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400" dirty="0"/>
          </a:p>
        </p:txBody>
      </p:sp>
      <p:sp>
        <p:nvSpPr>
          <p:cNvPr id="25" name="7bca60bd-f0f5-44e0-89da-1cff074ed16b"/>
          <p:cNvSpPr/>
          <p:nvPr/>
        </p:nvSpPr>
        <p:spPr>
          <a:xfrm>
            <a:off x="640080" y="4714185"/>
            <a:ext cx="237744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建新帳號</a:t>
            </a:r>
            <a:endParaRPr lang="en-US" sz="1400" dirty="0"/>
          </a:p>
        </p:txBody>
      </p:sp>
      <p:sp>
        <p:nvSpPr>
          <p:cNvPr id="26" name="8d0aec3a-4fe3-441d-ae3f-4e93f755efda"/>
          <p:cNvSpPr/>
          <p:nvPr/>
        </p:nvSpPr>
        <p:spPr>
          <a:xfrm>
            <a:off x="640080" y="5163889"/>
            <a:ext cx="237744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建立 v2 帳號並綁同樣角色,寫回 Vault</a:t>
            </a:r>
            <a:endParaRPr lang="en-US" sz="1100" dirty="0"/>
          </a:p>
        </p:txBody>
      </p:sp>
      <p:sp>
        <p:nvSpPr>
          <p:cNvPr id="27" name="68fffe9c-8256-4088-a82b-51d7e4fac39d"/>
          <p:cNvSpPr/>
          <p:nvPr/>
        </p:nvSpPr>
        <p:spPr>
          <a:xfrm>
            <a:off x="3291840" y="4188117"/>
            <a:ext cx="2560320" cy="1612145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8" name="cba02eb1-6330-4b01-a155-8e0e8eefff5d"/>
          <p:cNvSpPr/>
          <p:nvPr/>
        </p:nvSpPr>
        <p:spPr>
          <a:xfrm>
            <a:off x="3401568" y="4289936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96B24"/>
          </a:solidFill>
          <a:ln w="19050">
            <a:solidFill>
              <a:srgbClr val="196B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400" dirty="0"/>
          </a:p>
        </p:txBody>
      </p:sp>
      <p:sp>
        <p:nvSpPr>
          <p:cNvPr id="29" name="3d573a71-a1a2-4e37-9806-ec73bf9b646f"/>
          <p:cNvSpPr/>
          <p:nvPr/>
        </p:nvSpPr>
        <p:spPr>
          <a:xfrm>
            <a:off x="3383280" y="4714185"/>
            <a:ext cx="237744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並行</a:t>
            </a:r>
            <a:endParaRPr lang="en-US" sz="1400" dirty="0"/>
          </a:p>
        </p:txBody>
      </p:sp>
      <p:sp>
        <p:nvSpPr>
          <p:cNvPr id="30" name="5e16ed7e-8e36-4bde-a839-e682f166b01d"/>
          <p:cNvSpPr/>
          <p:nvPr/>
        </p:nvSpPr>
        <p:spPr>
          <a:xfrm>
            <a:off x="3383280" y="5163889"/>
            <a:ext cx="237744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新舊同時可用,應用逐批重啟切換</a:t>
            </a:r>
            <a:endParaRPr lang="en-US" sz="1100" dirty="0"/>
          </a:p>
        </p:txBody>
      </p:sp>
      <p:sp>
        <p:nvSpPr>
          <p:cNvPr id="31" name="851fdda4-852a-47fc-932b-0bdbd328dc3c"/>
          <p:cNvSpPr/>
          <p:nvPr/>
        </p:nvSpPr>
        <p:spPr>
          <a:xfrm>
            <a:off x="6035040" y="4188117"/>
            <a:ext cx="2560320" cy="1612145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2" name="5a1c8447-af75-488f-a825-583f44a48ebf"/>
          <p:cNvSpPr/>
          <p:nvPr/>
        </p:nvSpPr>
        <p:spPr>
          <a:xfrm>
            <a:off x="6144768" y="4289936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96B24"/>
          </a:solidFill>
          <a:ln w="19050">
            <a:solidFill>
              <a:srgbClr val="196B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400" dirty="0"/>
          </a:p>
        </p:txBody>
      </p:sp>
      <p:sp>
        <p:nvSpPr>
          <p:cNvPr id="33" name="0b261529-f165-44cb-a477-809cf56bd6cc"/>
          <p:cNvSpPr/>
          <p:nvPr/>
        </p:nvSpPr>
        <p:spPr>
          <a:xfrm>
            <a:off x="6126480" y="4714185"/>
            <a:ext cx="237744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停舊</a:t>
            </a:r>
            <a:endParaRPr lang="en-US" sz="1400" dirty="0"/>
          </a:p>
        </p:txBody>
      </p:sp>
      <p:sp>
        <p:nvSpPr>
          <p:cNvPr id="34" name="8c29ad20-acb9-42a0-a7c7-e04f8b272a8d"/>
          <p:cNvSpPr/>
          <p:nvPr/>
        </p:nvSpPr>
        <p:spPr>
          <a:xfrm>
            <a:off x="6126480" y="5163889"/>
            <a:ext cx="237744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全部切換後停用舊帳號,舊密碼立刻失效</a:t>
            </a:r>
            <a:endParaRPr lang="en-US" sz="1100" dirty="0"/>
          </a:p>
        </p:txBody>
      </p:sp>
      <p:sp>
        <p:nvSpPr>
          <p:cNvPr id="35" name="006cc28f-8c41-4507-949d-8ae9affe6ba8"/>
          <p:cNvSpPr/>
          <p:nvPr/>
        </p:nvSpPr>
        <p:spPr>
          <a:xfrm>
            <a:off x="8778240" y="4188117"/>
            <a:ext cx="2862072" cy="1612145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36" name="3d29bab3-8275-4fd8-b579-d0023fe53731"/>
          <p:cNvSpPr/>
          <p:nvPr/>
        </p:nvSpPr>
        <p:spPr>
          <a:xfrm>
            <a:off x="8887968" y="4289936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B3261E"/>
          </a:solidFill>
          <a:ln w="19050">
            <a:solidFill>
              <a:srgbClr val="B3261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400" dirty="0"/>
          </a:p>
        </p:txBody>
      </p:sp>
      <p:sp>
        <p:nvSpPr>
          <p:cNvPr id="37" name="ba64a872-e6c1-4a81-9920-51c69d8c296c"/>
          <p:cNvSpPr/>
          <p:nvPr/>
        </p:nvSpPr>
        <p:spPr>
          <a:xfrm>
            <a:off x="8869680" y="4714185"/>
            <a:ext cx="2679192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誰來做</a:t>
            </a:r>
            <a:endParaRPr lang="en-US" sz="1400" dirty="0"/>
          </a:p>
        </p:txBody>
      </p:sp>
      <p:sp>
        <p:nvSpPr>
          <p:cNvPr id="38" name="5de745db-6bc8-4ce3-ad6b-97c48acb6b57"/>
          <p:cNvSpPr/>
          <p:nvPr/>
        </p:nvSpPr>
        <p:spPr>
          <a:xfrm>
            <a:off x="8869680" y="5163889"/>
            <a:ext cx="2679192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CPM 自訂平台呼叫腳本,或排程;全程 audit 可查</a:t>
            </a:r>
            <a:endParaRPr lang="en-US" sz="1100" dirty="0"/>
          </a:p>
        </p:txBody>
      </p:sp>
      <p:sp>
        <p:nvSpPr>
          <p:cNvPr id="39" name="427983ab-369d-44a3-8eb5-2d3a9f4386c5"/>
          <p:cNvSpPr/>
          <p:nvPr/>
        </p:nvSpPr>
        <p:spPr>
          <a:xfrm>
            <a:off x="3108960" y="4994189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40" name="52e66223-a4ef-4304-a980-74d085acc0df"/>
          <p:cNvSpPr/>
          <p:nvPr/>
        </p:nvSpPr>
        <p:spPr>
          <a:xfrm>
            <a:off x="5852160" y="4994189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41" name="eaae4d9e-0b85-4cbf-bcb9-418310f540a5"/>
          <p:cNvSpPr/>
          <p:nvPr/>
        </p:nvSpPr>
        <p:spPr>
          <a:xfrm>
            <a:off x="8595360" y="4994189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3F7094-EC21-E78F-AC34-F4F53628B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六、待確認、限制與導入順序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06BFE2-4BF9-CFC3-8E03-EAD162958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D320015-D646-FEF2-0479-8E4932E3E5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/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BE9FD1-8D94-8885-5EBE-98A66BDA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</p:spTree>
    <p:extLst>
      <p:ext uri="{BB962C8B-B14F-4D97-AF65-F5344CB8AC3E}">
        <p14:creationId xmlns:p14="http://schemas.microsoft.com/office/powerpoint/2010/main" val="16725382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要向客戶確認的事項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答案會決定幾個分支的做法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20" name="93d0ffc4-a286-4051-97aa-63bb6fd81fa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4754880"/>
                <a:gridCol w="322783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主題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問題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影響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627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使用者名稱與 CN 是否完全相同(含大小寫);Kafka 群組放哪個 OU;群組人數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群組查詢設定、主體寫法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7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主機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跳板機與各主機是否加入 AD;人連主機是否一律經 PSM;主機 22 埠允許哪些來源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登入與 sudo 設計、OP menu 的 ssh 身分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27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CyberArk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有哪些模組(PSM、CPM、CCP、Conjur、Summon、Certificate Manager);應用主機與 Kafka 節點能否連到 CCP / PSM;AppID 用 IP 還是憑證認;輪替週期與負責人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第五章每一列的做法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7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F5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虛擬伺服器類型(L4)、後端 TLS session 復用、persistence、idle timeout、SNAT;REST Proxy 幾台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憑證名稱、sticky 設定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27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變更管理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變更核准方式;維運作業項目清單;現有 OP menu 樣貌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OP menu 的核准檢查與項目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7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CA 由誰簽(AD CS 或 Certificate Manager);有效期政策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憑證生命週期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未驗證與限制(如實說明)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已實測的以外,這些尚未在客戶環境驗證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21" name="4016cfd6-b35a-4293-8270-183a2eec6e9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798271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狀態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CyberArk:秘密管理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已用 CyberArk 的開源版 Conjur 實測「應用程式取密碼、輪替、OP menu 取帳密、設定檔密碼不落地」;商業版 CCP / Conjur 的 API 細節以客戶版本文件為準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CyberArk:PAM(PSM、CPM、PVWA)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無法在測試環境重現,整合方式為通用模式;需在客戶環境 PoC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真實 AD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巢狀群組、群組異動的實際延遲、AD 憑證鏈(中繼 CA)要以客戶 AD 驗證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F5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以同類負載平衡器實測 L4 透傳可行、L7 終止不可;F5 本身的行為要以客戶設定驗證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多 controller 與 RHEL 部署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設計依官方文件;以本方案的測試環境為準,未在客戶 VM 驗證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經 F5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未驗證;建議 C3 不經 F5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SCRAM 密碼由 CPM 輪替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需自訂 CPM 平台或排程腳本,未實作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導入順序建議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先把身分與授權做對,再接 CyberArk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fbdac62d-7186-4ea3-9489-f29b35e44f47"/>
          <p:cNvSpPr/>
          <p:nvPr/>
        </p:nvSpPr>
        <p:spPr>
          <a:xfrm>
            <a:off x="548640" y="1769899"/>
            <a:ext cx="2103120" cy="2206093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" name="f0e0b712-3bda-4097-bdb4-ac522697e4fb"/>
          <p:cNvSpPr/>
          <p:nvPr/>
        </p:nvSpPr>
        <p:spPr>
          <a:xfrm>
            <a:off x="65836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96B24"/>
          </a:solidFill>
          <a:ln w="19050">
            <a:solidFill>
              <a:srgbClr val="196B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a327ec0e-b18f-4b4e-be1e-d68e4822f88c"/>
          <p:cNvSpPr/>
          <p:nvPr/>
        </p:nvSpPr>
        <p:spPr>
          <a:xfrm>
            <a:off x="640080" y="2295968"/>
            <a:ext cx="192024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基礎</a:t>
            </a:r>
            <a:endParaRPr lang="en-US" sz="1400" dirty="0"/>
          </a:p>
        </p:txBody>
      </p:sp>
      <p:sp>
        <p:nvSpPr>
          <p:cNvPr id="5" name="a245ebb6-a176-49a1-af20-697aa5f9e81e"/>
          <p:cNvSpPr/>
          <p:nvPr/>
        </p:nvSpPr>
        <p:spPr>
          <a:xfrm>
            <a:off x="640080" y="2745671"/>
            <a:ext cx="1920240" cy="1187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群組與唯讀查詢帳號;憑證;叢集與 TLS;初始授權與驗收</a:t>
            </a:r>
            <a:endParaRPr lang="en-US" sz="1100" dirty="0"/>
          </a:p>
        </p:txBody>
      </p:sp>
      <p:sp>
        <p:nvSpPr>
          <p:cNvPr id="6" name="ae60dab0-0e88-4342-8acc-abc3205065f1"/>
          <p:cNvSpPr/>
          <p:nvPr/>
        </p:nvSpPr>
        <p:spPr>
          <a:xfrm>
            <a:off x="2834640" y="1769899"/>
            <a:ext cx="2103120" cy="2206093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7" name="3f346ba9-95cb-4795-8ec4-dbdb3a0f981a"/>
          <p:cNvSpPr/>
          <p:nvPr/>
        </p:nvSpPr>
        <p:spPr>
          <a:xfrm>
            <a:off x="294436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5da83761-0fff-41c4-9900-11693a0ca9ba"/>
          <p:cNvSpPr/>
          <p:nvPr/>
        </p:nvSpPr>
        <p:spPr>
          <a:xfrm>
            <a:off x="2926080" y="2295968"/>
            <a:ext cx="192024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人與系統上線</a:t>
            </a:r>
            <a:endParaRPr lang="en-US" sz="1400" dirty="0"/>
          </a:p>
        </p:txBody>
      </p:sp>
      <p:sp>
        <p:nvSpPr>
          <p:cNvPr id="9" name="c9b5d2c3-6a17-4d1f-8473-60d0ff16ffdd"/>
          <p:cNvSpPr/>
          <p:nvPr/>
        </p:nvSpPr>
        <p:spPr>
          <a:xfrm>
            <a:off x="2926080" y="2745671"/>
            <a:ext cx="1920240" cy="1187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C3、REST Proxy、F5;應用系統帳號與憑證;命名規範</a:t>
            </a:r>
            <a:endParaRPr lang="en-US" sz="1100" dirty="0"/>
          </a:p>
        </p:txBody>
      </p:sp>
      <p:sp>
        <p:nvSpPr>
          <p:cNvPr id="10" name="d0b77257-578b-4649-bd17-38e3d1063d4b"/>
          <p:cNvSpPr/>
          <p:nvPr/>
        </p:nvSpPr>
        <p:spPr>
          <a:xfrm>
            <a:off x="5120640" y="1769899"/>
            <a:ext cx="2103120" cy="2206093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11" name="89a792c8-c02b-475e-a65d-242b7a336695"/>
          <p:cNvSpPr/>
          <p:nvPr/>
        </p:nvSpPr>
        <p:spPr>
          <a:xfrm>
            <a:off x="523036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7A4EAB"/>
          </a:solidFill>
          <a:ln w="19050">
            <a:solidFill>
              <a:srgbClr val="7A4EA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08e84620-c8b0-421e-9b64-1fd41bfe541b"/>
          <p:cNvSpPr/>
          <p:nvPr/>
        </p:nvSpPr>
        <p:spPr>
          <a:xfrm>
            <a:off x="5212080" y="2295968"/>
            <a:ext cx="192024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維運</a:t>
            </a:r>
            <a:endParaRPr lang="en-US" sz="1400" dirty="0"/>
          </a:p>
        </p:txBody>
      </p:sp>
      <p:sp>
        <p:nvSpPr>
          <p:cNvPr id="13" name="a4905c7c-ede2-4fd8-916b-0058f7c95a9e"/>
          <p:cNvSpPr/>
          <p:nvPr/>
        </p:nvSpPr>
        <p:spPr>
          <a:xfrm>
            <a:off x="5212080" y="2745671"/>
            <a:ext cx="1920240" cy="1187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 menu、監控告警、audit 匯出與覆核;緊急流程演練</a:t>
            </a:r>
            <a:endParaRPr lang="en-US" sz="1100" dirty="0"/>
          </a:p>
        </p:txBody>
      </p:sp>
      <p:sp>
        <p:nvSpPr>
          <p:cNvPr id="14" name="10079444-51d2-463b-b5eb-4438a470af6e"/>
          <p:cNvSpPr/>
          <p:nvPr/>
        </p:nvSpPr>
        <p:spPr>
          <a:xfrm>
            <a:off x="7406640" y="1769899"/>
            <a:ext cx="2103120" cy="2206093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15" name="5a0bf29b-aa83-4b3a-9cfc-47e2e73f5586"/>
          <p:cNvSpPr/>
          <p:nvPr/>
        </p:nvSpPr>
        <p:spPr>
          <a:xfrm>
            <a:off x="751636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B3261E"/>
          </a:solidFill>
          <a:ln w="19050">
            <a:solidFill>
              <a:srgbClr val="B3261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a852c9db-1b9b-4f1b-a460-9531aa4ec4b2"/>
          <p:cNvSpPr/>
          <p:nvPr/>
        </p:nvSpPr>
        <p:spPr>
          <a:xfrm>
            <a:off x="7498080" y="2295968"/>
            <a:ext cx="192024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CyberArk 第一階段</a:t>
            </a:r>
            <a:endParaRPr lang="en-US" sz="1400" dirty="0"/>
          </a:p>
        </p:txBody>
      </p:sp>
      <p:sp>
        <p:nvSpPr>
          <p:cNvPr id="17" name="069fa8c5-6458-4beb-8403-862750b19d8b"/>
          <p:cNvSpPr/>
          <p:nvPr/>
        </p:nvSpPr>
        <p:spPr>
          <a:xfrm>
            <a:off x="7498080" y="2745671"/>
            <a:ext cx="1920240" cy="1187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PSM 代登入與錄影;CPM 輪替主機帳號;bootstrap 私鑰入 Vault</a:t>
            </a:r>
            <a:endParaRPr lang="en-US" sz="1100" dirty="0"/>
          </a:p>
        </p:txBody>
      </p:sp>
      <p:sp>
        <p:nvSpPr>
          <p:cNvPr id="18" name="04aa4268-68a8-4b36-b70f-3d9be6375fdc"/>
          <p:cNvSpPr/>
          <p:nvPr/>
        </p:nvSpPr>
        <p:spPr>
          <a:xfrm>
            <a:off x="9692640" y="1769899"/>
            <a:ext cx="1947672" cy="2206093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19" name="ffbe1b33-8484-481a-a4cb-0c659e912c12"/>
          <p:cNvSpPr/>
          <p:nvPr/>
        </p:nvSpPr>
        <p:spPr>
          <a:xfrm>
            <a:off x="980236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B3261E"/>
          </a:solidFill>
          <a:ln w="19050">
            <a:solidFill>
              <a:srgbClr val="B3261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7f37c941-81f3-4e89-8301-058900d87b3d"/>
          <p:cNvSpPr/>
          <p:nvPr/>
        </p:nvSpPr>
        <p:spPr>
          <a:xfrm>
            <a:off x="9784080" y="2295968"/>
            <a:ext cx="1764792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CyberArk 第二階段</a:t>
            </a:r>
            <a:endParaRPr lang="en-US" sz="1400" dirty="0"/>
          </a:p>
        </p:txBody>
      </p:sp>
      <p:sp>
        <p:nvSpPr>
          <p:cNvPr id="21" name="b9bb4a20-e86f-4d8c-871c-b299d42eaf4c"/>
          <p:cNvSpPr/>
          <p:nvPr/>
        </p:nvSpPr>
        <p:spPr>
          <a:xfrm>
            <a:off x="9784080" y="2745671"/>
            <a:ext cx="1764792" cy="1187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應用程式經 CCP 取密碼;設定檔密碼不落地;SCRAM 輪替自動化</a:t>
            </a:r>
            <a:endParaRPr lang="en-US" sz="1100" dirty="0"/>
          </a:p>
        </p:txBody>
      </p:sp>
      <p:sp>
        <p:nvSpPr>
          <p:cNvPr id="22" name="a3b4a17c-9483-4ea1-a1c3-56ab69965db2"/>
          <p:cNvSpPr/>
          <p:nvPr/>
        </p:nvSpPr>
        <p:spPr>
          <a:xfrm>
            <a:off x="2651760" y="2872946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3" name="37b7ee69-19d9-446f-b91d-f10d27d2138c"/>
          <p:cNvSpPr/>
          <p:nvPr/>
        </p:nvSpPr>
        <p:spPr>
          <a:xfrm>
            <a:off x="4937760" y="2872946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4" name="6c82a547-eef8-4c86-9ada-fb10e9d9cb56"/>
          <p:cNvSpPr/>
          <p:nvPr/>
        </p:nvSpPr>
        <p:spPr>
          <a:xfrm>
            <a:off x="7223760" y="2872946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5" name="15afc674-3f3d-4dd4-a629-63f5a267c535"/>
          <p:cNvSpPr/>
          <p:nvPr/>
        </p:nvSpPr>
        <p:spPr>
          <a:xfrm>
            <a:off x="9509760" y="2872946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6" name="c8826d31-43b6-4335-899b-264d46fa196d"/>
          <p:cNvSpPr/>
          <p:nvPr/>
        </p:nvSpPr>
        <p:spPr>
          <a:xfrm>
            <a:off x="548640" y="4400241"/>
            <a:ext cx="11091672" cy="39030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 1 到 3 步已在測試環境完整驗證;第 4、5 步依客戶回答的 CyberArk 模組決定範圍</a:t>
            </a:r>
            <a:endParaRPr lang="en-US" sz="1250" dirty="0"/>
          </a:p>
        </p:txBody>
      </p:sp>
      <p:sp>
        <p:nvSpPr>
          <p:cNvPr id="27" name="70833588-f5fc-42e2-9eb5-db9933c4e30c"/>
          <p:cNvSpPr/>
          <p:nvPr/>
        </p:nvSpPr>
        <p:spPr>
          <a:xfrm>
            <a:off x="548640" y="4909339"/>
            <a:ext cx="11091672" cy="39030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每一步都有驗收標準:身分對、權限對、紀錄查得到;不過關不進下一步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23B847-2F0C-E166-A0B6-9842DD7EA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Q &amp; A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F8C39B6-7FEF-4D2B-AB5E-997A6F0145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Confluent Platform 安全解決方案</a:t>
            </a:r>
          </a:p>
        </p:txBody>
      </p:sp>
    </p:spTree>
    <p:extLst>
      <p:ext uri="{BB962C8B-B14F-4D97-AF65-F5344CB8AC3E}">
        <p14:creationId xmlns:p14="http://schemas.microsoft.com/office/powerpoint/2010/main" val="3079640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DAA4B3EF1C1EC54090190B80065697EC" ma:contentTypeVersion="12" ma:contentTypeDescription="建立新的文件。" ma:contentTypeScope="" ma:versionID="adf174d9c9c77815f1856062b94d0799">
  <xsd:schema xmlns:xsd="http://www.w3.org/2001/XMLSchema" xmlns:xs="http://www.w3.org/2001/XMLSchema" xmlns:p="http://schemas.microsoft.com/office/2006/metadata/properties" xmlns:ns2="87643090-462e-4483-8fee-104e11aaa7c6" xmlns:ns3="81fbc0a5-bf19-4add-b132-07e20741ab60" targetNamespace="http://schemas.microsoft.com/office/2006/metadata/properties" ma:root="true" ma:fieldsID="dc2c921a8025a671c896172cdcf0cd5b" ns2:_="" ns3:_="">
    <xsd:import namespace="87643090-462e-4483-8fee-104e11aaa7c6"/>
    <xsd:import namespace="81fbc0a5-bf19-4add-b132-07e20741ab6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643090-462e-4483-8fee-104e11aaa7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fbc0a5-bf19-4add-b132-07e20741ab6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共用對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共用詳細資料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8E66D0B-AA1B-4EED-A6EC-86D221198FF6}"/>
</file>

<file path=customXml/itemProps2.xml><?xml version="1.0" encoding="utf-8"?>
<ds:datastoreItem xmlns:ds="http://schemas.openxmlformats.org/officeDocument/2006/customXml" ds:itemID="{86279918-8EC7-4ECB-A798-E15F186ABB7B}"/>
</file>

<file path=customXml/itemProps3.xml><?xml version="1.0" encoding="utf-8"?>
<ds:datastoreItem xmlns:ds="http://schemas.openxmlformats.org/officeDocument/2006/customXml" ds:itemID="{1D6D8F05-3EF5-4272-8592-C532046A55FC}"/>
</file>

<file path=docProps/app.xml><?xml version="1.0" encoding="utf-8"?>
<Properties xmlns="http://schemas.openxmlformats.org/officeDocument/2006/extended-properties" xmlns:vt="http://schemas.openxmlformats.org/officeDocument/2006/docPropsVTypes">
  <TotalTime>6644</TotalTime>
  <Words>90</Words>
  <Application>Microsoft Office PowerPoint</Application>
  <PresentationFormat>寬螢幕</PresentationFormat>
  <Paragraphs>10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3" baseType="lpstr">
      <vt:lpstr>微軟正黑體</vt:lpstr>
      <vt:lpstr>Aptos</vt:lpstr>
      <vt:lpstr>Arial</vt:lpstr>
      <vt:lpstr>Arial Black</vt:lpstr>
      <vt:lpstr>Wingdings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洪瑀宣(Shally Hung)</dc:creator>
  <cp:lastModifiedBy>李佳瑋(Verna Lee)</cp:lastModifiedBy>
  <cp:revision>93</cp:revision>
  <dcterms:created xsi:type="dcterms:W3CDTF">2025-04-18T08:33:56Z</dcterms:created>
  <dcterms:modified xsi:type="dcterms:W3CDTF">2026-07-09T02:00:53Z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1e43920-ae8e-42a0-9a5c-464554aa03b2_Enabled">
    <vt:lpwstr>true</vt:lpwstr>
  </property>
  <property fmtid="{D5CDD505-2E9C-101B-9397-08002B2CF9AE}" pid="3" name="MSIP_Label_01e43920-ae8e-42a0-9a5c-464554aa03b2_SetDate">
    <vt:lpwstr>2025-04-18T09:16:17Z</vt:lpwstr>
  </property>
  <property fmtid="{D5CDD505-2E9C-101B-9397-08002B2CF9AE}" pid="4" name="MSIP_Label_01e43920-ae8e-42a0-9a5c-464554aa03b2_Method">
    <vt:lpwstr>Standard</vt:lpwstr>
  </property>
  <property fmtid="{D5CDD505-2E9C-101B-9397-08002B2CF9AE}" pid="5" name="MSIP_Label_01e43920-ae8e-42a0-9a5c-464554aa03b2_Name">
    <vt:lpwstr>IISIGroup - 普通文件</vt:lpwstr>
  </property>
  <property fmtid="{D5CDD505-2E9C-101B-9397-08002B2CF9AE}" pid="6" name="MSIP_Label_01e43920-ae8e-42a0-9a5c-464554aa03b2_SiteId">
    <vt:lpwstr>54aa2fea-ecb3-4c71-80b3-de9a356e77c1</vt:lpwstr>
  </property>
  <property fmtid="{D5CDD505-2E9C-101B-9397-08002B2CF9AE}" pid="7" name="MSIP_Label_01e43920-ae8e-42a0-9a5c-464554aa03b2_ActionId">
    <vt:lpwstr>74a092f3-de5e-48a5-8d80-572223daa2ef</vt:lpwstr>
  </property>
  <property fmtid="{D5CDD505-2E9C-101B-9397-08002B2CF9AE}" pid="8" name="MSIP_Label_01e43920-ae8e-42a0-9a5c-464554aa03b2_ContentBits">
    <vt:lpwstr>0</vt:lpwstr>
  </property>
  <property fmtid="{D5CDD505-2E9C-101B-9397-08002B2CF9AE}" pid="9" name="MSIP_Label_01e43920-ae8e-42a0-9a5c-464554aa03b2_Tag">
    <vt:lpwstr>10, 3, 0, 1</vt:lpwstr>
  </property>
  <property fmtid="{D5CDD505-2E9C-101B-9397-08002B2CF9AE}" pid="10" name="ContentTypeId">
    <vt:lpwstr>0x010100DAA4B3EF1C1EC54090190B80065697EC</vt:lpwstr>
  </property>
</Properties>
</file>