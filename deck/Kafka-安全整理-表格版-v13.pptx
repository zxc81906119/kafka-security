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78" autoAdjust="0"/>
    <p:restoredTop sz="90831" autoAdjust="0"/>
  </p:normalViewPr>
  <p:slideViewPr>
    <p:cSldViewPr snapToGrid="0">
      <p:cViewPr varScale="1">
        <p:scale>
          <a:sx n="102" d="100"/>
          <a:sy n="102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安全整理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傳輸加密、認證、授權、元件交互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傳輸加密:要準備的憑證與信任庫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server 端共用一組憑證;要證明身分的元件另有 client 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2</a:t>
            </a:fld>
            <a:endParaRPr lang="zh-TW" altLang="en-US" sz="900"/>
          </a:p>
        </p:txBody>
      </p:sp>
      <p:graphicFrame>
        <p:nvGraphicFramePr>
          <p:cNvPr id="2" name="23913524-3502-49be-bbc8-608a0b9e9ef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97950"/>
              </p:ext>
            </p:extLst>
          </p:nvPr>
        </p:nvGraphicFramePr>
        <p:xfrm>
          <a:off x="548640" y="1685050"/>
          <a:ext cx="11091672" cy="3173381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放什麼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誰要設定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注意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keystore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共用的一組 server 私鑰與憑證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broker、controller、MDS、C3、REST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要涵蓋這些元件對外的網域或 IP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truststore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server 憑證的 root CA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每一條連線的 client 端(見下一頁)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只放 </a:t>
                      </a:r>
                      <a:r>
                        <a:rPr lang="en-US" altLang="zh-TW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root </a:t>
                      </a: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CA 憑證,不放私鑰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LDAPS 的 truststore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AD server 憑證的 </a:t>
                      </a:r>
                      <a:r>
                        <a:rPr lang="en-US" altLang="zh-TW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root </a:t>
                      </a: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CA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與 MDS(共用一組設定)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走 LDAPS 時才需要;AD 只送出自己的憑證時,要匯入中繼 CA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各自的私鑰與憑證;憑證的 CN 就是身分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Proxy、bootstrap、各 legacy app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MDS 或 REST Proxy 證明身分;共用的 server 憑證不當身分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傳輸加密:哪些連線要設信任庫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列是 client 端,欄是連到的 server 端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graphicFrame>
        <p:nvGraphicFramePr>
          <p:cNvPr id="2" name="50087856-eac1-4a47-afda-2f42781b3f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444897"/>
        </p:xfrm>
        <a:graphic>
          <a:graphicData uri="http://schemas.openxmlformats.org/drawingml/2006/table">
            <a:tbl>
              <a:tblPr/>
              <a:tblGrid>
                <a:gridCol w="2404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端 ↓ / server 端 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0E2841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外部 client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25fb1029-db52-4a14-b8f9-734485955179"/>
          <p:cNvSpPr/>
          <p:nvPr/>
        </p:nvSpPr>
        <p:spPr>
          <a:xfrm>
            <a:off x="548640" y="5291163"/>
            <a:ext cx="11091672" cy="381824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標「需要」的每一條連線,client 端都匯入同一張 root CA 憑證</a:t>
            </a:r>
            <a:endParaRPr lang="en-US" sz="1250" dirty="0"/>
          </a:p>
        </p:txBody>
      </p:sp>
      <p:sp>
        <p:nvSpPr>
          <p:cNvPr id="7" name="c3cf6fe5-8e4c-4af6-9e4a-080590360289"/>
          <p:cNvSpPr/>
          <p:nvPr/>
        </p:nvSpPr>
        <p:spPr>
          <a:xfrm>
            <a:off x="548640" y="5757837"/>
            <a:ext cx="11091672" cy="381824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外部 client:人的 CLI 與瀏覽器、服務、legacy app、bootstrap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認證:誰連誰,用什麼機制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連到 broker 與 controller 的五種連線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dd9f381b-89c4-4094-a7d3-2dda40088c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444899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連到哪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機制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帳密或憑據在哪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SASL/SCRAM-SHA-512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內的 SCRAM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寫在 JAAS 設定的帳號與密碼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 + LDAP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的帳號與密碼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SASL/SCRAM-SHA-512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內的 SCRAM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Proxy、bootstrap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SASL/OAUTHBEARER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帶 MDS token:元件自己的(用 client 憑證換),或代人、代 legacy app 取得的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96df6c55-bb08-4101-83d9-5d0ececbdf03"/>
          <p:cNvSpPr/>
          <p:nvPr/>
        </p:nvSpPr>
        <p:spPr>
          <a:xfrm>
            <a:off x="548640" y="5376013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前兩列是叢集內部元件互連;後三列是外部連進 broker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授權:MDS 管 RBAC,broker 判斷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RBAC 資料與群組資料都放在同一個 Kafka topic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5</a:t>
            </a:fld>
            <a:endParaRPr lang="zh-TW" altLang="en-US" sz="900"/>
          </a:p>
        </p:txBody>
      </p:sp>
      <p:graphicFrame>
        <p:nvGraphicFramePr>
          <p:cNvPr id="5" name="c17a0d32-cc5a-4026-b878-8f21b7d8d1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444899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1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內嵌在 broker 的 HTTP REST 服務,提供 token 簽發與 RBAC 的 API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的 API 被呼叫後,把 RBAC 資訊寫入 Kafka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定期查 AD;使用者與群組的對應有變更時,寫入同一個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topic 的資料讀進本地快取;用已認證的使用者查出所屬群組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把使用者與群組拿去比對 RBAC 資訊,判斷這個動作有沒有權限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授權:AD 群組對應 RBAC role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建議做法:人不寫資料,高權限群組平時是空的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6</a:t>
            </a:fld>
            <a:endParaRPr lang="zh-TW" altLang="en-US" sz="900"/>
          </a:p>
        </p:txBody>
      </p:sp>
      <p:graphicFrame>
        <p:nvGraphicFramePr>
          <p:cNvPr id="2" name="3710781e-e2eb-4436-9ac5-f65f7e99f7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716415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群組或身分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綁定的 role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範圍(scope)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平時是否有人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kafka-&lt;系統&gt;-read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Topic:&lt;topic 前綴&gt;;Group(consumer group):&lt;group 前綴&gt;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有:該系統維護人員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有:維運人員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看叢集狀態;不能讀寫資料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空:依變更單臨時加入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建、刪、改 topic 與設定;不能讀寫資料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空:依變更單臨時加入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只管授權;不碰資料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kafka-security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有:資安與稽核人員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檢視授權設定;管理 audit 設定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kafka-breakglass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空:緊急時一到兩人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服務帳號(SCRAM)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讀:DeveloperRead;寫:DeveloperWrite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Topic:自己的 topic;讀取時另加 Group:自己的 consumer group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不適用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寫資料只由服務帳號做;綁 User: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2bc528e8-4815-4132-a079-fb7dcf69961e"/>
          <p:cNvSpPr/>
          <p:nvPr/>
        </p:nvSpPr>
        <p:spPr>
          <a:xfrm>
            <a:off x="548640" y="5588137"/>
            <a:ext cx="11091672" cy="381824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名稱與前綴是範例;topic 與 consumer group 各有自己的名稱,命名規範要請客戶確認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Confluent 內建 RBAC 角色與 scope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本方案用到的內建角色,依「綁在叢集」或「綁在資源」分兩類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7</a:t>
            </a:fld>
            <a:endParaRPr lang="zh-TW" altLang="en-US" sz="900"/>
          </a:p>
        </p:txBody>
      </p:sp>
      <p:sp>
        <p:nvSpPr>
          <p:cNvPr id="2" name="dce4d025-52b6-4453-8a49-d527a3aedc4a"/>
          <p:cNvSpPr/>
          <p:nvPr/>
        </p:nvSpPr>
        <p:spPr>
          <a:xfrm>
            <a:off x="411480" y="1642625"/>
            <a:ext cx="5669280" cy="2460642"/>
          </a:xfrm>
          <a:prstGeom prst="roundRect">
            <a:avLst>
              <a:gd name="adj" fmla="val 27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40" name="3f344a2c-19ae-40c3-a1a7-b0e2cc41c28f"/>
          <p:cNvSpPr/>
          <p:nvPr/>
        </p:nvSpPr>
        <p:spPr>
          <a:xfrm>
            <a:off x="548640" y="1685050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41" name="0d52819b-d21f-442a-9486-74bea05b52eb"/>
          <p:cNvSpPr/>
          <p:nvPr/>
        </p:nvSpPr>
        <p:spPr>
          <a:xfrm>
            <a:off x="548640" y="200747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</p:txBody>
      </p:sp>
      <p:sp>
        <p:nvSpPr>
          <p:cNvPr id="5" name="87c81c8f-ea64-431e-9899-ff440e73620f"/>
          <p:cNvSpPr/>
          <p:nvPr/>
        </p:nvSpPr>
        <p:spPr>
          <a:xfrm>
            <a:off x="2331720" y="202444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全部權限(含改授權);break-glass</a:t>
            </a:r>
            <a:endParaRPr lang="en-US" sz="1100" dirty="0"/>
          </a:p>
        </p:txBody>
      </p:sp>
      <p:sp>
        <p:nvSpPr>
          <p:cNvPr id="42" name="1d5c84da-b542-47ae-9ef6-0839b9d583d9"/>
          <p:cNvSpPr/>
          <p:nvPr/>
        </p:nvSpPr>
        <p:spPr>
          <a:xfrm>
            <a:off x="548640" y="236384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100" dirty="0"/>
          </a:p>
        </p:txBody>
      </p:sp>
      <p:sp>
        <p:nvSpPr>
          <p:cNvPr id="7" name="5f434c4c-6c89-41a0-8e2a-cfaed11651c2"/>
          <p:cNvSpPr/>
          <p:nvPr/>
        </p:nvSpPr>
        <p:spPr>
          <a:xfrm>
            <a:off x="2331720" y="238081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管理授權(role binding),不碰資料</a:t>
            </a:r>
            <a:endParaRPr lang="en-US" sz="1100" dirty="0"/>
          </a:p>
        </p:txBody>
      </p:sp>
      <p:sp>
        <p:nvSpPr>
          <p:cNvPr id="43" name="9bb16486-30cf-4276-97cd-744e7a3adf61"/>
          <p:cNvSpPr/>
          <p:nvPr/>
        </p:nvSpPr>
        <p:spPr>
          <a:xfrm>
            <a:off x="548640" y="2720216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ClusterAdmin</a:t>
            </a:r>
            <a:endParaRPr lang="en-US" sz="1100" dirty="0"/>
          </a:p>
        </p:txBody>
      </p:sp>
      <p:sp>
        <p:nvSpPr>
          <p:cNvPr id="9" name="555702bd-484e-4e29-852c-9b30cf4c621c"/>
          <p:cNvSpPr/>
          <p:nvPr/>
        </p:nvSpPr>
        <p:spPr>
          <a:xfrm>
            <a:off x="2331720" y="2737186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叢集與 topic 設定,不能讀寫資料</a:t>
            </a:r>
            <a:endParaRPr lang="en-US" sz="1100" dirty="0"/>
          </a:p>
        </p:txBody>
      </p:sp>
      <p:sp>
        <p:nvSpPr>
          <p:cNvPr id="10" name="f81d28a3-f5d4-47b5-b47f-da7123ed15fa"/>
          <p:cNvSpPr/>
          <p:nvPr/>
        </p:nvSpPr>
        <p:spPr>
          <a:xfrm>
            <a:off x="548640" y="3076585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bd051916-0bf2-4c08-9bfa-b6a37514e7f4"/>
          <p:cNvSpPr/>
          <p:nvPr/>
        </p:nvSpPr>
        <p:spPr>
          <a:xfrm>
            <a:off x="2331720" y="3093555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2" name="56aeb1e7-8368-4270-b409-df14a9887db7"/>
          <p:cNvSpPr/>
          <p:nvPr/>
        </p:nvSpPr>
        <p:spPr>
          <a:xfrm>
            <a:off x="548640" y="3432954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SecurityAdmin</a:t>
            </a:r>
            <a:endParaRPr lang="en-US" sz="1100" dirty="0"/>
          </a:p>
        </p:txBody>
      </p:sp>
      <p:sp>
        <p:nvSpPr>
          <p:cNvPr id="13" name="ab397006-1695-4b4e-a2bb-f1d470c9e31e"/>
          <p:cNvSpPr/>
          <p:nvPr/>
        </p:nvSpPr>
        <p:spPr>
          <a:xfrm>
            <a:off x="2331720" y="3449924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可檢視授權設定,不能改</a:t>
            </a:r>
            <a:endParaRPr lang="en-US" sz="1100" dirty="0"/>
          </a:p>
        </p:txBody>
      </p:sp>
      <p:sp>
        <p:nvSpPr>
          <p:cNvPr id="14" name="4ae0af3e-ae42-44a0-8140-94530f126c24"/>
          <p:cNvSpPr/>
          <p:nvPr/>
        </p:nvSpPr>
        <p:spPr>
          <a:xfrm>
            <a:off x="548640" y="3789323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AuditAdmin</a:t>
            </a:r>
            <a:endParaRPr lang="en-US" sz="1100" dirty="0"/>
          </a:p>
        </p:txBody>
      </p:sp>
      <p:sp>
        <p:nvSpPr>
          <p:cNvPr id="15" name="c6bc3263-7ddf-4606-bdf8-087a1e527d06"/>
          <p:cNvSpPr/>
          <p:nvPr/>
        </p:nvSpPr>
        <p:spPr>
          <a:xfrm>
            <a:off x="2331720" y="3806293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管理稽核(audit)設定</a:t>
            </a:r>
            <a:endParaRPr lang="en-US" sz="1100" dirty="0"/>
          </a:p>
        </p:txBody>
      </p:sp>
      <p:sp>
        <p:nvSpPr>
          <p:cNvPr id="16" name="9fe89930-e1ec-4e0a-9b88-fb42127992ce"/>
          <p:cNvSpPr/>
          <p:nvPr/>
        </p:nvSpPr>
        <p:spPr>
          <a:xfrm>
            <a:off x="411480" y="4188117"/>
            <a:ext cx="5669280" cy="1824269"/>
          </a:xfrm>
          <a:prstGeom prst="roundRect">
            <a:avLst>
              <a:gd name="adj" fmla="val 27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7" name="752c0329-571b-4fcb-af13-1b23c401b1a0"/>
          <p:cNvSpPr/>
          <p:nvPr/>
        </p:nvSpPr>
        <p:spPr>
          <a:xfrm>
            <a:off x="548640" y="4230542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8" name="314655dc-1aec-407a-9a20-b67d5662fdbe"/>
          <p:cNvSpPr/>
          <p:nvPr/>
        </p:nvSpPr>
        <p:spPr>
          <a:xfrm>
            <a:off x="548640" y="4552971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ResourceOwner</a:t>
            </a:r>
            <a:endParaRPr lang="en-US" sz="1100" dirty="0"/>
          </a:p>
        </p:txBody>
      </p:sp>
      <p:sp>
        <p:nvSpPr>
          <p:cNvPr id="19" name="10fdfd61-4e7f-48b7-b4e9-804b242e80c9"/>
          <p:cNvSpPr/>
          <p:nvPr/>
        </p:nvSpPr>
        <p:spPr>
          <a:xfrm>
            <a:off x="2331720" y="4569941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對該資源全權(含授權該資源)</a:t>
            </a:r>
            <a:endParaRPr lang="en-US" sz="1100" dirty="0"/>
          </a:p>
        </p:txBody>
      </p:sp>
      <p:sp>
        <p:nvSpPr>
          <p:cNvPr id="20" name="aa5a7835-f501-47c4-8a8f-841acc9a7b60"/>
          <p:cNvSpPr/>
          <p:nvPr/>
        </p:nvSpPr>
        <p:spPr>
          <a:xfrm>
            <a:off x="548640" y="490933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100" dirty="0"/>
          </a:p>
        </p:txBody>
      </p:sp>
      <p:sp>
        <p:nvSpPr>
          <p:cNvPr id="21" name="0df3f499-ccde-4c5c-8b3c-c46206020ebf"/>
          <p:cNvSpPr/>
          <p:nvPr/>
        </p:nvSpPr>
        <p:spPr>
          <a:xfrm>
            <a:off x="2331720" y="492630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 topic、加入 consumer group</a:t>
            </a:r>
            <a:endParaRPr lang="en-US" sz="1100" dirty="0"/>
          </a:p>
        </p:txBody>
      </p:sp>
      <p:sp>
        <p:nvSpPr>
          <p:cNvPr id="22" name="eea9515a-9f61-49ad-be1b-e2dc84546fc2"/>
          <p:cNvSpPr/>
          <p:nvPr/>
        </p:nvSpPr>
        <p:spPr>
          <a:xfrm>
            <a:off x="548640" y="526570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DeveloperWrite</a:t>
            </a:r>
            <a:endParaRPr lang="en-US" sz="1100" dirty="0"/>
          </a:p>
        </p:txBody>
      </p:sp>
      <p:sp>
        <p:nvSpPr>
          <p:cNvPr id="23" name="5db3343b-c653-449d-b8fa-c9a7452c498a"/>
          <p:cNvSpPr/>
          <p:nvPr/>
        </p:nvSpPr>
        <p:spPr>
          <a:xfrm>
            <a:off x="2331720" y="528267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 topic(含 idempotent 寫入)</a:t>
            </a:r>
            <a:endParaRPr lang="en-US" sz="1100" dirty="0"/>
          </a:p>
        </p:txBody>
      </p:sp>
      <p:sp>
        <p:nvSpPr>
          <p:cNvPr id="24" name="f287da40-244f-4de8-994d-a21d4e97a609"/>
          <p:cNvSpPr/>
          <p:nvPr/>
        </p:nvSpPr>
        <p:spPr>
          <a:xfrm>
            <a:off x="548640" y="5622077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DeveloperManage</a:t>
            </a:r>
            <a:endParaRPr lang="en-US" sz="1100" dirty="0"/>
          </a:p>
        </p:txBody>
      </p:sp>
      <p:sp>
        <p:nvSpPr>
          <p:cNvPr id="25" name="e567f45b-7b11-4deb-ba73-429632b89a2f"/>
          <p:cNvSpPr/>
          <p:nvPr/>
        </p:nvSpPr>
        <p:spPr>
          <a:xfrm>
            <a:off x="2331720" y="5639047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6" name="f12539b6-9b8e-4f09-a294-875e037d386b"/>
          <p:cNvSpPr/>
          <p:nvPr/>
        </p:nvSpPr>
        <p:spPr>
          <a:xfrm>
            <a:off x="6309360" y="1642625"/>
            <a:ext cx="5330952" cy="4369761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b43e2362-c182-4d5e-a2dc-a691d3b66654"/>
          <p:cNvSpPr/>
          <p:nvPr/>
        </p:nvSpPr>
        <p:spPr>
          <a:xfrm>
            <a:off x="6446520" y="1685050"/>
            <a:ext cx="50292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scope 圖:role binding 綁在哪一層</a:t>
            </a:r>
            <a:endParaRPr lang="en-US" sz="1250" dirty="0"/>
          </a:p>
        </p:txBody>
      </p:sp>
      <p:sp>
        <p:nvSpPr>
          <p:cNvPr id="28" name="4e4961d3-8795-46ba-a77d-546c29587dc9"/>
          <p:cNvSpPr/>
          <p:nvPr/>
        </p:nvSpPr>
        <p:spPr>
          <a:xfrm>
            <a:off x="6492240" y="2024449"/>
            <a:ext cx="4965192" cy="3393989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  <a:prstDash val="solid"/>
          </a:ln>
        </p:spPr>
      </p:sp>
      <p:sp>
        <p:nvSpPr>
          <p:cNvPr id="29" name="4463f0ac-c194-4338-b797-57e60569c414"/>
          <p:cNvSpPr/>
          <p:nvPr/>
        </p:nvSpPr>
        <p:spPr>
          <a:xfrm>
            <a:off x="6629400" y="2066874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叢集(scope = 叢集 ID)</a:t>
            </a:r>
            <a:endParaRPr lang="en-US" sz="1200" dirty="0"/>
          </a:p>
        </p:txBody>
      </p:sp>
      <p:sp>
        <p:nvSpPr>
          <p:cNvPr id="30" name="907e028f-710b-4a28-95e4-12d3627eb932"/>
          <p:cNvSpPr/>
          <p:nvPr/>
        </p:nvSpPr>
        <p:spPr>
          <a:xfrm>
            <a:off x="6675120" y="2363848"/>
            <a:ext cx="4599432" cy="466674"/>
          </a:xfrm>
          <a:prstGeom prst="roundRect">
            <a:avLst>
              <a:gd name="adj" fmla="val 18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1" name="f7d95a70-8b5e-42da-b59c-8d92a99491ea"/>
          <p:cNvSpPr/>
          <p:nvPr/>
        </p:nvSpPr>
        <p:spPr>
          <a:xfrm>
            <a:off x="6629400" y="2915371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叢集裡的資源 + 比對方式(名稱為範例)</a:t>
            </a:r>
            <a:endParaRPr lang="en-US" sz="1200" dirty="0"/>
          </a:p>
        </p:txBody>
      </p:sp>
      <p:sp>
        <p:nvSpPr>
          <p:cNvPr id="32" name="4b97d8fc-81c8-4716-9af1-5463c588ad1e"/>
          <p:cNvSpPr/>
          <p:nvPr/>
        </p:nvSpPr>
        <p:spPr>
          <a:xfrm>
            <a:off x="6675120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 (PREFIXED)</a:t>
            </a:r>
            <a:endParaRPr lang="en-US" sz="1050" dirty="0"/>
          </a:p>
        </p:txBody>
      </p:sp>
      <p:sp>
        <p:nvSpPr>
          <p:cNvPr id="33" name="1190ff9a-66ca-4fbc-9338-a7ffd51f8b5b"/>
          <p:cNvSpPr/>
          <p:nvPr/>
        </p:nvSpPr>
        <p:spPr>
          <a:xfrm>
            <a:off x="9025128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infra.  (PREFIXED)</a:t>
            </a:r>
            <a:endParaRPr lang="en-US" sz="1050" dirty="0"/>
          </a:p>
        </p:txBody>
      </p:sp>
      <p:sp>
        <p:nvSpPr>
          <p:cNvPr id="34" name="f0b3a92a-1c03-41f5-bcd2-1233384432c3"/>
          <p:cNvSpPr/>
          <p:nvPr/>
        </p:nvSpPr>
        <p:spPr>
          <a:xfrm>
            <a:off x="6675120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demo-  (PREFIXED)</a:t>
            </a:r>
            <a:endParaRPr lang="en-US" sz="1050" dirty="0"/>
          </a:p>
        </p:txBody>
      </p:sp>
      <p:sp>
        <p:nvSpPr>
          <p:cNvPr id="35" name="b909f7fa-ca99-466a-afcf-9157704c79e8"/>
          <p:cNvSpPr/>
          <p:nvPr/>
        </p:nvSpPr>
        <p:spPr>
          <a:xfrm>
            <a:off x="9025128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orders.events  (LITERAL)</a:t>
            </a:r>
            <a:endParaRPr lang="en-US" sz="1050" dirty="0"/>
          </a:p>
        </p:txBody>
      </p:sp>
      <p:sp>
        <p:nvSpPr>
          <p:cNvPr id="36" name="29d9322b-a3ef-405b-8f16-40a1549099e7"/>
          <p:cNvSpPr/>
          <p:nvPr/>
        </p:nvSpPr>
        <p:spPr>
          <a:xfrm>
            <a:off x="6629400" y="4527516"/>
            <a:ext cx="4754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資源範圍角色綁「資源類型 + 名稱 + 比對方式」</a:t>
            </a:r>
            <a:endParaRPr lang="en-US" sz="1100" dirty="0"/>
          </a:p>
          <a:p>
            <a:pPr marL="0" indent="0" algn="l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7" name="433be191-84c6-4070-969d-5c8f7d6b2d79"/>
          <p:cNvSpPr/>
          <p:nvPr/>
        </p:nvSpPr>
        <p:spPr>
          <a:xfrm>
            <a:off x="6446520" y="5460863"/>
            <a:ext cx="5029200" cy="237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對應上一頁的例子</a:t>
            </a:r>
            <a:endParaRPr lang="en-US" sz="1100" dirty="0"/>
          </a:p>
        </p:txBody>
      </p:sp>
      <p:sp>
        <p:nvSpPr>
          <p:cNvPr id="38" name="e23f5f0d-ba12-45bf-b207-7d54a69b3cce"/>
          <p:cNvSpPr/>
          <p:nvPr/>
        </p:nvSpPr>
        <p:spPr>
          <a:xfrm>
            <a:off x="6446520" y="5672987"/>
            <a:ext cx="210312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kafka-ops → Operator @ 叢集</a:t>
            </a:r>
            <a:endParaRPr lang="en-US" sz="1000" dirty="0"/>
          </a:p>
        </p:txBody>
      </p:sp>
      <p:sp>
        <p:nvSpPr>
          <p:cNvPr id="39" name="d2cf781c-b8e8-497c-b6f8-4bfca549b7e8"/>
          <p:cNvSpPr/>
          <p:nvPr/>
        </p:nvSpPr>
        <p:spPr>
          <a:xfrm>
            <a:off x="8641080" y="5672987"/>
            <a:ext cx="2834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讀取群組 → DeveloperRead @ 前綴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與 Kafka 元件交互:總覽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五種交互,認證方式與結果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8</a:t>
            </a:fld>
            <a:endParaRPr lang="zh-TW" altLang="en-US" sz="900"/>
          </a:p>
        </p:txBody>
      </p:sp>
      <p:graphicFrame>
        <p:nvGraphicFramePr>
          <p:cNvPr id="2" name="b131dab9-4b9f-48ca-9aba-9985591eed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529749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對方做什麼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結果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服務帳號 → 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做權限控管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應為 super user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→ 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認證後,簽發代表元件本身的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元件帶 token 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→ 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 Basic 登入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轉給 MDS,由 MDS 向 AD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取得代表本人的 token(見「人 → C3」頁)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→ 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Basic(AD 帳號密碼)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轉給 MDS,由 MDS 向 AD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取得代表本人的 token,帶去與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→ 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向 MDS 做 impersonate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 legacy app 的 token(見「legacy app → REST Proxy」頁)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 → C3:登入與之後的請求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登入取得 token;之後依請求類型處理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9</a:t>
            </a:fld>
            <a:endParaRPr lang="zh-TW" altLang="en-US" sz="900"/>
          </a:p>
        </p:txBody>
      </p:sp>
      <p:graphicFrame>
        <p:nvGraphicFramePr>
          <p:cNvPr id="9" name="77aaf74c-0852-4b5d-8238-211ef69497d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2477614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7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 Basic(AD 帳號密碼)登入 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Basic 資訊轉給 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AD 驗證,回傳代表本人的 MDS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MDS token 回給瀏覽器(回應內容與 cookie 都有)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之後發請求給 C3 時,用 Bearer 標頭帶這個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7" name="9913a047-84fd-4e59-84bf-7402675368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32361"/>
          <a:ext cx="11091672" cy="157820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收到請求後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token 怎麼處理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2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請求要與 MDS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MDS token 轉給 MDS,由 MDS 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2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請求不與 MDS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用 MDS 的公鑰在本地驗證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2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操作與 broker 有關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帶這個 MDS token 與 broker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legacy app → REST Proxy:憑證換 token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只能 HTTP 的服務;憑證的 CN 就是它的帳號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10</a:t>
            </a:fld>
            <a:endParaRPr lang="zh-TW" altLang="en-US" sz="900"/>
          </a:p>
        </p:txBody>
      </p:sp>
      <p:graphicFrame>
        <p:nvGraphicFramePr>
          <p:cNvPr id="10" name="01ab5f9e-2eeb-4cdd-8159-826771aa88c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529749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1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 mTLS 連 REST Proxy,提供 client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取出憑證的 CN,當作這個 app 的帳號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用自己的 client 憑證向 MDS 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MDS 做 impersonate,取得代表這個 app 的 MDS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帶這個 MDS token 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準備事項(一):憑證、金鑰與帳號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依前面各頁整理:導入前要先備妥的東西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11</a:t>
            </a:fld>
            <a:endParaRPr lang="zh-TW" altLang="en-US" sz="900"/>
          </a:p>
        </p:txBody>
      </p:sp>
      <p:graphicFrame>
        <p:nvGraphicFramePr>
          <p:cNvPr id="11" name="4e72dbb1-8e3d-4469-b210-eac2c06872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4191573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9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要準備什麼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用在哪裡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注意事項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共用的 server 私鑰與憑證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傳輸加密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要列出所有元件的主機名稱或 IP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server 憑證的 root CA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傳輸加密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放進各元件與外部 client 的信任庫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憑證:c3、restproxy、bootstrap、各 legacy app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認證、元件交互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憑證的 CN 就是身分,命名要先定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 LDAPS 用的 CA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傳輸加密(連 AD)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有中繼 CA 時一併提供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簽發 token 用的金鑰對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授權、元件交互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私鑰外洩可偽造任何人的 token,要限制存放位置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 kafka-broker、kafka-controller 的密碼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認證(叢集內部)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帳號在初始化叢集時建立;controller 的 JAAS 設定另放同名的 PLAIN 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每個服務一個 SCRAM 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密碼放密碼庫;密碼不會自動到期,要有輪替流程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bootstrap(super user)的保管方式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認證、元件交互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不受授權限制;只用 client 憑證,不另建帳號;用完離線保管,指定保管人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準備事項(二):AD、命名規範與流程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需要 AD 管理員、應用團隊與維運一起確認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12</a:t>
            </a:fld>
            <a:endParaRPr lang="zh-TW" altLang="en-US" sz="900"/>
          </a:p>
        </p:txBody>
      </p:sp>
      <p:graphicFrame>
        <p:nvGraphicFramePr>
          <p:cNvPr id="12" name="fe0041e0-7bb3-440d-abf7-8229d630017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953995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9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要準備什麼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用在哪裡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注意事項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唯讀查詢帳號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認證、授權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只讀使用者與群組;不用真人帳號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使用者與群組在 AD 的位置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認證、授權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用來設定搜尋範圍;帳號大小寫要與 AD 一致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 AD 群組並放入成員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依「AD 群組對應 RBAC role」頁;高權限群組先保持空的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 與 consumer group 的命名規範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兩套名稱各自定前綴;沒有規範就無法依前綴授權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服務與 legacy app 的清單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認證、授權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列出各自要讀寫的 topic 與 consumer group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臨時加入高權限群組的變更流程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依變更單加入,做完移出;緊急用的群組指定一到兩人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防火牆連線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傳輸加密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元件之間的九條連線、broker 連 AD、外部 client 連入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6279918-8EC7-4ECB-A798-E15F186ABB7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E66D0B-AA1B-4EED-A6EC-86D221198F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643090-462e-4483-8fee-104e11aaa7c6"/>
    <ds:schemaRef ds:uri="81fbc0a5-bf19-4add-b132-07e20741ab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D6D8F05-3EF5-4272-8592-C532046A55F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6645</TotalTime>
  <Words>2265</Words>
  <Application>Microsoft Office PowerPoint</Application>
  <PresentationFormat>寬螢幕</PresentationFormat>
  <Paragraphs>335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微軟正黑體</vt:lpstr>
      <vt:lpstr>Aptos</vt:lpstr>
      <vt:lpstr>Arial</vt:lpstr>
      <vt:lpstr>Arial Black</vt:lpstr>
      <vt:lpstr>Wingdings</vt:lpstr>
      <vt:lpstr>Office 佈景主題</vt:lpstr>
      <vt:lpstr>Kafka 安全整理</vt:lpstr>
      <vt:lpstr>傳輸加密:要準備的憑證與信任庫</vt:lpstr>
      <vt:lpstr>傳輸加密:哪些連線要設信任庫</vt:lpstr>
      <vt:lpstr>認證:誰連誰,用什麼機制</vt:lpstr>
      <vt:lpstr>授權:MDS 管 RBAC,broker 判斷</vt:lpstr>
      <vt:lpstr>授權:AD 群組對應 RBAC role</vt:lpstr>
      <vt:lpstr>Confluent 內建 RBAC 角色與 scope</vt:lpstr>
      <vt:lpstr>與 Kafka 元件交互:總覽</vt:lpstr>
      <vt:lpstr>人 → C3:登入與之後的請求</vt:lpstr>
      <vt:lpstr>legacy app → REST Proxy:憑證換 token</vt:lpstr>
      <vt:lpstr>準備事項(一):憑證、金鑰與帳號</vt:lpstr>
      <vt:lpstr>準備事項(二):AD、命名規範與流程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user</cp:lastModifiedBy>
  <cp:revision>95</cp:revision>
  <dcterms:created xsi:type="dcterms:W3CDTF">2025-04-18T08:33:56Z</dcterms:created>
  <dcterms:modified xsi:type="dcterms:W3CDTF">2026-10-05T08:51:00Z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