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封面。客戶前提:RHEL 9 手動部署、AD 只有 user 與 group。範圍:Kafka(含 controller 與 MDS RBAC)、REST Proxy、Control Center。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六個前提:AD 只有 user/group(沒有服務帳號);希望憑證數量越少越好(設計上共用一組 server 憑證);RHEL 9 手動部署、尚無 Ansible;legacy app 只能 HTTP;權限要依職責分層(不同職責不同權限,唯讀只是其中一層;做法是 AD 群組 + RBAC);範圍限於 Kafka、REST Proxy、C3。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憑證更換實驗(demo/spike/cert-rotation,單節點 Kafka、SSL listener 要求 client 憑證,可動態換 keystore/truststore):T1 只換 server 憑證(同 CA、新金鑰):用 kafka-configs 動態更新 listener.name.ssl.ssl.keystore.location,不重啟,client 設定完全不動仍通過(動態更新只涵蓋 Kafka listener;在 demo 實測 MDS 8091 埠不會跟著換,broker 仍要重啟,REST Proxy、C3 本來就要重啟,所以本方案以 rolling restart 為主,動態更新價值有限)。T4 根憑證用同一把金鑰重新簽發:client 信任庫只放新根、server 信任庫換成新根,舊的 server 與 client 憑證都照常通過。T2 CA 換金鑰且順序錯(先換 server 憑證、client 信任庫仍是舊根):client 出現 PKIX path building failed;還原後恢復。T3 正確順序:①server 與 client 信任庫先放新舊兩個根(舊 client 憑證與新舊 server 憑證都通過)→②換 server 憑證→③重簽 client 憑證(新 CA)→④移除舊根:新 client 憑證通過,尚未重簽的舊 client 憑證被拒。未驗證:長駐 client 是否需要重啟才會重新載入信任庫(以每次新啟動的 client 模擬);有中繼 CA 的情況。MDS / REST Proxy / C3 換憑證需要重啟:已在 demo 全元件演練實測(換檔不重啟,各埠仍出示舊憑證),見下一頁;這些元件有沒有不重啟的動態重載方式未驗證。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在實際 demo 環境(demo/spike/cert-rotation/rotate-demo.sh,log 為 rotate-demo.log)用「新根 CA2(新金鑰)」演練整套更換:階段 1:信任庫換成 {CA1,CA2},controller、broker1、broker2、REST Proxy、C3 全部重啟。階段 2:server 憑證換成 CA2 簽發;檔案換好、尚未重啟時,controller 9093、broker 9094 與 MDS 8091、REST Proxy 8086、C3 9022 仍出示舊憑證;依序重啟後全部變成新簽發者;過程中包含 controller 與 broker1 已換、broker2 還沒換的混合狀態,Kafka 人員登入、MDS 登入、REST Proxy(人與 legacy 憑證)、C3 網頁皆正常。階段 3:client 憑證(c3、restproxy、bootstrap、legacy-orders)用新根重簽,CN 不變所以 RBAC 不用重綁;REST Proxy、C3 重啟(換了檔案要重啟才載入;其實舊憑證在移除舊根前仍有效,階段 3 就重啟是為了在移除舊根之前先驗證新憑證,出問題還能回頭);controller 與 broker 沒有 client 憑證所以不用;legacy app 與 bootstrap 是直接讀檔,換檔即生效;新舊根並存期間,舊 CA 簽發的 legacy 憑證仍被接受。階段 4:信任庫只留新根,全部重啟;舊 CA 簽發的 legacy 憑證被拒(TLS 握手失敗),仍只信任舊根的 client 連不上新憑證。順序的依據:Confluent for Kubernetes 憑證管理文件的 CA 輪替流程是「步驟為主」:先更新所有元件的信任庫、確認每個元件都有新舊兩個 CA,再更新憑證;每個元件 rollout 完成才繼續。不是「一個元件做完全部步驟再換下一個」(那樣會在其他元件還沒信任新根時就出示新憑證)。也不是「一個步驟同時重啟全部」:每個步驟內逐個元件、逐台 rolling。該文件沒有規定元件之間的順序;本頁的 controller → broker(一次一台)→ REST Proxy → C3 是參考官方升級文件的順序(KRaft controller 先、broker 次之、Control Center 最後),不是憑證輪替文件的明文規定。注意:本頁以「重啟」載入為準,這也是官方的建議做法:Confluent for Kubernetes 憑證管理文件寫「Always renew truststores for all components before renewing certificates」、驗證每個元件信任庫都有新舊兩個 CA、「Wait for each component’s rollout to complete before proceeding」、先在非正式環境演練。動態載入是選項:官方 dynamic config 頁說 Kafka 的 keystore / truststore 可用 listener 前綴動態更新、只影響新連線(inter-broker listener 要求新 keystore 被該 listener 信任庫信任);CFK 文件的動態憑證載入只涵蓋 Kafka 與 Kafka REST、且只到個別 listener。Kafka 的 listener keystore / truststore 可用 kafka-configs 動態更新、不用重啟 JVM(單節點實驗實測),這不是 rolling restart;但 demo 全元件演練沒有使用動態更新,MDS 埠(Jetty)、REST Proxy、C3 是否能不重啟載入新憑證未驗證。正式環境有 3 個 controller,需逐台重啟以維持 quorum;demo 只有 1 個 controller,多 controller 搭配 TLS 與 RBAC 的滾動重啟未驗證。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官方:SCRAM overview 頁說 KRaft controller 之間不支援 SCRAM、broker→controller 可用;但 KRaft security 頁的寫法不同,官方文件間不一致,實測 3 個 controller 用 SCRAM-SHA-512:互相認證失敗(Invalid user credentials)、選不出 leader,與 SCRAM overview 頁一致(推測原因:SCRAM 憑證存放在 metadata log,quorum 還沒形成就無法驗證,此為推測)。主 demo 僅 1 個 controller;另以獨立實驗(spike/multi-controller:3 controller + 1 broker,SASL_PLAINTEXT)驗證 PLAIN:三個 voter 組成 quorum,停掉 leader 後重新選舉、重啟後回到 follower 無 lag,未驗證搭配 TLS / RBAC。另:官方 MDS 設定頁說 RBAC 下 controller 應設 confluent.metadata.server.kraft.controller.enabled=true,且只有 MDS writer broker 連 LDAP;本專案原以為 controller 需要 ldap.*,重建環境後重測已推翻:無 LDAP 的 controller 仍能依群組授權(ch11 通過),現採官方設定。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人用 SASL/PLAIN,broker 把帳密交給 LDAP(AD)驗證密碼;登入時不查群組,群組由 MDS writer 定期從 AD 同步,授權時依帳號名稱查本地快取(實測);服務用 SCRAM;平台元件用 OAUTHBEARER(MDS token)。INTERNAL 埠的使用者:broker 間用 kafka-broker;controller 連 broker(讀 RBAC 資料、audit 匯出)用 kafka-controller,皆為 SCRAM 與 super user。LDAP callback 不用在 inter-broker:客戶 AD 沒有服務帳號,官方也不建議 PLAIN + LDAP。INTERNAL 埠只是另一個 SASL 埠,任何有效 SCRAM 帳號都能「認證」進去(授權仍生效),所以必須用防火牆限制。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官方:MDS 在異動 RBAC 時把最新資訊寫入 topic,broker 讀取後 cache 在本地授權;群組同步只有 MDS writer broker 週期性向 LDAP 取(實測:LDAP 日誌同一時間只有 writer 查詢,broker2 重啟後 writer 換成 broker1;writer 把使用者→群組寫進 _confluent-metadata-auth,內容含 RoleBinding、User(群組對照)、Status(writerBrokerId),其他 broker 消費該 topic 更新本地快取;leader 在非 writer 的 partition 上,加入群組 3 秒內生效、移出約 6 秒)。注意:使用者認證(MDS 以使用者帳密 bind、CLIENT 埠 PLAIN+LDAP callback)由各 broker 自己連 AD,所以 AD 防火牆來源要涵蓋所有 broker(controller 不需要 LDAP 設定,實測)。客戶前提:需要 AD 唯讀查詢帳號(bind DN,只讀 user/group OU,建議 LDAPS);使用者密碼由 simple bind 以使用者自己的 DN 驗證。token:平台元件(C3、REST Proxy 自己的工作)由 client 函式庫重新換 token,不需人工;人用 C3 登入有 6 小時上限,到期重新登入;實測從 AD 刪除使用者後,已簽發 token 仍可呼叫 MDS(200),Basic 重新登入回 401,離職流程要考慮最長一個 token 壽命的空窗(demo 設 1 小時;設定 confluent.metadata.server.token.max.lifetime.ms)。writer 是什麼:MDS 內嵌在多台 broker,但同一時間只有一台 broker 擔任 writer(RBAC topic 的 Status 記錄會寫 writerBrokerId 與 generationId;實測 broker2 重啟後 writer 由 broker2 換成 broker1)。實測 LDAP 日誌:群組搜尋只由 writer 發出,結果寫進 RBAC topic,其他 broker 消費該 topic 更新快取。writer 的挑選方式與角色綁定寫入是否一律經過 writer,未驗證。人登入的 LDAP 流程(實測,PLAIN+LDAP 與 MDS Basic 皆相同):先用唯讀 bind 帳號搜尋使用者取得完整 DN,再用使用者自己的 DN 與密碼做一次 simple bind,成功即密碼正確,然後斷線。MDS 的 Bearer 是 MDS 自己簽發的 token(JWT),不是外部 OAuth2 token;Kafka 的 OAUTHBEARER 只是攜帶這個 token 的機制名稱。機器 / 平台元件以 client 憑證向 MDS 認證(MDS 設 REQUESTED,所以人 Basic 與機器憑證可並存),憑證 CN 經對映規則成為主體,只能用 User: 綁 role(官方 mTLS RBAC 頁:憑證主體不支援群組授權);REST Proxy 另可用自己的憑證代機器呼叫 /impersonate 申請 token(需列入 impersonation super users)。MDS 簽發的 token 不含群組:實測 yujie、gary 的 token 只有 jti、iss、sub、exp、iat、nbf、azp、auth_time;PLAIN+LDAP 登入也只驗證密碼、不查群組。授權時 broker 用主體名稱查 writer 同步進 RBAC topic 的群組對照快取(實測:只綁 Group:kafka-developers,yujie 不需任何個別設定就能讀取;移除綁定即被拒),所以才需要 writer 定期向 AD 同步。官方文件對 MDS 自簽 token 是否含群組沒有說明,以上為實測觀察。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 demo 沒啟用,所以實測看到無認證;啟用後的設定與效果尚未實測。沒有 Schema Registry 時,C3 預設連 localhost:8081,把 schema.registry.enable 設為 false 可關閉該連線。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查不到,原因未明;本 demo 的 router 只排除 kafka-broker 與 kafka-controller 兩個內部身分,c3 不排除(曾觀察到記錄 allowed 事件時 C3 每幾秒產生 ListOffsets/OffsetFetch 而洗版審計 topic;現行 router 不記被允許的 consume)。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broker(controller 不需要 LDAP 設定,實測)。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人的三條路徑:C3(Basic→token→Bearer)、CLI 直連 broker(SASL/PLAIN + LDAP callback)、REST Proxy(Basic 轉 MDS 換 token)。授權都依 AD 群組。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機器三條路徑:應用用 SCRAM 直連;legacy app 用 client 憑證經 REST Proxy;平台元件(C3、REST Proxy)用 client 憑證向 MDS 換 token。憑證身分只能綁 User:,不能綁群組。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的憑證可省,前提是客戶能建專用 AD 帳號(非真人)讓 app 走 Basic。另需保管:MDS token 簽章金鑰對(私鑰在 MDS broker 與 controller、公鑰在 broker / REST Proxy / C3,外洩可偽造 token,輪替流程未驗證)、內部帳號 kafka-broker / kafka-controller(SCRAM 與 PLAIN 靜態帳號,輪替流程未驗證)、AD LDAPS CA root 信任庫。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六個主要風險與對策。前兩項是平台元件憑證的風險(c3 憑證=管理員、restproxy 憑證可代人),都是實測發現。第三項:共用 server 私鑰外洩可偽裝伺服器,也能以共用身分向 MDS 認證(該身分不綁 role,無權限);MDS token 簽章私鑰外洩可偽造任何人的 token,其輪替流程未驗證。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token:實測刪除 AD 帳號後,舊 token 到期前仍可呼叫 MDS,Basic 重新登入回 401;token 路徑下授權是否依現在群組未測。多 controller:官方 SCRAM overview 與 KRaft security 頁說法不一致;3 個 controller 間 SASL/PLAIN 已用獨立實驗驗證(機制)。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如實呈現:左邊是 demo 已實跑驗證的項目;右邊是尚未驗證或需在客戶環境確認的項目。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請客戶確認的八件事。第 3 項決定 legacy app 要不要 client 憑證;第 2 項決定 Kafka 憑證如何簽發與散佈;第 7 項:官方 ldap.retry.timeout.ms 預設 24 小時,LDAP 持續失敗超過這段時間授權器會被標為失敗,所以 AD 要有多台 DC;第 8 項:LDAPS 的 CA 要匯入 broker 的信任庫,若由中繼 CA 簽發且 AD 不附完整鏈,中繼 CA 也要匯入。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21.png"/><Relationship Id="rId6-created" Type="http://schemas.openxmlformats.org/officeDocument/2006/relationships/image" Target="../media/media22.png"/><Relationship Id="rId7-created" Type="http://schemas.openxmlformats.org/officeDocument/2006/relationships/image" Target="../media/media17.png"/><Relationship Id="rId8-created" Type="http://schemas.openxmlformats.org/officeDocument/2006/relationships/image" Target="../media/media23.png"/><Relationship Id="rId9-created" Type="http://schemas.openxmlformats.org/officeDocument/2006/relationships/image" Target="../media/media24.png"/><Relationship Id="rId10-created" Type="http://schemas.openxmlformats.org/officeDocument/2006/relationships/image" Target="../media/media25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6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7.png"/><Relationship Id="rId3-created" Type="http://schemas.openxmlformats.org/officeDocument/2006/relationships/image" Target="../media/media28.png"/><Relationship Id="rId4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30.png"/><Relationship Id="rId5-created" Type="http://schemas.openxmlformats.org/officeDocument/2006/relationships/image" Target="../media/media31.png"/><Relationship Id="rId6-created" Type="http://schemas.openxmlformats.org/officeDocument/2006/relationships/image" Target="../media/media32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29.png"/><Relationship Id="rId5-created" Type="http://schemas.openxmlformats.org/officeDocument/2006/relationships/image" Target="../media/media33.png"/><Relationship Id="rId6-created" Type="http://schemas.openxmlformats.org/officeDocument/2006/relationships/image" Target="../media/media34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35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17.png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6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37.png"/><Relationship Id="rId5-created" Type="http://schemas.openxmlformats.org/officeDocument/2006/relationships/image" Target="../media/media11.png"/><Relationship Id="rId6-created" Type="http://schemas.openxmlformats.org/officeDocument/2006/relationships/image" Target="../media/media9.png"/><Relationship Id="rId7-created" Type="http://schemas.openxmlformats.org/officeDocument/2006/relationships/image" Target="../media/media38.png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39.png"/><Relationship Id="rId4-created" Type="http://schemas.openxmlformats.org/officeDocument/2006/relationships/image" Target="../media/media40.png"/><Relationship Id="rId5-created" Type="http://schemas.openxmlformats.org/officeDocument/2006/relationships/image" Target="../media/media40.png"/><Relationship Id="rId6-created" Type="http://schemas.openxmlformats.org/officeDocument/2006/relationships/image" Target="../media/media39.png"/><Relationship Id="rId7-created" Type="http://schemas.openxmlformats.org/officeDocument/2006/relationships/image" Target="../media/media40.png"/><Relationship Id="rId8-created" Type="http://schemas.openxmlformats.org/officeDocument/2006/relationships/image" Target="../media/media40.png"/><Relationship Id="rId9-created" Type="http://schemas.openxmlformats.org/officeDocument/2006/relationships/image" Target="../media/media40.png"/><Relationship Id="rId10-created" Type="http://schemas.openxmlformats.org/officeDocument/2006/relationships/image" Target="../media/media40.png"/><Relationship Id="rId11-created" Type="http://schemas.openxmlformats.org/officeDocument/2006/relationships/image" Target="../media/media40.png"/><Relationship Id="rId12-created" Type="http://schemas.openxmlformats.org/officeDocument/2006/relationships/image" Target="../media/media39.png"/><Relationship Id="rId13-created" Type="http://schemas.openxmlformats.org/officeDocument/2006/relationships/image" Target="../media/media40.png"/><Relationship Id="rId14-created" Type="http://schemas.openxmlformats.org/officeDocument/2006/relationships/image" Target="../media/media40.png"/><Relationship Id="rId15-created" Type="http://schemas.openxmlformats.org/officeDocument/2006/relationships/image" Target="../media/media40.png"/><Relationship Id="rId16-created" Type="http://schemas.openxmlformats.org/officeDocument/2006/relationships/image" Target="../media/media40.png"/><Relationship Id="rId17-created" Type="http://schemas.openxmlformats.org/officeDocument/2006/relationships/image" Target="../media/media39.png"/><Relationship Id="rId18-created" Type="http://schemas.openxmlformats.org/officeDocument/2006/relationships/image" Target="../media/media39.png"/><Relationship Id="rId19-created" Type="http://schemas.openxmlformats.org/officeDocument/2006/relationships/image" Target="../media/media39.png"/><Relationship Id="rId20-created" Type="http://schemas.openxmlformats.org/officeDocument/2006/relationships/image" Target="../media/media39.png"/><Relationship Id="rId21-created" Type="http://schemas.openxmlformats.org/officeDocument/2006/relationships/image" Target="../media/media39.png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1.png"/><Relationship Id="rId3-created" Type="http://schemas.openxmlformats.org/officeDocument/2006/relationships/image" Target="../media/media38.png"/><Relationship Id="rId4-created" Type="http://schemas.openxmlformats.org/officeDocument/2006/relationships/image" Target="../media/media42.png"/><Relationship Id="rIdNotes1" Type="http://schemas.openxmlformats.org/officeDocument/2006/relationships/notesSlide" Target="../notesSlides/notesSlide1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7.png"/><Relationship Id="rId3-created" Type="http://schemas.openxmlformats.org/officeDocument/2006/relationships/image" Target="../media/media15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19.png"/><Relationship Id="rId6-created" Type="http://schemas.openxmlformats.org/officeDocument/2006/relationships/image" Target="../media/media17.png"/><Relationship Id="rId7-created" Type="http://schemas.openxmlformats.org/officeDocument/2006/relationships/image" Target="../media/media12.png"/><Relationship Id="rId8-created" Type="http://schemas.openxmlformats.org/officeDocument/2006/relationships/image" Target="../media/media30.png"/><Relationship Id="rId9-created" Type="http://schemas.openxmlformats.org/officeDocument/2006/relationships/image" Target="../media/media43.png"/><Relationship Id="rIdNotes1" Type="http://schemas.openxmlformats.org/officeDocument/2006/relationships/notesSlide" Target="../notesSlides/notesSlide1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Notes1" Type="http://schemas.openxmlformats.org/officeDocument/2006/relationships/notesSlide" Target="../notesSlides/notesSlide1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4.png"/><Relationship Id="rId4-created" Type="http://schemas.openxmlformats.org/officeDocument/2006/relationships/image" Target="../media/media45.png"/><Relationship Id="rId5-created" Type="http://schemas.openxmlformats.org/officeDocument/2006/relationships/image" Target="../media/media38.png"/><Relationship Id="rId6-created" Type="http://schemas.openxmlformats.org/officeDocument/2006/relationships/image" Target="../media/media46.png"/><Relationship Id="rIdNotes1" Type="http://schemas.openxmlformats.org/officeDocument/2006/relationships/notesSlide" Target="../notesSlides/notesSlide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4.png"/><Relationship Id="rId3-created" Type="http://schemas.openxmlformats.org/officeDocument/2006/relationships/image" Target="../media/media47.png"/><Relationship Id="rId4-created" Type="http://schemas.openxmlformats.org/officeDocument/2006/relationships/image" Target="../media/media38.png"/><Relationship Id="rIdNotes1" Type="http://schemas.openxmlformats.org/officeDocument/2006/relationships/notesSlide" Target="../notesSlides/notesSlide1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44.png"/><Relationship Id="rIdNotes1" Type="http://schemas.openxmlformats.org/officeDocument/2006/relationships/notesSlide" Target="../notesSlides/notesSlide2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8.png"/><Relationship Id="rId4-created" Type="http://schemas.openxmlformats.org/officeDocument/2006/relationships/image" Target="../media/media20.png"/><Relationship Id="rIdNotes1" Type="http://schemas.openxmlformats.org/officeDocument/2006/relationships/notesSlide" Target="../notesSlides/notesSlide2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12.png"/><Relationship Id="rId4-created" Type="http://schemas.openxmlformats.org/officeDocument/2006/relationships/image" Target="../media/media35.png"/><Relationship Id="rIdNotes1" Type="http://schemas.openxmlformats.org/officeDocument/2006/relationships/notesSlide" Target="../notesSlides/notesSlide2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19.png"/><Relationship Id="rId5-created" Type="http://schemas.openxmlformats.org/officeDocument/2006/relationships/image" Target="../media/media50.png"/><Relationship Id="rId6-created" Type="http://schemas.openxmlformats.org/officeDocument/2006/relationships/image" Target="../media/media21.png"/><Relationship Id="rId7-created" Type="http://schemas.openxmlformats.org/officeDocument/2006/relationships/image" Target="../media/media51.png"/><Relationship Id="rIdNotes1" Type="http://schemas.openxmlformats.org/officeDocument/2006/relationships/notesSlide" Target="../notesSlides/notesSlide2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2.png"/><Relationship Id="rId3-created" Type="http://schemas.openxmlformats.org/officeDocument/2006/relationships/image" Target="../media/media53.png"/><Relationship Id="rId4-created" Type="http://schemas.openxmlformats.org/officeDocument/2006/relationships/image" Target="../media/media54.png"/><Relationship Id="rId5-created" Type="http://schemas.openxmlformats.org/officeDocument/2006/relationships/image" Target="../media/media55.png"/><Relationship Id="rId6-created" Type="http://schemas.openxmlformats.org/officeDocument/2006/relationships/image" Target="../media/media56.png"/><Relationship Id="rId7-created" Type="http://schemas.openxmlformats.org/officeDocument/2006/relationships/image" Target="../media/media57.png"/><Relationship Id="rIdNotes1" Type="http://schemas.openxmlformats.org/officeDocument/2006/relationships/notesSlide" Target="../notesSlides/notesSlide2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8.png"/><Relationship Id="rId3-created" Type="http://schemas.openxmlformats.org/officeDocument/2006/relationships/image" Target="../media/media59.png"/><Relationship Id="rId4-created" Type="http://schemas.openxmlformats.org/officeDocument/2006/relationships/image" Target="../media/media60.png"/><Relationship Id="rIdNotes1" Type="http://schemas.openxmlformats.org/officeDocument/2006/relationships/notesSlide" Target="../notesSlides/notesSlide27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61.png"/><Relationship Id="rIdNotes1" Type="http://schemas.openxmlformats.org/officeDocument/2006/relationships/notesSlide" Target="../notesSlides/notesSlide28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2.png"/><Relationship Id="rId3-created" Type="http://schemas.openxmlformats.org/officeDocument/2006/relationships/image" Target="../media/media63.png"/><Relationship Id="rId4-created" Type="http://schemas.openxmlformats.org/officeDocument/2006/relationships/image" Target="../media/media12.png"/><Relationship Id="rId5-created" Type="http://schemas.openxmlformats.org/officeDocument/2006/relationships/image" Target="../media/media64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65.png"/><Relationship Id="rId8-created" Type="http://schemas.openxmlformats.org/officeDocument/2006/relationships/image" Target="../media/media19.png"/><Relationship Id="rId9-created" Type="http://schemas.openxmlformats.org/officeDocument/2006/relationships/image" Target="../media/media66.png"/><Relationship Id="rIdNotes1" Type="http://schemas.openxmlformats.org/officeDocument/2006/relationships/notesSlide" Target="../notesSlides/notesSlide29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7.png"/><Relationship Id="rId3-created" Type="http://schemas.openxmlformats.org/officeDocument/2006/relationships/image" Target="../media/media68.png"/><Relationship Id="rId4-created" Type="http://schemas.openxmlformats.org/officeDocument/2006/relationships/image" Target="../media/media11.pn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依客戶前提設計:AD 僅有 user / group</a:t>
            </a:r>
          </a:p>
        </p:txBody>
      </p:sp>
      <p:sp>
        <p:nvSpPr>
          <p:cNvPr id="2" name="0863b11c-c4b1-4da8-bf82-5a47f9d7148b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客戶前提與設計原則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先把限制說清楚,方案才站得住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六個前提決定了方案的形狀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6cc95e8-a67c-4c4e-89d6-a6b7d2b2c3d2"/>
          <p:cNvSpPr/>
          <p:nvPr/>
        </p:nvSpPr>
        <p:spPr>
          <a:xfrm>
            <a:off x="548640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4ef22015-a64b-46ab-b159-9789d5c4c5ac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6cc514aa-9257-44dd-9c9d-9ceb8d34786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3c732445-458c-42af-ae5f-d459e9dc1568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只有人與群組</a:t>
            </a:r>
            <a:endParaRPr lang="en-US" sz="1700" dirty="0"/>
          </a:p>
        </p:txBody>
      </p:sp>
      <p:sp>
        <p:nvSpPr>
          <p:cNvPr id="6" name="3b7ae2b8-fc63-457e-aace-e650c8fb82fe"/>
          <p:cNvSpPr/>
          <p:nvPr/>
        </p:nvSpPr>
        <p:spPr>
          <a:xfrm>
            <a:off x="640080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沒有服務帳號</a:t>
            </a:r>
            <a:endParaRPr lang="en-US" sz="1300" dirty="0"/>
          </a:p>
        </p:txBody>
      </p:sp>
      <p:sp>
        <p:nvSpPr>
          <p:cNvPr id="7" name="090bdb8a-2ed3-42f6-af0a-602cece1d740"/>
          <p:cNvSpPr/>
          <p:nvPr/>
        </p:nvSpPr>
        <p:spPr>
          <a:xfrm>
            <a:off x="4325112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3fe0ee12-66db-472c-8cef-9c3364832821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664753e4-ae46-4b05-9774-32902381a07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8f37c70e-6cba-4cb1-bb1b-f2bbbe460636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憑證數量越少越好</a:t>
            </a:r>
            <a:endParaRPr lang="en-US" sz="1700" dirty="0"/>
          </a:p>
        </p:txBody>
      </p:sp>
      <p:sp>
        <p:nvSpPr>
          <p:cNvPr id="11" name="adc9d342-5ad4-4acb-8fe0-4bfda3a92f61"/>
          <p:cNvSpPr/>
          <p:nvPr/>
        </p:nvSpPr>
        <p:spPr>
          <a:xfrm>
            <a:off x="4416552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希望憑證管理最小化</a:t>
            </a:r>
            <a:endParaRPr lang="en-US" sz="1300" dirty="0"/>
          </a:p>
        </p:txBody>
      </p:sp>
      <p:sp>
        <p:nvSpPr>
          <p:cNvPr id="12" name="da3e46fc-c8f3-45e5-b75e-c029dfda6bee"/>
          <p:cNvSpPr/>
          <p:nvPr/>
        </p:nvSpPr>
        <p:spPr>
          <a:xfrm>
            <a:off x="8101584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3" name="9d414a02-1e93-4b41-814b-3a9ba4b78987"/>
          <p:cNvSpPr/>
          <p:nvPr/>
        </p:nvSpPr>
        <p:spPr>
          <a:xfrm>
            <a:off x="9587484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4" name="e6612f6f-b7c5-4fb8-9645-94447493591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66751"/>
            <a:ext cx="307238" cy="307238"/>
          </a:xfrm>
          <a:prstGeom prst="rect">
            <a:avLst/>
          </a:prstGeom>
        </p:spPr>
      </p:pic>
      <p:sp>
        <p:nvSpPr>
          <p:cNvPr id="15" name="ac1fddd2-f625-4c99-941d-359feac55481"/>
          <p:cNvSpPr/>
          <p:nvPr/>
        </p:nvSpPr>
        <p:spPr>
          <a:xfrm>
            <a:off x="8174736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VM · 手動安裝</a:t>
            </a:r>
            <a:endParaRPr lang="en-US" sz="1700" dirty="0"/>
          </a:p>
        </p:txBody>
      </p:sp>
      <p:sp>
        <p:nvSpPr>
          <p:cNvPr id="16" name="1ba8e2e9-6868-4fcc-8a97-27fb8f13cf1b"/>
          <p:cNvSpPr/>
          <p:nvPr/>
        </p:nvSpPr>
        <p:spPr>
          <a:xfrm>
            <a:off x="8193024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目前沒有 Ansible</a:t>
            </a:r>
            <a:endParaRPr lang="en-US" sz="1300" dirty="0"/>
          </a:p>
        </p:txBody>
      </p:sp>
      <p:sp>
        <p:nvSpPr>
          <p:cNvPr id="17" name="cc237a7e-df59-4238-9782-4d615359e513"/>
          <p:cNvSpPr/>
          <p:nvPr/>
        </p:nvSpPr>
        <p:spPr>
          <a:xfrm>
            <a:off x="548640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794fa53e-f285-46b0-aeaf-01172e30aa7e"/>
          <p:cNvSpPr/>
          <p:nvPr/>
        </p:nvSpPr>
        <p:spPr>
          <a:xfrm>
            <a:off x="2034540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9" name="b24b7fa0-71c8-46a1-a375-80ba8778cca1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4257694"/>
            <a:ext cx="307238" cy="307238"/>
          </a:xfrm>
          <a:prstGeom prst="rect">
            <a:avLst/>
          </a:prstGeom>
        </p:spPr>
      </p:pic>
      <p:sp>
        <p:nvSpPr>
          <p:cNvPr id="20" name="4c0aed6b-09e1-4d98-995a-41f7e858fc99"/>
          <p:cNvSpPr/>
          <p:nvPr/>
        </p:nvSpPr>
        <p:spPr>
          <a:xfrm>
            <a:off x="621792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只能 HTTP</a:t>
            </a:r>
            <a:endParaRPr lang="en-US" sz="1700" dirty="0"/>
          </a:p>
        </p:txBody>
      </p:sp>
      <p:sp>
        <p:nvSpPr>
          <p:cNvPr id="21" name="0053660c-9474-4464-9f21-14fe900c53f1"/>
          <p:cNvSpPr/>
          <p:nvPr/>
        </p:nvSpPr>
        <p:spPr>
          <a:xfrm>
            <a:off x="640080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不能用 Kafka client</a:t>
            </a:r>
            <a:endParaRPr lang="en-US" sz="1300" dirty="0"/>
          </a:p>
        </p:txBody>
      </p:sp>
      <p:sp>
        <p:nvSpPr>
          <p:cNvPr id="22" name="9b5d2f1e-7c1d-4344-ad1c-197799045eea"/>
          <p:cNvSpPr/>
          <p:nvPr/>
        </p:nvSpPr>
        <p:spPr>
          <a:xfrm>
            <a:off x="4325112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69ac97d8-e8f3-4e45-9958-56406f984f26"/>
          <p:cNvSpPr/>
          <p:nvPr/>
        </p:nvSpPr>
        <p:spPr>
          <a:xfrm>
            <a:off x="5811012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a969c4d1-68b6-4fba-b4aa-9fa448910ccf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4257694"/>
            <a:ext cx="307238" cy="307238"/>
          </a:xfrm>
          <a:prstGeom prst="rect">
            <a:avLst/>
          </a:prstGeom>
        </p:spPr>
      </p:pic>
      <p:sp>
        <p:nvSpPr>
          <p:cNvPr id="25" name="a4e8d64d-6818-445d-8bbe-3a493f50a9ea"/>
          <p:cNvSpPr/>
          <p:nvPr/>
        </p:nvSpPr>
        <p:spPr>
          <a:xfrm>
            <a:off x="4398264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不同職責,不同權限</a:t>
            </a:r>
            <a:endParaRPr lang="en-US" sz="1700" dirty="0"/>
          </a:p>
        </p:txBody>
      </p:sp>
      <p:sp>
        <p:nvSpPr>
          <p:cNvPr id="26" name="9aa37045-4b19-4bd0-99d3-087330bec356"/>
          <p:cNvSpPr/>
          <p:nvPr/>
        </p:nvSpPr>
        <p:spPr>
          <a:xfrm>
            <a:off x="4416552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分層授權,不是全有或全無</a:t>
            </a:r>
            <a:endParaRPr lang="en-US" sz="1300" dirty="0"/>
          </a:p>
        </p:txBody>
      </p:sp>
      <p:sp>
        <p:nvSpPr>
          <p:cNvPr id="27" name="37457dd9-7287-4cda-89cd-79b053bc566c"/>
          <p:cNvSpPr/>
          <p:nvPr/>
        </p:nvSpPr>
        <p:spPr>
          <a:xfrm>
            <a:off x="8101584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6b086aa9-9446-4d59-8f8b-52c53cd4f16b"/>
          <p:cNvSpPr/>
          <p:nvPr/>
        </p:nvSpPr>
        <p:spPr>
          <a:xfrm>
            <a:off x="9587484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81cb5a32-4adb-4865-a56d-c2ce68d81066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4257694"/>
            <a:ext cx="307238" cy="307238"/>
          </a:xfrm>
          <a:prstGeom prst="rect">
            <a:avLst/>
          </a:prstGeom>
        </p:spPr>
      </p:pic>
      <p:sp>
        <p:nvSpPr>
          <p:cNvPr id="30" name="826d9c8a-57db-4328-b8d8-82e33f03350d"/>
          <p:cNvSpPr/>
          <p:nvPr/>
        </p:nvSpPr>
        <p:spPr>
          <a:xfrm>
            <a:off x="8174736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</a:t>
            </a:r>
            <a:endParaRPr lang="en-US" sz="1700" dirty="0"/>
          </a:p>
        </p:txBody>
      </p:sp>
      <p:sp>
        <p:nvSpPr>
          <p:cNvPr id="31" name="95748a4d-42b9-43c6-a0a8-ebd8389b7359"/>
          <p:cNvSpPr/>
          <p:nvPr/>
        </p:nvSpPr>
        <p:spPr>
          <a:xfrm>
            <a:off x="8193024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· REST Proxy · C3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設計原則:兩個身分平面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人走 AD,機器走 SCRAM 或 client 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82b0c19-3097-4e71-9b7d-159ddd370b5a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8511e4db-9c3b-4d25-be20-42bf8143a8f6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7eaf355a-7ead-4ada-a76e-b5757e670c0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02868250-953c-4a1b-b8c4-52a13a74e29b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c513f391-94d9-4bc7-bdfd-fdc3c47dcd54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0676ad0d-09c1-4e97-9de3-52f3b6eb3d05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759a8e39-4980-4ac3-943a-760d88cc9ade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3da24fbe-2c0e-4bc5-af2c-bf64ad1ed8d5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fd87cc5f-0f41-4896-b85a-dc9db7420bd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9c63a6b0-defa-4a84-9f40-5184551a0203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e948d32a-0b09-4ced-888c-ea0c28a771a5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db35ff75-69bf-476d-8622-7a0b93f72bfd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185ed940-39b6-43ae-a4f7-c0e42b3d7034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5f7b96ef-74a0-49c7-bf4e-29fcea9d8f86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eb45e1cc-9510-404f-b483-4479b5d1187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1b24f5ae-0f79-412c-8d3f-5283f446bd10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b9cc8885-afe4-411c-a43e-f8c46a84f4a6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集中管理授權規則</a:t>
            </a:r>
            <a:endParaRPr lang="en-US" sz="1100" dirty="0"/>
          </a:p>
        </p:txBody>
      </p:sp>
      <p:sp>
        <p:nvSpPr>
          <p:cNvPr id="19" name="b507bd54-fd28-466e-acc6-569ed446dcd6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ff3388bc-a99e-466a-8c10-e40a5fd1dd6d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9209d6ca-5766-42e8-a349-3c79e83c77a0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31e4af21-3bc7-47de-a49c-5de7a21771de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方案總覽:組件與安全機制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各組件怎麼認證、授權,以及貫穿全案的機制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8d9fb21-907c-428c-93ff-a4c0b9f30e50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d049b1dd-a7bb-4ad3-834c-855308f24e33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59848e2d-1d3a-43e3-a89b-7e7ecf2b2c1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5f2ea333-56bf-44ea-a6a9-aabbcd8c2e0e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6" name="c86423e1-4cfe-4133-aed9-c39034ce4070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· 內部帳號</a:t>
            </a:r>
            <a:endParaRPr lang="en-US" sz="1200" dirty="0"/>
          </a:p>
        </p:txBody>
      </p:sp>
      <p:sp>
        <p:nvSpPr>
          <p:cNvPr id="7" name="211278be-fe42-4c72-9f07-5ceb0dcf82f5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2d7e6a52-6185-4bdb-b353-1722cc86a94f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beb6a0f9-5c5d-47c0-9aa8-9ffb0310764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2ad6cb8b-4eec-45b0-9904-853948e15fcd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1" name="e9e49558-5902-4635-b52d-e5911d39aaf6"/>
          <p:cNvSpPr/>
          <p:nvPr/>
        </p:nvSpPr>
        <p:spPr>
          <a:xfrm>
            <a:off x="4416552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SCRAM · token</a:t>
            </a:r>
            <a:endParaRPr lang="en-US" sz="1200" dirty="0"/>
          </a:p>
        </p:txBody>
      </p:sp>
      <p:sp>
        <p:nvSpPr>
          <p:cNvPr id="12" name="7d9db9e0-88d4-411b-a94c-709b4b69d37e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5c876b43-fb40-43be-bc98-bba3151a19d7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cda7a078-4de9-4229-9d02-c15be43452c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ffdd263d-42e3-4563-a653-0d09de196325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6" name="f0b8c1a0-b10d-4fd4-9e81-ecb170f824c7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· 機器憑證</a:t>
            </a:r>
            <a:endParaRPr lang="en-US" sz="1200" dirty="0"/>
          </a:p>
        </p:txBody>
      </p:sp>
      <p:sp>
        <p:nvSpPr>
          <p:cNvPr id="17" name="c45669e6-397d-498c-a95e-a2d28829cb17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eb6b5126-7b0a-498e-9543-6ebe6a0cc5c8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6589b5e7-c28c-4162-8ecf-cd89e21209b0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6405fb4a-0004-4558-92e5-79395696e871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21" name="07815ae1-c6a1-4624-9d88-079b6b4e2126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22" name="cdc5f719-a85b-43ce-853b-cedd265c93a6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0633d7d7-c21f-4798-9448-38d6c2a13fcf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51eab477-0fe6-4374-9bcf-f094cfe9aef2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a5e732eb-9980-4c45-9fc2-35b5ae0de886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26" name="2b29ee85-c78c-4f6c-a89c-2c5a4137a921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27" name="21e93624-da08-42f7-9941-f568d82b5dda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b425cd74-7bd8-41bd-bb7d-636112caf865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f3410b76-3169-4b3c-987a-1094922e8fd6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476b69d5-b3e5-44c2-bacb-14a51bddd547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31" name="677ea512-5358-4882-b2a8-757e48c8e522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32" name="dff4fa1c-64bf-4a92-bd18-8169ade3241e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7de35d2a-1e95-4fee-b31e-54d3b541ae83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4" name="a3a28c98-323f-40ae-84ed-bae26daf9c79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11073e62-c3a7-40fc-859f-ab1121723ed2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36" name="f8918f48-7bd8-452b-aee3-eb4211b5e5cd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37" name="9f4cd2b6-7fbd-48a4-a224-8eaba822d611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c2bb9d5b-36d1-4ac9-83d9-c91a769c1200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908f34b4-30e0-4739-8dee-ce0c6bb7a20a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3b00f056-134c-4b53-885d-f7418f276bda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41cb5cf0-745a-4d5f-9412-2fb5ffa14733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dbdabfea-c7a4-436f-a0d8-2e92c4b00974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5a7d832a-6a61-42e3-a649-ea154c85c5c3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74df3b6a-53b7-401c-b2e0-5a39ad64e422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1ca1ab85-8954-4260-b2cf-8d858beb7c1d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8665fd4f-2023-4686-8951-0d8a0f946faa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逐項介紹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每一項:傳輸加密 · 認證 · 授權 · 注意事項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TLS 與憑證:共用 1 組,只做加密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共用 server 憑證只加密;平台元件的 client 憑證用來換 token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eec363c-b1cf-45a1-972e-b39744895384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42d1f667-fbc2-4485-9496-09911e7e1b5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c359c050-dc34-4910-ac47-b458295a04c9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4f55960d-55f5-4bfb-a7eb-42d4177df8ab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caff9195-68b3-447d-aab7-e863db5f6def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a52bcb26-3b87-4c8b-8b64-1992cb78bc18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e5c89ca9-6258-4890-a110-72abfb14fe14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8a27c576-916f-416d-86bb-310ea41effc9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a0fd7665-13be-4361-a193-f867edd78c80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bf6ef520-4894-4030-a15f-29be55657baf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91bbca92-763c-418e-85c6-91e25283ab17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d6299323-cc8b-4ce5-baaa-554f6eb3c2ea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a74fc660-82b4-4f7c-94ec-3b5988550fba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9a4f00da-9c2e-409c-8026-a782b2867b63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f8a70813-0221-435e-a540-6e7035b4a336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3d8e16ae-b4d5-4618-b910-1a54a6ba00c0"/>
          <p:cNvSpPr/>
          <p:nvPr/>
        </p:nvSpPr>
        <p:spPr>
          <a:xfrm>
            <a:off x="548640" y="4230542"/>
            <a:ext cx="5486400" cy="135759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ae248db7-5931-4ca6-8cfa-10c8a8a31981"/>
          <p:cNvSpPr/>
          <p:nvPr/>
        </p:nvSpPr>
        <p:spPr>
          <a:xfrm>
            <a:off x="731520" y="4315391"/>
            <a:ext cx="512064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端</a:t>
            </a:r>
            <a:endParaRPr lang="en-US" sz="1500" dirty="0"/>
          </a:p>
        </p:txBody>
      </p:sp>
      <p:sp>
        <p:nvSpPr>
          <p:cNvPr id="19" name="7d4f7b9a-cd6f-4315-b0a6-871983dce901"/>
          <p:cNvSpPr/>
          <p:nvPr/>
        </p:nvSpPr>
        <p:spPr>
          <a:xfrm>
            <a:off x="731520" y="4697215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只需 truststore(匯入 CA root)</a:t>
            </a:r>
            <a:endParaRPr lang="en-US" sz="1200" dirty="0"/>
          </a:p>
        </p:txBody>
      </p:sp>
      <p:sp>
        <p:nvSpPr>
          <p:cNvPr id="20" name="24bab240-7a9d-4072-b9a4-00c750350349"/>
          <p:cNvSpPr/>
          <p:nvPr/>
        </p:nvSpPr>
        <p:spPr>
          <a:xfrm>
            <a:off x="731520" y="5121464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broker(含 MDS):匯入 AD 的 LDAPS CA root,一份設定</a:t>
            </a:r>
            <a:endParaRPr lang="en-US" sz="1200" dirty="0"/>
          </a:p>
        </p:txBody>
      </p:sp>
      <p:sp>
        <p:nvSpPr>
          <p:cNvPr id="21" name="c7b04cd1-68f7-40f6-b7fd-b523db67981a"/>
          <p:cNvSpPr/>
          <p:nvPr/>
        </p:nvSpPr>
        <p:spPr>
          <a:xfrm>
            <a:off x="6400800" y="1685050"/>
            <a:ext cx="5239512" cy="2375792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2" name="a7271702-e067-419c-881e-4388068f6fde"/>
          <p:cNvSpPr/>
          <p:nvPr/>
        </p:nvSpPr>
        <p:spPr>
          <a:xfrm>
            <a:off x="6583680" y="1769899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3" name="13346e27-d096-466d-8ce5-adf4acaf35e6"/>
          <p:cNvSpPr/>
          <p:nvPr/>
        </p:nvSpPr>
        <p:spPr>
          <a:xfrm>
            <a:off x="6583680" y="2236573"/>
            <a:ext cx="1371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24" name="dc4911d9-13be-4676-9950-d45ffbe58849"/>
          <p:cNvSpPr/>
          <p:nvPr/>
        </p:nvSpPr>
        <p:spPr>
          <a:xfrm>
            <a:off x="8046720" y="2236573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200" dirty="0"/>
          </a:p>
        </p:txBody>
      </p:sp>
      <p:sp>
        <p:nvSpPr>
          <p:cNvPr id="25" name="c7770e2c-f6eb-44e1-93c2-f10fe74fbcf0"/>
          <p:cNvSpPr/>
          <p:nvPr/>
        </p:nvSpPr>
        <p:spPr>
          <a:xfrm>
            <a:off x="9692640" y="2236573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26" name="69490b61-c247-4f00-9dd8-edda70986852"/>
          <p:cNvSpPr/>
          <p:nvPr/>
        </p:nvSpPr>
        <p:spPr>
          <a:xfrm>
            <a:off x="6583680" y="2686277"/>
            <a:ext cx="493776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每個經 REST Proxy 的 legacy app 各 1 張(由 REST Proxy 辨識後代為申請 token)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7" name="e27561ec-efb5-43d3-b458-2debe3fcc974"/>
          <p:cNvSpPr/>
          <p:nvPr/>
        </p:nvSpPr>
        <p:spPr>
          <a:xfrm>
            <a:off x="6400800" y="4145692"/>
            <a:ext cx="5239512" cy="1527295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8" name="64eb25a0-3d22-4f03-b89f-45d5584e1acd"/>
          <p:cNvSpPr/>
          <p:nvPr/>
        </p:nvSpPr>
        <p:spPr>
          <a:xfrm>
            <a:off x="6583680" y="4213572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要請客戶簽認</a:t>
            </a:r>
            <a:endParaRPr lang="en-US" sz="1500" dirty="0"/>
          </a:p>
        </p:txBody>
      </p:sp>
      <p:sp>
        <p:nvSpPr>
          <p:cNvPr id="29" name="cca45e39-66f1-4db7-8ad7-c091e566810b"/>
          <p:cNvSpPr/>
          <p:nvPr/>
        </p:nvSpPr>
        <p:spPr>
          <a:xfrm>
            <a:off x="6583680" y="4569941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私鑰外洩 = 可偽裝伺服器;共用憑證對應的身分(CN)永遠不綁任何 role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只換 server 憑證(CA 不變):逐台換 keystore,truststore 不動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CA 換金鑰:truststore 先新舊並存 → 重簽 server 與 client 憑證 → 移除舊 root</a:t>
            </a:r>
            <a:endParaRPr lang="en-US" sz="1100" dirty="0"/>
          </a:p>
        </p:txBody>
      </p:sp>
      <p:sp>
        <p:nvSpPr>
          <p:cNvPr id="30" name="3ddc1a33-ecbf-441b-8914-245e0b1eb071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共用憑證只負責加密、不承載權限;身分另外處理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憑證更換:三種情境,順序不能錯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依單節點實驗結果整理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816c7a7-fb8a-4e5c-a326-8a50745ca65f"/>
          <p:cNvSpPr/>
          <p:nvPr/>
        </p:nvSpPr>
        <p:spPr>
          <a:xfrm>
            <a:off x="548640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a1fbef89-0e5f-4314-8758-269e3d0f7548"/>
          <p:cNvSpPr/>
          <p:nvPr/>
        </p:nvSpPr>
        <p:spPr>
          <a:xfrm>
            <a:off x="685800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c9e40aab-0660-46d7-902b-0622b2420d2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06501" y="1898871"/>
            <a:ext cx="307238" cy="307238"/>
          </a:xfrm>
          <a:prstGeom prst="rect">
            <a:avLst/>
          </a:prstGeom>
        </p:spPr>
      </p:pic>
      <p:sp>
        <p:nvSpPr>
          <p:cNvPr id="5" name="5aa61459-182c-49ef-8897-60b246fc6d6c"/>
          <p:cNvSpPr/>
          <p:nvPr/>
        </p:nvSpPr>
        <p:spPr>
          <a:xfrm>
            <a:off x="1371600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 server 憑證</a:t>
            </a:r>
            <a:endParaRPr lang="en-US" sz="1400" dirty="0"/>
          </a:p>
        </p:txBody>
      </p:sp>
      <p:sp>
        <p:nvSpPr>
          <p:cNvPr id="6" name="8f7b9c1d-42ba-4062-9a38-e1caff2ffa76"/>
          <p:cNvSpPr/>
          <p:nvPr/>
        </p:nvSpPr>
        <p:spPr>
          <a:xfrm>
            <a:off x="1371600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不變(例如到期更新)</a:t>
            </a:r>
            <a:endParaRPr lang="en-US" sz="1100" dirty="0"/>
          </a:p>
        </p:txBody>
      </p:sp>
      <p:sp>
        <p:nvSpPr>
          <p:cNvPr id="7" name="bf74fa93-c9ff-4c03-9fd1-dcc3f0f0ff31"/>
          <p:cNvSpPr/>
          <p:nvPr/>
        </p:nvSpPr>
        <p:spPr>
          <a:xfrm>
            <a:off x="731520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keystore(新憑證)</a:t>
            </a:r>
            <a:endParaRPr lang="en-US" sz="1150" dirty="0"/>
          </a:p>
        </p:txBody>
      </p:sp>
      <p:sp>
        <p:nvSpPr>
          <p:cNvPr id="8" name="4aed0b87-ade1-42d7-987d-a760cb3d4890"/>
          <p:cNvSpPr/>
          <p:nvPr/>
        </p:nvSpPr>
        <p:spPr>
          <a:xfrm>
            <a:off x="2331720" y="2957796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9" name="344c0a0e-b434-458c-bd19-e9fa1a1f92f9"/>
          <p:cNvSpPr/>
          <p:nvPr/>
        </p:nvSpPr>
        <p:spPr>
          <a:xfrm>
            <a:off x="731520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truststore 不動</a:t>
            </a:r>
            <a:endParaRPr lang="en-US" sz="1150" dirty="0"/>
          </a:p>
        </p:txBody>
      </p:sp>
      <p:sp>
        <p:nvSpPr>
          <p:cNvPr id="10" name="9771fc81-096d-479e-9860-43c099768cdb"/>
          <p:cNvSpPr/>
          <p:nvPr/>
        </p:nvSpPr>
        <p:spPr>
          <a:xfrm>
            <a:off x="2331720" y="3636594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11" name="5cde69ad-85b1-4e22-8726-ebac9d8ddadb"/>
          <p:cNvSpPr/>
          <p:nvPr/>
        </p:nvSpPr>
        <p:spPr>
          <a:xfrm>
            <a:off x="731520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不用改</a:t>
            </a:r>
            <a:endParaRPr lang="en-US" sz="1150" dirty="0"/>
          </a:p>
        </p:txBody>
      </p:sp>
      <p:sp>
        <p:nvSpPr>
          <p:cNvPr id="12" name="7d4f3137-d757-4425-aae1-49a4b14de333"/>
          <p:cNvSpPr/>
          <p:nvPr/>
        </p:nvSpPr>
        <p:spPr>
          <a:xfrm>
            <a:off x="731520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3" name="9476f70b-84ee-4764-a5dc-5d0882e7aa9f"/>
          <p:cNvSpPr/>
          <p:nvPr/>
        </p:nvSpPr>
        <p:spPr>
          <a:xfrm>
            <a:off x="4311396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375d67bc-7ae7-49c9-9a85-718c6d77260c"/>
          <p:cNvSpPr/>
          <p:nvPr/>
        </p:nvSpPr>
        <p:spPr>
          <a:xfrm>
            <a:off x="4448556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176280fc-afc3-4a39-b35c-3585130a5d7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69257" y="1898871"/>
            <a:ext cx="307238" cy="307238"/>
          </a:xfrm>
          <a:prstGeom prst="rect">
            <a:avLst/>
          </a:prstGeom>
        </p:spPr>
      </p:pic>
      <p:sp>
        <p:nvSpPr>
          <p:cNvPr id="16" name="1cd61074-8983-4fce-8b20-803dd8ee39cd"/>
          <p:cNvSpPr/>
          <p:nvPr/>
        </p:nvSpPr>
        <p:spPr>
          <a:xfrm>
            <a:off x="5134356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根換新、金鑰不變</a:t>
            </a:r>
            <a:endParaRPr lang="en-US" sz="1400" dirty="0"/>
          </a:p>
        </p:txBody>
      </p:sp>
      <p:sp>
        <p:nvSpPr>
          <p:cNvPr id="17" name="f1aca29c-a928-40ae-ab56-92e44994e9a6"/>
          <p:cNvSpPr/>
          <p:nvPr/>
        </p:nvSpPr>
        <p:spPr>
          <a:xfrm>
            <a:off x="5134356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同一把金鑰重新簽發根憑證</a:t>
            </a:r>
            <a:endParaRPr lang="en-US" sz="1100" dirty="0"/>
          </a:p>
        </p:txBody>
      </p:sp>
      <p:sp>
        <p:nvSpPr>
          <p:cNvPr id="18" name="19f8f8a9-aeb7-4fa4-9cd8-50e882f2673f"/>
          <p:cNvSpPr/>
          <p:nvPr/>
        </p:nvSpPr>
        <p:spPr>
          <a:xfrm>
            <a:off x="4494276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信任庫換成新根</a:t>
            </a:r>
            <a:endParaRPr lang="en-US" sz="1150" dirty="0"/>
          </a:p>
        </p:txBody>
      </p:sp>
      <p:sp>
        <p:nvSpPr>
          <p:cNvPr id="19" name="5dd06241-fc6e-4ec2-aba6-107b3c81d28b"/>
          <p:cNvSpPr/>
          <p:nvPr/>
        </p:nvSpPr>
        <p:spPr>
          <a:xfrm>
            <a:off x="6099048" y="2957796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7dda1f83-699e-4ea9-8ab2-89a9e759972f"/>
          <p:cNvSpPr/>
          <p:nvPr/>
        </p:nvSpPr>
        <p:spPr>
          <a:xfrm>
            <a:off x="4494276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舊的 server / client 憑證照常通過</a:t>
            </a:r>
            <a:endParaRPr lang="en-US" sz="1150" dirty="0"/>
          </a:p>
        </p:txBody>
      </p:sp>
      <p:sp>
        <p:nvSpPr>
          <p:cNvPr id="21" name="811685f1-19b6-4d58-9d91-ed22317cdb9a"/>
          <p:cNvSpPr/>
          <p:nvPr/>
        </p:nvSpPr>
        <p:spPr>
          <a:xfrm>
            <a:off x="6099048" y="3636594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ce75f76f-32c2-47b9-8864-44220d2c0ef9"/>
          <p:cNvSpPr/>
          <p:nvPr/>
        </p:nvSpPr>
        <p:spPr>
          <a:xfrm>
            <a:off x="4494276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不用重簽任何憑證</a:t>
            </a:r>
            <a:endParaRPr lang="en-US" sz="1150" dirty="0"/>
          </a:p>
        </p:txBody>
      </p:sp>
      <p:sp>
        <p:nvSpPr>
          <p:cNvPr id="23" name="a17a84e3-c955-472e-83e0-894ef5b46f03"/>
          <p:cNvSpPr/>
          <p:nvPr/>
        </p:nvSpPr>
        <p:spPr>
          <a:xfrm>
            <a:off x="4494276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實測:信任庫換成新根,舊的 server / client 憑證照常通過</a:t>
            </a:r>
            <a:endParaRPr lang="en-US" sz="1050" dirty="0"/>
          </a:p>
        </p:txBody>
      </p:sp>
      <p:sp>
        <p:nvSpPr>
          <p:cNvPr id="24" name="a3a3b68e-5279-4613-a4f8-e5c731537501"/>
          <p:cNvSpPr/>
          <p:nvPr/>
        </p:nvSpPr>
        <p:spPr>
          <a:xfrm>
            <a:off x="8074152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5" name="93f66072-346c-4621-a3c1-400c17f20bb8"/>
          <p:cNvSpPr/>
          <p:nvPr/>
        </p:nvSpPr>
        <p:spPr>
          <a:xfrm>
            <a:off x="8211312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6" name="0daac91a-ac66-4b42-9d12-1aa6a074099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32013" y="1898871"/>
            <a:ext cx="307238" cy="307238"/>
          </a:xfrm>
          <a:prstGeom prst="rect">
            <a:avLst/>
          </a:prstGeom>
        </p:spPr>
      </p:pic>
      <p:sp>
        <p:nvSpPr>
          <p:cNvPr id="27" name="ebfcb8b7-6787-4073-8f11-d47721bd5f59"/>
          <p:cNvSpPr/>
          <p:nvPr/>
        </p:nvSpPr>
        <p:spPr>
          <a:xfrm>
            <a:off x="8897112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換金鑰</a:t>
            </a:r>
            <a:endParaRPr lang="en-US" sz="1400" dirty="0"/>
          </a:p>
        </p:txBody>
      </p:sp>
      <p:sp>
        <p:nvSpPr>
          <p:cNvPr id="28" name="4335b542-001a-418e-8675-72df62fd244d"/>
          <p:cNvSpPr/>
          <p:nvPr/>
        </p:nvSpPr>
        <p:spPr>
          <a:xfrm>
            <a:off x="8897112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新根、新金鑰:所有憑證都要重簽</a:t>
            </a:r>
            <a:endParaRPr lang="en-US" sz="1100" dirty="0"/>
          </a:p>
        </p:txBody>
      </p:sp>
      <p:sp>
        <p:nvSpPr>
          <p:cNvPr id="29" name="c50bbca0-1c2a-4f52-957d-be03991b8bb5"/>
          <p:cNvSpPr/>
          <p:nvPr/>
        </p:nvSpPr>
        <p:spPr>
          <a:xfrm>
            <a:off x="8257032" y="2533547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c997120e-30d2-4ef8-9803-f391687380c2"/>
          <p:cNvSpPr/>
          <p:nvPr/>
        </p:nvSpPr>
        <p:spPr>
          <a:xfrm>
            <a:off x="8668512" y="2491122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所有信任庫先放「新舊兩個根」(server + client)</a:t>
            </a:r>
            <a:endParaRPr lang="en-US" sz="1100" dirty="0"/>
          </a:p>
        </p:txBody>
      </p:sp>
      <p:sp>
        <p:nvSpPr>
          <p:cNvPr id="31" name="f8511510-de50-46e0-ba61-d49a405bfc64"/>
          <p:cNvSpPr/>
          <p:nvPr/>
        </p:nvSpPr>
        <p:spPr>
          <a:xfrm>
            <a:off x="8257032" y="3042645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decb667a-737a-45a7-9595-be81232728cd"/>
          <p:cNvSpPr/>
          <p:nvPr/>
        </p:nvSpPr>
        <p:spPr>
          <a:xfrm>
            <a:off x="8668512" y="3000221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server 憑證(新 CA 簽發)</a:t>
            </a:r>
            <a:endParaRPr lang="en-US" sz="1100" dirty="0"/>
          </a:p>
        </p:txBody>
      </p:sp>
      <p:sp>
        <p:nvSpPr>
          <p:cNvPr id="33" name="25d5126f-6c80-4b28-909c-75dbe6668cf8"/>
          <p:cNvSpPr/>
          <p:nvPr/>
        </p:nvSpPr>
        <p:spPr>
          <a:xfrm>
            <a:off x="8257032" y="3551744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04ba87f6-cd4f-4ec6-aff4-555917d24cd0"/>
          <p:cNvSpPr/>
          <p:nvPr/>
        </p:nvSpPr>
        <p:spPr>
          <a:xfrm>
            <a:off x="8668512" y="3509319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5" name="9a9620e1-e132-400e-8304-ba26f16f5d52"/>
          <p:cNvSpPr/>
          <p:nvPr/>
        </p:nvSpPr>
        <p:spPr>
          <a:xfrm>
            <a:off x="8257032" y="4060842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e7c80835-2a4c-467c-b387-cecc396c3c17"/>
          <p:cNvSpPr/>
          <p:nvPr/>
        </p:nvSpPr>
        <p:spPr>
          <a:xfrm>
            <a:off x="8668512" y="4018417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全部確認後,才移除舊根</a:t>
            </a:r>
            <a:endParaRPr lang="en-US" sz="1100" dirty="0"/>
          </a:p>
        </p:txBody>
      </p:sp>
      <p:sp>
        <p:nvSpPr>
          <p:cNvPr id="37" name="d72d12d2-06cb-407a-a358-63710b0b4604"/>
          <p:cNvSpPr/>
          <p:nvPr/>
        </p:nvSpPr>
        <p:spPr>
          <a:xfrm>
            <a:off x="8257032" y="4502061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先換 server 憑證、client 還沒信任新根 → PKIX 失敗(實測)</a:t>
            </a:r>
            <a:endParaRPr lang="en-US" sz="1000" dirty="0"/>
          </a:p>
        </p:txBody>
      </p:sp>
      <p:sp>
        <p:nvSpPr>
          <p:cNvPr id="38" name="2d553045-8ef3-49f5-810a-37a5bf547c5a"/>
          <p:cNvSpPr/>
          <p:nvPr/>
        </p:nvSpPr>
        <p:spPr>
          <a:xfrm>
            <a:off x="8257032" y="4960249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移除舊根後,舊 CA 簽發且未重簽的 client 憑證被拒(實測)</a:t>
            </a:r>
            <a:endParaRPr lang="en-US" sz="1000" dirty="0"/>
          </a:p>
        </p:txBody>
      </p:sp>
      <p:sp>
        <p:nvSpPr>
          <p:cNvPr id="39" name="6f4e199f-212b-4d0b-bd90-389003b3f88d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 CFK 憑證文件建議:先更新所有信任庫、再換憑證、逐台重啟,每個元件就緒再做下一個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元件更換順序:先信任、後出示、最後移除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CA 換金鑰的情境:依 demo 實際環境演練整理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37ffc8b-47f3-4e6b-a061-85817c447854"/>
          <p:cNvSpPr/>
          <p:nvPr/>
        </p:nvSpPr>
        <p:spPr>
          <a:xfrm>
            <a:off x="3017520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信任庫:新舊並存</a:t>
            </a:r>
            <a:endParaRPr lang="en-US" sz="1200" dirty="0"/>
          </a:p>
        </p:txBody>
      </p:sp>
      <p:sp>
        <p:nvSpPr>
          <p:cNvPr id="3" name="0427945f-01a9-479b-9fff-7900ae1307cb"/>
          <p:cNvSpPr/>
          <p:nvPr/>
        </p:nvSpPr>
        <p:spPr>
          <a:xfrm>
            <a:off x="5175504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換 server 憑證</a:t>
            </a:r>
            <a:endParaRPr lang="en-US" sz="1200" dirty="0"/>
          </a:p>
        </p:txBody>
      </p:sp>
      <p:sp>
        <p:nvSpPr>
          <p:cNvPr id="4" name="30985367-319f-43c8-ac7a-4eebd2584bd5"/>
          <p:cNvSpPr/>
          <p:nvPr/>
        </p:nvSpPr>
        <p:spPr>
          <a:xfrm>
            <a:off x="7333488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重簽 client 憑證</a:t>
            </a:r>
            <a:endParaRPr lang="en-US" sz="1200" dirty="0"/>
          </a:p>
        </p:txBody>
      </p:sp>
      <p:sp>
        <p:nvSpPr>
          <p:cNvPr id="5" name="bf6f78f1-0ca0-4a39-a463-7c57f7fca847"/>
          <p:cNvSpPr/>
          <p:nvPr/>
        </p:nvSpPr>
        <p:spPr>
          <a:xfrm>
            <a:off x="9491472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移除舊根</a:t>
            </a:r>
            <a:endParaRPr lang="en-US" sz="1200" dirty="0"/>
          </a:p>
        </p:txBody>
      </p:sp>
      <p:sp>
        <p:nvSpPr>
          <p:cNvPr id="6" name="cb6904c7-d3f5-4465-98a4-8849063f4de1"/>
          <p:cNvSpPr/>
          <p:nvPr/>
        </p:nvSpPr>
        <p:spPr>
          <a:xfrm>
            <a:off x="548640" y="2278998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7" name="1d536e3d-d8ba-4221-933a-5ad10cac0c6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58368" y="2380818"/>
            <a:ext cx="347472" cy="347472"/>
          </a:xfrm>
          <a:prstGeom prst="rect">
            <a:avLst/>
          </a:prstGeom>
        </p:spPr>
      </p:pic>
      <p:sp>
        <p:nvSpPr>
          <p:cNvPr id="8" name="f089f744-d6aa-431e-87f9-093f040d6777"/>
          <p:cNvSpPr/>
          <p:nvPr/>
        </p:nvSpPr>
        <p:spPr>
          <a:xfrm>
            <a:off x="1097280" y="2278998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9" name="3b0f9cd4-edf2-4e4d-a9d0-66d0799762e2"/>
          <p:cNvSpPr/>
          <p:nvPr/>
        </p:nvSpPr>
        <p:spPr>
          <a:xfrm>
            <a:off x="3017520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0" name="24bc22f8-3b5b-4743-8239-6ac13cf988cd"/>
          <p:cNvSpPr/>
          <p:nvPr/>
        </p:nvSpPr>
        <p:spPr>
          <a:xfrm>
            <a:off x="5175504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1" name="9b2a9c7a-968d-49ec-b3e9-664d9e8a86f4"/>
          <p:cNvSpPr/>
          <p:nvPr/>
        </p:nvSpPr>
        <p:spPr>
          <a:xfrm>
            <a:off x="7333488" y="2278998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2" name="4066d5cc-1ed6-4340-ba10-fefbb129c661"/>
          <p:cNvSpPr/>
          <p:nvPr/>
        </p:nvSpPr>
        <p:spPr>
          <a:xfrm>
            <a:off x="9491472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3" name="1d22e798-b1a7-4b89-8ea9-98b454bebc8f"/>
          <p:cNvSpPr/>
          <p:nvPr/>
        </p:nvSpPr>
        <p:spPr>
          <a:xfrm>
            <a:off x="548640" y="2906886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fcbf1ec7-d207-487a-a6c1-bae40214ecd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368" y="3008706"/>
            <a:ext cx="347472" cy="347472"/>
          </a:xfrm>
          <a:prstGeom prst="rect">
            <a:avLst/>
          </a:prstGeom>
        </p:spPr>
      </p:pic>
      <p:sp>
        <p:nvSpPr>
          <p:cNvPr id="15" name="d68a7280-f7c9-4d74-9bf8-ea8118f2f7b1"/>
          <p:cNvSpPr/>
          <p:nvPr/>
        </p:nvSpPr>
        <p:spPr>
          <a:xfrm>
            <a:off x="1097280" y="2906886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broker(含 MDS)</a:t>
            </a:r>
            <a:endParaRPr lang="en-US" sz="1200" dirty="0"/>
          </a:p>
        </p:txBody>
      </p:sp>
      <p:sp>
        <p:nvSpPr>
          <p:cNvPr id="16" name="0b02c800-9b31-4a31-840e-f5a2f9097d14"/>
          <p:cNvSpPr/>
          <p:nvPr/>
        </p:nvSpPr>
        <p:spPr>
          <a:xfrm>
            <a:off x="3017520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7" name="0147d1f9-ec99-4735-a47b-a9cfdb447e3f"/>
          <p:cNvSpPr/>
          <p:nvPr/>
        </p:nvSpPr>
        <p:spPr>
          <a:xfrm>
            <a:off x="5175504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8" name="3f9e88bf-2217-4f36-8f73-23b95c637774"/>
          <p:cNvSpPr/>
          <p:nvPr/>
        </p:nvSpPr>
        <p:spPr>
          <a:xfrm>
            <a:off x="7333488" y="2906886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9" name="26c99276-d2d7-44f5-a19c-00632c6b5981"/>
          <p:cNvSpPr/>
          <p:nvPr/>
        </p:nvSpPr>
        <p:spPr>
          <a:xfrm>
            <a:off x="9491472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0" name="55020be2-88ad-4e8b-a5af-52f3aac4897b"/>
          <p:cNvSpPr/>
          <p:nvPr/>
        </p:nvSpPr>
        <p:spPr>
          <a:xfrm>
            <a:off x="548640" y="3534774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1" name="e977035e-19b0-4e54-a1b4-db0b0f6aff0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658368" y="3636594"/>
            <a:ext cx="347472" cy="347472"/>
          </a:xfrm>
          <a:prstGeom prst="rect">
            <a:avLst/>
          </a:prstGeom>
        </p:spPr>
      </p:pic>
      <p:sp>
        <p:nvSpPr>
          <p:cNvPr id="22" name="7ad3dd54-ad2f-4d14-bcd9-f4d4bc714bfa"/>
          <p:cNvSpPr/>
          <p:nvPr/>
        </p:nvSpPr>
        <p:spPr>
          <a:xfrm>
            <a:off x="1097280" y="3534774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3" name="923b6bab-2fe0-4144-bf07-2074088d54d5"/>
          <p:cNvSpPr/>
          <p:nvPr/>
        </p:nvSpPr>
        <p:spPr>
          <a:xfrm>
            <a:off x="3017520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4" name="ec482d13-7ba8-4331-9e12-24475164c198"/>
          <p:cNvSpPr/>
          <p:nvPr/>
        </p:nvSpPr>
        <p:spPr>
          <a:xfrm>
            <a:off x="5175504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5" name="0c4df5f9-366f-448e-bb0c-7a8f4add2cfe"/>
          <p:cNvSpPr/>
          <p:nvPr/>
        </p:nvSpPr>
        <p:spPr>
          <a:xfrm>
            <a:off x="7333488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6" name="f87f4482-8e16-4cf6-b9d6-06619734a149"/>
          <p:cNvSpPr/>
          <p:nvPr/>
        </p:nvSpPr>
        <p:spPr>
          <a:xfrm>
            <a:off x="9491472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7" name="9bec2543-dfd7-4fcf-84a3-4651eb072bab"/>
          <p:cNvSpPr/>
          <p:nvPr/>
        </p:nvSpPr>
        <p:spPr>
          <a:xfrm>
            <a:off x="548640" y="4162662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8" name="ec27d645-57b8-4819-9379-53672d97d07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58368" y="4264482"/>
            <a:ext cx="347472" cy="347472"/>
          </a:xfrm>
          <a:prstGeom prst="rect">
            <a:avLst/>
          </a:prstGeom>
        </p:spPr>
      </p:pic>
      <p:sp>
        <p:nvSpPr>
          <p:cNvPr id="29" name="ffc42684-8676-4d02-a2f7-7d14edff20cc"/>
          <p:cNvSpPr/>
          <p:nvPr/>
        </p:nvSpPr>
        <p:spPr>
          <a:xfrm>
            <a:off x="1097280" y="4162662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00" dirty="0"/>
          </a:p>
        </p:txBody>
      </p:sp>
      <p:sp>
        <p:nvSpPr>
          <p:cNvPr id="30" name="e60d3e83-4762-4d7d-8360-0d88941e9334"/>
          <p:cNvSpPr/>
          <p:nvPr/>
        </p:nvSpPr>
        <p:spPr>
          <a:xfrm>
            <a:off x="3017520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1" name="b98a5b51-5738-40ad-83f9-dfb429f106d3"/>
          <p:cNvSpPr/>
          <p:nvPr/>
        </p:nvSpPr>
        <p:spPr>
          <a:xfrm>
            <a:off x="5175504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2" name="1c68b555-412f-4b78-8338-0f886d77bc18"/>
          <p:cNvSpPr/>
          <p:nvPr/>
        </p:nvSpPr>
        <p:spPr>
          <a:xfrm>
            <a:off x="7333488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3" name="f854e2a4-5cdf-4586-9d50-058753e5bb61"/>
          <p:cNvSpPr/>
          <p:nvPr/>
        </p:nvSpPr>
        <p:spPr>
          <a:xfrm>
            <a:off x="9491472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4" name="585e741f-4bdd-4627-9400-b4f26097efd6"/>
          <p:cNvSpPr/>
          <p:nvPr/>
        </p:nvSpPr>
        <p:spPr>
          <a:xfrm>
            <a:off x="548640" y="4790550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5" name="3aef9e17-c2f0-45ee-a0db-70d12181e56f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8368" y="4892370"/>
            <a:ext cx="347472" cy="347472"/>
          </a:xfrm>
          <a:prstGeom prst="rect">
            <a:avLst/>
          </a:prstGeom>
        </p:spPr>
      </p:pic>
      <p:sp>
        <p:nvSpPr>
          <p:cNvPr id="36" name="8c98e3b1-923b-43bd-85a0-73c0c80b5f90"/>
          <p:cNvSpPr/>
          <p:nvPr/>
        </p:nvSpPr>
        <p:spPr>
          <a:xfrm>
            <a:off x="1097280" y="4790550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/ CLI(client)</a:t>
            </a:r>
            <a:endParaRPr lang="en-US" sz="1200" dirty="0"/>
          </a:p>
        </p:txBody>
      </p:sp>
      <p:sp>
        <p:nvSpPr>
          <p:cNvPr id="37" name="714736dc-70b3-4396-9637-84f4ae547178"/>
          <p:cNvSpPr/>
          <p:nvPr/>
        </p:nvSpPr>
        <p:spPr>
          <a:xfrm>
            <a:off x="3017520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信任庫加新根</a:t>
            </a:r>
            <a:endParaRPr lang="en-US" sz="1150" dirty="0"/>
          </a:p>
        </p:txBody>
      </p:sp>
      <p:sp>
        <p:nvSpPr>
          <p:cNvPr id="38" name="03a4816f-0e9c-4660-8083-8a24c78a5d37"/>
          <p:cNvSpPr/>
          <p:nvPr/>
        </p:nvSpPr>
        <p:spPr>
          <a:xfrm>
            <a:off x="5175504" y="4790550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39" name="52223f6d-8398-416b-b7bc-4cf97ba78755"/>
          <p:cNvSpPr/>
          <p:nvPr/>
        </p:nvSpPr>
        <p:spPr>
          <a:xfrm>
            <a:off x="7333488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換新憑證</a:t>
            </a:r>
            <a:endParaRPr lang="en-US" sz="1150" dirty="0"/>
          </a:p>
        </p:txBody>
      </p:sp>
      <p:sp>
        <p:nvSpPr>
          <p:cNvPr id="40" name="8b8ef8ed-5d28-4190-9580-bfba00511a9f"/>
          <p:cNvSpPr/>
          <p:nvPr/>
        </p:nvSpPr>
        <p:spPr>
          <a:xfrm>
            <a:off x="9491472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信任庫移除舊根</a:t>
            </a:r>
            <a:endParaRPr lang="en-US" sz="1150" dirty="0"/>
          </a:p>
        </p:txBody>
      </p:sp>
      <p:sp>
        <p:nvSpPr>
          <p:cNvPr id="41" name="8d6d6dca-465b-4123-8536-bd701a53ee89"/>
          <p:cNvSpPr/>
          <p:nvPr/>
        </p:nvSpPr>
        <p:spPr>
          <a:xfrm>
            <a:off x="548640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每階段:controller(逐台)→ broker(逐台)→ REST Proxy → C3,就緒才做下一個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CFK 憑證文件:信任庫先於憑證、每階段全部元件做完 · 元件順序:參考升級文件</a:t>
            </a:r>
            <a:endParaRPr lang="en-US" sz="1150" dirty="0"/>
          </a:p>
        </p:txBody>
      </p:sp>
      <p:sp>
        <p:nvSpPr>
          <p:cNvPr id="42" name="195767a6-09ee-4afc-9861-512e9ac993b5"/>
          <p:cNvSpPr/>
          <p:nvPr/>
        </p:nvSpPr>
        <p:spPr>
          <a:xfrm>
            <a:off x="6199632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只換檔沒重啟,各元件仍出示舊憑證(實測)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與 broker 沒有 client 憑證 → ③ 階段不用重啟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Controller(KRaft)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只認內部帳號,人與服務都不直接連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351c7d3-72f5-4d3e-afeb-bbb804b7459d"/>
          <p:cNvSpPr/>
          <p:nvPr/>
        </p:nvSpPr>
        <p:spPr>
          <a:xfrm>
            <a:off x="54864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77ffefc8-f30d-4efb-9d27-a1c1c9f48be0"/>
          <p:cNvSpPr/>
          <p:nvPr/>
        </p:nvSpPr>
        <p:spPr>
          <a:xfrm>
            <a:off x="10515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ff04d5b7-43ca-4e6d-98be-6dee7792b6c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172261" y="1966751"/>
            <a:ext cx="307238" cy="307238"/>
          </a:xfrm>
          <a:prstGeom prst="rect">
            <a:avLst/>
          </a:prstGeom>
        </p:spPr>
      </p:pic>
      <p:sp>
        <p:nvSpPr>
          <p:cNvPr id="5" name="7c6468ec-5db4-4336-910a-ebe0109663fc"/>
          <p:cNvSpPr/>
          <p:nvPr/>
        </p:nvSpPr>
        <p:spPr>
          <a:xfrm>
            <a:off x="54864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1</a:t>
            </a:r>
            <a:endParaRPr lang="en-US" sz="1200" dirty="0"/>
          </a:p>
        </p:txBody>
      </p:sp>
      <p:sp>
        <p:nvSpPr>
          <p:cNvPr id="6" name="cf0c82e5-cb82-4c07-b2dd-30c2c9960e72"/>
          <p:cNvSpPr/>
          <p:nvPr/>
        </p:nvSpPr>
        <p:spPr>
          <a:xfrm>
            <a:off x="228600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7" name="8e7c909c-0cd7-42d6-b69f-1475b78e1176"/>
          <p:cNvSpPr/>
          <p:nvPr/>
        </p:nvSpPr>
        <p:spPr>
          <a:xfrm>
            <a:off x="2788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8" name="20b8769d-4c1f-4d79-9af6-f41c53b4e3d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2909621" y="1966751"/>
            <a:ext cx="307238" cy="307238"/>
          </a:xfrm>
          <a:prstGeom prst="rect">
            <a:avLst/>
          </a:prstGeom>
        </p:spPr>
      </p:pic>
      <p:sp>
        <p:nvSpPr>
          <p:cNvPr id="9" name="de740855-961c-4a70-9860-a6a2b15420d0"/>
          <p:cNvSpPr/>
          <p:nvPr/>
        </p:nvSpPr>
        <p:spPr>
          <a:xfrm>
            <a:off x="228600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2</a:t>
            </a:r>
            <a:endParaRPr lang="en-US" sz="1200" dirty="0"/>
          </a:p>
        </p:txBody>
      </p:sp>
      <p:sp>
        <p:nvSpPr>
          <p:cNvPr id="10" name="ecd7d072-bada-4089-822d-6d13cd788264"/>
          <p:cNvSpPr/>
          <p:nvPr/>
        </p:nvSpPr>
        <p:spPr>
          <a:xfrm>
            <a:off x="402336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377cd8de-0536-44b8-8d33-0b9ccd90a760"/>
          <p:cNvSpPr/>
          <p:nvPr/>
        </p:nvSpPr>
        <p:spPr>
          <a:xfrm>
            <a:off x="452628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3d196d95-e4ef-437b-90ad-96068949bb3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646981" y="1966751"/>
            <a:ext cx="307238" cy="307238"/>
          </a:xfrm>
          <a:prstGeom prst="rect">
            <a:avLst/>
          </a:prstGeom>
        </p:spPr>
      </p:pic>
      <p:sp>
        <p:nvSpPr>
          <p:cNvPr id="13" name="a58ce226-20d1-4c44-bcab-2480f76d1e08"/>
          <p:cNvSpPr/>
          <p:nvPr/>
        </p:nvSpPr>
        <p:spPr>
          <a:xfrm>
            <a:off x="402336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3</a:t>
            </a:r>
            <a:endParaRPr lang="en-US" sz="1200" dirty="0"/>
          </a:p>
        </p:txBody>
      </p:sp>
      <p:sp>
        <p:nvSpPr>
          <p:cNvPr id="14" name="9641542f-8dc8-4d7b-bcb8-1ed0ff547c7e"/>
          <p:cNvSpPr/>
          <p:nvPr/>
        </p:nvSpPr>
        <p:spPr>
          <a:xfrm>
            <a:off x="548640" y="2957796"/>
            <a:ext cx="50292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Raft quorum:正式環境 3 個;主 demo 1 個</a:t>
            </a:r>
            <a:endParaRPr lang="en-US" sz="1250" dirty="0"/>
          </a:p>
        </p:txBody>
      </p:sp>
      <p:sp>
        <p:nvSpPr>
          <p:cNvPr id="15" name="13671d77-5263-470d-a4dc-18a3563b8ffb"/>
          <p:cNvSpPr/>
          <p:nvPr/>
        </p:nvSpPr>
        <p:spPr>
          <a:xfrm>
            <a:off x="5943600" y="1769899"/>
            <a:ext cx="5696712" cy="2036394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6" name="ec9592e0-11c9-419d-a367-4f16cbf47345"/>
          <p:cNvSpPr/>
          <p:nvPr/>
        </p:nvSpPr>
        <p:spPr>
          <a:xfrm>
            <a:off x="6126480" y="1854749"/>
            <a:ext cx="53035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</a:t>
            </a:r>
            <a:endParaRPr lang="en-US" sz="1500" dirty="0"/>
          </a:p>
        </p:txBody>
      </p:sp>
      <p:sp>
        <p:nvSpPr>
          <p:cNvPr id="17" name="05987502-0574-4c07-b022-86953e31f6fc"/>
          <p:cNvSpPr/>
          <p:nvPr/>
        </p:nvSpPr>
        <p:spPr>
          <a:xfrm>
            <a:off x="6126480" y="2278998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</a:t>
            </a:r>
            <a:endParaRPr lang="en-US" sz="1200" dirty="0"/>
          </a:p>
        </p:txBody>
      </p:sp>
      <p:sp>
        <p:nvSpPr>
          <p:cNvPr id="18" name="9d0322b6-430d-4889-bc44-bd907e0b80c9"/>
          <p:cNvSpPr/>
          <p:nvPr/>
        </p:nvSpPr>
        <p:spPr>
          <a:xfrm>
            <a:off x="7772400" y="2278998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200" dirty="0"/>
          </a:p>
        </p:txBody>
      </p:sp>
      <p:sp>
        <p:nvSpPr>
          <p:cNvPr id="19" name="04af5883-ee30-406b-a61d-0f281b91444a"/>
          <p:cNvSpPr/>
          <p:nvPr/>
        </p:nvSpPr>
        <p:spPr>
          <a:xfrm>
            <a:off x="9601200" y="2278998"/>
            <a:ext cx="18288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靜態內部帳號</a:t>
            </a:r>
            <a:endParaRPr lang="en-US" sz="1200" dirty="0"/>
          </a:p>
        </p:txBody>
      </p:sp>
      <p:sp>
        <p:nvSpPr>
          <p:cNvPr id="20" name="4224ef11-ddf6-45a4-8822-3bf8110cc34f"/>
          <p:cNvSpPr/>
          <p:nvPr/>
        </p:nvSpPr>
        <p:spPr>
          <a:xfrm>
            <a:off x="6126480" y="2788096"/>
            <a:ext cx="53035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帳號:kafka-controller · kafka-broker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broker(9092):SCRAM 身分 kafka-controller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1" name="674e69bf-ad86-45cf-b0f3-cdd39208601f"/>
          <p:cNvSpPr/>
          <p:nvPr/>
        </p:nvSpPr>
        <p:spPr>
          <a:xfrm>
            <a:off x="548640" y="3594169"/>
            <a:ext cx="5029200" cy="933347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2" name="c9e483de-2116-48d2-99cd-980fbfbe0439"/>
          <p:cNvSpPr/>
          <p:nvPr/>
        </p:nvSpPr>
        <p:spPr>
          <a:xfrm>
            <a:off x="731520" y="3679018"/>
            <a:ext cx="466344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 + super.users</a:t>
            </a:r>
            <a:endParaRPr lang="en-US" sz="1300" dirty="0"/>
          </a:p>
        </p:txBody>
      </p:sp>
      <p:sp>
        <p:nvSpPr>
          <p:cNvPr id="23" name="55d0612b-55f5-4dbd-b517-d9beace72476"/>
          <p:cNvSpPr/>
          <p:nvPr/>
        </p:nvSpPr>
        <p:spPr>
          <a:xfrm>
            <a:off x="548640" y="4739640"/>
            <a:ext cx="5029200" cy="8484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df707ef4-4b97-4c37-be7a-bb75e92504cf"/>
          <p:cNvSpPr/>
          <p:nvPr/>
        </p:nvSpPr>
        <p:spPr>
          <a:xfrm>
            <a:off x="685800" y="482449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5" name="471973d1-5964-4830-854e-154360a57d7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26618" y="4955158"/>
            <a:ext cx="358445" cy="358445"/>
          </a:xfrm>
          <a:prstGeom prst="rect">
            <a:avLst/>
          </a:prstGeom>
        </p:spPr>
      </p:pic>
      <p:sp>
        <p:nvSpPr>
          <p:cNvPr id="26" name="44adca73-4a49-42ca-9a16-bf0620465a5d"/>
          <p:cNvSpPr/>
          <p:nvPr/>
        </p:nvSpPr>
        <p:spPr>
          <a:xfrm>
            <a:off x="1463040" y="4824490"/>
            <a:ext cx="402336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7" name="c11c298f-8f1d-4fd3-908c-82708c1bea82"/>
          <p:cNvSpPr/>
          <p:nvPr/>
        </p:nvSpPr>
        <p:spPr>
          <a:xfrm>
            <a:off x="5943600" y="3933568"/>
            <a:ext cx="5696712" cy="1696995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7f15be12-373c-47f0-b7a3-c60b8421a794"/>
          <p:cNvSpPr/>
          <p:nvPr/>
        </p:nvSpPr>
        <p:spPr>
          <a:xfrm>
            <a:off x="608076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0eacaf53-ac62-4ca0-bf34-4e23e928fdb2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221578" y="4191511"/>
            <a:ext cx="358445" cy="358445"/>
          </a:xfrm>
          <a:prstGeom prst="rect">
            <a:avLst/>
          </a:prstGeom>
        </p:spPr>
      </p:pic>
      <p:sp>
        <p:nvSpPr>
          <p:cNvPr id="30" name="1a6e945b-789b-42e4-80d9-ad70b4e6a93d"/>
          <p:cNvSpPr/>
          <p:nvPr/>
        </p:nvSpPr>
        <p:spPr>
          <a:xfrm>
            <a:off x="6903720" y="3992962"/>
            <a:ext cx="4572000" cy="1612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為什麼是 PLAIN 靜態帳號:三種做法逐一排除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不用 SCRAM:官方 SCRAM overview 頁說明 controller listener 不支援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mTLS:客戶希望憑證越少越好,不為內部通道另發 client 憑證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因此採用 PLAIN 靜態帳號:帳號寫在 JAAS 設定,不依賴 AD、不另發憑證</a:t>
            </a:r>
            <a:endParaRPr lang="en-US" sz="1400" dirty="0"/>
          </a:p>
        </p:txBody>
      </p:sp>
      <p:sp>
        <p:nvSpPr>
          <p:cNvPr id="31" name="f4294939-9489-4be4-9f33-43eaf3b94c12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只認內部帳號;人與服務都不直接連它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Broker:三個入口,各管一件事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 PLAIN + AD、服務 SCRAM、平台 OAUTHBEARER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9c55ea7-cd49-439b-af83-87e7acf52515"/>
          <p:cNvSpPr/>
          <p:nvPr/>
        </p:nvSpPr>
        <p:spPr>
          <a:xfrm>
            <a:off x="548640" y="1727475"/>
            <a:ext cx="2103120" cy="364853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939ac1a6-c7a1-4ab0-a668-ba325d46939b"/>
          <p:cNvSpPr/>
          <p:nvPr/>
        </p:nvSpPr>
        <p:spPr>
          <a:xfrm>
            <a:off x="1051560" y="1897174"/>
            <a:ext cx="1097280" cy="1018197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f130e7d4-cac7-43ae-8d45-546b1d5af90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92962" y="2121177"/>
            <a:ext cx="614477" cy="614477"/>
          </a:xfrm>
          <a:prstGeom prst="rect">
            <a:avLst/>
          </a:prstGeom>
        </p:spPr>
      </p:pic>
      <p:sp>
        <p:nvSpPr>
          <p:cNvPr id="5" name="6a766eea-9ecd-4d10-8073-9ed842639d70"/>
          <p:cNvSpPr/>
          <p:nvPr/>
        </p:nvSpPr>
        <p:spPr>
          <a:xfrm>
            <a:off x="548640" y="3042645"/>
            <a:ext cx="21031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2000" dirty="0"/>
          </a:p>
        </p:txBody>
      </p:sp>
      <p:sp>
        <p:nvSpPr>
          <p:cNvPr id="6" name="09602023-0ba2-4c6a-9395-efc841fe935c"/>
          <p:cNvSpPr/>
          <p:nvPr/>
        </p:nvSpPr>
        <p:spPr>
          <a:xfrm>
            <a:off x="640080" y="3509319"/>
            <a:ext cx="192024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埠不要求 client 憑證(MDS 才要求)</a:t>
            </a:r>
            <a:endParaRPr lang="en-US" sz="1100" dirty="0"/>
          </a:p>
        </p:txBody>
      </p:sp>
      <p:sp>
        <p:nvSpPr>
          <p:cNvPr id="7" name="32e4c746-9371-474e-b62f-a086effed096"/>
          <p:cNvSpPr/>
          <p:nvPr/>
        </p:nvSpPr>
        <p:spPr>
          <a:xfrm flipV="1">
            <a:off x="2651760" y="2278998"/>
            <a:ext cx="457200" cy="1272746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8" name="019ca0c5-ed7e-49a2-97cd-f58bb7bb1262"/>
          <p:cNvSpPr/>
          <p:nvPr/>
        </p:nvSpPr>
        <p:spPr>
          <a:xfrm>
            <a:off x="3108960" y="1727475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9" name="96d62207-3dfd-47f8-b18e-6ea947792fe2"/>
          <p:cNvSpPr/>
          <p:nvPr/>
        </p:nvSpPr>
        <p:spPr>
          <a:xfrm>
            <a:off x="3246120" y="19820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951fd831-14b8-48f7-a874-5975edec159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386938" y="2112692"/>
            <a:ext cx="358445" cy="358445"/>
          </a:xfrm>
          <a:prstGeom prst="rect">
            <a:avLst/>
          </a:prstGeom>
        </p:spPr>
      </p:pic>
      <p:sp>
        <p:nvSpPr>
          <p:cNvPr id="11" name="ca04f6e6-057b-45c9-a9f4-96c424dfac56"/>
          <p:cNvSpPr/>
          <p:nvPr/>
        </p:nvSpPr>
        <p:spPr>
          <a:xfrm>
            <a:off x="4069080" y="1829294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9092</a:t>
            </a:r>
            <a:endParaRPr lang="en-US" sz="1700" dirty="0"/>
          </a:p>
        </p:txBody>
      </p:sp>
      <p:sp>
        <p:nvSpPr>
          <p:cNvPr id="12" name="ac0305c3-6bb9-48da-8150-3daa19f84dd9"/>
          <p:cNvSpPr/>
          <p:nvPr/>
        </p:nvSpPr>
        <p:spPr>
          <a:xfrm>
            <a:off x="4069080" y="2278998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SCRAM-SHA-512</a:t>
            </a:r>
            <a:endParaRPr lang="en-US" sz="1300" dirty="0"/>
          </a:p>
        </p:txBody>
      </p:sp>
      <p:sp>
        <p:nvSpPr>
          <p:cNvPr id="13" name="96ab31f4-3c95-4412-af83-0e1c1bb42b45"/>
          <p:cNvSpPr/>
          <p:nvPr/>
        </p:nvSpPr>
        <p:spPr>
          <a:xfrm>
            <a:off x="8229600" y="1829294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↔ broker</a:t>
            </a:r>
            <a:endParaRPr lang="en-US" sz="1200" dirty="0"/>
          </a:p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</a:t>
            </a:r>
            <a:endParaRPr lang="en-US" sz="1200" dirty="0"/>
          </a:p>
        </p:txBody>
      </p:sp>
      <p:sp>
        <p:nvSpPr>
          <p:cNvPr id="14" name="4c4256bd-18e3-4f33-b104-e9fe91133c86"/>
          <p:cNvSpPr/>
          <p:nvPr/>
        </p:nvSpPr>
        <p:spPr>
          <a:xfrm flipV="1">
            <a:off x="2651760" y="3551744"/>
            <a:ext cx="45720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5" name="a5f1efa2-59a4-40de-8685-1973e0e47e9a"/>
          <p:cNvSpPr/>
          <p:nvPr/>
        </p:nvSpPr>
        <p:spPr>
          <a:xfrm>
            <a:off x="3108960" y="3000221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6" name="785dde54-a11c-40db-a07e-0e75460dccca"/>
          <p:cNvSpPr/>
          <p:nvPr/>
        </p:nvSpPr>
        <p:spPr>
          <a:xfrm>
            <a:off x="3246120" y="325477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7" name="1feabe60-5de6-42b6-b39a-2d6c8c013ba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386938" y="3385438"/>
            <a:ext cx="358445" cy="358445"/>
          </a:xfrm>
          <a:prstGeom prst="rect">
            <a:avLst/>
          </a:prstGeom>
        </p:spPr>
      </p:pic>
      <p:sp>
        <p:nvSpPr>
          <p:cNvPr id="18" name="8b0ba3cb-7d1f-49a1-bf91-8373208efe39"/>
          <p:cNvSpPr/>
          <p:nvPr/>
        </p:nvSpPr>
        <p:spPr>
          <a:xfrm>
            <a:off x="4069080" y="3102040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700" dirty="0"/>
          </a:p>
        </p:txBody>
      </p:sp>
      <p:sp>
        <p:nvSpPr>
          <p:cNvPr id="19" name="2a0961e0-2148-4d4f-bd7c-cb57211753c6"/>
          <p:cNvSpPr/>
          <p:nvPr/>
        </p:nvSpPr>
        <p:spPr>
          <a:xfrm>
            <a:off x="4069080" y="3551744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PLAIN+LDAP / SCRAM / OAUTHBEARER(帶 MDS token)</a:t>
            </a:r>
            <a:endParaRPr lang="en-US" sz="1300" dirty="0"/>
          </a:p>
        </p:txBody>
      </p:sp>
      <p:sp>
        <p:nvSpPr>
          <p:cNvPr id="20" name="8dc43405-c145-42ed-bd9c-2cc5aaa565d2"/>
          <p:cNvSpPr/>
          <p:nvPr/>
        </p:nvSpPr>
        <p:spPr>
          <a:xfrm>
            <a:off x="8229600" y="3102040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服務 · token</a:t>
            </a:r>
            <a:endParaRPr lang="en-US" sz="1200" dirty="0"/>
          </a:p>
        </p:txBody>
      </p:sp>
      <p:sp>
        <p:nvSpPr>
          <p:cNvPr id="21" name="29d75020-eac0-4b8b-b487-e9d8a7857baa"/>
          <p:cNvSpPr/>
          <p:nvPr/>
        </p:nvSpPr>
        <p:spPr>
          <a:xfrm>
            <a:off x="2651760" y="3551744"/>
            <a:ext cx="457200" cy="1272746"/>
          </a:xfrm>
          <a:prstGeom prst="line">
            <a:avLst/>
          </a:prstGeom>
          <a:noFill/>
          <a:ln w="22225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22" name="3e749911-5d28-4254-9c5a-9fd728119d99"/>
          <p:cNvSpPr/>
          <p:nvPr/>
        </p:nvSpPr>
        <p:spPr>
          <a:xfrm>
            <a:off x="3108960" y="4272966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bef80aa7-7e67-41f1-804a-7a6197d9d0fb"/>
          <p:cNvSpPr/>
          <p:nvPr/>
        </p:nvSpPr>
        <p:spPr>
          <a:xfrm>
            <a:off x="3246120" y="4527516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f285d263-efd4-40cf-8f06-1a62128c6746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386938" y="4658184"/>
            <a:ext cx="358445" cy="358445"/>
          </a:xfrm>
          <a:prstGeom prst="rect">
            <a:avLst/>
          </a:prstGeom>
        </p:spPr>
      </p:pic>
      <p:sp>
        <p:nvSpPr>
          <p:cNvPr id="25" name="a00cc944-436b-4b8c-aeaa-d2e6406e20ea"/>
          <p:cNvSpPr/>
          <p:nvPr/>
        </p:nvSpPr>
        <p:spPr>
          <a:xfrm>
            <a:off x="4069080" y="4374786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8091</a:t>
            </a:r>
            <a:endParaRPr lang="en-US" sz="1700" dirty="0"/>
          </a:p>
        </p:txBody>
      </p:sp>
      <p:sp>
        <p:nvSpPr>
          <p:cNvPr id="26" name="1910171f-f5a8-499f-aa81-34c4c4a949d4"/>
          <p:cNvSpPr/>
          <p:nvPr/>
        </p:nvSpPr>
        <p:spPr>
          <a:xfrm>
            <a:off x="4069080" y="4824490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7" name="ab5c5391-1351-4e2f-bd05-8bef0936209b"/>
          <p:cNvSpPr/>
          <p:nvPr/>
        </p:nvSpPr>
        <p:spPr>
          <a:xfrm>
            <a:off x="8229600" y="4374786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 · 管理 API</a:t>
            </a:r>
            <a:endParaRPr lang="en-US" sz="1200" dirty="0"/>
          </a:p>
        </p:txBody>
      </p:sp>
      <p:sp>
        <p:nvSpPr>
          <p:cNvPr id="28" name="b2fdbdd3-dd3c-4dca-91eb-f0e9e02f0ddb"/>
          <p:cNvSpPr/>
          <p:nvPr/>
        </p:nvSpPr>
        <p:spPr>
          <a:xfrm>
            <a:off x="548640" y="5588137"/>
            <a:ext cx="758952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29" name="eacde982-a467-47a4-ac48-a47f834b5247"/>
          <p:cNvSpPr/>
          <p:nvPr/>
        </p:nvSpPr>
        <p:spPr>
          <a:xfrm>
            <a:off x="8275320" y="5588137"/>
            <a:ext cx="3364992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防火牆:9092 只開給 broker / controller 節點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MDS:RBAC 的中樞(內嵌於 broker)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換 token、管 RBAC、向 AD 查群組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7641e6c-4efb-4537-a128-7f3fa11bcb1b"/>
          <p:cNvSpPr/>
          <p:nvPr/>
        </p:nvSpPr>
        <p:spPr>
          <a:xfrm>
            <a:off x="54864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0E2841">
              <a:alpha val="12000"/>
            </a:srgbClr>
          </a:solidFill>
          <a:ln w="19050">
            <a:solidFill>
              <a:srgbClr val="0E2841"/>
            </a:solidFill>
            <a:prstDash val="solid"/>
          </a:ln>
        </p:spPr>
      </p:sp>
      <p:sp>
        <p:nvSpPr>
          <p:cNvPr id="3" name="65b1d590-f81b-4142-9357-fa449fd877d4"/>
          <p:cNvSpPr/>
          <p:nvPr/>
        </p:nvSpPr>
        <p:spPr>
          <a:xfrm>
            <a:off x="15316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0E2841">
              <a:alpha val="15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4" name="73250118-6e93-4b6f-9386-b26dae68a57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652321" y="1966751"/>
            <a:ext cx="307238" cy="307238"/>
          </a:xfrm>
          <a:prstGeom prst="rect">
            <a:avLst/>
          </a:prstGeom>
        </p:spPr>
      </p:pic>
      <p:sp>
        <p:nvSpPr>
          <p:cNvPr id="5" name="1228b4fd-4ff3-4ff8-9525-90ed0af824f7"/>
          <p:cNvSpPr/>
          <p:nvPr/>
        </p:nvSpPr>
        <p:spPr>
          <a:xfrm>
            <a:off x="62179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管理者</a:t>
            </a:r>
            <a:endParaRPr lang="en-US" sz="1400" dirty="0"/>
          </a:p>
        </p:txBody>
      </p:sp>
      <p:sp>
        <p:nvSpPr>
          <p:cNvPr id="6" name="b64b2d9e-a816-4f93-8ba6-3d2df399c1c3"/>
          <p:cNvSpPr/>
          <p:nvPr/>
        </p:nvSpPr>
        <p:spPr>
          <a:xfrm>
            <a:off x="64008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C3 或 API 指派 role binding</a:t>
            </a:r>
            <a:endParaRPr lang="en-US" sz="1150" dirty="0"/>
          </a:p>
        </p:txBody>
      </p:sp>
      <p:sp>
        <p:nvSpPr>
          <p:cNvPr id="7" name="22f08e05-984c-464a-80d9-50a1993391a7"/>
          <p:cNvSpPr/>
          <p:nvPr/>
        </p:nvSpPr>
        <p:spPr>
          <a:xfrm>
            <a:off x="338328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8" name="b85e8201-d463-4f1d-ae50-141ab3558cce"/>
          <p:cNvSpPr/>
          <p:nvPr/>
        </p:nvSpPr>
        <p:spPr>
          <a:xfrm>
            <a:off x="43662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9" name="df6eff5e-3159-40b9-99ac-d008edc4008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486961" y="1966751"/>
            <a:ext cx="307238" cy="307238"/>
          </a:xfrm>
          <a:prstGeom prst="rect">
            <a:avLst/>
          </a:prstGeom>
        </p:spPr>
      </p:pic>
      <p:sp>
        <p:nvSpPr>
          <p:cNvPr id="10" name="7e42e33b-797e-469a-a4b5-e5c008896530"/>
          <p:cNvSpPr/>
          <p:nvPr/>
        </p:nvSpPr>
        <p:spPr>
          <a:xfrm>
            <a:off x="345643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11" name="ee8d7c14-ec6e-4eaa-a947-c3e864a552a1"/>
          <p:cNvSpPr/>
          <p:nvPr/>
        </p:nvSpPr>
        <p:spPr>
          <a:xfrm>
            <a:off x="347472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認證:Basic(AD)· MDS token(Bearer)· client 憑證(mTLS)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token · 管理 RBAC</a:t>
            </a:r>
            <a:endParaRPr lang="en-US" sz="1150" dirty="0"/>
          </a:p>
        </p:txBody>
      </p:sp>
      <p:sp>
        <p:nvSpPr>
          <p:cNvPr id="12" name="b31ea83c-6215-4877-9a86-7ec3413b87dd"/>
          <p:cNvSpPr/>
          <p:nvPr/>
        </p:nvSpPr>
        <p:spPr>
          <a:xfrm>
            <a:off x="621792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0add5ef7-b099-420c-893a-bc23914d20f4"/>
          <p:cNvSpPr/>
          <p:nvPr/>
        </p:nvSpPr>
        <p:spPr>
          <a:xfrm>
            <a:off x="720090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8de554bd-73d9-4022-9a75-1d8569ab04f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321601" y="1966751"/>
            <a:ext cx="307238" cy="307238"/>
          </a:xfrm>
          <a:prstGeom prst="rect">
            <a:avLst/>
          </a:prstGeom>
        </p:spPr>
      </p:pic>
      <p:sp>
        <p:nvSpPr>
          <p:cNvPr id="15" name="b985dfbf-cc59-4e40-9833-ffe0151db3b0"/>
          <p:cNvSpPr/>
          <p:nvPr/>
        </p:nvSpPr>
        <p:spPr>
          <a:xfrm>
            <a:off x="629107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topic</a:t>
            </a:r>
            <a:endParaRPr lang="en-US" sz="1400" dirty="0"/>
          </a:p>
        </p:txBody>
      </p:sp>
      <p:sp>
        <p:nvSpPr>
          <p:cNvPr id="16" name="029c83d0-4ec8-4cf4-942c-7bda64ea43a7"/>
          <p:cNvSpPr/>
          <p:nvPr/>
        </p:nvSpPr>
        <p:spPr>
          <a:xfrm>
            <a:off x="630936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 binding 與使用者→群組</a:t>
            </a:r>
            <a:endParaRPr lang="en-US" sz="1150" dirty="0"/>
          </a:p>
        </p:txBody>
      </p:sp>
      <p:sp>
        <p:nvSpPr>
          <p:cNvPr id="17" name="ce5f6157-d98c-455f-8482-00588d6ea3f0"/>
          <p:cNvSpPr/>
          <p:nvPr/>
        </p:nvSpPr>
        <p:spPr>
          <a:xfrm>
            <a:off x="905256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71508118-bb3f-4ba3-a27c-31d95ca5e719"/>
          <p:cNvSpPr/>
          <p:nvPr/>
        </p:nvSpPr>
        <p:spPr>
          <a:xfrm>
            <a:off x="10035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2ec3ad70-fe32-4188-9d00-3997c7306198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1966751"/>
            <a:ext cx="307238" cy="307238"/>
          </a:xfrm>
          <a:prstGeom prst="rect">
            <a:avLst/>
          </a:prstGeom>
        </p:spPr>
      </p:pic>
      <p:sp>
        <p:nvSpPr>
          <p:cNvPr id="20" name="44fa08ca-3997-4c6e-8ff3-4d0bbc0c5b1d"/>
          <p:cNvSpPr/>
          <p:nvPr/>
        </p:nvSpPr>
        <p:spPr>
          <a:xfrm>
            <a:off x="912571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每台 broker</a:t>
            </a:r>
            <a:endParaRPr lang="en-US" sz="1400" dirty="0"/>
          </a:p>
        </p:txBody>
      </p:sp>
      <p:sp>
        <p:nvSpPr>
          <p:cNvPr id="21" name="2c8d3f95-19f9-42d9-8777-9ba8d092dbd7"/>
          <p:cNvSpPr/>
          <p:nvPr/>
        </p:nvSpPr>
        <p:spPr>
          <a:xfrm>
            <a:off x="914400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讀取並 cache,本地授權</a:t>
            </a:r>
            <a:endParaRPr lang="en-US" sz="1150" dirty="0"/>
          </a:p>
        </p:txBody>
      </p:sp>
      <p:sp>
        <p:nvSpPr>
          <p:cNvPr id="22" name="356bfcf1-ae21-471f-bc1f-30ba03aebf56"/>
          <p:cNvSpPr/>
          <p:nvPr/>
        </p:nvSpPr>
        <p:spPr>
          <a:xfrm>
            <a:off x="306324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111482ab-f8f6-4734-9b3f-ebb082511124"/>
          <p:cNvSpPr/>
          <p:nvPr/>
        </p:nvSpPr>
        <p:spPr>
          <a:xfrm>
            <a:off x="589788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f19b2869-e0d4-4145-8778-f2aeb637e7d4"/>
          <p:cNvSpPr/>
          <p:nvPr/>
        </p:nvSpPr>
        <p:spPr>
          <a:xfrm>
            <a:off x="873252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f003a2a9-40a0-48fd-859e-041c80b661b7"/>
          <p:cNvSpPr/>
          <p:nvPr/>
        </p:nvSpPr>
        <p:spPr>
          <a:xfrm>
            <a:off x="3383280" y="3806293"/>
            <a:ext cx="2514600" cy="18666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6" name="30026448-511e-4516-95f0-b2cbb58d9a22"/>
          <p:cNvSpPr/>
          <p:nvPr/>
        </p:nvSpPr>
        <p:spPr>
          <a:xfrm>
            <a:off x="436626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7" name="d6fbecf8-fedd-4287-94dd-5c093c74db34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486961" y="4045569"/>
            <a:ext cx="307238" cy="307238"/>
          </a:xfrm>
          <a:prstGeom prst="rect">
            <a:avLst/>
          </a:prstGeom>
        </p:spPr>
      </p:pic>
      <p:sp>
        <p:nvSpPr>
          <p:cNvPr id="28" name="54a04c86-ec15-4337-b54f-4e6da1430ebd"/>
          <p:cNvSpPr/>
          <p:nvPr/>
        </p:nvSpPr>
        <p:spPr>
          <a:xfrm>
            <a:off x="3456432" y="4527516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AD(LDAP)</a:t>
            </a:r>
            <a:endParaRPr lang="en-US" sz="1400" dirty="0"/>
          </a:p>
        </p:txBody>
      </p:sp>
      <p:sp>
        <p:nvSpPr>
          <p:cNvPr id="29" name="a8b9fbe5-a1cb-4543-8c94-fb0d7d153db3"/>
          <p:cNvSpPr/>
          <p:nvPr/>
        </p:nvSpPr>
        <p:spPr>
          <a:xfrm>
            <a:off x="3474720" y="4909339"/>
            <a:ext cx="2331720" cy="721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唯讀 bind 帳號:搜尋使用者、定期查群組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驗密碼:用使用者自己的 DN + 密碼 simple bind</a:t>
            </a:r>
            <a:endParaRPr lang="en-US" sz="1150" dirty="0"/>
          </a:p>
        </p:txBody>
      </p:sp>
      <p:sp>
        <p:nvSpPr>
          <p:cNvPr id="30" name="6016332c-59c3-4a8c-a395-9102bcefe907"/>
          <p:cNvSpPr/>
          <p:nvPr/>
        </p:nvSpPr>
        <p:spPr>
          <a:xfrm>
            <a:off x="4636008" y="3509319"/>
            <a:ext cx="0" cy="296974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94f6cf41-3cc3-4db9-9bae-7cf261e241b6"/>
          <p:cNvSpPr/>
          <p:nvPr/>
        </p:nvSpPr>
        <p:spPr>
          <a:xfrm>
            <a:off x="4709160" y="3534774"/>
            <a:ext cx="12801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查詢 / bind</a:t>
            </a:r>
            <a:endParaRPr lang="en-US" sz="1000" dirty="0"/>
          </a:p>
        </p:txBody>
      </p:sp>
      <p:sp>
        <p:nvSpPr>
          <p:cNvPr id="32" name="7ee72f31-ac2d-411d-aaf7-ca429d7ff61e"/>
          <p:cNvSpPr/>
          <p:nvPr/>
        </p:nvSpPr>
        <p:spPr>
          <a:xfrm>
            <a:off x="6217920" y="3806293"/>
            <a:ext cx="5422392" cy="1866694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e18d0d4c-1b6b-4c0d-b73f-0b0473f5b3ba"/>
          <p:cNvSpPr/>
          <p:nvPr/>
        </p:nvSpPr>
        <p:spPr>
          <a:xfrm>
            <a:off x="6400800" y="3891143"/>
            <a:ext cx="50292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</a:t>
            </a:r>
            <a:endParaRPr lang="en-US" sz="1500" dirty="0"/>
          </a:p>
        </p:txBody>
      </p:sp>
      <p:sp>
        <p:nvSpPr>
          <p:cNvPr id="34" name="c79b856d-80eb-4f87-a397-76177916a828"/>
          <p:cNvSpPr/>
          <p:nvPr/>
        </p:nvSpPr>
        <p:spPr>
          <a:xfrm>
            <a:off x="6400800" y="4230542"/>
            <a:ext cx="5074920" cy="144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群組異動在 AD 做,Kafka 端零變更;由一台 broker 擔任 writer 向 AD 查群組(預設 60 秒;demo 5 秒),寫入 RBAC topic,其他 broker 讀取後更新快取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人:Basic(AD 帳密)經 MDS 向 AD 驗證;各 broker 都連 AD,需匯入 AD 的 LDAPS CA root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token:JWT,壽命可設(demo 設 1 小時);元件自動重新換;刪除 AD 帳號後,舊 token 到期前仍有效(實測)</a:t>
            </a:r>
            <a:endParaRPr lang="en-US" sz="1050" dirty="0"/>
          </a:p>
        </p:txBody>
      </p:sp>
      <p:sp>
        <p:nvSpPr>
          <p:cNvPr id="35" name="4ee83219-e9e5-4a1b-b273-58bba4feb757"/>
          <p:cNvSpPr/>
          <p:nvPr/>
        </p:nvSpPr>
        <p:spPr>
          <a:xfrm>
            <a:off x="548640" y="3806293"/>
            <a:ext cx="2514600" cy="1866694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ecf28c0e-143f-46ce-b925-9524536d789a"/>
          <p:cNvSpPr/>
          <p:nvPr/>
        </p:nvSpPr>
        <p:spPr>
          <a:xfrm>
            <a:off x="141732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7" name="6cbc289d-b90d-4ce3-987b-fcf04e156871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538021" y="4045569"/>
            <a:ext cx="307238" cy="307238"/>
          </a:xfrm>
          <a:prstGeom prst="rect">
            <a:avLst/>
          </a:prstGeom>
        </p:spPr>
      </p:pic>
      <p:sp>
        <p:nvSpPr>
          <p:cNvPr id="38" name="269ff228-6171-4476-898e-442209738243"/>
          <p:cNvSpPr/>
          <p:nvPr/>
        </p:nvSpPr>
        <p:spPr>
          <a:xfrm>
            <a:off x="640080" y="4527516"/>
            <a:ext cx="23317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bind DN;不要用真人帳號;建議 LDAPS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 → role:依職責分層授權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同一個 AD,不同群組 = 不同權限層級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70107ac-286a-4447-8336-9c2f09e18552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53288c21-0a3a-4dae-9c24-02c445a19a5e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6aa3bb6d-b279-47f6-a3fc-7e31d2ef72f0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267a673d-ef70-42c3-98e5-b884436eb5f1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b09c6ed3-72db-4ab7-8c13-04c81261a0b5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fa5ef786-50fc-46f2-b806-dff4806e8b18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ab69ff95-2222-4d1f-b327-a9d1930707c0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33c0d831-9c81-4a07-9ac6-2e8cf889530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aef2f188-81d7-4bdb-9cf1-2d1dae0b61a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ca527aed-5d77-4b7c-abb2-ab0c4e526f6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44b58ccc-fc0a-4e42-92cd-53ae8217a7fb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e0569baa-551e-4db1-bb15-dffb55a2a6e6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be18c744-7d99-4eb3-a746-0ea218e6fac1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8872170a-3ec8-4a25-a8d7-4edbfe3a870c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0ea765de-c0ca-4ed2-8824-9db6800b85a4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e86edfec-c283-4fe7-b432-86deee192fce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2c5dba34-b1fa-4a84-a9a8-ed4c53733c69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9fc85503-b496-4a11-b3fb-34f51a56025d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b6113367-a499-41bf-a5d5-ed01e5d41772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a8be18cb-163c-4cea-aa73-9f78f7676615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0aae15ed-3408-4a2c-bd1c-f2654e12847a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9d3e9d2a-d979-4320-82a8-64ea307147c4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473483e8-012f-4204-af2b-2b8bf4a0cd92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e1575bc6-c260-49c0-bd3f-4df8dbae01cd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040d026a-513f-4463-8953-709c65110606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611282ea-81c0-4295-bf15-aa83e90610e6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9824dc62-942a-4939-854d-35c92679e419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e70d90f7-972d-40a2-8a74-e4e79d872d3b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ea493d4a-d543-4da5-a6cf-53be0a593cc9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daa95ed0-8114-4d27-9b05-d8ff878ad558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39e7e21e-70e9-40e4-8a97-c2247ade62e1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36db355f-d3a6-4698-9681-1709af0a6176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df170a1a-db28-49c2-a03e-c4972fd98400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f3d211ac-629b-4182-bab2-2cb359bce3c7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569511fa-2043-4bbe-b108-db06a8558afe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7eb98c7e-2bc9-47e1-be32-7432f04c2ed8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ce17614b-c974-4225-9aa5-cdc773d1244f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04513d65-e9dd-4560-8de4-2efdcefdf8b9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6c41c558-83be-42ea-80a1-b9ed2ab27d49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a15d9190-8a25-400b-829a-2b97d841ba73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011a4caf-b1ba-49e5-b889-e7d5fa1e9155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ffeed062-8970-4a9b-ae20-3193f324428e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cfe965d0-317c-4aa7-8cb1-c501793e0d5b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4482936a-8365-4049-aa74-07b31b898420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99e5e56e-b2b7-4d8b-93bd-f5247468d6c5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61625a71-f29f-4fc8-8b40-d22b8ff475b5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全程留痕</a:t>
            </a:r>
            <a:endParaRPr lang="en-US" sz="1400" dirty="0"/>
          </a:p>
        </p:txBody>
      </p:sp>
      <p:sp>
        <p:nvSpPr>
          <p:cNvPr id="48" name="7f0a5c5f-215f-4980-b877-a65b6c258cb8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f46b6e1-947d-47f0-9d9f-df6d63ac50f3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0eb593cd-9dc5-4884-a7c8-f0bb47d16ac4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9818733f-e810-4045-b300-3412c4be50dd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0a868d54-0fee-44ef-83db-66fb007381e5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1b813721-d47d-4d56-98f2-c698907efafa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2d5baf40-6f31-4090-8c4a-23dfe999e9a9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f4c598e1-d5df-46bf-885c-092472ec1211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2b2b58a3-a811-45b5-9e3a-ab9d3a7be01f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677318be-cc1e-4d91-b9a0-1e01a36e0c3a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c55de2c5-2316-42b8-b7d7-10c98dc9ebfd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7222c75e-867f-4928-b1d2-0138737b3a64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17bd123a-b702-4093-a38c-b4cb7d753147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8edef619-fb4f-4ccd-ac1f-d510754f2e14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e92cfbf6-42d3-4fe2-9b41-8bc9ed7f1b1c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6cd94d63-b1c9-435a-9437-7f42529bcc83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5f3dc4d6-9780-4c4b-ae09-4d0f92ff2dc2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f0121141-eef3-4dc8-bb71-cd55d48fac50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2a29325a-8e1b-4d69-bd7e-df61a825cd4e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c55d204f-0e3f-4f62-9d23-0296743ea2a4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c4358e09-183c-4f05-afb1-1fe9fbe8e34e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04721fcf-bdc6-4e42-a2a5-1610ddf5a8f9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2da890e8-a325-443e-91ba-8c33cf99bd66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eafb2964-6590-4baf-a61b-9de4a6946034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004188b0-e1ac-4db5-9945-8ebbaca7860f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325b04ce-7afa-469f-b4cf-fa659872d95a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4c31940e-fd79-4862-a2b9-6cc1fbb09131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534efc74-91b9-4123-8ae8-a9291cff5b5a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d2fd71b8-7616-479a-87df-9b27cae7f7c6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26438096-428d-446f-869c-b3f6a1cc4b04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2625422e-b834-409d-af77-e44031537965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2da35f70-0c19-4bd4-aaae-1c569de2970a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1cd39421-d3f6-4eab-86e7-0313eb7c13c7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247c3f73-285d-449b-ac79-ab1f7fd1611f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50306190-1aa5-4518-bd85-8f9fd6e8e23c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6fe50995-63b1-468c-a54c-8c279c7935fe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bd7b631a-0b07-47f0-9c38-9a251d7cde07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bb57c387-009f-4746-8aae-c1e90b9a698a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80596427-c5e9-4dc8-a553-083219e34f01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服務帳號:SCRAM,不放 AD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沒有服務帳號 → SCRAM + 最小權限 + 輪替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4b1056d-faf1-46be-8b4d-0d504173b981"/>
          <p:cNvSpPr/>
          <p:nvPr/>
        </p:nvSpPr>
        <p:spPr>
          <a:xfrm>
            <a:off x="548640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567f5394-9ee9-4147-9e4d-f071a5f32bf9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d2717b48-21aa-4434-8f6d-bd64130110e9"/>
          <p:cNvSpPr/>
          <p:nvPr/>
        </p:nvSpPr>
        <p:spPr>
          <a:xfrm>
            <a:off x="640080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</a:t>
            </a:r>
            <a:endParaRPr lang="en-US" sz="1400" dirty="0"/>
          </a:p>
        </p:txBody>
      </p:sp>
      <p:sp>
        <p:nvSpPr>
          <p:cNvPr id="5" name="7689533a-c966-441a-ab84-4c7c638dbc05"/>
          <p:cNvSpPr/>
          <p:nvPr/>
        </p:nvSpPr>
        <p:spPr>
          <a:xfrm>
            <a:off x="640080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kafka-configs 在 Kafka 內建立</a:t>
            </a:r>
            <a:endParaRPr lang="en-US" sz="1100" dirty="0"/>
          </a:p>
        </p:txBody>
      </p:sp>
      <p:sp>
        <p:nvSpPr>
          <p:cNvPr id="6" name="d83b147a-7975-4eea-912d-a4c3feab57ae"/>
          <p:cNvSpPr/>
          <p:nvPr/>
        </p:nvSpPr>
        <p:spPr>
          <a:xfrm>
            <a:off x="2560320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d6835719-ede1-42f0-8d3d-e9d1f8fb0135"/>
          <p:cNvSpPr/>
          <p:nvPr/>
        </p:nvSpPr>
        <p:spPr>
          <a:xfrm>
            <a:off x="2816352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2a89c1ba-6a7c-4f6d-92e3-16c11637b9a1"/>
          <p:cNvSpPr/>
          <p:nvPr/>
        </p:nvSpPr>
        <p:spPr>
          <a:xfrm>
            <a:off x="2926080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8e75da18-63c6-4db6-851d-ac821d007542"/>
          <p:cNvSpPr/>
          <p:nvPr/>
        </p:nvSpPr>
        <p:spPr>
          <a:xfrm>
            <a:off x="2907792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保管</a:t>
            </a:r>
            <a:endParaRPr lang="en-US" sz="1400" dirty="0"/>
          </a:p>
        </p:txBody>
      </p:sp>
      <p:sp>
        <p:nvSpPr>
          <p:cNvPr id="10" name="b005f58b-569f-4d02-9bf5-9cd3cf3b2f0e"/>
          <p:cNvSpPr/>
          <p:nvPr/>
        </p:nvSpPr>
        <p:spPr>
          <a:xfrm>
            <a:off x="2907792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密碼放密碼庫</a:t>
            </a:r>
            <a:endParaRPr lang="en-US" sz="1100" dirty="0"/>
          </a:p>
        </p:txBody>
      </p:sp>
      <p:sp>
        <p:nvSpPr>
          <p:cNvPr id="11" name="485844a7-7026-411d-b8b5-c61c7fef0365"/>
          <p:cNvSpPr/>
          <p:nvPr/>
        </p:nvSpPr>
        <p:spPr>
          <a:xfrm>
            <a:off x="4828032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70a586a2-d422-4acc-bab1-77739936bcc5"/>
          <p:cNvSpPr/>
          <p:nvPr/>
        </p:nvSpPr>
        <p:spPr>
          <a:xfrm>
            <a:off x="5084064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b3b72389-f9a9-4eaf-a22c-060ffbbc78a8"/>
          <p:cNvSpPr/>
          <p:nvPr/>
        </p:nvSpPr>
        <p:spPr>
          <a:xfrm>
            <a:off x="5193792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bf81e320-71fc-4700-8c2a-685f6971a2a3"/>
          <p:cNvSpPr/>
          <p:nvPr/>
        </p:nvSpPr>
        <p:spPr>
          <a:xfrm>
            <a:off x="5175504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400" dirty="0"/>
          </a:p>
        </p:txBody>
      </p:sp>
      <p:sp>
        <p:nvSpPr>
          <p:cNvPr id="15" name="4ab8b3de-18b3-4e07-a870-a345abed3d14"/>
          <p:cNvSpPr/>
          <p:nvPr/>
        </p:nvSpPr>
        <p:spPr>
          <a:xfrm>
            <a:off x="5175504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前綴最小權限</a:t>
            </a:r>
            <a:endParaRPr lang="en-US" sz="1100" dirty="0"/>
          </a:p>
        </p:txBody>
      </p:sp>
      <p:sp>
        <p:nvSpPr>
          <p:cNvPr id="16" name="3697d5fc-1750-40be-979f-45f22b385683"/>
          <p:cNvSpPr/>
          <p:nvPr/>
        </p:nvSpPr>
        <p:spPr>
          <a:xfrm>
            <a:off x="7095744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7" name="71e10ca4-6faa-4ba3-9ab1-36a4a5473fa5"/>
          <p:cNvSpPr/>
          <p:nvPr/>
        </p:nvSpPr>
        <p:spPr>
          <a:xfrm>
            <a:off x="7351776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c3b4bc30-4647-49cd-aa5f-0fa351fa9d94"/>
          <p:cNvSpPr/>
          <p:nvPr/>
        </p:nvSpPr>
        <p:spPr>
          <a:xfrm>
            <a:off x="7461504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4a72e5a4-e0ac-4b86-83e8-574d913f5ac7"/>
          <p:cNvSpPr/>
          <p:nvPr/>
        </p:nvSpPr>
        <p:spPr>
          <a:xfrm>
            <a:off x="7443216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</a:t>
            </a:r>
            <a:endParaRPr lang="en-US" sz="1400" dirty="0"/>
          </a:p>
        </p:txBody>
      </p:sp>
      <p:sp>
        <p:nvSpPr>
          <p:cNvPr id="20" name="7a6165fb-d754-495b-9f07-1b3faf8c0306"/>
          <p:cNvSpPr/>
          <p:nvPr/>
        </p:nvSpPr>
        <p:spPr>
          <a:xfrm>
            <a:off x="7443216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 600</a:t>
            </a:r>
            <a:endParaRPr lang="en-US" sz="1100" dirty="0"/>
          </a:p>
        </p:txBody>
      </p:sp>
      <p:sp>
        <p:nvSpPr>
          <p:cNvPr id="21" name="221e5bba-3461-41aa-800c-c0fad605302b"/>
          <p:cNvSpPr/>
          <p:nvPr/>
        </p:nvSpPr>
        <p:spPr>
          <a:xfrm>
            <a:off x="9363456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c28a173b-8d39-4504-88fe-831cc6b8b2eb"/>
          <p:cNvSpPr/>
          <p:nvPr/>
        </p:nvSpPr>
        <p:spPr>
          <a:xfrm>
            <a:off x="9619488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93836171-0450-4d3b-bb2d-1eb490e122c1"/>
          <p:cNvSpPr/>
          <p:nvPr/>
        </p:nvSpPr>
        <p:spPr>
          <a:xfrm>
            <a:off x="9729216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759d75de-3b33-42d1-a9d3-5dea2d6b638c"/>
          <p:cNvSpPr/>
          <p:nvPr/>
        </p:nvSpPr>
        <p:spPr>
          <a:xfrm>
            <a:off x="9710928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</a:t>
            </a:r>
            <a:endParaRPr lang="en-US" sz="1400" dirty="0"/>
          </a:p>
        </p:txBody>
      </p:sp>
      <p:sp>
        <p:nvSpPr>
          <p:cNvPr id="25" name="30a7037a-16c1-447c-9b01-408d4c2e154b"/>
          <p:cNvSpPr/>
          <p:nvPr/>
        </p:nvSpPr>
        <p:spPr>
          <a:xfrm>
            <a:off x="9710928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client 換新密碼</a:t>
            </a:r>
            <a:endParaRPr lang="en-US" sz="1100" dirty="0"/>
          </a:p>
        </p:txBody>
      </p:sp>
      <p:sp>
        <p:nvSpPr>
          <p:cNvPr id="26" name="088f70f2-c349-4b22-b092-53ee541690fb"/>
          <p:cNvSpPr/>
          <p:nvPr/>
        </p:nvSpPr>
        <p:spPr>
          <a:xfrm>
            <a:off x="54864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3b1b9564-2075-49fc-8855-9ca08bdfe213"/>
          <p:cNvSpPr/>
          <p:nvPr/>
        </p:nvSpPr>
        <p:spPr>
          <a:xfrm>
            <a:off x="73152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b5633df9-517b-4560-9896-edc487abe75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4021811"/>
            <a:ext cx="358445" cy="358445"/>
          </a:xfrm>
          <a:prstGeom prst="rect">
            <a:avLst/>
          </a:prstGeom>
        </p:spPr>
      </p:pic>
      <p:sp>
        <p:nvSpPr>
          <p:cNvPr id="29" name="f89ce130-d83d-4252-88d6-e8b2e77fcc51"/>
          <p:cNvSpPr/>
          <p:nvPr/>
        </p:nvSpPr>
        <p:spPr>
          <a:xfrm>
            <a:off x="150876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 AD</a:t>
            </a:r>
            <a:endParaRPr lang="en-US" sz="1300" dirty="0"/>
          </a:p>
        </p:txBody>
      </p:sp>
      <p:sp>
        <p:nvSpPr>
          <p:cNvPr id="30" name="aad48e25-1d8d-4ef2-884c-dfb5664979bf"/>
          <p:cNvSpPr/>
          <p:nvPr/>
        </p:nvSpPr>
        <p:spPr>
          <a:xfrm>
            <a:off x="425196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1" name="5266f030-3104-4a6e-b495-bc2092e90140"/>
          <p:cNvSpPr/>
          <p:nvPr/>
        </p:nvSpPr>
        <p:spPr>
          <a:xfrm>
            <a:off x="443484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2" name="fa29a63c-9788-4923-b66a-2d6b22ab4f4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5658" y="4021811"/>
            <a:ext cx="358445" cy="358445"/>
          </a:xfrm>
          <a:prstGeom prst="rect">
            <a:avLst/>
          </a:prstGeom>
        </p:spPr>
      </p:pic>
      <p:sp>
        <p:nvSpPr>
          <p:cNvPr id="33" name="5497b2c4-d0f0-4133-ae2d-41b5c7ca6c03"/>
          <p:cNvSpPr/>
          <p:nvPr/>
        </p:nvSpPr>
        <p:spPr>
          <a:xfrm>
            <a:off x="521208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要有輪替流程與提醒</a:t>
            </a:r>
            <a:endParaRPr lang="en-US" sz="1300" dirty="0"/>
          </a:p>
        </p:txBody>
      </p:sp>
      <p:sp>
        <p:nvSpPr>
          <p:cNvPr id="34" name="8f5960f7-2ccd-425e-b3ed-3ba5e6d4d8df"/>
          <p:cNvSpPr/>
          <p:nvPr/>
        </p:nvSpPr>
        <p:spPr>
          <a:xfrm>
            <a:off x="7955280" y="3721443"/>
            <a:ext cx="3685032" cy="1018197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5" name="4eebfb91-5767-4596-b5d9-635e5cb21e48"/>
          <p:cNvSpPr/>
          <p:nvPr/>
        </p:nvSpPr>
        <p:spPr>
          <a:xfrm>
            <a:off x="813816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6" name="896816c6-a7ac-4527-a392-68bd0aac1b3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278978" y="4021811"/>
            <a:ext cx="358445" cy="358445"/>
          </a:xfrm>
          <a:prstGeom prst="rect">
            <a:avLst/>
          </a:prstGeom>
        </p:spPr>
      </p:pic>
      <p:sp>
        <p:nvSpPr>
          <p:cNvPr id="37" name="7bb3ca6d-b359-4594-9719-6be7ff91ef5c"/>
          <p:cNvSpPr/>
          <p:nvPr/>
        </p:nvSpPr>
        <p:spPr>
          <a:xfrm>
            <a:off x="8915400" y="3806293"/>
            <a:ext cx="26517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官方:SCRAM 搭配 TLS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KRaft 放在私有網路</a:t>
            </a:r>
            <a:endParaRPr lang="en-US" sz="1300" dirty="0"/>
          </a:p>
        </p:txBody>
      </p:sp>
      <p:sp>
        <p:nvSpPr>
          <p:cNvPr id="38" name="a6e7bbc7-ab0e-4c92-91fa-b8d39f2bc8dd"/>
          <p:cNvSpPr/>
          <p:nvPr/>
        </p:nvSpPr>
        <p:spPr>
          <a:xfrm>
            <a:off x="548640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端改密碼</a:t>
            </a:r>
            <a:endParaRPr lang="en-US" sz="1200" dirty="0"/>
          </a:p>
        </p:txBody>
      </p:sp>
      <p:sp>
        <p:nvSpPr>
          <p:cNvPr id="39" name="64d01d88-9875-4124-9849-f41fe7481d74"/>
          <p:cNvSpPr/>
          <p:nvPr/>
        </p:nvSpPr>
        <p:spPr>
          <a:xfrm>
            <a:off x="3063240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65d31d20-20c9-43f4-8727-ebc5b01958e7"/>
          <p:cNvSpPr/>
          <p:nvPr/>
        </p:nvSpPr>
        <p:spPr>
          <a:xfrm>
            <a:off x="3410712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client 換新密碼並重啟</a:t>
            </a:r>
            <a:endParaRPr lang="en-US" sz="1200" dirty="0"/>
          </a:p>
        </p:txBody>
      </p:sp>
      <p:sp>
        <p:nvSpPr>
          <p:cNvPr id="41" name="1b3865e7-84b8-4270-8b87-3e1a7746f232"/>
          <p:cNvSpPr/>
          <p:nvPr/>
        </p:nvSpPr>
        <p:spPr>
          <a:xfrm>
            <a:off x="5925312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2" name="13747d48-7fb3-4320-97f7-8e974c94d6be"/>
          <p:cNvSpPr/>
          <p:nvPr/>
        </p:nvSpPr>
        <p:spPr>
          <a:xfrm>
            <a:off x="6272784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驗證新密碼可用</a:t>
            </a:r>
            <a:endParaRPr lang="en-US" sz="1200" dirty="0"/>
          </a:p>
        </p:txBody>
      </p:sp>
      <p:sp>
        <p:nvSpPr>
          <p:cNvPr id="43" name="ba9c8f10-1748-4dd2-bf82-4404e9881c96"/>
          <p:cNvSpPr/>
          <p:nvPr/>
        </p:nvSpPr>
        <p:spPr>
          <a:xfrm>
            <a:off x="8787384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4" name="3b366961-f2fa-428b-a776-73bc4b17b3ac"/>
          <p:cNvSpPr/>
          <p:nvPr/>
        </p:nvSpPr>
        <p:spPr>
          <a:xfrm>
            <a:off x="9134856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驗證舊密碼已失效</a:t>
            </a:r>
            <a:endParaRPr lang="en-US" sz="1200" dirty="0"/>
          </a:p>
        </p:txBody>
      </p:sp>
      <p:sp>
        <p:nvSpPr>
          <p:cNvPr id="45" name="f44c45b0-ea01-4e7e-bbcf-54ffea292aca"/>
          <p:cNvSpPr/>
          <p:nvPr/>
        </p:nvSpPr>
        <p:spPr>
          <a:xfrm>
            <a:off x="548640" y="5460863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 = 取代:舊密碼對新連線立即失效(實測)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已連線的 client 不受影響;改完立刻換 client,換好之前重新連線的會失敗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Proxy:legacy app 的入口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 Basic、機器用 client 憑證,身分一路傳到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596ca69-b6fd-47a8-8eb3-0cb82d02eb85"/>
          <p:cNvSpPr/>
          <p:nvPr/>
        </p:nvSpPr>
        <p:spPr>
          <a:xfrm>
            <a:off x="548640" y="1600200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人(Postman · 手動測試)</a:t>
            </a:r>
            <a:endParaRPr lang="en-US" sz="1400" dirty="0"/>
          </a:p>
        </p:txBody>
      </p:sp>
      <p:sp>
        <p:nvSpPr>
          <p:cNvPr id="3" name="56546b09-7def-4da6-ba94-c51abe0a84f6"/>
          <p:cNvSpPr/>
          <p:nvPr/>
        </p:nvSpPr>
        <p:spPr>
          <a:xfrm>
            <a:off x="3657600" y="1922629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" name="ab315078-3e09-4542-b249-1226129c7652"/>
          <p:cNvSpPr/>
          <p:nvPr/>
        </p:nvSpPr>
        <p:spPr>
          <a:xfrm>
            <a:off x="3749040" y="1990509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5" name="0e53f0f0-2168-46d1-ad2b-b18322a3352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3841577" y="2076377"/>
            <a:ext cx="235549" cy="235549"/>
          </a:xfrm>
          <a:prstGeom prst="rect">
            <a:avLst/>
          </a:prstGeom>
        </p:spPr>
      </p:pic>
      <p:sp>
        <p:nvSpPr>
          <p:cNvPr id="6" name="335d4e1b-89ea-45f6-b3b0-02141de09ddb"/>
          <p:cNvSpPr/>
          <p:nvPr/>
        </p:nvSpPr>
        <p:spPr>
          <a:xfrm>
            <a:off x="4251960" y="1990509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7" name="6f6b9355-d664-461c-a442-907ae4ef08df"/>
          <p:cNvSpPr/>
          <p:nvPr/>
        </p:nvSpPr>
        <p:spPr>
          <a:xfrm flipV="1">
            <a:off x="43434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8" name="867fc616-0c13-4420-b21f-4675c5d102e8"/>
          <p:cNvSpPr/>
          <p:nvPr/>
        </p:nvSpPr>
        <p:spPr>
          <a:xfrm>
            <a:off x="50292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9" name="efd83b39-f7d5-4d80-85f5-0370a68d7291"/>
          <p:cNvSpPr/>
          <p:nvPr/>
        </p:nvSpPr>
        <p:spPr>
          <a:xfrm>
            <a:off x="5852160" y="1854749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0" name="f6f06959-9503-485b-a77d-cc84351dbbf0"/>
          <p:cNvSpPr/>
          <p:nvPr/>
        </p:nvSpPr>
        <p:spPr>
          <a:xfrm>
            <a:off x="5486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1" name="5970b91d-26f6-415c-91d4-8a6f0d2f3665"/>
          <p:cNvSpPr/>
          <p:nvPr/>
        </p:nvSpPr>
        <p:spPr>
          <a:xfrm>
            <a:off x="6400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925dcf6e-e8cf-42f2-8c3f-549f484678d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44687" y="2825769"/>
            <a:ext cx="266273" cy="266273"/>
          </a:xfrm>
          <a:prstGeom prst="rect">
            <a:avLst/>
          </a:prstGeom>
        </p:spPr>
      </p:pic>
      <p:sp>
        <p:nvSpPr>
          <p:cNvPr id="13" name="5e29833e-6c6c-40ae-bc9d-d5d2b1a2fbe7"/>
          <p:cNvSpPr/>
          <p:nvPr/>
        </p:nvSpPr>
        <p:spPr>
          <a:xfrm>
            <a:off x="11887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93d722e4-8ebe-4bbc-8849-77e007100163"/>
          <p:cNvSpPr/>
          <p:nvPr/>
        </p:nvSpPr>
        <p:spPr>
          <a:xfrm>
            <a:off x="3657600" y="2618397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5" name="5488af75-1177-4bf0-a5f5-b196ca0fe414"/>
          <p:cNvSpPr/>
          <p:nvPr/>
        </p:nvSpPr>
        <p:spPr>
          <a:xfrm>
            <a:off x="374904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6" name="813eaa47-196b-40a9-9e11-bc000eb6828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853647" y="2825769"/>
            <a:ext cx="266273" cy="266273"/>
          </a:xfrm>
          <a:prstGeom prst="rect">
            <a:avLst/>
          </a:prstGeom>
        </p:spPr>
      </p:pic>
      <p:sp>
        <p:nvSpPr>
          <p:cNvPr id="17" name="6c812ecc-0431-45e8-b829-328f2e4edeb7"/>
          <p:cNvSpPr/>
          <p:nvPr/>
        </p:nvSpPr>
        <p:spPr>
          <a:xfrm>
            <a:off x="4297680" y="2728701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18" name="88512cf2-ec0b-4f33-b3f5-4ddb088db602"/>
          <p:cNvSpPr/>
          <p:nvPr/>
        </p:nvSpPr>
        <p:spPr>
          <a:xfrm>
            <a:off x="69494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9" name="95c9683a-f851-4fbe-b098-049e34a60802"/>
          <p:cNvSpPr/>
          <p:nvPr/>
        </p:nvSpPr>
        <p:spPr>
          <a:xfrm>
            <a:off x="70408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0" name="fc205a73-bcd6-45ae-89d9-274678d7d127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145487" y="2825769"/>
            <a:ext cx="266273" cy="266273"/>
          </a:xfrm>
          <a:prstGeom prst="rect">
            <a:avLst/>
          </a:prstGeom>
        </p:spPr>
      </p:pic>
      <p:sp>
        <p:nvSpPr>
          <p:cNvPr id="21" name="3f9df918-5b6b-4366-9176-72b32a54a132"/>
          <p:cNvSpPr/>
          <p:nvPr/>
        </p:nvSpPr>
        <p:spPr>
          <a:xfrm>
            <a:off x="75895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22" name="ec5bf678-748b-41d0-b3fd-64a6f955bfd3"/>
          <p:cNvSpPr/>
          <p:nvPr/>
        </p:nvSpPr>
        <p:spPr>
          <a:xfrm>
            <a:off x="2377440" y="2957796"/>
            <a:ext cx="128016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3c9cec26-78d0-4eb7-b6c7-720f7f9bdb3d"/>
          <p:cNvSpPr/>
          <p:nvPr/>
        </p:nvSpPr>
        <p:spPr>
          <a:xfrm>
            <a:off x="5760720" y="2957796"/>
            <a:ext cx="11887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4" name="f963dd16-1c84-413c-8cc7-f2686a85b5c8"/>
          <p:cNvSpPr/>
          <p:nvPr/>
        </p:nvSpPr>
        <p:spPr>
          <a:xfrm>
            <a:off x="1554480" y="3339619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Basic(AD 帳密)</a:t>
            </a:r>
            <a:endParaRPr lang="en-US" sz="1000" dirty="0"/>
          </a:p>
        </p:txBody>
      </p:sp>
      <p:sp>
        <p:nvSpPr>
          <p:cNvPr id="25" name="1eab8741-a297-498a-8cf2-ed75eb958738"/>
          <p:cNvSpPr/>
          <p:nvPr/>
        </p:nvSpPr>
        <p:spPr>
          <a:xfrm>
            <a:off x="5532120" y="3339619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OAUTHBEARER(帶 token)</a:t>
            </a:r>
            <a:endParaRPr lang="en-US" sz="1000" dirty="0"/>
          </a:p>
        </p:txBody>
      </p:sp>
      <p:sp>
        <p:nvSpPr>
          <p:cNvPr id="26" name="63ac89c1-dcfd-4386-858f-192eb23b94dc"/>
          <p:cNvSpPr/>
          <p:nvPr/>
        </p:nvSpPr>
        <p:spPr>
          <a:xfrm>
            <a:off x="8915400" y="2703246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27" name="a17477bc-73da-4b17-add3-9cba0b7e0829"/>
          <p:cNvSpPr/>
          <p:nvPr/>
        </p:nvSpPr>
        <p:spPr>
          <a:xfrm>
            <a:off x="548640" y="3636594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機器(legacy app)</a:t>
            </a:r>
            <a:endParaRPr lang="en-US" sz="1400" dirty="0"/>
          </a:p>
        </p:txBody>
      </p:sp>
      <p:sp>
        <p:nvSpPr>
          <p:cNvPr id="28" name="9c1c30eb-119a-4677-8a62-ce8c22a9d2e7"/>
          <p:cNvSpPr/>
          <p:nvPr/>
        </p:nvSpPr>
        <p:spPr>
          <a:xfrm>
            <a:off x="3657600" y="3959022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9" name="bf97d16f-11b9-4b2e-9083-57f5d3dab64c"/>
          <p:cNvSpPr/>
          <p:nvPr/>
        </p:nvSpPr>
        <p:spPr>
          <a:xfrm>
            <a:off x="3749040" y="4026902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0" name="6a2ca42b-5ab1-4f3b-8acf-d4b1a67f1cc5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41577" y="4112770"/>
            <a:ext cx="235549" cy="235549"/>
          </a:xfrm>
          <a:prstGeom prst="rect">
            <a:avLst/>
          </a:prstGeom>
        </p:spPr>
      </p:pic>
      <p:sp>
        <p:nvSpPr>
          <p:cNvPr id="31" name="0785e70e-60e1-4fe1-b688-4c6d7f8dd82f"/>
          <p:cNvSpPr/>
          <p:nvPr/>
        </p:nvSpPr>
        <p:spPr>
          <a:xfrm>
            <a:off x="4251960" y="4026902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32" name="53d2709a-c33f-46e7-ad5c-5d00f864982e"/>
          <p:cNvSpPr/>
          <p:nvPr/>
        </p:nvSpPr>
        <p:spPr>
          <a:xfrm flipV="1">
            <a:off x="43434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3" name="4de54277-afc5-4a26-b6a0-04970e34ed29"/>
          <p:cNvSpPr/>
          <p:nvPr/>
        </p:nvSpPr>
        <p:spPr>
          <a:xfrm>
            <a:off x="50292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4" name="f8f14a93-f7bb-4bfb-a519-ad8eb43343c5"/>
          <p:cNvSpPr/>
          <p:nvPr/>
        </p:nvSpPr>
        <p:spPr>
          <a:xfrm>
            <a:off x="5852160" y="3891143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5" name="3f50f2db-92d7-4f32-bc83-979d4312b348"/>
          <p:cNvSpPr/>
          <p:nvPr/>
        </p:nvSpPr>
        <p:spPr>
          <a:xfrm>
            <a:off x="5486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5b31c657-de46-4128-a49f-a8e7d07d2940"/>
          <p:cNvSpPr/>
          <p:nvPr/>
        </p:nvSpPr>
        <p:spPr>
          <a:xfrm>
            <a:off x="6400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af4eeaa1-cf9e-4232-bb08-9357b0866df4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44687" y="4862163"/>
            <a:ext cx="266273" cy="266273"/>
          </a:xfrm>
          <a:prstGeom prst="rect">
            <a:avLst/>
          </a:prstGeom>
        </p:spPr>
      </p:pic>
      <p:sp>
        <p:nvSpPr>
          <p:cNvPr id="38" name="8963cdb4-7421-4f30-b8be-6f85ab549bf2"/>
          <p:cNvSpPr/>
          <p:nvPr/>
        </p:nvSpPr>
        <p:spPr>
          <a:xfrm>
            <a:off x="11887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</p:txBody>
      </p:sp>
      <p:sp>
        <p:nvSpPr>
          <p:cNvPr id="39" name="5e5f8b1b-7789-4604-ae9c-6f1ef1db3e8b"/>
          <p:cNvSpPr/>
          <p:nvPr/>
        </p:nvSpPr>
        <p:spPr>
          <a:xfrm>
            <a:off x="3657600" y="4654790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0" name="b8778b4f-9d77-4a7c-9429-b87617903f7c"/>
          <p:cNvSpPr/>
          <p:nvPr/>
        </p:nvSpPr>
        <p:spPr>
          <a:xfrm>
            <a:off x="374904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1" name="85a43295-f200-4cfb-820d-debd0f16601c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3853647" y="4862163"/>
            <a:ext cx="266273" cy="266273"/>
          </a:xfrm>
          <a:prstGeom prst="rect">
            <a:avLst/>
          </a:prstGeom>
        </p:spPr>
      </p:pic>
      <p:sp>
        <p:nvSpPr>
          <p:cNvPr id="42" name="0496bb2b-9fdc-4908-ac6c-069d88e3a87d"/>
          <p:cNvSpPr/>
          <p:nvPr/>
        </p:nvSpPr>
        <p:spPr>
          <a:xfrm>
            <a:off x="4297680" y="4765095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43" name="80c1506f-5582-45f9-8230-1cd6dc64e24c"/>
          <p:cNvSpPr/>
          <p:nvPr/>
        </p:nvSpPr>
        <p:spPr>
          <a:xfrm>
            <a:off x="69494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4" name="6e4846b9-fc03-4fdf-8a9a-5bb938ded8b7"/>
          <p:cNvSpPr/>
          <p:nvPr/>
        </p:nvSpPr>
        <p:spPr>
          <a:xfrm>
            <a:off x="70408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5" name="a47cc401-afd8-4d31-9df1-8b20f64e6d30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145487" y="4862163"/>
            <a:ext cx="266273" cy="266273"/>
          </a:xfrm>
          <a:prstGeom prst="rect">
            <a:avLst/>
          </a:prstGeom>
        </p:spPr>
      </p:pic>
      <p:sp>
        <p:nvSpPr>
          <p:cNvPr id="46" name="fe0455fd-e38a-41f4-8142-e7d632e2fafd"/>
          <p:cNvSpPr/>
          <p:nvPr/>
        </p:nvSpPr>
        <p:spPr>
          <a:xfrm>
            <a:off x="75895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47" name="e604ef16-3d47-4156-b31a-4fe88fd5cb0f"/>
          <p:cNvSpPr/>
          <p:nvPr/>
        </p:nvSpPr>
        <p:spPr>
          <a:xfrm>
            <a:off x="2377440" y="4994189"/>
            <a:ext cx="128016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8" name="56ac93c0-f1c2-447f-8211-5bf2b47b6238"/>
          <p:cNvSpPr/>
          <p:nvPr/>
        </p:nvSpPr>
        <p:spPr>
          <a:xfrm>
            <a:off x="5760720" y="4994189"/>
            <a:ext cx="11887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9" name="2dafc439-784c-436b-a9e4-a80465a99c7b"/>
          <p:cNvSpPr/>
          <p:nvPr/>
        </p:nvSpPr>
        <p:spPr>
          <a:xfrm>
            <a:off x="1554480" y="5376013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client 憑證(CN)→ 對映成主體</a:t>
            </a:r>
            <a:endParaRPr lang="en-US" sz="1000" dirty="0"/>
          </a:p>
        </p:txBody>
      </p:sp>
      <p:sp>
        <p:nvSpPr>
          <p:cNvPr id="50" name="d7207d5b-6f80-42c1-9150-33579129bb3a"/>
          <p:cNvSpPr/>
          <p:nvPr/>
        </p:nvSpPr>
        <p:spPr>
          <a:xfrm>
            <a:off x="5532120" y="5376013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⑤ OAUTHBEARER(帶 token)</a:t>
            </a:r>
            <a:endParaRPr lang="en-US" sz="1000" dirty="0"/>
          </a:p>
        </p:txBody>
      </p:sp>
      <p:sp>
        <p:nvSpPr>
          <p:cNvPr id="51" name="22c4d642-1500-423e-bf0c-8b2d1b448479"/>
          <p:cNvSpPr/>
          <p:nvPr/>
        </p:nvSpPr>
        <p:spPr>
          <a:xfrm>
            <a:off x="8915400" y="4739640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52" name="3dfe15b4-5cc7-4652-af05-c389ca332ba2"/>
          <p:cNvSpPr/>
          <p:nvPr/>
        </p:nvSpPr>
        <p:spPr>
          <a:xfrm>
            <a:off x="548640" y="5715412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端 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3" name="84f59d78-b6c9-4fb3-97d5-e62041073d3c"/>
          <p:cNvSpPr/>
          <p:nvPr/>
        </p:nvSpPr>
        <p:spPr>
          <a:xfrm>
            <a:off x="548640" y="6063296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Center:人用本人身分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C3 自己的背景工作才用憑證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f91e022-686f-40c2-92a6-8699d128122f"/>
          <p:cNvSpPr/>
          <p:nvPr/>
        </p:nvSpPr>
        <p:spPr>
          <a:xfrm>
            <a:off x="548640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e765e13e-54dd-4732-ae5f-baea86f5cff2"/>
          <p:cNvSpPr/>
          <p:nvPr/>
        </p:nvSpPr>
        <p:spPr>
          <a:xfrm>
            <a:off x="658368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2c12ab53-1350-4cb3-8e2f-69d94289e9a6"/>
          <p:cNvSpPr/>
          <p:nvPr/>
        </p:nvSpPr>
        <p:spPr>
          <a:xfrm>
            <a:off x="640080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登入</a:t>
            </a:r>
            <a:endParaRPr lang="en-US" sz="1400" dirty="0"/>
          </a:p>
        </p:txBody>
      </p:sp>
      <p:sp>
        <p:nvSpPr>
          <p:cNvPr id="5" name="e0631d04-9dda-4d7f-81e8-77d14b0fbaa3"/>
          <p:cNvSpPr/>
          <p:nvPr/>
        </p:nvSpPr>
        <p:spPr>
          <a:xfrm>
            <a:off x="640080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瀏覽器送 AD 帳密</a:t>
            </a:r>
            <a:endParaRPr lang="en-US" sz="1100" dirty="0"/>
          </a:p>
        </p:txBody>
      </p:sp>
      <p:sp>
        <p:nvSpPr>
          <p:cNvPr id="6" name="a3d56b4c-a4b0-4956-9105-2fe72a517cc2"/>
          <p:cNvSpPr/>
          <p:nvPr/>
        </p:nvSpPr>
        <p:spPr>
          <a:xfrm>
            <a:off x="2560320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7" name="85cc0a0f-4837-4560-ac8b-6dd49e84775f"/>
          <p:cNvSpPr/>
          <p:nvPr/>
        </p:nvSpPr>
        <p:spPr>
          <a:xfrm>
            <a:off x="2816352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0bda6ecf-d33e-4fe5-8ff4-6ce3aab21b57"/>
          <p:cNvSpPr/>
          <p:nvPr/>
        </p:nvSpPr>
        <p:spPr>
          <a:xfrm>
            <a:off x="2926080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5955df39-0078-43cd-bd44-2f248308f6cc"/>
          <p:cNvSpPr/>
          <p:nvPr/>
        </p:nvSpPr>
        <p:spPr>
          <a:xfrm>
            <a:off x="2907792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轉給 MDS</a:t>
            </a:r>
            <a:endParaRPr lang="en-US" sz="1400" dirty="0"/>
          </a:p>
        </p:txBody>
      </p:sp>
      <p:sp>
        <p:nvSpPr>
          <p:cNvPr id="10" name="e637ac71-b277-4166-a2a2-fac90c348424"/>
          <p:cNvSpPr/>
          <p:nvPr/>
        </p:nvSpPr>
        <p:spPr>
          <a:xfrm>
            <a:off x="2907792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向 AD 驗證</a:t>
            </a:r>
            <a:endParaRPr lang="en-US" sz="1100" dirty="0"/>
          </a:p>
        </p:txBody>
      </p:sp>
      <p:sp>
        <p:nvSpPr>
          <p:cNvPr id="11" name="5ca05972-7464-4755-a5bc-1aa5e4c9b027"/>
          <p:cNvSpPr/>
          <p:nvPr/>
        </p:nvSpPr>
        <p:spPr>
          <a:xfrm>
            <a:off x="4828032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d9afce3d-cd54-4881-9c2e-f4d0b5292664"/>
          <p:cNvSpPr/>
          <p:nvPr/>
        </p:nvSpPr>
        <p:spPr>
          <a:xfrm>
            <a:off x="5084064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f21fbb6f-ccd7-429c-be18-404e349210b3"/>
          <p:cNvSpPr/>
          <p:nvPr/>
        </p:nvSpPr>
        <p:spPr>
          <a:xfrm>
            <a:off x="5193792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ac198d8f-e7d8-4848-97b7-22172c7f0a97"/>
          <p:cNvSpPr/>
          <p:nvPr/>
        </p:nvSpPr>
        <p:spPr>
          <a:xfrm>
            <a:off x="5175504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400" dirty="0"/>
          </a:p>
        </p:txBody>
      </p:sp>
      <p:sp>
        <p:nvSpPr>
          <p:cNvPr id="15" name="29b4a8ed-067e-4429-9d43-30f6890e82d8"/>
          <p:cNvSpPr/>
          <p:nvPr/>
        </p:nvSpPr>
        <p:spPr>
          <a:xfrm>
            <a:off x="5175504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壽命可設(demo 1 小時)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登入上限預設 6 小時</a:t>
            </a:r>
            <a:endParaRPr lang="en-US" sz="1100" dirty="0"/>
          </a:p>
        </p:txBody>
      </p:sp>
      <p:sp>
        <p:nvSpPr>
          <p:cNvPr id="16" name="2d58093d-1136-4315-a716-a497ab1fe7f0"/>
          <p:cNvSpPr/>
          <p:nvPr/>
        </p:nvSpPr>
        <p:spPr>
          <a:xfrm>
            <a:off x="7095744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671b961e-a48c-4dc3-889e-72dd6fc6ce4d"/>
          <p:cNvSpPr/>
          <p:nvPr/>
        </p:nvSpPr>
        <p:spPr>
          <a:xfrm>
            <a:off x="7351776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8de3ff66-bd62-42c9-bf1f-dad175ce4b92"/>
          <p:cNvSpPr/>
          <p:nvPr/>
        </p:nvSpPr>
        <p:spPr>
          <a:xfrm>
            <a:off x="7461504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90ba32fa-2ee1-4056-89e4-c9fa434ebb90"/>
          <p:cNvSpPr/>
          <p:nvPr/>
        </p:nvSpPr>
        <p:spPr>
          <a:xfrm>
            <a:off x="7443216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之後帶 Bearer</a:t>
            </a:r>
            <a:endParaRPr lang="en-US" sz="1400" dirty="0"/>
          </a:p>
        </p:txBody>
      </p:sp>
      <p:sp>
        <p:nvSpPr>
          <p:cNvPr id="20" name="d84169d8-ba61-4a20-b2a5-f90c1c76fff8"/>
          <p:cNvSpPr/>
          <p:nvPr/>
        </p:nvSpPr>
        <p:spPr>
          <a:xfrm>
            <a:off x="7443216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優先看 Bearer(實測)</a:t>
            </a:r>
            <a:endParaRPr lang="en-US" sz="1100" dirty="0"/>
          </a:p>
        </p:txBody>
      </p:sp>
      <p:sp>
        <p:nvSpPr>
          <p:cNvPr id="21" name="c2bbb48c-5161-4081-a704-1a9eab62329c"/>
          <p:cNvSpPr/>
          <p:nvPr/>
        </p:nvSpPr>
        <p:spPr>
          <a:xfrm>
            <a:off x="9363456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3314d4ca-e7d8-49ae-b3df-daff2dbf4fc3"/>
          <p:cNvSpPr/>
          <p:nvPr/>
        </p:nvSpPr>
        <p:spPr>
          <a:xfrm>
            <a:off x="9619488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50620d48-f25f-46d9-917b-c39a95e7ec0d"/>
          <p:cNvSpPr/>
          <p:nvPr/>
        </p:nvSpPr>
        <p:spPr>
          <a:xfrm>
            <a:off x="9729216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25884ab5-e70b-4904-b6b1-62a4acb26752"/>
          <p:cNvSpPr/>
          <p:nvPr/>
        </p:nvSpPr>
        <p:spPr>
          <a:xfrm>
            <a:off x="9710928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驗章 + 查範圍</a:t>
            </a:r>
            <a:endParaRPr lang="en-US" sz="1400" dirty="0"/>
          </a:p>
        </p:txBody>
      </p:sp>
      <p:sp>
        <p:nvSpPr>
          <p:cNvPr id="25" name="334f8297-078e-4dff-9307-8e94e6a1d786"/>
          <p:cNvSpPr/>
          <p:nvPr/>
        </p:nvSpPr>
        <p:spPr>
          <a:xfrm>
            <a:off x="9710928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本地驗章(實測推論)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再向 MDS 查權限</a:t>
            </a:r>
            <a:endParaRPr lang="en-US" sz="1100" dirty="0"/>
          </a:p>
        </p:txBody>
      </p:sp>
      <p:sp>
        <p:nvSpPr>
          <p:cNvPr id="26" name="347e315f-734c-488f-bae7-a3b735c76501"/>
          <p:cNvSpPr/>
          <p:nvPr/>
        </p:nvSpPr>
        <p:spPr>
          <a:xfrm>
            <a:off x="548640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3cace297-c77f-4bad-a193-9c6037b91831"/>
          <p:cNvSpPr/>
          <p:nvPr/>
        </p:nvSpPr>
        <p:spPr>
          <a:xfrm>
            <a:off x="731520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42c45142-4f5e-48d9-8306-2bca3647086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3936962"/>
            <a:ext cx="358445" cy="358445"/>
          </a:xfrm>
          <a:prstGeom prst="rect">
            <a:avLst/>
          </a:prstGeom>
        </p:spPr>
      </p:pic>
      <p:sp>
        <p:nvSpPr>
          <p:cNvPr id="29" name="ba4eae6a-81a8-4278-997c-c4a912c64094"/>
          <p:cNvSpPr/>
          <p:nvPr/>
        </p:nvSpPr>
        <p:spPr>
          <a:xfrm>
            <a:off x="1508760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主體 = User:gary / ming</a:t>
            </a:r>
            <a:endParaRPr lang="en-US" sz="1500" dirty="0"/>
          </a:p>
        </p:txBody>
      </p:sp>
      <p:sp>
        <p:nvSpPr>
          <p:cNvPr id="30" name="51431c4c-a07c-43b3-abef-d08c9455233b"/>
          <p:cNvSpPr/>
          <p:nvPr/>
        </p:nvSpPr>
        <p:spPr>
          <a:xfrm>
            <a:off x="6199632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1" name="36a60019-8ed0-4cbc-b8e2-7cd4e0dd3c5b"/>
          <p:cNvSpPr/>
          <p:nvPr/>
        </p:nvSpPr>
        <p:spPr>
          <a:xfrm>
            <a:off x="6382512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2" name="cde0c8db-9cea-455e-9dff-0b3c27de283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3936962"/>
            <a:ext cx="358445" cy="358445"/>
          </a:xfrm>
          <a:prstGeom prst="rect">
            <a:avLst/>
          </a:prstGeom>
        </p:spPr>
      </p:pic>
      <p:sp>
        <p:nvSpPr>
          <p:cNvPr id="33" name="e64192b6-7ece-4414-9fb9-2970c3881c6d"/>
          <p:cNvSpPr/>
          <p:nvPr/>
        </p:nvSpPr>
        <p:spPr>
          <a:xfrm>
            <a:off x="7159752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官方要求 SystemAdmin</a:t>
            </a:r>
            <a:endParaRPr lang="en-US" sz="1500" dirty="0"/>
          </a:p>
        </p:txBody>
      </p:sp>
      <p:sp>
        <p:nvSpPr>
          <p:cNvPr id="34" name="0f820ab7-12a8-45b1-bff9-9ea58e4c374f"/>
          <p:cNvSpPr/>
          <p:nvPr/>
        </p:nvSpPr>
        <p:spPr>
          <a:xfrm>
            <a:off x="548640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5" name="cfec1a29-dcc0-454d-a81f-6ee7f4e3e7c7"/>
          <p:cNvSpPr/>
          <p:nvPr/>
        </p:nvSpPr>
        <p:spPr>
          <a:xfrm>
            <a:off x="6199632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6" name="4a263597-f22e-4512-918a-4c11d5c1899c"/>
          <p:cNvSpPr/>
          <p:nvPr/>
        </p:nvSpPr>
        <p:spPr>
          <a:xfrm>
            <a:off x="548640" y="5800262"/>
            <a:ext cx="110916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周邊:Prometheus · Alertmanager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認證現況與可啟用的保護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99460a0-e024-40c4-b3e7-284d5703927a"/>
          <p:cNvSpPr/>
          <p:nvPr/>
        </p:nvSpPr>
        <p:spPr>
          <a:xfrm>
            <a:off x="5486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05ac54b-c3c0-4ac7-a68f-d82f61949481"/>
          <p:cNvSpPr/>
          <p:nvPr/>
        </p:nvSpPr>
        <p:spPr>
          <a:xfrm>
            <a:off x="1645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19e1a1f3-9bf9-4854-ab8e-f60395e32c1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66751"/>
            <a:ext cx="307238" cy="307238"/>
          </a:xfrm>
          <a:prstGeom prst="rect">
            <a:avLst/>
          </a:prstGeom>
        </p:spPr>
      </p:pic>
      <p:sp>
        <p:nvSpPr>
          <p:cNvPr id="5" name="91f647b7-79ee-4f8a-b9d9-84c976d580ee"/>
          <p:cNvSpPr/>
          <p:nvPr/>
        </p:nvSpPr>
        <p:spPr>
          <a:xfrm>
            <a:off x="6217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6" name="1246488b-f41a-4722-8575-0ecbf3a0b58b"/>
          <p:cNvSpPr/>
          <p:nvPr/>
        </p:nvSpPr>
        <p:spPr>
          <a:xfrm>
            <a:off x="6400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 2.x</a:t>
            </a:r>
            <a:endParaRPr lang="en-US" sz="1100" dirty="0"/>
          </a:p>
        </p:txBody>
      </p:sp>
      <p:sp>
        <p:nvSpPr>
          <p:cNvPr id="7" name="8662fcc3-2545-4528-af16-b547cbd7ea17"/>
          <p:cNvSpPr/>
          <p:nvPr/>
        </p:nvSpPr>
        <p:spPr>
          <a:xfrm>
            <a:off x="42062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8a2fc0b2-6088-41f0-b758-652c8e9119d6"/>
          <p:cNvSpPr/>
          <p:nvPr/>
        </p:nvSpPr>
        <p:spPr>
          <a:xfrm>
            <a:off x="53035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a68602d1-7209-4dac-bc8b-41fb270a529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424221" y="1966751"/>
            <a:ext cx="307238" cy="307238"/>
          </a:xfrm>
          <a:prstGeom prst="rect">
            <a:avLst/>
          </a:prstGeom>
        </p:spPr>
      </p:pic>
      <p:sp>
        <p:nvSpPr>
          <p:cNvPr id="10" name="c5bcd988-56da-437d-a94c-7874c13413fa"/>
          <p:cNvSpPr/>
          <p:nvPr/>
        </p:nvSpPr>
        <p:spPr>
          <a:xfrm>
            <a:off x="42793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09eb0e1e-64d0-4a5b-b4ad-1d0d58222fdb"/>
          <p:cNvSpPr/>
          <p:nvPr/>
        </p:nvSpPr>
        <p:spPr>
          <a:xfrm>
            <a:off x="42976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</a:t>
            </a:r>
            <a:endParaRPr lang="en-US" sz="1100" dirty="0"/>
          </a:p>
        </p:txBody>
      </p:sp>
      <p:sp>
        <p:nvSpPr>
          <p:cNvPr id="12" name="da410dcf-d330-448f-b5e2-a28b88d10d80"/>
          <p:cNvSpPr/>
          <p:nvPr/>
        </p:nvSpPr>
        <p:spPr>
          <a:xfrm>
            <a:off x="78638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b434bc1f-16a5-415e-819e-592c00ee2c14"/>
          <p:cNvSpPr/>
          <p:nvPr/>
        </p:nvSpPr>
        <p:spPr>
          <a:xfrm>
            <a:off x="89611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db44e71e-0fc5-4556-accc-8e840a244e6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081821" y="1966751"/>
            <a:ext cx="307238" cy="307238"/>
          </a:xfrm>
          <a:prstGeom prst="rect">
            <a:avLst/>
          </a:prstGeom>
        </p:spPr>
      </p:pic>
      <p:sp>
        <p:nvSpPr>
          <p:cNvPr id="15" name="5ae9899c-38a8-45c3-9398-fb5f0dfa9e5a"/>
          <p:cNvSpPr/>
          <p:nvPr/>
        </p:nvSpPr>
        <p:spPr>
          <a:xfrm>
            <a:off x="79369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3f833314-8d70-47d3-bc6b-486e4566d536"/>
          <p:cNvSpPr/>
          <p:nvPr/>
        </p:nvSpPr>
        <p:spPr>
          <a:xfrm>
            <a:off x="79552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</a:t>
            </a:r>
            <a:endParaRPr lang="en-US" sz="1100" dirty="0"/>
          </a:p>
        </p:txBody>
      </p:sp>
      <p:sp>
        <p:nvSpPr>
          <p:cNvPr id="17" name="9cea432f-5a3b-4559-83ab-53dc8108231b"/>
          <p:cNvSpPr/>
          <p:nvPr/>
        </p:nvSpPr>
        <p:spPr>
          <a:xfrm>
            <a:off x="32918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7adae5f4-cad7-408f-b392-75918d910d07"/>
          <p:cNvSpPr/>
          <p:nvPr/>
        </p:nvSpPr>
        <p:spPr>
          <a:xfrm>
            <a:off x="69494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cfd4748a-64c5-4499-a113-5289b6386249"/>
          <p:cNvSpPr/>
          <p:nvPr/>
        </p:nvSpPr>
        <p:spPr>
          <a:xfrm>
            <a:off x="548640" y="3933568"/>
            <a:ext cx="5486400" cy="1484870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0" name="f6543fa0-955d-41fb-bf18-792862b78ae1"/>
          <p:cNvSpPr/>
          <p:nvPr/>
        </p:nvSpPr>
        <p:spPr>
          <a:xfrm>
            <a:off x="73152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1" name="55e39063-9b60-45e6-9ce0-2421f7145a45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72338" y="4191511"/>
            <a:ext cx="358445" cy="358445"/>
          </a:xfrm>
          <a:prstGeom prst="rect">
            <a:avLst/>
          </a:prstGeom>
        </p:spPr>
      </p:pic>
      <p:sp>
        <p:nvSpPr>
          <p:cNvPr id="22" name="f9c46207-bb1f-420d-bddd-3b1029b736c5"/>
          <p:cNvSpPr/>
          <p:nvPr/>
        </p:nvSpPr>
        <p:spPr>
          <a:xfrm>
            <a:off x="1508760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 demo 未啟用認證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不帶憑證可讀指標;Alertmanager 可無認證建立 / 刪除靜音</a:t>
            </a:r>
            <a:endParaRPr lang="en-US" sz="1400" dirty="0"/>
          </a:p>
        </p:txBody>
      </p:sp>
      <p:sp>
        <p:nvSpPr>
          <p:cNvPr id="23" name="b4b37978-4ac6-4920-a75d-db722c3af139"/>
          <p:cNvSpPr/>
          <p:nvPr/>
        </p:nvSpPr>
        <p:spPr>
          <a:xfrm>
            <a:off x="6199632" y="3933568"/>
            <a:ext cx="5440680" cy="1484870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0410fa87-e17d-4245-86eb-f50b01f33fa1"/>
          <p:cNvSpPr/>
          <p:nvPr/>
        </p:nvSpPr>
        <p:spPr>
          <a:xfrm>
            <a:off x="6382512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5" name="15d1895f-08ca-44ec-b6a1-224511f36989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23330" y="4191511"/>
            <a:ext cx="358445" cy="358445"/>
          </a:xfrm>
          <a:prstGeom prst="rect">
            <a:avLst/>
          </a:prstGeom>
        </p:spPr>
      </p:pic>
      <p:sp>
        <p:nvSpPr>
          <p:cNvPr id="26" name="594e0c78-5f77-4adc-87ef-1480084d5eca"/>
          <p:cNvSpPr/>
          <p:nvPr/>
        </p:nvSpPr>
        <p:spPr>
          <a:xfrm>
            <a:off x="7159752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官方支援 TLS + HTTP Basic(7.5 以後)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建議正式環境啟用;客戶希望憑證越少越好 → 共用 server 憑證做 TLS + Basic 帳密</a:t>
            </a:r>
            <a:endParaRPr lang="en-US" sz="1400" dirty="0"/>
          </a:p>
        </p:txBody>
      </p:sp>
      <p:sp>
        <p:nvSpPr>
          <p:cNvPr id="27" name="37c69671-8364-4460-826d-ab8bafa8d2c1"/>
          <p:cNvSpPr/>
          <p:nvPr/>
        </p:nvSpPr>
        <p:spPr>
          <a:xfrm>
            <a:off x="548640" y="5630562"/>
            <a:ext cx="749808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Schema Registry 未部署 → confluent.controlcenter.schema.registry.enable=false</a:t>
            </a:r>
            <a:endParaRPr lang="en-US" sz="1150" dirty="0"/>
          </a:p>
        </p:txBody>
      </p:sp>
      <p:sp>
        <p:nvSpPr>
          <p:cNvPr id="28" name="bd15eb45-fb21-441a-8be1-86a76d2ad0b7"/>
          <p:cNvSpPr/>
          <p:nvPr/>
        </p:nvSpPr>
        <p:spPr>
          <a:xfrm>
            <a:off x="8229600" y="5630562"/>
            <a:ext cx="341071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啟用後的實測:尚未做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log:誰被拒、誰改了授權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預設只記錄 Management 與 Authorize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5aeb342-70ea-4918-b1e0-12d3b921fc73"/>
          <p:cNvSpPr/>
          <p:nvPr/>
        </p:nvSpPr>
        <p:spPr>
          <a:xfrm>
            <a:off x="548640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" name="06458979-7b83-4bec-a7f7-1387483b3f9a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" name="d2a48c4a-3845-47b8-9f67-088b2ca1d58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760aadf9-5295-43dc-be25-fa0625135384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官方預設</a:t>
            </a:r>
            <a:endParaRPr lang="en-US" sz="1600" dirty="0"/>
          </a:p>
        </p:txBody>
      </p:sp>
      <p:sp>
        <p:nvSpPr>
          <p:cNvPr id="6" name="d50cb8ed-03b2-481c-9bf0-71cae51e8be2"/>
          <p:cNvSpPr/>
          <p:nvPr/>
        </p:nvSpPr>
        <p:spPr>
          <a:xfrm>
            <a:off x="640080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confluent-audit-log-events</a:t>
            </a:r>
            <a:endParaRPr lang="en-US" sz="1200" dirty="0"/>
          </a:p>
        </p:txBody>
      </p:sp>
      <p:sp>
        <p:nvSpPr>
          <p:cNvPr id="7" name="248dd5e6-4a7d-4a96-8d7e-485a4bfa193e"/>
          <p:cNvSpPr/>
          <p:nvPr/>
        </p:nvSpPr>
        <p:spPr>
          <a:xfrm>
            <a:off x="4325112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81c175c9-f6f1-4983-9775-e05494ac680e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62be1d66-a33d-4523-bb4c-6a7f8d91d72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f18243d2-7bae-400d-809e-e80b4c6684fa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自訂 router</a:t>
            </a:r>
            <a:endParaRPr lang="en-US" sz="1600" dirty="0"/>
          </a:p>
        </p:txBody>
      </p:sp>
      <p:sp>
        <p:nvSpPr>
          <p:cNvPr id="11" name="8b702985-be6a-4ce1-baed-ec6f7a6e893a"/>
          <p:cNvSpPr/>
          <p:nvPr/>
        </p:nvSpPr>
        <p:spPr>
          <a:xfrm>
            <a:off x="4416552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被允許的 consume 不記(避免洗版)</a:t>
            </a:r>
            <a:endParaRPr lang="en-US" sz="1200" dirty="0"/>
          </a:p>
        </p:txBody>
      </p:sp>
      <p:sp>
        <p:nvSpPr>
          <p:cNvPr id="12" name="b9bf6c0c-21ac-4cda-b2b0-441b7c0dca89"/>
          <p:cNvSpPr/>
          <p:nvPr/>
        </p:nvSpPr>
        <p:spPr>
          <a:xfrm>
            <a:off x="8101584" y="1727475"/>
            <a:ext cx="3538728" cy="216366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3" name="85ed4d7c-e661-4f80-9148-ed8f9ca5773a"/>
          <p:cNvSpPr/>
          <p:nvPr/>
        </p:nvSpPr>
        <p:spPr>
          <a:xfrm>
            <a:off x="9596628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df2fccb3-a74d-4165-870f-aea62355ba1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66751"/>
            <a:ext cx="307238" cy="307238"/>
          </a:xfrm>
          <a:prstGeom prst="rect">
            <a:avLst/>
          </a:prstGeom>
        </p:spPr>
      </p:pic>
      <p:sp>
        <p:nvSpPr>
          <p:cNvPr id="15" name="f23c6b07-f175-4239-9fbe-906634b86532"/>
          <p:cNvSpPr/>
          <p:nvPr/>
        </p:nvSpPr>
        <p:spPr>
          <a:xfrm>
            <a:off x="8174736" y="2448697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查不到的</a:t>
            </a:r>
            <a:endParaRPr lang="en-US" sz="1600" dirty="0"/>
          </a:p>
        </p:txBody>
      </p:sp>
      <p:sp>
        <p:nvSpPr>
          <p:cNvPr id="16" name="52456668-e540-4eed-a35f-24171a52429b"/>
          <p:cNvSpPr/>
          <p:nvPr/>
        </p:nvSpPr>
        <p:spPr>
          <a:xfrm>
            <a:off x="8193024" y="2830521"/>
            <a:ext cx="3355848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 actingPrincipal 為空</a:t>
            </a:r>
            <a:endParaRPr lang="en-US" sz="1200" dirty="0"/>
          </a:p>
        </p:txBody>
      </p:sp>
      <p:sp>
        <p:nvSpPr>
          <p:cNvPr id="17" name="1473c9f5-2494-4808-bd12-cd9ce4caf801"/>
          <p:cNvSpPr/>
          <p:nvPr/>
        </p:nvSpPr>
        <p:spPr>
          <a:xfrm>
            <a:off x="4069080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af030777-7038-455d-8ee5-b8999cefd5b0"/>
          <p:cNvSpPr/>
          <p:nvPr/>
        </p:nvSpPr>
        <p:spPr>
          <a:xfrm>
            <a:off x="7845552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59c48f4a-8b7c-49d0-aa4e-447881bb0a8d"/>
          <p:cNvSpPr/>
          <p:nvPr/>
        </p:nvSpPr>
        <p:spPr>
          <a:xfrm>
            <a:off x="548640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能看到:誰被拒(需自訂 router)</a:t>
            </a:r>
            <a:endParaRPr lang="en-US" sz="1250" dirty="0"/>
          </a:p>
        </p:txBody>
      </p:sp>
      <p:sp>
        <p:nvSpPr>
          <p:cNvPr id="20" name="9fe08f10-245c-4841-9baf-b742b9ce882c"/>
          <p:cNvSpPr/>
          <p:nvPr/>
        </p:nvSpPr>
        <p:spPr>
          <a:xfrm>
            <a:off x="6153912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能看到:誰嘗試改授權(DENIED)</a:t>
            </a:r>
            <a:endParaRPr lang="en-US" sz="1250" dirty="0"/>
          </a:p>
        </p:txBody>
      </p:sp>
      <p:sp>
        <p:nvSpPr>
          <p:cNvPr id="21" name="70d219ae-9336-4961-a877-4f408e003c25"/>
          <p:cNvSpPr/>
          <p:nvPr/>
        </p:nvSpPr>
        <p:spPr>
          <a:xfrm>
            <a:off x="548640" y="4697215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2" name="122042dd-d7b0-487c-8ea1-ccae6ee24436"/>
          <p:cNvSpPr/>
          <p:nvPr/>
        </p:nvSpPr>
        <p:spPr>
          <a:xfrm>
            <a:off x="548640" y="52063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3" name="a0a7ddf1-8d6d-40c8-aad2-8a6b676e9895"/>
          <p:cNvSpPr/>
          <p:nvPr/>
        </p:nvSpPr>
        <p:spPr>
          <a:xfrm>
            <a:off x="548640" y="567298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整合起來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全景 · 人與機器的完整路徑 · 要管理的憑證 · 導入步驟 · 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全景整合圖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人與機器如何進入,由 MDS 的 RBAC 集中判斷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022e963-46e1-4b42-9bd6-aea241e768ab"/>
          <p:cNvSpPr/>
          <p:nvPr/>
        </p:nvSpPr>
        <p:spPr>
          <a:xfrm>
            <a:off x="457200" y="1642625"/>
            <a:ext cx="2560320" cy="1824269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18b79b0-2292-4e32-89e9-98341b6429ae"/>
          <p:cNvSpPr/>
          <p:nvPr/>
        </p:nvSpPr>
        <p:spPr>
          <a:xfrm>
            <a:off x="594360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3953a734-7787-4df8-a4b7-5445ca6c9c3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5178" y="1900568"/>
            <a:ext cx="358445" cy="358445"/>
          </a:xfrm>
          <a:prstGeom prst="rect">
            <a:avLst/>
          </a:prstGeom>
        </p:spPr>
      </p:pic>
      <p:sp>
        <p:nvSpPr>
          <p:cNvPr id="5" name="b9befc25-0b7f-491d-b5fd-69fca42e60ac"/>
          <p:cNvSpPr/>
          <p:nvPr/>
        </p:nvSpPr>
        <p:spPr>
          <a:xfrm>
            <a:off x="1325880" y="1769899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800" dirty="0"/>
          </a:p>
        </p:txBody>
      </p:sp>
      <p:sp>
        <p:nvSpPr>
          <p:cNvPr id="6" name="7ca7766a-0cf6-4e93-9856-282ac14ca2b9"/>
          <p:cNvSpPr/>
          <p:nvPr/>
        </p:nvSpPr>
        <p:spPr>
          <a:xfrm>
            <a:off x="594360" y="2491122"/>
            <a:ext cx="233172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身分來自 AD</a:t>
            </a:r>
            <a:endParaRPr lang="en-US" sz="1200" dirty="0"/>
          </a:p>
        </p:txBody>
      </p:sp>
      <p:sp>
        <p:nvSpPr>
          <p:cNvPr id="7" name="da7a7174-d56e-49a2-a54b-a5add46f3065"/>
          <p:cNvSpPr/>
          <p:nvPr/>
        </p:nvSpPr>
        <p:spPr>
          <a:xfrm>
            <a:off x="457200" y="3721443"/>
            <a:ext cx="2560320" cy="18666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44596c6e-06f9-4413-b41a-f2b22bc68826"/>
          <p:cNvSpPr/>
          <p:nvPr/>
        </p:nvSpPr>
        <p:spPr>
          <a:xfrm>
            <a:off x="594360" y="38487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e30abbd1-77bf-42d5-b859-8b8510a71dc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5178" y="3979386"/>
            <a:ext cx="358445" cy="358445"/>
          </a:xfrm>
          <a:prstGeom prst="rect">
            <a:avLst/>
          </a:prstGeom>
        </p:spPr>
      </p:pic>
      <p:sp>
        <p:nvSpPr>
          <p:cNvPr id="10" name="1ce2bebb-bb42-4b66-9b26-99cb8dba1f01"/>
          <p:cNvSpPr/>
          <p:nvPr/>
        </p:nvSpPr>
        <p:spPr>
          <a:xfrm>
            <a:off x="1325880" y="3848718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</a:t>
            </a:r>
            <a:endParaRPr lang="en-US" sz="1800" dirty="0"/>
          </a:p>
        </p:txBody>
      </p:sp>
      <p:sp>
        <p:nvSpPr>
          <p:cNvPr id="11" name="bbecf01e-5fe8-4c3c-b0b7-48bd383c8c28"/>
          <p:cNvSpPr/>
          <p:nvPr/>
        </p:nvSpPr>
        <p:spPr>
          <a:xfrm>
            <a:off x="594360" y="4569941"/>
            <a:ext cx="233172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連 Kafka;憑證連 REST Proxy</a:t>
            </a:r>
            <a:endParaRPr lang="en-US" sz="1200" dirty="0"/>
          </a:p>
        </p:txBody>
      </p:sp>
      <p:sp>
        <p:nvSpPr>
          <p:cNvPr id="12" name="66aca781-9f12-4d85-b944-c5d7f4853d87"/>
          <p:cNvSpPr/>
          <p:nvPr/>
        </p:nvSpPr>
        <p:spPr>
          <a:xfrm>
            <a:off x="3611880" y="1642625"/>
            <a:ext cx="2331720" cy="3945512"/>
          </a:xfrm>
          <a:prstGeom prst="roundRect">
            <a:avLst>
              <a:gd name="adj" fmla="val 9000"/>
            </a:avLst>
          </a:prstGeom>
          <a:solidFill>
            <a:srgbClr val="0F9ED5">
              <a:alpha val="12000"/>
            </a:srgbClr>
          </a:solidFill>
          <a:ln w="19050">
            <a:solidFill>
              <a:srgbClr val="0F9ED5"/>
            </a:solidFill>
            <a:prstDash val="solid"/>
          </a:ln>
        </p:spPr>
      </p:sp>
      <p:sp>
        <p:nvSpPr>
          <p:cNvPr id="13" name="2d47d24f-3c84-423e-ba5b-32c2aa95b966"/>
          <p:cNvSpPr/>
          <p:nvPr/>
        </p:nvSpPr>
        <p:spPr>
          <a:xfrm>
            <a:off x="3611880" y="1702020"/>
            <a:ext cx="2331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F9ED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入口</a:t>
            </a:r>
            <a:endParaRPr lang="en-US" sz="1500" dirty="0"/>
          </a:p>
        </p:txBody>
      </p:sp>
      <p:sp>
        <p:nvSpPr>
          <p:cNvPr id="14" name="f1c4f747-c376-406e-a997-0a4e2226cc41"/>
          <p:cNvSpPr/>
          <p:nvPr/>
        </p:nvSpPr>
        <p:spPr>
          <a:xfrm>
            <a:off x="3794760" y="2109298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→ token</a:t>
            </a:r>
            <a:endParaRPr lang="en-US" sz="1300" dirty="0"/>
          </a:p>
        </p:txBody>
      </p:sp>
      <p:sp>
        <p:nvSpPr>
          <p:cNvPr id="15" name="ad347509-357e-4ccb-a03b-4942522d5e73"/>
          <p:cNvSpPr/>
          <p:nvPr/>
        </p:nvSpPr>
        <p:spPr>
          <a:xfrm>
            <a:off x="3794760" y="3339619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app:憑證</a:t>
            </a:r>
            <a:endParaRPr lang="en-US" sz="1300" dirty="0"/>
          </a:p>
        </p:txBody>
      </p:sp>
      <p:sp>
        <p:nvSpPr>
          <p:cNvPr id="16" name="1d5eb60e-2818-4dd2-b7f7-e4f70e6d7074"/>
          <p:cNvSpPr/>
          <p:nvPr/>
        </p:nvSpPr>
        <p:spPr>
          <a:xfrm>
            <a:off x="3794760" y="4569941"/>
            <a:ext cx="196596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應用:SCRAM</a:t>
            </a:r>
            <a:endParaRPr lang="en-US" sz="1300" dirty="0"/>
          </a:p>
        </p:txBody>
      </p:sp>
      <p:sp>
        <p:nvSpPr>
          <p:cNvPr id="17" name="59b52a17-5ef4-4ae0-a11f-0b5597cc93d2"/>
          <p:cNvSpPr/>
          <p:nvPr/>
        </p:nvSpPr>
        <p:spPr>
          <a:xfrm>
            <a:off x="3017520" y="2703246"/>
            <a:ext cx="59436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8" name="d2d43a3d-f914-42f3-bf30-79bc4a69d85a"/>
          <p:cNvSpPr/>
          <p:nvPr/>
        </p:nvSpPr>
        <p:spPr>
          <a:xfrm>
            <a:off x="3017520" y="4654790"/>
            <a:ext cx="594360" cy="0"/>
          </a:xfrm>
          <a:prstGeom prst="line">
            <a:avLst/>
          </a:prstGeom>
          <a:noFill/>
          <a:ln w="381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bb005ed0-a01c-4238-b67d-39c2073c7c8d"/>
          <p:cNvSpPr/>
          <p:nvPr/>
        </p:nvSpPr>
        <p:spPr>
          <a:xfrm>
            <a:off x="6492240" y="1642625"/>
            <a:ext cx="3566160" cy="3945512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0" name="280b10dd-0eea-45c6-89e8-905e2c5b2b65"/>
          <p:cNvSpPr/>
          <p:nvPr/>
        </p:nvSpPr>
        <p:spPr>
          <a:xfrm>
            <a:off x="6675120" y="1702020"/>
            <a:ext cx="32004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21" name="55f45a6b-0fac-4058-b8cd-d43ff364c1ae"/>
          <p:cNvSpPr/>
          <p:nvPr/>
        </p:nvSpPr>
        <p:spPr>
          <a:xfrm>
            <a:off x="6675120" y="2109298"/>
            <a:ext cx="150876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2" name="d457e853-322c-4e89-96a7-f386b6a01c12"/>
          <p:cNvSpPr/>
          <p:nvPr/>
        </p:nvSpPr>
        <p:spPr>
          <a:xfrm>
            <a:off x="8275320" y="2109298"/>
            <a:ext cx="160020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3" name="bfe97ca3-3064-4bb2-b7ae-58e51769b054"/>
          <p:cNvSpPr/>
          <p:nvPr/>
        </p:nvSpPr>
        <p:spPr>
          <a:xfrm>
            <a:off x="6675120" y="3424469"/>
            <a:ext cx="3200400" cy="6787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controller(正式 3 個)</a:t>
            </a:r>
            <a:endParaRPr lang="en-US" sz="1250" dirty="0"/>
          </a:p>
        </p:txBody>
      </p:sp>
      <p:sp>
        <p:nvSpPr>
          <p:cNvPr id="24" name="9c2810f1-c159-496e-b70d-8a0abc9ef40c"/>
          <p:cNvSpPr/>
          <p:nvPr/>
        </p:nvSpPr>
        <p:spPr>
          <a:xfrm>
            <a:off x="6675120" y="4315391"/>
            <a:ext cx="320040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本地 cache</a:t>
            </a:r>
            <a:endParaRPr lang="en-US" sz="1300" dirty="0"/>
          </a:p>
        </p:txBody>
      </p:sp>
      <p:sp>
        <p:nvSpPr>
          <p:cNvPr id="25" name="f1e901a9-1ae0-45fc-93a7-80057d0b0703"/>
          <p:cNvSpPr/>
          <p:nvPr/>
        </p:nvSpPr>
        <p:spPr>
          <a:xfrm>
            <a:off x="5943600" y="3594169"/>
            <a:ext cx="54864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642e8a57-ea15-40c5-8387-2b5a4561951a"/>
          <p:cNvSpPr/>
          <p:nvPr/>
        </p:nvSpPr>
        <p:spPr>
          <a:xfrm>
            <a:off x="10607040" y="1642625"/>
            <a:ext cx="1143000" cy="1612145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23bc53b0-0068-45d4-a6bf-de0fb4841453"/>
          <p:cNvSpPr/>
          <p:nvPr/>
        </p:nvSpPr>
        <p:spPr>
          <a:xfrm>
            <a:off x="10863072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16b0f364-90ae-40e6-b6b0-5bc231634ce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1003890" y="1900568"/>
            <a:ext cx="358445" cy="358445"/>
          </a:xfrm>
          <a:prstGeom prst="rect">
            <a:avLst/>
          </a:prstGeom>
        </p:spPr>
      </p:pic>
      <p:sp>
        <p:nvSpPr>
          <p:cNvPr id="29" name="2eaa94c3-3627-4d40-bb48-11b34b9e3b6c"/>
          <p:cNvSpPr/>
          <p:nvPr/>
        </p:nvSpPr>
        <p:spPr>
          <a:xfrm>
            <a:off x="10607040" y="2491122"/>
            <a:ext cx="11430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</a:t>
            </a:r>
            <a:endParaRPr lang="en-US" sz="1400" dirty="0"/>
          </a:p>
        </p:txBody>
      </p:sp>
      <p:sp>
        <p:nvSpPr>
          <p:cNvPr id="30" name="0e6652a1-4bcc-4672-bdd5-8a0f0d85637a"/>
          <p:cNvSpPr/>
          <p:nvPr/>
        </p:nvSpPr>
        <p:spPr>
          <a:xfrm>
            <a:off x="10058400" y="2448697"/>
            <a:ext cx="54864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9384b6f5-23a4-445f-8287-6d212ecc5f65"/>
          <p:cNvSpPr/>
          <p:nvPr/>
        </p:nvSpPr>
        <p:spPr>
          <a:xfrm>
            <a:off x="10607040" y="3551744"/>
            <a:ext cx="1143000" cy="20363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2" name="abed4546-61bb-4769-94e8-a31a0976b9a2"/>
          <p:cNvSpPr/>
          <p:nvPr/>
        </p:nvSpPr>
        <p:spPr>
          <a:xfrm>
            <a:off x="10863072" y="36790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3" name="2eadd5c3-d58e-4cc3-8f75-6996e7c7be6a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1003890" y="3809687"/>
            <a:ext cx="358445" cy="358445"/>
          </a:xfrm>
          <a:prstGeom prst="rect">
            <a:avLst/>
          </a:prstGeom>
        </p:spPr>
      </p:pic>
      <p:sp>
        <p:nvSpPr>
          <p:cNvPr id="34" name="52ca1287-3ec4-4a5e-b4aa-87a15dbcbeb4"/>
          <p:cNvSpPr/>
          <p:nvPr/>
        </p:nvSpPr>
        <p:spPr>
          <a:xfrm>
            <a:off x="10607040" y="4357816"/>
            <a:ext cx="114300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(C3 用)</a:t>
            </a:r>
            <a:endParaRPr lang="en-US" sz="1000" dirty="0"/>
          </a:p>
        </p:txBody>
      </p:sp>
      <p:sp>
        <p:nvSpPr>
          <p:cNvPr id="35" name="9e69a4b1-db5b-4d62-8b25-aa6bd545179f"/>
          <p:cNvSpPr/>
          <p:nvPr/>
        </p:nvSpPr>
        <p:spPr>
          <a:xfrm>
            <a:off x="457200" y="5800262"/>
            <a:ext cx="91440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100" dirty="0"/>
          </a:p>
        </p:txBody>
      </p:sp>
      <p:sp>
        <p:nvSpPr>
          <p:cNvPr id="36" name="6f5e3e56-6236-49f0-a2a7-15a339060252"/>
          <p:cNvSpPr/>
          <p:nvPr/>
        </p:nvSpPr>
        <p:spPr>
          <a:xfrm>
            <a:off x="1508760" y="5800262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 / 服務</a:t>
            </a:r>
            <a:endParaRPr lang="en-US" sz="1100" dirty="0"/>
          </a:p>
        </p:txBody>
      </p:sp>
      <p:sp>
        <p:nvSpPr>
          <p:cNvPr id="37" name="097aae4d-9932-412b-a467-bfaa3470b259"/>
          <p:cNvSpPr/>
          <p:nvPr/>
        </p:nvSpPr>
        <p:spPr>
          <a:xfrm>
            <a:off x="32004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 / 平台</a:t>
            </a:r>
            <a:endParaRPr lang="en-US" sz="1100" dirty="0"/>
          </a:p>
        </p:txBody>
      </p:sp>
      <p:sp>
        <p:nvSpPr>
          <p:cNvPr id="38" name="e37b01e3-02ca-4b19-9f1f-fc64220cfc99"/>
          <p:cNvSpPr/>
          <p:nvPr/>
        </p:nvSpPr>
        <p:spPr>
          <a:xfrm>
            <a:off x="48006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 RBAC</a:t>
            </a:r>
            <a:endParaRPr lang="en-US" sz="1100" dirty="0"/>
          </a:p>
        </p:txBody>
      </p:sp>
      <p:sp>
        <p:nvSpPr>
          <p:cNvPr id="39" name="85a5ca2b-815e-48f2-a9a2-831a41cabe84"/>
          <p:cNvSpPr/>
          <p:nvPr/>
        </p:nvSpPr>
        <p:spPr>
          <a:xfrm>
            <a:off x="6583680" y="5800262"/>
            <a:ext cx="5120640" cy="35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授權集中在 MDS 的 RBAC;人綁 AD 群組,服務綁 User: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三條路徑,同一套 AD 群組授權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3636800-aa3a-45e4-b428-d31ddd943a67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cf9da1cb-fe01-4f6c-bb28-a2f051b859ad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665eb902-2ef3-4a6a-85dc-2edaf76c428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cc509527-49dd-4a19-9ac8-ce7c978c531e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</a:t>
            </a:r>
            <a:endParaRPr lang="en-US" sz="1400" dirty="0"/>
          </a:p>
        </p:txBody>
      </p:sp>
      <p:sp>
        <p:nvSpPr>
          <p:cNvPr id="6" name="6b87b8e8-aa6c-420e-814b-0d53f0a3f371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MDS(LDAP)</a:t>
            </a:r>
            <a:endParaRPr lang="en-US" sz="1100" dirty="0"/>
          </a:p>
        </p:txBody>
      </p:sp>
      <p:sp>
        <p:nvSpPr>
          <p:cNvPr id="7" name="b123d7cd-a330-4b2b-8e25-2a57f3d58520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e99f7ccd-7e8d-4d02-99f9-7dc312badd87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(JWT,壽命可設)</a:t>
            </a:r>
            <a:endParaRPr lang="en-US" sz="1100" dirty="0"/>
          </a:p>
        </p:txBody>
      </p:sp>
      <p:sp>
        <p:nvSpPr>
          <p:cNvPr id="9" name="5252e0ec-4e97-4a51-adcb-37c2c0ea6f28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2004c035-096f-466b-bbfa-9d20d18e1fa2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11" name="334d88c9-09ed-4959-b4df-8b8b4c95c34b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13a9b59e-9428-427d-b957-2a23a324ce2f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13" name="133ca8f6-8311-4a4b-989a-03922c72e5df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fa982dae-04fe-4c73-93ae-afa404a20cdd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f1015446-54f5-4ee5-8ac6-6e328d9ccd5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e6a69009-8048-468c-be30-76b5aa5c6d94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17" name="eaaa757e-4489-474e-bce0-d16e1ab30312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</a:t>
            </a:r>
            <a:endParaRPr lang="en-US" sz="1100" dirty="0"/>
          </a:p>
        </p:txBody>
      </p:sp>
      <p:sp>
        <p:nvSpPr>
          <p:cNvPr id="18" name="ddad3ecf-6810-48a7-8d22-3f3917118fc3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3a15e6d5-6b9e-40a6-99c9-cbb6eb1945a5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驗證密碼</a:t>
            </a:r>
            <a:endParaRPr lang="en-US" sz="1100" dirty="0"/>
          </a:p>
        </p:txBody>
      </p:sp>
      <p:sp>
        <p:nvSpPr>
          <p:cNvPr id="20" name="9b673254-cd05-4200-9094-01f8ae286b5f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1" name="0bee0e3f-db23-4711-acaf-2b458434bfc7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本人帳號</a:t>
            </a:r>
            <a:endParaRPr lang="en-US" sz="1100" dirty="0"/>
          </a:p>
        </p:txBody>
      </p:sp>
      <p:sp>
        <p:nvSpPr>
          <p:cNvPr id="22" name="04c93759-05cb-4b0c-a685-f4a55142d69b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f1043b47-f565-4ab2-aa31-264c240a9be1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24" name="fec4fc38-2ec3-4083-867d-300f11aaf714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5" name="a0711025-ab6d-467d-a651-a34eac4929f6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6" name="4009dc2d-99db-4eb1-becf-6a1b4d5fb03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4fc3b1fd-e9af-4840-8ab7-e0411f3e384e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59c80c14-308d-4442-a702-8e554ce059c1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</p:txBody>
      </p:sp>
      <p:sp>
        <p:nvSpPr>
          <p:cNvPr id="29" name="95ced94f-7abb-47c4-a5fd-e59bce1eda5e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0" name="e638fcc0-9a7b-4d8b-8439-e647dcefad7b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驗證 → token</a:t>
            </a:r>
            <a:endParaRPr lang="en-US" sz="1100" dirty="0"/>
          </a:p>
        </p:txBody>
      </p:sp>
      <p:sp>
        <p:nvSpPr>
          <p:cNvPr id="31" name="624777ad-34a2-4c80-b290-cbce40dbb698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b952220a-ff9f-4c09-afd4-9256eb0c4018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33" name="0891418e-23c6-4df6-b29f-e0fd71b6f1cc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4" name="6ddc74aa-6b96-41cf-bc99-b6a8056174c3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35" name="0e7d9515-142c-4ede-9d19-0a1fd5420184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三條路徑最後都由 RBAC 依「AD 群組」授權並留 audit:人員異動只改 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機器的完整路徑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身分在 Kafka 內或憑證,RBAC 綁 User: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b1d9e4f-5dcd-4e4b-9e8a-a750999eefda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54e0737f-630d-4195-bc35-b80d909dfa79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ab212a77-8fea-4434-8f60-26e32a33f26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e13f5991-a47a-47d0-8a23-627ab47247f9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400" dirty="0"/>
          </a:p>
        </p:txBody>
      </p:sp>
      <p:sp>
        <p:nvSpPr>
          <p:cNvPr id="6" name="478aaf74-c425-417a-ab1e-dc6326fb5d12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帳號密碼</a:t>
            </a:r>
            <a:endParaRPr lang="en-US" sz="1100" dirty="0"/>
          </a:p>
        </p:txBody>
      </p:sp>
      <p:sp>
        <p:nvSpPr>
          <p:cNvPr id="7" name="64c961c7-55ba-4f1c-ba88-77985ba8323b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8" name="c8156591-fd7c-47bb-8fca-048fecf09e84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(帳密在 KRaft)</a:t>
            </a:r>
            <a:endParaRPr lang="en-US" sz="1100" dirty="0"/>
          </a:p>
        </p:txBody>
      </p:sp>
      <p:sp>
        <p:nvSpPr>
          <p:cNvPr id="9" name="f4ee7e33-f00d-4fc6-be1f-174bf3d39b43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44fef3f3-2876-4f8f-89cd-ad4ef51baacb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svc-x</a:t>
            </a:r>
            <a:endParaRPr lang="en-US" sz="1100" dirty="0"/>
          </a:p>
        </p:txBody>
      </p:sp>
      <p:sp>
        <p:nvSpPr>
          <p:cNvPr id="11" name="1fa85c78-ec00-44c8-a779-3ed06fe0a90c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fa2bd0cd-b1e2-489b-ac46-9d7c213838b9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User:svc-x</a:t>
            </a:r>
            <a:endParaRPr lang="en-US" sz="1100" dirty="0"/>
          </a:p>
        </p:txBody>
      </p:sp>
      <p:sp>
        <p:nvSpPr>
          <p:cNvPr id="13" name="1c69df4f-40fd-43a2-8d1f-f7a51b4abec4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4" name="4b69ccff-253e-414e-b59e-f0b8ed09b30f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038eb1de-93e7-47eb-8204-2b9dd26133f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7230c8a4-59e8-4d8d-b568-7b5342732ed9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</a:t>
            </a:r>
            <a:endParaRPr lang="en-US" sz="1400" dirty="0"/>
          </a:p>
        </p:txBody>
      </p:sp>
      <p:sp>
        <p:nvSpPr>
          <p:cNvPr id="17" name="61cf8e1e-bbb6-4748-817f-334740e68946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 = 主體)</a:t>
            </a:r>
            <a:endParaRPr lang="en-US" sz="1100" dirty="0"/>
          </a:p>
        </p:txBody>
      </p:sp>
      <p:sp>
        <p:nvSpPr>
          <p:cNvPr id="18" name="b20a99e9-fca8-45dd-94ce-483835488455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64fb63ad-dc9e-485a-b2c2-29d3f8566e0d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/impersonate</a:t>
            </a:r>
            <a:endParaRPr lang="en-US" sz="1100" dirty="0"/>
          </a:p>
        </p:txBody>
      </p:sp>
      <p:sp>
        <p:nvSpPr>
          <p:cNvPr id="20" name="53edc380-baf3-47bd-80dd-ec1ef6c65ac8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141b1b28-0716-44e0-a60c-515c2503f22f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</p:txBody>
      </p:sp>
      <p:sp>
        <p:nvSpPr>
          <p:cNvPr id="22" name="e829548a-339a-4a19-9fb5-42cb48d4a998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3" name="f45df367-9e4a-431b-961b-87b8aeb67d59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User:app</a:t>
            </a:r>
            <a:endParaRPr lang="en-US" sz="1100" dirty="0"/>
          </a:p>
        </p:txBody>
      </p:sp>
      <p:sp>
        <p:nvSpPr>
          <p:cNvPr id="24" name="705a4fdb-f0de-4205-9a72-74404d1e7692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5" name="0e440683-5a7e-4382-ad62-0c21fdcc90e9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24438f28-51a6-47c5-bfd9-940025cc7c1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f49d78c7-f8d0-4e18-921d-76386433c2a7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</a:t>
            </a:r>
            <a:endParaRPr lang="en-US" sz="1400" dirty="0"/>
          </a:p>
        </p:txBody>
      </p:sp>
      <p:sp>
        <p:nvSpPr>
          <p:cNvPr id="28" name="b38c74c7-979e-4b62-a170-259471abfae0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(CN=c3 / restproxy)</a:t>
            </a:r>
            <a:endParaRPr lang="en-US" sz="1100" dirty="0"/>
          </a:p>
        </p:txBody>
      </p:sp>
      <p:sp>
        <p:nvSpPr>
          <p:cNvPr id="29" name="f3082ff0-f843-45ab-80cf-a6e4c58ce815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0" name="a46bd6d6-de65-4842-9d15-73d29de3802f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換 token</a:t>
            </a:r>
            <a:endParaRPr lang="en-US" sz="1100" dirty="0"/>
          </a:p>
        </p:txBody>
      </p:sp>
      <p:sp>
        <p:nvSpPr>
          <p:cNvPr id="31" name="6e3a252c-59a5-44fd-bfe2-c2707e0d2473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2" name="4a141f8b-64c6-4319-9116-537e08bf4bef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C3:SystemAdmin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Proxy:專屬 role</a:t>
            </a:r>
            <a:endParaRPr lang="en-US" sz="1100" dirty="0"/>
          </a:p>
        </p:txBody>
      </p:sp>
      <p:sp>
        <p:nvSpPr>
          <p:cNvPr id="33" name="2084e1f2-30dc-4bf3-9d0c-4fa8e7ed7a03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4" name="37740ce6-df65-443f-a2ac-297e11f0c0ce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防被冒充</a:t>
            </a:r>
            <a:endParaRPr lang="en-US" sz="1100" dirty="0"/>
          </a:p>
        </p:txBody>
      </p:sp>
      <p:sp>
        <p:nvSpPr>
          <p:cNvPr id="35" name="c17ddaa7-d795-423b-b580-35cef9e2f247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機器不進 AD:身分在 Kafka 內(SCRAM)或憑證(CN),RBAC 綁 User:,授權事件皆留 audit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客戶實際要維運的清單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2" name="2ba50fe4-9c51-4f2b-bdba-60fc5d0c22b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 / 備註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所有節點 secrets 目錄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涵蓋全部;逐台換;換 CA 時 truststore 先信任新舊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3(c3 · restproxy · bootstrap)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對應主機;bootstrap 離線保管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CN,CN 不變則不用重綁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可省:若客戶能建專用 AD 帳號,改 Basic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token 簽章金鑰對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私鑰:MDS broker 與 controller;公鑰:broker · REST Proxy · C3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 = 可偽造 token;輪替未驗證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內;密碼放密碼庫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密碼不自動到期 → 輪替流程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唯讀帳號與 LDAPS 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 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設定(權限 600)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 user / group OU;建議 LDAPS;AD 憑證更換時更新信任庫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內部與 break-glass 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+ JAAS 設定檔;bootstrap 密碼封存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kafka-broker · kafka-controller · bootstrap(break-glass);輪替未驗證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人員異動只改 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3e51b16b-7a67-4111-a11f-e32932edfa40"/>
          <p:cNvSpPr/>
          <p:nvPr/>
        </p:nvSpPr>
        <p:spPr>
          <a:xfrm>
            <a:off x="548640" y="584268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最少化:1 server 憑證 + 2 長期 client 憑證 + 1 備用(bootstrap)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導入步驟(RHEL 9 手動部署)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沒有 Ansible:先標準化手動流程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532e8a2-ad11-460e-b539-3de984b433ce"/>
          <p:cNvSpPr/>
          <p:nvPr/>
        </p:nvSpPr>
        <p:spPr>
          <a:xfrm>
            <a:off x="5486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a3ebda38-faf6-4f80-af09-427d9cbc915f"/>
          <p:cNvSpPr/>
          <p:nvPr/>
        </p:nvSpPr>
        <p:spPr>
          <a:xfrm>
            <a:off x="11887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82dbb79e-182f-4264-917d-a9593fdacbc3"/>
          <p:cNvSpPr/>
          <p:nvPr/>
        </p:nvSpPr>
        <p:spPr>
          <a:xfrm>
            <a:off x="10972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03f6a2aa-5810-4b33-bad1-abe1d100a5b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28039" y="2485183"/>
            <a:ext cx="332842" cy="332842"/>
          </a:xfrm>
          <a:prstGeom prst="rect">
            <a:avLst/>
          </a:prstGeom>
        </p:spPr>
      </p:pic>
      <p:sp>
        <p:nvSpPr>
          <p:cNvPr id="6" name="18f2e7a4-42c4-49f7-8455-a7b35ad4f65b"/>
          <p:cNvSpPr/>
          <p:nvPr/>
        </p:nvSpPr>
        <p:spPr>
          <a:xfrm>
            <a:off x="6217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憑證與 truststore</a:t>
            </a:r>
            <a:endParaRPr lang="en-US" sz="1250" dirty="0"/>
          </a:p>
        </p:txBody>
      </p:sp>
      <p:sp>
        <p:nvSpPr>
          <p:cNvPr id="7" name="45b2377d-7156-4083-b2df-7cca2fc1778a"/>
          <p:cNvSpPr/>
          <p:nvPr/>
        </p:nvSpPr>
        <p:spPr>
          <a:xfrm>
            <a:off x="6400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AD 的 LDAPS CA 與 MDS 金鑰對</a:t>
            </a:r>
            <a:endParaRPr lang="en-US" sz="1050" dirty="0"/>
          </a:p>
        </p:txBody>
      </p:sp>
      <p:sp>
        <p:nvSpPr>
          <p:cNvPr id="8" name="1dd93f93-d78a-4663-b27f-0fb878c9d444"/>
          <p:cNvSpPr/>
          <p:nvPr/>
        </p:nvSpPr>
        <p:spPr>
          <a:xfrm>
            <a:off x="224028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7a900604-b1fa-45d1-b453-fcbca90bd2e1"/>
          <p:cNvSpPr/>
          <p:nvPr/>
        </p:nvSpPr>
        <p:spPr>
          <a:xfrm>
            <a:off x="242316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0" name="2303657e-5237-4ec2-97ab-dceebd938a5f"/>
          <p:cNvSpPr/>
          <p:nvPr/>
        </p:nvSpPr>
        <p:spPr>
          <a:xfrm>
            <a:off x="306324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e13203ef-1c95-47df-b42d-d09be6ec8f79"/>
          <p:cNvSpPr/>
          <p:nvPr/>
        </p:nvSpPr>
        <p:spPr>
          <a:xfrm>
            <a:off x="297180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1b3370ee-f33a-4f84-842e-7aa105ee9fe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102559" y="2485183"/>
            <a:ext cx="332842" cy="332842"/>
          </a:xfrm>
          <a:prstGeom prst="rect">
            <a:avLst/>
          </a:prstGeom>
        </p:spPr>
      </p:pic>
      <p:sp>
        <p:nvSpPr>
          <p:cNvPr id="13" name="6c7b1746-c6e6-4002-a88b-f985d3d4da0c"/>
          <p:cNvSpPr/>
          <p:nvPr/>
        </p:nvSpPr>
        <p:spPr>
          <a:xfrm>
            <a:off x="249631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4" name="921b66cc-4de7-4e77-895b-4885527cdbd0"/>
          <p:cNvSpPr/>
          <p:nvPr/>
        </p:nvSpPr>
        <p:spPr>
          <a:xfrm>
            <a:off x="251460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format + add-scram</a:t>
            </a:r>
            <a:endParaRPr lang="en-US" sz="1050" dirty="0"/>
          </a:p>
        </p:txBody>
      </p:sp>
      <p:sp>
        <p:nvSpPr>
          <p:cNvPr id="15" name="fe1f6b90-a51b-4f73-a47d-51dd613f2c5b"/>
          <p:cNvSpPr/>
          <p:nvPr/>
        </p:nvSpPr>
        <p:spPr>
          <a:xfrm>
            <a:off x="411480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cbd6431e-d77e-45b7-97a9-2fdc3e6dcb82"/>
          <p:cNvSpPr/>
          <p:nvPr/>
        </p:nvSpPr>
        <p:spPr>
          <a:xfrm>
            <a:off x="429768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7" name="17a67c4b-f5a9-4062-9516-d428388e8d5b"/>
          <p:cNvSpPr/>
          <p:nvPr/>
        </p:nvSpPr>
        <p:spPr>
          <a:xfrm>
            <a:off x="493776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27789056-67a6-424d-a80b-e5744362997a"/>
          <p:cNvSpPr/>
          <p:nvPr/>
        </p:nvSpPr>
        <p:spPr>
          <a:xfrm>
            <a:off x="484632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d3490f55-7548-4157-88a3-58ef7cc8b17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977079" y="2485183"/>
            <a:ext cx="332842" cy="332842"/>
          </a:xfrm>
          <a:prstGeom prst="rect">
            <a:avLst/>
          </a:prstGeom>
        </p:spPr>
      </p:pic>
      <p:sp>
        <p:nvSpPr>
          <p:cNvPr id="20" name="dc166c69-59e8-4c3b-864e-c279cdc306ca"/>
          <p:cNvSpPr/>
          <p:nvPr/>
        </p:nvSpPr>
        <p:spPr>
          <a:xfrm>
            <a:off x="437083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+ MDS + LDAP</a:t>
            </a:r>
            <a:endParaRPr lang="en-US" sz="1250" dirty="0"/>
          </a:p>
        </p:txBody>
      </p:sp>
      <p:sp>
        <p:nvSpPr>
          <p:cNvPr id="21" name="12ee95bd-4eea-4c68-bc76-f968f6ec98ea"/>
          <p:cNvSpPr/>
          <p:nvPr/>
        </p:nvSpPr>
        <p:spPr>
          <a:xfrm>
            <a:off x="438912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三個入口</a:t>
            </a:r>
            <a:endParaRPr lang="en-US" sz="1050" dirty="0"/>
          </a:p>
        </p:txBody>
      </p:sp>
      <p:sp>
        <p:nvSpPr>
          <p:cNvPr id="22" name="8b8e66e6-0b99-4015-ae21-1b8a02a03435"/>
          <p:cNvSpPr/>
          <p:nvPr/>
        </p:nvSpPr>
        <p:spPr>
          <a:xfrm>
            <a:off x="598932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fb3711b3-cc22-4f3e-966b-d6a248dc0e21"/>
          <p:cNvSpPr/>
          <p:nvPr/>
        </p:nvSpPr>
        <p:spPr>
          <a:xfrm>
            <a:off x="617220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3b07e615-3302-484b-93bb-ed5b916bbf58"/>
          <p:cNvSpPr/>
          <p:nvPr/>
        </p:nvSpPr>
        <p:spPr>
          <a:xfrm>
            <a:off x="681228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c9c9e58f-3969-488e-9209-c03070926e13"/>
          <p:cNvSpPr/>
          <p:nvPr/>
        </p:nvSpPr>
        <p:spPr>
          <a:xfrm>
            <a:off x="672084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77bf7b00-8fd0-44fa-8a44-6a827d346d12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851599" y="2485183"/>
            <a:ext cx="332842" cy="332842"/>
          </a:xfrm>
          <a:prstGeom prst="rect">
            <a:avLst/>
          </a:prstGeom>
        </p:spPr>
      </p:pic>
      <p:sp>
        <p:nvSpPr>
          <p:cNvPr id="27" name="593106f1-7e7a-45b5-ad3e-a03e7bfef186"/>
          <p:cNvSpPr/>
          <p:nvPr/>
        </p:nvSpPr>
        <p:spPr>
          <a:xfrm>
            <a:off x="624535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第一批 role binding</a:t>
            </a:r>
            <a:endParaRPr lang="en-US" sz="1250" dirty="0"/>
          </a:p>
        </p:txBody>
      </p:sp>
      <p:sp>
        <p:nvSpPr>
          <p:cNvPr id="28" name="1b44fd2d-51c8-4427-a9a6-9d7ded14317f"/>
          <p:cNvSpPr/>
          <p:nvPr/>
        </p:nvSpPr>
        <p:spPr>
          <a:xfrm>
            <a:off x="626364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→ kafka-admins</a:t>
            </a:r>
            <a:endParaRPr lang="en-US" sz="1050" dirty="0"/>
          </a:p>
        </p:txBody>
      </p:sp>
      <p:sp>
        <p:nvSpPr>
          <p:cNvPr id="29" name="2637586f-2eee-4541-8de0-6796cb2bcd4c"/>
          <p:cNvSpPr/>
          <p:nvPr/>
        </p:nvSpPr>
        <p:spPr>
          <a:xfrm>
            <a:off x="786384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0" name="7156b75e-b562-47a8-8cb9-a493da145511"/>
          <p:cNvSpPr/>
          <p:nvPr/>
        </p:nvSpPr>
        <p:spPr>
          <a:xfrm>
            <a:off x="804672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1" name="fa26e993-815d-4775-b1a9-88cfb955950d"/>
          <p:cNvSpPr/>
          <p:nvPr/>
        </p:nvSpPr>
        <p:spPr>
          <a:xfrm>
            <a:off x="868680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b32e936b-f28c-48db-bc17-3a6f83b79929"/>
          <p:cNvSpPr/>
          <p:nvPr/>
        </p:nvSpPr>
        <p:spPr>
          <a:xfrm>
            <a:off x="859536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3" name="fdd3cba9-ebd8-4d32-9196-f624591aa51a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726119" y="2485183"/>
            <a:ext cx="332842" cy="332842"/>
          </a:xfrm>
          <a:prstGeom prst="rect">
            <a:avLst/>
          </a:prstGeom>
        </p:spPr>
      </p:pic>
      <p:sp>
        <p:nvSpPr>
          <p:cNvPr id="34" name="dc04eba4-3d4d-4e14-9979-2e588f6e9c71"/>
          <p:cNvSpPr/>
          <p:nvPr/>
        </p:nvSpPr>
        <p:spPr>
          <a:xfrm>
            <a:off x="811987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· C3</a:t>
            </a:r>
            <a:endParaRPr lang="en-US" sz="1250" dirty="0"/>
          </a:p>
        </p:txBody>
      </p:sp>
      <p:sp>
        <p:nvSpPr>
          <p:cNvPr id="35" name="38df7e36-21e1-44f8-8146-ee2a3bc731de"/>
          <p:cNvSpPr/>
          <p:nvPr/>
        </p:nvSpPr>
        <p:spPr>
          <a:xfrm>
            <a:off x="813816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Prometheus + Alertmanager</a:t>
            </a:r>
            <a:endParaRPr lang="en-US" sz="1050" dirty="0"/>
          </a:p>
        </p:txBody>
      </p:sp>
      <p:sp>
        <p:nvSpPr>
          <p:cNvPr id="36" name="cd499a7f-68d9-479a-897f-e92ba7c4b503"/>
          <p:cNvSpPr/>
          <p:nvPr/>
        </p:nvSpPr>
        <p:spPr>
          <a:xfrm>
            <a:off x="973836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7" name="b2b2184f-cb47-428a-8198-43db31036ba7"/>
          <p:cNvSpPr/>
          <p:nvPr/>
        </p:nvSpPr>
        <p:spPr>
          <a:xfrm>
            <a:off x="99212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e28750cc-da19-4577-bdc0-3bc5d26d2ef4"/>
          <p:cNvSpPr/>
          <p:nvPr/>
        </p:nvSpPr>
        <p:spPr>
          <a:xfrm>
            <a:off x="105613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d947cfcf-d904-43da-843b-f80be5e771d9"/>
          <p:cNvSpPr/>
          <p:nvPr/>
        </p:nvSpPr>
        <p:spPr>
          <a:xfrm>
            <a:off x="104698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0830dccf-bcac-47e0-b125-ee87fab711dc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600639" y="2485183"/>
            <a:ext cx="332842" cy="332842"/>
          </a:xfrm>
          <a:prstGeom prst="rect">
            <a:avLst/>
          </a:prstGeom>
        </p:spPr>
      </p:pic>
      <p:sp>
        <p:nvSpPr>
          <p:cNvPr id="41" name="d0afe783-1066-4b33-a6cc-1071333b4d46"/>
          <p:cNvSpPr/>
          <p:nvPr/>
        </p:nvSpPr>
        <p:spPr>
          <a:xfrm>
            <a:off x="99943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與驗證</a:t>
            </a:r>
            <a:endParaRPr lang="en-US" sz="1250" dirty="0"/>
          </a:p>
        </p:txBody>
      </p:sp>
      <p:sp>
        <p:nvSpPr>
          <p:cNvPr id="42" name="9cf2fc10-395f-4646-b2b0-8686a5a9a63e"/>
          <p:cNvSpPr/>
          <p:nvPr/>
        </p:nvSpPr>
        <p:spPr>
          <a:xfrm>
            <a:off x="100126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路由 + 逐項驗證</a:t>
            </a:r>
            <a:endParaRPr lang="en-US" sz="1050" dirty="0"/>
          </a:p>
        </p:txBody>
      </p:sp>
      <p:sp>
        <p:nvSpPr>
          <p:cNvPr id="43" name="6ce7e75b-d909-4563-9dd4-f9ed64b10d22"/>
          <p:cNvSpPr/>
          <p:nvPr/>
        </p:nvSpPr>
        <p:spPr>
          <a:xfrm>
            <a:off x="548640" y="452751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要在 format 時預建 kafka-broker / kafka-controller 的 SCRAM 憑證,否則授權器起不來(實測)</a:t>
            </a:r>
            <a:endParaRPr lang="en-US" sz="1300" dirty="0"/>
          </a:p>
        </p:txBody>
      </p:sp>
      <p:sp>
        <p:nvSpPr>
          <p:cNvPr id="44" name="63c7defc-a450-4f4f-8fa9-24eb9ef1b4c0"/>
          <p:cNvSpPr/>
          <p:nvPr/>
        </p:nvSpPr>
        <p:spPr>
          <a:xfrm>
            <a:off x="548640" y="50366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5" name="1e8be293-df56-432e-bcde-03d0150040f7"/>
          <p:cNvSpPr/>
          <p:nvPr/>
        </p:nvSpPr>
        <p:spPr>
          <a:xfrm>
            <a:off x="548640" y="5588137"/>
            <a:ext cx="11091672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六個主要風險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3ca9b36-a32f-494e-9913-a9d5cb040763"/>
          <p:cNvSpPr/>
          <p:nvPr/>
        </p:nvSpPr>
        <p:spPr>
          <a:xfrm>
            <a:off x="548640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d7955b2f-24e3-4d50-af1e-e528d01a5df2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be2524cc-4d12-471a-86a9-64daea8ffda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0185b364-9be2-48fe-91fa-690cf6bf891e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</a:t>
            </a:r>
            <a:endParaRPr lang="en-US" sz="1350" dirty="0"/>
          </a:p>
        </p:txBody>
      </p:sp>
      <p:sp>
        <p:nvSpPr>
          <p:cNvPr id="6" name="c6122883-6365-473d-a85f-6eb44d7c933c"/>
          <p:cNvSpPr/>
          <p:nvPr/>
        </p:nvSpPr>
        <p:spPr>
          <a:xfrm>
            <a:off x="685800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7" name="bee2cb30-f2aa-44da-b64a-dc565e10a211"/>
          <p:cNvSpPr/>
          <p:nvPr/>
        </p:nvSpPr>
        <p:spPr>
          <a:xfrm>
            <a:off x="685800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8" name="83d440bd-e125-4ea7-b66b-1a73fd84fb9f"/>
          <p:cNvSpPr/>
          <p:nvPr/>
        </p:nvSpPr>
        <p:spPr>
          <a:xfrm>
            <a:off x="4325112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77983a5e-b9a6-4454-9069-e9360bc5f3d9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112f189f-1fbe-49c4-9300-f880df9643d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b55ec241-522c-435a-80b7-d9bc92994c54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</a:t>
            </a:r>
            <a:endParaRPr lang="en-US" sz="1350" dirty="0"/>
          </a:p>
        </p:txBody>
      </p:sp>
      <p:sp>
        <p:nvSpPr>
          <p:cNvPr id="12" name="ec50f635-0324-4e59-917a-bb2843de90df"/>
          <p:cNvSpPr/>
          <p:nvPr/>
        </p:nvSpPr>
        <p:spPr>
          <a:xfrm>
            <a:off x="4462272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3" name="f9ac4149-960a-4647-b1e0-190fe35f7173"/>
          <p:cNvSpPr/>
          <p:nvPr/>
        </p:nvSpPr>
        <p:spPr>
          <a:xfrm>
            <a:off x="4462272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對策:特權身分逐一以 User: 列入</a:t>
            </a:r>
            <a:endParaRPr lang="en-US" sz="1050" dirty="0"/>
          </a:p>
        </p:txBody>
      </p:sp>
      <p:sp>
        <p:nvSpPr>
          <p:cNvPr id="14" name="d096353a-d623-4edf-b9b6-28a047098392"/>
          <p:cNvSpPr/>
          <p:nvPr/>
        </p:nvSpPr>
        <p:spPr>
          <a:xfrm>
            <a:off x="8101584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68410785-566d-4fc8-8242-bafcfa1f88fb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76e4f86e-ed4c-49ec-a914-49255090717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36fd18e1-8f1e-44b8-a75c-b639edf83a81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私鑰外洩(server · token)</a:t>
            </a:r>
            <a:endParaRPr lang="en-US" sz="1350" dirty="0"/>
          </a:p>
        </p:txBody>
      </p:sp>
      <p:sp>
        <p:nvSpPr>
          <p:cNvPr id="18" name="a09a03ce-0824-4cff-a9a4-b933a8269681"/>
          <p:cNvSpPr/>
          <p:nvPr/>
        </p:nvSpPr>
        <p:spPr>
          <a:xfrm>
            <a:off x="8238744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發現:server 私鑰外洩 = 可偽裝伺服器;token 簽章私鑰外洩 = 可偽造任何人的 token</a:t>
            </a:r>
            <a:endParaRPr lang="en-US" sz="1050" dirty="0"/>
          </a:p>
        </p:txBody>
      </p:sp>
      <p:sp>
        <p:nvSpPr>
          <p:cNvPr id="19" name="fbfc7eba-b9a9-4e62-9ba8-e8127bbc0e00"/>
          <p:cNvSpPr/>
          <p:nvPr/>
        </p:nvSpPr>
        <p:spPr>
          <a:xfrm>
            <a:off x="8238744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對策:權限 600;最小化存放;輪替計畫;共用身分不綁 role</a:t>
            </a:r>
            <a:endParaRPr lang="en-US" sz="1050" dirty="0"/>
          </a:p>
        </p:txBody>
      </p:sp>
      <p:sp>
        <p:nvSpPr>
          <p:cNvPr id="20" name="6f0e51ab-bcd2-43a1-898a-0959f432770e"/>
          <p:cNvSpPr/>
          <p:nvPr/>
        </p:nvSpPr>
        <p:spPr>
          <a:xfrm>
            <a:off x="548640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935839fe-d17d-48c4-bfd7-8a471f791a57"/>
          <p:cNvSpPr/>
          <p:nvPr/>
        </p:nvSpPr>
        <p:spPr>
          <a:xfrm>
            <a:off x="685800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2" name="eb4331bc-1758-4690-8a3f-90265f24227b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96442" y="4222905"/>
            <a:ext cx="281635" cy="281635"/>
          </a:xfrm>
          <a:prstGeom prst="rect">
            <a:avLst/>
          </a:prstGeom>
        </p:spPr>
      </p:pic>
      <p:sp>
        <p:nvSpPr>
          <p:cNvPr id="23" name="b5ec84db-d3f6-4a44-8e04-f5b39aaa4525"/>
          <p:cNvSpPr/>
          <p:nvPr/>
        </p:nvSpPr>
        <p:spPr>
          <a:xfrm>
            <a:off x="1280160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</a:t>
            </a:r>
            <a:endParaRPr lang="en-US" sz="1350" dirty="0"/>
          </a:p>
        </p:txBody>
      </p:sp>
      <p:sp>
        <p:nvSpPr>
          <p:cNvPr id="24" name="9c3bb2dd-331f-4260-af5c-dc9f94d6c353"/>
          <p:cNvSpPr/>
          <p:nvPr/>
        </p:nvSpPr>
        <p:spPr>
          <a:xfrm>
            <a:off x="685800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5" name="8a64e09d-3fdc-44b2-af0a-febe9a2858b1"/>
          <p:cNvSpPr/>
          <p:nvPr/>
        </p:nvSpPr>
        <p:spPr>
          <a:xfrm>
            <a:off x="685800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對策:密碼庫 + 輪替流程 + 提醒</a:t>
            </a:r>
            <a:endParaRPr lang="en-US" sz="1050" dirty="0"/>
          </a:p>
        </p:txBody>
      </p:sp>
      <p:sp>
        <p:nvSpPr>
          <p:cNvPr id="26" name="baba0af6-57d9-4c8e-b1fe-b6f3f7633bc1"/>
          <p:cNvSpPr/>
          <p:nvPr/>
        </p:nvSpPr>
        <p:spPr>
          <a:xfrm>
            <a:off x="4325112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2a2559e9-da58-4902-944e-b1938e17b61b"/>
          <p:cNvSpPr/>
          <p:nvPr/>
        </p:nvSpPr>
        <p:spPr>
          <a:xfrm>
            <a:off x="4462272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8" name="feb3f53f-65ee-4149-89f1-85df9fdf5f4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572914" y="4222905"/>
            <a:ext cx="281635" cy="281635"/>
          </a:xfrm>
          <a:prstGeom prst="rect">
            <a:avLst/>
          </a:prstGeom>
        </p:spPr>
      </p:pic>
      <p:sp>
        <p:nvSpPr>
          <p:cNvPr id="29" name="3a967041-2aa8-4ca4-8341-c06a7edfd0b7"/>
          <p:cNvSpPr/>
          <p:nvPr/>
        </p:nvSpPr>
        <p:spPr>
          <a:xfrm>
            <a:off x="5056632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監控元件預設未認證</a:t>
            </a:r>
            <a:endParaRPr lang="en-US" sz="1350" dirty="0"/>
          </a:p>
        </p:txBody>
      </p:sp>
      <p:sp>
        <p:nvSpPr>
          <p:cNvPr id="30" name="2b250de0-6bf0-4c95-9b94-8d71953320ef"/>
          <p:cNvSpPr/>
          <p:nvPr/>
        </p:nvSpPr>
        <p:spPr>
          <a:xfrm>
            <a:off x="4462272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1" name="17100b36-ebd5-4a19-a91d-b2de7adccdab"/>
          <p:cNvSpPr/>
          <p:nvPr/>
        </p:nvSpPr>
        <p:spPr>
          <a:xfrm>
            <a:off x="4462272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2" name="6948ad35-d255-4af9-a71c-4d160191609d"/>
          <p:cNvSpPr/>
          <p:nvPr/>
        </p:nvSpPr>
        <p:spPr>
          <a:xfrm>
            <a:off x="8101584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21745cb3-7bae-4023-9184-936f39d64bfa"/>
          <p:cNvSpPr/>
          <p:nvPr/>
        </p:nvSpPr>
        <p:spPr>
          <a:xfrm>
            <a:off x="8238744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781aa6f4-6945-45d3-bd3c-c14c30ab0bfa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8349386" y="4222905"/>
            <a:ext cx="281635" cy="281635"/>
          </a:xfrm>
          <a:prstGeom prst="rect">
            <a:avLst/>
          </a:prstGeom>
        </p:spPr>
      </p:pic>
      <p:sp>
        <p:nvSpPr>
          <p:cNvPr id="35" name="14347eb8-b279-4c77-8e21-1729aa2991b5"/>
          <p:cNvSpPr/>
          <p:nvPr/>
        </p:nvSpPr>
        <p:spPr>
          <a:xfrm>
            <a:off x="8833104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</a:t>
            </a:r>
            <a:endParaRPr lang="en-US" sz="1350" dirty="0"/>
          </a:p>
        </p:txBody>
      </p:sp>
      <p:sp>
        <p:nvSpPr>
          <p:cNvPr id="36" name="4de50123-4c1c-4b45-931f-aa47dd3b7183"/>
          <p:cNvSpPr/>
          <p:nvPr/>
        </p:nvSpPr>
        <p:spPr>
          <a:xfrm>
            <a:off x="8238744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7" name="65adcf30-dc9d-4f8f-a823-b15c46ea1559"/>
          <p:cNvSpPr/>
          <p:nvPr/>
        </p:nvSpPr>
        <p:spPr>
          <a:xfrm>
            <a:off x="8238744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對策:稽核需求另外盤點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兩個操作陷阱和一項待驗證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f3d5118-3a8e-45fb-9b4f-e8fa6c14a500"/>
          <p:cNvSpPr/>
          <p:nvPr/>
        </p:nvSpPr>
        <p:spPr>
          <a:xfrm>
            <a:off x="548640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5171f950-952b-4077-8204-3cd4ca9cf1d0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a05f3c62-318e-4744-9367-78f8157d937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43735552-71a7-4e9d-9c52-ebb5a8dd295a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 cookie 優先於 Basic</a:t>
            </a:r>
            <a:endParaRPr lang="en-US" sz="1350" dirty="0"/>
          </a:p>
        </p:txBody>
      </p:sp>
      <p:sp>
        <p:nvSpPr>
          <p:cNvPr id="6" name="92323228-307b-4b4a-92ad-3f45f2f8cd44"/>
          <p:cNvSpPr/>
          <p:nvPr/>
        </p:nvSpPr>
        <p:spPr>
          <a:xfrm>
            <a:off x="685800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7" name="6fdee0ae-6a6e-44b5-a128-21348450e435"/>
          <p:cNvSpPr/>
          <p:nvPr/>
        </p:nvSpPr>
        <p:spPr>
          <a:xfrm>
            <a:off x="685800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8" name="84b995a9-610c-4221-b781-4df57c372798"/>
          <p:cNvSpPr/>
          <p:nvPr/>
        </p:nvSpPr>
        <p:spPr>
          <a:xfrm>
            <a:off x="4325112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b95b6a66-382a-4237-81be-8ecbe567bd7d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aa4043e8-a859-454c-9229-13e88915339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85b35920-4ee1-4ae2-91e7-b2a43db40e80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移出群組後的延遲</a:t>
            </a:r>
            <a:endParaRPr lang="en-US" sz="1350" dirty="0"/>
          </a:p>
        </p:txBody>
      </p:sp>
      <p:sp>
        <p:nvSpPr>
          <p:cNvPr id="12" name="00a52ad3-db57-490a-81a3-7a5c628fa302"/>
          <p:cNvSpPr/>
          <p:nvPr/>
        </p:nvSpPr>
        <p:spPr>
          <a:xfrm>
            <a:off x="4462272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發現:移出群組最長約 60 秒收回;刪除 AD 帳號後,已簽發 token 到期前仍有效(實測)</a:t>
            </a:r>
            <a:endParaRPr lang="en-US" sz="1050" dirty="0"/>
          </a:p>
        </p:txBody>
      </p:sp>
      <p:sp>
        <p:nvSpPr>
          <p:cNvPr id="13" name="d298a7c0-42ee-4968-872a-10ac7317ca95"/>
          <p:cNvSpPr/>
          <p:nvPr/>
        </p:nvSpPr>
        <p:spPr>
          <a:xfrm>
            <a:off x="4462272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對策:預留刷新時間;離職:停用 AD 帳號,並視需要縮短 token 壽命(token.max.lifetime.ms)</a:t>
            </a:r>
            <a:endParaRPr lang="en-US" sz="1050" dirty="0"/>
          </a:p>
        </p:txBody>
      </p:sp>
      <p:sp>
        <p:nvSpPr>
          <p:cNvPr id="14" name="aeb3ba03-3a67-476d-b2fe-c396ce2050a0"/>
          <p:cNvSpPr/>
          <p:nvPr/>
        </p:nvSpPr>
        <p:spPr>
          <a:xfrm>
            <a:off x="8101584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5b102121-2297-4f50-96fd-63fd229560a2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2b674b75-952a-44c3-8116-f01f1d1a438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377c5c27-1197-49e2-b1b1-6e0f01fe1390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controller 的機制</a:t>
            </a:r>
            <a:endParaRPr lang="en-US" sz="1350" dirty="0"/>
          </a:p>
        </p:txBody>
      </p:sp>
      <p:sp>
        <p:nvSpPr>
          <p:cNvPr id="18" name="6088082d-c66c-4b38-99fb-5465c0840612"/>
          <p:cNvSpPr/>
          <p:nvPr/>
        </p:nvSpPr>
        <p:spPr>
          <a:xfrm>
            <a:off x="8238744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發現:官方說明 controller listener 不支援 SCRAM,採 PLAIN;PLAIN 已實測(機制),未含 TLS / RBAC</a:t>
            </a:r>
            <a:endParaRPr lang="en-US" sz="1050" dirty="0"/>
          </a:p>
        </p:txBody>
      </p:sp>
      <p:sp>
        <p:nvSpPr>
          <p:cNvPr id="19" name="eab7279d-a1f4-4f4a-b069-83f422ac7133"/>
          <p:cNvSpPr/>
          <p:nvPr/>
        </p:nvSpPr>
        <p:spPr>
          <a:xfrm>
            <a:off x="8238744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對策:導入前在實機以 TLS + RBAC 實測</a:t>
            </a:r>
            <a:endParaRPr lang="en-US" sz="1050" dirty="0"/>
          </a:p>
        </p:txBody>
      </p:sp>
      <p:sp>
        <p:nvSpPr>
          <p:cNvPr id="20" name="912f96f3-ff41-416e-92ca-0d6ad7ea9ecd"/>
          <p:cNvSpPr/>
          <p:nvPr/>
        </p:nvSpPr>
        <p:spPr>
          <a:xfrm>
            <a:off x="548640" y="448509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前兩項是已實測的操作陷阱,第三項導入前須實機驗證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已驗證 vs 待驗證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誠實呈現目前的驗證範圍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b713150-8991-4543-9b82-6a4f2177edb5"/>
          <p:cNvSpPr/>
          <p:nvPr/>
        </p:nvSpPr>
        <p:spPr>
          <a:xfrm>
            <a:off x="548640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bb9c9df8-5946-49f5-bab4-d05dc781d816"/>
          <p:cNvSpPr/>
          <p:nvPr/>
        </p:nvSpPr>
        <p:spPr>
          <a:xfrm>
            <a:off x="731520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3146b404-90b0-44df-98ed-09a032bd940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1942993"/>
            <a:ext cx="358445" cy="358445"/>
          </a:xfrm>
          <a:prstGeom prst="rect">
            <a:avLst/>
          </a:prstGeom>
        </p:spPr>
      </p:pic>
      <p:sp>
        <p:nvSpPr>
          <p:cNvPr id="5" name="fdf1ba8b-d219-424b-b613-77e421b01d62"/>
          <p:cNvSpPr/>
          <p:nvPr/>
        </p:nvSpPr>
        <p:spPr>
          <a:xfrm>
            <a:off x="1508760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已實跑驗證</a:t>
            </a:r>
            <a:endParaRPr lang="en-US" sz="1700" dirty="0"/>
          </a:p>
        </p:txBody>
      </p:sp>
      <p:sp>
        <p:nvSpPr>
          <p:cNvPr id="6" name="34be907f-ea25-4b67-b53c-603b28606983"/>
          <p:cNvSpPr/>
          <p:nvPr/>
        </p:nvSpPr>
        <p:spPr>
          <a:xfrm>
            <a:off x="777240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 RBAC:加入群組生效(demo 5 秒;預設 60 秒)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audit 事件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LDAPS 信任庫 · 3 controller PLAIN · SCRAM 並行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憑證更換三情境與元件順序(單節點 + demo 全元件)</a:t>
            </a:r>
            <a:endParaRPr lang="en-US" sz="1300" dirty="0"/>
          </a:p>
        </p:txBody>
      </p:sp>
      <p:sp>
        <p:nvSpPr>
          <p:cNvPr id="7" name="87ef8aed-0b28-456f-9f56-36ca6fc773b0"/>
          <p:cNvSpPr/>
          <p:nvPr/>
        </p:nvSpPr>
        <p:spPr>
          <a:xfrm>
            <a:off x="6199632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2975113c-abb9-4160-a7ea-71fa909b40b4"/>
          <p:cNvSpPr/>
          <p:nvPr/>
        </p:nvSpPr>
        <p:spPr>
          <a:xfrm>
            <a:off x="6382512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803667a7-f960-406b-a070-4c4702cead6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1942993"/>
            <a:ext cx="358445" cy="358445"/>
          </a:xfrm>
          <a:prstGeom prst="rect">
            <a:avLst/>
          </a:prstGeom>
        </p:spPr>
      </p:pic>
      <p:sp>
        <p:nvSpPr>
          <p:cNvPr id="10" name="2283da30-e1bb-4c8a-a66e-018eb05290b0"/>
          <p:cNvSpPr/>
          <p:nvPr/>
        </p:nvSpPr>
        <p:spPr>
          <a:xfrm>
            <a:off x="7159752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待驗證 / 待確認</a:t>
            </a:r>
            <a:endParaRPr lang="en-US" sz="1700" dirty="0"/>
          </a:p>
        </p:txBody>
      </p:sp>
      <p:sp>
        <p:nvSpPr>
          <p:cNvPr id="11" name="362ce059-f4d9-4051-8962-bd7eacb40f81"/>
          <p:cNvSpPr/>
          <p:nvPr/>
        </p:nvSpPr>
        <p:spPr>
          <a:xfrm>
            <a:off x="6428232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多 controller 搭配 TLS + RBAC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長駐 client 是否需重啟才重載信任庫;中繼 CA 的更換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縮短 token 壽命對元件換 token 頻率的影響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MDS 金鑰對與內部帳號的輪替流程</a:t>
            </a:r>
            <a:endParaRPr lang="en-US" sz="1300" dirty="0"/>
          </a:p>
        </p:txBody>
      </p:sp>
      <p:sp>
        <p:nvSpPr>
          <p:cNvPr id="12" name="5259088f-f6fd-485d-a9c9-a5bf19bead87"/>
          <p:cNvSpPr/>
          <p:nvPr/>
        </p:nvSpPr>
        <p:spPr>
          <a:xfrm>
            <a:off x="548640" y="5630562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使用 OpenLDAP 模擬 AD;商用功能(RBAC、audit、C3)需 license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八件需要客戶回覆的事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5e5dce9-0999-4226-b3db-6ce2a573cd2a"/>
          <p:cNvSpPr/>
          <p:nvPr/>
        </p:nvSpPr>
        <p:spPr>
          <a:xfrm>
            <a:off x="54864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7cdc5354-baf3-4bdf-82f8-3c6544aaa551"/>
          <p:cNvSpPr/>
          <p:nvPr/>
        </p:nvSpPr>
        <p:spPr>
          <a:xfrm>
            <a:off x="68580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1cf24d4d-8c3d-49c8-bd92-af4d1889c0cc"/>
          <p:cNvSpPr/>
          <p:nvPr/>
        </p:nvSpPr>
        <p:spPr>
          <a:xfrm>
            <a:off x="132588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b1803fb6-f88e-4662-bd59-9d04570ca52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446581" y="1941296"/>
            <a:ext cx="307238" cy="307238"/>
          </a:xfrm>
          <a:prstGeom prst="rect">
            <a:avLst/>
          </a:prstGeom>
        </p:spPr>
      </p:pic>
      <p:sp>
        <p:nvSpPr>
          <p:cNvPr id="6" name="14c662a6-242f-4902-b840-85aea5dc5bc0"/>
          <p:cNvSpPr/>
          <p:nvPr/>
        </p:nvSpPr>
        <p:spPr>
          <a:xfrm>
            <a:off x="205740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唯讀查詢帳號(bind DN)與 LDAPS</a:t>
            </a:r>
            <a:endParaRPr lang="en-US" sz="1300" dirty="0"/>
          </a:p>
        </p:txBody>
      </p:sp>
      <p:sp>
        <p:nvSpPr>
          <p:cNvPr id="7" name="f567f3a4-66bc-4da8-9db6-872d9d43304f"/>
          <p:cNvSpPr/>
          <p:nvPr/>
        </p:nvSpPr>
        <p:spPr>
          <a:xfrm>
            <a:off x="617220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6fac12c2-65b3-48d1-a37b-a9789f609a91"/>
          <p:cNvSpPr/>
          <p:nvPr/>
        </p:nvSpPr>
        <p:spPr>
          <a:xfrm>
            <a:off x="630936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f64f693c-e43d-4d2a-aadf-47bc2415349c"/>
          <p:cNvSpPr/>
          <p:nvPr/>
        </p:nvSpPr>
        <p:spPr>
          <a:xfrm>
            <a:off x="694944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bdf01dab-5155-427f-b121-37f6576fd97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070141" y="1941296"/>
            <a:ext cx="307238" cy="307238"/>
          </a:xfrm>
          <a:prstGeom prst="rect">
            <a:avLst/>
          </a:prstGeom>
        </p:spPr>
      </p:pic>
      <p:sp>
        <p:nvSpPr>
          <p:cNvPr id="11" name="5cf20220-e055-4a28-acee-c5cabac5f32b"/>
          <p:cNvSpPr/>
          <p:nvPr/>
        </p:nvSpPr>
        <p:spPr>
          <a:xfrm>
            <a:off x="768096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憑證由誰簽發:有無 AD CS(內部 CA)與根憑證散佈方式</a:t>
            </a:r>
            <a:endParaRPr lang="en-US" sz="1300" dirty="0"/>
          </a:p>
        </p:txBody>
      </p:sp>
      <p:sp>
        <p:nvSpPr>
          <p:cNvPr id="12" name="e21df0b7-19b5-48f6-a14a-c33b1f043e1c"/>
          <p:cNvSpPr/>
          <p:nvPr/>
        </p:nvSpPr>
        <p:spPr>
          <a:xfrm>
            <a:off x="54864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918618bb-b615-4d93-8548-99b41507721f"/>
          <p:cNvSpPr/>
          <p:nvPr/>
        </p:nvSpPr>
        <p:spPr>
          <a:xfrm>
            <a:off x="68580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d3cbd705-4e0b-4d02-a04a-32f390b657d2"/>
          <p:cNvSpPr/>
          <p:nvPr/>
        </p:nvSpPr>
        <p:spPr>
          <a:xfrm>
            <a:off x="132588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badd3ded-21b9-4518-b888-eabcd445dc6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446581" y="2959493"/>
            <a:ext cx="307238" cy="307238"/>
          </a:xfrm>
          <a:prstGeom prst="rect">
            <a:avLst/>
          </a:prstGeom>
        </p:spPr>
      </p:pic>
      <p:sp>
        <p:nvSpPr>
          <p:cNvPr id="16" name="65d92f54-642e-4724-ac08-83cbda51bb0a"/>
          <p:cNvSpPr/>
          <p:nvPr/>
        </p:nvSpPr>
        <p:spPr>
          <a:xfrm>
            <a:off x="205740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能否為 legacy app 建立專用 AD 帳號(非真人)</a:t>
            </a:r>
            <a:endParaRPr lang="en-US" sz="1300" dirty="0"/>
          </a:p>
        </p:txBody>
      </p:sp>
      <p:sp>
        <p:nvSpPr>
          <p:cNvPr id="17" name="d2cc2700-d978-400f-a00e-1b78faeb1b16"/>
          <p:cNvSpPr/>
          <p:nvPr/>
        </p:nvSpPr>
        <p:spPr>
          <a:xfrm>
            <a:off x="617220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8" name="68f9de75-2deb-483e-b85a-4c2d0bdf039a"/>
          <p:cNvSpPr/>
          <p:nvPr/>
        </p:nvSpPr>
        <p:spPr>
          <a:xfrm>
            <a:off x="630936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30179571-c428-4222-8bf5-33251a858b72"/>
          <p:cNvSpPr/>
          <p:nvPr/>
        </p:nvSpPr>
        <p:spPr>
          <a:xfrm>
            <a:off x="694944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0" name="2a5c04be-71ee-4dbc-82e5-122013645090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070141" y="2959493"/>
            <a:ext cx="307238" cy="307238"/>
          </a:xfrm>
          <a:prstGeom prst="rect">
            <a:avLst/>
          </a:prstGeom>
        </p:spPr>
      </p:pic>
      <p:sp>
        <p:nvSpPr>
          <p:cNvPr id="21" name="c61e5eda-d202-43c0-bd29-ce52799c1f5e"/>
          <p:cNvSpPr/>
          <p:nvPr/>
        </p:nvSpPr>
        <p:spPr>
          <a:xfrm>
            <a:off x="768096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license 是否涵蓋 RBAC / audit / C3</a:t>
            </a:r>
            <a:endParaRPr lang="en-US" sz="1300" dirty="0"/>
          </a:p>
        </p:txBody>
      </p:sp>
      <p:sp>
        <p:nvSpPr>
          <p:cNvPr id="22" name="5d71219a-2b7f-4357-a87f-bba6aeaeaa69"/>
          <p:cNvSpPr/>
          <p:nvPr/>
        </p:nvSpPr>
        <p:spPr>
          <a:xfrm>
            <a:off x="54864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a2b04f41-5549-45ba-9fa1-cde032f9df0e"/>
          <p:cNvSpPr/>
          <p:nvPr/>
        </p:nvSpPr>
        <p:spPr>
          <a:xfrm>
            <a:off x="68580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9691d25d-f539-4691-8f4d-e204720b793b"/>
          <p:cNvSpPr/>
          <p:nvPr/>
        </p:nvSpPr>
        <p:spPr>
          <a:xfrm>
            <a:off x="132588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5" name="bf6793dd-9a49-4b0e-bf42-5d508753bde0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1446581" y="3977689"/>
            <a:ext cx="307238" cy="307238"/>
          </a:xfrm>
          <a:prstGeom prst="rect">
            <a:avLst/>
          </a:prstGeom>
        </p:spPr>
      </p:pic>
      <p:sp>
        <p:nvSpPr>
          <p:cNvPr id="26" name="6c995a6c-eb49-4215-8291-bf73cc690c22"/>
          <p:cNvSpPr/>
          <p:nvPr/>
        </p:nvSpPr>
        <p:spPr>
          <a:xfrm>
            <a:off x="205740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群組是否巢狀、帳號大小寫與命名</a:t>
            </a:r>
            <a:endParaRPr lang="en-US" sz="1300" dirty="0"/>
          </a:p>
        </p:txBody>
      </p:sp>
      <p:sp>
        <p:nvSpPr>
          <p:cNvPr id="27" name="66143a24-322e-44cb-afba-ffc9831cbcf7"/>
          <p:cNvSpPr/>
          <p:nvPr/>
        </p:nvSpPr>
        <p:spPr>
          <a:xfrm>
            <a:off x="617220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ed8e4b71-b61f-4f46-bbf3-23cb894f162a"/>
          <p:cNvSpPr/>
          <p:nvPr/>
        </p:nvSpPr>
        <p:spPr>
          <a:xfrm>
            <a:off x="630936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66034b4a-968a-41ce-a5cc-36e5fe063dc3"/>
          <p:cNvSpPr/>
          <p:nvPr/>
        </p:nvSpPr>
        <p:spPr>
          <a:xfrm>
            <a:off x="694944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0" name="fd566451-6036-4f48-8a67-b715117ebc02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070141" y="3977689"/>
            <a:ext cx="307238" cy="307238"/>
          </a:xfrm>
          <a:prstGeom prst="rect">
            <a:avLst/>
          </a:prstGeom>
        </p:spPr>
      </p:pic>
      <p:sp>
        <p:nvSpPr>
          <p:cNvPr id="31" name="f3902199-1f5f-4b7e-801c-b9fe9adccb9c"/>
          <p:cNvSpPr/>
          <p:nvPr/>
        </p:nvSpPr>
        <p:spPr>
          <a:xfrm>
            <a:off x="768096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Java 版本(建議 21)與 Prometheus / Alertmanager 部署</a:t>
            </a:r>
            <a:endParaRPr lang="en-US" sz="1300" dirty="0"/>
          </a:p>
        </p:txBody>
      </p:sp>
      <p:sp>
        <p:nvSpPr>
          <p:cNvPr id="32" name="b15f1838-a6ae-44be-9897-7a4b7d89f86d"/>
          <p:cNvSpPr/>
          <p:nvPr/>
        </p:nvSpPr>
        <p:spPr>
          <a:xfrm>
            <a:off x="54864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3" name="3f2a7f97-e421-4193-9678-d27b65dc679c"/>
          <p:cNvSpPr/>
          <p:nvPr/>
        </p:nvSpPr>
        <p:spPr>
          <a:xfrm>
            <a:off x="68580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b08886ab-75ce-4841-b171-ccc2a898b50b"/>
          <p:cNvSpPr/>
          <p:nvPr/>
        </p:nvSpPr>
        <p:spPr>
          <a:xfrm>
            <a:off x="132588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5" name="6b984ff5-291c-42e4-884f-4e0e28d79571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446581" y="4995886"/>
            <a:ext cx="307238" cy="307238"/>
          </a:xfrm>
          <a:prstGeom prst="rect">
            <a:avLst/>
          </a:prstGeom>
        </p:spPr>
      </p:pic>
      <p:sp>
        <p:nvSpPr>
          <p:cNvPr id="36" name="d0f0f217-708d-4aa6-b98e-67384df06bc7"/>
          <p:cNvSpPr/>
          <p:nvPr/>
        </p:nvSpPr>
        <p:spPr>
          <a:xfrm>
            <a:off x="205740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是否有多台 DC(高可用):LDAP 停擺超過 24 小時,授權器會失效</a:t>
            </a:r>
            <a:endParaRPr lang="en-US" sz="1300" dirty="0"/>
          </a:p>
        </p:txBody>
      </p:sp>
      <p:sp>
        <p:nvSpPr>
          <p:cNvPr id="37" name="9b5edda4-975a-4cbf-aa7b-e31dea216af8"/>
          <p:cNvSpPr/>
          <p:nvPr/>
        </p:nvSpPr>
        <p:spPr>
          <a:xfrm>
            <a:off x="617220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32fda8ea-987d-47e4-b70d-cdb908f6916c"/>
          <p:cNvSpPr/>
          <p:nvPr/>
        </p:nvSpPr>
        <p:spPr>
          <a:xfrm>
            <a:off x="630936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5605792d-00b0-4c11-b5d7-b28d429cd32d"/>
          <p:cNvSpPr/>
          <p:nvPr/>
        </p:nvSpPr>
        <p:spPr>
          <a:xfrm>
            <a:off x="694944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f3e99ef8-9a9f-4e55-8402-bfba6f24b23b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070141" y="4995886"/>
            <a:ext cx="307238" cy="307238"/>
          </a:xfrm>
          <a:prstGeom prst="rect">
            <a:avLst/>
          </a:prstGeom>
        </p:spPr>
      </p:pic>
      <p:sp>
        <p:nvSpPr>
          <p:cNvPr id="41" name="4736b041-3dc4-48aa-9a88-ebff836c4b88"/>
          <p:cNvSpPr/>
          <p:nvPr/>
        </p:nvSpPr>
        <p:spPr>
          <a:xfrm>
            <a:off x="768096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的 LDAPS 憑證由誰簽發(根 CA、有無中繼 CA)</a:t>
            </a:r>
            <a:endParaRPr lang="en-US" sz="1300" dirty="0"/>
          </a:p>
        </p:txBody>
      </p:sp>
      <p:sp>
        <p:nvSpPr>
          <p:cNvPr id="42" name="f91032d3-7810-495e-9f9f-76878673b1f3"/>
          <p:cNvSpPr/>
          <p:nvPr/>
        </p:nvSpPr>
        <p:spPr>
          <a:xfrm>
            <a:off x="548640" y="575783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項若可行:legacy app 走 Basic,不需要 client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下一步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接下來的三件事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f1c654d-a3f0-4f80-a31b-7f7c16787125"/>
          <p:cNvSpPr/>
          <p:nvPr/>
        </p:nvSpPr>
        <p:spPr>
          <a:xfrm>
            <a:off x="548640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e3b4f717-8366-4526-9221-9f5a71b2c2cc"/>
          <p:cNvSpPr/>
          <p:nvPr/>
        </p:nvSpPr>
        <p:spPr>
          <a:xfrm>
            <a:off x="2034540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f35212db-1805-4f31-bcb8-da59f8fefdf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2178875"/>
            <a:ext cx="307238" cy="307238"/>
          </a:xfrm>
          <a:prstGeom prst="rect">
            <a:avLst/>
          </a:prstGeom>
        </p:spPr>
      </p:pic>
      <p:sp>
        <p:nvSpPr>
          <p:cNvPr id="5" name="2e542ff7-ee41-4804-b83d-44d5195aa0ee"/>
          <p:cNvSpPr/>
          <p:nvPr/>
        </p:nvSpPr>
        <p:spPr>
          <a:xfrm>
            <a:off x="621792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客戶確認</a:t>
            </a:r>
            <a:endParaRPr lang="en-US" sz="1800" dirty="0"/>
          </a:p>
        </p:txBody>
      </p:sp>
      <p:sp>
        <p:nvSpPr>
          <p:cNvPr id="6" name="0ac4e96f-b9b8-4b0e-9474-c67b34585acf"/>
          <p:cNvSpPr/>
          <p:nvPr/>
        </p:nvSpPr>
        <p:spPr>
          <a:xfrm>
            <a:off x="640080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回覆前一頁的八件事</a:t>
            </a:r>
            <a:endParaRPr lang="en-US" sz="1300" dirty="0"/>
          </a:p>
        </p:txBody>
      </p:sp>
      <p:sp>
        <p:nvSpPr>
          <p:cNvPr id="7" name="8a5d21ef-b753-4c9a-9772-4a036bd97719"/>
          <p:cNvSpPr/>
          <p:nvPr/>
        </p:nvSpPr>
        <p:spPr>
          <a:xfrm>
            <a:off x="4069080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ba5c34a9-cd09-494c-a44f-20547db26d2d"/>
          <p:cNvSpPr/>
          <p:nvPr/>
        </p:nvSpPr>
        <p:spPr>
          <a:xfrm>
            <a:off x="4325112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88ba8799-a162-48da-96e5-7fa4bdae7f0e"/>
          <p:cNvSpPr/>
          <p:nvPr/>
        </p:nvSpPr>
        <p:spPr>
          <a:xfrm>
            <a:off x="5811012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191098b0-58cd-44ad-9d96-ae80ad9ce9d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2178875"/>
            <a:ext cx="307238" cy="307238"/>
          </a:xfrm>
          <a:prstGeom prst="rect">
            <a:avLst/>
          </a:prstGeom>
        </p:spPr>
      </p:pic>
      <p:sp>
        <p:nvSpPr>
          <p:cNvPr id="11" name="77609591-a48f-4e2b-91c0-b07bc0a20b0d"/>
          <p:cNvSpPr/>
          <p:nvPr/>
        </p:nvSpPr>
        <p:spPr>
          <a:xfrm>
            <a:off x="4398264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調整方案</a:t>
            </a:r>
            <a:endParaRPr lang="en-US" sz="1800" dirty="0"/>
          </a:p>
        </p:txBody>
      </p:sp>
      <p:sp>
        <p:nvSpPr>
          <p:cNvPr id="12" name="00982f50-751e-480c-b84e-bf31de9dbb73"/>
          <p:cNvSpPr/>
          <p:nvPr/>
        </p:nvSpPr>
        <p:spPr>
          <a:xfrm>
            <a:off x="4416552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依客戶回覆更新設計</a:t>
            </a:r>
            <a:endParaRPr lang="en-US" sz="1300" dirty="0"/>
          </a:p>
        </p:txBody>
      </p:sp>
      <p:sp>
        <p:nvSpPr>
          <p:cNvPr id="13" name="86b6b729-9ff6-4e75-8305-b2a52046cd8b"/>
          <p:cNvSpPr/>
          <p:nvPr/>
        </p:nvSpPr>
        <p:spPr>
          <a:xfrm>
            <a:off x="7845552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8eb5b77a-e9c1-4e83-9699-3c11e29e05ee"/>
          <p:cNvSpPr/>
          <p:nvPr/>
        </p:nvSpPr>
        <p:spPr>
          <a:xfrm>
            <a:off x="8101584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dbe2cd2e-0f31-4547-a665-a4c4005f4787"/>
          <p:cNvSpPr/>
          <p:nvPr/>
        </p:nvSpPr>
        <p:spPr>
          <a:xfrm>
            <a:off x="9587484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260af883-9e89-4371-80c1-73c05774f9d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2178875"/>
            <a:ext cx="307238" cy="307238"/>
          </a:xfrm>
          <a:prstGeom prst="rect">
            <a:avLst/>
          </a:prstGeom>
        </p:spPr>
      </p:pic>
      <p:sp>
        <p:nvSpPr>
          <p:cNvPr id="17" name="c10ad27d-d75c-49f7-bfcd-f90fe77092c4"/>
          <p:cNvSpPr/>
          <p:nvPr/>
        </p:nvSpPr>
        <p:spPr>
          <a:xfrm>
            <a:off x="8174736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實機驗證</a:t>
            </a:r>
            <a:endParaRPr lang="en-US" sz="1800" dirty="0"/>
          </a:p>
        </p:txBody>
      </p:sp>
      <p:sp>
        <p:nvSpPr>
          <p:cNvPr id="18" name="ff0dba02-d307-43d3-a55b-ec032f7e5bbb"/>
          <p:cNvSpPr/>
          <p:nvPr/>
        </p:nvSpPr>
        <p:spPr>
          <a:xfrm>
            <a:off x="8193024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補上目前未驗證的項目</a:t>
            </a:r>
            <a:endParaRPr lang="en-US" sz="1300" dirty="0"/>
          </a:p>
        </p:txBody>
      </p:sp>
      <p:sp>
        <p:nvSpPr>
          <p:cNvPr id="19" name="f6bc96c9-2e0e-4aef-b7d1-56544350bcb1"/>
          <p:cNvSpPr/>
          <p:nvPr/>
        </p:nvSpPr>
        <p:spPr>
          <a:xfrm>
            <a:off x="548640" y="440024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與 Word 手冊可作為每一步的實作與證據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