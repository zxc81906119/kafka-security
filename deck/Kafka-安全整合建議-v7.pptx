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  <p:sldId r:id="rId51-created" id="288"/>
    <p:sldId r:id="rId52-created" id="289"/>
    <p:sldId r:id="rId53-created" id="290"/>
    <p:sldId r:id="rId54-created" id="291"/>
    <p:sldId r:id="rId55-created" id="292"/>
    <p:sldId r:id="rId56-created" id="293"/>
    <p:sldId r:id="rId57-created" id="294"/>
    <p:sldId r:id="rId58-created" id="295"/>
    <p:sldId r:id="rId59-created" id="296"/>
    <p:sldId r:id="rId60-created" id="297"/>
    <p:sldId r:id="rId61-created" id="298"/>
    <p:sldId r:id="rId62-created" id="299"/>
    <p:sldId r:id="rId63-created" id="30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Relationship Id="rId51-created" Type="http://schemas.openxmlformats.org/officeDocument/2006/relationships/slide" Target="slides/slide40.xml"/><Relationship Id="rId52-created" Type="http://schemas.openxmlformats.org/officeDocument/2006/relationships/slide" Target="slides/slide41.xml"/><Relationship Id="rId53-created" Type="http://schemas.openxmlformats.org/officeDocument/2006/relationships/slide" Target="slides/slide42.xml"/><Relationship Id="rId54-created" Type="http://schemas.openxmlformats.org/officeDocument/2006/relationships/slide" Target="slides/slide43.xml"/><Relationship Id="rId55-created" Type="http://schemas.openxmlformats.org/officeDocument/2006/relationships/slide" Target="slides/slide44.xml"/><Relationship Id="rId56-created" Type="http://schemas.openxmlformats.org/officeDocument/2006/relationships/slide" Target="slides/slide45.xml"/><Relationship Id="rId57-created" Type="http://schemas.openxmlformats.org/officeDocument/2006/relationships/slide" Target="slides/slide46.xml"/><Relationship Id="rId58-created" Type="http://schemas.openxmlformats.org/officeDocument/2006/relationships/slide" Target="slides/slide47.xml"/><Relationship Id="rId59-created" Type="http://schemas.openxmlformats.org/officeDocument/2006/relationships/slide" Target="slides/slide48.xml"/><Relationship Id="rId60-created" Type="http://schemas.openxmlformats.org/officeDocument/2006/relationships/slide" Target="slides/slide49.xml"/><Relationship Id="rId61-created" Type="http://schemas.openxmlformats.org/officeDocument/2006/relationships/slide" Target="slides/slide50.xml"/><Relationship Id="rId62-created" Type="http://schemas.openxmlformats.org/officeDocument/2006/relationships/slide" Target="slides/slide51.xml"/><Relationship Id="rId63-created" Type="http://schemas.openxmlformats.org/officeDocument/2006/relationships/slide" Target="slides/slide5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8-created" Type="http://schemas.openxmlformats.org/officeDocument/2006/relationships/image" Target="../media/media15.png"/><Relationship Id="rId9-created" Type="http://schemas.openxmlformats.org/officeDocument/2006/relationships/image" Target="../media/media16.png"/><Relationship Id="rId10-created" Type="http://schemas.openxmlformats.org/officeDocument/2006/relationships/image" Target="../media/media17.png"/><Relationship Id="rId11-created" Type="http://schemas.openxmlformats.org/officeDocument/2006/relationships/image" Target="../media/media18.png"/><Relationship Id="rId12-created" Type="http://schemas.openxmlformats.org/officeDocument/2006/relationships/image" Target="../media/media1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安全整合建議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依客戶前提的整體方案,與行內 CyberArk 的整合方式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客戶前提與本方案的對應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每一項前提都有一個明確的做法;細節在後面各章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d6c7b9ae-bdf1-48c3-ae71-b5c7504916e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只有 user 與 group;使用者名稱 =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帳號登入,授權綁在 AD 群組;服務與平台元件不佔用 AD 帳號;身分名稱以 AD 記錄為準(登入不分大小寫)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憑證要少:共用一張 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 server 憑證只做傳輸加密、不當身分;需要身分的元件各一張 client 憑證(C3、REST Proxy、初始化用的 bootstrap、經 REST Proxy 的應用系統)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RHEL 9 VM,手動安裝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 + systemd;維運選單(OP menu)放跳板機;不依賴自動化工具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有系統只能用 HTTP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Proxy;以 client 憑證為身分,REST Proxy 代為向 MDS 取 token,身分一路傳到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人只能唯讀,依 AD 群組分層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 個 AD 群組對應角色;需要變更時臨時加入群組、做完移出,Kafka 端零變更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負載平衡用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只放在 REST Proxy 前面,L4 透傳;REST Proxy 連 MDS 設多台即可,不需要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當「秘密管理層」:人的特權存取、主機帳號輪替、應用程式取密碼;不改變身分與授權設計(第五章)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一、整體架構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元件、連線與四條身分路徑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整體架構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正式環境的元件與主要連線;內部埠只開給 broker 與 controller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20a73c8-46c5-46a6-a517-55d0917dc291"/>
          <p:cNvSpPr/>
          <p:nvPr/>
        </p:nvSpPr>
        <p:spPr>
          <a:xfrm>
            <a:off x="548640" y="172747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f9416d1-fd49-43b6-8086-9cf7d5a2e254"/>
          <p:cNvSpPr/>
          <p:nvPr/>
        </p:nvSpPr>
        <p:spPr>
          <a:xfrm>
            <a:off x="12344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6675c69-3572-4160-8991-2a7d147d566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355141" y="1966751"/>
            <a:ext cx="307238" cy="307238"/>
          </a:xfrm>
          <a:prstGeom prst="rect">
            <a:avLst/>
          </a:prstGeom>
        </p:spPr>
      </p:pic>
      <p:sp>
        <p:nvSpPr>
          <p:cNvPr id="5" name="d1260ecc-d1f5-4ff2-92d0-20844fa8d318"/>
          <p:cNvSpPr/>
          <p:nvPr/>
        </p:nvSpPr>
        <p:spPr>
          <a:xfrm>
            <a:off x="621792" y="2448697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</a:t>
            </a:r>
            <a:endParaRPr lang="en-US" sz="1400" dirty="0"/>
          </a:p>
        </p:txBody>
      </p:sp>
      <p:sp>
        <p:nvSpPr>
          <p:cNvPr id="6" name="d2f53820-7f16-4b2b-ac49-e183cc74a5eb"/>
          <p:cNvSpPr/>
          <p:nvPr/>
        </p:nvSpPr>
        <p:spPr>
          <a:xfrm>
            <a:off x="640080" y="283052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帳號;瀏覽器、工具、腳本</a:t>
            </a:r>
            <a:endParaRPr lang="en-US" sz="1050" dirty="0"/>
          </a:p>
        </p:txBody>
      </p:sp>
      <p:sp>
        <p:nvSpPr>
          <p:cNvPr id="7" name="b4e1b0b2-f401-4e8d-b755-6dc5bfecc146"/>
          <p:cNvSpPr/>
          <p:nvPr/>
        </p:nvSpPr>
        <p:spPr>
          <a:xfrm>
            <a:off x="548640" y="321234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be0f2d31-01a7-46a0-b313-7b920c30c8f5"/>
          <p:cNvSpPr/>
          <p:nvPr/>
        </p:nvSpPr>
        <p:spPr>
          <a:xfrm>
            <a:off x="12344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1c773d0e-3e63-430f-a4ee-51954d58ee1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1355141" y="3451621"/>
            <a:ext cx="307238" cy="307238"/>
          </a:xfrm>
          <a:prstGeom prst="rect">
            <a:avLst/>
          </a:prstGeom>
        </p:spPr>
      </p:pic>
      <p:sp>
        <p:nvSpPr>
          <p:cNvPr id="10" name="39697441-702e-4743-9e93-d339a9183fce"/>
          <p:cNvSpPr/>
          <p:nvPr/>
        </p:nvSpPr>
        <p:spPr>
          <a:xfrm>
            <a:off x="621792" y="393356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應用系統</a:t>
            </a:r>
            <a:endParaRPr lang="en-US" sz="1400" dirty="0"/>
          </a:p>
        </p:txBody>
      </p:sp>
      <p:sp>
        <p:nvSpPr>
          <p:cNvPr id="11" name="9371a9e1-9760-41a2-b168-8f1d8fd4996c"/>
          <p:cNvSpPr/>
          <p:nvPr/>
        </p:nvSpPr>
        <p:spPr>
          <a:xfrm>
            <a:off x="640080" y="431539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帳號或 client 憑證</a:t>
            </a:r>
            <a:endParaRPr lang="en-US" sz="1050" dirty="0"/>
          </a:p>
        </p:txBody>
      </p:sp>
      <p:sp>
        <p:nvSpPr>
          <p:cNvPr id="12" name="26afa7cc-b533-43fa-9425-8826b938e85d"/>
          <p:cNvSpPr/>
          <p:nvPr/>
        </p:nvSpPr>
        <p:spPr>
          <a:xfrm>
            <a:off x="548640" y="469721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b4ded014-236a-48df-9621-afb3908217a5"/>
          <p:cNvSpPr/>
          <p:nvPr/>
        </p:nvSpPr>
        <p:spPr>
          <a:xfrm>
            <a:off x="12344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28e83b4f-6ff7-45a6-9e01-3adc170df1e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355141" y="4936491"/>
            <a:ext cx="307238" cy="307238"/>
          </a:xfrm>
          <a:prstGeom prst="rect">
            <a:avLst/>
          </a:prstGeom>
        </p:spPr>
      </p:pic>
      <p:sp>
        <p:nvSpPr>
          <p:cNvPr id="15" name="a4ff730a-6304-4fa5-8928-7e644e341c7d"/>
          <p:cNvSpPr/>
          <p:nvPr/>
        </p:nvSpPr>
        <p:spPr>
          <a:xfrm>
            <a:off x="621792" y="541843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跳板機 + OP menu</a:t>
            </a:r>
            <a:endParaRPr lang="en-US" sz="1300" dirty="0"/>
          </a:p>
        </p:txBody>
      </p:sp>
      <p:sp>
        <p:nvSpPr>
          <p:cNvPr id="16" name="72c8c876-fadf-4e78-b59b-c58022f13797"/>
          <p:cNvSpPr/>
          <p:nvPr/>
        </p:nvSpPr>
        <p:spPr>
          <a:xfrm>
            <a:off x="640080" y="5800262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 AD 身分</a:t>
            </a:r>
            <a:endParaRPr lang="en-US" sz="1050" dirty="0"/>
          </a:p>
        </p:txBody>
      </p:sp>
      <p:sp>
        <p:nvSpPr>
          <p:cNvPr id="17" name="b3356dff-0284-4ddc-9645-ba41089a3081"/>
          <p:cNvSpPr/>
          <p:nvPr/>
        </p:nvSpPr>
        <p:spPr>
          <a:xfrm>
            <a:off x="3017520" y="172747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5a576b5f-05ff-45ab-b45a-090b18331bef"/>
          <p:cNvSpPr/>
          <p:nvPr/>
        </p:nvSpPr>
        <p:spPr>
          <a:xfrm>
            <a:off x="37490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0859f8ef-537f-4157-a7e7-d3c66c799ba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869741" y="1966751"/>
            <a:ext cx="307238" cy="307238"/>
          </a:xfrm>
          <a:prstGeom prst="rect">
            <a:avLst/>
          </a:prstGeom>
        </p:spPr>
      </p:pic>
      <p:sp>
        <p:nvSpPr>
          <p:cNvPr id="20" name="9b3b994d-eb41-4c34-9a61-3b91b413aa08"/>
          <p:cNvSpPr/>
          <p:nvPr/>
        </p:nvSpPr>
        <p:spPr>
          <a:xfrm>
            <a:off x="3090672" y="2448697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9fe23e78-60eb-4eea-8e47-1d42d3c0ba7c"/>
          <p:cNvSpPr/>
          <p:nvPr/>
        </p:nvSpPr>
        <p:spPr>
          <a:xfrm>
            <a:off x="3108960" y="283052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HTTPS;人用 AD,自身用憑證</a:t>
            </a:r>
            <a:endParaRPr lang="en-US" sz="1050" dirty="0"/>
          </a:p>
        </p:txBody>
      </p:sp>
      <p:sp>
        <p:nvSpPr>
          <p:cNvPr id="22" name="46bfcf9d-d479-4652-8fc0-e7c5787dd461"/>
          <p:cNvSpPr/>
          <p:nvPr/>
        </p:nvSpPr>
        <p:spPr>
          <a:xfrm>
            <a:off x="3017520" y="321234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3" name="eb7f986f-4231-4dec-ae6c-0dda1da30b84"/>
          <p:cNvSpPr/>
          <p:nvPr/>
        </p:nvSpPr>
        <p:spPr>
          <a:xfrm>
            <a:off x="37490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4" name="8ce1b7c4-0bd1-4ce6-a180-71d00d8cad4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69741" y="3451621"/>
            <a:ext cx="307238" cy="307238"/>
          </a:xfrm>
          <a:prstGeom prst="rect">
            <a:avLst/>
          </a:prstGeom>
        </p:spPr>
      </p:pic>
      <p:sp>
        <p:nvSpPr>
          <p:cNvPr id="25" name="ebdbbb03-c392-4ce1-8e5b-32c00a3f3a90"/>
          <p:cNvSpPr/>
          <p:nvPr/>
        </p:nvSpPr>
        <p:spPr>
          <a:xfrm>
            <a:off x="3090672" y="393356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F5 → REST Proxy</a:t>
            </a:r>
            <a:endParaRPr lang="en-US" sz="1400" dirty="0"/>
          </a:p>
        </p:txBody>
      </p:sp>
      <p:sp>
        <p:nvSpPr>
          <p:cNvPr id="26" name="c1bf4a13-58f4-4f79-9664-08fef78aa10a"/>
          <p:cNvSpPr/>
          <p:nvPr/>
        </p:nvSpPr>
        <p:spPr>
          <a:xfrm>
            <a:off x="3108960" y="431539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 透傳;帳密或 client 憑證</a:t>
            </a:r>
            <a:endParaRPr lang="en-US" sz="1050" dirty="0"/>
          </a:p>
        </p:txBody>
      </p:sp>
      <p:sp>
        <p:nvSpPr>
          <p:cNvPr id="27" name="408a4121-e578-4204-96fd-d1bcfe56e13a"/>
          <p:cNvSpPr/>
          <p:nvPr/>
        </p:nvSpPr>
        <p:spPr>
          <a:xfrm>
            <a:off x="3017520" y="469721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1b56682c-dae0-466e-a84e-2f307fd35e56"/>
          <p:cNvSpPr/>
          <p:nvPr/>
        </p:nvSpPr>
        <p:spPr>
          <a:xfrm>
            <a:off x="37490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9" name="9aa67d7b-b0b9-40e5-8b80-f9c06154918d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3869741" y="4936491"/>
            <a:ext cx="307238" cy="307238"/>
          </a:xfrm>
          <a:prstGeom prst="rect">
            <a:avLst/>
          </a:prstGeom>
        </p:spPr>
      </p:pic>
      <p:sp>
        <p:nvSpPr>
          <p:cNvPr id="30" name="b5ae5807-49ed-489b-9165-cba7aff42f78"/>
          <p:cNvSpPr/>
          <p:nvPr/>
        </p:nvSpPr>
        <p:spPr>
          <a:xfrm>
            <a:off x="3090672" y="541843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</a:t>
            </a:r>
            <a:endParaRPr lang="en-US" sz="1400" dirty="0"/>
          </a:p>
        </p:txBody>
      </p:sp>
      <p:sp>
        <p:nvSpPr>
          <p:cNvPr id="31" name="1beba0b1-8248-45e9-88a3-44a76ba5e36a"/>
          <p:cNvSpPr/>
          <p:nvPr/>
        </p:nvSpPr>
        <p:spPr>
          <a:xfrm>
            <a:off x="3108960" y="5800262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+ 帳密</a:t>
            </a:r>
            <a:endParaRPr lang="en-US" sz="1050" dirty="0"/>
          </a:p>
        </p:txBody>
      </p:sp>
      <p:sp>
        <p:nvSpPr>
          <p:cNvPr id="32" name="9f5e0d89-7555-4447-89c1-fa84a1065639"/>
          <p:cNvSpPr/>
          <p:nvPr/>
        </p:nvSpPr>
        <p:spPr>
          <a:xfrm>
            <a:off x="5669280" y="1727475"/>
            <a:ext cx="3657600" cy="441218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97cbcb7a-3d39-4966-8ddb-71fcb6dfa130"/>
          <p:cNvSpPr/>
          <p:nvPr/>
        </p:nvSpPr>
        <p:spPr>
          <a:xfrm>
            <a:off x="5760720" y="1769899"/>
            <a:ext cx="3474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34" name="e941ebec-5166-499d-943e-7b157b955b19"/>
          <p:cNvSpPr/>
          <p:nvPr/>
        </p:nvSpPr>
        <p:spPr>
          <a:xfrm>
            <a:off x="5852160" y="2151723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5" name="56d9bdb8-e301-4ec5-928c-d76236105a1d"/>
          <p:cNvSpPr/>
          <p:nvPr/>
        </p:nvSpPr>
        <p:spPr>
          <a:xfrm>
            <a:off x="7223760" y="227899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6" name="7db1a951-c7e2-4d51-ae88-f5b2baf284a0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7344461" y="2390999"/>
            <a:ext cx="307238" cy="307238"/>
          </a:xfrm>
          <a:prstGeom prst="rect">
            <a:avLst/>
          </a:prstGeom>
        </p:spPr>
      </p:pic>
      <p:sp>
        <p:nvSpPr>
          <p:cNvPr id="37" name="90aadf7c-63bd-43b6-b6bd-4b4c27893a66"/>
          <p:cNvSpPr/>
          <p:nvPr/>
        </p:nvSpPr>
        <p:spPr>
          <a:xfrm>
            <a:off x="5925312" y="287294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×N(內建 MDS)</a:t>
            </a:r>
            <a:endParaRPr lang="en-US" sz="1300" dirty="0"/>
          </a:p>
        </p:txBody>
      </p:sp>
      <p:sp>
        <p:nvSpPr>
          <p:cNvPr id="38" name="d523e66d-6bd2-4824-a05b-da60c87b2c29"/>
          <p:cNvSpPr/>
          <p:nvPr/>
        </p:nvSpPr>
        <p:spPr>
          <a:xfrm>
            <a:off x="5943600" y="325477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對外埠:AD 帳密、SCRAM、token</a:t>
            </a:r>
            <a:endParaRPr lang="en-US" sz="1050" dirty="0"/>
          </a:p>
        </p:txBody>
      </p:sp>
      <p:sp>
        <p:nvSpPr>
          <p:cNvPr id="39" name="db21625f-e94d-4ba8-9e1e-d85230a2c41d"/>
          <p:cNvSpPr/>
          <p:nvPr/>
        </p:nvSpPr>
        <p:spPr>
          <a:xfrm>
            <a:off x="5852160" y="3636594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0" name="39f65197-ef7f-4e25-8c86-fb5709782ce1"/>
          <p:cNvSpPr/>
          <p:nvPr/>
        </p:nvSpPr>
        <p:spPr>
          <a:xfrm>
            <a:off x="7223760" y="37638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1" name="9398556a-8b4d-4510-9859-4cd686a56437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344461" y="3875870"/>
            <a:ext cx="307238" cy="307238"/>
          </a:xfrm>
          <a:prstGeom prst="rect">
            <a:avLst/>
          </a:prstGeom>
        </p:spPr>
      </p:pic>
      <p:sp>
        <p:nvSpPr>
          <p:cNvPr id="42" name="7f07b5a4-05a6-4e81-a32f-a43b7ef6dd42"/>
          <p:cNvSpPr/>
          <p:nvPr/>
        </p:nvSpPr>
        <p:spPr>
          <a:xfrm>
            <a:off x="5925312" y="435781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×3</a:t>
            </a:r>
            <a:endParaRPr lang="en-US" sz="1300" dirty="0"/>
          </a:p>
        </p:txBody>
      </p:sp>
      <p:sp>
        <p:nvSpPr>
          <p:cNvPr id="43" name="275dbe62-e2f1-4b87-85b3-80099c55ae43"/>
          <p:cNvSpPr/>
          <p:nvPr/>
        </p:nvSpPr>
        <p:spPr>
          <a:xfrm>
            <a:off x="5943600" y="473964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內部憑證(mTLS);只接 broker</a:t>
            </a:r>
            <a:endParaRPr lang="en-US" sz="1050" dirty="0"/>
          </a:p>
        </p:txBody>
      </p:sp>
      <p:sp>
        <p:nvSpPr>
          <p:cNvPr id="44" name="57d42e68-b704-4b64-bec6-2f1b783820cc"/>
          <p:cNvSpPr/>
          <p:nvPr/>
        </p:nvSpPr>
        <p:spPr>
          <a:xfrm>
            <a:off x="5852160" y="5079039"/>
            <a:ext cx="3291840" cy="97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內部連線:mTLS,broker 與 controller 共用一張內部憑證(身分是 super user);MDS 負責驗證、授權、簽 token</a:t>
            </a:r>
            <a:endParaRPr lang="en-US" sz="1050" dirty="0"/>
          </a:p>
        </p:txBody>
      </p:sp>
      <p:sp>
        <p:nvSpPr>
          <p:cNvPr id="45" name="15925633-964b-44a4-ab0b-96bddc4e368e"/>
          <p:cNvSpPr/>
          <p:nvPr/>
        </p:nvSpPr>
        <p:spPr>
          <a:xfrm>
            <a:off x="9692640" y="172747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6" name="f2c04a7e-52b9-4909-8570-99df5114148a"/>
          <p:cNvSpPr/>
          <p:nvPr/>
        </p:nvSpPr>
        <p:spPr>
          <a:xfrm>
            <a:off x="10392156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7" name="2bd76af3-71bf-4341-9657-4bc798fa445f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10512857" y="1966751"/>
            <a:ext cx="307238" cy="307238"/>
          </a:xfrm>
          <a:prstGeom prst="rect">
            <a:avLst/>
          </a:prstGeom>
        </p:spPr>
      </p:pic>
      <p:sp>
        <p:nvSpPr>
          <p:cNvPr id="48" name="2ad5716d-aa5c-4759-8583-56de46c740b7"/>
          <p:cNvSpPr/>
          <p:nvPr/>
        </p:nvSpPr>
        <p:spPr>
          <a:xfrm>
            <a:off x="9765792" y="2448697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</p:txBody>
      </p:sp>
      <p:sp>
        <p:nvSpPr>
          <p:cNvPr id="49" name="63eef6fe-4f77-4895-b803-4c5c9743ce5f"/>
          <p:cNvSpPr/>
          <p:nvPr/>
        </p:nvSpPr>
        <p:spPr>
          <a:xfrm>
            <a:off x="9784080" y="283052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使用者與群組;加密連線</a:t>
            </a:r>
            <a:endParaRPr lang="en-US" sz="1050" dirty="0"/>
          </a:p>
        </p:txBody>
      </p:sp>
      <p:sp>
        <p:nvSpPr>
          <p:cNvPr id="50" name="292928ed-5665-46e3-a4ad-02c894f319b0"/>
          <p:cNvSpPr/>
          <p:nvPr/>
        </p:nvSpPr>
        <p:spPr>
          <a:xfrm>
            <a:off x="9692640" y="321234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1" name="2bf04ac9-9550-43eb-912e-9cd4c7a46ff6"/>
          <p:cNvSpPr/>
          <p:nvPr/>
        </p:nvSpPr>
        <p:spPr>
          <a:xfrm>
            <a:off x="10392156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52" name="1d81a62f-43f3-47a6-8749-d757fdbbc4c5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10512857" y="3451621"/>
            <a:ext cx="307238" cy="307238"/>
          </a:xfrm>
          <a:prstGeom prst="rect">
            <a:avLst/>
          </a:prstGeom>
        </p:spPr>
      </p:pic>
      <p:sp>
        <p:nvSpPr>
          <p:cNvPr id="53" name="6e12b90e-3d0e-4575-b2d0-1a565da7127a"/>
          <p:cNvSpPr/>
          <p:nvPr/>
        </p:nvSpPr>
        <p:spPr>
          <a:xfrm>
            <a:off x="9765792" y="393356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</a:t>
            </a:r>
            <a:endParaRPr lang="en-US" sz="1400" dirty="0"/>
          </a:p>
        </p:txBody>
      </p:sp>
      <p:sp>
        <p:nvSpPr>
          <p:cNvPr id="54" name="73661df9-d947-45dd-83d5-93cdd239aea2"/>
          <p:cNvSpPr/>
          <p:nvPr/>
        </p:nvSpPr>
        <p:spPr>
          <a:xfrm>
            <a:off x="9784080" y="431539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PSM、CPM、CCP</a:t>
            </a:r>
            <a:endParaRPr lang="en-US" sz="1050" dirty="0"/>
          </a:p>
        </p:txBody>
      </p:sp>
      <p:sp>
        <p:nvSpPr>
          <p:cNvPr id="55" name="e32ea9ab-b1d0-4d79-99fc-eacc51e4c7f8"/>
          <p:cNvSpPr/>
          <p:nvPr/>
        </p:nvSpPr>
        <p:spPr>
          <a:xfrm>
            <a:off x="9692640" y="469721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56" name="66c0eb3b-6d6e-43bf-bfec-763acc530124"/>
          <p:cNvSpPr/>
          <p:nvPr/>
        </p:nvSpPr>
        <p:spPr>
          <a:xfrm>
            <a:off x="10392156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57" name="5bb8b318-34ed-414b-aa42-4b7c77d9514b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10512857" y="4936491"/>
            <a:ext cx="307238" cy="307238"/>
          </a:xfrm>
          <a:prstGeom prst="rect">
            <a:avLst/>
          </a:prstGeom>
        </p:spPr>
      </p:pic>
      <p:sp>
        <p:nvSpPr>
          <p:cNvPr id="58" name="60106f87-146e-460b-8195-e22eaf121b5e"/>
          <p:cNvSpPr/>
          <p:nvPr/>
        </p:nvSpPr>
        <p:spPr>
          <a:xfrm>
            <a:off x="9765792" y="541843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</a:t>
            </a:r>
            <a:endParaRPr lang="en-US" sz="1400" dirty="0"/>
          </a:p>
        </p:txBody>
      </p:sp>
      <p:sp>
        <p:nvSpPr>
          <p:cNvPr id="59" name="9a22645a-04bd-4d60-8425-d50cbfc913af"/>
          <p:cNvSpPr/>
          <p:nvPr/>
        </p:nvSpPr>
        <p:spPr>
          <a:xfrm>
            <a:off x="9784080" y="5800262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內部埠只開給叢集</a:t>
            </a:r>
            <a:endParaRPr lang="en-US" sz="1050" dirty="0"/>
          </a:p>
        </p:txBody>
      </p:sp>
      <p:sp>
        <p:nvSpPr>
          <p:cNvPr id="60" name="2e509f17-4653-49a8-be78-a1dca4870f74"/>
          <p:cNvSpPr/>
          <p:nvPr/>
        </p:nvSpPr>
        <p:spPr>
          <a:xfrm>
            <a:off x="2468880" y="2406272"/>
            <a:ext cx="5486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1" name="9f2780a1-fe82-44c1-9631-642f4e62932c"/>
          <p:cNvSpPr/>
          <p:nvPr/>
        </p:nvSpPr>
        <p:spPr>
          <a:xfrm>
            <a:off x="2468880" y="3891143"/>
            <a:ext cx="5486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62" name="1f6f64ab-9c26-47ef-ba94-587e5d34e18f"/>
          <p:cNvSpPr/>
          <p:nvPr/>
        </p:nvSpPr>
        <p:spPr>
          <a:xfrm>
            <a:off x="5029200" y="2406272"/>
            <a:ext cx="640080" cy="212124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3" name="b0e0d1a2-798a-4275-b26e-32f0f66d0d79"/>
          <p:cNvSpPr/>
          <p:nvPr/>
        </p:nvSpPr>
        <p:spPr>
          <a:xfrm flipV="1">
            <a:off x="5029200" y="3212345"/>
            <a:ext cx="640080" cy="678798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4" name="19ff6d33-cd29-4706-83ef-035483e52a59"/>
          <p:cNvSpPr/>
          <p:nvPr/>
        </p:nvSpPr>
        <p:spPr>
          <a:xfrm flipV="1">
            <a:off x="9235440" y="2406272"/>
            <a:ext cx="457200" cy="296974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5" name="2923363f-0d17-4005-8bb6-09173d1d217a"/>
          <p:cNvSpPr/>
          <p:nvPr/>
        </p:nvSpPr>
        <p:spPr>
          <a:xfrm flipH="1">
            <a:off x="9235440" y="3891143"/>
            <a:ext cx="457200" cy="0"/>
          </a:xfrm>
          <a:prstGeom prst="line">
            <a:avLst/>
          </a:prstGeom>
          <a:noFill/>
          <a:ln w="2857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66" name="e9b17328-0250-4772-bab1-0848249b8110"/>
          <p:cNvSpPr/>
          <p:nvPr/>
        </p:nvSpPr>
        <p:spPr>
          <a:xfrm>
            <a:off x="2468880" y="5376013"/>
            <a:ext cx="3200400" cy="42425"/>
          </a:xfrm>
          <a:prstGeom prst="line">
            <a:avLst/>
          </a:prstGeom>
          <a:noFill/>
          <a:ln w="28575">
            <a:solidFill>
              <a:srgbClr val="156082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四條身分路徑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誰用什麼身分進來;最後都由 broker 的 RBAC 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a823981a-8a13-4b5b-b717-4007be05c9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200400"/>
                <a:gridCol w="31363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 → MDS 向 AD 驗證 → 簽發 1 小時 token;C3 與 REST Proxy 以本人身分連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群組;依「現在」的群組判斷,異動立即生效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AD;不經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服務(直連)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內建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角色綁在帳號上;只開放自己的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 + 應用端;密碼由 CyberArk 保管與取用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憑證(C3、REST Proxy、bootstrap)向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必須是 SystemAdmin(官方要求);REST Proxy 可代為申請,受保護清單擋特權身分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各主機 0600;私鑰可由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憑證經 REST Proxy,代為向 MDS 取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看到的是該系統,不是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應用端;私鑰可由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af3f7b03-4409-45f4-b767-e0e53d517aa6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憑證只做傳輸加密;把它當身分會讓所有持有者變成同一個人(實測),所以不綁任何角色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二、人與授權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AD 帳號、7 個群組、唯讀與臨時提權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人:AD 帳號登入,授權跟著群組走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帳號與群組都在 AD;人員異動只改 AD,Kafka 端不用改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c97b32ad-415c-4944-a426-e5861450e0f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Proxy、工具、OP menu 都用 AD 帳密;登入大小寫不分,系統內的身分名稱以 AD 記錄的 CN 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群組;加入群組約數秒生效(MDS 定期重讀群組);移出群組後已發出的 token 立刻失去權限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離職與調動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只改 AD;帳號停用前,已發出的 token 在到期前仍能通過認證但沒有任何權限,所以離職要同時停用 AD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角色綁定的主體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群組用 Group:名稱;個人與憑證用 User:名稱,區分大小寫,要寫 AD 記錄的寫法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唯讀原則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正式環境人只有讀取權;建 topic、改授權、看叢集狀態分給三個維運群組,臨時加入、做完移出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64d680e2-eb01-4fba-8858-b220bf756ab4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 AD 密碼不經 CyberArk;CyberArk 管的是「主機登入」與「機器密碼」(第五章)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群組與角色(7 組)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高權限群組平常是空的;每個群組指定負責人,定期覆核成員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7d6798e8-c0ed-428a-8238-bf9a8f59660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908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實際能做什麼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DeveloperRead(該系統的 topic)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topic、讀資料;正式環境人的日常權限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看叢集狀態;建不了 topic、讀不到資料、改不了授權,連 topic 細節也看不到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group,讀得到資料,並能在自己範圍內改授權 → 強角色,只臨時加入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叢集設定、建立應用系統的 SCRAM 帳號;不能讀寫資料、不能改授權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只管授權(指派、移除角色),不能建 topic、不能讀資料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紀錄的讀取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設定與紀錄;不能改授權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全部權限;平常沒有人,緊急時經核准臨時加入,事後移出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55a896b8-ba8a-4d79-bb01-44f76397a38d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「能做什麼」是實測結果,不是推論;topic-admin 比直覺強,所以列為臨時角色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人只能唯讀:臨時提權與收回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需要變更時的流程;全程只動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c874814-2f5b-41d3-a25e-b4b59eca467b"/>
          <p:cNvSpPr/>
          <p:nvPr/>
        </p:nvSpPr>
        <p:spPr>
          <a:xfrm>
            <a:off x="548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50d71d3-6200-447a-9ac6-69aaab1b527c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6ba915b1-a5c7-4b63-a970-a84c7fc49800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</a:t>
            </a:r>
            <a:endParaRPr lang="en-US" sz="1400" dirty="0"/>
          </a:p>
        </p:txBody>
      </p:sp>
      <p:sp>
        <p:nvSpPr>
          <p:cNvPr id="5" name="46b19440-54c1-4d99-b97b-6173f8d29a8c"/>
          <p:cNvSpPr/>
          <p:nvPr/>
        </p:nvSpPr>
        <p:spPr>
          <a:xfrm>
            <a:off x="640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依現行核准方式提出;指定群組與時限</a:t>
            </a:r>
            <a:endParaRPr lang="en-US" sz="1100" dirty="0"/>
          </a:p>
        </p:txBody>
      </p:sp>
      <p:sp>
        <p:nvSpPr>
          <p:cNvPr id="6" name="61db1349-6f1d-416c-a2f0-4dbca1975893"/>
          <p:cNvSpPr/>
          <p:nvPr/>
        </p:nvSpPr>
        <p:spPr>
          <a:xfrm>
            <a:off x="2834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b24b46cc-0d44-440a-ae5a-0d373a0139d3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5ae0c651-4833-438c-ae15-5a81e6b10f3b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</a:t>
            </a:r>
            <a:endParaRPr lang="en-US" sz="1400" dirty="0"/>
          </a:p>
        </p:txBody>
      </p:sp>
      <p:sp>
        <p:nvSpPr>
          <p:cNvPr id="9" name="887c61e7-6274-4592-b4c0-5521695b84be"/>
          <p:cNvSpPr/>
          <p:nvPr/>
        </p:nvSpPr>
        <p:spPr>
          <a:xfrm>
            <a:off x="2926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管理員把人加進 kafka-topic-admin 等群組</a:t>
            </a:r>
            <a:endParaRPr lang="en-US" sz="1100" dirty="0"/>
          </a:p>
        </p:txBody>
      </p:sp>
      <p:sp>
        <p:nvSpPr>
          <p:cNvPr id="10" name="e5cf2c97-9994-457d-aab3-e173115024c8"/>
          <p:cNvSpPr/>
          <p:nvPr/>
        </p:nvSpPr>
        <p:spPr>
          <a:xfrm>
            <a:off x="5120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82b66017-b2e6-4d8b-90ab-2d0b4a18048e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ffcd6417-43a7-46c8-85bb-dcf90fd0b56c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數秒內生效</a:t>
            </a:r>
            <a:endParaRPr lang="en-US" sz="1400" dirty="0"/>
          </a:p>
        </p:txBody>
      </p:sp>
      <p:sp>
        <p:nvSpPr>
          <p:cNvPr id="13" name="14f95241-762c-40f1-ba7f-5925f0f30645"/>
          <p:cNvSpPr/>
          <p:nvPr/>
        </p:nvSpPr>
        <p:spPr>
          <a:xfrm>
            <a:off x="5212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定期重讀群組;本人用同一個帳號操作</a:t>
            </a:r>
            <a:endParaRPr lang="en-US" sz="1100" dirty="0"/>
          </a:p>
        </p:txBody>
      </p:sp>
      <p:sp>
        <p:nvSpPr>
          <p:cNvPr id="14" name="0c496749-2413-46e2-9b99-c14b8259ee0a"/>
          <p:cNvSpPr/>
          <p:nvPr/>
        </p:nvSpPr>
        <p:spPr>
          <a:xfrm>
            <a:off x="7406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8e439ece-6512-4a3a-a8e5-c2af6f991600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04c37789-16da-42cc-906c-bce2ad03578c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做完移出</a:t>
            </a:r>
            <a:endParaRPr lang="en-US" sz="1400" dirty="0"/>
          </a:p>
        </p:txBody>
      </p:sp>
      <p:sp>
        <p:nvSpPr>
          <p:cNvPr id="17" name="5395646c-253e-40ed-bb6b-df6d69f23337"/>
          <p:cNvSpPr/>
          <p:nvPr/>
        </p:nvSpPr>
        <p:spPr>
          <a:xfrm>
            <a:off x="7498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時限到或工作完成即移出;已發出的 token 立刻失去權限</a:t>
            </a:r>
            <a:endParaRPr lang="en-US" sz="1100" dirty="0"/>
          </a:p>
        </p:txBody>
      </p:sp>
      <p:sp>
        <p:nvSpPr>
          <p:cNvPr id="18" name="2572fea4-3620-4cfb-bb16-e2f61e476b9d"/>
          <p:cNvSpPr/>
          <p:nvPr/>
        </p:nvSpPr>
        <p:spPr>
          <a:xfrm>
            <a:off x="9692640" y="1769899"/>
            <a:ext cx="1947672" cy="19515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9" name="b992a9bc-8f05-4122-bbdd-198b14850e99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f6c66742-e4e1-4784-8e5e-39ab4779d176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事後可查</a:t>
            </a:r>
            <a:endParaRPr lang="en-US" sz="1400" dirty="0"/>
          </a:p>
        </p:txBody>
      </p:sp>
      <p:sp>
        <p:nvSpPr>
          <p:cNvPr id="21" name="3335a3e5-b023-4a88-b397-85543be41063"/>
          <p:cNvSpPr/>
          <p:nvPr/>
        </p:nvSpPr>
        <p:spPr>
          <a:xfrm>
            <a:off x="9784080" y="2745671"/>
            <a:ext cx="1764792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紀錄:誰、什麼時候、對什麼做了什麼、結果</a:t>
            </a:r>
            <a:endParaRPr lang="en-US" sz="1100" dirty="0"/>
          </a:p>
        </p:txBody>
      </p:sp>
      <p:sp>
        <p:nvSpPr>
          <p:cNvPr id="22" name="e1f2819d-5a51-48e4-b943-a118d69cfdc2"/>
          <p:cNvSpPr/>
          <p:nvPr/>
        </p:nvSpPr>
        <p:spPr>
          <a:xfrm>
            <a:off x="2651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ec764a4c-c020-4ac5-a93e-6e97acbdff7d"/>
          <p:cNvSpPr/>
          <p:nvPr/>
        </p:nvSpPr>
        <p:spPr>
          <a:xfrm>
            <a:off x="4937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6b0e3f21-70b2-4a6a-8822-41544b85c1a7"/>
          <p:cNvSpPr/>
          <p:nvPr/>
        </p:nvSpPr>
        <p:spPr>
          <a:xfrm>
            <a:off x="7223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8d711509-2489-43cf-b5c4-6174fbcf76d9"/>
          <p:cNvSpPr/>
          <p:nvPr/>
        </p:nvSpPr>
        <p:spPr>
          <a:xfrm>
            <a:off x="9509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7" name="600d7352-330f-47eb-8131-8b042ba9697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加入哪個群組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看叢集健康、分割區狀態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kafka-ops(看得到、改不了)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kafka-topic-admin(強角色,做完立刻移出)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kafka-rbac-admin(只管授權)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建立應用系統帳號、叢集設定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三、應用系統、平台元件與線路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SCRAM、client 憑證、F5、傳輸加密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應用系統:兩種連線方式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能用 Kafka 用戶端的直連;只能 HTTP 的經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c5dc7a81-7029-4699-a40b-bed084d740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帳號(Kafka 內建,不佔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憑證;REST Proxy 以自己的憑證向 MDS 代為申請該系統的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與 audit 看到的是該系統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最小權限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group;碰別的 topic 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上線流程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建帳號 → 綁角色 → 密碼交付(建議經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簽憑證 → 綁角色 → 私鑰交付(建議經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密碼或憑證更換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新帳號並行 → 應用切換 → 停舊,不中斷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憑證到期前換發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必要的保護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密碼不落地:啟動時從 CyberArk 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受保護清單:管理員與平台身分不可被代為申請;清單區分大小寫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cdb72f46-f2e4-4358-adc9-5a4b8393a3d4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的憑證可以代任何不在受保護清單的身分,所以清單要列入所有特權身分,寫法要與 AD 記錄一致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平台元件與憑證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憑證總數:一張共用 server 憑證 + 一張內部憑證 + 各元件一張 client 憑證 + 經 REST Proxy 的系統各一張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008acf5a-85df-401a-8fa1-541e6ab9cef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要注意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憑證(1 張)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所有元件的 TLS 加密;名稱要涵蓋所有主機與 F5 的名稱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只做加密、不當身分、不綁任何角色;不要收斂憑證用途(C3 內部會出示它)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自身向 MDS 認證;該身分必須是 SystemAdmin(官方要求)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拿到私鑰等於管理員:檔案權限、不入版本庫、列入受保護清單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代應用系統向 MDS 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同上;受保護清單擋特權身分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內部憑證(1 張,broker 與 controller 共用)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內部埠與 controller 埠的 mTLS;身分是 super user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拿到私鑰等於叢集管理員:每台 0600、不入版本庫;稽核分不出是哪一台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初始化第一批授權;平常不用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封存,建議由 CyberArk 保管、依單借出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的系統各一張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該系統的身分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隨系統數增加;命名規範先定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5d81b2ec-fa55-4f01-ba3f-0d3534b312d1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可用行內既有的 AD CS;若 CyberArk 含 Certificate Manager 也可由它簽發與續期(選配)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負載平衡(F5)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只放在 REST Proxy 前面;其他連線不需要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ca8673d8-4680-40e4-815b-4b3bbdd477f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 → F5 → REST Proxy ×N;broker、MDS、C3 不經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L4(TCP)透傳。F5 不終止 TLS:終止會讓 REST Proxy 看不到 client 憑證,憑證身分全部失效(實測 401)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危險設定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 終止 TLS 再用固定憑證連後端:所有呼叫者(含沒憑證的)都變成同一個身分(實測)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名稱要含 F5 的虛擬伺服器名稱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consumer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consumer 實例綁在某一台,需要 sticky(同一來源固定到同一台);producer 不需要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設定多台 MDS 位址即可自動切換(實測:停一台仍全部成功,首次切換約 8 秒),不需要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要確認的 F5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虛擬伺服器類型、後端 TLS session 復用、persistence、idle timeout、SNAT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傳輸加密與入口保護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每一條線都加密;每一個入口都要認證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53c82bba-ac87-45ba-9cb0-cb0c5526a2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935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線路或入口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→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加密連線(636 埠),信任行內 CA;只有連 AD 的 broker 需要信任庫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憑證若有中繼 CA,信任庫要放進中繼 CA(實測)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 →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HTTPS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使用者端要信任行內 CA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Prometheus、Alertmanager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+ 帳密;C3 與 broker 推送指標都帶帳密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沒有細部授權:帳密依用途分開;日誌會印出帳密標頭,要保護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內建 Admin REST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依官方設定安全擴充:匿名擋下、依使用者角色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未設定時完全沒有認證;與 MDS 共用埠,不能靠防火牆擋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內部埠(broker 互連、controller)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mTLS:broker 與 controller 共用一張內部憑證;防火牆只開給叢集節點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憑證身分是 super user,私鑰要保護;稽核分不出是哪一台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應用與工具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TLS;人用 AD 帳密、服務用 SCRAM、元件用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同一個對外埠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帳號被偷之後:六道防線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假設某個帳密外洩,多久被發現、能做多少事、多久失效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70233683-8fcd-4c84-89a8-3cd8f948e3c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3017520"/>
                <a:gridCol w="25877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效果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測試環境結果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重新認證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 re-authentication:長連線每隔一段時間重新驗證(建議 1 小時)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帳號被停用或改密碼後,既有長連線在期限內被切斷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改密碼後舊連線被切斷(測試值 60 秒)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認證失敗告警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認證失敗次數的告警規則(Prometheus)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密碼被猜、被撞庫時能發現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連續失敗觸發告警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版本與套件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TLS 1.3 / 1.2 與 AEAD 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擋掉老舊、較弱的套件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設定前 broker 接受舊的 CBC 套件;設定後被拒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單一來源連線上限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每個來源 IP 的連線數上限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一個來源不能開無限條連線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超過上限的連線被拒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流量配額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quota(位元組/秒)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被偷的帳號最多能灌多少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超過配額即被限速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帳戶鎖定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的鎖定原則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擋暴力猜密碼;但鎖定也能被拿來鎖別人的帳號(雙面刃)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鎖定後 MDS 與 Kafka 同時失敗;緊急路徑與機器帳號不受影響;解鎖即恢復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SCRAM 帳號:停用,不要刪除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Apache Kafka 已知問題;影響 Confluent Platform 8.3.x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2e9bf68e-92a1-4dd8-ace2-3c0483b98a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已知問題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刪除 SCRAM 憑證後,broker 重放 metadata 時會丟掉整組 SCRAM 使用者(KAFKA-20774);修復在 Kafka 4.5.0(尚未發行),Confluent Platform 8.3.x 內含 Kafka 4.3.x,受影響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症狀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內部通道用 SCRAM:broker 重啟後起不來。內部通道用 mTLS:broker 起得來,但對外埠所有 SCRAM 登入失敗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何時發生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全新叢集刪除一個 SCRAM 帳號後重啟 broker 即重現;跑很久、已有 metadata 快照的叢集不一定重現——沒重現不代表安全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停用 = 覆寫成隨機密碼 + 解除角色,一律不刪除;內部通道採 mTLS,降低 broker 起不來的風險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已經刪過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重建被刪的同名帳號(任何密碼),再滾動重啟 broker 即恢復;不必清資料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Schema Registry 與欄位級加密(CSFLE)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授權沿用同一套身分與群組;欄位加密本身需要加購授權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4" name="37345be2-4c7d-4783-9ef7-78a1f92b7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5196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要帳密:不帶或密碼錯 401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subject 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跟 AD 群組走:訂單群組只能碰 orders. 開頭的 subject,其他被拒;列出 subject 只看到有權限的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金鑰加密金鑰(KEK)管理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只有 security 群組能建;應用群組只被授權讀;無角色者被拒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Schema Registry 自身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 client 憑證向 MDS 換 token 連 Kafka,不佔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規則沒生效的風險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沒開規則 extension 時,加密規則被默默丟掉、資料以明文寫入;上線前與每次改規則後,要讀 topic 原始位元組確認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欄位實際加密與解密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註冊帶加密規則的 schema 需要企業版加 CSFLE 加購授權,否則回 402;加密、解密、金鑰輪替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未驗證(待授權)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解密權限與 KMS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由 KMS 控制,不是 Kafka 的 RBAC;內建支援 AWS、Azure、GCP、HashiCorp Vault;地端 HSM 需自訂 Java 驅動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依官方文件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監控、告警與稽核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看得到、告得了、查得到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5" name="ab53c372-b496-4c19-9fdc-5d7575408ab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搭配 Prometheus;指標由 broker 推送;維護前用 OP menu 對該節點靜音告警,做完即結束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路由;靜音與告警變更要有人看(有帳密就能靜音,所以帳密分開)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稽核(audit)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寫入 audit 事件:誰、什麼時候、對什麼、允許或拒絕;授權變更(含非管理員的嘗試)都有紀錄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定期覆核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匯出權限清單(角色、主體、資源範圍)供覆核;SystemAdmin 保持最少人數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紀錄保護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每個動作留紀錄並集中到 syslog;C3、Prometheus 日誌含帳密標頭,權限要收緊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四、日常維運與緊急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OP menu、跳板機與主機、初始化與緊急模式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OP menu:分層與真正的門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操作員只從選單執行審核過的作業;選單不判斷權限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6" name="4397c370-651c-4a18-b2fd-9de4dfa27b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4480560"/>
                <a:gridCol w="24963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健康檢查(含身分鏈)、topic 狀態、consumer 落後量、磁碟、憑證到期日、leader 分布、生效設定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broker、滾動重啟、維護模式、查看服務日誌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規則;一次一台,每台等叢集恢復才換下一台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kafka-topic-admin;kafka-cluster-admin + 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topic、應用系統帳號上線與下架、更換密碼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RBAC;執行前顯示影響並要求確認;可限制時段、同一時間只允許一人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kafka-rbac-admin、kafka-security;緊急模式依 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指派權限、匯出與查詢 audit、匯出權限清單、緊急模式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RBAC;緊急模式經 sudo 切換專用帳號,逐條記錄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a02f52ac-b23c-4889-9f69-50caa0c430cd"/>
          <p:cNvSpPr/>
          <p:nvPr/>
        </p:nvSpPr>
        <p:spPr>
          <a:xfrm>
            <a:off x="548640" y="5418438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依本人 AD 帳號判斷;主機的動作由 sudo 規則判斷;每次執行留紀錄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跳板機與主機:兩種情況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不影響 Kafka 本身(broker 查 AD 不需要主機加入網域);只影響人怎麼登入主機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7" name="83a5739d-9541-4ba7-b20b-961b9ef44e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622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主機沒有加入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帳號;OP menu 直接取登入者,不再問帳密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本機帳號(或經 CyberArk PSM 代登入);OP menu 自己問 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直接引用 AD 群組;人員異動只改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維護本機帳號與群組,或把 PSM 當門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操作員用本人身分 ssh;主機日誌直接看得到是誰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用自動化帳號 ssh(key 由 CyberArk 保管與輪替、執行時取);「是誰」靠 OP menu 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份量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root 與 breakglass、PSM 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加上日常 ssh 身分也靠它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較簡單、稽核直接;若客戶可做,建議這條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可行;多一個自動化帳號要管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212f01ed-c67f-43e9-9eaf-fc4106bb514e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 兩種情況都支援,只差一個設定;待客戶回答:主機與跳板機是否加入 AD、人連主機是否一律經 PSM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初始化與緊急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bootstrap 只用於初始化;緊急時用自己的身分加 breakglass 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c8ad7a2-d6dc-4ba3-b28d-0ff665266c7a"/>
          <p:cNvSpPr/>
          <p:nvPr/>
        </p:nvSpPr>
        <p:spPr>
          <a:xfrm>
            <a:off x="54864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c8f11f76-6102-4634-a321-e69808ae2f58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3c3856d0-80ff-43da-9fe7-bafa3b8f7c80"/>
          <p:cNvSpPr/>
          <p:nvPr/>
        </p:nvSpPr>
        <p:spPr>
          <a:xfrm>
            <a:off x="64008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5" name="d96e6ed5-1789-4a60-acd5-87c50aaa2646"/>
          <p:cNvSpPr/>
          <p:nvPr/>
        </p:nvSpPr>
        <p:spPr>
          <a:xfrm>
            <a:off x="64008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bootstrap 憑證建立第一批授權:C3、REST Proxy、7 個群組</a:t>
            </a:r>
            <a:endParaRPr lang="en-US" sz="1100" dirty="0"/>
          </a:p>
        </p:txBody>
      </p:sp>
      <p:sp>
        <p:nvSpPr>
          <p:cNvPr id="6" name="0b68ed53-af45-4529-bc31-eb161c8b60a9"/>
          <p:cNvSpPr/>
          <p:nvPr/>
        </p:nvSpPr>
        <p:spPr>
          <a:xfrm>
            <a:off x="338328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ce880314-79ed-47e7-aa1b-0b9dd6864c81"/>
          <p:cNvSpPr/>
          <p:nvPr/>
        </p:nvSpPr>
        <p:spPr>
          <a:xfrm>
            <a:off x="349300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f8457b0b-8b02-46ad-a66e-24c9029306ec"/>
          <p:cNvSpPr/>
          <p:nvPr/>
        </p:nvSpPr>
        <p:spPr>
          <a:xfrm>
            <a:off x="347472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驗收</a:t>
            </a:r>
            <a:endParaRPr lang="en-US" sz="1400" dirty="0"/>
          </a:p>
        </p:txBody>
      </p:sp>
      <p:sp>
        <p:nvSpPr>
          <p:cNvPr id="9" name="e83a3312-8ee8-4039-9b05-7698529aa95f"/>
          <p:cNvSpPr/>
          <p:nvPr/>
        </p:nvSpPr>
        <p:spPr>
          <a:xfrm>
            <a:off x="347472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AD 身分確認:rbac-admin 能改授權、ops 不能變更、無群組被拒</a:t>
            </a:r>
            <a:endParaRPr lang="en-US" sz="1100" dirty="0"/>
          </a:p>
        </p:txBody>
      </p:sp>
      <p:sp>
        <p:nvSpPr>
          <p:cNvPr id="10" name="0ebdd481-7830-4e53-8197-c79d660f4821"/>
          <p:cNvSpPr/>
          <p:nvPr/>
        </p:nvSpPr>
        <p:spPr>
          <a:xfrm>
            <a:off x="621792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1" name="070fa618-62b2-40b1-bb82-e6d091ab68cd"/>
          <p:cNvSpPr/>
          <p:nvPr/>
        </p:nvSpPr>
        <p:spPr>
          <a:xfrm>
            <a:off x="632764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f6c2ef83-f00a-4a22-85f3-b67bf6c81218"/>
          <p:cNvSpPr/>
          <p:nvPr/>
        </p:nvSpPr>
        <p:spPr>
          <a:xfrm>
            <a:off x="630936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封存</a:t>
            </a:r>
            <a:endParaRPr lang="en-US" sz="1400" dirty="0"/>
          </a:p>
        </p:txBody>
      </p:sp>
      <p:sp>
        <p:nvSpPr>
          <p:cNvPr id="13" name="cc0b8029-4bf1-4c7e-a6a5-9b4f4a16c154"/>
          <p:cNvSpPr/>
          <p:nvPr/>
        </p:nvSpPr>
        <p:spPr>
          <a:xfrm>
            <a:off x="630936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憑證私鑰離線保管(建議 CyberArk);日常不使用</a:t>
            </a:r>
            <a:endParaRPr lang="en-US" sz="1100" dirty="0"/>
          </a:p>
        </p:txBody>
      </p:sp>
      <p:sp>
        <p:nvSpPr>
          <p:cNvPr id="14" name="e168ece7-9490-4178-91ff-7f38a3cabfd9"/>
          <p:cNvSpPr/>
          <p:nvPr/>
        </p:nvSpPr>
        <p:spPr>
          <a:xfrm>
            <a:off x="9052560" y="1769899"/>
            <a:ext cx="2587752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5485b903-2d4a-418a-9950-bfd8d2c36705"/>
          <p:cNvSpPr/>
          <p:nvPr/>
        </p:nvSpPr>
        <p:spPr>
          <a:xfrm>
            <a:off x="916228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61dda1ea-be67-44c4-b910-54d84f2b67ee"/>
          <p:cNvSpPr/>
          <p:nvPr/>
        </p:nvSpPr>
        <p:spPr>
          <a:xfrm>
            <a:off x="9144000" y="2295968"/>
            <a:ext cx="24048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緊急</a:t>
            </a:r>
            <a:endParaRPr lang="en-US" sz="1400" dirty="0"/>
          </a:p>
        </p:txBody>
      </p:sp>
      <p:sp>
        <p:nvSpPr>
          <p:cNvPr id="17" name="354b5b89-d08d-4c66-8abb-4a833355e163"/>
          <p:cNvSpPr/>
          <p:nvPr/>
        </p:nvSpPr>
        <p:spPr>
          <a:xfrm>
            <a:off x="9144000" y="2745671"/>
            <a:ext cx="2404872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經核准臨時加入 kafka-breakglass,用本人身分操作;事後移出並查 audit</a:t>
            </a:r>
            <a:endParaRPr lang="en-US" sz="1100" dirty="0"/>
          </a:p>
        </p:txBody>
      </p:sp>
      <p:sp>
        <p:nvSpPr>
          <p:cNvPr id="18" name="97209fd5-0ef8-4349-a65c-c936b950d316"/>
          <p:cNvSpPr/>
          <p:nvPr/>
        </p:nvSpPr>
        <p:spPr>
          <a:xfrm>
            <a:off x="320040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658a0934-48c0-4c6e-82ad-5b402ad3d4c0"/>
          <p:cNvSpPr/>
          <p:nvPr/>
        </p:nvSpPr>
        <p:spPr>
          <a:xfrm>
            <a:off x="603504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07b8e3e8-2864-4514-8cfa-1161b23a7152"/>
          <p:cNvSpPr/>
          <p:nvPr/>
        </p:nvSpPr>
        <p:spPr>
          <a:xfrm>
            <a:off x="886968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18" name="2ff6d748-99bb-4439-8741-2b10a6c85f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06293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或 MDS 身分機制失效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憑證經 OP menu 緊急模式(sudo 切換專用帳號)執行單一指令,逐條記錄;事後輪替憑證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 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保持最少;平常 kafka-breakglass 是空的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緊急模式每一條指令都記錄;CyberArk PSM 可加錄影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五、CyberArk 整合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先懂元件,再看接在哪裡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是什麼:會用到的元件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一套「特權存取與秘密管理」平台;不同模組解決不同問題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9" name="c2fc77d7-e784-4338-9da5-47309925a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我們用在哪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加密保存密碼、私鑰等「秘密」;PVWA 是管理與申請的網頁介面(核准流程、借出紀錄)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 bootstrap 私鑰、root 密碼、breakglass 相關;依單借出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自動定期更換被納管帳號的密碼或 SSH key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輪替跳板機與各主機的 root、本機帳號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/ PSM for SSH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人連主機時由它代登入(密碼不經手)並錄影;可當跳板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人登入跳板機與主機;緊急操作有錄影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應用程式用的取密碼 API:以應用識別 + 主機或憑證認證,回傳密碼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應用系統啟動時取 SCRAM 密碼;平台元件啟動前取設定檔密碼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新一代的秘密管理(含 Kubernetes、CI/CD);host 身分換短效 token 取秘密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若客戶已採用,可取代 CCP 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小工具:啟動程式前把秘密變成環境變數,不改程式碼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不方便改程式的應用或腳本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Certificate Manager(選配)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憑證簽發、到期追蹤與自動續期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憑證與 client 憑證的生命週期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整合總圖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身分與授權不變;CyberArk 只接管「密碼與私鑰放哪、誰能拿、怎麼輪替、怎麼錄影」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0" name="7a560351-5eb7-4fe1-9822-4b1beebc16e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4389120"/>
                <a:gridCol w="15819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現有機制(不變)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接入點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帳密換 token;角色綁 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不經 CyberArk;只有「登入跳板機」這段可先過 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+ OP menu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身分 + sudo;動作留紀錄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代登入與錄影;sudo 引用 AD 群組;緊急操作有錄影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OS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 + sudoers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 定期輪替 root 與本機帳號;人要用時經 PSM 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/ 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 0600;群組平常空的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私鑰存 Vault,依單核准借出、用完換發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帳密或 client 憑證 + 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啟動時向 CCP 取密碼或私鑰,在記憶體使用、不落地;不改程式用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/ Conjur /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平台元件設定檔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設定檔內的密碼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Secret Protection 加密設定檔,主金鑰啟動時向 CCP 取;或啟動前取密碼寫 0600 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+ Secret Protection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一張憑證只做加密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(選配)Certificate Manager 簽發與續期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 Manager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4915caf1-8ac9-4baf-869c-ef44bb11c085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 SCRAM 密碼沒有現成的 CPM 平台:用「新帳號並行 → 切換 → 停舊」腳本,由 CPM 自訂平台或排程呼叫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人連主機的三種模式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決定 OP menu 的 ssh 身分怎麼設計;要向客戶確認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1" name="1c3e5855-777b-4111-81cd-a2f122c66b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  <a:gridCol w="23134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人怎麼連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 OP menu 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A. PSM 就是跳板機(最常見)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帳號連 PSM for SSH,由它取主機帳密開 session、錄影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22 埠通常只開給 PSM;原本的跳板機變成被納管的主機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用自動化帳號 ssh 各主機,key 由 CyberArk 保管、執行時取;人仍以 AD 身分登入選單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B. PSM 在跳板機前面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維持跳板機直連主機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幾乎不用改;補上 CyberArk 管理的 key 與集中紀錄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C. 兩層都經 PSM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進跳板機,再經 PSM 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繞兩次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ssh 要改成經 PSM,複雜,不建議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7e9122fb-3cfe-43c2-b27b-606cd5af0030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建議:A 或 B 皆可;重點是「主機 22 埠允許哪些來源」與「跳板機是否加入 AD」,兩個答案決定做法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應用程式取密碼與輪替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密碼不落地;換密碼不中斷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912178a-91df-418d-ac10-339f395890c2"/>
          <p:cNvSpPr/>
          <p:nvPr/>
        </p:nvSpPr>
        <p:spPr>
          <a:xfrm>
            <a:off x="548640" y="1685050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取密碼(每次啟動)</a:t>
            </a:r>
            <a:endParaRPr lang="en-US" sz="1350" dirty="0"/>
          </a:p>
        </p:txBody>
      </p:sp>
      <p:sp>
        <p:nvSpPr>
          <p:cNvPr id="3" name="1e33a086-fa61-4150-a0c0-a8468e5478fd"/>
          <p:cNvSpPr/>
          <p:nvPr/>
        </p:nvSpPr>
        <p:spPr>
          <a:xfrm>
            <a:off x="5486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" name="55aa2c79-740b-44d1-a421-109adf84ead9"/>
          <p:cNvSpPr/>
          <p:nvPr/>
        </p:nvSpPr>
        <p:spPr>
          <a:xfrm>
            <a:off x="6583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bb10ac45-e604-4995-bd4e-c3effd9f4517"/>
          <p:cNvSpPr/>
          <p:nvPr/>
        </p:nvSpPr>
        <p:spPr>
          <a:xfrm>
            <a:off x="6400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</a:t>
            </a:r>
            <a:endParaRPr lang="en-US" sz="1400" dirty="0"/>
          </a:p>
        </p:txBody>
      </p:sp>
      <p:sp>
        <p:nvSpPr>
          <p:cNvPr id="6" name="206ef26c-d648-4260-8f0c-c3b3fd4353f4"/>
          <p:cNvSpPr/>
          <p:nvPr/>
        </p:nvSpPr>
        <p:spPr>
          <a:xfrm>
            <a:off x="6400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應用以 AppID + 主機或憑證向 CCP 認證</a:t>
            </a:r>
            <a:endParaRPr lang="en-US" sz="1100" dirty="0"/>
          </a:p>
        </p:txBody>
      </p:sp>
      <p:sp>
        <p:nvSpPr>
          <p:cNvPr id="7" name="b87f49c8-5502-4efb-a324-110fe9d3348b"/>
          <p:cNvSpPr/>
          <p:nvPr/>
        </p:nvSpPr>
        <p:spPr>
          <a:xfrm>
            <a:off x="32918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a534ca6c-9f78-4eac-9b20-a37682986efa"/>
          <p:cNvSpPr/>
          <p:nvPr/>
        </p:nvSpPr>
        <p:spPr>
          <a:xfrm>
            <a:off x="34015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d8c66922-0855-4237-a925-7ab02acfb194"/>
          <p:cNvSpPr/>
          <p:nvPr/>
        </p:nvSpPr>
        <p:spPr>
          <a:xfrm>
            <a:off x="33832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</a:t>
            </a:r>
            <a:endParaRPr lang="en-US" sz="1400" dirty="0"/>
          </a:p>
        </p:txBody>
      </p:sp>
      <p:sp>
        <p:nvSpPr>
          <p:cNvPr id="10" name="05749405-9a7d-4b2f-a624-878ef86b24cc"/>
          <p:cNvSpPr/>
          <p:nvPr/>
        </p:nvSpPr>
        <p:spPr>
          <a:xfrm>
            <a:off x="33832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取得 SCRAM 帳密(或憑證私鑰)</a:t>
            </a:r>
            <a:endParaRPr lang="en-US" sz="1100" dirty="0"/>
          </a:p>
        </p:txBody>
      </p:sp>
      <p:sp>
        <p:nvSpPr>
          <p:cNvPr id="11" name="d86e1778-2c5f-45af-b304-c3340fa2b8a2"/>
          <p:cNvSpPr/>
          <p:nvPr/>
        </p:nvSpPr>
        <p:spPr>
          <a:xfrm>
            <a:off x="60350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2" name="9ec20397-3cf0-4edc-8129-cd314cb4d414"/>
          <p:cNvSpPr/>
          <p:nvPr/>
        </p:nvSpPr>
        <p:spPr>
          <a:xfrm>
            <a:off x="61447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29fe880b-a881-4c28-a99c-a398b303fdc8"/>
          <p:cNvSpPr/>
          <p:nvPr/>
        </p:nvSpPr>
        <p:spPr>
          <a:xfrm>
            <a:off x="61264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記憶體使用</a:t>
            </a:r>
            <a:endParaRPr lang="en-US" sz="1400" dirty="0"/>
          </a:p>
        </p:txBody>
      </p:sp>
      <p:sp>
        <p:nvSpPr>
          <p:cNvPr id="14" name="f0fb2f1b-2429-4ca6-ae98-7b33af0a56e6"/>
          <p:cNvSpPr/>
          <p:nvPr/>
        </p:nvSpPr>
        <p:spPr>
          <a:xfrm>
            <a:off x="61264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組成連線設定,不寫入磁碟</a:t>
            </a:r>
            <a:endParaRPr lang="en-US" sz="1100" dirty="0"/>
          </a:p>
        </p:txBody>
      </p:sp>
      <p:sp>
        <p:nvSpPr>
          <p:cNvPr id="15" name="0bfbfe36-b57f-4448-8602-187131e246e5"/>
          <p:cNvSpPr/>
          <p:nvPr/>
        </p:nvSpPr>
        <p:spPr>
          <a:xfrm>
            <a:off x="8778240" y="2024449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6" name="c4307e8f-6159-481c-b18c-0147f718f945"/>
          <p:cNvSpPr/>
          <p:nvPr/>
        </p:nvSpPr>
        <p:spPr>
          <a:xfrm>
            <a:off x="88879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f2f30e84-f8a9-4a43-aea5-f222036c2769"/>
          <p:cNvSpPr/>
          <p:nvPr/>
        </p:nvSpPr>
        <p:spPr>
          <a:xfrm>
            <a:off x="8869680" y="2550517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400" dirty="0"/>
          </a:p>
        </p:txBody>
      </p:sp>
      <p:sp>
        <p:nvSpPr>
          <p:cNvPr id="18" name="f7c7686d-0a46-4b9c-aecb-a5e63cd1bbc1"/>
          <p:cNvSpPr/>
          <p:nvPr/>
        </p:nvSpPr>
        <p:spPr>
          <a:xfrm>
            <a:off x="8869680" y="3000221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認證;broker RBAC 判斷</a:t>
            </a:r>
            <a:endParaRPr lang="en-US" sz="1100" dirty="0"/>
          </a:p>
        </p:txBody>
      </p:sp>
      <p:sp>
        <p:nvSpPr>
          <p:cNvPr id="19" name="efae6c6c-32b7-44b9-9414-9b462d40d648"/>
          <p:cNvSpPr/>
          <p:nvPr/>
        </p:nvSpPr>
        <p:spPr>
          <a:xfrm>
            <a:off x="31089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cdddfddf-8f45-4ae8-8aa3-af5179008400"/>
          <p:cNvSpPr/>
          <p:nvPr/>
        </p:nvSpPr>
        <p:spPr>
          <a:xfrm>
            <a:off x="58521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c5d7e051-be40-417d-90f7-004731a20050"/>
          <p:cNvSpPr/>
          <p:nvPr/>
        </p:nvSpPr>
        <p:spPr>
          <a:xfrm>
            <a:off x="85953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2" name="a332aa9b-c8fb-4dda-b5e8-8d85f15396e7"/>
          <p:cNvSpPr/>
          <p:nvPr/>
        </p:nvSpPr>
        <p:spPr>
          <a:xfrm>
            <a:off x="548640" y="3848718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輪替(定期或事件觸發)</a:t>
            </a:r>
            <a:endParaRPr lang="en-US" sz="1350" dirty="0"/>
          </a:p>
        </p:txBody>
      </p:sp>
      <p:sp>
        <p:nvSpPr>
          <p:cNvPr id="23" name="59e068dc-1b4d-4cf5-b90a-65d8d60831f5"/>
          <p:cNvSpPr/>
          <p:nvPr/>
        </p:nvSpPr>
        <p:spPr>
          <a:xfrm>
            <a:off x="5486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ed929a12-561b-428c-a330-3be62b83bf8c"/>
          <p:cNvSpPr/>
          <p:nvPr/>
        </p:nvSpPr>
        <p:spPr>
          <a:xfrm>
            <a:off x="6583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1c1adc7c-5484-4b7a-b0bd-00fc6802a9d4"/>
          <p:cNvSpPr/>
          <p:nvPr/>
        </p:nvSpPr>
        <p:spPr>
          <a:xfrm>
            <a:off x="6400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建新帳號</a:t>
            </a:r>
            <a:endParaRPr lang="en-US" sz="1400" dirty="0"/>
          </a:p>
        </p:txBody>
      </p:sp>
      <p:sp>
        <p:nvSpPr>
          <p:cNvPr id="26" name="a4a16af4-fa4c-4e2f-8425-9009fa4e21dc"/>
          <p:cNvSpPr/>
          <p:nvPr/>
        </p:nvSpPr>
        <p:spPr>
          <a:xfrm>
            <a:off x="6400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v2 帳號並綁同樣角色,寫回 Vault</a:t>
            </a:r>
            <a:endParaRPr lang="en-US" sz="1100" dirty="0"/>
          </a:p>
        </p:txBody>
      </p:sp>
      <p:sp>
        <p:nvSpPr>
          <p:cNvPr id="27" name="e5333f48-bd16-48df-a7d4-37b2b79be052"/>
          <p:cNvSpPr/>
          <p:nvPr/>
        </p:nvSpPr>
        <p:spPr>
          <a:xfrm>
            <a:off x="32918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145d45f6-b419-4ac2-b03a-15599eeadae1"/>
          <p:cNvSpPr/>
          <p:nvPr/>
        </p:nvSpPr>
        <p:spPr>
          <a:xfrm>
            <a:off x="34015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0f61e4a4-a87e-4b72-9496-d89344a3fd34"/>
          <p:cNvSpPr/>
          <p:nvPr/>
        </p:nvSpPr>
        <p:spPr>
          <a:xfrm>
            <a:off x="33832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並行</a:t>
            </a:r>
            <a:endParaRPr lang="en-US" sz="1400" dirty="0"/>
          </a:p>
        </p:txBody>
      </p:sp>
      <p:sp>
        <p:nvSpPr>
          <p:cNvPr id="30" name="a5ee76e1-1d59-4afa-be88-c1fac3d449d6"/>
          <p:cNvSpPr/>
          <p:nvPr/>
        </p:nvSpPr>
        <p:spPr>
          <a:xfrm>
            <a:off x="33832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新舊同時可用,應用逐批重啟切換</a:t>
            </a:r>
            <a:endParaRPr lang="en-US" sz="1100" dirty="0"/>
          </a:p>
        </p:txBody>
      </p:sp>
      <p:sp>
        <p:nvSpPr>
          <p:cNvPr id="31" name="6ffba5bf-fdd1-42de-b967-04ee2c2b8e3e"/>
          <p:cNvSpPr/>
          <p:nvPr/>
        </p:nvSpPr>
        <p:spPr>
          <a:xfrm>
            <a:off x="60350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2" name="e6125889-4341-4571-bd32-646495570928"/>
          <p:cNvSpPr/>
          <p:nvPr/>
        </p:nvSpPr>
        <p:spPr>
          <a:xfrm>
            <a:off x="61447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54a4fbaa-1843-4ed4-8c70-a39168f2e6b9"/>
          <p:cNvSpPr/>
          <p:nvPr/>
        </p:nvSpPr>
        <p:spPr>
          <a:xfrm>
            <a:off x="61264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停舊</a:t>
            </a:r>
            <a:endParaRPr lang="en-US" sz="1400" dirty="0"/>
          </a:p>
        </p:txBody>
      </p:sp>
      <p:sp>
        <p:nvSpPr>
          <p:cNvPr id="34" name="2f449614-29d3-462e-8dba-5644e078f47b"/>
          <p:cNvSpPr/>
          <p:nvPr/>
        </p:nvSpPr>
        <p:spPr>
          <a:xfrm>
            <a:off x="61264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全部切換後停用舊帳號,舊密碼立刻失效</a:t>
            </a:r>
            <a:endParaRPr lang="en-US" sz="1100" dirty="0"/>
          </a:p>
        </p:txBody>
      </p:sp>
      <p:sp>
        <p:nvSpPr>
          <p:cNvPr id="35" name="e21622cd-733a-4442-a37f-3358194b9689"/>
          <p:cNvSpPr/>
          <p:nvPr/>
        </p:nvSpPr>
        <p:spPr>
          <a:xfrm>
            <a:off x="8778240" y="4188117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a637b272-3d70-4b98-8103-e6673f81de55"/>
          <p:cNvSpPr/>
          <p:nvPr/>
        </p:nvSpPr>
        <p:spPr>
          <a:xfrm>
            <a:off x="88879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2cd465e6-b0f1-4e4c-aa57-d13994722e07"/>
          <p:cNvSpPr/>
          <p:nvPr/>
        </p:nvSpPr>
        <p:spPr>
          <a:xfrm>
            <a:off x="8869680" y="4714185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誰來做</a:t>
            </a:r>
            <a:endParaRPr lang="en-US" sz="1400" dirty="0"/>
          </a:p>
        </p:txBody>
      </p:sp>
      <p:sp>
        <p:nvSpPr>
          <p:cNvPr id="38" name="2d8c5021-94bf-4383-a612-40dbe498f5ce"/>
          <p:cNvSpPr/>
          <p:nvPr/>
        </p:nvSpPr>
        <p:spPr>
          <a:xfrm>
            <a:off x="8869680" y="5163889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CPM 自訂平台呼叫腳本,或排程;全程 audit 可查</a:t>
            </a:r>
            <a:endParaRPr lang="en-US" sz="1100" dirty="0"/>
          </a:p>
        </p:txBody>
      </p:sp>
      <p:sp>
        <p:nvSpPr>
          <p:cNvPr id="39" name="134733d6-774d-4ee2-b82d-77dff8ba8d93"/>
          <p:cNvSpPr/>
          <p:nvPr/>
        </p:nvSpPr>
        <p:spPr>
          <a:xfrm>
            <a:off x="31089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0" name="f9cdd2bb-ba96-4731-9c0c-d364e2256bfd"/>
          <p:cNvSpPr/>
          <p:nvPr/>
        </p:nvSpPr>
        <p:spPr>
          <a:xfrm>
            <a:off x="58521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8358139a-f51a-4915-8b7d-7a15df342d02"/>
          <p:cNvSpPr/>
          <p:nvPr/>
        </p:nvSpPr>
        <p:spPr>
          <a:xfrm>
            <a:off x="85953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設定檔密碼加密:輪替與重啟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Confluent Secret Protection;主金鑰由 CyberArk 保管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ef8e8af9-522b-4dc8-af42-b04c850d52a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做法與結果(測試環境實測)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兩層金鑰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主金鑰(CyberArk 保管,啟動時取)加密資料金鑰;資料金鑰加密設定檔裡的密碼。叢集共用同一把主金鑰、同一份密文檔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輪替主金鑰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只重包資料金鑰,值的密文不變;需要「目前的」與「新的」passphrase(也要保管,只讓管理員讀);新主金鑰只顯示一次,要立刻寫回 CyberArk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輪替資料金鑰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只需要目前的 passphrase;所有值重新加密;主金鑰不變,CyberArk 不用動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檔與主金鑰要成對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新檔配舊金鑰、舊檔配新金鑰都解不開;不成對時 broker 起不來。輪替前先備好舊檔與舊主金鑰以便退回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一定要重啟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啟動時才讀。維護窗口內一台一台做:換檔 → 取新主金鑰 → 重啟 → 確認健康 → 下一台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重啟期間服務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 2 台 broker、副本 2:輪替並滾動重啟期間持續寫入 1200 筆,全部寫入、零遺失;正式環境建議副本 3、最小同步副本 2,controller 也逐台重啟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passphrase 在這個版本的指令只能直接放在指令列(不讀檔),輪替要在受控的管理主機上做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六、平台韌性、可觀測性與應用開發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高可用、監控告警、憑證、容量、日誌與追蹤、應用端可靠性、資料契約、Connect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高可用:壞幾台還撐得住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3 台 controller、3 台以上 broker、副本 3、min.insync.replicas 2;順序與數字都用停機實測確認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4" name="933e707e-7f74-4b7c-af5c-1912e1541bb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1 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寫入(acks=all)不中斷;副本不足的分區數(URP)大於 0 是要告警的訊號;恢復後補齊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2 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acks=all 被擋;acks=1 的 producer 回報成功,consumer 卻讀不到(高水位不前進),恢復後才出現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1 台 controller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叢集照常:建 topic、寫入都正常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2 台 controller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失去多數:建 topic 沒回應(describe 有時逾時);既有 topic 的讀寫暫時還可用,不是可依賴的容錯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滾動重啟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一台一台(等 URP 回 0),controller 非 active 先、active 最後;背景寫入零失敗零遺失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動態 quorum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靜態可不停機升級成動態(寫入零失敗);壞掉的 controller 以「先加新的、再移除舊的」汰換,不動其他節點;建議正式環境用動態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測試環境已驗證(自動加入、同時壞兩台未驗證)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監控與告警:兩條指標路徑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告警要「真的會響」;銀行自有監控走 JMX exporter,不依賴 Control Center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5" name="7a795604-717f-4b7d-b300-c32cd9ddd22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97680"/>
                <a:gridCol w="42336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telemetry → Prometheus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JMX exporter → Prometheus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 的資料來源,保留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銀行自有監控與告警的建議路徑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偵測時間(停 1 台 broker)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 150 到 250 秒(指標 60 秒送一次)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 35 秒(每 15 秒抓一次)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依賴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 C3 綁在一起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獨立於 C3;既有 Prometheus、Grafana 可直接用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必設告警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URP、under-min-isr、離線分區、active controller 不是 1、controller 掉線、broker fenced、unclean election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同一組,另加「抓不到 exporter」的監控的監控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f7dbf7d-8c88-4489-97da-ea268585fbb9"/>
          <p:cNvSpPr/>
          <p:nvPr/>
        </p:nvSpPr>
        <p:spPr>
          <a:xfrm>
            <a:off x="548640" y="4654790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監控端點也要保護:exporter 用 HTTPS + 帳密(JMX exporter 不支援 mTLS)、blackbox 用 mTLS;Prometheus 與 Alertmanager 依用途分開帳號</a:t>
            </a:r>
            <a:endParaRPr lang="en-US" sz="1250" dirty="0"/>
          </a:p>
        </p:txBody>
      </p:sp>
      <p:sp>
        <p:nvSpPr>
          <p:cNvPr id="4" name="e3ea46d2-a101-4ceb-8f1f-d2c4244724b6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磁碟用量要另外用 node_exporter;consumer lag 用 kafka_exporter(社群專案,上線前評估維護狀況)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告警送到人:寄成信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值班的人不會盯著畫面;通知的設計比通道重要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6" name="a28fd030-be7d-46a7-a4cd-72c2514855c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通道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以 SMTP 寄到行內自架的郵件伺服器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以測試用郵件伺服器驗證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依嚴重度分流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critical 寄值班信箱、warning 寄維運群組信箱;主旨寫明狀態、告警名稱、嚴重度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同類合併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同名同嚴重度的告警合併成一封(group_by),一次壞多台不洗版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發生與解除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1 台 broker 約 30 秒收到 FIRING,恢復後約 40 秒收到 RESOLVED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郵件伺服器保護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強制 STARTTLS 並要帳密;Alertmanager 的密碼從檔案讀,用行內 CA 驗證伺服器憑證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其他通道、靜音與抑制、高可用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簡訊、通訊軟體、工單 webhook;靜音與抑制規則;Alertmanager 多實例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憑證:到期監控與不停機換憑證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憑證過期是常見的停機原因;換憑證要有預檢、金絲雀與不依賴被換掉的那條路的回退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7" name="b9905f91-bb9a-4548-8f34-f8efcc5f75f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到期監控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blackbox 對各端點做 TLS 探測,看「實際送出」的憑證(不是看檔案);&lt; 30 天告警;client 憑證與 CA 用檔案巡檢補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不停機換憑證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動態 keystore 重載(listener 層級),逐台設定:預檢 → 先換一台當金絲雀並用 client 角度驗證 → 其餘;寫入零失敗、不重啟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不同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新憑證的 DN、SAN 與現有不同,broker 拒絕更新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別的 CA 簽的憑證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會接受,client 全部驗證失敗;影響限於金絲雀;回退必須走不經對外埠的帶外路徑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只涵蓋 Kafka 的 listener;MDS 等 Jetty 入口要重啟;動態設定存在叢集 metadata,靜態設定要同步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容量:分區搬家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新增 broker 不會自動搬舊資料;搬家要有回退檔、限速與收尾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31b4ea4-0d4d-4b1d-bbe9-0843531406b6"/>
          <p:cNvSpPr/>
          <p:nvPr/>
        </p:nvSpPr>
        <p:spPr>
          <a:xfrm>
            <a:off x="548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2588bc76-01e7-4a76-9199-a007959c3d63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88b10e6-c6d8-4102-a8c7-de88d8a131f9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存回退檔</a:t>
            </a:r>
            <a:endParaRPr lang="en-US" sz="1400" dirty="0"/>
          </a:p>
        </p:txBody>
      </p:sp>
      <p:sp>
        <p:nvSpPr>
          <p:cNvPr id="5" name="5b904e19-019b-4b0c-911f-8bc3ebe97dce"/>
          <p:cNvSpPr/>
          <p:nvPr/>
        </p:nvSpPr>
        <p:spPr>
          <a:xfrm>
            <a:off x="640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搬家前先把目前的指派存起來;--generate 的建議只是草稿</a:t>
            </a:r>
            <a:endParaRPr lang="en-US" sz="1100" dirty="0"/>
          </a:p>
        </p:txBody>
      </p:sp>
      <p:sp>
        <p:nvSpPr>
          <p:cNvPr id="6" name="5e24f756-b570-4ae7-93ef-802b89ab363a"/>
          <p:cNvSpPr/>
          <p:nvPr/>
        </p:nvSpPr>
        <p:spPr>
          <a:xfrm>
            <a:off x="2834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71364eeb-d1ff-48e0-8730-86d37a482766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9a640563-fbf7-4d0e-9645-0cbd338e1512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審過的計畫</a:t>
            </a:r>
            <a:endParaRPr lang="en-US" sz="1400" dirty="0"/>
          </a:p>
        </p:txBody>
      </p:sp>
      <p:sp>
        <p:nvSpPr>
          <p:cNvPr id="9" name="1fe033c2-1f2c-4cdc-994b-054bba49f658"/>
          <p:cNvSpPr/>
          <p:nvPr/>
        </p:nvSpPr>
        <p:spPr>
          <a:xfrm>
            <a:off x="2926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人審:搬哪些、搬多少資料、是否違反機架規劃</a:t>
            </a:r>
            <a:endParaRPr lang="en-US" sz="1100" dirty="0"/>
          </a:p>
        </p:txBody>
      </p:sp>
      <p:sp>
        <p:nvSpPr>
          <p:cNvPr id="10" name="6f0d3afc-3d6c-4ccb-b77f-14852b31cf4a"/>
          <p:cNvSpPr/>
          <p:nvPr/>
        </p:nvSpPr>
        <p:spPr>
          <a:xfrm>
            <a:off x="5120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2dca9794-fa15-42ed-913f-fb170e82ce65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aca8436e-7374-426c-abe1-fad90f9f6777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限速執行</a:t>
            </a:r>
            <a:endParaRPr lang="en-US" sz="1400" dirty="0"/>
          </a:p>
        </p:txBody>
      </p:sp>
      <p:sp>
        <p:nvSpPr>
          <p:cNvPr id="13" name="3dd6fefd-185b-4d8f-931f-d0def540031d"/>
          <p:cNvSpPr/>
          <p:nvPr/>
        </p:nvSpPr>
        <p:spPr>
          <a:xfrm>
            <a:off x="5212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--execute --throttle;背景寫入實測零失敗</a:t>
            </a:r>
            <a:endParaRPr lang="en-US" sz="1100" dirty="0"/>
          </a:p>
        </p:txBody>
      </p:sp>
      <p:sp>
        <p:nvSpPr>
          <p:cNvPr id="14" name="4524381d-bd62-454b-aed7-30f74fbfaadc"/>
          <p:cNvSpPr/>
          <p:nvPr/>
        </p:nvSpPr>
        <p:spPr>
          <a:xfrm>
            <a:off x="7406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84033450-acea-4971-b8db-7b2e64825175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f3fa4c86-acaf-4f26-a073-5ed8f5698a21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--verify 收尾</a:t>
            </a:r>
            <a:endParaRPr lang="en-US" sz="1400" dirty="0"/>
          </a:p>
        </p:txBody>
      </p:sp>
      <p:sp>
        <p:nvSpPr>
          <p:cNvPr id="17" name="3c52d69d-b732-4e8f-a40e-ce6695efbc5a"/>
          <p:cNvSpPr/>
          <p:nvPr/>
        </p:nvSpPr>
        <p:spPr>
          <a:xfrm>
            <a:off x="7498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完成時自動移除限速;不收尾,限速設定會殘留在 broker 與 topic</a:t>
            </a:r>
            <a:endParaRPr lang="en-US" sz="1100" dirty="0"/>
          </a:p>
        </p:txBody>
      </p:sp>
      <p:sp>
        <p:nvSpPr>
          <p:cNvPr id="18" name="ef82cfdb-3736-4f3a-b9ec-9e3ec7c21c8d"/>
          <p:cNvSpPr/>
          <p:nvPr/>
        </p:nvSpPr>
        <p:spPr>
          <a:xfrm>
            <a:off x="9692640" y="1769899"/>
            <a:ext cx="1947672" cy="2121243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9" name="bbaf29b4-06e1-40d9-85fe-c6dc8dfb614c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d64786c2-86f8-498f-8c40-652b6fd05005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必要時取消</a:t>
            </a:r>
            <a:endParaRPr lang="en-US" sz="1400" dirty="0"/>
          </a:p>
        </p:txBody>
      </p:sp>
      <p:sp>
        <p:nvSpPr>
          <p:cNvPr id="21" name="588f271c-54a9-43cd-9d3b-703374669d82"/>
          <p:cNvSpPr/>
          <p:nvPr/>
        </p:nvSpPr>
        <p:spPr>
          <a:xfrm>
            <a:off x="9784080" y="2745671"/>
            <a:ext cx="1764792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--cancel 回到搬家前並清除限速</a:t>
            </a:r>
            <a:endParaRPr lang="en-US" sz="1100" dirty="0"/>
          </a:p>
        </p:txBody>
      </p:sp>
      <p:sp>
        <p:nvSpPr>
          <p:cNvPr id="22" name="74bc1584-52cf-40db-b349-cc23f376619c"/>
          <p:cNvSpPr/>
          <p:nvPr/>
        </p:nvSpPr>
        <p:spPr>
          <a:xfrm>
            <a:off x="2651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f790d9b8-33c2-4b00-ba94-a112a46a263d"/>
          <p:cNvSpPr/>
          <p:nvPr/>
        </p:nvSpPr>
        <p:spPr>
          <a:xfrm>
            <a:off x="4937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71591fd0-5fe2-4dbc-a821-0b01282a5f74"/>
          <p:cNvSpPr/>
          <p:nvPr/>
        </p:nvSpPr>
        <p:spPr>
          <a:xfrm>
            <a:off x="7223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b22debcf-8cba-41b1-acab-3ccf1cc48e28"/>
          <p:cNvSpPr/>
          <p:nvPr/>
        </p:nvSpPr>
        <p:spPr>
          <a:xfrm>
            <a:off x="9509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f7ad7ec4-bdd9-4993-aff7-f94af7fc5fc4"/>
          <p:cNvSpPr/>
          <p:nvPr/>
        </p:nvSpPr>
        <p:spPr>
          <a:xfrm>
            <a:off x="548640" y="431539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搬家期間不要同時做滾動重啟或換憑證;限速值依服務延遲逐步調,不要憑感覺</a:t>
            </a:r>
            <a:endParaRPr lang="en-US" sz="1250" dirty="0"/>
          </a:p>
        </p:txBody>
      </p:sp>
      <p:sp>
        <p:nvSpPr>
          <p:cNvPr id="27" name="4ba61f57-bf2e-433f-92f3-44682bccf0c6"/>
          <p:cNvSpPr/>
          <p:nvPr/>
        </p:nvSpPr>
        <p:spPr>
          <a:xfrm>
            <a:off x="548640" y="4824490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要審計畫、要控制節奏時用這套;擴縮容與下線 broker 的自動版是下一頁的 Self-Balancing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容量與成本:Self-Balancing 與 Tiered Storage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自動搬分區、舊資料放物件儲存;兩者的授權與版本資格官方頁沒有明載,導入前向 Confluent 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9" name="d6ac9924-a2f8-468d-b439-1dd6dc697ee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實測結果與限制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Self-Balancing 啟用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下跑在 active controller:controller 與 broker 都要設 enable 與 inter.broker.listener.name,要滾動重啟;只動態開 broker 沒有用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加空 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自動搬副本、不用手寫計畫;但要先蒐集指標視窗,實測等 15 到 20 分鐘才開始搬;搬家時寫入零失敗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移除 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kafka-remove-brokers 一個指令:副本搬走、資料筆數不變、broker 自動關機(約 3 分鐘);新建 topic 後約 18 分鐘內算不出計畫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負載不均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官方只在副本數與超過 20% 的磁碟用量觸發;小資料量不會搬,磁碟用量仍要自己監控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測試環境已驗證(超過 20% 未驗證)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Tiered Storage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舊 segment 上傳到 S3 相容物件儲存(測試用 MinIO,HTTPS):本機從約 300 MB 降到約 20 MB,從頭讀仍讀到全部,broker 重啟後仍在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Tiered 的踩坑與保護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憑證檔格式特殊、預設伺服器端加密需要物件儲存支援 KMS、讀取要信任行內 CA;專用帳號只限單一 bucket,匿名被拒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物件儲存中斷、讀取效能、授權範圍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物件儲存掛掉時的行為、回補 30 天資料的延遲、客戶行內物件儲存是否在官方認證清單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Grafana 全元件監控,以及日誌與追蹤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 Center 只看得到 broker 與 controller;Grafana 把 Kafka、主機、consumer、日誌、追蹤放在一起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0" name="b61ecc8c-d7d8-40dd-87a3-2cb75466fad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官方儀表板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的 KRaft 儀表板原樣匯入(固定版本、校驗雜湊);匯入成功不等於有資料,要逐個查詢確認,不改官方內容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主機與 consumer lag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node_exporter(磁碟等)、kafka_exporter(lag;帳號只有 Describe);兩者都 mTLS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Grafana 本身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HTTPS、AD 登入、群組對映角色;本機 admin 只留緊急用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日誌與追蹤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Loki、Tempo、Alloy;資料先寫進 Kafka 再送下游:下游停機資料不掉;trace 跨過 Kafka 串起 producer 與 consumer(程式碼不改)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稽核事件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audit topic 一併進 Loki,在 Grafana 查「誰對什麼被拒」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高可用、取樣、脫敏、Loki 存取控制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Loki 本身沒有 RBAC;取樣與脫敏要在上線前決定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應用開發:可靠性要靠寫法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叢集再穩,應用寫法不對一樣會重複或掉資料;預設行為要先讓開發者看過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1" name="b31df2f0-1fd8-4ee8-84a0-a7da4ee78c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實測結果與建議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冪等 producer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凍結造成逾時重送:關閉冪等會多寫重複(1500 → 1505),開啟為 0;預設就是開,不要手動關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手動提交 offset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處理後、提交前當機,重啟後同一批被再處理(at-least-once);消費端處理要能容許重複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rebalance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eager 收回全部分區、cooperative 只收回要換人的;長駐服務偏好 cooperative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靜態成員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滾動部署時動態成員每個實例都觸發 rebalance,靜態成員(group.instance.id)不會;代價是故障轉移要等 session timeout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交易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abort 的訊息仍在 log;消費端要設 read_committed,否則看得到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 consumer protocol、exactly-once 完整流程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KIP-848、consume-transform-produce、Streams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Schema 演進與資料契約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schema 怎麼改才不會讓另一端壞掉:把「約定」變成機器擋得住的規則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2" name="e2765388-5f27-48d8-aa56-bcc5b0b3ae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實測結果與建議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相容性模式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BACKWARD 先升級 consumer、FORWARD 先升級 producer、FULL 不拘;選哪個取決於兩端誰先上線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TRANSITIVE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只比最新版會漏掉更早的版本;topic 會被重播就用 TRANSITIVE;檢查要對照全部版本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註冊前先檢查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用相容性檢查 API 放進 CI,不要等上線才被拒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兩道關卡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授權擋是 403、不相容擋是 409,兩道獨立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命名策略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RecordNameStrategy 讓 subject 脫離 topic,依 topic 前綴的授權就失效;選它是架構決定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資料契約規則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 條件規則在寫入端擋下壞資料;只在 client 端序列化器執行,不能取代 broker 端授權;正式授權範圍要向 Confluent 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測試環境已驗證(授權待確認)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Kafka Connect:授權、身分、壞資料與密碼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連接器長期在背景跑、手上常握著別的系統的帳密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3" name="2440b08b-f1f4-4d58-90f8-e902af56ee1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誰能管連接器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走 HTTPS,認證用 AD 帳密,授權依群組與連接器名稱;無權限者列表為空、建立 403;命名規則是授權設計的一部分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連接器的身分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每個連接器用自己的 AD 服務帳號(最小權限),不共用 worker 的身分;worker 本身不給資料 topic 的讀取權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壞資料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預設遇到第一筆壞資料就停;errors.tolerance=all 加 DLQ 好壞分流並附錯誤標頭;DLQ 要有告警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連接器設定存在 Kafka 的 topic;直接寫密碼就是明文;改用 config provider 引用密碼檔(由 CyberArk 提供)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worker、source 連接器、密碼輪替生效方式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單一 worker 與檔案型連接器做過;其餘沒有做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七、待確認、限制與導入順序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/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要向客戶確認的事項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答案會決定幾個分支的做法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4" name="968ed5ba-d892-477d-8a1a-ecbb00e3b5f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27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使用者名稱與 CN 是否完全相同(含大小寫);Kafka 群組放哪個 OU;群組人數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群組查詢設定、主體寫法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跳板機與各主機是否加入 AD;人連主機是否一律經 PSM;主機 22 埠允許哪些來源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登入與 sudo 設計、OP menu 的 ssh 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有哪些模組(PSM、CPM、CCP、Conjur、Summon、Certificate Manager);應用主機與 Kafka 節點能否連到 CCP / PSM;AppID 用 IP 還是憑證認;輪替週期與負責人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第五章每一列的做法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虛擬伺服器類型(L4)、後端 TLS session 復用、persistence、idle timeout、SNAT;REST Proxy 幾台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憑證名稱、sticky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變更核准方式;維運作業項目清單;現有 OP menu 樣貌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的核准檢查與項目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由誰簽(AD CS 或 Certificate Manager);有效期政策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憑證生命週期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是否需要欄位級加密(CSFLE);取得加購授權的方式;地端 KMS 或 HSM 的型號與是否有 Java 驅動;重新認證間隔、連線上限與配額的政策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CSFLE 能否導入、金鑰放哪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未驗證與限制(如實說明)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已實測的以外,這些尚未在客戶環境驗證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5" name="0618b48b-fb35-4b94-90b5-e1441fe816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CyberArk:秘密管理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已用 CyberArk 的開源版 Conjur 實測「應用程式取密碼、輪替、OP menu 取帳密、設定檔密碼不落地」;商業版 CCP / Conjur 的 API 細節以客戶版本文件為準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CyberArk:PAM(PSM、CPM、PVWA)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無法在測試環境重現,整合方式為通用模式;需在客戶環境 PoC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真實 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巢狀群組、群組異動的實際延遲、AD 憑證鏈(中繼 CA)要以客戶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以同類負載平衡器實測 L4 透傳可行、L7 終止不可;F5 本身的行為要以客戶設定驗證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controller 與 RHEL 部署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設計依官方文件;以本方案的測試環境為準,未在客戶 VM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未驗證;建議 C3 不經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已實測新舊並行流程(建新帳號、驗證、隔離、看 audit、才停用舊帳號,停用是覆寫成隨機密碼、不刪除);由 CPM 自訂平台或排程觸發同一支腳本,需在客戶環境確認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停用帳號對已連線的影響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實測:只停用 SCRAM 憑證擋不住已連著的連線,必須先解除角色;長連線的應用要能在失敗時重新取帳密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 可用性與根的秘密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取不到帳密應用與 broker 起不來,要規劃高可用與重試;機器 API key(secret zero)的保護與輪替未示範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資料保護、金鑰管理與參數值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6" name="ec6eb04f-a6a3-49b5-9bda-0acd268f6a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欄位級加密(CSFLE)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需要企業版加 CSFLE 加購授權;測試環境的試用授權註冊加密規則會被拒(HTTP 402),所以加密、解密、金鑰輪替都未驗證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地端 KMS 與 HSM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內建只支援 AWS、Azure、GCP、HashiCorp Vault;HSM 需自訂 Java 驅動(官方有介面說明,未見 HSM 範例);廠商是否有現成驅動未確認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能否當 KMS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開源版 Conjur 是秘密管理,不是 KMS(它把秘密交出去,不代為加解密);PAM 等其他模組是否提供 KMS 式服務未確認,要問客戶的 CyberArk 窗口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主金鑰輪替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已實測單台與兩台共用同一把金鑰的逐台重啟;更多台與 controller 的流程依官方文件與同樣原則,正式環境要在維護窗口內演練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刪除問題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 Apache Kafka 回報與測試環境實測;升級到含修復的版本(4.5.0 以上)前維持「停用不刪除」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防線參數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重新認證 60 秒、連線上限 2、配額等是測試值;正式值要依客戶的應用特性與容量評估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導入順序建議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先把身分與授權做對,再接 CyberArk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ed84c17-c7cd-400e-888f-9dd1d1f079a5"/>
          <p:cNvSpPr/>
          <p:nvPr/>
        </p:nvSpPr>
        <p:spPr>
          <a:xfrm>
            <a:off x="548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c04941ea-69a7-41ef-b003-b11f984d8f37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c5f7f947-77a7-4ead-ad39-dcbaa4dd5755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基礎</a:t>
            </a:r>
            <a:endParaRPr lang="en-US" sz="1400" dirty="0"/>
          </a:p>
        </p:txBody>
      </p:sp>
      <p:sp>
        <p:nvSpPr>
          <p:cNvPr id="5" name="17d05f21-e083-4808-8faf-e1f51b53f682"/>
          <p:cNvSpPr/>
          <p:nvPr/>
        </p:nvSpPr>
        <p:spPr>
          <a:xfrm>
            <a:off x="640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群組與唯讀查詢帳號;憑證;叢集與 TLS;初始授權與驗收</a:t>
            </a:r>
            <a:endParaRPr lang="en-US" sz="1100" dirty="0"/>
          </a:p>
        </p:txBody>
      </p:sp>
      <p:sp>
        <p:nvSpPr>
          <p:cNvPr id="6" name="925a920a-d13e-4dc8-bf3c-1e96d813c260"/>
          <p:cNvSpPr/>
          <p:nvPr/>
        </p:nvSpPr>
        <p:spPr>
          <a:xfrm>
            <a:off x="2834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0d181e38-9b9c-4503-834e-bed135138317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87942506-e15d-41ae-a198-9bff4d602885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人與系統上線</a:t>
            </a:r>
            <a:endParaRPr lang="en-US" sz="1400" dirty="0"/>
          </a:p>
        </p:txBody>
      </p:sp>
      <p:sp>
        <p:nvSpPr>
          <p:cNvPr id="9" name="ac644585-483c-4e8a-b9f6-989c578dfc58"/>
          <p:cNvSpPr/>
          <p:nvPr/>
        </p:nvSpPr>
        <p:spPr>
          <a:xfrm>
            <a:off x="2926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C3、REST Proxy、F5;應用系統帳號與憑證;命名規範</a:t>
            </a:r>
            <a:endParaRPr lang="en-US" sz="1100" dirty="0"/>
          </a:p>
        </p:txBody>
      </p:sp>
      <p:sp>
        <p:nvSpPr>
          <p:cNvPr id="10" name="6ad8894a-be03-4dba-8101-a1bac9cf209f"/>
          <p:cNvSpPr/>
          <p:nvPr/>
        </p:nvSpPr>
        <p:spPr>
          <a:xfrm>
            <a:off x="5120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0d625128-eb62-435b-9117-fe058b7f79fb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709bff83-7838-4f3a-a46a-41b4b1a793ae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</a:t>
            </a:r>
            <a:endParaRPr lang="en-US" sz="1400" dirty="0"/>
          </a:p>
        </p:txBody>
      </p:sp>
      <p:sp>
        <p:nvSpPr>
          <p:cNvPr id="13" name="6e7a21ad-c935-4966-9353-9ac7211ad7e3"/>
          <p:cNvSpPr/>
          <p:nvPr/>
        </p:nvSpPr>
        <p:spPr>
          <a:xfrm>
            <a:off x="5212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menu、監控告警、audit 匯出與覆核;緊急流程演練</a:t>
            </a:r>
            <a:endParaRPr lang="en-US" sz="1100" dirty="0"/>
          </a:p>
        </p:txBody>
      </p:sp>
      <p:sp>
        <p:nvSpPr>
          <p:cNvPr id="14" name="dd0695db-a20b-4768-8c69-5c2f2054c961"/>
          <p:cNvSpPr/>
          <p:nvPr/>
        </p:nvSpPr>
        <p:spPr>
          <a:xfrm>
            <a:off x="7406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b83e33af-4382-4801-bbd2-04d057382a79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de41754c-6637-4f53-8cf8-89a4d6b6b020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第一階段</a:t>
            </a:r>
            <a:endParaRPr lang="en-US" sz="1400" dirty="0"/>
          </a:p>
        </p:txBody>
      </p:sp>
      <p:sp>
        <p:nvSpPr>
          <p:cNvPr id="17" name="21f9a2b7-5540-4297-8fdb-4261a5dd191f"/>
          <p:cNvSpPr/>
          <p:nvPr/>
        </p:nvSpPr>
        <p:spPr>
          <a:xfrm>
            <a:off x="7498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 代登入與錄影;CPM 輪替主機帳號;bootstrap 私鑰入 Vault</a:t>
            </a:r>
            <a:endParaRPr lang="en-US" sz="1100" dirty="0"/>
          </a:p>
        </p:txBody>
      </p:sp>
      <p:sp>
        <p:nvSpPr>
          <p:cNvPr id="18" name="d297269c-7dba-4691-9637-633b3b5487ff"/>
          <p:cNvSpPr/>
          <p:nvPr/>
        </p:nvSpPr>
        <p:spPr>
          <a:xfrm>
            <a:off x="9692640" y="1769899"/>
            <a:ext cx="1947672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9" name="c33b70d7-d8af-4c25-a9c9-5d3d9b0aabc4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3679031b-fdf1-49c2-ac73-e732206024e3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第二階段</a:t>
            </a:r>
            <a:endParaRPr lang="en-US" sz="1400" dirty="0"/>
          </a:p>
        </p:txBody>
      </p:sp>
      <p:sp>
        <p:nvSpPr>
          <p:cNvPr id="21" name="5626194b-7800-4d20-902e-94e5acf17d0a"/>
          <p:cNvSpPr/>
          <p:nvPr/>
        </p:nvSpPr>
        <p:spPr>
          <a:xfrm>
            <a:off x="9784080" y="2745671"/>
            <a:ext cx="1764792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應用程式經 CCP 取密碼;設定檔密碼不落地;SCRAM 輪替自動化</a:t>
            </a:r>
            <a:endParaRPr lang="en-US" sz="1100" dirty="0"/>
          </a:p>
        </p:txBody>
      </p:sp>
      <p:sp>
        <p:nvSpPr>
          <p:cNvPr id="22" name="0c0a54fa-eb51-4274-bc04-4ded2c4839e0"/>
          <p:cNvSpPr/>
          <p:nvPr/>
        </p:nvSpPr>
        <p:spPr>
          <a:xfrm>
            <a:off x="2651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225cd848-4e67-4b48-90f3-872adbae8446"/>
          <p:cNvSpPr/>
          <p:nvPr/>
        </p:nvSpPr>
        <p:spPr>
          <a:xfrm>
            <a:off x="4937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678e728b-5878-4d7a-9b94-45ee742e6df0"/>
          <p:cNvSpPr/>
          <p:nvPr/>
        </p:nvSpPr>
        <p:spPr>
          <a:xfrm>
            <a:off x="7223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b18d7319-dda8-4efc-9090-68b32fd10537"/>
          <p:cNvSpPr/>
          <p:nvPr/>
        </p:nvSpPr>
        <p:spPr>
          <a:xfrm>
            <a:off x="9509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e68b9c53-0a4e-40cf-865e-b535988d8f8d"/>
          <p:cNvSpPr/>
          <p:nvPr/>
        </p:nvSpPr>
        <p:spPr>
          <a:xfrm>
            <a:off x="548640" y="440024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到 3 步已在測試環境完整驗證;第 4、5 步依客戶回答的 CyberArk 模組決定範圍</a:t>
            </a:r>
            <a:endParaRPr lang="en-US" sz="1250" dirty="0"/>
          </a:p>
        </p:txBody>
      </p:sp>
      <p:sp>
        <p:nvSpPr>
          <p:cNvPr id="27" name="6be4708c-8532-47bd-b911-51f45dac836e"/>
          <p:cNvSpPr/>
          <p:nvPr/>
        </p:nvSpPr>
        <p:spPr>
          <a:xfrm>
            <a:off x="548640" y="490933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每一步都有驗收標準:身分對、權限對、紀錄查得到;不過關不進下一步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