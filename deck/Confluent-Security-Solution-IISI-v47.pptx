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r:id="rId19-created" id="256"/>
    <p:sldId r:id="rId20-created" id="257"/>
    <p:sldId r:id="rId21-created" id="258"/>
    <p:sldId r:id="rId22-created" id="259"/>
    <p:sldId r:id="rId23-created" id="260"/>
    <p:sldId r:id="rId24-created" id="261"/>
    <p:sldId r:id="rId25-created" id="262"/>
    <p:sldId r:id="rId26-created" id="263"/>
    <p:sldId r:id="rId27-created" id="264"/>
    <p:sldId r:id="rId28-created" id="265"/>
    <p:sldId r:id="rId29-created" id="266"/>
    <p:sldId r:id="rId30-created" id="267"/>
    <p:sldId r:id="rId31-created" id="268"/>
    <p:sldId r:id="rId32-created" id="269"/>
    <p:sldId r:id="rId33-created" id="270"/>
    <p:sldId r:id="rId34-created" id="271"/>
    <p:sldId r:id="rId35-created" id="272"/>
    <p:sldId r:id="rId36-created" id="273"/>
    <p:sldId r:id="rId37-created" id="274"/>
    <p:sldId r:id="rId38-created" id="275"/>
    <p:sldId r:id="rId39-created" id="276"/>
    <p:sldId r:id="rId40-created" id="277"/>
    <p:sldId r:id="rId41-created" id="278"/>
    <p:sldId r:id="rId42-created" id="279"/>
    <p:sldId r:id="rId43-created" id="280"/>
    <p:sldId r:id="rId44-created" id="281"/>
    <p:sldId r:id="rId45-created" id="282"/>
    <p:sldId r:id="rId46-created" id="283"/>
    <p:sldId r:id="rId47-created" id="284"/>
    <p:sldId r:id="rId48-created" id="285"/>
    <p:sldId r:id="rId49-created" id="286"/>
    <p:sldId r:id="rId50-created" id="28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DD98"/>
    <a:srgbClr val="FBD190"/>
    <a:srgbClr val="F7C3BF"/>
    <a:srgbClr val="E58813"/>
    <a:srgbClr val="215F9A"/>
    <a:srgbClr val="A0C6EA"/>
    <a:srgbClr val="FFFFFF"/>
    <a:srgbClr val="F0BFB5"/>
    <a:srgbClr val="309B39"/>
    <a:srgbClr val="4E95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78" autoAdjust="0"/>
    <p:restoredTop sz="90831" autoAdjust="0"/>
  </p:normalViewPr>
  <p:slideViewPr>
    <p:cSldViewPr snapToGrid="0">
      <p:cViewPr varScale="1">
        <p:scale>
          <a:sx n="100" d="100"/>
          <a:sy n="100" d="100"/>
        </p:scale>
        <p:origin x="87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6" d="100"/>
          <a:sy n="76" d="100"/>
        </p:scale>
        <p:origin x="3348" y="64"/>
      </p:cViewPr>
      <p:guideLst/>
    </p:cSldViewPr>
  </p:notesViewPr>
  <p:gridSpacing cx="76200" cy="76200"/>
</p:viewPr>
</file>

<file path=ppt/_rels/presentation.xml.rels><?xml version="1.0" encoding="UTF-8" standalone="yes"?>
<Relationships xmlns="http://schemas.openxmlformats.org/package/2006/relationships"><Relationship Id="rId13" Type="http://schemas.openxmlformats.org/officeDocument/2006/relationships/theme" Target="theme/theme1.xml"/><Relationship Id="rId18" Type="http://schemas.openxmlformats.org/officeDocument/2006/relationships/customXml" Target="../customXml/item3.xml"/><Relationship Id="rId12" Type="http://schemas.openxmlformats.org/officeDocument/2006/relationships/viewProps" Target="viewProps.xml"/><Relationship Id="rId17" Type="http://schemas.openxmlformats.org/officeDocument/2006/relationships/customXml" Target="../customXml/item2.xml"/><Relationship Id="rId16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11" Type="http://schemas.openxmlformats.org/officeDocument/2006/relationships/presProps" Target="presProps.xml"/><Relationship Id="rId15" Type="http://schemas.microsoft.com/office/2016/11/relationships/changesInfo" Target="changesInfos/changesInfo1.xml"/><Relationship Id="rId10" Type="http://schemas.openxmlformats.org/officeDocument/2006/relationships/handoutMaster" Target="handoutMasters/handoutMaster1.xml"/><Relationship Id="rId9" Type="http://schemas.openxmlformats.org/officeDocument/2006/relationships/notesMaster" Target="notesMasters/notesMaster1.xml"/><Relationship Id="rId14" Type="http://schemas.openxmlformats.org/officeDocument/2006/relationships/tableStyles" Target="tableStyles.xml"/><Relationship Id="rId19-created" Type="http://schemas.openxmlformats.org/officeDocument/2006/relationships/slide" Target="slides/slide8.xml"/><Relationship Id="rId20-created" Type="http://schemas.openxmlformats.org/officeDocument/2006/relationships/slide" Target="slides/slide9.xml"/><Relationship Id="rId21-created" Type="http://schemas.openxmlformats.org/officeDocument/2006/relationships/slide" Target="slides/slide10.xml"/><Relationship Id="rId22-created" Type="http://schemas.openxmlformats.org/officeDocument/2006/relationships/slide" Target="slides/slide11.xml"/><Relationship Id="rId23-created" Type="http://schemas.openxmlformats.org/officeDocument/2006/relationships/slide" Target="slides/slide12.xml"/><Relationship Id="rId24-created" Type="http://schemas.openxmlformats.org/officeDocument/2006/relationships/slide" Target="slides/slide13.xml"/><Relationship Id="rId25-created" Type="http://schemas.openxmlformats.org/officeDocument/2006/relationships/slide" Target="slides/slide14.xml"/><Relationship Id="rId26-created" Type="http://schemas.openxmlformats.org/officeDocument/2006/relationships/slide" Target="slides/slide15.xml"/><Relationship Id="rId27-created" Type="http://schemas.openxmlformats.org/officeDocument/2006/relationships/slide" Target="slides/slide16.xml"/><Relationship Id="rId28-created" Type="http://schemas.openxmlformats.org/officeDocument/2006/relationships/slide" Target="slides/slide17.xml"/><Relationship Id="rId29-created" Type="http://schemas.openxmlformats.org/officeDocument/2006/relationships/slide" Target="slides/slide18.xml"/><Relationship Id="rId30-created" Type="http://schemas.openxmlformats.org/officeDocument/2006/relationships/slide" Target="slides/slide19.xml"/><Relationship Id="rId31-created" Type="http://schemas.openxmlformats.org/officeDocument/2006/relationships/slide" Target="slides/slide20.xml"/><Relationship Id="rId32-created" Type="http://schemas.openxmlformats.org/officeDocument/2006/relationships/slide" Target="slides/slide21.xml"/><Relationship Id="rId33-created" Type="http://schemas.openxmlformats.org/officeDocument/2006/relationships/slide" Target="slides/slide22.xml"/><Relationship Id="rId34-created" Type="http://schemas.openxmlformats.org/officeDocument/2006/relationships/slide" Target="slides/slide23.xml"/><Relationship Id="rId35-created" Type="http://schemas.openxmlformats.org/officeDocument/2006/relationships/slide" Target="slides/slide24.xml"/><Relationship Id="rId36-created" Type="http://schemas.openxmlformats.org/officeDocument/2006/relationships/slide" Target="slides/slide25.xml"/><Relationship Id="rId37-created" Type="http://schemas.openxmlformats.org/officeDocument/2006/relationships/slide" Target="slides/slide26.xml"/><Relationship Id="rId38-created" Type="http://schemas.openxmlformats.org/officeDocument/2006/relationships/slide" Target="slides/slide27.xml"/><Relationship Id="rId39-created" Type="http://schemas.openxmlformats.org/officeDocument/2006/relationships/slide" Target="slides/slide28.xml"/><Relationship Id="rId40-created" Type="http://schemas.openxmlformats.org/officeDocument/2006/relationships/slide" Target="slides/slide29.xml"/><Relationship Id="rId41-created" Type="http://schemas.openxmlformats.org/officeDocument/2006/relationships/slide" Target="slides/slide30.xml"/><Relationship Id="rId42-created" Type="http://schemas.openxmlformats.org/officeDocument/2006/relationships/slide" Target="slides/slide31.xml"/><Relationship Id="rId43-created" Type="http://schemas.openxmlformats.org/officeDocument/2006/relationships/slide" Target="slides/slide32.xml"/><Relationship Id="rId44-created" Type="http://schemas.openxmlformats.org/officeDocument/2006/relationships/slide" Target="slides/slide33.xml"/><Relationship Id="rId45-created" Type="http://schemas.openxmlformats.org/officeDocument/2006/relationships/slide" Target="slides/slide34.xml"/><Relationship Id="rId46-created" Type="http://schemas.openxmlformats.org/officeDocument/2006/relationships/slide" Target="slides/slide35.xml"/><Relationship Id="rId47-created" Type="http://schemas.openxmlformats.org/officeDocument/2006/relationships/slide" Target="slides/slide36.xml"/><Relationship Id="rId48-created" Type="http://schemas.openxmlformats.org/officeDocument/2006/relationships/slide" Target="slides/slide37.xml"/><Relationship Id="rId49-created" Type="http://schemas.openxmlformats.org/officeDocument/2006/relationships/slide" Target="slides/slide38.xml"/><Relationship Id="rId50-created" Type="http://schemas.openxmlformats.org/officeDocument/2006/relationships/slide" Target="slides/slide39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李佳瑋(Verna Lee)" userId="e1c3b0e1-f32c-4f80-a53d-28435f812829" providerId="ADAL" clId="{98DFDF9A-BA9F-460C-9972-2EFD4D4006C5}"/>
    <pc:docChg chg="undo custSel modSld">
      <pc:chgData name="李佳瑋(Verna Lee)" userId="e1c3b0e1-f32c-4f80-a53d-28435f812829" providerId="ADAL" clId="{98DFDF9A-BA9F-460C-9972-2EFD4D4006C5}" dt="2026-07-09T02:00:46.557" v="31" actId="20577"/>
      <pc:docMkLst>
        <pc:docMk/>
      </pc:docMkLst>
      <pc:sldChg chg="modSp mod">
        <pc:chgData name="李佳瑋(Verna Lee)" userId="e1c3b0e1-f32c-4f80-a53d-28435f812829" providerId="ADAL" clId="{98DFDF9A-BA9F-460C-9972-2EFD4D4006C5}" dt="2026-07-09T02:00:46.557" v="31" actId="20577"/>
        <pc:sldMkLst>
          <pc:docMk/>
          <pc:sldMk cId="2405286114" sldId="2147479732"/>
        </pc:sldMkLst>
        <pc:spChg chg="mod">
          <ac:chgData name="李佳瑋(Verna Lee)" userId="e1c3b0e1-f32c-4f80-a53d-28435f812829" providerId="ADAL" clId="{98DFDF9A-BA9F-460C-9972-2EFD4D4006C5}" dt="2026-07-09T02:00:46.557" v="31" actId="20577"/>
          <ac:spMkLst>
            <pc:docMk/>
            <pc:sldMk cId="2405286114" sldId="2147479732"/>
            <ac:spMk id="7" creationId="{B7015A52-C78C-CF8D-BCE5-84E853166118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F220F292-CE53-EB57-05AF-5B0FA193F35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A59F771-CF13-F789-00D5-E17C2F60C9B9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9ECFDE2-6473-4080-A831-20006FDCD7F5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067AFBE0-C5E6-EC79-5695-0B034507F50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4DB5B6BF-F741-592B-6177-C1F32AD83B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245ED1B-6EFA-4E36-AE60-E978C66F0DEC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810105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F6CD30-1523-45E2-9237-ECEAB48C50E8}" type="datetimeFigureOut">
              <a:rPr lang="zh-TW" altLang="en-US" smtClean="0"/>
              <a:t>2026/7/9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15F5AC-016A-4A80-A5C2-27F05F9D9762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462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1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1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2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3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4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7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8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9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0.xml.rels><?xml version="1.0" encoding="UTF-8" standalone="yes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封面。客戶前提:RHEL 9 手動部署、AD 只有 user 與 group。範圍:Kafka(含 controller 與 MDS RBAC)、REST Proxy、Control Center。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六個前提:AD 只有 user/group(沒有服務帳號);希望憑證數量越少越好(設計上共用一組 server 憑證);RHEL 9 手動部署、尚無 Ansible;legacy app 只能 HTTP;權限要依職責分層(不同職責不同權限,唯讀只是其中一層;做法是 AD 群組 + RBAC);範圍限於 Kafka、REST Proxy、C3。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核心主張:AD 管人,Kafka 管機器。人與服務用不同的身分來源,但授權都集中在 MDS 的 RBAC。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前四格(藍)是 Confluent 的組件:Controller、Broker、REST Proxy、Control Center;後面(紫)是貫穿全案的安全機制,最後是整合與導入。MDS 是 Broker 內建的服務,不是獨立組件。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server 端共用一組 PK+憑證,SAN 要涵蓋所有組件對外連線的網域/IP;客戶內部 CA 簽發。client 只需 truststore。需要 client 憑證的是平台元件(c3、restproxy、bootstrap)與經 REST Proxy 的 legacy app。第 8 章實測:共用憑證當 client 身分,MDS 看到的主體都一樣。另外實測發現:MDS 設 REQUESTED 時會要求 client 憑證,C3 內部有一個用共用 keystore 的 HTTP 客戶端(查叢集 ID)會自動出示共用憑證,MDS 日誌的主體是 kafka.demo.local;所以這個身分一律不綁 role,且共用憑證不要收斂 EKU(收斂後這些呼叫會被拒)。AD 的 LDAPS CA root(信任庫放的是簽發 LDAPS 憑證的 CA 憑證,不是 AD 伺服器自己的憑證;若 LDAPS 憑證由中繼 CA 簽發且 AD 只送出自己的憑證、不附完整鏈,中繼 CA 也要匯入,此情況未實測):官方 MDS-LDAP 頁用 ldap.java.naming.security.protocol=SSL 與 ldap.ssl.truststore.*;實測 broker 不設信任庫時 PLAIN+LDAP 登入與群組同步都失敗(PKIX path building failed),加上後恢復;只有連 AD 的 JVM(broker 的 PLAIN+LDAP listener 與 MDS,同一批 broker,一份 ldap.ssl.truststore.* 設定即可)需要,controller、C3、REST Proxy 不連 AD。輪替(已在單節點實驗實測,見下一頁):CA 不變只換 server 憑證 → 只換 keystore;CA 根換新但金鑰不變 → truststore 新增新 root、舊的到期前移除;CA 換金鑰 → 先讓所有 truststore(server 與 client 兩邊)同時信任新舊 root,再用新 CA 重簽 server 憑證與 client 憑證(c3、restproxy、bootstrap、各 legacy app),確認後移除舊 root。有中繼 CA 時 keystore 要帶完整鏈。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憑證更換實驗(demo/spike/cert-rotation,單節點 Kafka、SSL listener 要求 client 憑證,可動態換 keystore/truststore):T1 只換 server 憑證(同 CA、新金鑰):用 kafka-configs 動態更新 listener.name.ssl.ssl.keystore.location,不重啟,client 設定完全不動仍通過(動態更新只涵蓋 Kafka listener;在 demo 實測 MDS 8091 埠不會跟著換,broker 仍要重啟,REST Proxy、C3 本來就要重啟,所以本方案以 rolling restart 為主,動態更新價值有限)。T4 根憑證用同一把金鑰重新簽發:client 信任庫只放新根、server 信任庫換成新根,舊的 server 與 client 憑證都照常通過。T2 CA 換金鑰且順序錯(先換 server 憑證、client 信任庫仍是舊根):client 出現 PKIX path building failed;還原後恢復。T3 正確順序:①server 與 client 信任庫先放新舊兩個根(舊 client 憑證與新舊 server 憑證都通過)→②換 server 憑證→③重簽 client 憑證(新 CA)→④移除舊根:新 client 憑證通過,尚未重簽的舊 client 憑證被拒。未驗證:長駐 client 是否需要重啟才會重新載入信任庫(以每次新啟動的 client 模擬);有中繼 CA 的情況。MDS / REST Proxy / C3 換憑證需要重啟:已在 demo 全元件演練實測(換檔不重啟,各埠仍出示舊憑證),見下一頁;這些元件有沒有不重啟的動態重載方式未驗證。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在實際 demo 環境(demo/spike/cert-rotation/rotate-demo.sh,log 為 rotate-demo.log)用「新根 CA2(新金鑰)」演練整套更換:階段 1:信任庫換成 {CA1,CA2},controller、broker1、broker2、REST Proxy、C3 全部重啟。階段 2:server 憑證換成 CA2 簽發;檔案換好、尚未重啟時,controller 9093、broker 9094 與 MDS 8091、REST Proxy 8086、C3 9022 仍出示舊憑證;依序重啟後全部變成新簽發者;過程中包含 controller 與 broker1 已換、broker2 還沒換的混合狀態,Kafka 人員登入、MDS 登入、REST Proxy(人與 legacy 憑證)、C3 網頁皆正常。階段 3:client 憑證(c3、restproxy、bootstrap、legacy-orders)用新根重簽,CN 不變所以 RBAC 不用重綁;REST Proxy、C3 重啟(換了檔案要重啟才載入;其實舊憑證在移除舊根前仍有效,階段 3 就重啟是為了在移除舊根之前先驗證新憑證,出問題還能回頭);controller 與 broker 沒有 client 憑證所以不用;legacy app 與 bootstrap 是直接讀檔,換檔即生效;新舊根並存期間,舊 CA 簽發的 legacy 憑證仍被接受。階段 4:信任庫只留新根,全部重啟;舊 CA 簽發的 legacy 憑證被拒(TLS 握手失敗),仍只信任舊根的 client 連不上新憑證。順序的依據:Confluent for Kubernetes 憑證管理文件的 CA 輪替流程是「步驟為主」:先更新所有元件的信任庫、確認每個元件都有新舊兩個 CA,再更新憑證;每個元件 rollout 完成才繼續。不是「一個元件做完全部步驟再換下一個」(那樣會在其他元件還沒信任新根時就出示新憑證)。也不是「一個步驟同時重啟全部」:每個步驟內逐個元件、逐台 rolling。該文件沒有規定元件之間的順序;本頁的 controller → broker(一次一台)→ REST Proxy → C3 是參考官方升級文件的順序(KRaft controller 先、broker 次之、Control Center 最後),不是憑證輪替文件的明文規定。注意:本頁以「重啟」載入為準,這也是官方的建議做法:Confluent for Kubernetes 憑證管理文件寫「Always renew truststores for all components before renewing certificates」、驗證每個元件信任庫都有新舊兩個 CA、「Wait for each component’s rollout to complete before proceeding」、先在非正式環境演練。動態載入是選項:官方 dynamic config 頁說 Kafka 的 keystore / truststore 可用 listener 前綴動態更新、只影響新連線(inter-broker listener 要求新 keystore 被該 listener 信任庫信任);CFK 文件的動態憑證載入只涵蓋 Kafka 與 Kafka REST、且只到個別 listener。Kafka 的 listener keystore / truststore 可用 kafka-configs 動態更新、不用重啟 JVM(單節點實驗實測),這不是 rolling restart;但 demo 全元件演練沒有使用動態更新,MDS 埠(Jetty)、REST Proxy、C3 是否能不重啟載入新憑證未驗證。正式環境有 3 個 controller,需逐台重啟以維持 quorum;demo 只有 1 個 controller,多 controller 搭配 TLS 與 RBAC 的滾動重啟未驗證。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官方:SCRAM overview 頁說 KRaft controller 之間不支援 SCRAM、broker→controller 可用;但 KRaft security 頁的寫法不同,官方文件間不一致,實測 3 個 controller 用 SCRAM-SHA-512:互相認證失敗(Invalid user credentials)、選不出 leader,與 SCRAM overview 頁一致(推測原因:SCRAM 憑證存放在 metadata log,quorum 還沒形成就無法驗證,此為推測)。主 demo 僅 1 個 controller;另以獨立實驗(spike/multi-controller:3 controller + 1 broker,SASL_PLAINTEXT)驗證 PLAIN:三個 voter 組成 quorum,停掉 leader 後重新選舉、重啟後回到 follower 無 lag,未驗證搭配 TLS / RBAC。另:官方 MDS 設定頁說 RBAC 下 controller 應設 confluent.metadata.server.kraft.controller.enabled=true,且只有 MDS writer broker 連 LDAP;本專案原以為 controller 需要 ldap.*,重建環境後重測已推翻:無 LDAP 的 controller 仍能依群組授權(ch11 通過),現採官方設定。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人用 SASL/PLAIN,broker 把帳密交給 LDAP(AD)驗證密碼;登入時不查群組,群組由 MDS writer 定期從 AD 同步,授權時依帳號名稱查本地快取(實測);服務用 SCRAM;平台元件用 OAUTHBEARER(MDS token)。INTERNAL 埠的使用者:broker 間用 kafka-broker;controller 連 broker(讀 RBAC 資料、audit 匯出)用 kafka-controller,皆為 SCRAM 與 super user。LDAP callback 不用在 inter-broker:客戶 AD 沒有服務帳號,官方也不建議 PLAIN + LDAP。INTERNAL 埠只是另一個 SASL 埠,任何有效 SCRAM 帳號都能「認證」進去(授權仍生效),所以必須用防火牆限制。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官方:MDS 在異動 RBAC 時把最新資訊寫入 topic,broker 讀取後 cache 在本地授權;群組同步只有 MDS writer broker 週期性向 LDAP 取(實測:LDAP 日誌同一時間只有 writer 查詢,broker2 重啟後 writer 換成 broker1;writer 把使用者→群組寫進 _confluent-metadata-auth,內容含 RoleBinding、User(群組對照)、Status(writerBrokerId),其他 broker 消費該 topic 更新本地快取;leader 在非 writer 的 partition 上,加入群組 3 秒內生效、移出約 6 秒)。注意:使用者認證(MDS 以使用者帳密 bind、CLIENT 埠 PLAIN+LDAP callback)由各 broker 自己連 AD,所以 AD 防火牆來源要涵蓋所有 broker(controller 不需要 LDAP 設定,實測)。客戶前提:需要 AD 唯讀查詢帳號(bind DN,只讀 user/group OU,建議 LDAPS);使用者密碼由 simple bind 以使用者自己的 DN 驗證。token:平台元件(C3、REST Proxy 自己的工作)由 client 函式庫重新換 token,不需人工;人用 C3 登入有 6 小時上限,到期重新登入;實測從 AD 刪除使用者後,已簽發 token 仍可呼叫 MDS(200),Basic 重新登入回 401,離職流程要考慮最長一個 token 壽命的空窗(demo 設 1 小時;設定 confluent.metadata.server.token.max.lifetime.ms)。writer 是什麼:MDS 內嵌在多台 broker,但同一時間只有一台 broker 擔任 writer(RBAC topic 的 Status 記錄會寫 writerBrokerId 與 generationId;實測 broker2 重啟後 writer 由 broker2 換成 broker1)。實測 LDAP 日誌:群組搜尋只由 writer 發出,結果寫進 RBAC topic,其他 broker 消費該 topic 更新快取。writer 的挑選方式與角色綁定寫入是否一律經過 writer,未驗證。人登入的 LDAP 流程(實測,PLAIN+LDAP 與 MDS Basic 皆相同):先用唯讀 bind 帳號搜尋使用者取得完整 DN,再用使用者自己的 DN 與密碼做一次 simple bind,成功即密碼正確,然後斷線。MDS 的 Bearer 是 MDS 自己簽發的 token(JWT),不是外部 OAuth2 token;Kafka 的 OAUTHBEARER 只是攜帶這個 token 的機制名稱。機器 / 平台元件以 client 憑證向 MDS 認證(MDS 設 REQUESTED,所以人 Basic 與機器憑證可並存),憑證 CN 經對映規則成為主體,只能用 User: 綁 role(官方 mTLS RBAC 頁:憑證主體不支援群組授權);REST Proxy 另可用自己的憑證代機器呼叫 /impersonate 申請 token(需列入 impersonation super users)。MDS 簽發的 token 不含群組:實測 yujie、gary 的 token 只有 jti、iss、sub、exp、iat、nbf、azp、auth_time;PLAIN+LDAP 登入也只驗證密碼、不查群組。授權時 broker 用主體名稱查 writer 同步進 RBAC topic 的群組對照快取(實測:只綁 Group:kafka-developers,yujie 不需任何個別設定就能讀取;移除綁定即被拒),所以才需要 writer 定期向 AD 同步。官方文件對 MDS 自簽 token 是否含群組沒有說明,以上為實測觀察。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權限放在 Kafka(RBAC + AD 群組);維運選單/腳本只是操作介面,以操作者本人身分執行。DeveloperManage 不能改 topic 設定;要改設定需 ResourceOwner 或 ClusterAdmin(叢集範圍、無讀寫)。UserAdmin 理論上可替自己授權,人數最少、臨時提權、audit 必看。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角色與範圍來自本 demo 的 MDS(GET /security/1.0/roles)實際回傳:叢集範圍(scopeType=Cluster):SystemAdmin、UserAdmin、ClusterAdmin、Operator、SecurityAdmin、AuditAdmin;資源範圍(scopeType=Resource):ResourceOwner、DeveloperRead、DeveloperWrite、DeveloperManage。權限細節為本專案實測:DeveloperManage 不能 AlterConfigs;ClusterAdmin 可改 topic 設定但不能讀寫;Operator 不能建 topic;IdempotentWrite 只包含在 DeveloperWrite / ResourceOwner。scope 的意思:role binding 綁在「哪個叢集」(叢集範圍角色),或綁在叢集內「哪個資源」(資源類型 + 名稱 + LITERAL / PREFIXED)。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服務身分用 SASL/SCRAM-SHA-512,不放 AD(AD 沒有服務帳號)。SCRAM 的缺點是密碼無自動到期,所以配套:密碼庫與輪替流程。輪替做法(同帳號直接改密碼):①新密碼先存入密碼庫,用 bootstrap 的 SCRAM 身分執行 kafka-configs --alter --add-config SCRAM-SHA-512=[password=新密碼] --entity-type users --entity-name 帳號;②立刻讓每個 client 換成新密碼並重啟或重新載入;③用新密碼設定檔連線,確認沒有 SaslAuthenticationException 且授權正常(帳號名稱不變,RBAC 綁定不用重綁);④用舊密碼確認已被拒;出問題時再執行一次 kafka-configs 把密碼改回舊的。實測:對同一帳號同一機制再設一次密碼會直接取代,舊密碼對新連線立即失效;已連線的 client 在 Kafka 端改密碼後不受影響(45 秒後仍送出訊息,無認證錯誤),因為密碼是在連線建立時驗證。風險:在 client 換新密碼之前,任何重新連線(應用重啟、broker 重啟、leader 轉移、閒置斷線)都會失敗,所以改完要立刻換 client;若設定了 connections.max.reauth.ms(定期重新認證),已連線的 client 也會在重新認證時失敗(demo 未設定,未實測)。kafka-configs 的密碼在指令列,可能留在 shell 歷史或被 ps 看到,導入時要留意。官方(SCRAM overview 頁):SCRAM 憑證儲存在 KRaft,適用於 KRaft 位於私有網路的環境;SCRAM 只應搭配 TLS 使用。該頁沒有說明 SCRAM 密碼輪替流程,本頁的做法是依實測與客戶條件(通常不改帳號名稱)選擇。需要完全沒有風險窗口的服務,可改用新帳號並行(ch09 實測,新帳號要重綁 role),細節見 SPIKE-FINDINGS。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上一頁是預設做法:同帳號直接改密碼,client 只改密碼,role binding 不動;缺點是 client 換好之前重新連線會失敗(已連線的不受影響,實測)。新帳號並行用在不能承受任何失敗窗口的服務:建立新帳號並重綁相同 role,client 改帳號與密碼並逐步切換,全部切完後刪舊帳號與舊 binding(ch09 實測;RBAC 綁的是主體名稱,所以新帳號必須重綁)。代價:每次輪替 client 都要改帳號名稱並重啟,所以不建議作為日常輪替。官方:CFK 認證管理文件對內部帳號與 MDS 的 LDAP bind 帳號的輪替使用新舊並行,該文件沒有涵蓋 SCRAM;Apache Kafka 與 Confluent 的 SCRAM 文件都沒有說明密碼輪替流程,所以兩種做法都是依實測與客戶條件做的選擇。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REST Proxy 是中心:它向 MDS 要 token,再帶 token 以 OAUTHBEARER 連 broker(MDS 不呼叫 broker),broker 用 MDS 公鑰驗章、以 sub 為主體授權。機器五步:legacy app 出示 client 憑證 → REST Proxy 依對映規則得到主體 → REST Proxy 用自己的憑證(CN=restproxy)向 MDS 認證並呼叫 /impersonate → MDS 回 sub=app、cp_proxy=restproxy 的 token → REST Proxy 以 OAUTHBEARER 連 broker。人 Basic 進入,REST Proxy 把帳密轉給 MDS 驗證換 token(沒有 /impersonate);機器出示 client 憑證,REST Proxy 用 AuthenticationHandler 把 DN 對映成主體,再以 restproxy 自己的憑證呼叫 MDS /impersonate 取得該主體的 token。客戶前提:人沒有 client 憑證、機器需要憑證,兩者必須並存,所以設 REQUESTED(官方 AuthenticationHandler 範例是 REQUIRED、純 mTLS);人機並存的組合為本專案實測驗證。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登入時瀏覽器第一個呼叫帶 Basic(C3 代轉 MDS),之後都帶 Bearer;同時有 HttpOnly auth_token cookie,伺服器優先看 Bearer。C3 自己的 API(例如 /2.0/clusters/kafka)在本地用 MDS 公鑰驗章:偽造或沒有簽章的 token,C3 直接回 401,MDS 的請求日誌(io.confluent.rest-utils.requests)沒有任何對應請求;有效 token 才會再以使用者 token 呼叫 MDS 查可見範圍(lookup/.../visibility)。但經 C3 轉給 MDS 的路徑(/api/metadata/security/1.0/...,例如在 C3 改 role binding)C3 不先驗章:同樣的偽造 token 會被轉給 MDS,由 MDS 回 401(實測,2026-10-05)。所以在 C3 改 role binding 時,驗證 token 的是 MDS。登入 session 上限由 confluent.controlcenter.auth.bearer.token.max.lifetime.ms 控制(官方:預設 6 小時、上限 24 小時、須不小於 MDS 的 token 壽命)。C3 自己的背景工作用 c3 憑證換 token,拿掉 SystemAdmin 後 Streams/license 立即授權失敗,約 1 分鐘後容器退出(實測)。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C3 next-gen 需要 Prometheus 與 Alertmanager 另外部署。官方支援 C3 與它們之間的 TLS + HTTP Basic(7.5 以後)與 mTLS。本 demo 沒啟用,所以實測看到無認證;啟用後的設定與效果尚未實測。沒有 Schema Registry 時,C3 預設連 localhost:8081,把 schema.registry.enable 設為 false 可關閉該連線。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官方預設:Management 與 Authorize 兩類事件(含 allowed/denied);produce、consume、describe、interbroker、heartbeat 預設關閉。本 demo 用自訂 router 開啟資料面事件。實測:只有 DeveloperRead 的 ming produce 被拒(叢集層級 IdempotentWrite,官方歸 PRODUCE 類 kafka.InitProducerId),audit 查不到,原因未明;本 demo 的 router 只排除 kafka-broker 與 kafka-controller 兩個內部身分,c3 不排除(曾觀察到記錄 allowed 事件時 C3 每幾秒產生 ListOffsets/OffsetFetch 而洗版審計 topic;現行 router 不記被允許的 consume)。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全景:人經 C3、REST Proxy 或 CLI 進入;機器經 SCRAM 直連或 client 憑證經 REST Proxy;所有身分的授權由 MDS 的 RBAC 集中判斷,broker 本地 cache。群組同步由 MDS writer broker 負責;使用者認證(MDS Basic、CLIENT 埠 PLAIN+LDAP)由各 broker 連 AD,AD 防火牆來源要涵蓋所有 broker(controller 不需要 LDAP 設定,實測)。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人的三條路徑:C3(Basic→token→Bearer)、CLI 直連 broker(SASL/PLAIN + LDAP callback)、REST Proxy(Basic 轉 MDS 換 token)。授權都依 AD 群組。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機器三條路徑:應用用 SCRAM 直連;legacy app 用 client 憑證經 REST Proxy;平台元件(C3、REST Proxy)用 client 憑證向 MDS 換 token。憑證身分只能綁 User:,不能綁群組。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憑證最少化:1 組 server 憑證 + c3、restproxy 兩張長期 client 憑證 + 1 張備用(bootstrap)。legacy app 的憑證可省,前提是客戶能建專用 AD 帳號(非真人)讓 app 走 Basic。另需保管:MDS token 簽章金鑰對(私鑰在 MDS broker 與 controller、公鑰在 broker / REST Proxy / C3,外洩可偽造 token,輪替流程未驗證)、內部帳號 kafka-broker / kafka-controller(SCRAM 與 PLAIN 靜態帳號,輪替流程未驗證)、AD LDAPS CA root 信任庫。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順序:憑證與 truststore → controller(kafka-storage format --add-scram,須在 broker 啟動前)→ broker + MDS + LDAP → 以 bootstrap 憑證建立第一批 role binding(管理權交給 AD 群組 kafka-admins)→ REST Proxy、C3、Prometheus/Alertmanager → audit 路由與驗證。實測教訓:改共用設定時 docker 連動重建 controller,逾時強殺留下空 KRaft snapshot,controller 重啟後遺失 SCRAM 憑證,broker 無法啟動。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六個主要風險與對策。前兩項是平台元件憑證的風險(c3 憑證=管理員、restproxy 憑證可代人),都是實測發現。第三項:共用 server 私鑰外洩可偽裝伺服器,也能以共用身分向 MDS 認證(該身分不綁 role,無權限);MDS token 簽章私鑰外洩可偽造任何人的 token,其輪替流程未驗證。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Postman cookie 陷阱(SPIKE 實測):MDS 驗證成功後回 auth_token cookie,cookie 優先於 Basic;同一 Postman session 換身分仍以前一人執行,實測 yujie 曾以 gary 身分新增 role binding。群組移出延遲:ldap.refresh.interval.ms 官方預設 60000;已簽發 token:實測刪除 AD 帳號後,舊 token 到期前仍可呼叫 MDS,Basic 重新登入回 401;token 路徑下授權是否依現在群組未測。多 controller:官方 SCRAM overview 與 KRaft security 頁說法不一致;3 個 controller 間 SASL/PLAIN 已用獨立實驗驗證(機制)。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如實呈現:左邊是 demo 已實跑驗證的項目;右邊是尚未驗證或需在客戶環境確認的項目。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TW" dirty="0"/>
              <a:t>請客戶確認的八件事。第 3 項決定 legacy app 要不要 client 憑證;第 2 項決定 Kafka 憑證如何簽發與散佈;第 7 項:官方 ldap.retry.timeout.ms 預設 24 小時,LDAP 持續失敗超過這段時間授權器會被標為失敗,所以 AD 要有多台 DC;第 8 項:LDAPS 的 CA 要匯入 broker 的信任庫,若由中繼 CA 簽發且 AD 不附完整鏈,中繼 CA 也要匯入。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sv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296315A3-9032-F201-BBE0-DCF1E284C8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sp>
        <p:nvSpPr>
          <p:cNvPr id="2" name="標題 22">
            <a:extLst>
              <a:ext uri="{FF2B5EF4-FFF2-40B4-BE49-F238E27FC236}">
                <a16:creationId xmlns:a16="http://schemas.microsoft.com/office/drawing/2014/main" id="{79256E4C-BBB3-F4EF-4575-2E9C1831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4857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3" name="文字版面配置區 5">
            <a:extLst>
              <a:ext uri="{FF2B5EF4-FFF2-40B4-BE49-F238E27FC236}">
                <a16:creationId xmlns:a16="http://schemas.microsoft.com/office/drawing/2014/main" id="{A6E1F61F-101A-0690-91DE-D0570033B08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5276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pic>
        <p:nvPicPr>
          <p:cNvPr id="5" name="圖形 4">
            <a:extLst>
              <a:ext uri="{FF2B5EF4-FFF2-40B4-BE49-F238E27FC236}">
                <a16:creationId xmlns:a16="http://schemas.microsoft.com/office/drawing/2014/main" id="{D70598D0-A8AD-D246-77FD-6577B18E898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52668" y="450774"/>
            <a:ext cx="3857540" cy="495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4738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大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圖片 7">
            <a:extLst>
              <a:ext uri="{FF2B5EF4-FFF2-40B4-BE49-F238E27FC236}">
                <a16:creationId xmlns:a16="http://schemas.microsoft.com/office/drawing/2014/main" id="{33DF4201-5DEC-2FDC-1DF3-476EEFC04CB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423"/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4" name="頁尾版面配置區 4">
            <a:extLst>
              <a:ext uri="{FF2B5EF4-FFF2-40B4-BE49-F238E27FC236}">
                <a16:creationId xmlns:a16="http://schemas.microsoft.com/office/drawing/2014/main" id="{87540F65-87CD-6C6D-7C2F-09D4A4A1E6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9" name="投影片編號版面配置區 5">
            <a:extLst>
              <a:ext uri="{FF2B5EF4-FFF2-40B4-BE49-F238E27FC236}">
                <a16:creationId xmlns:a16="http://schemas.microsoft.com/office/drawing/2014/main" id="{5A55E343-F865-91E4-FA15-92BF8924B8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E3E0B239-8BA9-5B22-4759-168A4206DDF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29029" y="1574164"/>
            <a:ext cx="4491593" cy="412150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5" name="標題 22">
            <a:extLst>
              <a:ext uri="{FF2B5EF4-FFF2-40B4-BE49-F238E27FC236}">
                <a16:creationId xmlns:a16="http://schemas.microsoft.com/office/drawing/2014/main" id="{2DB15313-D7B9-05DF-1CAE-1059D2BCFD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9839137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扉頁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40F7A88E-D44F-2933-E9C4-14D87A56655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" y="0"/>
            <a:ext cx="12191594" cy="6858000"/>
          </a:xfrm>
          <a:prstGeom prst="rect">
            <a:avLst/>
          </a:prstGeom>
        </p:spPr>
      </p:pic>
      <p:pic>
        <p:nvPicPr>
          <p:cNvPr id="3" name="圖形 2">
            <a:extLst>
              <a:ext uri="{FF2B5EF4-FFF2-40B4-BE49-F238E27FC236}">
                <a16:creationId xmlns:a16="http://schemas.microsoft.com/office/drawing/2014/main" id="{F5565DED-AA99-4D0D-9460-D9500233B35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10" name="標題 22">
            <a:extLst>
              <a:ext uri="{FF2B5EF4-FFF2-40B4-BE49-F238E27FC236}">
                <a16:creationId xmlns:a16="http://schemas.microsoft.com/office/drawing/2014/main" id="{59FA8356-E8DD-76B4-5DAB-17A19E5066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291" y="1558384"/>
            <a:ext cx="5359906" cy="913944"/>
          </a:xfrm>
        </p:spPr>
        <p:txBody>
          <a:bodyPr anchor="t">
            <a:normAutofit/>
          </a:bodyPr>
          <a:lstStyle>
            <a:lvl1pPr algn="l">
              <a:defRPr sz="4400"/>
            </a:lvl1pPr>
          </a:lstStyle>
          <a:p>
            <a:endParaRPr lang="zh-TW" altLang="en-US" dirty="0"/>
          </a:p>
        </p:txBody>
      </p:sp>
      <p:sp>
        <p:nvSpPr>
          <p:cNvPr id="6" name="頁尾版面配置區 4">
            <a:extLst>
              <a:ext uri="{FF2B5EF4-FFF2-40B4-BE49-F238E27FC236}">
                <a16:creationId xmlns:a16="http://schemas.microsoft.com/office/drawing/2014/main" id="{D2A5E82D-1701-8097-24BD-A40A303AC3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8" name="投影片編號版面配置區 5">
            <a:extLst>
              <a:ext uri="{FF2B5EF4-FFF2-40B4-BE49-F238E27FC236}">
                <a16:creationId xmlns:a16="http://schemas.microsoft.com/office/drawing/2014/main" id="{C636A1CB-A47A-70E7-8341-AF4E6A2EBF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14" name="文字版面配置區 5">
            <a:extLst>
              <a:ext uri="{FF2B5EF4-FFF2-40B4-BE49-F238E27FC236}">
                <a16:creationId xmlns:a16="http://schemas.microsoft.com/office/drawing/2014/main" id="{3D57D4E3-466B-F37C-94E9-4316C2EDD1E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5665" y="2637655"/>
            <a:ext cx="4690533" cy="2467743"/>
          </a:xfrm>
        </p:spPr>
        <p:txBody>
          <a:bodyPr>
            <a:normAutofit/>
          </a:bodyPr>
          <a:lstStyle>
            <a:lvl1pPr marL="0" marR="0" indent="-1800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Tx/>
              <a:buSzTx/>
              <a:buFont typeface="Arial" panose="020B0604020202020204" pitchFamily="34" charset="0"/>
              <a:buNone/>
              <a:tabLst/>
              <a:defRPr sz="2800" b="1">
                <a:solidFill>
                  <a:schemeClr val="tx1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  <a:endParaRPr lang="en-US" altLang="zh-TW" dirty="0"/>
          </a:p>
          <a:p>
            <a:pPr lvl="0"/>
            <a:endParaRPr lang="en-US" altLang="zh-TW" dirty="0"/>
          </a:p>
          <a:p>
            <a:pPr lvl="0"/>
            <a:endParaRPr lang="zh-TW" altLang="en-US" dirty="0"/>
          </a:p>
        </p:txBody>
      </p:sp>
      <p:cxnSp>
        <p:nvCxnSpPr>
          <p:cNvPr id="9" name="直線接點 8">
            <a:extLst>
              <a:ext uri="{FF2B5EF4-FFF2-40B4-BE49-F238E27FC236}">
                <a16:creationId xmlns:a16="http://schemas.microsoft.com/office/drawing/2014/main" id="{83A233EB-4F1C-C1BE-EE2F-E6DCBF9B727B}"/>
              </a:ext>
            </a:extLst>
          </p:cNvPr>
          <p:cNvCxnSpPr>
            <a:cxnSpLocks/>
          </p:cNvCxnSpPr>
          <p:nvPr userDrawn="1"/>
        </p:nvCxnSpPr>
        <p:spPr>
          <a:xfrm>
            <a:off x="1066291" y="2472330"/>
            <a:ext cx="5359906" cy="0"/>
          </a:xfrm>
          <a:prstGeom prst="line">
            <a:avLst/>
          </a:prstGeom>
          <a:ln w="28575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47008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22">
            <a:extLst>
              <a:ext uri="{FF2B5EF4-FFF2-40B4-BE49-F238E27FC236}">
                <a16:creationId xmlns:a16="http://schemas.microsoft.com/office/drawing/2014/main" id="{8DC90A93-214B-7E1A-1224-4B8404FA6E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6" name="文字版面配置區 5">
            <a:extLst>
              <a:ext uri="{FF2B5EF4-FFF2-40B4-BE49-F238E27FC236}">
                <a16:creationId xmlns:a16="http://schemas.microsoft.com/office/drawing/2014/main" id="{48AED433-A3D3-13A9-C64A-C1BCBD58F6E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151745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內容版面配置區 2">
            <a:extLst>
              <a:ext uri="{FF2B5EF4-FFF2-40B4-BE49-F238E27FC236}">
                <a16:creationId xmlns:a16="http://schemas.microsoft.com/office/drawing/2014/main" id="{41A19F0F-7901-725E-C10C-41B3C8F8BF7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7222"/>
            <a:ext cx="5427210" cy="4951950"/>
          </a:xfrm>
        </p:spPr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13" name="圖形 12">
            <a:extLst>
              <a:ext uri="{FF2B5EF4-FFF2-40B4-BE49-F238E27FC236}">
                <a16:creationId xmlns:a16="http://schemas.microsoft.com/office/drawing/2014/main" id="{34F0C533-EFF2-5DC4-2295-221B557CCD9A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2" name="內容版面配置區 2">
            <a:extLst>
              <a:ext uri="{FF2B5EF4-FFF2-40B4-BE49-F238E27FC236}">
                <a16:creationId xmlns:a16="http://schemas.microsoft.com/office/drawing/2014/main" id="{9DE40350-99D9-B04A-08E7-7D34B5E2219E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6159065" y="1437222"/>
            <a:ext cx="5427210" cy="4951950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pic>
        <p:nvPicPr>
          <p:cNvPr id="10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B0E74920-CCE3-AD0A-81AD-5076A9113C6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3" name="頁尾版面配置區 4">
            <a:extLst>
              <a:ext uri="{FF2B5EF4-FFF2-40B4-BE49-F238E27FC236}">
                <a16:creationId xmlns:a16="http://schemas.microsoft.com/office/drawing/2014/main" id="{DCFB3551-A66B-5033-9475-EFCF4022B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A0D83EF-D797-A055-3F82-BAFFEC7312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7" name="標題 22">
            <a:extLst>
              <a:ext uri="{FF2B5EF4-FFF2-40B4-BE49-F238E27FC236}">
                <a16:creationId xmlns:a16="http://schemas.microsoft.com/office/drawing/2014/main" id="{3FD9C074-B93F-02AC-0718-67BD93B28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0155681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8" name="文字版面配置區 5">
            <a:extLst>
              <a:ext uri="{FF2B5EF4-FFF2-40B4-BE49-F238E27FC236}">
                <a16:creationId xmlns:a16="http://schemas.microsoft.com/office/drawing/2014/main" id="{67DD077B-8E85-4451-9E7F-6B3782D4B7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95125" y="933318"/>
            <a:ext cx="10155682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7244690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_無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內容版面配置區 3" descr="一張含有 螢幕擷取畫面, 圖形, 平面設計, 鮮豔 的圖片&#10;&#10;AI 產生的內容可能不正確。">
            <a:extLst>
              <a:ext uri="{FF2B5EF4-FFF2-40B4-BE49-F238E27FC236}">
                <a16:creationId xmlns:a16="http://schemas.microsoft.com/office/drawing/2014/main" id="{74FEBEDE-0BCE-9BAC-58BA-A3D677E4EA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8124"/>
          <a:stretch>
            <a:fillRect/>
          </a:stretch>
        </p:blipFill>
        <p:spPr>
          <a:xfrm>
            <a:off x="12039353" y="0"/>
            <a:ext cx="155944" cy="6859486"/>
          </a:xfrm>
          <a:prstGeom prst="rect">
            <a:avLst/>
          </a:prstGeom>
        </p:spPr>
      </p:pic>
      <p:sp>
        <p:nvSpPr>
          <p:cNvPr id="2" name="頁尾版面配置區 4">
            <a:extLst>
              <a:ext uri="{FF2B5EF4-FFF2-40B4-BE49-F238E27FC236}">
                <a16:creationId xmlns:a16="http://schemas.microsoft.com/office/drawing/2014/main" id="{5D765D64-6A24-2396-A126-8D30586688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88175" y="6485671"/>
            <a:ext cx="4114800" cy="274373"/>
          </a:xfrm>
          <a:prstGeom prst="rect">
            <a:avLst/>
          </a:prstGeom>
        </p:spPr>
        <p:txBody>
          <a:bodyPr/>
          <a:lstStyle>
            <a:lvl1pPr algn="r">
              <a:defRPr sz="8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3" name="投影片編號版面配置區 5">
            <a:extLst>
              <a:ext uri="{FF2B5EF4-FFF2-40B4-BE49-F238E27FC236}">
                <a16:creationId xmlns:a16="http://schemas.microsoft.com/office/drawing/2014/main" id="{7C22CF9A-E9AF-F950-004D-FCDC2A75F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0541" y="6485671"/>
            <a:ext cx="419746" cy="274373"/>
          </a:xfrm>
          <a:prstGeom prst="rect">
            <a:avLst/>
          </a:prstGeom>
        </p:spPr>
        <p:txBody>
          <a:bodyPr/>
          <a:lstStyle>
            <a:lvl1pPr>
              <a:defRPr sz="9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 sz="900"/>
          </a:p>
        </p:txBody>
      </p:sp>
      <p:sp>
        <p:nvSpPr>
          <p:cNvPr id="4" name="標題 22">
            <a:extLst>
              <a:ext uri="{FF2B5EF4-FFF2-40B4-BE49-F238E27FC236}">
                <a16:creationId xmlns:a16="http://schemas.microsoft.com/office/drawing/2014/main" id="{AED04AC0-B8AA-CF4B-0B44-9B1DA2343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5125" y="307975"/>
            <a:ext cx="11089377" cy="612731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endParaRPr lang="zh-TW" altLang="en-US" dirty="0"/>
          </a:p>
        </p:txBody>
      </p:sp>
      <p:sp>
        <p:nvSpPr>
          <p:cNvPr id="5" name="文字版面配置區 5">
            <a:extLst>
              <a:ext uri="{FF2B5EF4-FFF2-40B4-BE49-F238E27FC236}">
                <a16:creationId xmlns:a16="http://schemas.microsoft.com/office/drawing/2014/main" id="{AB0B1B1C-096C-F6D4-901F-F00A7C1836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95125" y="933318"/>
            <a:ext cx="11089378" cy="491292"/>
          </a:xfrm>
        </p:spPr>
        <p:txBody>
          <a:bodyPr/>
          <a:lstStyle>
            <a:lvl1pPr>
              <a:buNone/>
              <a:defRPr b="1">
                <a:solidFill>
                  <a:schemeClr val="tx1"/>
                </a:solidFill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  <p:sp>
        <p:nvSpPr>
          <p:cNvPr id="10" name="內容版面配置區 2">
            <a:extLst>
              <a:ext uri="{FF2B5EF4-FFF2-40B4-BE49-F238E27FC236}">
                <a16:creationId xmlns:a16="http://schemas.microsoft.com/office/drawing/2014/main" id="{55060235-ABDB-2658-8864-CBBC1F24A7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95125" y="1434069"/>
            <a:ext cx="11089377" cy="4985388"/>
          </a:xfrm>
        </p:spPr>
        <p:txBody>
          <a:bodyPr/>
          <a:lstStyle>
            <a:lvl1pPr marL="0">
              <a:defRPr/>
            </a:lvl1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</p:spTree>
    <p:extLst>
      <p:ext uri="{BB962C8B-B14F-4D97-AF65-F5344CB8AC3E}">
        <p14:creationId xmlns:p14="http://schemas.microsoft.com/office/powerpoint/2010/main" val="10580612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封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3513CD57-DD09-17D5-B102-6F347923CE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0" y="0"/>
            <a:ext cx="12187939" cy="6858000"/>
          </a:xfrm>
          <a:prstGeom prst="rect">
            <a:avLst/>
          </a:prstGeom>
        </p:spPr>
      </p:pic>
      <p:pic>
        <p:nvPicPr>
          <p:cNvPr id="5" name="圖形 4">
            <a:extLst>
              <a:ext uri="{FF2B5EF4-FFF2-40B4-BE49-F238E27FC236}">
                <a16:creationId xmlns:a16="http://schemas.microsoft.com/office/drawing/2014/main" id="{7D4709F3-40B3-06D6-AB2D-93898D13C1D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69870" y="156629"/>
            <a:ext cx="1150419" cy="255199"/>
          </a:xfrm>
          <a:prstGeom prst="rect">
            <a:avLst/>
          </a:prstGeom>
        </p:spPr>
      </p:pic>
      <p:sp>
        <p:nvSpPr>
          <p:cNvPr id="6" name="標題 22">
            <a:extLst>
              <a:ext uri="{FF2B5EF4-FFF2-40B4-BE49-F238E27FC236}">
                <a16:creationId xmlns:a16="http://schemas.microsoft.com/office/drawing/2014/main" id="{23D48F7A-3F1F-4329-1211-400E999EBD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2669" y="2384170"/>
            <a:ext cx="10374520" cy="1041862"/>
          </a:xfr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5000"/>
            </a:lvl1pPr>
          </a:lstStyle>
          <a:p>
            <a:endParaRPr lang="zh-TW" altLang="en-US" dirty="0"/>
          </a:p>
        </p:txBody>
      </p:sp>
      <p:sp>
        <p:nvSpPr>
          <p:cNvPr id="7" name="文字版面配置區 5">
            <a:extLst>
              <a:ext uri="{FF2B5EF4-FFF2-40B4-BE49-F238E27FC236}">
                <a16:creationId xmlns:a16="http://schemas.microsoft.com/office/drawing/2014/main" id="{2631B874-6616-2955-7E7A-0E6987140A2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2668" y="3426032"/>
            <a:ext cx="10374520" cy="546637"/>
          </a:xfrm>
        </p:spPr>
        <p:txBody>
          <a:bodyPr>
            <a:noAutofit/>
          </a:bodyPr>
          <a:lstStyle>
            <a:lvl1pPr>
              <a:lnSpc>
                <a:spcPct val="100000"/>
              </a:lnSpc>
              <a:buNone/>
              <a:defRPr sz="3200" b="0">
                <a:solidFill>
                  <a:schemeClr val="tx1"/>
                </a:solidFill>
                <a:latin typeface="Arial Black" panose="020B0A04020102020204" pitchFamily="34" charset="0"/>
              </a:defRPr>
            </a:lvl1pPr>
          </a:lstStyle>
          <a:p>
            <a:pPr lvl="0"/>
            <a:r>
              <a:rPr lang="zh-TW" altLang="en-US" dirty="0"/>
              <a:t>按一下以編輯副標題</a:t>
            </a:r>
          </a:p>
        </p:txBody>
      </p:sp>
    </p:spTree>
    <p:extLst>
      <p:ext uri="{BB962C8B-B14F-4D97-AF65-F5344CB8AC3E}">
        <p14:creationId xmlns:p14="http://schemas.microsoft.com/office/powerpoint/2010/main" val="3877963235"/>
      </p:ext>
    </p:extLst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FDF5C43-AB60-0FED-FFB9-19495D002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1592139-8FC5-3643-4B0D-804E16658C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E8F6A111-24DC-635D-D015-EDEB19D487E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endParaRPr lang="zh-TW" altLang="en-US" dirty="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360750B2-8042-7E5A-D4BA-2DC95B8C84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C41E099-1AA8-7B80-DD06-E354FBED51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bg1">
                    <a:lumMod val="65000"/>
                  </a:schemeClr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defRPr>
            </a:lvl1pPr>
          </a:lstStyle>
          <a:p>
            <a:fld id="{DB79C081-DDF4-42D0-B16E-F484AE95A2F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060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600" b="1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j-cs"/>
        </a:defRPr>
      </a:lvl1pPr>
    </p:titleStyle>
    <p:bodyStyle>
      <a:lvl1pPr marL="0" indent="-18000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Char char="•"/>
        <a:defRPr sz="2400" b="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1pPr>
      <a:lvl2pPr marL="72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2pPr>
      <a:lvl3pPr marL="108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u"/>
        <a:defRPr sz="18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3pPr>
      <a:lvl4pPr marL="1440000" indent="-180000" algn="l" defTabSz="914400" rtl="0" eaLnBrk="1" latinLnBrk="0" hangingPunct="1">
        <a:lnSpc>
          <a:spcPct val="100000"/>
        </a:lnSpc>
        <a:spcBef>
          <a:spcPts val="500"/>
        </a:spcBef>
        <a:buSzPct val="50000"/>
        <a:buFont typeface="Wingdings" panose="05000000000000000000" pitchFamily="2" charset="2"/>
        <a:buChar char="p"/>
        <a:defRPr sz="16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微軟正黑體" panose="020B0604030504040204" pitchFamily="34" charset="-120"/>
          <a:ea typeface="微軟正黑體" panose="020B0604030504040204" pitchFamily="34" charset="-12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Notes1" Type="http://schemas.openxmlformats.org/officeDocument/2006/relationships/notesSlide" Target="../notesSlides/notesSlide1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0.png"/><Relationship Id="rId4-created" Type="http://schemas.openxmlformats.org/officeDocument/2006/relationships/image" Target="../media/media11.png"/><Relationship Id="rId5-created" Type="http://schemas.openxmlformats.org/officeDocument/2006/relationships/image" Target="../media/media12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14.png"/><Relationship Id="rIdNotes1" Type="http://schemas.openxmlformats.org/officeDocument/2006/relationships/notesSlide" Target="../notesSlides/notesSlide3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17.png"/><Relationship Id="rIdNotes1" Type="http://schemas.openxmlformats.org/officeDocument/2006/relationships/notesSlide" Target="../notesSlides/notesSlide4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8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21.png"/><Relationship Id="rId6-created" Type="http://schemas.openxmlformats.org/officeDocument/2006/relationships/image" Target="../media/media22.png"/><Relationship Id="rId7-created" Type="http://schemas.openxmlformats.org/officeDocument/2006/relationships/image" Target="../media/media17.png"/><Relationship Id="rId8-created" Type="http://schemas.openxmlformats.org/officeDocument/2006/relationships/image" Target="../media/media23.png"/><Relationship Id="rId9-created" Type="http://schemas.openxmlformats.org/officeDocument/2006/relationships/image" Target="../media/media24.png"/><Relationship Id="rId10-created" Type="http://schemas.openxmlformats.org/officeDocument/2006/relationships/image" Target="../media/media25.png"/><Relationship Id="rIdNotes1" Type="http://schemas.openxmlformats.org/officeDocument/2006/relationships/notesSlide" Target="../notesSlides/notesSlide5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6.png"/><Relationship Id="rIdNotes1" Type="http://schemas.openxmlformats.org/officeDocument/2006/relationships/notesSlide" Target="../notesSlides/notesSlide7.xml"/></Relationships>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7.png"/><Relationship Id="rId3-created" Type="http://schemas.openxmlformats.org/officeDocument/2006/relationships/image" Target="../media/media28.png"/><Relationship Id="rId4-created" Type="http://schemas.openxmlformats.org/officeDocument/2006/relationships/image" Target="../media/media10.png"/><Relationship Id="rIdNotes1" Type="http://schemas.openxmlformats.org/officeDocument/2006/relationships/notesSlide" Target="../notesSlides/notesSlide8.xml"/></Relationships>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19.png"/><Relationship Id="rId4-created" Type="http://schemas.openxmlformats.org/officeDocument/2006/relationships/image" Target="../media/media30.png"/><Relationship Id="rId5-created" Type="http://schemas.openxmlformats.org/officeDocument/2006/relationships/image" Target="../media/media31.png"/><Relationship Id="rId6-created" Type="http://schemas.openxmlformats.org/officeDocument/2006/relationships/image" Target="../media/media32.png"/><Relationship Id="rIdNotes1" Type="http://schemas.openxmlformats.org/officeDocument/2006/relationships/notesSlide" Target="../notesSlides/notesSlide9.xml"/></Relationships>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29.png"/><Relationship Id="rId5-created" Type="http://schemas.openxmlformats.org/officeDocument/2006/relationships/image" Target="../media/media33.png"/><Relationship Id="rId6-created" Type="http://schemas.openxmlformats.org/officeDocument/2006/relationships/image" Target="../media/media34.png"/><Relationship Id="rIdNotes1" Type="http://schemas.openxmlformats.org/officeDocument/2006/relationships/notesSlide" Target="../notesSlides/notesSlide10.xml"/></Relationships>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9.png"/><Relationship Id="rId3-created" Type="http://schemas.openxmlformats.org/officeDocument/2006/relationships/image" Target="../media/media35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17.png"/><Relationship Id="rIdNotes1" Type="http://schemas.openxmlformats.org/officeDocument/2006/relationships/notesSlide" Target="../notesSlides/notesSlide11.xml"/></Relationships>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6.png"/><Relationship Id="rId3-created" Type="http://schemas.openxmlformats.org/officeDocument/2006/relationships/image" Target="../media/media17.png"/><Relationship Id="rId4-created" Type="http://schemas.openxmlformats.org/officeDocument/2006/relationships/image" Target="../media/media37.png"/><Relationship Id="rId5-created" Type="http://schemas.openxmlformats.org/officeDocument/2006/relationships/image" Target="../media/media11.png"/><Relationship Id="rId6-created" Type="http://schemas.openxmlformats.org/officeDocument/2006/relationships/image" Target="../media/media9.png"/><Relationship Id="rId7-created" Type="http://schemas.openxmlformats.org/officeDocument/2006/relationships/image" Target="../media/media38.png"/><Relationship Id="rIdNotes1" Type="http://schemas.openxmlformats.org/officeDocument/2006/relationships/notesSlide" Target="../notesSlides/notesSlide12.xml"/></Relationships>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39.png"/><Relationship Id="rId4-created" Type="http://schemas.openxmlformats.org/officeDocument/2006/relationships/image" Target="../media/media40.png"/><Relationship Id="rId5-created" Type="http://schemas.openxmlformats.org/officeDocument/2006/relationships/image" Target="../media/media40.png"/><Relationship Id="rId6-created" Type="http://schemas.openxmlformats.org/officeDocument/2006/relationships/image" Target="../media/media39.png"/><Relationship Id="rId7-created" Type="http://schemas.openxmlformats.org/officeDocument/2006/relationships/image" Target="../media/media40.png"/><Relationship Id="rId8-created" Type="http://schemas.openxmlformats.org/officeDocument/2006/relationships/image" Target="../media/media40.png"/><Relationship Id="rId9-created" Type="http://schemas.openxmlformats.org/officeDocument/2006/relationships/image" Target="../media/media40.png"/><Relationship Id="rId10-created" Type="http://schemas.openxmlformats.org/officeDocument/2006/relationships/image" Target="../media/media40.png"/><Relationship Id="rId11-created" Type="http://schemas.openxmlformats.org/officeDocument/2006/relationships/image" Target="../media/media40.png"/><Relationship Id="rId12-created" Type="http://schemas.openxmlformats.org/officeDocument/2006/relationships/image" Target="../media/media39.png"/><Relationship Id="rId13-created" Type="http://schemas.openxmlformats.org/officeDocument/2006/relationships/image" Target="../media/media40.png"/><Relationship Id="rId14-created" Type="http://schemas.openxmlformats.org/officeDocument/2006/relationships/image" Target="../media/media40.png"/><Relationship Id="rId15-created" Type="http://schemas.openxmlformats.org/officeDocument/2006/relationships/image" Target="../media/media40.png"/><Relationship Id="rId16-created" Type="http://schemas.openxmlformats.org/officeDocument/2006/relationships/image" Target="../media/media40.png"/><Relationship Id="rId17-created" Type="http://schemas.openxmlformats.org/officeDocument/2006/relationships/image" Target="../media/media39.png"/><Relationship Id="rId18-created" Type="http://schemas.openxmlformats.org/officeDocument/2006/relationships/image" Target="../media/media39.png"/><Relationship Id="rId19-created" Type="http://schemas.openxmlformats.org/officeDocument/2006/relationships/image" Target="../media/media39.png"/><Relationship Id="rId20-created" Type="http://schemas.openxmlformats.org/officeDocument/2006/relationships/image" Target="../media/media39.png"/><Relationship Id="rId21-created" Type="http://schemas.openxmlformats.org/officeDocument/2006/relationships/image" Target="../media/media39.png"/><Relationship Id="rIdNotes1" Type="http://schemas.openxmlformats.org/officeDocument/2006/relationships/notesSlide" Target="../notesSlides/notesSlide13.xml"/></Relationships>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4.xml"/></Relationships>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1.png"/><Relationship Id="rId3-created" Type="http://schemas.openxmlformats.org/officeDocument/2006/relationships/image" Target="../media/media38.png"/><Relationship Id="rId4-created" Type="http://schemas.openxmlformats.org/officeDocument/2006/relationships/image" Target="../media/media42.png"/><Relationship Id="rIdNotes1" Type="http://schemas.openxmlformats.org/officeDocument/2006/relationships/notesSlide" Target="../notesSlides/notesSlide15.xml"/></Relationships>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16.xml"/></Relationships>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7.png"/><Relationship Id="rId3-created" Type="http://schemas.openxmlformats.org/officeDocument/2006/relationships/image" Target="../media/media15.png"/><Relationship Id="rId4-created" Type="http://schemas.openxmlformats.org/officeDocument/2006/relationships/image" Target="../media/media20.png"/><Relationship Id="rId5-created" Type="http://schemas.openxmlformats.org/officeDocument/2006/relationships/image" Target="../media/media19.png"/><Relationship Id="rId6-created" Type="http://schemas.openxmlformats.org/officeDocument/2006/relationships/image" Target="../media/media17.png"/><Relationship Id="rId7-created" Type="http://schemas.openxmlformats.org/officeDocument/2006/relationships/image" Target="../media/media12.png"/><Relationship Id="rId8-created" Type="http://schemas.openxmlformats.org/officeDocument/2006/relationships/image" Target="../media/media30.png"/><Relationship Id="rId9-created" Type="http://schemas.openxmlformats.org/officeDocument/2006/relationships/image" Target="../media/media43.png"/><Relationship Id="rIdNotes1" Type="http://schemas.openxmlformats.org/officeDocument/2006/relationships/notesSlide" Target="../notesSlides/notesSlide17.xml"/></Relationships>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5.png"/><Relationship Id="rId3-created" Type="http://schemas.openxmlformats.org/officeDocument/2006/relationships/image" Target="../media/media16.png"/><Relationship Id="rIdNotes1" Type="http://schemas.openxmlformats.org/officeDocument/2006/relationships/notesSlide" Target="../notesSlides/notesSlide18.xml"/></Relationships>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4.png"/><Relationship Id="rId4-created" Type="http://schemas.openxmlformats.org/officeDocument/2006/relationships/image" Target="../media/media45.png"/><Relationship Id="rId5-created" Type="http://schemas.openxmlformats.org/officeDocument/2006/relationships/image" Target="../media/media38.png"/><Relationship Id="rId6-created" Type="http://schemas.openxmlformats.org/officeDocument/2006/relationships/image" Target="../media/media46.png"/><Relationship Id="rIdNotes1" Type="http://schemas.openxmlformats.org/officeDocument/2006/relationships/notesSlide" Target="../notesSlides/notesSlide19.xml"/></Relationships>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4.png"/><Relationship Id="rId3-created" Type="http://schemas.openxmlformats.org/officeDocument/2006/relationships/image" Target="../media/media47.png"/><Relationship Id="rId4-created" Type="http://schemas.openxmlformats.org/officeDocument/2006/relationships/image" Target="../media/media38.png"/><Relationship Id="rIdNotes1" Type="http://schemas.openxmlformats.org/officeDocument/2006/relationships/notesSlide" Target="../notesSlides/notesSlide20.xml"/></Relationships>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9.png"/><Relationship Id="rId3-created" Type="http://schemas.openxmlformats.org/officeDocument/2006/relationships/image" Target="../media/media16.png"/><Relationship Id="rId4-created" Type="http://schemas.openxmlformats.org/officeDocument/2006/relationships/image" Target="../media/media9.png"/><Relationship Id="rId5-created" Type="http://schemas.openxmlformats.org/officeDocument/2006/relationships/image" Target="../media/media44.png"/><Relationship Id="rIdNotes1" Type="http://schemas.openxmlformats.org/officeDocument/2006/relationships/notesSlide" Target="../notesSlides/notesSlide22.xml"/></Relationships>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21.png"/><Relationship Id="rId3-created" Type="http://schemas.openxmlformats.org/officeDocument/2006/relationships/image" Target="../media/media48.png"/><Relationship Id="rId4-created" Type="http://schemas.openxmlformats.org/officeDocument/2006/relationships/image" Target="../media/media20.png"/><Relationship Id="rIdNotes1" Type="http://schemas.openxmlformats.org/officeDocument/2006/relationships/notesSlide" Target="../notesSlides/notesSlide23.xml"/></Relationships>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16.png"/><Relationship Id="rId3-created" Type="http://schemas.openxmlformats.org/officeDocument/2006/relationships/image" Target="../media/media12.png"/><Relationship Id="rId4-created" Type="http://schemas.openxmlformats.org/officeDocument/2006/relationships/image" Target="../media/media35.png"/><Relationship Id="rIdNotes1" Type="http://schemas.openxmlformats.org/officeDocument/2006/relationships/notesSlide" Target="../notesSlides/notesSlide24.xml"/></Relationships>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Notes1" Type="http://schemas.openxmlformats.org/officeDocument/2006/relationships/notesSlide" Target="../notesSlides/notesSlide25.xml"/></Relationships>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49.png"/><Relationship Id="rId3-created" Type="http://schemas.openxmlformats.org/officeDocument/2006/relationships/image" Target="../media/media29.png"/><Relationship Id="rId4-created" Type="http://schemas.openxmlformats.org/officeDocument/2006/relationships/image" Target="../media/media19.png"/><Relationship Id="rId5-created" Type="http://schemas.openxmlformats.org/officeDocument/2006/relationships/image" Target="../media/media50.png"/><Relationship Id="rId6-created" Type="http://schemas.openxmlformats.org/officeDocument/2006/relationships/image" Target="../media/media21.png"/><Relationship Id="rId7-created" Type="http://schemas.openxmlformats.org/officeDocument/2006/relationships/image" Target="../media/media51.png"/><Relationship Id="rIdNotes1" Type="http://schemas.openxmlformats.org/officeDocument/2006/relationships/notesSlide" Target="../notesSlides/notesSlide26.xml"/></Relationships>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2.png"/><Relationship Id="rId3-created" Type="http://schemas.openxmlformats.org/officeDocument/2006/relationships/image" Target="../media/media53.png"/><Relationship Id="rId4-created" Type="http://schemas.openxmlformats.org/officeDocument/2006/relationships/image" Target="../media/media54.png"/><Relationship Id="rId5-created" Type="http://schemas.openxmlformats.org/officeDocument/2006/relationships/image" Target="../media/media55.png"/><Relationship Id="rId6-created" Type="http://schemas.openxmlformats.org/officeDocument/2006/relationships/image" Target="../media/media56.png"/><Relationship Id="rId7-created" Type="http://schemas.openxmlformats.org/officeDocument/2006/relationships/image" Target="../media/media57.png"/><Relationship Id="rIdNotes1" Type="http://schemas.openxmlformats.org/officeDocument/2006/relationships/notesSlide" Target="../notesSlides/notesSlide27.xml"/></Relationships>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58.png"/><Relationship Id="rId3-created" Type="http://schemas.openxmlformats.org/officeDocument/2006/relationships/image" Target="../media/media59.png"/><Relationship Id="rId4-created" Type="http://schemas.openxmlformats.org/officeDocument/2006/relationships/image" Target="../media/media60.png"/><Relationship Id="rIdNotes1" Type="http://schemas.openxmlformats.org/officeDocument/2006/relationships/notesSlide" Target="../notesSlides/notesSlide28.xml"/></Relationships>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39.png"/><Relationship Id="rId3-created" Type="http://schemas.openxmlformats.org/officeDocument/2006/relationships/image" Target="../media/media61.png"/><Relationship Id="rIdNotes1" Type="http://schemas.openxmlformats.org/officeDocument/2006/relationships/notesSlide" Target="../notesSlides/notesSlide29.xml"/></Relationships>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2.png"/><Relationship Id="rId3-created" Type="http://schemas.openxmlformats.org/officeDocument/2006/relationships/image" Target="../media/media63.png"/><Relationship Id="rId4-created" Type="http://schemas.openxmlformats.org/officeDocument/2006/relationships/image" Target="../media/media12.png"/><Relationship Id="rId5-created" Type="http://schemas.openxmlformats.org/officeDocument/2006/relationships/image" Target="../media/media64.png"/><Relationship Id="rId6-created" Type="http://schemas.openxmlformats.org/officeDocument/2006/relationships/image" Target="../media/media13.png"/><Relationship Id="rId7-created" Type="http://schemas.openxmlformats.org/officeDocument/2006/relationships/image" Target="../media/media65.png"/><Relationship Id="rId8-created" Type="http://schemas.openxmlformats.org/officeDocument/2006/relationships/image" Target="../media/media19.png"/><Relationship Id="rId9-created" Type="http://schemas.openxmlformats.org/officeDocument/2006/relationships/image" Target="../media/media66.png"/><Relationship Id="rIdNotes1" Type="http://schemas.openxmlformats.org/officeDocument/2006/relationships/notesSlide" Target="../notesSlides/notesSlide30.xml"/></Relationships>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-created" Type="http://schemas.openxmlformats.org/officeDocument/2006/relationships/image" Target="../media/media67.png"/><Relationship Id="rId3-created" Type="http://schemas.openxmlformats.org/officeDocument/2006/relationships/image" Target="../media/media68.png"/><Relationship Id="rId4-created" Type="http://schemas.openxmlformats.org/officeDocument/2006/relationships/image" Target="../media/media11.png"/></Relationships>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45D9BE6-4BEC-7ECB-2700-52511025FE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Confluent 安全解決方案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7800F6-27CD-3259-1507-AA36A5B7EC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>
                <a:latin typeface="微軟正黑體"/>
                <a:ea typeface="微軟正黑體"/>
              </a:rPr>
              <a:t>依客戶前提設計:AD 僅有 user / group</a:t>
            </a:r>
          </a:p>
        </p:txBody>
      </p:sp>
      <p:sp>
        <p:nvSpPr>
          <p:cNvPr id="2" name="ad548997-b1c4-435b-a102-5b838c621f36"/>
          <p:cNvSpPr/>
          <p:nvPr/>
        </p:nvSpPr>
        <p:spPr>
          <a:xfrm>
            <a:off x="594360" y="4343400"/>
            <a:ext cx="5212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 Platform 8.3 · RHEL 9 手動部署</a:t>
            </a:r>
            <a:endParaRPr lang="en-US" sz="1400" dirty="0"/>
          </a:p>
          <a:p>
            <a:pPr indent="0" marL="0">
              <a:buNone/>
            </a:pPr>
            <a:r>
              <a:rPr lang="zh-TW" altLang="en-US" sz="1400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範圍:Kafka · REST Proxy · Control Center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781418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客戶前提與設計原則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先把限制說清楚,方案才站得住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客戶前提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六個前提決定了方案的形狀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8f17b90-2b8f-4578-adc1-5474089f2260"/>
          <p:cNvSpPr/>
          <p:nvPr/>
        </p:nvSpPr>
        <p:spPr>
          <a:xfrm>
            <a:off x="548640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00cabc0-eda9-4df8-9616-3e3f89ddef40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58932a8c-9e4e-42f0-98b4-6aaa2a50b6f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31b7003b-6209-4057-975e-fe4ae6c4366a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只有人與群組</a:t>
            </a:r>
            <a:endParaRPr lang="en-US" sz="1700" dirty="0"/>
          </a:p>
        </p:txBody>
      </p:sp>
      <p:sp>
        <p:nvSpPr>
          <p:cNvPr id="6" name="89b77390-5a7d-416f-a2d7-90fb53788232"/>
          <p:cNvSpPr/>
          <p:nvPr/>
        </p:nvSpPr>
        <p:spPr>
          <a:xfrm>
            <a:off x="640080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沒有服務帳號</a:t>
            </a:r>
            <a:endParaRPr lang="en-US" sz="1300" dirty="0"/>
          </a:p>
        </p:txBody>
      </p:sp>
      <p:sp>
        <p:nvSpPr>
          <p:cNvPr id="7" name="c3f1917f-a0a6-4aff-a383-e0a1f3778549"/>
          <p:cNvSpPr/>
          <p:nvPr/>
        </p:nvSpPr>
        <p:spPr>
          <a:xfrm>
            <a:off x="4325112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4a180a52-137a-40d3-992b-c665ccdeb4be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2c4c9fe3-6b59-4bf5-a951-9f6cf470bd5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38bfa90a-f905-4c66-8f56-25d168310785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憑證數量越少越好</a:t>
            </a:r>
            <a:endParaRPr lang="en-US" sz="1700" dirty="0"/>
          </a:p>
        </p:txBody>
      </p:sp>
      <p:sp>
        <p:nvSpPr>
          <p:cNvPr id="11" name="2c9765ef-ee02-4549-b1f7-32a0dd63cb88"/>
          <p:cNvSpPr/>
          <p:nvPr/>
        </p:nvSpPr>
        <p:spPr>
          <a:xfrm>
            <a:off x="4416552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希望憑證管理最小化</a:t>
            </a:r>
            <a:endParaRPr lang="en-US" sz="1300" dirty="0"/>
          </a:p>
        </p:txBody>
      </p:sp>
      <p:sp>
        <p:nvSpPr>
          <p:cNvPr id="12" name="f96bb0c9-2940-4dbd-bd04-78280dad6b98"/>
          <p:cNvSpPr/>
          <p:nvPr/>
        </p:nvSpPr>
        <p:spPr>
          <a:xfrm>
            <a:off x="8101584" y="1727475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3" name="8f4b6a43-3926-4e8f-b03b-13ea448b053b"/>
          <p:cNvSpPr/>
          <p:nvPr/>
        </p:nvSpPr>
        <p:spPr>
          <a:xfrm>
            <a:off x="9587484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4" name="a7a21ca4-061d-44c5-893b-b59b6789ffe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66751"/>
            <a:ext cx="307238" cy="307238"/>
          </a:xfrm>
          <a:prstGeom prst="rect">
            <a:avLst/>
          </a:prstGeom>
        </p:spPr>
      </p:pic>
      <p:sp>
        <p:nvSpPr>
          <p:cNvPr id="15" name="17af6b40-c1d3-408d-9328-06c6cd9a9412"/>
          <p:cNvSpPr/>
          <p:nvPr/>
        </p:nvSpPr>
        <p:spPr>
          <a:xfrm>
            <a:off x="8174736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9 VM · 手動安裝</a:t>
            </a:r>
            <a:endParaRPr lang="en-US" sz="1700" dirty="0"/>
          </a:p>
        </p:txBody>
      </p:sp>
      <p:sp>
        <p:nvSpPr>
          <p:cNvPr id="16" name="0f63d17b-c969-41d5-ac46-9267a5a5a968"/>
          <p:cNvSpPr/>
          <p:nvPr/>
        </p:nvSpPr>
        <p:spPr>
          <a:xfrm>
            <a:off x="8193024" y="2830521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目前沒有 Ansible</a:t>
            </a:r>
            <a:endParaRPr lang="en-US" sz="1300" dirty="0"/>
          </a:p>
        </p:txBody>
      </p:sp>
      <p:sp>
        <p:nvSpPr>
          <p:cNvPr id="17" name="3210ecb3-93cb-4055-b17e-81f98264a8e7"/>
          <p:cNvSpPr/>
          <p:nvPr/>
        </p:nvSpPr>
        <p:spPr>
          <a:xfrm>
            <a:off x="548640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e7a8390a-9898-4ac6-9681-15c4e758e789"/>
          <p:cNvSpPr/>
          <p:nvPr/>
        </p:nvSpPr>
        <p:spPr>
          <a:xfrm>
            <a:off x="2034540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9" name="99b58d9e-c9b8-4f80-b226-7684d81cc93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4257694"/>
            <a:ext cx="307238" cy="307238"/>
          </a:xfrm>
          <a:prstGeom prst="rect">
            <a:avLst/>
          </a:prstGeom>
        </p:spPr>
      </p:pic>
      <p:sp>
        <p:nvSpPr>
          <p:cNvPr id="20" name="c2964829-e38f-40fd-9778-a8067d78aa73"/>
          <p:cNvSpPr/>
          <p:nvPr/>
        </p:nvSpPr>
        <p:spPr>
          <a:xfrm>
            <a:off x="621792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只能 HTTP</a:t>
            </a:r>
            <a:endParaRPr lang="en-US" sz="1700" dirty="0"/>
          </a:p>
        </p:txBody>
      </p:sp>
      <p:sp>
        <p:nvSpPr>
          <p:cNvPr id="21" name="80b16b13-5c50-4fa8-b58b-29c748d564c6"/>
          <p:cNvSpPr/>
          <p:nvPr/>
        </p:nvSpPr>
        <p:spPr>
          <a:xfrm>
            <a:off x="640080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不能用 Kafka client</a:t>
            </a:r>
            <a:endParaRPr lang="en-US" sz="1300" dirty="0"/>
          </a:p>
        </p:txBody>
      </p:sp>
      <p:sp>
        <p:nvSpPr>
          <p:cNvPr id="22" name="77e651b7-c63b-4a33-8871-111930cd1b04"/>
          <p:cNvSpPr/>
          <p:nvPr/>
        </p:nvSpPr>
        <p:spPr>
          <a:xfrm>
            <a:off x="4325112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6b8a07f3-5452-46a8-8800-47c0d2f8462a"/>
          <p:cNvSpPr/>
          <p:nvPr/>
        </p:nvSpPr>
        <p:spPr>
          <a:xfrm>
            <a:off x="5811012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4" name="c226c637-b43e-4ff8-ba7d-8aacc6a3bfad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4257694"/>
            <a:ext cx="307238" cy="307238"/>
          </a:xfrm>
          <a:prstGeom prst="rect">
            <a:avLst/>
          </a:prstGeom>
        </p:spPr>
      </p:pic>
      <p:sp>
        <p:nvSpPr>
          <p:cNvPr id="25" name="603a302e-0703-4be5-8b90-e4bb5fc09ed4"/>
          <p:cNvSpPr/>
          <p:nvPr/>
        </p:nvSpPr>
        <p:spPr>
          <a:xfrm>
            <a:off x="4398264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不同職責,不同權限</a:t>
            </a:r>
            <a:endParaRPr lang="en-US" sz="1700" dirty="0"/>
          </a:p>
        </p:txBody>
      </p:sp>
      <p:sp>
        <p:nvSpPr>
          <p:cNvPr id="26" name="a9579698-caa4-4de3-8be7-29e24ab1be7c"/>
          <p:cNvSpPr/>
          <p:nvPr/>
        </p:nvSpPr>
        <p:spPr>
          <a:xfrm>
            <a:off x="4416552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分層授權,不是全有或全無</a:t>
            </a:r>
            <a:endParaRPr lang="en-US" sz="1300" dirty="0"/>
          </a:p>
        </p:txBody>
      </p:sp>
      <p:sp>
        <p:nvSpPr>
          <p:cNvPr id="27" name="1ceeb35d-8c95-43a7-a736-f4bc6fa91dfd"/>
          <p:cNvSpPr/>
          <p:nvPr/>
        </p:nvSpPr>
        <p:spPr>
          <a:xfrm>
            <a:off x="8101584" y="4018417"/>
            <a:ext cx="3520440" cy="207881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6297b98b-ee02-4d7a-9424-a416f00821c4"/>
          <p:cNvSpPr/>
          <p:nvPr/>
        </p:nvSpPr>
        <p:spPr>
          <a:xfrm>
            <a:off x="9587484" y="414569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081ee71a-81f9-4f93-997a-8f6a8b2d46a4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4257694"/>
            <a:ext cx="307238" cy="307238"/>
          </a:xfrm>
          <a:prstGeom prst="rect">
            <a:avLst/>
          </a:prstGeom>
        </p:spPr>
      </p:pic>
      <p:sp>
        <p:nvSpPr>
          <p:cNvPr id="30" name="63fee5bf-6f6f-43b5-a2c2-f77d405341e1"/>
          <p:cNvSpPr/>
          <p:nvPr/>
        </p:nvSpPr>
        <p:spPr>
          <a:xfrm>
            <a:off x="8174736" y="4739640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範圍</a:t>
            </a:r>
            <a:endParaRPr lang="en-US" sz="1700" dirty="0"/>
          </a:p>
        </p:txBody>
      </p:sp>
      <p:sp>
        <p:nvSpPr>
          <p:cNvPr id="31" name="a16834af-c071-4aa8-b822-80264b6ba438"/>
          <p:cNvSpPr/>
          <p:nvPr/>
        </p:nvSpPr>
        <p:spPr>
          <a:xfrm>
            <a:off x="8193024" y="5121464"/>
            <a:ext cx="33375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· REST Proxy · C3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設計原則:兩個身分平面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人走 AD,機器走 SCRAM 或 client 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c7fd024-bd8e-4f41-8e70-0ab0a68c7399"/>
          <p:cNvSpPr/>
          <p:nvPr/>
        </p:nvSpPr>
        <p:spPr>
          <a:xfrm>
            <a:off x="548640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c3085a96-a79c-4b99-aafc-781a31533854"/>
          <p:cNvSpPr/>
          <p:nvPr/>
        </p:nvSpPr>
        <p:spPr>
          <a:xfrm>
            <a:off x="777240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37cca678-68a1-4f6a-af13-e0220b1f153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38174" y="2046510"/>
            <a:ext cx="409651" cy="409651"/>
          </a:xfrm>
          <a:prstGeom prst="rect">
            <a:avLst/>
          </a:prstGeom>
        </p:spPr>
      </p:pic>
      <p:sp>
        <p:nvSpPr>
          <p:cNvPr id="5" name="c74d1203-81cf-4a65-b0ba-406c4bd68a21"/>
          <p:cNvSpPr/>
          <p:nvPr/>
        </p:nvSpPr>
        <p:spPr>
          <a:xfrm>
            <a:off x="1691640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2400" dirty="0"/>
          </a:p>
        </p:txBody>
      </p:sp>
      <p:sp>
        <p:nvSpPr>
          <p:cNvPr id="6" name="0febda45-d798-4cfd-9af6-901a549e76a2"/>
          <p:cNvSpPr/>
          <p:nvPr/>
        </p:nvSpPr>
        <p:spPr>
          <a:xfrm>
            <a:off x="822960" y="2830521"/>
            <a:ext cx="3749040" cy="8484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帳密 + AD 群組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登入 C3 · 手動腳本 · Postman</a:t>
            </a:r>
            <a:endParaRPr lang="en-US" sz="1600" dirty="0"/>
          </a:p>
        </p:txBody>
      </p:sp>
      <p:sp>
        <p:nvSpPr>
          <p:cNvPr id="7" name="100cd0ab-93d6-42a0-9d09-ea82a9411782"/>
          <p:cNvSpPr/>
          <p:nvPr/>
        </p:nvSpPr>
        <p:spPr>
          <a:xfrm>
            <a:off x="822960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授權跟著 AD 群組走</a:t>
            </a:r>
            <a:endParaRPr lang="en-US" sz="1200" dirty="0"/>
          </a:p>
        </p:txBody>
      </p:sp>
      <p:sp>
        <p:nvSpPr>
          <p:cNvPr id="8" name="86da413e-aa88-41e0-b7da-b3ffb098f2ae"/>
          <p:cNvSpPr/>
          <p:nvPr/>
        </p:nvSpPr>
        <p:spPr>
          <a:xfrm>
            <a:off x="7342632" y="1727475"/>
            <a:ext cx="4297680" cy="3139440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ec97a94b-3b3e-4b4a-b9e3-6ab290a15bcf"/>
          <p:cNvSpPr/>
          <p:nvPr/>
        </p:nvSpPr>
        <p:spPr>
          <a:xfrm>
            <a:off x="7571232" y="189717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ff8e1cfb-cfac-4853-8fae-6f4bc795fdb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732166" y="2046510"/>
            <a:ext cx="409651" cy="409651"/>
          </a:xfrm>
          <a:prstGeom prst="rect">
            <a:avLst/>
          </a:prstGeom>
        </p:spPr>
      </p:pic>
      <p:sp>
        <p:nvSpPr>
          <p:cNvPr id="11" name="599a1059-e6da-4b78-8939-f0d5df785b13"/>
          <p:cNvSpPr/>
          <p:nvPr/>
        </p:nvSpPr>
        <p:spPr>
          <a:xfrm>
            <a:off x="8485632" y="1982024"/>
            <a:ext cx="30175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2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</a:t>
            </a:r>
            <a:endParaRPr lang="en-US" sz="2400" dirty="0"/>
          </a:p>
        </p:txBody>
      </p:sp>
      <p:sp>
        <p:nvSpPr>
          <p:cNvPr id="12" name="5ab667f7-2821-40e3-8e66-344667d879e9"/>
          <p:cNvSpPr/>
          <p:nvPr/>
        </p:nvSpPr>
        <p:spPr>
          <a:xfrm>
            <a:off x="7616952" y="2745671"/>
            <a:ext cx="384048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Kafka:SCRAM 帳密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zh-TW" altLang="en-US" sz="16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MDS / REST Proxy:client 憑證</a:t>
            </a:r>
            <a:endParaRPr lang="en-US" sz="1600" dirty="0"/>
          </a:p>
          <a:p>
            <a:pPr algn="l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· 排程 · legacy app · 平台元件</a:t>
            </a:r>
            <a:endParaRPr lang="en-US" sz="1600" dirty="0"/>
          </a:p>
        </p:txBody>
      </p:sp>
      <p:sp>
        <p:nvSpPr>
          <p:cNvPr id="13" name="5df34bcc-edc9-46ea-8145-b7bb0c68e9c8"/>
          <p:cNvSpPr/>
          <p:nvPr/>
        </p:nvSpPr>
        <p:spPr>
          <a:xfrm>
            <a:off x="7616952" y="4188117"/>
            <a:ext cx="374904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授權綁 User:服務名稱</a:t>
            </a:r>
            <a:endParaRPr lang="en-US" sz="1200" dirty="0"/>
          </a:p>
        </p:txBody>
      </p:sp>
      <p:sp>
        <p:nvSpPr>
          <p:cNvPr id="14" name="2ca51e54-e313-413c-883c-5ea91ae6bc70"/>
          <p:cNvSpPr/>
          <p:nvPr/>
        </p:nvSpPr>
        <p:spPr>
          <a:xfrm>
            <a:off x="5120640" y="2363848"/>
            <a:ext cx="1947672" cy="1612145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5" name="2fade09e-631c-485c-8ab7-d1d4627a6524"/>
          <p:cNvSpPr/>
          <p:nvPr/>
        </p:nvSpPr>
        <p:spPr>
          <a:xfrm>
            <a:off x="5824728" y="2491122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16" name="67c96cce-47a6-4705-b71a-87e71af8a4e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5945429" y="2603124"/>
            <a:ext cx="307238" cy="307238"/>
          </a:xfrm>
          <a:prstGeom prst="rect">
            <a:avLst/>
          </a:prstGeom>
        </p:spPr>
      </p:pic>
      <p:sp>
        <p:nvSpPr>
          <p:cNvPr id="17" name="a557a2e7-dd50-46df-aec7-2a620fce161b"/>
          <p:cNvSpPr/>
          <p:nvPr/>
        </p:nvSpPr>
        <p:spPr>
          <a:xfrm>
            <a:off x="5166360" y="3085070"/>
            <a:ext cx="185623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18" name="2ba755cb-513d-42ec-91fb-87383e538a51"/>
          <p:cNvSpPr/>
          <p:nvPr/>
        </p:nvSpPr>
        <p:spPr>
          <a:xfrm>
            <a:off x="5212080" y="3466894"/>
            <a:ext cx="176479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集中管理授權規則</a:t>
            </a:r>
            <a:endParaRPr lang="en-US" sz="1100" dirty="0"/>
          </a:p>
        </p:txBody>
      </p:sp>
      <p:sp>
        <p:nvSpPr>
          <p:cNvPr id="19" name="e79294a2-62c6-4736-9e9c-066f7452f7d6"/>
          <p:cNvSpPr/>
          <p:nvPr/>
        </p:nvSpPr>
        <p:spPr>
          <a:xfrm>
            <a:off x="4846320" y="3169920"/>
            <a:ext cx="2743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301966c5-9b2f-4ce9-944e-1198039f1265"/>
          <p:cNvSpPr/>
          <p:nvPr/>
        </p:nvSpPr>
        <p:spPr>
          <a:xfrm flipH="1">
            <a:off x="7068312" y="3169920"/>
            <a:ext cx="2743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b6fe86b5-40db-4a03-8681-6e2adf1ac357"/>
          <p:cNvSpPr/>
          <p:nvPr/>
        </p:nvSpPr>
        <p:spPr>
          <a:xfrm>
            <a:off x="548640" y="5121464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7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怎麼分?有人在場、由人直接或間接操作 = 人;其餘(無人值守)= 服務</a:t>
            </a:r>
            <a:endParaRPr lang="en-US" sz="1700" dirty="0"/>
          </a:p>
        </p:txBody>
      </p:sp>
      <p:sp>
        <p:nvSpPr>
          <p:cNvPr id="22" name="f7e40ff2-9387-4384-af60-1baeee0d6b8f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腳本由手動轉成排程 → 必須改用服務身分,不借用人的帳號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方案總覽:組件與安全機制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各組件怎麼認證、授權,以及貫穿全案的機制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9dd32c0-c531-4b05-9f13-2d0173f2b515"/>
          <p:cNvSpPr/>
          <p:nvPr/>
        </p:nvSpPr>
        <p:spPr>
          <a:xfrm>
            <a:off x="548640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bf7ff7b-14a1-4d0c-92da-cf5e3c963b07"/>
          <p:cNvSpPr/>
          <p:nvPr/>
        </p:nvSpPr>
        <p:spPr>
          <a:xfrm>
            <a:off x="2034540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d8f23e5-66f6-4cc7-ae77-44f8113abe6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24326"/>
            <a:ext cx="307238" cy="307238"/>
          </a:xfrm>
          <a:prstGeom prst="rect">
            <a:avLst/>
          </a:prstGeom>
        </p:spPr>
      </p:pic>
      <p:sp>
        <p:nvSpPr>
          <p:cNvPr id="5" name="a87b4be0-fc25-4925-ae33-beb421ff82dd"/>
          <p:cNvSpPr/>
          <p:nvPr/>
        </p:nvSpPr>
        <p:spPr>
          <a:xfrm>
            <a:off x="621792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500" dirty="0"/>
          </a:p>
        </p:txBody>
      </p:sp>
      <p:sp>
        <p:nvSpPr>
          <p:cNvPr id="6" name="39b5aefa-9781-4d26-b26a-14f81e6de8ce"/>
          <p:cNvSpPr/>
          <p:nvPr/>
        </p:nvSpPr>
        <p:spPr>
          <a:xfrm>
            <a:off x="640080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 · 內部帳號</a:t>
            </a:r>
            <a:endParaRPr lang="en-US" sz="1200" dirty="0"/>
          </a:p>
        </p:txBody>
      </p:sp>
      <p:sp>
        <p:nvSpPr>
          <p:cNvPr id="7" name="f2df8f24-8f28-458d-8168-65a182f2a321"/>
          <p:cNvSpPr/>
          <p:nvPr/>
        </p:nvSpPr>
        <p:spPr>
          <a:xfrm>
            <a:off x="4325112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f8efb47f-5355-472b-b890-29ccf487fd19"/>
          <p:cNvSpPr/>
          <p:nvPr/>
        </p:nvSpPr>
        <p:spPr>
          <a:xfrm>
            <a:off x="5811012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9" name="ed321e21-8b55-40b1-a23b-810998b05cd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24326"/>
            <a:ext cx="307238" cy="307238"/>
          </a:xfrm>
          <a:prstGeom prst="rect">
            <a:avLst/>
          </a:prstGeom>
        </p:spPr>
      </p:pic>
      <p:sp>
        <p:nvSpPr>
          <p:cNvPr id="10" name="4a3bf4e8-73af-4ac4-a3d8-04313f1adbb5"/>
          <p:cNvSpPr/>
          <p:nvPr/>
        </p:nvSpPr>
        <p:spPr>
          <a:xfrm>
            <a:off x="4398264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500" dirty="0"/>
          </a:p>
        </p:txBody>
      </p:sp>
      <p:sp>
        <p:nvSpPr>
          <p:cNvPr id="11" name="51633277-3872-4acd-bb40-52cef4332397"/>
          <p:cNvSpPr/>
          <p:nvPr/>
        </p:nvSpPr>
        <p:spPr>
          <a:xfrm>
            <a:off x="4416552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PLAIN+LDAP · SCRAM · token</a:t>
            </a:r>
            <a:endParaRPr lang="en-US" sz="1200" dirty="0"/>
          </a:p>
        </p:txBody>
      </p:sp>
      <p:sp>
        <p:nvSpPr>
          <p:cNvPr id="12" name="09ddfee3-2617-4a25-87e4-3dfbe2372491"/>
          <p:cNvSpPr/>
          <p:nvPr/>
        </p:nvSpPr>
        <p:spPr>
          <a:xfrm>
            <a:off x="8101584" y="168505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81edb738-2000-481b-97aa-b1524dbffb0a"/>
          <p:cNvSpPr/>
          <p:nvPr/>
        </p:nvSpPr>
        <p:spPr>
          <a:xfrm>
            <a:off x="9587484" y="181232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1bc7c942-40fa-40f4-9b1a-741bc7a7f24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1924326"/>
            <a:ext cx="307238" cy="307238"/>
          </a:xfrm>
          <a:prstGeom prst="rect">
            <a:avLst/>
          </a:prstGeom>
        </p:spPr>
      </p:pic>
      <p:sp>
        <p:nvSpPr>
          <p:cNvPr id="15" name="4ff81abe-ea3a-45b2-9755-bd98fae06e4a"/>
          <p:cNvSpPr/>
          <p:nvPr/>
        </p:nvSpPr>
        <p:spPr>
          <a:xfrm>
            <a:off x="8174736" y="240627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500" dirty="0"/>
          </a:p>
        </p:txBody>
      </p:sp>
      <p:sp>
        <p:nvSpPr>
          <p:cNvPr id="16" name="aba10f53-952b-4791-8fa1-f1aebe7af5b9"/>
          <p:cNvSpPr/>
          <p:nvPr/>
        </p:nvSpPr>
        <p:spPr>
          <a:xfrm>
            <a:off x="8193024" y="278809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Basic · 機器憑證</a:t>
            </a:r>
            <a:endParaRPr lang="en-US" sz="1200" dirty="0"/>
          </a:p>
        </p:txBody>
      </p:sp>
      <p:sp>
        <p:nvSpPr>
          <p:cNvPr id="17" name="3fba621d-8540-4b88-9a80-68ba7d30b1ac"/>
          <p:cNvSpPr/>
          <p:nvPr/>
        </p:nvSpPr>
        <p:spPr>
          <a:xfrm>
            <a:off x="548640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46b8f6c1-929c-4e61-b801-7bf870827fce"/>
          <p:cNvSpPr/>
          <p:nvPr/>
        </p:nvSpPr>
        <p:spPr>
          <a:xfrm>
            <a:off x="2034540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5ba139b9-e3c0-4105-9c56-d48af9550f0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2155241" y="3494046"/>
            <a:ext cx="307238" cy="307238"/>
          </a:xfrm>
          <a:prstGeom prst="rect">
            <a:avLst/>
          </a:prstGeom>
        </p:spPr>
      </p:pic>
      <p:sp>
        <p:nvSpPr>
          <p:cNvPr id="20" name="97e6be75-19c0-48f6-af4c-f80cb82a6f96"/>
          <p:cNvSpPr/>
          <p:nvPr/>
        </p:nvSpPr>
        <p:spPr>
          <a:xfrm>
            <a:off x="621792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500" dirty="0"/>
          </a:p>
        </p:txBody>
      </p:sp>
      <p:sp>
        <p:nvSpPr>
          <p:cNvPr id="21" name="8b8babfd-ae99-4537-8d14-08491fc124ad"/>
          <p:cNvSpPr/>
          <p:nvPr/>
        </p:nvSpPr>
        <p:spPr>
          <a:xfrm>
            <a:off x="640080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人用本人身分</a:t>
            </a:r>
            <a:endParaRPr lang="en-US" sz="1200" dirty="0"/>
          </a:p>
        </p:txBody>
      </p:sp>
      <p:sp>
        <p:nvSpPr>
          <p:cNvPr id="22" name="0355a0d6-97d0-4064-a215-f7cf60aa00ab"/>
          <p:cNvSpPr/>
          <p:nvPr/>
        </p:nvSpPr>
        <p:spPr>
          <a:xfrm>
            <a:off x="4325112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a8f106c6-b22d-4d38-a2f5-bdec3fbe08b2"/>
          <p:cNvSpPr/>
          <p:nvPr/>
        </p:nvSpPr>
        <p:spPr>
          <a:xfrm>
            <a:off x="5811012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65b0ac32-ec4f-49fb-bf38-03706f3265aa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5931713" y="3494046"/>
            <a:ext cx="307238" cy="307238"/>
          </a:xfrm>
          <a:prstGeom prst="rect">
            <a:avLst/>
          </a:prstGeom>
        </p:spPr>
      </p:pic>
      <p:sp>
        <p:nvSpPr>
          <p:cNvPr id="25" name="9d97a015-4bec-4c30-93d3-4a5ab62aa355"/>
          <p:cNvSpPr/>
          <p:nvPr/>
        </p:nvSpPr>
        <p:spPr>
          <a:xfrm>
            <a:off x="4398264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TLS 與憑證</a:t>
            </a:r>
            <a:endParaRPr lang="en-US" sz="1500" dirty="0"/>
          </a:p>
        </p:txBody>
      </p:sp>
      <p:sp>
        <p:nvSpPr>
          <p:cNvPr id="26" name="dd111e68-b98e-493f-b58d-e73aa4f5e317"/>
          <p:cNvSpPr/>
          <p:nvPr/>
        </p:nvSpPr>
        <p:spPr>
          <a:xfrm>
            <a:off x="4416552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 1 組 server 憑證</a:t>
            </a:r>
            <a:endParaRPr lang="en-US" sz="1200" dirty="0"/>
          </a:p>
        </p:txBody>
      </p:sp>
      <p:sp>
        <p:nvSpPr>
          <p:cNvPr id="27" name="bdfad42b-60d4-419d-84d5-0af5065d73ff"/>
          <p:cNvSpPr/>
          <p:nvPr/>
        </p:nvSpPr>
        <p:spPr>
          <a:xfrm>
            <a:off x="8101584" y="325477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4ad4a0fa-9627-443d-a67a-8d703935708b"/>
          <p:cNvSpPr/>
          <p:nvPr/>
        </p:nvSpPr>
        <p:spPr>
          <a:xfrm>
            <a:off x="9587484" y="338204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9" name="f4c37964-1422-4832-a84a-35e96a754e86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9708185" y="3494046"/>
            <a:ext cx="307238" cy="307238"/>
          </a:xfrm>
          <a:prstGeom prst="rect">
            <a:avLst/>
          </a:prstGeom>
        </p:spPr>
      </p:pic>
      <p:sp>
        <p:nvSpPr>
          <p:cNvPr id="30" name="98e5b977-4026-4a05-9f37-e40dcdedbf64"/>
          <p:cNvSpPr/>
          <p:nvPr/>
        </p:nvSpPr>
        <p:spPr>
          <a:xfrm>
            <a:off x="8174736" y="397599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· RBAC</a:t>
            </a:r>
            <a:endParaRPr lang="en-US" sz="1500" dirty="0"/>
          </a:p>
        </p:txBody>
      </p:sp>
      <p:sp>
        <p:nvSpPr>
          <p:cNvPr id="31" name="cf9fa201-402a-4342-a9b5-e11a69307ee6"/>
          <p:cNvSpPr/>
          <p:nvPr/>
        </p:nvSpPr>
        <p:spPr>
          <a:xfrm>
            <a:off x="8193024" y="435781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 → role</a:t>
            </a:r>
            <a:endParaRPr lang="en-US" sz="1200" dirty="0"/>
          </a:p>
        </p:txBody>
      </p:sp>
      <p:sp>
        <p:nvSpPr>
          <p:cNvPr id="32" name="7608782d-5ed6-457e-b155-a7e673315f87"/>
          <p:cNvSpPr/>
          <p:nvPr/>
        </p:nvSpPr>
        <p:spPr>
          <a:xfrm>
            <a:off x="548640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38c9c491-9f86-4bb7-aaff-bafda6156d7d"/>
          <p:cNvSpPr/>
          <p:nvPr/>
        </p:nvSpPr>
        <p:spPr>
          <a:xfrm>
            <a:off x="2034540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4" name="26c5b550-5116-4757-ae8f-902d84ccb5c8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2155241" y="5063766"/>
            <a:ext cx="307238" cy="307238"/>
          </a:xfrm>
          <a:prstGeom prst="rect">
            <a:avLst/>
          </a:prstGeom>
        </p:spPr>
      </p:pic>
      <p:sp>
        <p:nvSpPr>
          <p:cNvPr id="35" name="6a9f51bd-34d4-42cb-b90f-8c1ae290e14c"/>
          <p:cNvSpPr/>
          <p:nvPr/>
        </p:nvSpPr>
        <p:spPr>
          <a:xfrm>
            <a:off x="621792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服務帳號</a:t>
            </a:r>
            <a:endParaRPr lang="en-US" sz="1500" dirty="0"/>
          </a:p>
        </p:txBody>
      </p:sp>
      <p:sp>
        <p:nvSpPr>
          <p:cNvPr id="36" name="08dd65c2-c5d0-4712-9bdb-6e49aad091b0"/>
          <p:cNvSpPr/>
          <p:nvPr/>
        </p:nvSpPr>
        <p:spPr>
          <a:xfrm>
            <a:off x="640080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+ 最小權限</a:t>
            </a:r>
            <a:endParaRPr lang="en-US" sz="1200" dirty="0"/>
          </a:p>
        </p:txBody>
      </p:sp>
      <p:sp>
        <p:nvSpPr>
          <p:cNvPr id="37" name="0a6902bd-7e73-473d-b69c-4d27b073ea67"/>
          <p:cNvSpPr/>
          <p:nvPr/>
        </p:nvSpPr>
        <p:spPr>
          <a:xfrm>
            <a:off x="4325112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8" name="07b50e02-3de4-45b0-a8f9-265be7fe2262"/>
          <p:cNvSpPr/>
          <p:nvPr/>
        </p:nvSpPr>
        <p:spPr>
          <a:xfrm>
            <a:off x="5811012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9" name="a4831adb-71e2-4df5-8b9b-4d19c8bc19b5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5931713" y="5063766"/>
            <a:ext cx="307238" cy="307238"/>
          </a:xfrm>
          <a:prstGeom prst="rect">
            <a:avLst/>
          </a:prstGeom>
        </p:spPr>
      </p:pic>
      <p:sp>
        <p:nvSpPr>
          <p:cNvPr id="40" name="b3dcecc0-a246-4815-90ee-f3043c5c0cba"/>
          <p:cNvSpPr/>
          <p:nvPr/>
        </p:nvSpPr>
        <p:spPr>
          <a:xfrm>
            <a:off x="4398264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log</a:t>
            </a:r>
            <a:endParaRPr lang="en-US" sz="1500" dirty="0"/>
          </a:p>
        </p:txBody>
      </p:sp>
      <p:sp>
        <p:nvSpPr>
          <p:cNvPr id="41" name="aa66b29c-6b76-45f9-9e62-f954beace16f"/>
          <p:cNvSpPr/>
          <p:nvPr/>
        </p:nvSpPr>
        <p:spPr>
          <a:xfrm>
            <a:off x="4416552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誰被拒、誰改授權</a:t>
            </a:r>
            <a:endParaRPr lang="en-US" sz="1200" dirty="0"/>
          </a:p>
        </p:txBody>
      </p:sp>
      <p:sp>
        <p:nvSpPr>
          <p:cNvPr id="42" name="a7ad2736-60ab-4b18-a6fb-1ab9fa3e27a3"/>
          <p:cNvSpPr/>
          <p:nvPr/>
        </p:nvSpPr>
        <p:spPr>
          <a:xfrm>
            <a:off x="8101584" y="4824490"/>
            <a:ext cx="3520440" cy="1442445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43" name="3436f1eb-6c23-441d-a9de-c373d5e2d766"/>
          <p:cNvSpPr/>
          <p:nvPr/>
        </p:nvSpPr>
        <p:spPr>
          <a:xfrm>
            <a:off x="9587484" y="495176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4" name="50680dc3-a9b8-4cd9-8a3f-22c8bf7b6ce5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9708185" y="5063766"/>
            <a:ext cx="307238" cy="307238"/>
          </a:xfrm>
          <a:prstGeom prst="rect">
            <a:avLst/>
          </a:prstGeom>
        </p:spPr>
      </p:pic>
      <p:sp>
        <p:nvSpPr>
          <p:cNvPr id="45" name="b8b47f9f-2385-4ed3-bc90-6a93adf27e57"/>
          <p:cNvSpPr/>
          <p:nvPr/>
        </p:nvSpPr>
        <p:spPr>
          <a:xfrm>
            <a:off x="8174736" y="554571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整合與導入</a:t>
            </a:r>
            <a:endParaRPr lang="en-US" sz="1500" dirty="0"/>
          </a:p>
        </p:txBody>
      </p:sp>
      <p:sp>
        <p:nvSpPr>
          <p:cNvPr id="46" name="3346b3bf-c3e5-42fe-8e66-6e8cc630768b"/>
          <p:cNvSpPr/>
          <p:nvPr/>
        </p:nvSpPr>
        <p:spPr>
          <a:xfrm>
            <a:off x="8193024" y="5927536"/>
            <a:ext cx="3337560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全景 · 步驟 · 風險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逐項介紹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每一項:傳輸加密 · 認證 · 授權 · 注意事項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TLS 與憑證:共用 1 組,只做加密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共用 server 憑證只加密;平台元件的 client 憑證用來換 token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2e71593-9afd-4bf9-b5ad-e8e069049088"/>
          <p:cNvSpPr/>
          <p:nvPr/>
        </p:nvSpPr>
        <p:spPr>
          <a:xfrm>
            <a:off x="731520" y="1897174"/>
            <a:ext cx="1188720" cy="1103046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" name="891529e3-01b9-4403-8f74-409eb3fe3db0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993038" y="2139844"/>
            <a:ext cx="665683" cy="665683"/>
          </a:xfrm>
          <a:prstGeom prst="rect">
            <a:avLst/>
          </a:prstGeom>
        </p:spPr>
      </p:pic>
      <p:sp>
        <p:nvSpPr>
          <p:cNvPr id="4" name="6d27d54a-9b3d-4de3-aa7c-a5beb11119a0"/>
          <p:cNvSpPr/>
          <p:nvPr/>
        </p:nvSpPr>
        <p:spPr>
          <a:xfrm>
            <a:off x="548640" y="3127495"/>
            <a:ext cx="155448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 組 PK + 憑證</a:t>
            </a:r>
            <a:endParaRPr lang="en-US" sz="1400" dirty="0"/>
          </a:p>
        </p:txBody>
      </p:sp>
      <p:sp>
        <p:nvSpPr>
          <p:cNvPr id="5" name="c574fc38-df74-43df-a995-00aaa10ddf13"/>
          <p:cNvSpPr/>
          <p:nvPr/>
        </p:nvSpPr>
        <p:spPr>
          <a:xfrm>
            <a:off x="502920" y="3594169"/>
            <a:ext cx="16459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SAN 涵蓋所有組件的網域 / IP</a:t>
            </a:r>
            <a:endParaRPr lang="en-US" sz="1050" dirty="0"/>
          </a:p>
        </p:txBody>
      </p:sp>
      <p:sp>
        <p:nvSpPr>
          <p:cNvPr id="6" name="76536276-0145-4e2f-9581-8b54c953725f"/>
          <p:cNvSpPr/>
          <p:nvPr/>
        </p:nvSpPr>
        <p:spPr>
          <a:xfrm flipV="1">
            <a:off x="2148840" y="1897174"/>
            <a:ext cx="868680" cy="5515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f1c1cb84-9609-4b9d-8ff4-737593e0f85c"/>
          <p:cNvSpPr/>
          <p:nvPr/>
        </p:nvSpPr>
        <p:spPr>
          <a:xfrm>
            <a:off x="3017520" y="1727475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8" name="c673e50a-2d50-478f-a61b-1e16dbc79857"/>
          <p:cNvSpPr/>
          <p:nvPr/>
        </p:nvSpPr>
        <p:spPr>
          <a:xfrm flipV="1">
            <a:off x="2148840" y="2321423"/>
            <a:ext cx="868680" cy="127275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9" name="b362cbec-323f-4f60-8c87-23e3bdc60be5"/>
          <p:cNvSpPr/>
          <p:nvPr/>
        </p:nvSpPr>
        <p:spPr>
          <a:xfrm>
            <a:off x="3017520" y="2151723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200" dirty="0"/>
          </a:p>
        </p:txBody>
      </p:sp>
      <p:sp>
        <p:nvSpPr>
          <p:cNvPr id="10" name="04120211-8baa-44bf-a7dd-3249c4c5fbbd"/>
          <p:cNvSpPr/>
          <p:nvPr/>
        </p:nvSpPr>
        <p:spPr>
          <a:xfrm>
            <a:off x="2148840" y="2448697"/>
            <a:ext cx="868680" cy="296974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98772b29-286e-4670-a314-87feacf469d5"/>
          <p:cNvSpPr/>
          <p:nvPr/>
        </p:nvSpPr>
        <p:spPr>
          <a:xfrm>
            <a:off x="3017520" y="2575972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200" dirty="0"/>
          </a:p>
        </p:txBody>
      </p:sp>
      <p:sp>
        <p:nvSpPr>
          <p:cNvPr id="12" name="dd3af372-0dde-49ea-9359-9a5fe70b4170"/>
          <p:cNvSpPr/>
          <p:nvPr/>
        </p:nvSpPr>
        <p:spPr>
          <a:xfrm>
            <a:off x="2148840" y="2448697"/>
            <a:ext cx="868680" cy="721223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34825bc6-39ea-4c7c-a432-269bd00ec1e1"/>
          <p:cNvSpPr/>
          <p:nvPr/>
        </p:nvSpPr>
        <p:spPr>
          <a:xfrm>
            <a:off x="3017520" y="3000221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14" name="0655296e-a8e1-4898-afe8-3f0d0a7cbccc"/>
          <p:cNvSpPr/>
          <p:nvPr/>
        </p:nvSpPr>
        <p:spPr>
          <a:xfrm>
            <a:off x="2148840" y="2448697"/>
            <a:ext cx="868680" cy="1145471"/>
          </a:xfrm>
          <a:prstGeom prst="line">
            <a:avLst/>
          </a:prstGeom>
          <a:noFill/>
          <a:ln w="1905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f219e7c8-eb2e-41e6-9365-a81567c6d42d"/>
          <p:cNvSpPr/>
          <p:nvPr/>
        </p:nvSpPr>
        <p:spPr>
          <a:xfrm>
            <a:off x="3017520" y="3424469"/>
            <a:ext cx="1828800" cy="339399"/>
          </a:xfrm>
          <a:prstGeom prst="roundRect">
            <a:avLst>
              <a:gd name="adj" fmla="val 45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16" name="2a21a495-1048-4b44-b5a8-40b51959037c"/>
          <p:cNvSpPr/>
          <p:nvPr/>
        </p:nvSpPr>
        <p:spPr>
          <a:xfrm>
            <a:off x="3017520" y="3848718"/>
            <a:ext cx="18288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server 端啟動 TLS</a:t>
            </a:r>
            <a:endParaRPr lang="en-US" sz="1050" dirty="0"/>
          </a:p>
        </p:txBody>
      </p:sp>
      <p:sp>
        <p:nvSpPr>
          <p:cNvPr id="17" name="c23fda8a-2514-41ff-85d6-76387cd68889"/>
          <p:cNvSpPr/>
          <p:nvPr/>
        </p:nvSpPr>
        <p:spPr>
          <a:xfrm>
            <a:off x="548640" y="4230542"/>
            <a:ext cx="5486400" cy="135759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01079452-628b-4911-9687-1991d1d59a4c"/>
          <p:cNvSpPr/>
          <p:nvPr/>
        </p:nvSpPr>
        <p:spPr>
          <a:xfrm>
            <a:off x="731520" y="4315391"/>
            <a:ext cx="512064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端</a:t>
            </a:r>
            <a:endParaRPr lang="en-US" sz="1500" dirty="0"/>
          </a:p>
        </p:txBody>
      </p:sp>
      <p:sp>
        <p:nvSpPr>
          <p:cNvPr id="19" name="069a2420-d95e-4d1f-a029-c911b5e0d7ab"/>
          <p:cNvSpPr/>
          <p:nvPr/>
        </p:nvSpPr>
        <p:spPr>
          <a:xfrm>
            <a:off x="731520" y="4697215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只需 truststore(匯入 CA root)</a:t>
            </a:r>
            <a:endParaRPr lang="en-US" sz="1200" dirty="0"/>
          </a:p>
        </p:txBody>
      </p:sp>
      <p:sp>
        <p:nvSpPr>
          <p:cNvPr id="20" name="c27ab68b-748b-40e9-bb65-f934539ce0a4"/>
          <p:cNvSpPr/>
          <p:nvPr/>
        </p:nvSpPr>
        <p:spPr>
          <a:xfrm>
            <a:off x="731520" y="5121464"/>
            <a:ext cx="512064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AD 的 broker(含 MDS):匯入 AD 的 LDAPS CA root,一份設定</a:t>
            </a:r>
            <a:endParaRPr lang="en-US" sz="1200" dirty="0"/>
          </a:p>
        </p:txBody>
      </p:sp>
      <p:sp>
        <p:nvSpPr>
          <p:cNvPr id="21" name="f322c4da-54be-4930-96d7-c847e46f1d94"/>
          <p:cNvSpPr/>
          <p:nvPr/>
        </p:nvSpPr>
        <p:spPr>
          <a:xfrm>
            <a:off x="6400800" y="1685050"/>
            <a:ext cx="5239512" cy="2375792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2" name="8b7144ff-2edd-45f6-a99b-fb64205a24e0"/>
          <p:cNvSpPr/>
          <p:nvPr/>
        </p:nvSpPr>
        <p:spPr>
          <a:xfrm>
            <a:off x="6583680" y="1769899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平台元件用 client 憑證向 MDS 證明身分</a:t>
            </a:r>
            <a:endParaRPr lang="en-US" sz="1500" dirty="0"/>
          </a:p>
        </p:txBody>
      </p:sp>
      <p:sp>
        <p:nvSpPr>
          <p:cNvPr id="23" name="647d9475-9f2e-4cd8-87ae-7c15ab6d4a9e"/>
          <p:cNvSpPr/>
          <p:nvPr/>
        </p:nvSpPr>
        <p:spPr>
          <a:xfrm>
            <a:off x="6583680" y="2236573"/>
            <a:ext cx="1371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200" dirty="0"/>
          </a:p>
        </p:txBody>
      </p:sp>
      <p:sp>
        <p:nvSpPr>
          <p:cNvPr id="24" name="4791bf33-9ccf-4263-a8a0-86711036056b"/>
          <p:cNvSpPr/>
          <p:nvPr/>
        </p:nvSpPr>
        <p:spPr>
          <a:xfrm>
            <a:off x="8046720" y="2236573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</a:t>
            </a:r>
            <a:endParaRPr lang="en-US" sz="1200" dirty="0"/>
          </a:p>
        </p:txBody>
      </p:sp>
      <p:sp>
        <p:nvSpPr>
          <p:cNvPr id="25" name="1817f3e5-8faa-4a34-9a21-c62df770791b"/>
          <p:cNvSpPr/>
          <p:nvPr/>
        </p:nvSpPr>
        <p:spPr>
          <a:xfrm>
            <a:off x="9692640" y="2236573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</a:t>
            </a:r>
            <a:endParaRPr lang="en-US" sz="1200" dirty="0"/>
          </a:p>
        </p:txBody>
      </p:sp>
      <p:sp>
        <p:nvSpPr>
          <p:cNvPr id="26" name="e1895863-5784-4cd0-a989-20eb74b3994b"/>
          <p:cNvSpPr/>
          <p:nvPr/>
        </p:nvSpPr>
        <p:spPr>
          <a:xfrm>
            <a:off x="6583680" y="2686277"/>
            <a:ext cx="493776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每個經 REST Proxy 的 legacy app 各 1 張(由 REST Proxy 辨識後代為申請 token)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人的路徑不用:人走 AD 帳密。RBAC 下 C3 連 broker 只能 OAUTHBEARER,所以先以憑證向 MDS 換 token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綁 RBAC 的是 CN:換憑證只要 CN 不變,不用重綁權限</a:t>
            </a:r>
            <a:endParaRPr lang="en-US" sz="1150" dirty="0"/>
          </a:p>
        </p:txBody>
      </p:sp>
      <p:sp>
        <p:nvSpPr>
          <p:cNvPr id="27" name="456d0ba4-637b-41ed-a5c4-9a9cd2583c49"/>
          <p:cNvSpPr/>
          <p:nvPr/>
        </p:nvSpPr>
        <p:spPr>
          <a:xfrm>
            <a:off x="6400800" y="4145692"/>
            <a:ext cx="5239512" cy="1527295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8" name="dd39ef87-a753-4b10-a4c1-a76cce8f588d"/>
          <p:cNvSpPr/>
          <p:nvPr/>
        </p:nvSpPr>
        <p:spPr>
          <a:xfrm>
            <a:off x="6583680" y="4213572"/>
            <a:ext cx="48463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要請客戶簽認</a:t>
            </a:r>
            <a:endParaRPr lang="en-US" sz="1500" dirty="0"/>
          </a:p>
        </p:txBody>
      </p:sp>
      <p:sp>
        <p:nvSpPr>
          <p:cNvPr id="29" name="a50d4380-dbcf-4976-8e6b-4b732427b066"/>
          <p:cNvSpPr/>
          <p:nvPr/>
        </p:nvSpPr>
        <p:spPr>
          <a:xfrm>
            <a:off x="6583680" y="4569941"/>
            <a:ext cx="493776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私鑰外洩 = 可偽裝伺服器;共用憑證對應的身分(CN)永遠不綁任何 role</a:t>
            </a:r>
            <a:endParaRPr lang="en-US" sz="11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只換 server 憑證(CA 不變):逐台換 keystore,truststore 不動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CA 換金鑰:truststore 先新舊並存 → 重簽 server 與 client 憑證 → 移除舊 root</a:t>
            </a:r>
            <a:endParaRPr lang="en-US" sz="1100" dirty="0"/>
          </a:p>
        </p:txBody>
      </p:sp>
      <p:sp>
        <p:nvSpPr>
          <p:cNvPr id="30" name="18cecece-c041-4153-8c0e-178a579b60cb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共用憑證只負責加密、不承載權限;身分另外處理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憑證更換:三種情境,順序不能錯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依單節點實驗結果整理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f2b06ff0-724a-4d4b-b914-ce57315955d7"/>
          <p:cNvSpPr/>
          <p:nvPr/>
        </p:nvSpPr>
        <p:spPr>
          <a:xfrm>
            <a:off x="548640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8c3c767d-09c7-4c0c-bef7-98e849b80b06"/>
          <p:cNvSpPr/>
          <p:nvPr/>
        </p:nvSpPr>
        <p:spPr>
          <a:xfrm>
            <a:off x="685800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b9425e91-8d5f-438d-ace2-5bc6ce157fc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06501" y="1898871"/>
            <a:ext cx="307238" cy="307238"/>
          </a:xfrm>
          <a:prstGeom prst="rect">
            <a:avLst/>
          </a:prstGeom>
        </p:spPr>
      </p:pic>
      <p:sp>
        <p:nvSpPr>
          <p:cNvPr id="5" name="987cbda8-a18d-429b-aa81-d9ccd853e571"/>
          <p:cNvSpPr/>
          <p:nvPr/>
        </p:nvSpPr>
        <p:spPr>
          <a:xfrm>
            <a:off x="1371600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 server 憑證</a:t>
            </a:r>
            <a:endParaRPr lang="en-US" sz="1400" dirty="0"/>
          </a:p>
        </p:txBody>
      </p:sp>
      <p:sp>
        <p:nvSpPr>
          <p:cNvPr id="6" name="7bb06b0b-b0b0-4939-8330-dd80ce93f737"/>
          <p:cNvSpPr/>
          <p:nvPr/>
        </p:nvSpPr>
        <p:spPr>
          <a:xfrm>
            <a:off x="1371600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不變(例如到期更新)</a:t>
            </a:r>
            <a:endParaRPr lang="en-US" sz="1100" dirty="0"/>
          </a:p>
        </p:txBody>
      </p:sp>
      <p:sp>
        <p:nvSpPr>
          <p:cNvPr id="7" name="55724910-f374-478e-8081-662e27ff9146"/>
          <p:cNvSpPr/>
          <p:nvPr/>
        </p:nvSpPr>
        <p:spPr>
          <a:xfrm>
            <a:off x="731520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keystore(新憑證)</a:t>
            </a:r>
            <a:endParaRPr lang="en-US" sz="1150" dirty="0"/>
          </a:p>
        </p:txBody>
      </p:sp>
      <p:sp>
        <p:nvSpPr>
          <p:cNvPr id="8" name="d43efc84-b188-4107-8ed1-3e7166cd57f0"/>
          <p:cNvSpPr/>
          <p:nvPr/>
        </p:nvSpPr>
        <p:spPr>
          <a:xfrm>
            <a:off x="2331720" y="2957796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9" name="4d504e01-2904-4bfa-940b-76c11ca633de"/>
          <p:cNvSpPr/>
          <p:nvPr/>
        </p:nvSpPr>
        <p:spPr>
          <a:xfrm>
            <a:off x="731520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truststore 不動</a:t>
            </a:r>
            <a:endParaRPr lang="en-US" sz="1150" dirty="0"/>
          </a:p>
        </p:txBody>
      </p:sp>
      <p:sp>
        <p:nvSpPr>
          <p:cNvPr id="10" name="dc52bc86-a726-4725-9297-1aeb9deda0aa"/>
          <p:cNvSpPr/>
          <p:nvPr/>
        </p:nvSpPr>
        <p:spPr>
          <a:xfrm>
            <a:off x="2331720" y="3636594"/>
            <a:ext cx="0" cy="254549"/>
          </a:xfrm>
          <a:prstGeom prst="line">
            <a:avLst/>
          </a:prstGeom>
          <a:noFill/>
          <a:ln w="25400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11" name="69d0c154-e440-46d9-8f3f-9c54090ca987"/>
          <p:cNvSpPr/>
          <p:nvPr/>
        </p:nvSpPr>
        <p:spPr>
          <a:xfrm>
            <a:off x="731520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不用改</a:t>
            </a:r>
            <a:endParaRPr lang="en-US" sz="1150" dirty="0"/>
          </a:p>
        </p:txBody>
      </p:sp>
      <p:sp>
        <p:nvSpPr>
          <p:cNvPr id="12" name="9e9a41d9-8208-4922-8d4a-9bb91981c526"/>
          <p:cNvSpPr/>
          <p:nvPr/>
        </p:nvSpPr>
        <p:spPr>
          <a:xfrm>
            <a:off x="731520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實測:換 keystore 後,client 設定不用改</a:t>
            </a:r>
            <a:endParaRPr lang="en-US" sz="1050" dirty="0"/>
          </a:p>
        </p:txBody>
      </p:sp>
      <p:sp>
        <p:nvSpPr>
          <p:cNvPr id="13" name="a73133c0-a2d8-4737-930e-7a32e6e4c71b"/>
          <p:cNvSpPr/>
          <p:nvPr/>
        </p:nvSpPr>
        <p:spPr>
          <a:xfrm>
            <a:off x="4311396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b7ab6b33-cc9b-40df-9a1b-4ef338a37bc0"/>
          <p:cNvSpPr/>
          <p:nvPr/>
        </p:nvSpPr>
        <p:spPr>
          <a:xfrm>
            <a:off x="4448556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04b25963-9691-40c2-899c-00dacea17a96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69257" y="1898871"/>
            <a:ext cx="307238" cy="307238"/>
          </a:xfrm>
          <a:prstGeom prst="rect">
            <a:avLst/>
          </a:prstGeom>
        </p:spPr>
      </p:pic>
      <p:sp>
        <p:nvSpPr>
          <p:cNvPr id="16" name="fd75d801-245c-46ee-907d-e8f87c272614"/>
          <p:cNvSpPr/>
          <p:nvPr/>
        </p:nvSpPr>
        <p:spPr>
          <a:xfrm>
            <a:off x="5134356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根換新、金鑰不變</a:t>
            </a:r>
            <a:endParaRPr lang="en-US" sz="1400" dirty="0"/>
          </a:p>
        </p:txBody>
      </p:sp>
      <p:sp>
        <p:nvSpPr>
          <p:cNvPr id="17" name="b95fd5ca-b879-4692-8d31-6777c55d9413"/>
          <p:cNvSpPr/>
          <p:nvPr/>
        </p:nvSpPr>
        <p:spPr>
          <a:xfrm>
            <a:off x="5134356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同一把金鑰重新簽發根憑證</a:t>
            </a:r>
            <a:endParaRPr lang="en-US" sz="1100" dirty="0"/>
          </a:p>
        </p:txBody>
      </p:sp>
      <p:sp>
        <p:nvSpPr>
          <p:cNvPr id="18" name="7a21f967-b887-4a83-91e3-b7b132ac2b54"/>
          <p:cNvSpPr/>
          <p:nvPr/>
        </p:nvSpPr>
        <p:spPr>
          <a:xfrm>
            <a:off x="4494276" y="2533547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信任庫換成新根</a:t>
            </a:r>
            <a:endParaRPr lang="en-US" sz="1150" dirty="0"/>
          </a:p>
        </p:txBody>
      </p:sp>
      <p:sp>
        <p:nvSpPr>
          <p:cNvPr id="19" name="f3e5d4e4-cfe5-4700-b58b-aab51192253a"/>
          <p:cNvSpPr/>
          <p:nvPr/>
        </p:nvSpPr>
        <p:spPr>
          <a:xfrm>
            <a:off x="6099048" y="2957796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0" name="0c89eca8-6bcb-42da-b0c5-9a6c0825b101"/>
          <p:cNvSpPr/>
          <p:nvPr/>
        </p:nvSpPr>
        <p:spPr>
          <a:xfrm>
            <a:off x="4494276" y="3212345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舊的 server / client 憑證照常通過</a:t>
            </a:r>
            <a:endParaRPr lang="en-US" sz="1150" dirty="0"/>
          </a:p>
        </p:txBody>
      </p:sp>
      <p:sp>
        <p:nvSpPr>
          <p:cNvPr id="21" name="58d61e68-4f4e-4b4b-a836-f1510f498c69"/>
          <p:cNvSpPr/>
          <p:nvPr/>
        </p:nvSpPr>
        <p:spPr>
          <a:xfrm>
            <a:off x="6099048" y="3636594"/>
            <a:ext cx="0" cy="254549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a1dbab50-581f-40d0-b129-267c907d9e46"/>
          <p:cNvSpPr/>
          <p:nvPr/>
        </p:nvSpPr>
        <p:spPr>
          <a:xfrm>
            <a:off x="4494276" y="3891143"/>
            <a:ext cx="3200400" cy="424249"/>
          </a:xfrm>
          <a:prstGeom prst="roundRect">
            <a:avLst>
              <a:gd name="adj" fmla="val 180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不用重簽任何憑證</a:t>
            </a:r>
            <a:endParaRPr lang="en-US" sz="1150" dirty="0"/>
          </a:p>
        </p:txBody>
      </p:sp>
      <p:sp>
        <p:nvSpPr>
          <p:cNvPr id="23" name="96144a71-f5b5-47ec-95b1-fff292eb99f3"/>
          <p:cNvSpPr/>
          <p:nvPr/>
        </p:nvSpPr>
        <p:spPr>
          <a:xfrm>
            <a:off x="4494276" y="4612365"/>
            <a:ext cx="3200400" cy="42424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實測:信任庫換成新根,舊的 server / client 憑證照常通過</a:t>
            </a:r>
            <a:endParaRPr lang="en-US" sz="1050" dirty="0"/>
          </a:p>
        </p:txBody>
      </p:sp>
      <p:sp>
        <p:nvSpPr>
          <p:cNvPr id="24" name="a0ce11cd-f1c7-4ce8-834c-ede748bb4872"/>
          <p:cNvSpPr/>
          <p:nvPr/>
        </p:nvSpPr>
        <p:spPr>
          <a:xfrm>
            <a:off x="8074152" y="1685050"/>
            <a:ext cx="3566160" cy="3775813"/>
          </a:xfrm>
          <a:prstGeom prst="roundRect">
            <a:avLst>
              <a:gd name="adj" fmla="val 3600"/>
            </a:avLst>
          </a:prstGeom>
          <a:solidFill>
            <a:srgbClr val="FFFFFF"/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5" name="43e3a64f-9eba-47e1-980b-84f7b24f6441"/>
          <p:cNvSpPr/>
          <p:nvPr/>
        </p:nvSpPr>
        <p:spPr>
          <a:xfrm>
            <a:off x="8211312" y="178686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6" name="8734ac68-1766-4e67-8a35-4333e2c507aa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32013" y="1898871"/>
            <a:ext cx="307238" cy="307238"/>
          </a:xfrm>
          <a:prstGeom prst="rect">
            <a:avLst/>
          </a:prstGeom>
        </p:spPr>
      </p:pic>
      <p:sp>
        <p:nvSpPr>
          <p:cNvPr id="27" name="ccfb52a4-c823-46b2-9d3d-e1bb6b8198fa"/>
          <p:cNvSpPr/>
          <p:nvPr/>
        </p:nvSpPr>
        <p:spPr>
          <a:xfrm>
            <a:off x="8897112" y="1769899"/>
            <a:ext cx="265176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CA 換金鑰</a:t>
            </a:r>
            <a:endParaRPr lang="en-US" sz="1400" dirty="0"/>
          </a:p>
        </p:txBody>
      </p:sp>
      <p:sp>
        <p:nvSpPr>
          <p:cNvPr id="28" name="553adf52-5c14-4b32-a822-66d6c66ee346"/>
          <p:cNvSpPr/>
          <p:nvPr/>
        </p:nvSpPr>
        <p:spPr>
          <a:xfrm>
            <a:off x="8897112" y="2109298"/>
            <a:ext cx="26517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新根、新金鑰:所有憑證都要重簽</a:t>
            </a:r>
            <a:endParaRPr lang="en-US" sz="1100" dirty="0"/>
          </a:p>
        </p:txBody>
      </p:sp>
      <p:sp>
        <p:nvSpPr>
          <p:cNvPr id="29" name="d4d17d0f-4e05-41a4-a83e-1afafef6e2ed"/>
          <p:cNvSpPr/>
          <p:nvPr/>
        </p:nvSpPr>
        <p:spPr>
          <a:xfrm>
            <a:off x="8257032" y="2533547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100" dirty="0"/>
          </a:p>
        </p:txBody>
      </p:sp>
      <p:sp>
        <p:nvSpPr>
          <p:cNvPr id="30" name="b3598a2e-0862-459e-bd25-b2d0afa44c84"/>
          <p:cNvSpPr/>
          <p:nvPr/>
        </p:nvSpPr>
        <p:spPr>
          <a:xfrm>
            <a:off x="8668512" y="2491122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所有信任庫先放「新舊兩個根」(server + client)</a:t>
            </a:r>
            <a:endParaRPr lang="en-US" sz="1100" dirty="0"/>
          </a:p>
        </p:txBody>
      </p:sp>
      <p:sp>
        <p:nvSpPr>
          <p:cNvPr id="31" name="a94a3daa-0a0e-4edc-bea9-257faa1467e9"/>
          <p:cNvSpPr/>
          <p:nvPr/>
        </p:nvSpPr>
        <p:spPr>
          <a:xfrm>
            <a:off x="8257032" y="3042645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100" dirty="0"/>
          </a:p>
        </p:txBody>
      </p:sp>
      <p:sp>
        <p:nvSpPr>
          <p:cNvPr id="32" name="443c8cb4-d257-4811-a070-80fa673a6813"/>
          <p:cNvSpPr/>
          <p:nvPr/>
        </p:nvSpPr>
        <p:spPr>
          <a:xfrm>
            <a:off x="8668512" y="3000221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server 憑證(新 CA 簽發)</a:t>
            </a:r>
            <a:endParaRPr lang="en-US" sz="1100" dirty="0"/>
          </a:p>
        </p:txBody>
      </p:sp>
      <p:sp>
        <p:nvSpPr>
          <p:cNvPr id="33" name="5589726f-3eb9-41ce-9315-b9b0af3fa0cd"/>
          <p:cNvSpPr/>
          <p:nvPr/>
        </p:nvSpPr>
        <p:spPr>
          <a:xfrm>
            <a:off x="8257032" y="3551744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100" dirty="0"/>
          </a:p>
        </p:txBody>
      </p:sp>
      <p:sp>
        <p:nvSpPr>
          <p:cNvPr id="34" name="40bec0b6-81cb-47e1-a261-271e63349415"/>
          <p:cNvSpPr/>
          <p:nvPr/>
        </p:nvSpPr>
        <p:spPr>
          <a:xfrm>
            <a:off x="8668512" y="3509319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重簽 client 憑證(c3、restproxy、bootstrap、legacy app)</a:t>
            </a:r>
            <a:endParaRPr lang="en-US" sz="1100" dirty="0"/>
          </a:p>
        </p:txBody>
      </p:sp>
      <p:sp>
        <p:nvSpPr>
          <p:cNvPr id="35" name="e7007627-a5b3-4175-974f-cc4b7793fd1a"/>
          <p:cNvSpPr/>
          <p:nvPr/>
        </p:nvSpPr>
        <p:spPr>
          <a:xfrm>
            <a:off x="8257032" y="4060842"/>
            <a:ext cx="329184" cy="30545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100" dirty="0"/>
          </a:p>
        </p:txBody>
      </p:sp>
      <p:sp>
        <p:nvSpPr>
          <p:cNvPr id="36" name="c6680e13-f1f6-4f52-bb06-2d7faf4f378d"/>
          <p:cNvSpPr/>
          <p:nvPr/>
        </p:nvSpPr>
        <p:spPr>
          <a:xfrm>
            <a:off x="8668512" y="4018417"/>
            <a:ext cx="27889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全部確認後,才移除舊根</a:t>
            </a:r>
            <a:endParaRPr lang="en-US" sz="1100" dirty="0"/>
          </a:p>
        </p:txBody>
      </p:sp>
      <p:sp>
        <p:nvSpPr>
          <p:cNvPr id="37" name="52a040b2-cbd9-4d62-8b17-a561f1358f32"/>
          <p:cNvSpPr/>
          <p:nvPr/>
        </p:nvSpPr>
        <p:spPr>
          <a:xfrm>
            <a:off x="8257032" y="4502061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先換 server 憑證、client 還沒信任新根 → PKIX 失敗(實測)</a:t>
            </a:r>
            <a:endParaRPr lang="en-US" sz="1000" dirty="0"/>
          </a:p>
        </p:txBody>
      </p:sp>
      <p:sp>
        <p:nvSpPr>
          <p:cNvPr id="38" name="4f5a42e7-c695-405d-b9d3-6df6584f2a80"/>
          <p:cNvSpPr/>
          <p:nvPr/>
        </p:nvSpPr>
        <p:spPr>
          <a:xfrm>
            <a:off x="8257032" y="4960249"/>
            <a:ext cx="3200400" cy="39030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移除舊根後,舊 CA 簽發且未重簽的 client 憑證被拒(實測)</a:t>
            </a:r>
            <a:endParaRPr lang="en-US" sz="1000" dirty="0"/>
          </a:p>
        </p:txBody>
      </p:sp>
      <p:sp>
        <p:nvSpPr>
          <p:cNvPr id="39" name="4648fc84-93e0-4c5e-875a-39f59fc1143a"/>
          <p:cNvSpPr/>
          <p:nvPr/>
        </p:nvSpPr>
        <p:spPr>
          <a:xfrm>
            <a:off x="548640" y="5630562"/>
            <a:ext cx="11091672" cy="551523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 CFK 憑證文件建議:先更新所有信任庫、再換憑證、逐台重啟,每個元件就緒再做下一個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元件更換順序:先信任、後出示、最後移除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CA 換金鑰的情境:依 demo 實際環境演練整理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cd2d9e74-9b35-4fb4-b01a-94dcfccb6c1e"/>
          <p:cNvSpPr/>
          <p:nvPr/>
        </p:nvSpPr>
        <p:spPr>
          <a:xfrm>
            <a:off x="3017520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信任庫:新舊並存</a:t>
            </a:r>
            <a:endParaRPr lang="en-US" sz="1200" dirty="0"/>
          </a:p>
        </p:txBody>
      </p:sp>
      <p:sp>
        <p:nvSpPr>
          <p:cNvPr id="3" name="ad0848d3-5c5c-43f0-9bb5-28c85072d69c"/>
          <p:cNvSpPr/>
          <p:nvPr/>
        </p:nvSpPr>
        <p:spPr>
          <a:xfrm>
            <a:off x="5175504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換 server 憑證</a:t>
            </a:r>
            <a:endParaRPr lang="en-US" sz="1200" dirty="0"/>
          </a:p>
        </p:txBody>
      </p:sp>
      <p:sp>
        <p:nvSpPr>
          <p:cNvPr id="4" name="8bf54ae7-8e19-4e54-a23e-79f393734d65"/>
          <p:cNvSpPr/>
          <p:nvPr/>
        </p:nvSpPr>
        <p:spPr>
          <a:xfrm>
            <a:off x="7333488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重簽 client 憑證</a:t>
            </a:r>
            <a:endParaRPr lang="en-US" sz="1200" dirty="0"/>
          </a:p>
        </p:txBody>
      </p:sp>
      <p:sp>
        <p:nvSpPr>
          <p:cNvPr id="5" name="a5583344-38af-46d7-ba46-a78dd1d96abe"/>
          <p:cNvSpPr/>
          <p:nvPr/>
        </p:nvSpPr>
        <p:spPr>
          <a:xfrm>
            <a:off x="9491472" y="1642625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移除舊根</a:t>
            </a:r>
            <a:endParaRPr lang="en-US" sz="1200" dirty="0"/>
          </a:p>
        </p:txBody>
      </p:sp>
      <p:sp>
        <p:nvSpPr>
          <p:cNvPr id="6" name="e6eeb965-9560-4939-b4bf-4440cf50b65c"/>
          <p:cNvSpPr/>
          <p:nvPr/>
        </p:nvSpPr>
        <p:spPr>
          <a:xfrm>
            <a:off x="548640" y="2278998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7" name="d0ed78a3-4da6-4172-a65f-5888e0a538cd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58368" y="2380818"/>
            <a:ext cx="347472" cy="347472"/>
          </a:xfrm>
          <a:prstGeom prst="rect">
            <a:avLst/>
          </a:prstGeom>
        </p:spPr>
      </p:pic>
      <p:sp>
        <p:nvSpPr>
          <p:cNvPr id="8" name="bd53c39a-9059-4cb3-a1c9-0cbad5d55f6e"/>
          <p:cNvSpPr/>
          <p:nvPr/>
        </p:nvSpPr>
        <p:spPr>
          <a:xfrm>
            <a:off x="1097280" y="2278998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00" dirty="0"/>
          </a:p>
        </p:txBody>
      </p:sp>
      <p:sp>
        <p:nvSpPr>
          <p:cNvPr id="9" name="7cdb25ef-d6cd-4f10-bc9a-e3759bb3215d"/>
          <p:cNvSpPr/>
          <p:nvPr/>
        </p:nvSpPr>
        <p:spPr>
          <a:xfrm>
            <a:off x="3017520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0" name="1577e8dd-a456-47ba-b7f1-442263bcfcf8"/>
          <p:cNvSpPr/>
          <p:nvPr/>
        </p:nvSpPr>
        <p:spPr>
          <a:xfrm>
            <a:off x="5175504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1" name="69af27da-66e9-4def-aa23-c046b11146d2"/>
          <p:cNvSpPr/>
          <p:nvPr/>
        </p:nvSpPr>
        <p:spPr>
          <a:xfrm>
            <a:off x="7333488" y="2278998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2" name="f2431450-40d3-4d1d-b76e-3af72a6496ff"/>
          <p:cNvSpPr/>
          <p:nvPr/>
        </p:nvSpPr>
        <p:spPr>
          <a:xfrm>
            <a:off x="9491472" y="2278998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3" name="4cfb6141-9bfb-4e24-a45f-4a6ccb6a7a46"/>
          <p:cNvSpPr/>
          <p:nvPr/>
        </p:nvSpPr>
        <p:spPr>
          <a:xfrm>
            <a:off x="548640" y="2906886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4" name="f11652b4-90a1-42fb-8e11-cac7eab0595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8368" y="3008706"/>
            <a:ext cx="347472" cy="347472"/>
          </a:xfrm>
          <a:prstGeom prst="rect">
            <a:avLst/>
          </a:prstGeom>
        </p:spPr>
      </p:pic>
      <p:sp>
        <p:nvSpPr>
          <p:cNvPr id="15" name="0c4ef426-3de8-4774-a2e5-a15d807b9c1d"/>
          <p:cNvSpPr/>
          <p:nvPr/>
        </p:nvSpPr>
        <p:spPr>
          <a:xfrm>
            <a:off x="1097280" y="2906886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broker(含 MDS)</a:t>
            </a:r>
            <a:endParaRPr lang="en-US" sz="1200" dirty="0"/>
          </a:p>
        </p:txBody>
      </p:sp>
      <p:sp>
        <p:nvSpPr>
          <p:cNvPr id="16" name="9659cdd5-09f0-4ffe-b860-39d070f5a061"/>
          <p:cNvSpPr/>
          <p:nvPr/>
        </p:nvSpPr>
        <p:spPr>
          <a:xfrm>
            <a:off x="3017520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7" name="af1a9061-6633-4700-9538-053f8542ef87"/>
          <p:cNvSpPr/>
          <p:nvPr/>
        </p:nvSpPr>
        <p:spPr>
          <a:xfrm>
            <a:off x="5175504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18" name="d3157716-b704-4925-ac24-fd292272c97c"/>
          <p:cNvSpPr/>
          <p:nvPr/>
        </p:nvSpPr>
        <p:spPr>
          <a:xfrm>
            <a:off x="7333488" y="2906886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19" name="55dd693f-cc98-41f6-a0e0-e5c8e11a614b"/>
          <p:cNvSpPr/>
          <p:nvPr/>
        </p:nvSpPr>
        <p:spPr>
          <a:xfrm>
            <a:off x="9491472" y="2906886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156082">
              <a:alpha val="12000"/>
            </a:srgbClr>
          </a:solidFill>
          <a:ln w="12700">
            <a:solidFill>
              <a:srgbClr val="15608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逐台重啟</a:t>
            </a:r>
            <a:endParaRPr lang="en-US" sz="1150" dirty="0"/>
          </a:p>
        </p:txBody>
      </p:sp>
      <p:sp>
        <p:nvSpPr>
          <p:cNvPr id="20" name="a9f32b4b-cdde-443e-8002-d8c10ac7959f"/>
          <p:cNvSpPr/>
          <p:nvPr/>
        </p:nvSpPr>
        <p:spPr>
          <a:xfrm>
            <a:off x="548640" y="3534774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1" name="799e0f0c-673d-48ba-a514-29967c0fb4f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658368" y="3636594"/>
            <a:ext cx="347472" cy="347472"/>
          </a:xfrm>
          <a:prstGeom prst="rect">
            <a:avLst/>
          </a:prstGeom>
        </p:spPr>
      </p:pic>
      <p:sp>
        <p:nvSpPr>
          <p:cNvPr id="22" name="4a953fcf-7da3-4675-a9b0-e11b6a14f50a"/>
          <p:cNvSpPr/>
          <p:nvPr/>
        </p:nvSpPr>
        <p:spPr>
          <a:xfrm>
            <a:off x="1097280" y="3534774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200" dirty="0"/>
          </a:p>
        </p:txBody>
      </p:sp>
      <p:sp>
        <p:nvSpPr>
          <p:cNvPr id="23" name="99c7b51d-59ac-411b-b351-f1f970c80ca9"/>
          <p:cNvSpPr/>
          <p:nvPr/>
        </p:nvSpPr>
        <p:spPr>
          <a:xfrm>
            <a:off x="3017520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4" name="404a5a0f-478c-4b10-8d1d-0a3124d481f7"/>
          <p:cNvSpPr/>
          <p:nvPr/>
        </p:nvSpPr>
        <p:spPr>
          <a:xfrm>
            <a:off x="5175504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5" name="2bd8dd8f-1a17-42d3-ac7e-3dcf1911f099"/>
          <p:cNvSpPr/>
          <p:nvPr/>
        </p:nvSpPr>
        <p:spPr>
          <a:xfrm>
            <a:off x="7333488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6" name="39519e7d-edce-455c-8bfd-d8777380d1ff"/>
          <p:cNvSpPr/>
          <p:nvPr/>
        </p:nvSpPr>
        <p:spPr>
          <a:xfrm>
            <a:off x="9491472" y="3534774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27" name="7595fea5-4f81-4dc5-ad56-d80e07826e1e"/>
          <p:cNvSpPr/>
          <p:nvPr/>
        </p:nvSpPr>
        <p:spPr>
          <a:xfrm>
            <a:off x="548640" y="4162662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8" name="1783a02a-71c2-400a-a908-96566e3e0b24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58368" y="4264482"/>
            <a:ext cx="347472" cy="347472"/>
          </a:xfrm>
          <a:prstGeom prst="rect">
            <a:avLst/>
          </a:prstGeom>
        </p:spPr>
      </p:pic>
      <p:sp>
        <p:nvSpPr>
          <p:cNvPr id="29" name="088b03b8-cf83-473d-b012-8d2ab204b20e"/>
          <p:cNvSpPr/>
          <p:nvPr/>
        </p:nvSpPr>
        <p:spPr>
          <a:xfrm>
            <a:off x="1097280" y="4162662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200" dirty="0"/>
          </a:p>
        </p:txBody>
      </p:sp>
      <p:sp>
        <p:nvSpPr>
          <p:cNvPr id="30" name="ecacf6de-5596-491e-bafe-9d07f04dd7ed"/>
          <p:cNvSpPr/>
          <p:nvPr/>
        </p:nvSpPr>
        <p:spPr>
          <a:xfrm>
            <a:off x="3017520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1" name="db63f550-884c-4e89-822b-0589b5c3cad1"/>
          <p:cNvSpPr/>
          <p:nvPr/>
        </p:nvSpPr>
        <p:spPr>
          <a:xfrm>
            <a:off x="5175504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2" name="62aa9ba5-6872-41b5-b4f3-6275a1da48fe"/>
          <p:cNvSpPr/>
          <p:nvPr/>
        </p:nvSpPr>
        <p:spPr>
          <a:xfrm>
            <a:off x="7333488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3" name="a1514a58-6d6e-45c2-9fd2-efa21776f47a"/>
          <p:cNvSpPr/>
          <p:nvPr/>
        </p:nvSpPr>
        <p:spPr>
          <a:xfrm>
            <a:off x="9491472" y="4162662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重啟</a:t>
            </a:r>
            <a:endParaRPr lang="en-US" sz="1150" dirty="0"/>
          </a:p>
        </p:txBody>
      </p:sp>
      <p:sp>
        <p:nvSpPr>
          <p:cNvPr id="34" name="1df42556-07e4-4717-8482-0389cbd0edf6"/>
          <p:cNvSpPr/>
          <p:nvPr/>
        </p:nvSpPr>
        <p:spPr>
          <a:xfrm>
            <a:off x="548640" y="4790550"/>
            <a:ext cx="2377440" cy="526068"/>
          </a:xfrm>
          <a:prstGeom prst="roundRect">
            <a:avLst>
              <a:gd name="adj" fmla="val 108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35" name="10c8af34-94c3-4e33-bd34-79cca547ac12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8368" y="4892370"/>
            <a:ext cx="347472" cy="347472"/>
          </a:xfrm>
          <a:prstGeom prst="rect">
            <a:avLst/>
          </a:prstGeom>
        </p:spPr>
      </p:pic>
      <p:sp>
        <p:nvSpPr>
          <p:cNvPr id="36" name="839a5f22-44d5-42f4-bfea-3afff8b6cb1d"/>
          <p:cNvSpPr/>
          <p:nvPr/>
        </p:nvSpPr>
        <p:spPr>
          <a:xfrm>
            <a:off x="1097280" y="4790550"/>
            <a:ext cx="178308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 / CLI(client)</a:t>
            </a:r>
            <a:endParaRPr lang="en-US" sz="1200" dirty="0"/>
          </a:p>
        </p:txBody>
      </p:sp>
      <p:sp>
        <p:nvSpPr>
          <p:cNvPr id="37" name="b57b399d-0414-46b0-8107-63a1c03e55c2"/>
          <p:cNvSpPr/>
          <p:nvPr/>
        </p:nvSpPr>
        <p:spPr>
          <a:xfrm>
            <a:off x="3017520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信任庫加新根</a:t>
            </a:r>
            <a:endParaRPr lang="en-US" sz="1150" dirty="0"/>
          </a:p>
        </p:txBody>
      </p:sp>
      <p:sp>
        <p:nvSpPr>
          <p:cNvPr id="38" name="010280ba-c438-40da-91a4-35b01102b225"/>
          <p:cNvSpPr/>
          <p:nvPr/>
        </p:nvSpPr>
        <p:spPr>
          <a:xfrm>
            <a:off x="5175504" y="4790550"/>
            <a:ext cx="2057400" cy="5260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不用動</a:t>
            </a:r>
            <a:endParaRPr lang="en-US" sz="1150" dirty="0"/>
          </a:p>
        </p:txBody>
      </p:sp>
      <p:sp>
        <p:nvSpPr>
          <p:cNvPr id="39" name="c7dce266-0db5-459c-8adf-05fa64948100"/>
          <p:cNvSpPr/>
          <p:nvPr/>
        </p:nvSpPr>
        <p:spPr>
          <a:xfrm>
            <a:off x="7333488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 換新憑證</a:t>
            </a:r>
            <a:endParaRPr lang="en-US" sz="1150" dirty="0"/>
          </a:p>
        </p:txBody>
      </p:sp>
      <p:sp>
        <p:nvSpPr>
          <p:cNvPr id="40" name="76c51e46-17b7-4c40-bd89-72fb86515f00"/>
          <p:cNvSpPr/>
          <p:nvPr/>
        </p:nvSpPr>
        <p:spPr>
          <a:xfrm>
            <a:off x="9491472" y="4790550"/>
            <a:ext cx="2057400" cy="526068"/>
          </a:xfrm>
          <a:prstGeom prst="roundRect">
            <a:avLst>
              <a:gd name="adj" fmla="val 13500"/>
            </a:avLst>
          </a:prstGeom>
          <a:solidFill>
            <a:srgbClr val="0E2841">
              <a:alpha val="12000"/>
            </a:srgbClr>
          </a:solidFill>
          <a:ln w="12700">
            <a:solidFill>
              <a:srgbClr val="0E2841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信任庫移除舊根</a:t>
            </a:r>
            <a:endParaRPr lang="en-US" sz="1150" dirty="0"/>
          </a:p>
        </p:txBody>
      </p:sp>
      <p:sp>
        <p:nvSpPr>
          <p:cNvPr id="41" name="7dbeaf95-7111-42e7-a559-dd731fb581ef"/>
          <p:cNvSpPr/>
          <p:nvPr/>
        </p:nvSpPr>
        <p:spPr>
          <a:xfrm>
            <a:off x="548640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每階段:controller(逐台)→ broker(逐台)→ REST Proxy → C3,就緒才做下一個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CFK 憑證文件:信任庫先於憑證、每階段全部元件做完 · 元件順序:參考升級文件</a:t>
            </a:r>
            <a:endParaRPr lang="en-US" sz="1150" dirty="0"/>
          </a:p>
        </p:txBody>
      </p:sp>
      <p:sp>
        <p:nvSpPr>
          <p:cNvPr id="42" name="2ee21b41-e45a-4f0d-9fe6-0eabdb3bc853"/>
          <p:cNvSpPr/>
          <p:nvPr/>
        </p:nvSpPr>
        <p:spPr>
          <a:xfrm>
            <a:off x="6199632" y="5460863"/>
            <a:ext cx="5440680" cy="721223"/>
          </a:xfrm>
          <a:prstGeom prst="roundRect">
            <a:avLst>
              <a:gd name="adj" fmla="val 54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109728" tIns="109728" rIns="109728" bIns="109728" rtlCol="0" anchor="ctr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只換檔沒重啟,各元件仍出示舊憑證(實測)</a:t>
            </a:r>
            <a:endParaRPr lang="en-US" sz="115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與 broker 沒有 client 憑證 → ③ 階段不用重啟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Controller(KRaft)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只認內部帳號,人與服務都不直接連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ee30996-c608-4273-9db6-7ff1ed06d10d"/>
          <p:cNvSpPr/>
          <p:nvPr/>
        </p:nvSpPr>
        <p:spPr>
          <a:xfrm>
            <a:off x="54864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ac161e80-c84e-4e68-8392-a2c401f08f8f"/>
          <p:cNvSpPr/>
          <p:nvPr/>
        </p:nvSpPr>
        <p:spPr>
          <a:xfrm>
            <a:off x="10515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e248f413-93d8-48c9-87df-d7303aca52c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172261" y="1966751"/>
            <a:ext cx="307238" cy="307238"/>
          </a:xfrm>
          <a:prstGeom prst="rect">
            <a:avLst/>
          </a:prstGeom>
        </p:spPr>
      </p:pic>
      <p:sp>
        <p:nvSpPr>
          <p:cNvPr id="5" name="320d6f9b-8deb-4742-ad1a-0b7751f4d2e3"/>
          <p:cNvSpPr/>
          <p:nvPr/>
        </p:nvSpPr>
        <p:spPr>
          <a:xfrm>
            <a:off x="54864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1</a:t>
            </a:r>
            <a:endParaRPr lang="en-US" sz="1200" dirty="0"/>
          </a:p>
        </p:txBody>
      </p:sp>
      <p:sp>
        <p:nvSpPr>
          <p:cNvPr id="6" name="8be5f16b-8fbd-43af-8f4e-d27b558967eb"/>
          <p:cNvSpPr/>
          <p:nvPr/>
        </p:nvSpPr>
        <p:spPr>
          <a:xfrm>
            <a:off x="228600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7" name="1031dfa7-177e-4459-bf29-7ccea8ae2aae"/>
          <p:cNvSpPr/>
          <p:nvPr/>
        </p:nvSpPr>
        <p:spPr>
          <a:xfrm>
            <a:off x="2788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8" name="0ccb70a2-c453-4ea6-9a35-090dd5cc981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2909621" y="1966751"/>
            <a:ext cx="307238" cy="307238"/>
          </a:xfrm>
          <a:prstGeom prst="rect">
            <a:avLst/>
          </a:prstGeom>
        </p:spPr>
      </p:pic>
      <p:sp>
        <p:nvSpPr>
          <p:cNvPr id="9" name="7f10f45b-6ba0-421e-8434-639385d6e2f2"/>
          <p:cNvSpPr/>
          <p:nvPr/>
        </p:nvSpPr>
        <p:spPr>
          <a:xfrm>
            <a:off x="228600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2</a:t>
            </a:r>
            <a:endParaRPr lang="en-US" sz="1200" dirty="0"/>
          </a:p>
        </p:txBody>
      </p:sp>
      <p:sp>
        <p:nvSpPr>
          <p:cNvPr id="10" name="db1f26c5-d96d-445e-8e2b-bc941e948699"/>
          <p:cNvSpPr/>
          <p:nvPr/>
        </p:nvSpPr>
        <p:spPr>
          <a:xfrm>
            <a:off x="4023360" y="1769899"/>
            <a:ext cx="1554480" cy="1103046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1" name="f30bb829-5e7f-4ef3-bbff-83959a493178"/>
          <p:cNvSpPr/>
          <p:nvPr/>
        </p:nvSpPr>
        <p:spPr>
          <a:xfrm>
            <a:off x="452628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516f8b37-99f7-4f19-8208-0b1349cf6056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646981" y="1966751"/>
            <a:ext cx="307238" cy="307238"/>
          </a:xfrm>
          <a:prstGeom prst="rect">
            <a:avLst/>
          </a:prstGeom>
        </p:spPr>
      </p:pic>
      <p:sp>
        <p:nvSpPr>
          <p:cNvPr id="13" name="104d5831-b578-425c-960d-4f0dac1d5e65"/>
          <p:cNvSpPr/>
          <p:nvPr/>
        </p:nvSpPr>
        <p:spPr>
          <a:xfrm>
            <a:off x="4023360" y="2448697"/>
            <a:ext cx="155448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3</a:t>
            </a:r>
            <a:endParaRPr lang="en-US" sz="1200" dirty="0"/>
          </a:p>
        </p:txBody>
      </p:sp>
      <p:sp>
        <p:nvSpPr>
          <p:cNvPr id="14" name="2e775485-5365-437c-99de-a46b1d0a6a69"/>
          <p:cNvSpPr/>
          <p:nvPr/>
        </p:nvSpPr>
        <p:spPr>
          <a:xfrm>
            <a:off x="548640" y="2957796"/>
            <a:ext cx="50292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Raft quorum:正式環境 3 個;主 demo 1 個</a:t>
            </a:r>
            <a:endParaRPr lang="en-US" sz="1250" dirty="0"/>
          </a:p>
        </p:txBody>
      </p:sp>
      <p:sp>
        <p:nvSpPr>
          <p:cNvPr id="15" name="7b3892cd-c95c-4383-b6f9-a5ac666f729c"/>
          <p:cNvSpPr/>
          <p:nvPr/>
        </p:nvSpPr>
        <p:spPr>
          <a:xfrm>
            <a:off x="5943600" y="1769899"/>
            <a:ext cx="5696712" cy="2036394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6" name="19ce61a9-2f3b-4443-8c25-5b0596f91db7"/>
          <p:cNvSpPr/>
          <p:nvPr/>
        </p:nvSpPr>
        <p:spPr>
          <a:xfrm>
            <a:off x="6126480" y="1854749"/>
            <a:ext cx="53035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9093</a:t>
            </a:r>
            <a:endParaRPr lang="en-US" sz="1500" dirty="0"/>
          </a:p>
        </p:txBody>
      </p:sp>
      <p:sp>
        <p:nvSpPr>
          <p:cNvPr id="17" name="3b1e9c4c-f864-468b-a70a-7ae574b8d3f2"/>
          <p:cNvSpPr/>
          <p:nvPr/>
        </p:nvSpPr>
        <p:spPr>
          <a:xfrm>
            <a:off x="6126480" y="2278998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</a:t>
            </a:r>
            <a:endParaRPr lang="en-US" sz="1200" dirty="0"/>
          </a:p>
        </p:txBody>
      </p:sp>
      <p:sp>
        <p:nvSpPr>
          <p:cNvPr id="18" name="12c0e3c2-d70c-4b4e-af2f-b8fb10e5d95f"/>
          <p:cNvSpPr/>
          <p:nvPr/>
        </p:nvSpPr>
        <p:spPr>
          <a:xfrm>
            <a:off x="7772400" y="2278998"/>
            <a:ext cx="173736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200" dirty="0"/>
          </a:p>
        </p:txBody>
      </p:sp>
      <p:sp>
        <p:nvSpPr>
          <p:cNvPr id="19" name="740ada9c-e6ca-4e1b-9106-2e34f3fe4c5e"/>
          <p:cNvSpPr/>
          <p:nvPr/>
        </p:nvSpPr>
        <p:spPr>
          <a:xfrm>
            <a:off x="9601200" y="2278998"/>
            <a:ext cx="18288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靜態內部帳號</a:t>
            </a:r>
            <a:endParaRPr lang="en-US" sz="1200" dirty="0"/>
          </a:p>
        </p:txBody>
      </p:sp>
      <p:sp>
        <p:nvSpPr>
          <p:cNvPr id="20" name="abfd96e9-469a-4a6c-82e0-41d5781cb19a"/>
          <p:cNvSpPr/>
          <p:nvPr/>
        </p:nvSpPr>
        <p:spPr>
          <a:xfrm>
            <a:off x="6126480" y="2788096"/>
            <a:ext cx="53035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帳號:kafka-controller · kafka-broker</a:t>
            </a:r>
            <a:endParaRPr lang="en-US" sz="13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broker(9092):SCRAM 身分 kafka-controller</a:t>
            </a:r>
            <a:endParaRPr lang="en-US" sz="13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授權資料(role binding、使用者→群組)透過 broker 的 RBAC topic 取得</a:t>
            </a:r>
            <a:endParaRPr lang="en-US" sz="1300" dirty="0"/>
          </a:p>
        </p:txBody>
      </p:sp>
      <p:sp>
        <p:nvSpPr>
          <p:cNvPr id="21" name="fc04edbb-ec26-458c-a295-f20a2f690db3"/>
          <p:cNvSpPr/>
          <p:nvPr/>
        </p:nvSpPr>
        <p:spPr>
          <a:xfrm>
            <a:off x="548640" y="3594169"/>
            <a:ext cx="5029200" cy="933347"/>
          </a:xfrm>
          <a:prstGeom prst="roundRect">
            <a:avLst>
              <a:gd name="adj" fmla="val 5400"/>
            </a:avLst>
          </a:prstGeom>
          <a:solidFill>
            <a:srgbClr val="FFFFFF"/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2" name="5477352b-cfb3-47d8-8898-d16727e7d9dd"/>
          <p:cNvSpPr/>
          <p:nvPr/>
        </p:nvSpPr>
        <p:spPr>
          <a:xfrm>
            <a:off x="731520" y="3679018"/>
            <a:ext cx="466344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 + super.users</a:t>
            </a:r>
            <a:endParaRPr lang="en-US" sz="1300" dirty="0"/>
          </a:p>
        </p:txBody>
      </p:sp>
      <p:sp>
        <p:nvSpPr>
          <p:cNvPr id="23" name="efdee271-9c94-4e23-a43b-9fb239801e36"/>
          <p:cNvSpPr/>
          <p:nvPr/>
        </p:nvSpPr>
        <p:spPr>
          <a:xfrm>
            <a:off x="548640" y="4739640"/>
            <a:ext cx="5029200" cy="8484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4" name="08722030-0c1d-4324-99eb-c5218e143bda"/>
          <p:cNvSpPr/>
          <p:nvPr/>
        </p:nvSpPr>
        <p:spPr>
          <a:xfrm>
            <a:off x="685800" y="482449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5" name="3e417c98-056a-41d0-8641-9dad3a959131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26618" y="4955158"/>
            <a:ext cx="358445" cy="358445"/>
          </a:xfrm>
          <a:prstGeom prst="rect">
            <a:avLst/>
          </a:prstGeom>
        </p:spPr>
      </p:pic>
      <p:sp>
        <p:nvSpPr>
          <p:cNvPr id="26" name="b048c395-d41d-4431-9a2e-a62e62049bbd"/>
          <p:cNvSpPr/>
          <p:nvPr/>
        </p:nvSpPr>
        <p:spPr>
          <a:xfrm>
            <a:off x="1463040" y="4824490"/>
            <a:ext cx="402336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防火牆:9093 只開給 broker / controller 節點</a:t>
            </a:r>
            <a:endParaRPr lang="en-US" sz="1250" dirty="0"/>
          </a:p>
        </p:txBody>
      </p:sp>
      <p:sp>
        <p:nvSpPr>
          <p:cNvPr id="27" name="077b1309-a403-4c57-8101-c037d3340f87"/>
          <p:cNvSpPr/>
          <p:nvPr/>
        </p:nvSpPr>
        <p:spPr>
          <a:xfrm>
            <a:off x="5943600" y="3933568"/>
            <a:ext cx="5696712" cy="1696995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8" name="223bbdb7-acbb-4250-962b-086e0d6f95a5"/>
          <p:cNvSpPr/>
          <p:nvPr/>
        </p:nvSpPr>
        <p:spPr>
          <a:xfrm>
            <a:off x="608076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9" name="77704e41-0365-4083-9a88-0ebdea2b77f8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221578" y="4191511"/>
            <a:ext cx="358445" cy="358445"/>
          </a:xfrm>
          <a:prstGeom prst="rect">
            <a:avLst/>
          </a:prstGeom>
        </p:spPr>
      </p:pic>
      <p:sp>
        <p:nvSpPr>
          <p:cNvPr id="30" name="530c1133-a6b6-444c-bc8f-6c8727adcc30"/>
          <p:cNvSpPr/>
          <p:nvPr/>
        </p:nvSpPr>
        <p:spPr>
          <a:xfrm>
            <a:off x="6903720" y="3992962"/>
            <a:ext cx="4572000" cy="16121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為什麼是 PLAIN 靜態帳號:三種做法逐一排除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不用 SCRAM:官方 SCRAM overview 頁說明 controller listener 不支援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AD:AD 不含服務帳號,而且內部通道一旦依賴 AD,AD 異常時就會牽連叢集本身</a:t>
            </a:r>
            <a:endParaRPr lang="en-US" sz="14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不走 mTLS:客戶希望憑證越少越好,不為內部通道另發 client 憑證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因此採用 PLAIN 靜態帳號:帳號寫在 JAAS 設定,不依賴 AD、不另發憑證</a:t>
            </a:r>
            <a:endParaRPr lang="en-US" sz="1400" dirty="0"/>
          </a:p>
        </p:txBody>
      </p:sp>
      <p:sp>
        <p:nvSpPr>
          <p:cNvPr id="31" name="8439a792-2d51-4bdd-9d76-d471c124bd84"/>
          <p:cNvSpPr/>
          <p:nvPr/>
        </p:nvSpPr>
        <p:spPr>
          <a:xfrm>
            <a:off x="548640" y="5800262"/>
            <a:ext cx="11091672" cy="424249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只認內部帳號;人與服務都不直接連它</a:t>
            </a:r>
            <a:endParaRPr lang="en-US" sz="15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Broker:三個入口,各管一件事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 PLAIN + AD、服務 SCRAM、平台 OAUTHBEARER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57ff6278-a482-4d6b-ac44-4a3669deed19"/>
          <p:cNvSpPr/>
          <p:nvPr/>
        </p:nvSpPr>
        <p:spPr>
          <a:xfrm>
            <a:off x="548640" y="1727475"/>
            <a:ext cx="2103120" cy="364853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c0f498c4-81d1-495d-811f-4b9c2ddc1bd4"/>
          <p:cNvSpPr/>
          <p:nvPr/>
        </p:nvSpPr>
        <p:spPr>
          <a:xfrm>
            <a:off x="1051560" y="1897174"/>
            <a:ext cx="1097280" cy="1018197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b752be6a-094b-4c59-a655-03034d3eed0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92962" y="2121177"/>
            <a:ext cx="614477" cy="614477"/>
          </a:xfrm>
          <a:prstGeom prst="rect">
            <a:avLst/>
          </a:prstGeom>
        </p:spPr>
      </p:pic>
      <p:sp>
        <p:nvSpPr>
          <p:cNvPr id="5" name="551a957d-b088-4711-969c-d08de03c7a3e"/>
          <p:cNvSpPr/>
          <p:nvPr/>
        </p:nvSpPr>
        <p:spPr>
          <a:xfrm>
            <a:off x="548640" y="3042645"/>
            <a:ext cx="210312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2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2000" dirty="0"/>
          </a:p>
        </p:txBody>
      </p:sp>
      <p:sp>
        <p:nvSpPr>
          <p:cNvPr id="6" name="07afbc39-f01e-4aca-81da-9e80cf904f78"/>
          <p:cNvSpPr/>
          <p:nvPr/>
        </p:nvSpPr>
        <p:spPr>
          <a:xfrm>
            <a:off x="640080" y="3509319"/>
            <a:ext cx="192024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ConfluentServerAuthorizer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埠不要求 client 憑證(MDS 才要求)</a:t>
            </a:r>
            <a:endParaRPr lang="en-US" sz="1100" dirty="0"/>
          </a:p>
        </p:txBody>
      </p:sp>
      <p:sp>
        <p:nvSpPr>
          <p:cNvPr id="7" name="ecfca526-f4b3-4b0a-9ba7-7bab41b9000d"/>
          <p:cNvSpPr/>
          <p:nvPr/>
        </p:nvSpPr>
        <p:spPr>
          <a:xfrm flipV="1">
            <a:off x="2651760" y="2278998"/>
            <a:ext cx="457200" cy="1272746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8" name="ddf89dc9-91fc-461b-a934-8c521347e303"/>
          <p:cNvSpPr/>
          <p:nvPr/>
        </p:nvSpPr>
        <p:spPr>
          <a:xfrm>
            <a:off x="3108960" y="1727475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9" name="0875e5ba-e8a7-434e-8955-270939facf39"/>
          <p:cNvSpPr/>
          <p:nvPr/>
        </p:nvSpPr>
        <p:spPr>
          <a:xfrm>
            <a:off x="3246120" y="19820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501ac95f-c2fe-42c4-a7a5-2cd5e89e581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386938" y="2112692"/>
            <a:ext cx="358445" cy="358445"/>
          </a:xfrm>
          <a:prstGeom prst="rect">
            <a:avLst/>
          </a:prstGeom>
        </p:spPr>
      </p:pic>
      <p:sp>
        <p:nvSpPr>
          <p:cNvPr id="11" name="87e17a9d-4cf4-492f-b6fd-9c6e81c49e96"/>
          <p:cNvSpPr/>
          <p:nvPr/>
        </p:nvSpPr>
        <p:spPr>
          <a:xfrm>
            <a:off x="4069080" y="1829294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INTERNAL 9092</a:t>
            </a:r>
            <a:endParaRPr lang="en-US" sz="1700" dirty="0"/>
          </a:p>
        </p:txBody>
      </p:sp>
      <p:sp>
        <p:nvSpPr>
          <p:cNvPr id="12" name="b0f60c5f-cd8e-454b-a4a8-49eb8029d8a1"/>
          <p:cNvSpPr/>
          <p:nvPr/>
        </p:nvSpPr>
        <p:spPr>
          <a:xfrm>
            <a:off x="4069080" y="2278998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SCRAM-SHA-512</a:t>
            </a:r>
            <a:endParaRPr lang="en-US" sz="1300" dirty="0"/>
          </a:p>
        </p:txBody>
      </p:sp>
      <p:sp>
        <p:nvSpPr>
          <p:cNvPr id="13" name="a23d0485-fc91-4f25-869d-0b5ce8f185f3"/>
          <p:cNvSpPr/>
          <p:nvPr/>
        </p:nvSpPr>
        <p:spPr>
          <a:xfrm>
            <a:off x="8229600" y="1829294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↔ broker</a:t>
            </a:r>
            <a:endParaRPr lang="en-US" sz="1200" dirty="0"/>
          </a:p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→ broker</a:t>
            </a:r>
            <a:endParaRPr lang="en-US" sz="1200" dirty="0"/>
          </a:p>
        </p:txBody>
      </p:sp>
      <p:sp>
        <p:nvSpPr>
          <p:cNvPr id="14" name="61279a5a-4871-475b-8267-93dad3fcb19a"/>
          <p:cNvSpPr/>
          <p:nvPr/>
        </p:nvSpPr>
        <p:spPr>
          <a:xfrm flipV="1">
            <a:off x="2651760" y="3551744"/>
            <a:ext cx="45720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5" name="21c6ffd9-9c06-4041-8bee-1aeefa8f7040"/>
          <p:cNvSpPr/>
          <p:nvPr/>
        </p:nvSpPr>
        <p:spPr>
          <a:xfrm>
            <a:off x="3108960" y="3000221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6" name="ae80f53d-6004-4db8-9115-91ad4cec63e4"/>
          <p:cNvSpPr/>
          <p:nvPr/>
        </p:nvSpPr>
        <p:spPr>
          <a:xfrm>
            <a:off x="3246120" y="3254770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7" name="d6d2903c-0f08-4b09-aea9-e9a862f0a6d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386938" y="3385438"/>
            <a:ext cx="358445" cy="358445"/>
          </a:xfrm>
          <a:prstGeom prst="rect">
            <a:avLst/>
          </a:prstGeom>
        </p:spPr>
      </p:pic>
      <p:sp>
        <p:nvSpPr>
          <p:cNvPr id="18" name="ffeb2c6b-1816-453f-b305-d4460f61c04e"/>
          <p:cNvSpPr/>
          <p:nvPr/>
        </p:nvSpPr>
        <p:spPr>
          <a:xfrm>
            <a:off x="4069080" y="3102040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700" dirty="0"/>
          </a:p>
        </p:txBody>
      </p:sp>
      <p:sp>
        <p:nvSpPr>
          <p:cNvPr id="19" name="efcb3cec-3ea9-4ad4-8da7-cec56250ade4"/>
          <p:cNvSpPr/>
          <p:nvPr/>
        </p:nvSpPr>
        <p:spPr>
          <a:xfrm>
            <a:off x="4069080" y="3551744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SASL_SSL · PLAIN+LDAP / SCRAM / OAUTHBEARER(帶 MDS token)</a:t>
            </a:r>
            <a:endParaRPr lang="en-US" sz="1300" dirty="0"/>
          </a:p>
        </p:txBody>
      </p:sp>
      <p:sp>
        <p:nvSpPr>
          <p:cNvPr id="20" name="65299e7c-df46-4d6e-8218-87849a3b06bb"/>
          <p:cNvSpPr/>
          <p:nvPr/>
        </p:nvSpPr>
        <p:spPr>
          <a:xfrm>
            <a:off x="8229600" y="3102040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 · 服務 · token</a:t>
            </a:r>
            <a:endParaRPr lang="en-US" sz="1200" dirty="0"/>
          </a:p>
        </p:txBody>
      </p:sp>
      <p:sp>
        <p:nvSpPr>
          <p:cNvPr id="21" name="b8581af8-0c16-47a2-9329-1dfcd6ab4fb0"/>
          <p:cNvSpPr/>
          <p:nvPr/>
        </p:nvSpPr>
        <p:spPr>
          <a:xfrm>
            <a:off x="2651760" y="3551744"/>
            <a:ext cx="457200" cy="1272746"/>
          </a:xfrm>
          <a:prstGeom prst="line">
            <a:avLst/>
          </a:prstGeom>
          <a:noFill/>
          <a:ln w="22225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22" name="b4d44f39-85de-40fb-8922-742cb8ee5975"/>
          <p:cNvSpPr/>
          <p:nvPr/>
        </p:nvSpPr>
        <p:spPr>
          <a:xfrm>
            <a:off x="3108960" y="4272966"/>
            <a:ext cx="8531352" cy="1103046"/>
          </a:xfrm>
          <a:prstGeom prst="roundRect">
            <a:avLst>
              <a:gd name="adj" fmla="val 54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3" name="7d2d9b84-4567-4501-b328-720fba35f365"/>
          <p:cNvSpPr/>
          <p:nvPr/>
        </p:nvSpPr>
        <p:spPr>
          <a:xfrm>
            <a:off x="3246120" y="4527516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4" name="d141386d-851d-4c28-b973-e3a783b5e04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3386938" y="4658184"/>
            <a:ext cx="358445" cy="358445"/>
          </a:xfrm>
          <a:prstGeom prst="rect">
            <a:avLst/>
          </a:prstGeom>
        </p:spPr>
      </p:pic>
      <p:sp>
        <p:nvSpPr>
          <p:cNvPr id="25" name="cdc56386-4093-49f4-8075-bc379e5191d4"/>
          <p:cNvSpPr/>
          <p:nvPr/>
        </p:nvSpPr>
        <p:spPr>
          <a:xfrm>
            <a:off x="4069080" y="4374786"/>
            <a:ext cx="310896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8091</a:t>
            </a:r>
            <a:endParaRPr lang="en-US" sz="1700" dirty="0"/>
          </a:p>
        </p:txBody>
      </p:sp>
      <p:sp>
        <p:nvSpPr>
          <p:cNvPr id="26" name="716de939-4732-4418-9859-4fece57045d5"/>
          <p:cNvSpPr/>
          <p:nvPr/>
        </p:nvSpPr>
        <p:spPr>
          <a:xfrm>
            <a:off x="4069080" y="4824490"/>
            <a:ext cx="7406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HTTPS · Basic(LDAP)/ Bearer / client 憑證(REQUESTED)</a:t>
            </a:r>
            <a:endParaRPr lang="en-US" sz="1300" dirty="0"/>
          </a:p>
        </p:txBody>
      </p:sp>
      <p:sp>
        <p:nvSpPr>
          <p:cNvPr id="27" name="4f8dcff1-79c6-4a19-bdf3-0b60670802ae"/>
          <p:cNvSpPr/>
          <p:nvPr/>
        </p:nvSpPr>
        <p:spPr>
          <a:xfrm>
            <a:off x="8229600" y="4374786"/>
            <a:ext cx="3291840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 · 管理 API</a:t>
            </a:r>
            <a:endParaRPr lang="en-US" sz="1200" dirty="0"/>
          </a:p>
        </p:txBody>
      </p:sp>
      <p:sp>
        <p:nvSpPr>
          <p:cNvPr id="28" name="8da26315-9d84-481d-b1bd-c0414c7c1f2c"/>
          <p:cNvSpPr/>
          <p:nvPr/>
        </p:nvSpPr>
        <p:spPr>
          <a:xfrm>
            <a:off x="548640" y="5588137"/>
            <a:ext cx="758952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內部通道不走 AD、不走 mTLS(AD 不含服務帳號、憑證不另發)→ 身分由帳號提供:INTERNAL 用 SCRAM、CONTROLLER 用 PLAIN;LDAP callback 只掛 CLIENT</a:t>
            </a:r>
            <a:endParaRPr lang="en-US" sz="1100" dirty="0"/>
          </a:p>
        </p:txBody>
      </p:sp>
      <p:sp>
        <p:nvSpPr>
          <p:cNvPr id="29" name="d02369ad-55f8-4d3d-8b75-9ba6e927cba0"/>
          <p:cNvSpPr/>
          <p:nvPr/>
        </p:nvSpPr>
        <p:spPr>
          <a:xfrm>
            <a:off x="8275320" y="5588137"/>
            <a:ext cx="3364992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防火牆:9092 只開給 broker / controller 節點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MDS:RBAC 的中樞(內嵌於 broker)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換 token、管 RBAC、向 AD 查群組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28c7199c-8163-4dd5-8e66-1ec98c949858"/>
          <p:cNvSpPr/>
          <p:nvPr/>
        </p:nvSpPr>
        <p:spPr>
          <a:xfrm>
            <a:off x="54864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0E2841">
              <a:alpha val="12000"/>
            </a:srgbClr>
          </a:solidFill>
          <a:ln w="19050">
            <a:solidFill>
              <a:srgbClr val="0E2841"/>
            </a:solidFill>
            <a:prstDash val="solid"/>
          </a:ln>
        </p:spPr>
      </p:sp>
      <p:sp>
        <p:nvSpPr>
          <p:cNvPr id="3" name="8d17ee42-a0a2-4d3d-bcaf-978dfadf9459"/>
          <p:cNvSpPr/>
          <p:nvPr/>
        </p:nvSpPr>
        <p:spPr>
          <a:xfrm>
            <a:off x="15316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0E2841">
              <a:alpha val="15000"/>
            </a:srgbClr>
          </a:solidFill>
          <a:ln w="12700">
            <a:solidFill>
              <a:srgbClr val="0E2841"/>
            </a:solidFill>
            <a:prstDash val="solid"/>
          </a:ln>
        </p:spPr>
      </p:sp>
      <p:pic>
        <p:nvPicPr>
          <p:cNvPr id="4" name="97d2152b-997b-40ff-b623-6161683322b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652321" y="1966751"/>
            <a:ext cx="307238" cy="307238"/>
          </a:xfrm>
          <a:prstGeom prst="rect">
            <a:avLst/>
          </a:prstGeom>
        </p:spPr>
      </p:pic>
      <p:sp>
        <p:nvSpPr>
          <p:cNvPr id="5" name="4d0eaee8-0d83-44b6-a082-6a5f734924aa"/>
          <p:cNvSpPr/>
          <p:nvPr/>
        </p:nvSpPr>
        <p:spPr>
          <a:xfrm>
            <a:off x="62179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管理者</a:t>
            </a:r>
            <a:endParaRPr lang="en-US" sz="1400" dirty="0"/>
          </a:p>
        </p:txBody>
      </p:sp>
      <p:sp>
        <p:nvSpPr>
          <p:cNvPr id="6" name="67e1204d-c00f-476b-b767-535be7e9be20"/>
          <p:cNvSpPr/>
          <p:nvPr/>
        </p:nvSpPr>
        <p:spPr>
          <a:xfrm>
            <a:off x="64008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在 C3 或 API 指派 role binding</a:t>
            </a:r>
            <a:endParaRPr lang="en-US" sz="1150" dirty="0"/>
          </a:p>
        </p:txBody>
      </p:sp>
      <p:sp>
        <p:nvSpPr>
          <p:cNvPr id="7" name="0885d683-a7b2-4b64-858e-f2ca04ba1ce9"/>
          <p:cNvSpPr/>
          <p:nvPr/>
        </p:nvSpPr>
        <p:spPr>
          <a:xfrm>
            <a:off x="338328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8" name="2ea560de-77b6-4dd5-8b62-0be225f02cc7"/>
          <p:cNvSpPr/>
          <p:nvPr/>
        </p:nvSpPr>
        <p:spPr>
          <a:xfrm>
            <a:off x="436626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9" name="b7e9f92c-f673-43f7-b794-af0cfa90dc1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486961" y="1966751"/>
            <a:ext cx="307238" cy="307238"/>
          </a:xfrm>
          <a:prstGeom prst="rect">
            <a:avLst/>
          </a:prstGeom>
        </p:spPr>
      </p:pic>
      <p:sp>
        <p:nvSpPr>
          <p:cNvPr id="10" name="5c0a9c62-6df3-49c3-98d3-d3a6c08f0cc3"/>
          <p:cNvSpPr/>
          <p:nvPr/>
        </p:nvSpPr>
        <p:spPr>
          <a:xfrm>
            <a:off x="345643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11" name="931d4466-cf0b-4c5f-b127-a01dcdcd954f"/>
          <p:cNvSpPr/>
          <p:nvPr/>
        </p:nvSpPr>
        <p:spPr>
          <a:xfrm>
            <a:off x="347472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認證:Basic(AD)· MDS token(Bearer)· client 憑證(mTLS)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換 token · 管理 RBAC</a:t>
            </a:r>
            <a:endParaRPr lang="en-US" sz="1150" dirty="0"/>
          </a:p>
        </p:txBody>
      </p:sp>
      <p:sp>
        <p:nvSpPr>
          <p:cNvPr id="12" name="b1ad24f7-dd0b-448c-8fa7-3f7e6833c0c9"/>
          <p:cNvSpPr/>
          <p:nvPr/>
        </p:nvSpPr>
        <p:spPr>
          <a:xfrm>
            <a:off x="621792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2d2ef8ef-3d06-4ce2-b3e6-a218ccaa1946"/>
          <p:cNvSpPr/>
          <p:nvPr/>
        </p:nvSpPr>
        <p:spPr>
          <a:xfrm>
            <a:off x="720090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f883e935-d191-497c-9b4d-f41b3ea23ee1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7321601" y="1966751"/>
            <a:ext cx="307238" cy="307238"/>
          </a:xfrm>
          <a:prstGeom prst="rect">
            <a:avLst/>
          </a:prstGeom>
        </p:spPr>
      </p:pic>
      <p:sp>
        <p:nvSpPr>
          <p:cNvPr id="15" name="e6818fa6-1b15-45b5-8a43-3802a208a51b"/>
          <p:cNvSpPr/>
          <p:nvPr/>
        </p:nvSpPr>
        <p:spPr>
          <a:xfrm>
            <a:off x="629107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topic</a:t>
            </a:r>
            <a:endParaRPr lang="en-US" sz="1400" dirty="0"/>
          </a:p>
        </p:txBody>
      </p:sp>
      <p:sp>
        <p:nvSpPr>
          <p:cNvPr id="16" name="98256094-78fb-49c8-bdee-7ca77b2dbd26"/>
          <p:cNvSpPr/>
          <p:nvPr/>
        </p:nvSpPr>
        <p:spPr>
          <a:xfrm>
            <a:off x="630936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role binding 與使用者→群組</a:t>
            </a:r>
            <a:endParaRPr lang="en-US" sz="1150" dirty="0"/>
          </a:p>
        </p:txBody>
      </p:sp>
      <p:sp>
        <p:nvSpPr>
          <p:cNvPr id="17" name="1d6351fa-4820-4ade-af93-f5a7f5361599"/>
          <p:cNvSpPr/>
          <p:nvPr/>
        </p:nvSpPr>
        <p:spPr>
          <a:xfrm>
            <a:off x="9052560" y="1727475"/>
            <a:ext cx="2514600" cy="178184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8" name="4be3dcdd-3e59-4271-b855-a91d963175e0"/>
          <p:cNvSpPr/>
          <p:nvPr/>
        </p:nvSpPr>
        <p:spPr>
          <a:xfrm>
            <a:off x="10035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9" name="a1098514-d03d-4460-b0e3-d2f8583fcf63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156241" y="1966751"/>
            <a:ext cx="307238" cy="307238"/>
          </a:xfrm>
          <a:prstGeom prst="rect">
            <a:avLst/>
          </a:prstGeom>
        </p:spPr>
      </p:pic>
      <p:sp>
        <p:nvSpPr>
          <p:cNvPr id="20" name="ed01ea5c-6e62-43cd-aa66-be2a73d0e495"/>
          <p:cNvSpPr/>
          <p:nvPr/>
        </p:nvSpPr>
        <p:spPr>
          <a:xfrm>
            <a:off x="9125712" y="2448697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每台 broker</a:t>
            </a:r>
            <a:endParaRPr lang="en-US" sz="1400" dirty="0"/>
          </a:p>
        </p:txBody>
      </p:sp>
      <p:sp>
        <p:nvSpPr>
          <p:cNvPr id="21" name="172dc18d-4f3e-4d21-9d00-aafab1704e82"/>
          <p:cNvSpPr/>
          <p:nvPr/>
        </p:nvSpPr>
        <p:spPr>
          <a:xfrm>
            <a:off x="9144000" y="2830521"/>
            <a:ext cx="2331720" cy="63637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讀取並 cache,本地授權</a:t>
            </a:r>
            <a:endParaRPr lang="en-US" sz="1150" dirty="0"/>
          </a:p>
        </p:txBody>
      </p:sp>
      <p:sp>
        <p:nvSpPr>
          <p:cNvPr id="22" name="c3e0a4a2-82ba-44c0-9454-6b1575c77fe5"/>
          <p:cNvSpPr/>
          <p:nvPr/>
        </p:nvSpPr>
        <p:spPr>
          <a:xfrm>
            <a:off x="306324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4b019988-698b-4684-a12a-4e6a9aea969c"/>
          <p:cNvSpPr/>
          <p:nvPr/>
        </p:nvSpPr>
        <p:spPr>
          <a:xfrm>
            <a:off x="589788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4" name="392af100-fa88-44e0-b186-2a1a71e0e943"/>
          <p:cNvSpPr/>
          <p:nvPr/>
        </p:nvSpPr>
        <p:spPr>
          <a:xfrm>
            <a:off x="8732520" y="2618397"/>
            <a:ext cx="32004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5" name="c50aab3d-9198-4c6d-8673-4bcb0310ae78"/>
          <p:cNvSpPr/>
          <p:nvPr/>
        </p:nvSpPr>
        <p:spPr>
          <a:xfrm>
            <a:off x="3383280" y="3806293"/>
            <a:ext cx="2514600" cy="18666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6" name="354d901b-0e53-4f0f-b9e8-0206000aa7b0"/>
          <p:cNvSpPr/>
          <p:nvPr/>
        </p:nvSpPr>
        <p:spPr>
          <a:xfrm>
            <a:off x="436626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7" name="73857ff0-69db-4b06-af72-fde991a33ff0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486961" y="4045569"/>
            <a:ext cx="307238" cy="307238"/>
          </a:xfrm>
          <a:prstGeom prst="rect">
            <a:avLst/>
          </a:prstGeom>
        </p:spPr>
      </p:pic>
      <p:sp>
        <p:nvSpPr>
          <p:cNvPr id="28" name="59cdc110-ed69-4cae-b04e-7487f9f98c0a"/>
          <p:cNvSpPr/>
          <p:nvPr/>
        </p:nvSpPr>
        <p:spPr>
          <a:xfrm>
            <a:off x="3456432" y="4527516"/>
            <a:ext cx="23682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AD(LDAP)</a:t>
            </a:r>
            <a:endParaRPr lang="en-US" sz="1400" dirty="0"/>
          </a:p>
        </p:txBody>
      </p:sp>
      <p:sp>
        <p:nvSpPr>
          <p:cNvPr id="29" name="648fd8ad-cfa9-49a0-8e45-36bf1e1c68bb"/>
          <p:cNvSpPr/>
          <p:nvPr/>
        </p:nvSpPr>
        <p:spPr>
          <a:xfrm>
            <a:off x="3474720" y="4909339"/>
            <a:ext cx="2331720" cy="721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唯讀 bind 帳號:搜尋使用者、定期查群組</a:t>
            </a:r>
            <a:endParaRPr lang="en-US" sz="115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驗密碼:用使用者自己的 DN + 密碼 simple bind</a:t>
            </a:r>
            <a:endParaRPr lang="en-US" sz="1150" dirty="0"/>
          </a:p>
        </p:txBody>
      </p:sp>
      <p:sp>
        <p:nvSpPr>
          <p:cNvPr id="30" name="ec5311a9-2073-48a3-bd66-fbc25d193be7"/>
          <p:cNvSpPr/>
          <p:nvPr/>
        </p:nvSpPr>
        <p:spPr>
          <a:xfrm>
            <a:off x="4636008" y="3509319"/>
            <a:ext cx="0" cy="296974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a25f4ddd-a231-4d38-aa8b-a14880eb9cc0"/>
          <p:cNvSpPr/>
          <p:nvPr/>
        </p:nvSpPr>
        <p:spPr>
          <a:xfrm>
            <a:off x="4709160" y="3534774"/>
            <a:ext cx="128016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查詢 / bind</a:t>
            </a:r>
            <a:endParaRPr lang="en-US" sz="1000" dirty="0"/>
          </a:p>
        </p:txBody>
      </p:sp>
      <p:sp>
        <p:nvSpPr>
          <p:cNvPr id="32" name="b7989ed1-ec61-44c0-b10a-157100ca1175"/>
          <p:cNvSpPr/>
          <p:nvPr/>
        </p:nvSpPr>
        <p:spPr>
          <a:xfrm>
            <a:off x="6217920" y="3806293"/>
            <a:ext cx="5422392" cy="1866694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3" name="6fcec77e-0694-4b7a-abdf-576ce7751a92"/>
          <p:cNvSpPr/>
          <p:nvPr/>
        </p:nvSpPr>
        <p:spPr>
          <a:xfrm>
            <a:off x="6400800" y="3891143"/>
            <a:ext cx="50292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重點</a:t>
            </a:r>
            <a:endParaRPr lang="en-US" sz="1500" dirty="0"/>
          </a:p>
        </p:txBody>
      </p:sp>
      <p:sp>
        <p:nvSpPr>
          <p:cNvPr id="34" name="15e59eb8-6ceb-412e-b0a9-73eb38f84e0b"/>
          <p:cNvSpPr/>
          <p:nvPr/>
        </p:nvSpPr>
        <p:spPr>
          <a:xfrm>
            <a:off x="6400800" y="4230542"/>
            <a:ext cx="5074920" cy="144244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群組異動在 AD 做,Kafka 端零變更;由一台 broker 擔任 writer 向 AD 查群組(預設 60 秒;demo 5 秒),寫入 RBAC topic,其他 broker 讀取後更新快取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人:Basic(AD 帳密)經 MDS 向 AD 驗證;各 broker 都連 AD,需匯入 AD 的 LDAPS CA root</a:t>
            </a:r>
            <a:endParaRPr lang="en-US" sz="105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機器 / 平台元件:client 憑證(mTLS)→ CN 對映成主體 → 向 MDS 換 token;憑證主體只能綁 User:(不支援群組)</a:t>
            </a:r>
            <a:endParaRPr lang="en-US" sz="105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•  token:JWT,壽命可設(demo 設 1 小時);元件自動重新換;刪除 AD 帳號後,舊 token 到期前仍有效(實測)</a:t>
            </a:r>
            <a:endParaRPr lang="en-US" sz="1050" dirty="0"/>
          </a:p>
        </p:txBody>
      </p:sp>
      <p:sp>
        <p:nvSpPr>
          <p:cNvPr id="35" name="2a52b4c8-f6ae-4f29-87a2-ae38a2180773"/>
          <p:cNvSpPr/>
          <p:nvPr/>
        </p:nvSpPr>
        <p:spPr>
          <a:xfrm>
            <a:off x="548640" y="3806293"/>
            <a:ext cx="2514600" cy="1866694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6" name="f1713b79-e228-412f-9eb6-219e90828df4"/>
          <p:cNvSpPr/>
          <p:nvPr/>
        </p:nvSpPr>
        <p:spPr>
          <a:xfrm>
            <a:off x="1417320" y="393356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7" name="d8a0a8c3-826d-4ea5-8f2b-1759a9de7b98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538021" y="4045569"/>
            <a:ext cx="307238" cy="307238"/>
          </a:xfrm>
          <a:prstGeom prst="rect">
            <a:avLst/>
          </a:prstGeom>
        </p:spPr>
      </p:pic>
      <p:sp>
        <p:nvSpPr>
          <p:cNvPr id="38" name="ded60e1e-5047-4362-b8c1-77a9474c0717"/>
          <p:cNvSpPr/>
          <p:nvPr/>
        </p:nvSpPr>
        <p:spPr>
          <a:xfrm>
            <a:off x="640080" y="4527516"/>
            <a:ext cx="233172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2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需要 AD 唯讀查詢帳號</a:t>
            </a:r>
            <a:endParaRPr lang="en-US" sz="125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bind DN;不要用真人帳號;建議 LDAPS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AD 群組 → role:依職責分層授權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同一個 AD,不同群組 = 不同權限層級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1a30e59d-cb98-480c-9490-1ad0fb219839"/>
          <p:cNvSpPr/>
          <p:nvPr/>
        </p:nvSpPr>
        <p:spPr>
          <a:xfrm>
            <a:off x="562356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讀資料</a:t>
            </a:r>
            <a:endParaRPr lang="en-US" sz="1200" dirty="0"/>
          </a:p>
        </p:txBody>
      </p:sp>
      <p:sp>
        <p:nvSpPr>
          <p:cNvPr id="3" name="48db2e1b-2940-4b28-b9b4-40f609ba29d5"/>
          <p:cNvSpPr/>
          <p:nvPr/>
        </p:nvSpPr>
        <p:spPr>
          <a:xfrm>
            <a:off x="713232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寫資料</a:t>
            </a:r>
            <a:endParaRPr lang="en-US" sz="1200" dirty="0"/>
          </a:p>
        </p:txBody>
      </p:sp>
      <p:sp>
        <p:nvSpPr>
          <p:cNvPr id="4" name="45046fb6-c510-487e-bbbe-433d3e40a677"/>
          <p:cNvSpPr/>
          <p:nvPr/>
        </p:nvSpPr>
        <p:spPr>
          <a:xfrm>
            <a:off x="864108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 topic(建/刪)</a:t>
            </a:r>
            <a:endParaRPr lang="en-US" sz="1200" dirty="0"/>
          </a:p>
        </p:txBody>
      </p:sp>
      <p:sp>
        <p:nvSpPr>
          <p:cNvPr id="5" name="44c8eed6-caa9-405b-87bd-c59fc69ddb46"/>
          <p:cNvSpPr/>
          <p:nvPr/>
        </p:nvSpPr>
        <p:spPr>
          <a:xfrm>
            <a:off x="10149840" y="1685050"/>
            <a:ext cx="150876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改授權</a:t>
            </a:r>
            <a:endParaRPr lang="en-US" sz="1200" dirty="0"/>
          </a:p>
        </p:txBody>
      </p:sp>
      <p:sp>
        <p:nvSpPr>
          <p:cNvPr id="6" name="90300897-f1f1-43bf-9be2-0ecab46618dc"/>
          <p:cNvSpPr/>
          <p:nvPr/>
        </p:nvSpPr>
        <p:spPr>
          <a:xfrm>
            <a:off x="548640" y="2151723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7" name="098beb0f-029f-46ca-819e-7c2a55bf1636"/>
          <p:cNvSpPr/>
          <p:nvPr/>
        </p:nvSpPr>
        <p:spPr>
          <a:xfrm>
            <a:off x="731520" y="2185663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kafka-developers</a:t>
            </a:r>
            <a:endParaRPr lang="en-US" sz="1300" dirty="0"/>
          </a:p>
        </p:txBody>
      </p:sp>
      <p:sp>
        <p:nvSpPr>
          <p:cNvPr id="8" name="5f6b8e67-0994-43e7-958c-c577ed2e6c9e"/>
          <p:cNvSpPr/>
          <p:nvPr/>
        </p:nvSpPr>
        <p:spPr>
          <a:xfrm>
            <a:off x="2834640" y="2185663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 / Write(orders. 前綴)</a:t>
            </a:r>
            <a:endParaRPr lang="en-US" sz="1050" dirty="0"/>
          </a:p>
        </p:txBody>
      </p:sp>
      <p:pic>
        <p:nvPicPr>
          <p:cNvPr id="9" name="c5fcbc5b-d9d3-4f37-83dd-48cb8a496e8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6190488" y="2245058"/>
            <a:ext cx="365760" cy="365760"/>
          </a:xfrm>
          <a:prstGeom prst="rect">
            <a:avLst/>
          </a:prstGeom>
        </p:spPr>
      </p:pic>
      <p:pic>
        <p:nvPicPr>
          <p:cNvPr id="10" name="f304bfc9-05b2-45ef-98c3-0cf7fb618df5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699248" y="2245058"/>
            <a:ext cx="365760" cy="365760"/>
          </a:xfrm>
          <a:prstGeom prst="rect">
            <a:avLst/>
          </a:prstGeom>
        </p:spPr>
      </p:pic>
      <p:pic>
        <p:nvPicPr>
          <p:cNvPr id="11" name="e1ff6b79-ad76-44a8-8780-34babe663c7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208008" y="2245058"/>
            <a:ext cx="365760" cy="365760"/>
          </a:xfrm>
          <a:prstGeom prst="rect">
            <a:avLst/>
          </a:prstGeom>
        </p:spPr>
      </p:pic>
      <p:pic>
        <p:nvPicPr>
          <p:cNvPr id="12" name="8815d4da-eb0e-4e8f-8704-3205855030fc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0716768" y="2245058"/>
            <a:ext cx="365760" cy="365760"/>
          </a:xfrm>
          <a:prstGeom prst="rect">
            <a:avLst/>
          </a:prstGeom>
        </p:spPr>
      </p:pic>
      <p:sp>
        <p:nvSpPr>
          <p:cNvPr id="13" name="b671f86a-65e2-4285-bf77-d7c7b9094be9"/>
          <p:cNvSpPr/>
          <p:nvPr/>
        </p:nvSpPr>
        <p:spPr>
          <a:xfrm>
            <a:off x="548640" y="2762641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19937036-4596-4819-9df7-1a8fa2ec80d2"/>
          <p:cNvSpPr/>
          <p:nvPr/>
        </p:nvSpPr>
        <p:spPr>
          <a:xfrm>
            <a:off x="731520" y="2796581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kafka-readonly</a:t>
            </a:r>
            <a:endParaRPr lang="en-US" sz="1300" dirty="0"/>
          </a:p>
        </p:txBody>
      </p:sp>
      <p:sp>
        <p:nvSpPr>
          <p:cNvPr id="15" name="f8b7f835-d3f6-4b9c-bfbe-378818ff0efc"/>
          <p:cNvSpPr/>
          <p:nvPr/>
        </p:nvSpPr>
        <p:spPr>
          <a:xfrm>
            <a:off x="2834640" y="2796581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050" dirty="0"/>
          </a:p>
        </p:txBody>
      </p:sp>
      <p:pic>
        <p:nvPicPr>
          <p:cNvPr id="16" name="f06de7a7-9e7b-42da-916b-fd9849944df4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190488" y="2855976"/>
            <a:ext cx="365760" cy="365760"/>
          </a:xfrm>
          <a:prstGeom prst="rect">
            <a:avLst/>
          </a:prstGeom>
        </p:spPr>
      </p:pic>
      <p:pic>
        <p:nvPicPr>
          <p:cNvPr id="17" name="fdfaa8b6-d353-4f26-9a60-7edae3b23ac6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699248" y="2855976"/>
            <a:ext cx="365760" cy="365760"/>
          </a:xfrm>
          <a:prstGeom prst="rect">
            <a:avLst/>
          </a:prstGeom>
        </p:spPr>
      </p:pic>
      <p:pic>
        <p:nvPicPr>
          <p:cNvPr id="18" name="c1c4ca6d-e8c0-4a69-a067-3eb02ce491ad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9208008" y="2855976"/>
            <a:ext cx="365760" cy="365760"/>
          </a:xfrm>
          <a:prstGeom prst="rect">
            <a:avLst/>
          </a:prstGeom>
        </p:spPr>
      </p:pic>
      <p:pic>
        <p:nvPicPr>
          <p:cNvPr id="19" name="68fb7502-b274-40fe-8516-e88cb771ffb2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10716768" y="2855976"/>
            <a:ext cx="365760" cy="365760"/>
          </a:xfrm>
          <a:prstGeom prst="rect">
            <a:avLst/>
          </a:prstGeom>
        </p:spPr>
      </p:pic>
      <p:sp>
        <p:nvSpPr>
          <p:cNvPr id="20" name="68d0f0cc-4f81-4571-b167-9fc6e43b5374"/>
          <p:cNvSpPr/>
          <p:nvPr/>
        </p:nvSpPr>
        <p:spPr>
          <a:xfrm>
            <a:off x="548640" y="3373559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1" name="acaa1597-0da2-4b84-929b-491abd283436"/>
          <p:cNvSpPr/>
          <p:nvPr/>
        </p:nvSpPr>
        <p:spPr>
          <a:xfrm>
            <a:off x="731520" y="3407499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kafka-ops</a:t>
            </a:r>
            <a:endParaRPr lang="en-US" sz="1300" dirty="0"/>
          </a:p>
        </p:txBody>
      </p:sp>
      <p:sp>
        <p:nvSpPr>
          <p:cNvPr id="22" name="da741e7c-17ae-4708-bdb1-b71ce9d18536"/>
          <p:cNvSpPr/>
          <p:nvPr/>
        </p:nvSpPr>
        <p:spPr>
          <a:xfrm>
            <a:off x="2834640" y="3407499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 + DeveloperManage(infra. 前綴)</a:t>
            </a:r>
            <a:endParaRPr lang="en-US" sz="1050" dirty="0"/>
          </a:p>
        </p:txBody>
      </p:sp>
      <p:pic>
        <p:nvPicPr>
          <p:cNvPr id="23" name="fa57dde5-71c0-4b1f-aab3-d5da6c031a61" descr="preencoded.png">    </p:cNvPr>
          <p:cNvPicPr>
            <a:picLocks noChangeAspect="1"/>
          </p:cNvPicPr>
          <p:nvPr/>
        </p:nvPicPr>
        <p:blipFill>
          <a:blip r:embed="rId10-created"/>
          <a:stretch>
            <a:fillRect/>
          </a:stretch>
        </p:blipFill>
        <p:spPr>
          <a:xfrm>
            <a:off x="6190488" y="3466894"/>
            <a:ext cx="365760" cy="365760"/>
          </a:xfrm>
          <a:prstGeom prst="rect">
            <a:avLst/>
          </a:prstGeom>
        </p:spPr>
      </p:pic>
      <p:pic>
        <p:nvPicPr>
          <p:cNvPr id="24" name="a3cbb87e-6ea2-4ed7-b3a8-7d80e3e2f4f3" descr="preencoded.png">    </p:cNvPr>
          <p:cNvPicPr>
            <a:picLocks noChangeAspect="1"/>
          </p:cNvPicPr>
          <p:nvPr/>
        </p:nvPicPr>
        <p:blipFill>
          <a:blip r:embed="rId11-created"/>
          <a:stretch>
            <a:fillRect/>
          </a:stretch>
        </p:blipFill>
        <p:spPr>
          <a:xfrm>
            <a:off x="7699248" y="3466894"/>
            <a:ext cx="365760" cy="365760"/>
          </a:xfrm>
          <a:prstGeom prst="rect">
            <a:avLst/>
          </a:prstGeom>
        </p:spPr>
      </p:pic>
      <p:pic>
        <p:nvPicPr>
          <p:cNvPr id="25" name="2d96d713-1798-4b8b-9720-12ccf69a697d" descr="preencoded.png">    </p:cNvPr>
          <p:cNvPicPr>
            <a:picLocks noChangeAspect="1"/>
          </p:cNvPicPr>
          <p:nvPr/>
        </p:nvPicPr>
        <p:blipFill>
          <a:blip r:embed="rId12-created"/>
          <a:stretch>
            <a:fillRect/>
          </a:stretch>
        </p:blipFill>
        <p:spPr>
          <a:xfrm>
            <a:off x="9208008" y="3466894"/>
            <a:ext cx="365760" cy="365760"/>
          </a:xfrm>
          <a:prstGeom prst="rect">
            <a:avLst/>
          </a:prstGeom>
        </p:spPr>
      </p:pic>
      <p:pic>
        <p:nvPicPr>
          <p:cNvPr id="26" name="c4224cc5-3d52-4e31-a95c-00c53b3956e6" descr="preencoded.png">    </p:cNvPr>
          <p:cNvPicPr>
            <a:picLocks noChangeAspect="1"/>
          </p:cNvPicPr>
          <p:nvPr/>
        </p:nvPicPr>
        <p:blipFill>
          <a:blip r:embed="rId13-created"/>
          <a:stretch>
            <a:fillRect/>
          </a:stretch>
        </p:blipFill>
        <p:spPr>
          <a:xfrm>
            <a:off x="10716768" y="3466894"/>
            <a:ext cx="365760" cy="365760"/>
          </a:xfrm>
          <a:prstGeom prst="rect">
            <a:avLst/>
          </a:prstGeom>
        </p:spPr>
      </p:pic>
      <p:sp>
        <p:nvSpPr>
          <p:cNvPr id="27" name="86dd74cf-0ae1-49ca-8662-e067c8552545"/>
          <p:cNvSpPr/>
          <p:nvPr/>
        </p:nvSpPr>
        <p:spPr>
          <a:xfrm>
            <a:off x="548640" y="3984477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8" name="634d60a3-6d80-49d5-ae8a-284c80f72e97"/>
          <p:cNvSpPr/>
          <p:nvPr/>
        </p:nvSpPr>
        <p:spPr>
          <a:xfrm>
            <a:off x="731520" y="4018417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kafka-rbac-admins</a:t>
            </a:r>
            <a:endParaRPr lang="en-US" sz="1300" dirty="0"/>
          </a:p>
        </p:txBody>
      </p:sp>
      <p:sp>
        <p:nvSpPr>
          <p:cNvPr id="29" name="3cd73602-9247-4840-9e80-79e355b3b721"/>
          <p:cNvSpPr/>
          <p:nvPr/>
        </p:nvSpPr>
        <p:spPr>
          <a:xfrm>
            <a:off x="2834640" y="4018417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050" dirty="0"/>
          </a:p>
        </p:txBody>
      </p:sp>
      <p:pic>
        <p:nvPicPr>
          <p:cNvPr id="30" name="a6269d5e-d169-4e7d-90e8-582dad370f48" descr="preencoded.png">    </p:cNvPr>
          <p:cNvPicPr>
            <a:picLocks noChangeAspect="1"/>
          </p:cNvPicPr>
          <p:nvPr/>
        </p:nvPicPr>
        <p:blipFill>
          <a:blip r:embed="rId14-created"/>
          <a:stretch>
            <a:fillRect/>
          </a:stretch>
        </p:blipFill>
        <p:spPr>
          <a:xfrm>
            <a:off x="6190488" y="4077812"/>
            <a:ext cx="365760" cy="365760"/>
          </a:xfrm>
          <a:prstGeom prst="rect">
            <a:avLst/>
          </a:prstGeom>
        </p:spPr>
      </p:pic>
      <p:pic>
        <p:nvPicPr>
          <p:cNvPr id="31" name="90c201f2-e6de-423a-bdce-c44620575a9b" descr="preencoded.png">    </p:cNvPr>
          <p:cNvPicPr>
            <a:picLocks noChangeAspect="1"/>
          </p:cNvPicPr>
          <p:nvPr/>
        </p:nvPicPr>
        <p:blipFill>
          <a:blip r:embed="rId15-created"/>
          <a:stretch>
            <a:fillRect/>
          </a:stretch>
        </p:blipFill>
        <p:spPr>
          <a:xfrm>
            <a:off x="7699248" y="4077812"/>
            <a:ext cx="365760" cy="365760"/>
          </a:xfrm>
          <a:prstGeom prst="rect">
            <a:avLst/>
          </a:prstGeom>
        </p:spPr>
      </p:pic>
      <p:pic>
        <p:nvPicPr>
          <p:cNvPr id="32" name="6af4e5e4-abb3-437e-8d9f-69a6f0c61f41" descr="preencoded.png">    </p:cNvPr>
          <p:cNvPicPr>
            <a:picLocks noChangeAspect="1"/>
          </p:cNvPicPr>
          <p:nvPr/>
        </p:nvPicPr>
        <p:blipFill>
          <a:blip r:embed="rId16-created"/>
          <a:stretch>
            <a:fillRect/>
          </a:stretch>
        </p:blipFill>
        <p:spPr>
          <a:xfrm>
            <a:off x="9208008" y="4077812"/>
            <a:ext cx="365760" cy="365760"/>
          </a:xfrm>
          <a:prstGeom prst="rect">
            <a:avLst/>
          </a:prstGeom>
        </p:spPr>
      </p:pic>
      <p:pic>
        <p:nvPicPr>
          <p:cNvPr id="33" name="0f45cdb7-c4eb-4ed9-b5ca-17e469ea9b05" descr="preencoded.png">    </p:cNvPr>
          <p:cNvPicPr>
            <a:picLocks noChangeAspect="1"/>
          </p:cNvPicPr>
          <p:nvPr/>
        </p:nvPicPr>
        <p:blipFill>
          <a:blip r:embed="rId17-created"/>
          <a:stretch>
            <a:fillRect/>
          </a:stretch>
        </p:blipFill>
        <p:spPr>
          <a:xfrm>
            <a:off x="10716768" y="4077812"/>
            <a:ext cx="365760" cy="365760"/>
          </a:xfrm>
          <a:prstGeom prst="rect">
            <a:avLst/>
          </a:prstGeom>
        </p:spPr>
      </p:pic>
      <p:sp>
        <p:nvSpPr>
          <p:cNvPr id="34" name="c0c60891-4e9e-4377-a8ac-13e9aaa50005"/>
          <p:cNvSpPr/>
          <p:nvPr/>
        </p:nvSpPr>
        <p:spPr>
          <a:xfrm>
            <a:off x="548640" y="4595395"/>
            <a:ext cx="10927080" cy="526068"/>
          </a:xfrm>
          <a:prstGeom prst="roundRect">
            <a:avLst>
              <a:gd name="adj" fmla="val 108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5" name="0d7fbc42-c78d-4223-82e7-206aaa16bd7d"/>
          <p:cNvSpPr/>
          <p:nvPr/>
        </p:nvSpPr>
        <p:spPr>
          <a:xfrm>
            <a:off x="731520" y="4629335"/>
            <a:ext cx="22860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kafka-admins</a:t>
            </a:r>
            <a:endParaRPr lang="en-US" sz="1300" dirty="0"/>
          </a:p>
        </p:txBody>
      </p:sp>
      <p:sp>
        <p:nvSpPr>
          <p:cNvPr id="36" name="645f2a6e-4166-48f3-8487-39781f40705a"/>
          <p:cNvSpPr/>
          <p:nvPr/>
        </p:nvSpPr>
        <p:spPr>
          <a:xfrm>
            <a:off x="2834640" y="4629335"/>
            <a:ext cx="283464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SystemAdmin(break-glass)</a:t>
            </a:r>
            <a:endParaRPr lang="en-US" sz="1050" dirty="0"/>
          </a:p>
        </p:txBody>
      </p:sp>
      <p:pic>
        <p:nvPicPr>
          <p:cNvPr id="37" name="b7dad541-cf47-4591-9497-d67931b9fcae" descr="preencoded.png">    </p:cNvPr>
          <p:cNvPicPr>
            <a:picLocks noChangeAspect="1"/>
          </p:cNvPicPr>
          <p:nvPr/>
        </p:nvPicPr>
        <p:blipFill>
          <a:blip r:embed="rId18-created"/>
          <a:stretch>
            <a:fillRect/>
          </a:stretch>
        </p:blipFill>
        <p:spPr>
          <a:xfrm>
            <a:off x="6190488" y="4688730"/>
            <a:ext cx="365760" cy="365760"/>
          </a:xfrm>
          <a:prstGeom prst="rect">
            <a:avLst/>
          </a:prstGeom>
        </p:spPr>
      </p:pic>
      <p:pic>
        <p:nvPicPr>
          <p:cNvPr id="38" name="2838ef57-2e77-4e6e-85d2-21906613d05c" descr="preencoded.png">    </p:cNvPr>
          <p:cNvPicPr>
            <a:picLocks noChangeAspect="1"/>
          </p:cNvPicPr>
          <p:nvPr/>
        </p:nvPicPr>
        <p:blipFill>
          <a:blip r:embed="rId19-created"/>
          <a:stretch>
            <a:fillRect/>
          </a:stretch>
        </p:blipFill>
        <p:spPr>
          <a:xfrm>
            <a:off x="7699248" y="4688730"/>
            <a:ext cx="365760" cy="365760"/>
          </a:xfrm>
          <a:prstGeom prst="rect">
            <a:avLst/>
          </a:prstGeom>
        </p:spPr>
      </p:pic>
      <p:pic>
        <p:nvPicPr>
          <p:cNvPr id="39" name="8ce9b00f-1690-4b46-8487-9358a951ce6a" descr="preencoded.png">    </p:cNvPr>
          <p:cNvPicPr>
            <a:picLocks noChangeAspect="1"/>
          </p:cNvPicPr>
          <p:nvPr/>
        </p:nvPicPr>
        <p:blipFill>
          <a:blip r:embed="rId20-created"/>
          <a:stretch>
            <a:fillRect/>
          </a:stretch>
        </p:blipFill>
        <p:spPr>
          <a:xfrm>
            <a:off x="9208008" y="4688730"/>
            <a:ext cx="365760" cy="365760"/>
          </a:xfrm>
          <a:prstGeom prst="rect">
            <a:avLst/>
          </a:prstGeom>
        </p:spPr>
      </p:pic>
      <p:pic>
        <p:nvPicPr>
          <p:cNvPr id="40" name="410afbf0-c47b-4b19-bd3c-9b74eaba15a8" descr="preencoded.png">    </p:cNvPr>
          <p:cNvPicPr>
            <a:picLocks noChangeAspect="1"/>
          </p:cNvPicPr>
          <p:nvPr/>
        </p:nvPicPr>
        <p:blipFill>
          <a:blip r:embed="rId21-created"/>
          <a:stretch>
            <a:fillRect/>
          </a:stretch>
        </p:blipFill>
        <p:spPr>
          <a:xfrm>
            <a:off x="10716768" y="4688730"/>
            <a:ext cx="365760" cy="365760"/>
          </a:xfrm>
          <a:prstGeom prst="rect">
            <a:avLst/>
          </a:prstGeom>
        </p:spPr>
      </p:pic>
      <p:sp>
        <p:nvSpPr>
          <p:cNvPr id="41" name="251bbeb6-6d8f-4f56-b1ca-11fd4b68b68a"/>
          <p:cNvSpPr/>
          <p:nvPr/>
        </p:nvSpPr>
        <p:spPr>
          <a:xfrm>
            <a:off x="297180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2" name="d76f987f-e574-41f0-b289-e8268b2e1a61"/>
          <p:cNvSpPr/>
          <p:nvPr/>
        </p:nvSpPr>
        <p:spPr>
          <a:xfrm>
            <a:off x="54864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加入群組</a:t>
            </a:r>
            <a:endParaRPr lang="en-US" sz="1400" dirty="0"/>
          </a:p>
        </p:txBody>
      </p:sp>
      <p:sp>
        <p:nvSpPr>
          <p:cNvPr id="43" name="6a271b7c-1b14-40ef-a661-64ffb5aadfbb"/>
          <p:cNvSpPr/>
          <p:nvPr/>
        </p:nvSpPr>
        <p:spPr>
          <a:xfrm>
            <a:off x="576072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4" name="934ec9cb-c1f9-44b8-8589-7f8b968a10d5"/>
          <p:cNvSpPr/>
          <p:nvPr/>
        </p:nvSpPr>
        <p:spPr>
          <a:xfrm>
            <a:off x="333756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做事</a:t>
            </a:r>
            <a:endParaRPr lang="en-US" sz="1400" dirty="0"/>
          </a:p>
        </p:txBody>
      </p:sp>
      <p:sp>
        <p:nvSpPr>
          <p:cNvPr id="45" name="8b562258-7de3-4560-89b3-f270ee10679f"/>
          <p:cNvSpPr/>
          <p:nvPr/>
        </p:nvSpPr>
        <p:spPr>
          <a:xfrm>
            <a:off x="8549640" y="5460863"/>
            <a:ext cx="365760" cy="0"/>
          </a:xfrm>
          <a:prstGeom prst="line">
            <a:avLst/>
          </a:prstGeom>
          <a:noFill/>
          <a:ln w="254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46" name="8efbbd44-93e1-4a42-8956-d0bd5f7d194e"/>
          <p:cNvSpPr/>
          <p:nvPr/>
        </p:nvSpPr>
        <p:spPr>
          <a:xfrm>
            <a:off x="612648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156082">
              <a:alpha val="15000"/>
            </a:srgbClr>
          </a:solidFill>
          <a:ln w="1905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移出群組</a:t>
            </a:r>
            <a:endParaRPr lang="en-US" sz="1400" dirty="0"/>
          </a:p>
        </p:txBody>
      </p:sp>
      <p:sp>
        <p:nvSpPr>
          <p:cNvPr id="47" name="89a6c6ca-31b8-4e7a-8e22-8a405952c092"/>
          <p:cNvSpPr/>
          <p:nvPr/>
        </p:nvSpPr>
        <p:spPr>
          <a:xfrm>
            <a:off x="8915400" y="5206314"/>
            <a:ext cx="2423160" cy="509098"/>
          </a:xfrm>
          <a:prstGeom prst="roundRect">
            <a:avLst>
              <a:gd name="adj" fmla="val 36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全程留痕</a:t>
            </a:r>
            <a:endParaRPr lang="en-US" sz="1400" dirty="0"/>
          </a:p>
        </p:txBody>
      </p:sp>
      <p:sp>
        <p:nvSpPr>
          <p:cNvPr id="48" name="16c610b9-026c-4772-9129-e89391a14c60"/>
          <p:cNvSpPr/>
          <p:nvPr/>
        </p:nvSpPr>
        <p:spPr>
          <a:xfrm>
            <a:off x="548640" y="5842686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臨時提權:依單據加進 kafka-ops / kafka-rbac-admins,做完移出;移出後最長約 60 秒(預設刷新)才收回,Kafka 端零變更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Confluent 內建角色與 scope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十個內建角色,依「綁在叢集」或「綁在資源」分兩類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e2e8e53-2d58-438f-b35b-e49286b2a26d"/>
          <p:cNvSpPr/>
          <p:nvPr/>
        </p:nvSpPr>
        <p:spPr>
          <a:xfrm>
            <a:off x="411480" y="1642625"/>
            <a:ext cx="5669280" cy="2460642"/>
          </a:xfrm>
          <a:prstGeom prst="roundRect">
            <a:avLst>
              <a:gd name="adj" fmla="val 2700"/>
            </a:avLst>
          </a:prstGeom>
          <a:solidFill>
            <a:srgbClr val="7A4EAB">
              <a:alpha val="12000"/>
            </a:srgbClr>
          </a:solidFill>
          <a:ln w="12700">
            <a:solidFill>
              <a:srgbClr val="7A4EAB"/>
            </a:solidFill>
            <a:prstDash val="solid"/>
          </a:ln>
        </p:spPr>
      </p:sp>
      <p:sp>
        <p:nvSpPr>
          <p:cNvPr id="3" name="d1588820-0707-453d-8605-1863d2c7ebea"/>
          <p:cNvSpPr/>
          <p:nvPr/>
        </p:nvSpPr>
        <p:spPr>
          <a:xfrm>
            <a:off x="548640" y="1685050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叢集範圍(Cluster scope):綁在整個叢集</a:t>
            </a:r>
            <a:endParaRPr lang="en-US" sz="1250" dirty="0"/>
          </a:p>
        </p:txBody>
      </p:sp>
      <p:sp>
        <p:nvSpPr>
          <p:cNvPr id="4" name="c7685b74-8ce3-4fcf-8fae-7d04bd07b977"/>
          <p:cNvSpPr/>
          <p:nvPr/>
        </p:nvSpPr>
        <p:spPr>
          <a:xfrm>
            <a:off x="548640" y="200747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SystemAdmin</a:t>
            </a:r>
            <a:endParaRPr lang="en-US" sz="1100" dirty="0"/>
          </a:p>
        </p:txBody>
      </p:sp>
      <p:sp>
        <p:nvSpPr>
          <p:cNvPr id="5" name="3d4d8d6e-96c3-44b7-a339-5be80bed2a31"/>
          <p:cNvSpPr/>
          <p:nvPr/>
        </p:nvSpPr>
        <p:spPr>
          <a:xfrm>
            <a:off x="2331720" y="202444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全部權限(含改授權);break-glass</a:t>
            </a:r>
            <a:endParaRPr lang="en-US" sz="1100" dirty="0"/>
          </a:p>
        </p:txBody>
      </p:sp>
      <p:sp>
        <p:nvSpPr>
          <p:cNvPr id="6" name="fd5de8bc-f962-47e9-9dec-52d6ec6390c7"/>
          <p:cNvSpPr/>
          <p:nvPr/>
        </p:nvSpPr>
        <p:spPr>
          <a:xfrm>
            <a:off x="548640" y="236384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UserAdmin</a:t>
            </a:r>
            <a:endParaRPr lang="en-US" sz="1100" dirty="0"/>
          </a:p>
        </p:txBody>
      </p:sp>
      <p:sp>
        <p:nvSpPr>
          <p:cNvPr id="7" name="c87f4308-505e-40eb-ac65-3741c1fd7c09"/>
          <p:cNvSpPr/>
          <p:nvPr/>
        </p:nvSpPr>
        <p:spPr>
          <a:xfrm>
            <a:off x="2331720" y="238081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管理授權(role binding),不碰資料</a:t>
            </a:r>
            <a:endParaRPr lang="en-US" sz="1100" dirty="0"/>
          </a:p>
        </p:txBody>
      </p:sp>
      <p:sp>
        <p:nvSpPr>
          <p:cNvPr id="8" name="5c0880d7-fca1-4c5e-8fc9-ad80165d96e9"/>
          <p:cNvSpPr/>
          <p:nvPr/>
        </p:nvSpPr>
        <p:spPr>
          <a:xfrm>
            <a:off x="548640" y="2720216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ClusterAdmin</a:t>
            </a:r>
            <a:endParaRPr lang="en-US" sz="1100" dirty="0"/>
          </a:p>
        </p:txBody>
      </p:sp>
      <p:sp>
        <p:nvSpPr>
          <p:cNvPr id="9" name="d58891b9-88a1-49e2-9435-3668f87814cd"/>
          <p:cNvSpPr/>
          <p:nvPr/>
        </p:nvSpPr>
        <p:spPr>
          <a:xfrm>
            <a:off x="2331720" y="2737186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叢集與 topic 設定,不能讀寫資料</a:t>
            </a:r>
            <a:endParaRPr lang="en-US" sz="1100" dirty="0"/>
          </a:p>
        </p:txBody>
      </p:sp>
      <p:sp>
        <p:nvSpPr>
          <p:cNvPr id="10" name="07feca4b-985a-4109-9bbd-581c50b4ca8b"/>
          <p:cNvSpPr/>
          <p:nvPr/>
        </p:nvSpPr>
        <p:spPr>
          <a:xfrm>
            <a:off x="548640" y="3076585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Operator</a:t>
            </a:r>
            <a:endParaRPr lang="en-US" sz="1100" dirty="0"/>
          </a:p>
        </p:txBody>
      </p:sp>
      <p:sp>
        <p:nvSpPr>
          <p:cNvPr id="11" name="3fb762e4-7a20-4c06-8641-d317f8d79a57"/>
          <p:cNvSpPr/>
          <p:nvPr/>
        </p:nvSpPr>
        <p:spPr>
          <a:xfrm>
            <a:off x="2331720" y="3093555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營運與監控,不能建 topic、不能讀寫</a:t>
            </a:r>
            <a:endParaRPr lang="en-US" sz="1100" dirty="0"/>
          </a:p>
        </p:txBody>
      </p:sp>
      <p:sp>
        <p:nvSpPr>
          <p:cNvPr id="12" name="8cb719d0-38da-4117-b3f4-8aacb0a2435a"/>
          <p:cNvSpPr/>
          <p:nvPr/>
        </p:nvSpPr>
        <p:spPr>
          <a:xfrm>
            <a:off x="548640" y="3432954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SecurityAdmin</a:t>
            </a:r>
            <a:endParaRPr lang="en-US" sz="1100" dirty="0"/>
          </a:p>
        </p:txBody>
      </p:sp>
      <p:sp>
        <p:nvSpPr>
          <p:cNvPr id="13" name="11a8af57-aaee-4286-b034-15ec3017712c"/>
          <p:cNvSpPr/>
          <p:nvPr/>
        </p:nvSpPr>
        <p:spPr>
          <a:xfrm>
            <a:off x="2331720" y="3449924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只檢視授權設定,不能改</a:t>
            </a:r>
            <a:endParaRPr lang="en-US" sz="1100" dirty="0"/>
          </a:p>
        </p:txBody>
      </p:sp>
      <p:sp>
        <p:nvSpPr>
          <p:cNvPr id="14" name="3d55c861-36e6-4a5f-9eff-298847d32993"/>
          <p:cNvSpPr/>
          <p:nvPr/>
        </p:nvSpPr>
        <p:spPr>
          <a:xfrm>
            <a:off x="548640" y="3789323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AuditAdmin</a:t>
            </a:r>
            <a:endParaRPr lang="en-US" sz="1100" dirty="0"/>
          </a:p>
        </p:txBody>
      </p:sp>
      <p:sp>
        <p:nvSpPr>
          <p:cNvPr id="15" name="580bd162-cae0-4d7f-b3bd-e8cdebb08bd4"/>
          <p:cNvSpPr/>
          <p:nvPr/>
        </p:nvSpPr>
        <p:spPr>
          <a:xfrm>
            <a:off x="2331720" y="3806293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管理稽核(audit)設定</a:t>
            </a:r>
            <a:endParaRPr lang="en-US" sz="1100" dirty="0"/>
          </a:p>
        </p:txBody>
      </p:sp>
      <p:sp>
        <p:nvSpPr>
          <p:cNvPr id="16" name="7eac3b19-7a46-4d67-8e3a-0c7ca5fe00ad"/>
          <p:cNvSpPr/>
          <p:nvPr/>
        </p:nvSpPr>
        <p:spPr>
          <a:xfrm>
            <a:off x="411480" y="4188117"/>
            <a:ext cx="5669280" cy="1824269"/>
          </a:xfrm>
          <a:prstGeom prst="roundRect">
            <a:avLst>
              <a:gd name="adj" fmla="val 27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  <a:prstDash val="solid"/>
          </a:ln>
        </p:spPr>
      </p:sp>
      <p:sp>
        <p:nvSpPr>
          <p:cNvPr id="17" name="69736909-6b1e-4897-9f03-abf5d0a30469"/>
          <p:cNvSpPr/>
          <p:nvPr/>
        </p:nvSpPr>
        <p:spPr>
          <a:xfrm>
            <a:off x="548640" y="4230542"/>
            <a:ext cx="54864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資源範圍(Resource scope):綁在指定資源</a:t>
            </a:r>
            <a:endParaRPr lang="en-US" sz="1250" dirty="0"/>
          </a:p>
        </p:txBody>
      </p:sp>
      <p:sp>
        <p:nvSpPr>
          <p:cNvPr id="18" name="32a37429-cbb3-4d37-b83b-012d8b81a1e2"/>
          <p:cNvSpPr/>
          <p:nvPr/>
        </p:nvSpPr>
        <p:spPr>
          <a:xfrm>
            <a:off x="548640" y="4552971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ResourceOwner</a:t>
            </a:r>
            <a:endParaRPr lang="en-US" sz="1100" dirty="0"/>
          </a:p>
        </p:txBody>
      </p:sp>
      <p:sp>
        <p:nvSpPr>
          <p:cNvPr id="19" name="d8d5ca7e-c382-43a6-811a-8260c8926875"/>
          <p:cNvSpPr/>
          <p:nvPr/>
        </p:nvSpPr>
        <p:spPr>
          <a:xfrm>
            <a:off x="2331720" y="4569941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對該資源全權(含授權該資源)</a:t>
            </a:r>
            <a:endParaRPr lang="en-US" sz="1100" dirty="0"/>
          </a:p>
        </p:txBody>
      </p:sp>
      <p:sp>
        <p:nvSpPr>
          <p:cNvPr id="20" name="bc8de3e7-70c8-44da-a2b3-dd16d706265b"/>
          <p:cNvSpPr/>
          <p:nvPr/>
        </p:nvSpPr>
        <p:spPr>
          <a:xfrm>
            <a:off x="548640" y="4909339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DeveloperRead</a:t>
            </a:r>
            <a:endParaRPr lang="en-US" sz="1100" dirty="0"/>
          </a:p>
        </p:txBody>
      </p:sp>
      <p:sp>
        <p:nvSpPr>
          <p:cNvPr id="21" name="158a4393-aadb-412a-aa13-adc426dd29f3"/>
          <p:cNvSpPr/>
          <p:nvPr/>
        </p:nvSpPr>
        <p:spPr>
          <a:xfrm>
            <a:off x="2331720" y="4926309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讀 topic、加入 consumer group</a:t>
            </a:r>
            <a:endParaRPr lang="en-US" sz="1100" dirty="0"/>
          </a:p>
        </p:txBody>
      </p:sp>
      <p:sp>
        <p:nvSpPr>
          <p:cNvPr id="22" name="a6532ee2-2639-4b51-9332-f952f28ca993"/>
          <p:cNvSpPr/>
          <p:nvPr/>
        </p:nvSpPr>
        <p:spPr>
          <a:xfrm>
            <a:off x="548640" y="5265708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DeveloperWrite</a:t>
            </a:r>
            <a:endParaRPr lang="en-US" sz="1100" dirty="0"/>
          </a:p>
        </p:txBody>
      </p:sp>
      <p:sp>
        <p:nvSpPr>
          <p:cNvPr id="23" name="37d33d63-f531-406d-917a-b8b2cd002a37"/>
          <p:cNvSpPr/>
          <p:nvPr/>
        </p:nvSpPr>
        <p:spPr>
          <a:xfrm>
            <a:off x="2331720" y="5282678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寫 topic(含 idempotent 寫入)</a:t>
            </a:r>
            <a:endParaRPr lang="en-US" sz="1100" dirty="0"/>
          </a:p>
        </p:txBody>
      </p:sp>
      <p:sp>
        <p:nvSpPr>
          <p:cNvPr id="24" name="f53622ca-46c0-4c71-a46d-e561475a6b84"/>
          <p:cNvSpPr/>
          <p:nvPr/>
        </p:nvSpPr>
        <p:spPr>
          <a:xfrm>
            <a:off x="548640" y="5622077"/>
            <a:ext cx="1691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DeveloperManage</a:t>
            </a:r>
            <a:endParaRPr lang="en-US" sz="1100" dirty="0"/>
          </a:p>
        </p:txBody>
      </p:sp>
      <p:sp>
        <p:nvSpPr>
          <p:cNvPr id="25" name="711b0edf-ff20-45d7-8a10-842aed385fe9"/>
          <p:cNvSpPr/>
          <p:nvPr/>
        </p:nvSpPr>
        <p:spPr>
          <a:xfrm>
            <a:off x="2331720" y="5639047"/>
            <a:ext cx="3611880" cy="28848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1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管理資源(建 / 刪 topic),不能改設定</a:t>
            </a:r>
            <a:endParaRPr lang="en-US" sz="1100" dirty="0"/>
          </a:p>
        </p:txBody>
      </p:sp>
      <p:sp>
        <p:nvSpPr>
          <p:cNvPr id="26" name="25038986-3492-46d2-9c4a-6f333fbe2e3b"/>
          <p:cNvSpPr/>
          <p:nvPr/>
        </p:nvSpPr>
        <p:spPr>
          <a:xfrm>
            <a:off x="6309360" y="1642625"/>
            <a:ext cx="5330952" cy="4369761"/>
          </a:xfrm>
          <a:prstGeom prst="roundRect">
            <a:avLst>
              <a:gd name="adj" fmla="val 2700"/>
            </a:avLst>
          </a:prstGeom>
          <a:solidFill>
            <a:srgbClr val="FFFFFF"/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ec765d74-ba3d-4c0a-914c-9ac32fe005b8"/>
          <p:cNvSpPr/>
          <p:nvPr/>
        </p:nvSpPr>
        <p:spPr>
          <a:xfrm>
            <a:off x="6446520" y="1685050"/>
            <a:ext cx="50292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scope 圖:role binding 綁在哪一層</a:t>
            </a:r>
            <a:endParaRPr lang="en-US" sz="1250" dirty="0"/>
          </a:p>
        </p:txBody>
      </p:sp>
      <p:sp>
        <p:nvSpPr>
          <p:cNvPr id="28" name="330053bf-eea4-4336-bc10-a41406449067"/>
          <p:cNvSpPr/>
          <p:nvPr/>
        </p:nvSpPr>
        <p:spPr>
          <a:xfrm>
            <a:off x="6492240" y="2024449"/>
            <a:ext cx="4965192" cy="3393989"/>
          </a:xfrm>
          <a:prstGeom prst="roundRect">
            <a:avLst>
              <a:gd name="adj" fmla="val 36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  <a:prstDash val="solid"/>
          </a:ln>
        </p:spPr>
      </p:sp>
      <p:sp>
        <p:nvSpPr>
          <p:cNvPr id="29" name="f5d9fcf7-4def-474e-9dbf-e618d75ca590"/>
          <p:cNvSpPr/>
          <p:nvPr/>
        </p:nvSpPr>
        <p:spPr>
          <a:xfrm>
            <a:off x="6629400" y="2066874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叢集(scope = 叢集 ID)</a:t>
            </a:r>
            <a:endParaRPr lang="en-US" sz="1200" dirty="0"/>
          </a:p>
        </p:txBody>
      </p:sp>
      <p:sp>
        <p:nvSpPr>
          <p:cNvPr id="30" name="bd30b1af-30b1-404e-bde2-3591a4ebab5c"/>
          <p:cNvSpPr/>
          <p:nvPr/>
        </p:nvSpPr>
        <p:spPr>
          <a:xfrm>
            <a:off x="6675120" y="2363848"/>
            <a:ext cx="4599432" cy="466674"/>
          </a:xfrm>
          <a:prstGeom prst="roundRect">
            <a:avLst>
              <a:gd name="adj" fmla="val 18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</a:ln>
        </p:spPr>
        <p:txBody>
          <a:bodyPr wrap="square" lIns="45720" tIns="45720" rIns="45720" bIns="4572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叢集範圍角色綁這層 → 整個叢集都適用</a:t>
            </a:r>
            <a:endParaRPr lang="en-US" sz="1150" dirty="0"/>
          </a:p>
        </p:txBody>
      </p:sp>
      <p:sp>
        <p:nvSpPr>
          <p:cNvPr id="31" name="2da9e8f1-10a5-49eb-8640-b6d61442b957"/>
          <p:cNvSpPr/>
          <p:nvPr/>
        </p:nvSpPr>
        <p:spPr>
          <a:xfrm>
            <a:off x="6629400" y="2915371"/>
            <a:ext cx="475488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叢集裡的資源 + 比對方式</a:t>
            </a:r>
            <a:endParaRPr lang="en-US" sz="1200" dirty="0"/>
          </a:p>
        </p:txBody>
      </p:sp>
      <p:sp>
        <p:nvSpPr>
          <p:cNvPr id="32" name="e8b5c0b5-7af6-4ff5-9b14-954245517463"/>
          <p:cNvSpPr/>
          <p:nvPr/>
        </p:nvSpPr>
        <p:spPr>
          <a:xfrm>
            <a:off x="6675120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  (PREFIXED)</a:t>
            </a:r>
            <a:endParaRPr lang="en-US" sz="1050" dirty="0"/>
          </a:p>
        </p:txBody>
      </p:sp>
      <p:sp>
        <p:nvSpPr>
          <p:cNvPr id="33" name="3a013809-f57d-4e65-bf99-57c3af4046b3"/>
          <p:cNvSpPr/>
          <p:nvPr/>
        </p:nvSpPr>
        <p:spPr>
          <a:xfrm>
            <a:off x="9025128" y="3212345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infra.  (PREFIXED)</a:t>
            </a:r>
            <a:endParaRPr lang="en-US" sz="1050" dirty="0"/>
          </a:p>
        </p:txBody>
      </p:sp>
      <p:sp>
        <p:nvSpPr>
          <p:cNvPr id="34" name="98fb4ca0-5cda-45a6-adb2-9f6ee88299ca"/>
          <p:cNvSpPr/>
          <p:nvPr/>
        </p:nvSpPr>
        <p:spPr>
          <a:xfrm>
            <a:off x="6675120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Group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demo-  (PREFIXED)</a:t>
            </a:r>
            <a:endParaRPr lang="en-US" sz="1050" dirty="0"/>
          </a:p>
        </p:txBody>
      </p:sp>
      <p:sp>
        <p:nvSpPr>
          <p:cNvPr id="35" name="bf0e7fb2-b69f-44cb-b81f-e56f759f05d3"/>
          <p:cNvSpPr/>
          <p:nvPr/>
        </p:nvSpPr>
        <p:spPr>
          <a:xfrm>
            <a:off x="9025128" y="3848718"/>
            <a:ext cx="2249424" cy="526068"/>
          </a:xfrm>
          <a:prstGeom prst="roundRect">
            <a:avLst>
              <a:gd name="adj" fmla="val 13500"/>
            </a:avLst>
          </a:prstGeom>
          <a:solidFill>
            <a:srgbClr val="E97132">
              <a:alpha val="12000"/>
            </a:srgbClr>
          </a:solidFill>
          <a:ln w="12700">
            <a:solidFill>
              <a:srgbClr val="E97132"/>
            </a:solidFill>
          </a:ln>
        </p:spPr>
        <p:txBody>
          <a:bodyPr wrap="square" lIns="27432" tIns="27432" rIns="27432" bIns="27432" rtlCol="0" anchor="ctr"/>
          <a:lstStyle/>
          <a:p>
            <a:pPr algn="ctr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</a:t>
            </a:r>
            <a:endParaRPr lang="en-US" sz="105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orders.events  (LITERAL)</a:t>
            </a:r>
            <a:endParaRPr lang="en-US" sz="1050" dirty="0"/>
          </a:p>
        </p:txBody>
      </p:sp>
      <p:sp>
        <p:nvSpPr>
          <p:cNvPr id="36" name="ecb61c45-d20a-4da3-bb7c-cbe2baf3176f"/>
          <p:cNvSpPr/>
          <p:nvPr/>
        </p:nvSpPr>
        <p:spPr>
          <a:xfrm>
            <a:off x="6629400" y="4527516"/>
            <a:ext cx="475488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資源範圍角色綁「資源類型 + 名稱 + 比對方式」</a:t>
            </a:r>
            <a:endParaRPr lang="en-US" sz="1100" dirty="0"/>
          </a:p>
          <a:p>
            <a:pPr algn="l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LITERAL = 名稱完全相同;PREFIXED = 名稱開頭相同</a:t>
            </a:r>
            <a:endParaRPr lang="en-US" sz="1100" dirty="0"/>
          </a:p>
        </p:txBody>
      </p:sp>
      <p:sp>
        <p:nvSpPr>
          <p:cNvPr id="37" name="7789b87a-2380-4e81-b734-7cbe17e93904"/>
          <p:cNvSpPr/>
          <p:nvPr/>
        </p:nvSpPr>
        <p:spPr>
          <a:xfrm>
            <a:off x="6446520" y="5460863"/>
            <a:ext cx="5029200" cy="2375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100" b="1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本專案的例子</a:t>
            </a:r>
            <a:endParaRPr lang="en-US" sz="1100" dirty="0"/>
          </a:p>
        </p:txBody>
      </p:sp>
      <p:sp>
        <p:nvSpPr>
          <p:cNvPr id="38" name="013db0cf-6991-4279-923a-c05a663adc84"/>
          <p:cNvSpPr/>
          <p:nvPr/>
        </p:nvSpPr>
        <p:spPr>
          <a:xfrm>
            <a:off x="6446520" y="5672987"/>
            <a:ext cx="2103120" cy="28848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Operator @ 叢集</a:t>
            </a:r>
            <a:endParaRPr lang="en-US" sz="1000" dirty="0"/>
          </a:p>
        </p:txBody>
      </p:sp>
      <p:sp>
        <p:nvSpPr>
          <p:cNvPr id="39" name="7c175980-2bd0-4f5d-af99-1c1e6f7896e4"/>
          <p:cNvSpPr/>
          <p:nvPr/>
        </p:nvSpPr>
        <p:spPr>
          <a:xfrm>
            <a:off x="8641080" y="5672987"/>
            <a:ext cx="2834640" cy="28848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ops → DeveloperManage @ infra.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服務帳號:SCRAM,不放 AD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AD 沒有服務帳號 → SCRAM + 最小權限 + 輪替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5a9b27f-024f-4f28-993a-7faadc911a57"/>
          <p:cNvSpPr/>
          <p:nvPr/>
        </p:nvSpPr>
        <p:spPr>
          <a:xfrm>
            <a:off x="548640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abb7d460-0276-46bd-900f-47bf39a45608"/>
          <p:cNvSpPr/>
          <p:nvPr/>
        </p:nvSpPr>
        <p:spPr>
          <a:xfrm>
            <a:off x="658368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848d27e2-c97d-4eed-92b5-3a946d040671"/>
          <p:cNvSpPr/>
          <p:nvPr/>
        </p:nvSpPr>
        <p:spPr>
          <a:xfrm>
            <a:off x="640080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建立</a:t>
            </a:r>
            <a:endParaRPr lang="en-US" sz="1400" dirty="0"/>
          </a:p>
        </p:txBody>
      </p:sp>
      <p:sp>
        <p:nvSpPr>
          <p:cNvPr id="5" name="9f0622a1-2415-498b-b7f6-10e991c9af20"/>
          <p:cNvSpPr/>
          <p:nvPr/>
        </p:nvSpPr>
        <p:spPr>
          <a:xfrm>
            <a:off x="640080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kafka-configs 在 Kafka 內建立</a:t>
            </a:r>
            <a:endParaRPr lang="en-US" sz="1100" dirty="0"/>
          </a:p>
        </p:txBody>
      </p:sp>
      <p:sp>
        <p:nvSpPr>
          <p:cNvPr id="6" name="45b738e7-4d29-4d0b-b2c9-efb0e15c047b"/>
          <p:cNvSpPr/>
          <p:nvPr/>
        </p:nvSpPr>
        <p:spPr>
          <a:xfrm>
            <a:off x="2560320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7" name="094b0930-157f-40e4-9de0-fc7aaf8b02fb"/>
          <p:cNvSpPr/>
          <p:nvPr/>
        </p:nvSpPr>
        <p:spPr>
          <a:xfrm>
            <a:off x="2816352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8b7329c2-8e99-4fed-81bf-785a39f7393d"/>
          <p:cNvSpPr/>
          <p:nvPr/>
        </p:nvSpPr>
        <p:spPr>
          <a:xfrm>
            <a:off x="2926080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46fc2023-1651-4507-8666-ec5b3b75927b"/>
          <p:cNvSpPr/>
          <p:nvPr/>
        </p:nvSpPr>
        <p:spPr>
          <a:xfrm>
            <a:off x="2907792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保管</a:t>
            </a:r>
            <a:endParaRPr lang="en-US" sz="1400" dirty="0"/>
          </a:p>
        </p:txBody>
      </p:sp>
      <p:sp>
        <p:nvSpPr>
          <p:cNvPr id="10" name="ab086ef3-2366-41c7-99aa-36467271f862"/>
          <p:cNvSpPr/>
          <p:nvPr/>
        </p:nvSpPr>
        <p:spPr>
          <a:xfrm>
            <a:off x="2907792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密碼放密碼庫</a:t>
            </a:r>
            <a:endParaRPr lang="en-US" sz="1100" dirty="0"/>
          </a:p>
        </p:txBody>
      </p:sp>
      <p:sp>
        <p:nvSpPr>
          <p:cNvPr id="11" name="9daa2eab-c139-403e-aac1-241c5bc930e0"/>
          <p:cNvSpPr/>
          <p:nvPr/>
        </p:nvSpPr>
        <p:spPr>
          <a:xfrm>
            <a:off x="4828032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bbccd54a-6c8d-475f-bb44-5c365d069b63"/>
          <p:cNvSpPr/>
          <p:nvPr/>
        </p:nvSpPr>
        <p:spPr>
          <a:xfrm>
            <a:off x="5084064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676c6098-3630-4809-b517-28fe8d61123b"/>
          <p:cNvSpPr/>
          <p:nvPr/>
        </p:nvSpPr>
        <p:spPr>
          <a:xfrm>
            <a:off x="5193792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9208b15b-4470-4631-943f-cad710301591"/>
          <p:cNvSpPr/>
          <p:nvPr/>
        </p:nvSpPr>
        <p:spPr>
          <a:xfrm>
            <a:off x="5175504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</a:t>
            </a:r>
            <a:endParaRPr lang="en-US" sz="1400" dirty="0"/>
          </a:p>
        </p:txBody>
      </p:sp>
      <p:sp>
        <p:nvSpPr>
          <p:cNvPr id="15" name="4c822b42-fa06-4830-b3eb-cf9310e01725"/>
          <p:cNvSpPr/>
          <p:nvPr/>
        </p:nvSpPr>
        <p:spPr>
          <a:xfrm>
            <a:off x="5175504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 User:svc-x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前綴最小權限</a:t>
            </a:r>
            <a:endParaRPr lang="en-US" sz="1100" dirty="0"/>
          </a:p>
        </p:txBody>
      </p:sp>
      <p:sp>
        <p:nvSpPr>
          <p:cNvPr id="16" name="72044bc9-d07c-4a9d-a907-1458764f1fd0"/>
          <p:cNvSpPr/>
          <p:nvPr/>
        </p:nvSpPr>
        <p:spPr>
          <a:xfrm>
            <a:off x="7095744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7" name="ed401fc3-5a90-4f86-9f0b-718486956219"/>
          <p:cNvSpPr/>
          <p:nvPr/>
        </p:nvSpPr>
        <p:spPr>
          <a:xfrm>
            <a:off x="7351776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8" name="a3c311f0-3ed3-405b-bf08-f397d13bff43"/>
          <p:cNvSpPr/>
          <p:nvPr/>
        </p:nvSpPr>
        <p:spPr>
          <a:xfrm>
            <a:off x="7461504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cac91f2c-7caf-4789-8f8e-c134fc8a4c47"/>
          <p:cNvSpPr/>
          <p:nvPr/>
        </p:nvSpPr>
        <p:spPr>
          <a:xfrm>
            <a:off x="7443216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</a:t>
            </a:r>
            <a:endParaRPr lang="en-US" sz="1400" dirty="0"/>
          </a:p>
        </p:txBody>
      </p:sp>
      <p:sp>
        <p:nvSpPr>
          <p:cNvPr id="20" name="ebd1de66-12bb-492d-8c9b-bf457aee309b"/>
          <p:cNvSpPr/>
          <p:nvPr/>
        </p:nvSpPr>
        <p:spPr>
          <a:xfrm>
            <a:off x="7443216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設定檔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權限 600</a:t>
            </a:r>
            <a:endParaRPr lang="en-US" sz="1100" dirty="0"/>
          </a:p>
        </p:txBody>
      </p:sp>
      <p:sp>
        <p:nvSpPr>
          <p:cNvPr id="21" name="dc2f5626-7f5c-4c7a-830c-7a047eda7488"/>
          <p:cNvSpPr/>
          <p:nvPr/>
        </p:nvSpPr>
        <p:spPr>
          <a:xfrm>
            <a:off x="9363456" y="2660822"/>
            <a:ext cx="25603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2" name="b546250f-b8de-44d3-9df7-58f41e56e02b"/>
          <p:cNvSpPr/>
          <p:nvPr/>
        </p:nvSpPr>
        <p:spPr>
          <a:xfrm>
            <a:off x="9619488" y="1769899"/>
            <a:ext cx="2011680" cy="17818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3" name="58425df3-63ea-443b-9c72-e17ce66d04e1"/>
          <p:cNvSpPr/>
          <p:nvPr/>
        </p:nvSpPr>
        <p:spPr>
          <a:xfrm>
            <a:off x="9729216" y="1871719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4c6b67f8-68b1-4936-824e-300bd0742411"/>
          <p:cNvSpPr/>
          <p:nvPr/>
        </p:nvSpPr>
        <p:spPr>
          <a:xfrm>
            <a:off x="9710928" y="2295968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輪替</a:t>
            </a:r>
            <a:endParaRPr lang="en-US" sz="1400" dirty="0"/>
          </a:p>
        </p:txBody>
      </p:sp>
      <p:sp>
        <p:nvSpPr>
          <p:cNvPr id="25" name="37eb071a-dc15-4cd8-b3e1-e7aab225399b"/>
          <p:cNvSpPr/>
          <p:nvPr/>
        </p:nvSpPr>
        <p:spPr>
          <a:xfrm>
            <a:off x="9710928" y="2745671"/>
            <a:ext cx="1828800" cy="7636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client 換新密碼</a:t>
            </a:r>
            <a:endParaRPr lang="en-US" sz="1100" dirty="0"/>
          </a:p>
        </p:txBody>
      </p:sp>
      <p:sp>
        <p:nvSpPr>
          <p:cNvPr id="26" name="fce71e6a-4248-4b55-b677-b1e7d2dade77"/>
          <p:cNvSpPr/>
          <p:nvPr/>
        </p:nvSpPr>
        <p:spPr>
          <a:xfrm>
            <a:off x="54864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27" name="82f17c02-a574-474d-8a76-b2fa5b82b327"/>
          <p:cNvSpPr/>
          <p:nvPr/>
        </p:nvSpPr>
        <p:spPr>
          <a:xfrm>
            <a:off x="73152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28" name="62dd1a6a-d820-465b-b22f-cc64f5b400e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4021811"/>
            <a:ext cx="358445" cy="358445"/>
          </a:xfrm>
          <a:prstGeom prst="rect">
            <a:avLst/>
          </a:prstGeom>
        </p:spPr>
      </p:pic>
      <p:sp>
        <p:nvSpPr>
          <p:cNvPr id="29" name="13828bfd-33ab-4a69-b016-f650d227f7f3"/>
          <p:cNvSpPr/>
          <p:nvPr/>
        </p:nvSpPr>
        <p:spPr>
          <a:xfrm>
            <a:off x="150876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帳密存在 Kafka(KRaft)內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不在 AD</a:t>
            </a:r>
            <a:endParaRPr lang="en-US" sz="1300" dirty="0"/>
          </a:p>
        </p:txBody>
      </p:sp>
      <p:sp>
        <p:nvSpPr>
          <p:cNvPr id="30" name="6b330bee-c192-4227-8c18-9603f35b4534"/>
          <p:cNvSpPr/>
          <p:nvPr/>
        </p:nvSpPr>
        <p:spPr>
          <a:xfrm>
            <a:off x="4251960" y="3721443"/>
            <a:ext cx="3520440" cy="1018197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31" name="475a17b2-ef00-441a-abce-57ff414c2592"/>
          <p:cNvSpPr/>
          <p:nvPr/>
        </p:nvSpPr>
        <p:spPr>
          <a:xfrm>
            <a:off x="443484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2" name="6fbc5ab4-d2d2-448a-b38b-7824b4f9ff4c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5658" y="4021811"/>
            <a:ext cx="358445" cy="358445"/>
          </a:xfrm>
          <a:prstGeom prst="rect">
            <a:avLst/>
          </a:prstGeom>
        </p:spPr>
      </p:pic>
      <p:sp>
        <p:nvSpPr>
          <p:cNvPr id="33" name="752f8aca-3c45-4d99-a63a-298e4894b1fa"/>
          <p:cNvSpPr/>
          <p:nvPr/>
        </p:nvSpPr>
        <p:spPr>
          <a:xfrm>
            <a:off x="5212080" y="3806293"/>
            <a:ext cx="246888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密碼不會自動到期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要有輪替流程與提醒</a:t>
            </a:r>
            <a:endParaRPr lang="en-US" sz="1300" dirty="0"/>
          </a:p>
        </p:txBody>
      </p:sp>
      <p:sp>
        <p:nvSpPr>
          <p:cNvPr id="34" name="ba2d5473-e81e-4f26-a4d3-569868313a0b"/>
          <p:cNvSpPr/>
          <p:nvPr/>
        </p:nvSpPr>
        <p:spPr>
          <a:xfrm>
            <a:off x="7955280" y="3721443"/>
            <a:ext cx="3685032" cy="1018197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5" name="bbebaff2-0e2c-46d5-bc65-10739605ae66"/>
          <p:cNvSpPr/>
          <p:nvPr/>
        </p:nvSpPr>
        <p:spPr>
          <a:xfrm>
            <a:off x="8138160" y="389114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6" name="8c3b005d-cc5b-43b6-b0a2-488e373c2338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278978" y="4021811"/>
            <a:ext cx="358445" cy="358445"/>
          </a:xfrm>
          <a:prstGeom prst="rect">
            <a:avLst/>
          </a:prstGeom>
        </p:spPr>
      </p:pic>
      <p:sp>
        <p:nvSpPr>
          <p:cNvPr id="37" name="b10f4ea1-0e8e-4266-8ba9-f61675440c63"/>
          <p:cNvSpPr/>
          <p:nvPr/>
        </p:nvSpPr>
        <p:spPr>
          <a:xfrm>
            <a:off x="8915400" y="3806293"/>
            <a:ext cx="265176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官方:SCRAM 搭配 TLS</a:t>
            </a:r>
            <a:endParaRPr lang="en-US" sz="13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KRaft 放在私有網路</a:t>
            </a:r>
            <a:endParaRPr lang="en-US" sz="1300" dirty="0"/>
          </a:p>
        </p:txBody>
      </p:sp>
      <p:sp>
        <p:nvSpPr>
          <p:cNvPr id="38" name="4cce627f-4e65-4965-ad32-786afd6c92d3"/>
          <p:cNvSpPr/>
          <p:nvPr/>
        </p:nvSpPr>
        <p:spPr>
          <a:xfrm>
            <a:off x="548640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Kafka 端改密碼</a:t>
            </a:r>
            <a:endParaRPr lang="en-US" sz="1200" dirty="0"/>
          </a:p>
        </p:txBody>
      </p:sp>
      <p:sp>
        <p:nvSpPr>
          <p:cNvPr id="39" name="a8ebdb59-66fc-46ef-9cf1-5760c12207c9"/>
          <p:cNvSpPr/>
          <p:nvPr/>
        </p:nvSpPr>
        <p:spPr>
          <a:xfrm>
            <a:off x="3063240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0" name="9ff4725b-37d3-48f8-9764-adb172197818"/>
          <p:cNvSpPr/>
          <p:nvPr/>
        </p:nvSpPr>
        <p:spPr>
          <a:xfrm>
            <a:off x="3410712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client 換新密碼並重啟</a:t>
            </a:r>
            <a:endParaRPr lang="en-US" sz="1200" dirty="0"/>
          </a:p>
        </p:txBody>
      </p:sp>
      <p:sp>
        <p:nvSpPr>
          <p:cNvPr id="41" name="37226702-a57b-427f-a8d4-b703b0555cd0"/>
          <p:cNvSpPr/>
          <p:nvPr/>
        </p:nvSpPr>
        <p:spPr>
          <a:xfrm>
            <a:off x="5925312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2" name="856f7f54-d2ed-4bfe-a17b-f291778bfd6a"/>
          <p:cNvSpPr/>
          <p:nvPr/>
        </p:nvSpPr>
        <p:spPr>
          <a:xfrm>
            <a:off x="6272784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驗證新密碼可用</a:t>
            </a:r>
            <a:endParaRPr lang="en-US" sz="1200" dirty="0"/>
          </a:p>
        </p:txBody>
      </p:sp>
      <p:sp>
        <p:nvSpPr>
          <p:cNvPr id="43" name="ff912df6-a654-4800-819f-a6f1f1ab4f0b"/>
          <p:cNvSpPr/>
          <p:nvPr/>
        </p:nvSpPr>
        <p:spPr>
          <a:xfrm>
            <a:off x="8787384" y="5087524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4" name="667a7627-2572-4b9e-a498-3b3501fd829b"/>
          <p:cNvSpPr/>
          <p:nvPr/>
        </p:nvSpPr>
        <p:spPr>
          <a:xfrm>
            <a:off x="9134856" y="4909339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驗證舊密碼已失效</a:t>
            </a:r>
            <a:endParaRPr lang="en-US" sz="1200" dirty="0"/>
          </a:p>
        </p:txBody>
      </p:sp>
      <p:sp>
        <p:nvSpPr>
          <p:cNvPr id="45" name="d968a8c3-34f1-4e22-98d6-39866821bacb"/>
          <p:cNvSpPr/>
          <p:nvPr/>
        </p:nvSpPr>
        <p:spPr>
          <a:xfrm>
            <a:off x="548640" y="5460863"/>
            <a:ext cx="11091672" cy="7636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同帳號改密碼 = 取代:舊密碼對新連線立即失效(實測)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已連線的 client 不受影響;改完立刻換 client,換好之前重新連線的會失敗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特例:不能有失敗窗口的服務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新帳號並行:新舊同時有效,代價是 client 要改帳號、role 要重綁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afd26ea-d975-49a2-b970-98e7c4ead2ec"/>
          <p:cNvSpPr/>
          <p:nvPr/>
        </p:nvSpPr>
        <p:spPr>
          <a:xfrm>
            <a:off x="548640" y="1685050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上一頁的做法,會有一段失敗窗口</a:t>
            </a:r>
            <a:endParaRPr lang="en-US" sz="1400" dirty="0"/>
          </a:p>
        </p:txBody>
      </p:sp>
      <p:sp>
        <p:nvSpPr>
          <p:cNvPr id="3" name="df0adda9-953a-4bcb-9d14-a220c36f51ae"/>
          <p:cNvSpPr/>
          <p:nvPr/>
        </p:nvSpPr>
        <p:spPr>
          <a:xfrm>
            <a:off x="548640" y="2066874"/>
            <a:ext cx="2926080" cy="848497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端改密碼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舊密碼對新連線立即失效</a:t>
            </a:r>
            <a:endParaRPr lang="en-US" sz="1400" dirty="0"/>
          </a:p>
        </p:txBody>
      </p:sp>
      <p:sp>
        <p:nvSpPr>
          <p:cNvPr id="4" name="e14bc38e-b74c-4391-b772-6f48ac8bd02e"/>
          <p:cNvSpPr/>
          <p:nvPr/>
        </p:nvSpPr>
        <p:spPr>
          <a:xfrm>
            <a:off x="3474720" y="2491122"/>
            <a:ext cx="36576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5" name="05fa9118-b244-4b33-b31b-28f852a3d58c"/>
          <p:cNvSpPr/>
          <p:nvPr/>
        </p:nvSpPr>
        <p:spPr>
          <a:xfrm>
            <a:off x="3840480" y="2066874"/>
            <a:ext cx="4572000" cy="848497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失敗窗口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還沒換新密碼、就重新連線 → 失敗</a:t>
            </a:r>
            <a:endParaRPr lang="en-US" sz="1400" dirty="0"/>
          </a:p>
        </p:txBody>
      </p:sp>
      <p:sp>
        <p:nvSpPr>
          <p:cNvPr id="6" name="a1128b62-99ed-40e2-a699-270d863687ce"/>
          <p:cNvSpPr/>
          <p:nvPr/>
        </p:nvSpPr>
        <p:spPr>
          <a:xfrm>
            <a:off x="8412480" y="2491122"/>
            <a:ext cx="36576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7" name="ccb95dae-0f97-45c9-b78b-7e547889998c"/>
          <p:cNvSpPr/>
          <p:nvPr/>
        </p:nvSpPr>
        <p:spPr>
          <a:xfrm>
            <a:off x="8778240" y="2066874"/>
            <a:ext cx="2862072" cy="848497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換好新密碼</a:t>
            </a:r>
            <a:endParaRPr lang="en-US" sz="1400" dirty="0"/>
          </a:p>
        </p:txBody>
      </p:sp>
      <p:sp>
        <p:nvSpPr>
          <p:cNvPr id="8" name="ae71ab92-396c-4250-a50f-f76b43787db4"/>
          <p:cNvSpPr/>
          <p:nvPr/>
        </p:nvSpPr>
        <p:spPr>
          <a:xfrm>
            <a:off x="548640" y="3212345"/>
            <a:ext cx="11091672" cy="2969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不能承受窗口的服務:改用新帳號並行(新舊同時有效)</a:t>
            </a:r>
            <a:endParaRPr lang="en-US" sz="1400" dirty="0"/>
          </a:p>
        </p:txBody>
      </p:sp>
      <p:sp>
        <p:nvSpPr>
          <p:cNvPr id="9" name="cf2c68c8-c70d-4a28-af39-184de312427d"/>
          <p:cNvSpPr/>
          <p:nvPr/>
        </p:nvSpPr>
        <p:spPr>
          <a:xfrm>
            <a:off x="548640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建新帳號 svc-x-v2</a:t>
            </a:r>
            <a:endParaRPr lang="en-US" sz="1200" dirty="0"/>
          </a:p>
        </p:txBody>
      </p:sp>
      <p:sp>
        <p:nvSpPr>
          <p:cNvPr id="10" name="2b58ba83-fb17-49c0-97fc-37633e954449"/>
          <p:cNvSpPr/>
          <p:nvPr/>
        </p:nvSpPr>
        <p:spPr>
          <a:xfrm>
            <a:off x="3063240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1" name="377b2651-e733-437a-a358-d79f64004d40"/>
          <p:cNvSpPr/>
          <p:nvPr/>
        </p:nvSpPr>
        <p:spPr>
          <a:xfrm>
            <a:off x="3410712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重綁相同 role</a:t>
            </a:r>
            <a:endParaRPr lang="en-US" sz="1200" dirty="0"/>
          </a:p>
        </p:txBody>
      </p:sp>
      <p:sp>
        <p:nvSpPr>
          <p:cNvPr id="12" name="e290d633-8dcc-4b62-bbcc-d4acda16c81f"/>
          <p:cNvSpPr/>
          <p:nvPr/>
        </p:nvSpPr>
        <p:spPr>
          <a:xfrm>
            <a:off x="5925312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3" name="993ac847-4917-4ea9-9594-64fa9a9a0cb8"/>
          <p:cNvSpPr/>
          <p:nvPr/>
        </p:nvSpPr>
        <p:spPr>
          <a:xfrm>
            <a:off x="6272784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client 改帳號與密碼</a:t>
            </a:r>
            <a:endParaRPr lang="en-US" sz="1200" dirty="0"/>
          </a:p>
        </p:txBody>
      </p:sp>
      <p:sp>
        <p:nvSpPr>
          <p:cNvPr id="14" name="e908f358-092a-4948-95e7-85cbf5a1ca8b"/>
          <p:cNvSpPr/>
          <p:nvPr/>
        </p:nvSpPr>
        <p:spPr>
          <a:xfrm>
            <a:off x="8787384" y="3814778"/>
            <a:ext cx="347472" cy="0"/>
          </a:xfrm>
          <a:prstGeom prst="line">
            <a:avLst/>
          </a:prstGeom>
          <a:noFill/>
          <a:ln w="254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5" name="83fa43c9-7cfb-4be3-a66f-1276f091ab98"/>
          <p:cNvSpPr/>
          <p:nvPr/>
        </p:nvSpPr>
        <p:spPr>
          <a:xfrm>
            <a:off x="9134856" y="3636594"/>
            <a:ext cx="251460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刪舊帳號與舊 binding</a:t>
            </a:r>
            <a:endParaRPr lang="en-US" sz="1200" dirty="0"/>
          </a:p>
        </p:txBody>
      </p:sp>
      <p:sp>
        <p:nvSpPr>
          <p:cNvPr id="16" name="d64bd352-44ca-4fbe-b53e-5893274b1c3f"/>
          <p:cNvSpPr/>
          <p:nvPr/>
        </p:nvSpPr>
        <p:spPr>
          <a:xfrm>
            <a:off x="548640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舊帳號仍可使用</a:t>
            </a:r>
            <a:endParaRPr lang="en-US" sz="1100" dirty="0"/>
          </a:p>
        </p:txBody>
      </p:sp>
      <p:sp>
        <p:nvSpPr>
          <p:cNvPr id="17" name="8fa435df-5ed6-4b1f-8957-c27b565a204c"/>
          <p:cNvSpPr/>
          <p:nvPr/>
        </p:nvSpPr>
        <p:spPr>
          <a:xfrm>
            <a:off x="3410712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綁的是帳號名稱</a:t>
            </a:r>
            <a:endParaRPr lang="en-US" sz="1100" dirty="0"/>
          </a:p>
        </p:txBody>
      </p:sp>
      <p:sp>
        <p:nvSpPr>
          <p:cNvPr id="18" name="b5e609ae-2adc-41a8-ba96-3f165bfefcf1"/>
          <p:cNvSpPr/>
          <p:nvPr/>
        </p:nvSpPr>
        <p:spPr>
          <a:xfrm>
            <a:off x="6272784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逐步切換,新舊並存</a:t>
            </a:r>
            <a:endParaRPr lang="en-US" sz="1100" dirty="0"/>
          </a:p>
        </p:txBody>
      </p:sp>
      <p:sp>
        <p:nvSpPr>
          <p:cNvPr id="19" name="aa808951-0f05-45da-8681-7591ac809033"/>
          <p:cNvSpPr/>
          <p:nvPr/>
        </p:nvSpPr>
        <p:spPr>
          <a:xfrm>
            <a:off x="9134856" y="4060842"/>
            <a:ext cx="251460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全部切完才刪</a:t>
            </a:r>
            <a:endParaRPr lang="en-US" sz="1100" dirty="0"/>
          </a:p>
        </p:txBody>
      </p:sp>
      <p:sp>
        <p:nvSpPr>
          <p:cNvPr id="20" name="d19fd421-5acc-498a-a7e3-3dbea628ae57"/>
          <p:cNvSpPr/>
          <p:nvPr/>
        </p:nvSpPr>
        <p:spPr>
          <a:xfrm>
            <a:off x="548640" y="4612365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代價:每次輪替,client 都要改帳號名稱並重啟</a:t>
            </a:r>
            <a:endParaRPr lang="en-US" sz="1200" dirty="0"/>
          </a:p>
        </p:txBody>
      </p:sp>
      <p:sp>
        <p:nvSpPr>
          <p:cNvPr id="21" name="e274eb2f-4ef7-4586-a0ec-b35874ea7ed5"/>
          <p:cNvSpPr/>
          <p:nvPr/>
        </p:nvSpPr>
        <p:spPr>
          <a:xfrm>
            <a:off x="6199632" y="4612365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代價:新帳號的 role binding 要重綁</a:t>
            </a:r>
            <a:endParaRPr lang="en-US" sz="1200" dirty="0"/>
          </a:p>
        </p:txBody>
      </p:sp>
      <p:sp>
        <p:nvSpPr>
          <p:cNvPr id="22" name="802fcad8-06d9-40c1-ac6d-e536fdc66c28"/>
          <p:cNvSpPr/>
          <p:nvPr/>
        </p:nvSpPr>
        <p:spPr>
          <a:xfrm>
            <a:off x="548640" y="5376013"/>
            <a:ext cx="11091672" cy="593948"/>
          </a:xfrm>
          <a:prstGeom prst="roundRect">
            <a:avLst>
              <a:gd name="adj" fmla="val 9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只有不能承受失敗窗口的服務才用;日常輪替仍用同帳號改密碼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REST Proxy:legacy app 的入口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人用 Basic、機器用 client 憑證,身分一路傳到 broker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5f6a0e7-ad3c-43a0-970b-032f4e898fc0"/>
          <p:cNvSpPr/>
          <p:nvPr/>
        </p:nvSpPr>
        <p:spPr>
          <a:xfrm>
            <a:off x="548640" y="1600200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人(Postman · 手動測試)</a:t>
            </a:r>
            <a:endParaRPr lang="en-US" sz="1400" dirty="0"/>
          </a:p>
        </p:txBody>
      </p:sp>
      <p:sp>
        <p:nvSpPr>
          <p:cNvPr id="3" name="945fe482-557d-4e96-83e6-0da7591f670b"/>
          <p:cNvSpPr/>
          <p:nvPr/>
        </p:nvSpPr>
        <p:spPr>
          <a:xfrm>
            <a:off x="3657600" y="1922629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4" name="29bfc776-9705-4dc6-b00d-2bb82bb533b5"/>
          <p:cNvSpPr/>
          <p:nvPr/>
        </p:nvSpPr>
        <p:spPr>
          <a:xfrm>
            <a:off x="3749040" y="1990509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5" name="534a8c6d-0f66-4bae-a5c5-adac311da2f9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3841577" y="2076377"/>
            <a:ext cx="235549" cy="235549"/>
          </a:xfrm>
          <a:prstGeom prst="rect">
            <a:avLst/>
          </a:prstGeom>
        </p:spPr>
      </p:pic>
      <p:sp>
        <p:nvSpPr>
          <p:cNvPr id="6" name="938aa20e-f74d-40c8-b159-debeaf51e056"/>
          <p:cNvSpPr/>
          <p:nvPr/>
        </p:nvSpPr>
        <p:spPr>
          <a:xfrm>
            <a:off x="4251960" y="1990509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7" name="c943652d-dade-4bb1-b64b-babdbc7c76f9"/>
          <p:cNvSpPr/>
          <p:nvPr/>
        </p:nvSpPr>
        <p:spPr>
          <a:xfrm flipV="1">
            <a:off x="43434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8" name="4a3e1089-3442-4fc2-802a-a5fc4d8f15cc"/>
          <p:cNvSpPr/>
          <p:nvPr/>
        </p:nvSpPr>
        <p:spPr>
          <a:xfrm>
            <a:off x="5029200" y="2448697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9" name="07702fb6-340e-4291-8ae9-093c08e74323"/>
          <p:cNvSpPr/>
          <p:nvPr/>
        </p:nvSpPr>
        <p:spPr>
          <a:xfrm>
            <a:off x="5852160" y="1854749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REST Proxy 把 Basic 帳密轉給 MDS(/authenticate)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MDS 向 AD 驗證,回 token(不經 /impersonate)</a:t>
            </a:r>
            <a:endParaRPr lang="en-US" sz="1000" dirty="0"/>
          </a:p>
        </p:txBody>
      </p:sp>
      <p:sp>
        <p:nvSpPr>
          <p:cNvPr id="10" name="556f0ee1-ea2b-4013-9b08-751f682de523"/>
          <p:cNvSpPr/>
          <p:nvPr/>
        </p:nvSpPr>
        <p:spPr>
          <a:xfrm>
            <a:off x="5486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1" name="750b107e-fecc-4636-9b2e-7f423893b375"/>
          <p:cNvSpPr/>
          <p:nvPr/>
        </p:nvSpPr>
        <p:spPr>
          <a:xfrm>
            <a:off x="6400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2" name="e64e380a-5e33-4277-aaee-732d940fedd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44687" y="2825769"/>
            <a:ext cx="266273" cy="266273"/>
          </a:xfrm>
          <a:prstGeom prst="rect">
            <a:avLst/>
          </a:prstGeom>
        </p:spPr>
      </p:pic>
      <p:sp>
        <p:nvSpPr>
          <p:cNvPr id="13" name="e67e9f38-b6e5-4edd-b2c4-8acf062f5e56"/>
          <p:cNvSpPr/>
          <p:nvPr/>
        </p:nvSpPr>
        <p:spPr>
          <a:xfrm>
            <a:off x="11887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300" dirty="0"/>
          </a:p>
        </p:txBody>
      </p:sp>
      <p:sp>
        <p:nvSpPr>
          <p:cNvPr id="14" name="a96b30ca-5d61-482d-bbe0-f4ddbe1562d5"/>
          <p:cNvSpPr/>
          <p:nvPr/>
        </p:nvSpPr>
        <p:spPr>
          <a:xfrm>
            <a:off x="3657600" y="2618397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5" name="0da113f0-9d84-487e-8508-54816de1ee17"/>
          <p:cNvSpPr/>
          <p:nvPr/>
        </p:nvSpPr>
        <p:spPr>
          <a:xfrm>
            <a:off x="374904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6" name="2c98825b-42ac-453d-8cc4-a7acbc424f8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3853647" y="2825769"/>
            <a:ext cx="266273" cy="266273"/>
          </a:xfrm>
          <a:prstGeom prst="rect">
            <a:avLst/>
          </a:prstGeom>
        </p:spPr>
      </p:pic>
      <p:sp>
        <p:nvSpPr>
          <p:cNvPr id="17" name="2fa2dbd3-af0e-43f2-9d1f-90fc0a215a82"/>
          <p:cNvSpPr/>
          <p:nvPr/>
        </p:nvSpPr>
        <p:spPr>
          <a:xfrm>
            <a:off x="4297680" y="2728701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18" name="5c8b89f5-093b-408e-a224-60b9a06c16d1"/>
          <p:cNvSpPr/>
          <p:nvPr/>
        </p:nvSpPr>
        <p:spPr>
          <a:xfrm>
            <a:off x="6949440" y="2618397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9" name="6c8b1c66-1992-438b-8447-bc178f86b8b1"/>
          <p:cNvSpPr/>
          <p:nvPr/>
        </p:nvSpPr>
        <p:spPr>
          <a:xfrm>
            <a:off x="7040880" y="2728701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0" name="7cc54f88-421a-4b84-93ee-0736e6e3c8a9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145487" y="2825769"/>
            <a:ext cx="266273" cy="266273"/>
          </a:xfrm>
          <a:prstGeom prst="rect">
            <a:avLst/>
          </a:prstGeom>
        </p:spPr>
      </p:pic>
      <p:sp>
        <p:nvSpPr>
          <p:cNvPr id="21" name="e3796586-698f-452a-a183-d32c81413514"/>
          <p:cNvSpPr/>
          <p:nvPr/>
        </p:nvSpPr>
        <p:spPr>
          <a:xfrm>
            <a:off x="7589520" y="2728701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22" name="43a821ec-8cd5-444e-8b0c-e28d682d54ff"/>
          <p:cNvSpPr/>
          <p:nvPr/>
        </p:nvSpPr>
        <p:spPr>
          <a:xfrm>
            <a:off x="2377440" y="2957796"/>
            <a:ext cx="128016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8d241937-96b5-4c51-8f52-33f02aa6a271"/>
          <p:cNvSpPr/>
          <p:nvPr/>
        </p:nvSpPr>
        <p:spPr>
          <a:xfrm>
            <a:off x="5760720" y="2957796"/>
            <a:ext cx="1188720" cy="0"/>
          </a:xfrm>
          <a:prstGeom prst="line">
            <a:avLst/>
          </a:prstGeom>
          <a:noFill/>
          <a:ln w="2857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4" name="48d7f785-41ce-4368-b6b8-14fb2aee7dd6"/>
          <p:cNvSpPr/>
          <p:nvPr/>
        </p:nvSpPr>
        <p:spPr>
          <a:xfrm>
            <a:off x="1554480" y="3339619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Basic(AD 帳密)</a:t>
            </a:r>
            <a:endParaRPr lang="en-US" sz="1000" dirty="0"/>
          </a:p>
        </p:txBody>
      </p:sp>
      <p:sp>
        <p:nvSpPr>
          <p:cNvPr id="25" name="f0c42c99-5fe4-4fa7-ada1-5aef86b57afc"/>
          <p:cNvSpPr/>
          <p:nvPr/>
        </p:nvSpPr>
        <p:spPr>
          <a:xfrm>
            <a:off x="5532120" y="3339619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OAUTHBEARER(帶 token)</a:t>
            </a:r>
            <a:endParaRPr lang="en-US" sz="1000" dirty="0"/>
          </a:p>
        </p:txBody>
      </p:sp>
      <p:sp>
        <p:nvSpPr>
          <p:cNvPr id="26" name="73a5295b-4c01-477c-8418-f26643e3eff6"/>
          <p:cNvSpPr/>
          <p:nvPr/>
        </p:nvSpPr>
        <p:spPr>
          <a:xfrm>
            <a:off x="8915400" y="2703246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27" name="6d7a7969-4b1b-4bb8-9263-720350af17be"/>
          <p:cNvSpPr/>
          <p:nvPr/>
        </p:nvSpPr>
        <p:spPr>
          <a:xfrm>
            <a:off x="548640" y="3636594"/>
            <a:ext cx="4572000" cy="2715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機器(legacy app)</a:t>
            </a:r>
            <a:endParaRPr lang="en-US" sz="1400" dirty="0"/>
          </a:p>
        </p:txBody>
      </p:sp>
      <p:sp>
        <p:nvSpPr>
          <p:cNvPr id="28" name="81fd1b21-f825-4c8c-95bb-3db7edc53093"/>
          <p:cNvSpPr/>
          <p:nvPr/>
        </p:nvSpPr>
        <p:spPr>
          <a:xfrm>
            <a:off x="3657600" y="3959022"/>
            <a:ext cx="2103120" cy="526068"/>
          </a:xfrm>
          <a:prstGeom prst="roundRect">
            <a:avLst>
              <a:gd name="adj" fmla="val 90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29" name="f1e50866-b2f8-41b8-87d2-7aa5b2db05e4"/>
          <p:cNvSpPr/>
          <p:nvPr/>
        </p:nvSpPr>
        <p:spPr>
          <a:xfrm>
            <a:off x="3749040" y="4026902"/>
            <a:ext cx="420624" cy="390309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30" name="59ece958-fb13-456d-aefc-8d31ebfe7565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3841577" y="4112770"/>
            <a:ext cx="235549" cy="235549"/>
          </a:xfrm>
          <a:prstGeom prst="rect">
            <a:avLst/>
          </a:prstGeom>
        </p:spPr>
      </p:pic>
      <p:sp>
        <p:nvSpPr>
          <p:cNvPr id="31" name="3669d2e3-76c9-4878-afda-db49a74cfc9f"/>
          <p:cNvSpPr/>
          <p:nvPr/>
        </p:nvSpPr>
        <p:spPr>
          <a:xfrm>
            <a:off x="4251960" y="4026902"/>
            <a:ext cx="1371600" cy="3903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</a:t>
            </a:r>
            <a:endParaRPr lang="en-US" sz="1400" dirty="0"/>
          </a:p>
        </p:txBody>
      </p:sp>
      <p:sp>
        <p:nvSpPr>
          <p:cNvPr id="32" name="fefaf81c-40f1-4696-899f-df2956542b31"/>
          <p:cNvSpPr/>
          <p:nvPr/>
        </p:nvSpPr>
        <p:spPr>
          <a:xfrm flipV="1">
            <a:off x="43434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3" name="9ae1488e-9735-474c-807f-158aafe7e2b7"/>
          <p:cNvSpPr/>
          <p:nvPr/>
        </p:nvSpPr>
        <p:spPr>
          <a:xfrm>
            <a:off x="5029200" y="4485091"/>
            <a:ext cx="0" cy="169699"/>
          </a:xfrm>
          <a:prstGeom prst="line">
            <a:avLst/>
          </a:prstGeom>
          <a:noFill/>
          <a:ln w="25400">
            <a:solidFill>
              <a:srgbClr val="7A4EAB"/>
            </a:solidFill>
            <a:prstDash val="solid"/>
            <a:tailEnd type="triangle"/>
          </a:ln>
        </p:spPr>
      </p:sp>
      <p:sp>
        <p:nvSpPr>
          <p:cNvPr id="34" name="6b957026-6f22-44a3-a4d3-a39bee277eaf"/>
          <p:cNvSpPr/>
          <p:nvPr/>
        </p:nvSpPr>
        <p:spPr>
          <a:xfrm>
            <a:off x="5852160" y="3891143"/>
            <a:ext cx="576072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② REST Proxy 用自己的 client 憑證(CN=restproxy)向 MDS 認證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③ POST /impersonate:代為申請 legacy app 的 token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④ MDS 回 token(sub = app,cp_proxy = restproxy)</a:t>
            </a:r>
            <a:endParaRPr lang="en-US" sz="1000" dirty="0"/>
          </a:p>
        </p:txBody>
      </p:sp>
      <p:sp>
        <p:nvSpPr>
          <p:cNvPr id="35" name="7c7f70ab-b141-470e-a8e8-5f8bfbaeb63e"/>
          <p:cNvSpPr/>
          <p:nvPr/>
        </p:nvSpPr>
        <p:spPr>
          <a:xfrm>
            <a:off x="5486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6" name="734749d1-aab4-4f10-a837-18d042700bc6"/>
          <p:cNvSpPr/>
          <p:nvPr/>
        </p:nvSpPr>
        <p:spPr>
          <a:xfrm>
            <a:off x="6400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7" name="32d56309-e915-43d1-99e0-10158ad45cf3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44687" y="4862163"/>
            <a:ext cx="266273" cy="266273"/>
          </a:xfrm>
          <a:prstGeom prst="rect">
            <a:avLst/>
          </a:prstGeom>
        </p:spPr>
      </p:pic>
      <p:sp>
        <p:nvSpPr>
          <p:cNvPr id="38" name="0d7ebc64-3ec8-4e5a-b77e-c097e066607f"/>
          <p:cNvSpPr/>
          <p:nvPr/>
        </p:nvSpPr>
        <p:spPr>
          <a:xfrm>
            <a:off x="11887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300" dirty="0"/>
          </a:p>
        </p:txBody>
      </p:sp>
      <p:sp>
        <p:nvSpPr>
          <p:cNvPr id="39" name="0450a743-0ef8-4188-a7f4-f3bff802d905"/>
          <p:cNvSpPr/>
          <p:nvPr/>
        </p:nvSpPr>
        <p:spPr>
          <a:xfrm>
            <a:off x="3657600" y="4654790"/>
            <a:ext cx="210312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0" name="0276363e-fe35-4ba6-a57d-9c78085ef928"/>
          <p:cNvSpPr/>
          <p:nvPr/>
        </p:nvSpPr>
        <p:spPr>
          <a:xfrm>
            <a:off x="374904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1" name="e875b8b8-a87a-4e23-bfe8-0c1dcb66211d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3853647" y="4862163"/>
            <a:ext cx="266273" cy="266273"/>
          </a:xfrm>
          <a:prstGeom prst="rect">
            <a:avLst/>
          </a:prstGeom>
        </p:spPr>
      </p:pic>
      <p:sp>
        <p:nvSpPr>
          <p:cNvPr id="42" name="69b0fae6-7c22-4b2c-86e6-3209d8917adf"/>
          <p:cNvSpPr/>
          <p:nvPr/>
        </p:nvSpPr>
        <p:spPr>
          <a:xfrm>
            <a:off x="4297680" y="4765095"/>
            <a:ext cx="141732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</p:txBody>
      </p:sp>
      <p:sp>
        <p:nvSpPr>
          <p:cNvPr id="43" name="41509e65-35c9-4163-8da1-a5cd2a2a8b33"/>
          <p:cNvSpPr/>
          <p:nvPr/>
        </p:nvSpPr>
        <p:spPr>
          <a:xfrm>
            <a:off x="6949440" y="4654790"/>
            <a:ext cx="1828800" cy="67879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44" name="516fd689-f22b-4483-896f-916858c2935e"/>
          <p:cNvSpPr/>
          <p:nvPr/>
        </p:nvSpPr>
        <p:spPr>
          <a:xfrm>
            <a:off x="7040880" y="4765095"/>
            <a:ext cx="475488" cy="441219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5" name="dcc46a26-b33c-4601-93e7-77aa9a0655e9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145487" y="4862163"/>
            <a:ext cx="266273" cy="266273"/>
          </a:xfrm>
          <a:prstGeom prst="rect">
            <a:avLst/>
          </a:prstGeom>
        </p:spPr>
      </p:pic>
      <p:sp>
        <p:nvSpPr>
          <p:cNvPr id="46" name="a06ebb89-3cb8-4d91-a370-023f709c004f"/>
          <p:cNvSpPr/>
          <p:nvPr/>
        </p:nvSpPr>
        <p:spPr>
          <a:xfrm>
            <a:off x="7589520" y="4765095"/>
            <a:ext cx="1143000" cy="44121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300" dirty="0"/>
          </a:p>
        </p:txBody>
      </p:sp>
      <p:sp>
        <p:nvSpPr>
          <p:cNvPr id="47" name="0397a359-75a6-4c65-ab7c-a42931847c1c"/>
          <p:cNvSpPr/>
          <p:nvPr/>
        </p:nvSpPr>
        <p:spPr>
          <a:xfrm>
            <a:off x="2377440" y="4994189"/>
            <a:ext cx="128016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8" name="f2853591-0ad8-4722-b468-686bfad7c7b3"/>
          <p:cNvSpPr/>
          <p:nvPr/>
        </p:nvSpPr>
        <p:spPr>
          <a:xfrm>
            <a:off x="5760720" y="4994189"/>
            <a:ext cx="1188720" cy="0"/>
          </a:xfrm>
          <a:prstGeom prst="line">
            <a:avLst/>
          </a:prstGeom>
          <a:noFill/>
          <a:ln w="2857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49" name="2b896edd-5ea7-4ca5-86c7-436945d9fbd9"/>
          <p:cNvSpPr/>
          <p:nvPr/>
        </p:nvSpPr>
        <p:spPr>
          <a:xfrm>
            <a:off x="1554480" y="5376013"/>
            <a:ext cx="25603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① client 憑證(CN)→ 對映成主體</a:t>
            </a:r>
            <a:endParaRPr lang="en-US" sz="1000" dirty="0"/>
          </a:p>
        </p:txBody>
      </p:sp>
      <p:sp>
        <p:nvSpPr>
          <p:cNvPr id="50" name="1530d251-d966-469f-ba46-fc1eacc9a443"/>
          <p:cNvSpPr/>
          <p:nvPr/>
        </p:nvSpPr>
        <p:spPr>
          <a:xfrm>
            <a:off x="5532120" y="5376013"/>
            <a:ext cx="2103120" cy="2545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⑤ OAUTHBEARER(帶 token)</a:t>
            </a:r>
            <a:endParaRPr lang="en-US" sz="1000" dirty="0"/>
          </a:p>
        </p:txBody>
      </p:sp>
      <p:sp>
        <p:nvSpPr>
          <p:cNvPr id="51" name="0739734a-c80e-456d-9ff5-91b1d039e618"/>
          <p:cNvSpPr/>
          <p:nvPr/>
        </p:nvSpPr>
        <p:spPr>
          <a:xfrm>
            <a:off x="8915400" y="4739640"/>
            <a:ext cx="274320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用 MDS 公鑰驗章,</a:t>
            </a:r>
            <a:endParaRPr lang="en-US" sz="1000" dirty="0"/>
          </a:p>
          <a:p>
            <a:pPr algn="l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token 的 sub</a:t>
            </a:r>
            <a:endParaRPr lang="en-US" sz="1000" dirty="0"/>
          </a:p>
        </p:txBody>
      </p:sp>
      <p:sp>
        <p:nvSpPr>
          <p:cNvPr id="52" name="07f7bb2c-5e3d-4b23-a250-c6b8b28ae628"/>
          <p:cNvSpPr/>
          <p:nvPr/>
        </p:nvSpPr>
        <p:spPr>
          <a:xfrm>
            <a:off x="548640" y="5715412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端 ssl.client.authentication=REQUESTED:人沒有憑證、機器有憑證,兩者並存 · 憑證身分只能綁 User:</a:t>
            </a:r>
            <a:endParaRPr lang="en-US" sz="1100" dirty="0"/>
          </a:p>
        </p:txBody>
      </p:sp>
      <p:sp>
        <p:nvSpPr>
          <p:cNvPr id="53" name="0e81bdc6-71ca-4732-b170-7063b35d489e"/>
          <p:cNvSpPr/>
          <p:nvPr/>
        </p:nvSpPr>
        <p:spPr>
          <a:xfrm>
            <a:off x="548640" y="6063296"/>
            <a:ext cx="11091672" cy="32242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restproxy 憑證可代人 → 特權身分逐一以 User: 列入 protected.users;混入 Group: 整份失效(實測)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Control Center:人用本人身分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C3 自己的背景工作才用憑證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3c730ae-827b-41b9-9d94-6d4b951ac272"/>
          <p:cNvSpPr/>
          <p:nvPr/>
        </p:nvSpPr>
        <p:spPr>
          <a:xfrm>
            <a:off x="548640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b65d1dc6-e715-4195-82d8-bfe96cd0519d"/>
          <p:cNvSpPr/>
          <p:nvPr/>
        </p:nvSpPr>
        <p:spPr>
          <a:xfrm>
            <a:off x="658368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1b90bfcf-1d02-4c84-ba33-367453cba19c"/>
          <p:cNvSpPr/>
          <p:nvPr/>
        </p:nvSpPr>
        <p:spPr>
          <a:xfrm>
            <a:off x="640080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登入</a:t>
            </a:r>
            <a:endParaRPr lang="en-US" sz="1400" dirty="0"/>
          </a:p>
        </p:txBody>
      </p:sp>
      <p:sp>
        <p:nvSpPr>
          <p:cNvPr id="5" name="9c93fd59-724a-4b77-9950-e00a0bcc965a"/>
          <p:cNvSpPr/>
          <p:nvPr/>
        </p:nvSpPr>
        <p:spPr>
          <a:xfrm>
            <a:off x="640080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瀏覽器送 AD 帳密</a:t>
            </a:r>
            <a:endParaRPr lang="en-US" sz="1100" dirty="0"/>
          </a:p>
        </p:txBody>
      </p:sp>
      <p:sp>
        <p:nvSpPr>
          <p:cNvPr id="6" name="49b92e98-f542-4da9-886e-68b82f0b17a9"/>
          <p:cNvSpPr/>
          <p:nvPr/>
        </p:nvSpPr>
        <p:spPr>
          <a:xfrm>
            <a:off x="2560320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7" name="8a02ebf6-1814-449b-b304-6daf70304a26"/>
          <p:cNvSpPr/>
          <p:nvPr/>
        </p:nvSpPr>
        <p:spPr>
          <a:xfrm>
            <a:off x="2816352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8" name="355ac8c1-80c5-423a-bec3-6cfa5f5b5e41"/>
          <p:cNvSpPr/>
          <p:nvPr/>
        </p:nvSpPr>
        <p:spPr>
          <a:xfrm>
            <a:off x="2926080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bb2884f0-9a18-4214-905b-a4270c23a42d"/>
          <p:cNvSpPr/>
          <p:nvPr/>
        </p:nvSpPr>
        <p:spPr>
          <a:xfrm>
            <a:off x="2907792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轉給 MDS</a:t>
            </a:r>
            <a:endParaRPr lang="en-US" sz="1400" dirty="0"/>
          </a:p>
        </p:txBody>
      </p:sp>
      <p:sp>
        <p:nvSpPr>
          <p:cNvPr id="10" name="65b575c3-d7d9-4cb1-9d08-2f8910beeae2"/>
          <p:cNvSpPr/>
          <p:nvPr/>
        </p:nvSpPr>
        <p:spPr>
          <a:xfrm>
            <a:off x="2907792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向 AD 驗證</a:t>
            </a:r>
            <a:endParaRPr lang="en-US" sz="1100" dirty="0"/>
          </a:p>
        </p:txBody>
      </p:sp>
      <p:sp>
        <p:nvSpPr>
          <p:cNvPr id="11" name="cdcf49ef-86d1-437a-b32c-926aa24ac1e0"/>
          <p:cNvSpPr/>
          <p:nvPr/>
        </p:nvSpPr>
        <p:spPr>
          <a:xfrm>
            <a:off x="4828032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8fc0b759-2a39-4e3d-869f-86a54f436dec"/>
          <p:cNvSpPr/>
          <p:nvPr/>
        </p:nvSpPr>
        <p:spPr>
          <a:xfrm>
            <a:off x="5084064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3" name="e07035d2-1141-42db-8cc6-ef285f01d9ad"/>
          <p:cNvSpPr/>
          <p:nvPr/>
        </p:nvSpPr>
        <p:spPr>
          <a:xfrm>
            <a:off x="5193792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f4d52286-42cf-495f-b1e5-53aa860d00c6"/>
          <p:cNvSpPr/>
          <p:nvPr/>
        </p:nvSpPr>
        <p:spPr>
          <a:xfrm>
            <a:off x="5175504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 token</a:t>
            </a:r>
            <a:endParaRPr lang="en-US" sz="1400" dirty="0"/>
          </a:p>
        </p:txBody>
      </p:sp>
      <p:sp>
        <p:nvSpPr>
          <p:cNvPr id="15" name="157ecc4a-9567-46c4-a5e9-91319cdbdeb4"/>
          <p:cNvSpPr/>
          <p:nvPr/>
        </p:nvSpPr>
        <p:spPr>
          <a:xfrm>
            <a:off x="5175504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JWT 壽命可設(demo 1 小時)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登入上限預設 6 小時</a:t>
            </a:r>
            <a:endParaRPr lang="en-US" sz="1100" dirty="0"/>
          </a:p>
        </p:txBody>
      </p:sp>
      <p:sp>
        <p:nvSpPr>
          <p:cNvPr id="16" name="752782d1-7abd-4362-9712-134c29a0ac40"/>
          <p:cNvSpPr/>
          <p:nvPr/>
        </p:nvSpPr>
        <p:spPr>
          <a:xfrm>
            <a:off x="7095744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7" name="6dcdf1f9-91b6-453c-8b7b-a70e01246cb5"/>
          <p:cNvSpPr/>
          <p:nvPr/>
        </p:nvSpPr>
        <p:spPr>
          <a:xfrm>
            <a:off x="7351776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8" name="981154d9-8992-470b-9587-f2d69bd20a8e"/>
          <p:cNvSpPr/>
          <p:nvPr/>
        </p:nvSpPr>
        <p:spPr>
          <a:xfrm>
            <a:off x="7461504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29404bd9-d9a1-45bd-972e-18627fbeb84f"/>
          <p:cNvSpPr/>
          <p:nvPr/>
        </p:nvSpPr>
        <p:spPr>
          <a:xfrm>
            <a:off x="7443216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之後帶 Bearer</a:t>
            </a:r>
            <a:endParaRPr lang="en-US" sz="1400" dirty="0"/>
          </a:p>
        </p:txBody>
      </p:sp>
      <p:sp>
        <p:nvSpPr>
          <p:cNvPr id="20" name="0eed7dcd-baa4-4235-8cd0-2fdbb2701419"/>
          <p:cNvSpPr/>
          <p:nvPr/>
        </p:nvSpPr>
        <p:spPr>
          <a:xfrm>
            <a:off x="7443216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另有 HttpOnly cookie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優先看 Bearer(實測)</a:t>
            </a:r>
            <a:endParaRPr lang="en-US" sz="1100" dirty="0"/>
          </a:p>
        </p:txBody>
      </p:sp>
      <p:sp>
        <p:nvSpPr>
          <p:cNvPr id="21" name="0f4b8097-a50e-44ce-a645-475fd40c2f06"/>
          <p:cNvSpPr/>
          <p:nvPr/>
        </p:nvSpPr>
        <p:spPr>
          <a:xfrm>
            <a:off x="9363456" y="2575972"/>
            <a:ext cx="256032" cy="0"/>
          </a:xfrm>
          <a:prstGeom prst="line">
            <a:avLst/>
          </a:prstGeom>
          <a:noFill/>
          <a:ln w="254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2" name="406fa859-bbb4-4c70-af7a-371fdfc37a90"/>
          <p:cNvSpPr/>
          <p:nvPr/>
        </p:nvSpPr>
        <p:spPr>
          <a:xfrm>
            <a:off x="9619488" y="1727475"/>
            <a:ext cx="2011680" cy="1696995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f23285b9-2752-4d84-aeb6-143ce8217a5b"/>
          <p:cNvSpPr/>
          <p:nvPr/>
        </p:nvSpPr>
        <p:spPr>
          <a:xfrm>
            <a:off x="9729216" y="1829294"/>
            <a:ext cx="384048" cy="35636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24" name="f9638db6-4dc1-4d9b-866a-2c3b3f202bca"/>
          <p:cNvSpPr/>
          <p:nvPr/>
        </p:nvSpPr>
        <p:spPr>
          <a:xfrm>
            <a:off x="9710928" y="2253543"/>
            <a:ext cx="1828800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驗章 + 查範圍</a:t>
            </a:r>
            <a:endParaRPr lang="en-US" sz="1400" dirty="0"/>
          </a:p>
        </p:txBody>
      </p:sp>
      <p:sp>
        <p:nvSpPr>
          <p:cNvPr id="25" name="3b9d615c-3652-405c-9d04-8e1782e24613"/>
          <p:cNvSpPr/>
          <p:nvPr/>
        </p:nvSpPr>
        <p:spPr>
          <a:xfrm>
            <a:off x="9710928" y="2703246"/>
            <a:ext cx="18288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本地驗章(實測推論)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再向 MDS 查權限</a:t>
            </a:r>
            <a:endParaRPr lang="en-US" sz="1100" dirty="0"/>
          </a:p>
        </p:txBody>
      </p:sp>
      <p:sp>
        <p:nvSpPr>
          <p:cNvPr id="26" name="caa479af-9fd3-47df-8482-85bf714e730e"/>
          <p:cNvSpPr/>
          <p:nvPr/>
        </p:nvSpPr>
        <p:spPr>
          <a:xfrm>
            <a:off x="548640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8fc4f6e4-0626-47d4-961e-b854f317184a"/>
          <p:cNvSpPr/>
          <p:nvPr/>
        </p:nvSpPr>
        <p:spPr>
          <a:xfrm>
            <a:off x="731520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e9f20a2f-abe2-4750-879f-259b42004c35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3936962"/>
            <a:ext cx="358445" cy="358445"/>
          </a:xfrm>
          <a:prstGeom prst="rect">
            <a:avLst/>
          </a:prstGeom>
        </p:spPr>
      </p:pic>
      <p:sp>
        <p:nvSpPr>
          <p:cNvPr id="29" name="a1f47707-450c-483e-8c53-fddf3c6fa6f6"/>
          <p:cNvSpPr/>
          <p:nvPr/>
        </p:nvSpPr>
        <p:spPr>
          <a:xfrm>
            <a:off x="1508760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使用者操作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帶「使用者本人」的 token 連 broker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主體 = User:gary / ming</a:t>
            </a:r>
            <a:endParaRPr lang="en-US" sz="1500" dirty="0"/>
          </a:p>
        </p:txBody>
      </p:sp>
      <p:sp>
        <p:nvSpPr>
          <p:cNvPr id="30" name="169d6a7d-5b4a-4494-96fb-ba6e5c641585"/>
          <p:cNvSpPr/>
          <p:nvPr/>
        </p:nvSpPr>
        <p:spPr>
          <a:xfrm>
            <a:off x="6199632" y="3679018"/>
            <a:ext cx="5440680" cy="1272746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1" name="f301512f-1a01-43df-9938-e64abf4a9277"/>
          <p:cNvSpPr/>
          <p:nvPr/>
        </p:nvSpPr>
        <p:spPr>
          <a:xfrm>
            <a:off x="6382512" y="3806293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2" name="58d9d3e4-82d7-4f2c-b596-f7682a5bb3c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3936962"/>
            <a:ext cx="358445" cy="358445"/>
          </a:xfrm>
          <a:prstGeom prst="rect">
            <a:avLst/>
          </a:prstGeom>
        </p:spPr>
      </p:pic>
      <p:sp>
        <p:nvSpPr>
          <p:cNvPr id="33" name="16a8fe98-df5c-4d03-bf0a-9c2b89602b92"/>
          <p:cNvSpPr/>
          <p:nvPr/>
        </p:nvSpPr>
        <p:spPr>
          <a:xfrm>
            <a:off x="7159752" y="3763868"/>
            <a:ext cx="4389120" cy="12727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5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背景工作</a:t>
            </a:r>
            <a:endParaRPr lang="en-US" sz="1500" dirty="0"/>
          </a:p>
          <a:p>
            <a:pPr algn="l" indent="0" marL="0">
              <a:spcAft>
                <a:spcPts val="200"/>
              </a:spcAft>
              <a:buNone/>
            </a:pPr>
            <a:r>
              <a:rPr lang="zh-TW" altLang="en-US" sz="125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憑證向 MDS 換 token = User:c3</a:t>
            </a:r>
            <a:endParaRPr lang="en-US" sz="1500" dirty="0"/>
          </a:p>
          <a:p>
            <a:pPr algn="l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官方要求 SystemAdmin</a:t>
            </a:r>
            <a:endParaRPr lang="en-US" sz="1500" dirty="0"/>
          </a:p>
        </p:txBody>
      </p:sp>
      <p:sp>
        <p:nvSpPr>
          <p:cNvPr id="34" name="3bc5df01-32d4-42b2-aad4-310dd43f4233"/>
          <p:cNvSpPr/>
          <p:nvPr/>
        </p:nvSpPr>
        <p:spPr>
          <a:xfrm>
            <a:off x="548640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下 C3 連 Kafka 只支援 OAUTHBEARER(官方)</a:t>
            </a:r>
            <a:endParaRPr lang="en-US" sz="1200" dirty="0"/>
          </a:p>
        </p:txBody>
      </p:sp>
      <p:sp>
        <p:nvSpPr>
          <p:cNvPr id="35" name="b6c211ae-706d-4515-9a84-1e3cd3b77185"/>
          <p:cNvSpPr/>
          <p:nvPr/>
        </p:nvSpPr>
        <p:spPr>
          <a:xfrm>
            <a:off x="6199632" y="5291163"/>
            <a:ext cx="5440680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管理員:拿掉權限 C3 會退出(實測)</a:t>
            </a:r>
            <a:endParaRPr lang="en-US" sz="1200" dirty="0"/>
          </a:p>
        </p:txBody>
      </p:sp>
      <p:sp>
        <p:nvSpPr>
          <p:cNvPr id="36" name="20392406-91db-47c0-a877-d95a358bfc69"/>
          <p:cNvSpPr/>
          <p:nvPr/>
        </p:nvSpPr>
        <p:spPr>
          <a:xfrm>
            <a:off x="548640" y="5800262"/>
            <a:ext cx="11091672" cy="4242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「使用者操作帶使用者身分」是本專案實測;官方未明說 C3 以誰的身分查詢 Kafka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C3 周邊:Prometheus · Alertmanager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認證現況與可啟用的保護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8c3f7dcc-0539-47c8-ad2f-a54285a396d5"/>
          <p:cNvSpPr/>
          <p:nvPr/>
        </p:nvSpPr>
        <p:spPr>
          <a:xfrm>
            <a:off x="5486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041b9dd-3407-4df6-a354-a01d3146e139"/>
          <p:cNvSpPr/>
          <p:nvPr/>
        </p:nvSpPr>
        <p:spPr>
          <a:xfrm>
            <a:off x="16459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eee9f55d-4fa4-4999-846e-431906d2dc81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766621" y="1966751"/>
            <a:ext cx="307238" cy="307238"/>
          </a:xfrm>
          <a:prstGeom prst="rect">
            <a:avLst/>
          </a:prstGeom>
        </p:spPr>
      </p:pic>
      <p:sp>
        <p:nvSpPr>
          <p:cNvPr id="5" name="d49cfa43-5e61-49cc-9d3b-f5c9629d5615"/>
          <p:cNvSpPr/>
          <p:nvPr/>
        </p:nvSpPr>
        <p:spPr>
          <a:xfrm>
            <a:off x="6217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400" dirty="0"/>
          </a:p>
        </p:txBody>
      </p:sp>
      <p:sp>
        <p:nvSpPr>
          <p:cNvPr id="6" name="cf79b856-53ef-42c2-a217-a4f69af13b42"/>
          <p:cNvSpPr/>
          <p:nvPr/>
        </p:nvSpPr>
        <p:spPr>
          <a:xfrm>
            <a:off x="6400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next-gen 2.x</a:t>
            </a:r>
            <a:endParaRPr lang="en-US" sz="1100" dirty="0"/>
          </a:p>
        </p:txBody>
      </p:sp>
      <p:sp>
        <p:nvSpPr>
          <p:cNvPr id="7" name="1c0d1511-ea3d-4cf8-83d4-592736c4229f"/>
          <p:cNvSpPr/>
          <p:nvPr/>
        </p:nvSpPr>
        <p:spPr>
          <a:xfrm>
            <a:off x="42062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9494f62b-51a3-4486-a249-a42cb510b309"/>
          <p:cNvSpPr/>
          <p:nvPr/>
        </p:nvSpPr>
        <p:spPr>
          <a:xfrm>
            <a:off x="53035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d0b7478e-004b-4691-87e2-5a9152e63bef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424221" y="1966751"/>
            <a:ext cx="307238" cy="307238"/>
          </a:xfrm>
          <a:prstGeom prst="rect">
            <a:avLst/>
          </a:prstGeom>
        </p:spPr>
      </p:pic>
      <p:sp>
        <p:nvSpPr>
          <p:cNvPr id="10" name="50d0f327-256d-4ffa-b6e3-543bb1e9a9e3"/>
          <p:cNvSpPr/>
          <p:nvPr/>
        </p:nvSpPr>
        <p:spPr>
          <a:xfrm>
            <a:off x="42793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400" dirty="0"/>
          </a:p>
        </p:txBody>
      </p:sp>
      <p:sp>
        <p:nvSpPr>
          <p:cNvPr id="11" name="cbf3ae37-9d4f-4c87-86be-299a2dc18459"/>
          <p:cNvSpPr/>
          <p:nvPr/>
        </p:nvSpPr>
        <p:spPr>
          <a:xfrm>
            <a:off x="42976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指標</a:t>
            </a:r>
            <a:endParaRPr lang="en-US" sz="1100" dirty="0"/>
          </a:p>
        </p:txBody>
      </p:sp>
      <p:sp>
        <p:nvSpPr>
          <p:cNvPr id="12" name="22ab9281-5086-4640-bd5a-3b87bd01222b"/>
          <p:cNvSpPr/>
          <p:nvPr/>
        </p:nvSpPr>
        <p:spPr>
          <a:xfrm>
            <a:off x="7863840" y="1727475"/>
            <a:ext cx="2743200" cy="195154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c75af631-8075-40db-830e-ed7975186cd3"/>
          <p:cNvSpPr/>
          <p:nvPr/>
        </p:nvSpPr>
        <p:spPr>
          <a:xfrm>
            <a:off x="896112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4" name="7a4a8a7e-c3da-4a16-a732-7ce94ec88799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081821" y="1966751"/>
            <a:ext cx="307238" cy="307238"/>
          </a:xfrm>
          <a:prstGeom prst="rect">
            <a:avLst/>
          </a:prstGeom>
        </p:spPr>
      </p:pic>
      <p:sp>
        <p:nvSpPr>
          <p:cNvPr id="15" name="3997fdb5-a022-4122-9fca-335e8ddb5861"/>
          <p:cNvSpPr/>
          <p:nvPr/>
        </p:nvSpPr>
        <p:spPr>
          <a:xfrm>
            <a:off x="7936992" y="2448697"/>
            <a:ext cx="259689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400" dirty="0"/>
          </a:p>
        </p:txBody>
      </p:sp>
      <p:sp>
        <p:nvSpPr>
          <p:cNvPr id="16" name="93ed0d30-3301-48ce-bd76-b2d36da3af46"/>
          <p:cNvSpPr/>
          <p:nvPr/>
        </p:nvSpPr>
        <p:spPr>
          <a:xfrm>
            <a:off x="7955280" y="2830521"/>
            <a:ext cx="256032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告警 · 靜音</a:t>
            </a:r>
            <a:endParaRPr lang="en-US" sz="1100" dirty="0"/>
          </a:p>
        </p:txBody>
      </p:sp>
      <p:sp>
        <p:nvSpPr>
          <p:cNvPr id="17" name="35a5e400-551c-4608-94a7-d2f1cbf12fdf"/>
          <p:cNvSpPr/>
          <p:nvPr/>
        </p:nvSpPr>
        <p:spPr>
          <a:xfrm>
            <a:off x="32918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d5e93bd2-737d-4efb-8f70-f57ea96df4a2"/>
          <p:cNvSpPr/>
          <p:nvPr/>
        </p:nvSpPr>
        <p:spPr>
          <a:xfrm>
            <a:off x="6949440" y="2703246"/>
            <a:ext cx="914400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33f40c13-73be-423f-9444-d5447294c9e3"/>
          <p:cNvSpPr/>
          <p:nvPr/>
        </p:nvSpPr>
        <p:spPr>
          <a:xfrm>
            <a:off x="548640" y="3933568"/>
            <a:ext cx="5486400" cy="1484870"/>
          </a:xfrm>
          <a:prstGeom prst="roundRect">
            <a:avLst>
              <a:gd name="adj" fmla="val 90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20" name="5453b438-c0fd-4e02-8913-47bc6e9f2d26"/>
          <p:cNvSpPr/>
          <p:nvPr/>
        </p:nvSpPr>
        <p:spPr>
          <a:xfrm>
            <a:off x="731520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1" name="7199cf6a-4ce8-4ffd-bb29-9b9bd885a96d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872338" y="4191511"/>
            <a:ext cx="358445" cy="358445"/>
          </a:xfrm>
          <a:prstGeom prst="rect">
            <a:avLst/>
          </a:prstGeom>
        </p:spPr>
      </p:pic>
      <p:sp>
        <p:nvSpPr>
          <p:cNvPr id="22" name="2e976d56-0ebe-401e-8bee-d489ede2953a"/>
          <p:cNvSpPr/>
          <p:nvPr/>
        </p:nvSpPr>
        <p:spPr>
          <a:xfrm>
            <a:off x="1508760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本 demo 未啟用認證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不帶憑證可讀指標;Alertmanager 可無認證建立 / 刪除靜音</a:t>
            </a:r>
            <a:endParaRPr lang="en-US" sz="1400" dirty="0"/>
          </a:p>
        </p:txBody>
      </p:sp>
      <p:sp>
        <p:nvSpPr>
          <p:cNvPr id="23" name="8cd6953e-f433-4544-a807-ce053465d186"/>
          <p:cNvSpPr/>
          <p:nvPr/>
        </p:nvSpPr>
        <p:spPr>
          <a:xfrm>
            <a:off x="6199632" y="3933568"/>
            <a:ext cx="5440680" cy="1484870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541d512f-50b4-456c-a72d-dd8db6ae995f"/>
          <p:cNvSpPr/>
          <p:nvPr/>
        </p:nvSpPr>
        <p:spPr>
          <a:xfrm>
            <a:off x="6382512" y="4060842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5" name="f9877291-a395-4cf6-963c-061f57de0699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6523330" y="4191511"/>
            <a:ext cx="358445" cy="358445"/>
          </a:xfrm>
          <a:prstGeom prst="rect">
            <a:avLst/>
          </a:prstGeom>
        </p:spPr>
      </p:pic>
      <p:sp>
        <p:nvSpPr>
          <p:cNvPr id="26" name="df410479-d90a-4c68-b4f9-38a36e84f549"/>
          <p:cNvSpPr/>
          <p:nvPr/>
        </p:nvSpPr>
        <p:spPr>
          <a:xfrm>
            <a:off x="7159752" y="4018417"/>
            <a:ext cx="4389120" cy="13575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官方支援 TLS + HTTP Basic(7.5 以後)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2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建議正式環境啟用;客戶希望憑證越少越好 → 共用 server 憑證做 TLS + Basic 帳密</a:t>
            </a:r>
            <a:endParaRPr lang="en-US" sz="1400" dirty="0"/>
          </a:p>
        </p:txBody>
      </p:sp>
      <p:sp>
        <p:nvSpPr>
          <p:cNvPr id="27" name="87ce7c83-a762-463e-a3fc-a6a7ed7575eb"/>
          <p:cNvSpPr/>
          <p:nvPr/>
        </p:nvSpPr>
        <p:spPr>
          <a:xfrm>
            <a:off x="548640" y="5630562"/>
            <a:ext cx="749808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Schema Registry 未部署 → confluent.controlcenter.schema.registry.enable=false</a:t>
            </a:r>
            <a:endParaRPr lang="en-US" sz="1150" dirty="0"/>
          </a:p>
        </p:txBody>
      </p:sp>
      <p:sp>
        <p:nvSpPr>
          <p:cNvPr id="28" name="d5307471-8348-4710-9325-c00fcf6d0c66"/>
          <p:cNvSpPr/>
          <p:nvPr/>
        </p:nvSpPr>
        <p:spPr>
          <a:xfrm>
            <a:off x="8229600" y="5630562"/>
            <a:ext cx="341071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啟用後的實測:尚未做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Audit log:誰被拒、誰改了授權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預設只記錄 Management 與 Authorize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a11819a3-c6f4-4954-b348-a2524b11c2b8"/>
          <p:cNvSpPr/>
          <p:nvPr/>
        </p:nvSpPr>
        <p:spPr>
          <a:xfrm>
            <a:off x="548640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3" name="5a4c3a7d-4d97-48b5-9e1e-d1f185a0a8c3"/>
          <p:cNvSpPr/>
          <p:nvPr/>
        </p:nvSpPr>
        <p:spPr>
          <a:xfrm>
            <a:off x="2034540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4" name="a1cf1f5e-7a23-4400-9523-a47f8cd1672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1966751"/>
            <a:ext cx="307238" cy="307238"/>
          </a:xfrm>
          <a:prstGeom prst="rect">
            <a:avLst/>
          </a:prstGeom>
        </p:spPr>
      </p:pic>
      <p:sp>
        <p:nvSpPr>
          <p:cNvPr id="5" name="f005ea75-12d2-4c2b-b5c3-d6314d401212"/>
          <p:cNvSpPr/>
          <p:nvPr/>
        </p:nvSpPr>
        <p:spPr>
          <a:xfrm>
            <a:off x="621792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官方預設</a:t>
            </a:r>
            <a:endParaRPr lang="en-US" sz="1600" dirty="0"/>
          </a:p>
        </p:txBody>
      </p:sp>
      <p:sp>
        <p:nvSpPr>
          <p:cNvPr id="6" name="a753ef52-92ed-4d1a-8570-b84284f77108"/>
          <p:cNvSpPr/>
          <p:nvPr/>
        </p:nvSpPr>
        <p:spPr>
          <a:xfrm>
            <a:off x="640080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Management + Authorize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allowed 與 denied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confluent-audit-log-events</a:t>
            </a:r>
            <a:endParaRPr lang="en-US" sz="1200" dirty="0"/>
          </a:p>
        </p:txBody>
      </p:sp>
      <p:sp>
        <p:nvSpPr>
          <p:cNvPr id="7" name="2cff9be3-aef7-44c0-ae9d-d595d8f759ae"/>
          <p:cNvSpPr/>
          <p:nvPr/>
        </p:nvSpPr>
        <p:spPr>
          <a:xfrm>
            <a:off x="4325112" y="1727475"/>
            <a:ext cx="3520440" cy="216366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a88706f2-50e9-4c9d-bfe2-05e88310c49e"/>
          <p:cNvSpPr/>
          <p:nvPr/>
        </p:nvSpPr>
        <p:spPr>
          <a:xfrm>
            <a:off x="5811012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9" name="0aef6d1c-41e8-41cb-ae35-8c14e0ce25a4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1966751"/>
            <a:ext cx="307238" cy="307238"/>
          </a:xfrm>
          <a:prstGeom prst="rect">
            <a:avLst/>
          </a:prstGeom>
        </p:spPr>
      </p:pic>
      <p:sp>
        <p:nvSpPr>
          <p:cNvPr id="10" name="5b477c3d-572d-498b-a444-9f115527675a"/>
          <p:cNvSpPr/>
          <p:nvPr/>
        </p:nvSpPr>
        <p:spPr>
          <a:xfrm>
            <a:off x="4398264" y="2448697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自訂 router</a:t>
            </a:r>
            <a:endParaRPr lang="en-US" sz="1600" dirty="0"/>
          </a:p>
        </p:txBody>
      </p:sp>
      <p:sp>
        <p:nvSpPr>
          <p:cNvPr id="11" name="26a58a74-7a24-48f3-92ad-db0ed96f4e70"/>
          <p:cNvSpPr/>
          <p:nvPr/>
        </p:nvSpPr>
        <p:spPr>
          <a:xfrm>
            <a:off x="4416552" y="2830521"/>
            <a:ext cx="333756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 topic 前綴記錄 produce / consume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/ describe 的「被拒」事件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被允許的 consume 不記(避免洗版)</a:t>
            </a:r>
            <a:endParaRPr lang="en-US" sz="1200" dirty="0"/>
          </a:p>
        </p:txBody>
      </p:sp>
      <p:sp>
        <p:nvSpPr>
          <p:cNvPr id="12" name="538d93ce-ba3c-449a-9ab8-c93676ab2f44"/>
          <p:cNvSpPr/>
          <p:nvPr/>
        </p:nvSpPr>
        <p:spPr>
          <a:xfrm>
            <a:off x="8101584" y="1727475"/>
            <a:ext cx="3538728" cy="216366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9050">
            <a:solidFill>
              <a:srgbClr val="B3261E"/>
            </a:solidFill>
            <a:prstDash val="solid"/>
          </a:ln>
        </p:spPr>
      </p:sp>
      <p:sp>
        <p:nvSpPr>
          <p:cNvPr id="13" name="92fc9acc-e7b4-4122-8b8b-39a3a8bf60a4"/>
          <p:cNvSpPr/>
          <p:nvPr/>
        </p:nvSpPr>
        <p:spPr>
          <a:xfrm>
            <a:off x="9596628" y="1854749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4" name="ec59c880-b22d-4224-a388-6b48de5af140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17329" y="1966751"/>
            <a:ext cx="307238" cy="307238"/>
          </a:xfrm>
          <a:prstGeom prst="rect">
            <a:avLst/>
          </a:prstGeom>
        </p:spPr>
      </p:pic>
      <p:sp>
        <p:nvSpPr>
          <p:cNvPr id="15" name="5b2df485-7000-4560-abf7-8e92147c926e"/>
          <p:cNvSpPr/>
          <p:nvPr/>
        </p:nvSpPr>
        <p:spPr>
          <a:xfrm>
            <a:off x="8174736" y="2448697"/>
            <a:ext cx="3392424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6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查不到的</a:t>
            </a:r>
            <a:endParaRPr lang="en-US" sz="1600" dirty="0"/>
          </a:p>
        </p:txBody>
      </p:sp>
      <p:sp>
        <p:nvSpPr>
          <p:cNvPr id="16" name="0d1a36c5-90d3-4f97-b57f-bd3448933db2"/>
          <p:cNvSpPr/>
          <p:nvPr/>
        </p:nvSpPr>
        <p:spPr>
          <a:xfrm>
            <a:off x="8193024" y="2830521"/>
            <a:ext cx="3355848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部分拒絕(例:缺 IdempotentWrite)</a:t>
            </a:r>
            <a:endParaRPr lang="en-US" sz="1200" dirty="0"/>
          </a:p>
          <a:p>
            <a:pPr algn="ctr" indent="0" marL="0">
              <a:buNone/>
            </a:pPr>
            <a:r>
              <a:rPr lang="zh-TW" altLang="en-US" sz="12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的 actingPrincipal 為空</a:t>
            </a:r>
            <a:endParaRPr lang="en-US" sz="1200" dirty="0"/>
          </a:p>
        </p:txBody>
      </p:sp>
      <p:sp>
        <p:nvSpPr>
          <p:cNvPr id="17" name="2aa8969d-44c0-4f37-ad86-043f511c0eb2"/>
          <p:cNvSpPr/>
          <p:nvPr/>
        </p:nvSpPr>
        <p:spPr>
          <a:xfrm>
            <a:off x="4069080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8" name="0b78e3f1-78e7-4645-8642-84b1cfc58db9"/>
          <p:cNvSpPr/>
          <p:nvPr/>
        </p:nvSpPr>
        <p:spPr>
          <a:xfrm>
            <a:off x="7845552" y="2788096"/>
            <a:ext cx="256032" cy="0"/>
          </a:xfrm>
          <a:prstGeom prst="line">
            <a:avLst/>
          </a:prstGeom>
          <a:noFill/>
          <a:ln w="2857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9" name="1e5bdead-875b-4c04-8a5f-988f07f88ed0"/>
          <p:cNvSpPr/>
          <p:nvPr/>
        </p:nvSpPr>
        <p:spPr>
          <a:xfrm>
            <a:off x="548640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能看到:誰被拒(需自訂 router)</a:t>
            </a:r>
            <a:endParaRPr lang="en-US" sz="1250" dirty="0"/>
          </a:p>
        </p:txBody>
      </p:sp>
      <p:sp>
        <p:nvSpPr>
          <p:cNvPr id="20" name="26712c97-ce6a-46c3-a3f4-6061a10f70a5"/>
          <p:cNvSpPr/>
          <p:nvPr/>
        </p:nvSpPr>
        <p:spPr>
          <a:xfrm>
            <a:off x="6153912" y="4188117"/>
            <a:ext cx="548640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能看到:誰嘗試改授權(DENIED)</a:t>
            </a:r>
            <a:endParaRPr lang="en-US" sz="1250" dirty="0"/>
          </a:p>
        </p:txBody>
      </p:sp>
      <p:sp>
        <p:nvSpPr>
          <p:cNvPr id="21" name="3c38213a-e54c-46fa-8e1e-10f1a7cbbe81"/>
          <p:cNvSpPr/>
          <p:nvPr/>
        </p:nvSpPr>
        <p:spPr>
          <a:xfrm>
            <a:off x="548640" y="4697215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共用帳號 → audit 只剩一個名字;個人身分 → 看得到是誰</a:t>
            </a:r>
            <a:endParaRPr lang="en-US" sz="1250" dirty="0"/>
          </a:p>
        </p:txBody>
      </p:sp>
      <p:sp>
        <p:nvSpPr>
          <p:cNvPr id="22" name="1e98ec9c-d002-405c-be17-6f5f08128d3f"/>
          <p:cNvSpPr/>
          <p:nvPr/>
        </p:nvSpPr>
        <p:spPr>
          <a:xfrm>
            <a:off x="548640" y="52063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⚠ 不能假設所有拒絕都查得到:稽核需求要另外盤點</a:t>
            </a:r>
            <a:endParaRPr lang="en-US" sz="1300" dirty="0"/>
          </a:p>
        </p:txBody>
      </p:sp>
      <p:sp>
        <p:nvSpPr>
          <p:cNvPr id="23" name="1da534bb-43ed-4818-8d11-f1a99825cfe8"/>
          <p:cNvSpPr/>
          <p:nvPr/>
        </p:nvSpPr>
        <p:spPr>
          <a:xfrm>
            <a:off x="548640" y="567298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官方建議:produce / consume 只對最敏感的 topic 開;audit 送到另一個叢集、依法遵保存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3F7094-EC21-E78F-AC34-F4F53628B4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整合起來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06BFE2-4BF9-CFC3-8E03-EAD162958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3</a:t>
            </a:fld>
            <a:endParaRPr lang="zh-TW" altLang="en-US" sz="900"/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6D320015-D646-FEF2-0479-8E4932E3E5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全景 · 人與機器的完整路徑 · 要管理的憑證 · 導入步驟 · 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9FD1-8D94-8885-5EBE-98A66BDA71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</p:spTree>
    <p:extLst>
      <p:ext uri="{BB962C8B-B14F-4D97-AF65-F5344CB8AC3E}">
        <p14:creationId xmlns:p14="http://schemas.microsoft.com/office/powerpoint/2010/main" val="16725382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全景整合圖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人與機器如何進入,由 MDS 的 RBAC 集中判斷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797ffb9c-f4fb-4c37-81f7-9f51a21467d2"/>
          <p:cNvSpPr/>
          <p:nvPr/>
        </p:nvSpPr>
        <p:spPr>
          <a:xfrm>
            <a:off x="457200" y="1642625"/>
            <a:ext cx="2560320" cy="1824269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0af63aac-589f-4ea1-add7-4bc4126ed544"/>
          <p:cNvSpPr/>
          <p:nvPr/>
        </p:nvSpPr>
        <p:spPr>
          <a:xfrm>
            <a:off x="594360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bdcee9ee-289f-48d4-9a98-4a4a62f209ac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35178" y="1900568"/>
            <a:ext cx="358445" cy="358445"/>
          </a:xfrm>
          <a:prstGeom prst="rect">
            <a:avLst/>
          </a:prstGeom>
        </p:spPr>
      </p:pic>
      <p:sp>
        <p:nvSpPr>
          <p:cNvPr id="5" name="9aaacfaf-81f7-407b-bc3e-09d37e50202a"/>
          <p:cNvSpPr/>
          <p:nvPr/>
        </p:nvSpPr>
        <p:spPr>
          <a:xfrm>
            <a:off x="1325880" y="1769899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800" dirty="0"/>
          </a:p>
        </p:txBody>
      </p:sp>
      <p:sp>
        <p:nvSpPr>
          <p:cNvPr id="6" name="88cc5df5-fbf2-4b9a-ae95-f3a1e13b78e1"/>
          <p:cNvSpPr/>
          <p:nvPr/>
        </p:nvSpPr>
        <p:spPr>
          <a:xfrm>
            <a:off x="594360" y="2491122"/>
            <a:ext cx="2331720" cy="93334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gary · yujie · ming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 · CLI · Postman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身分來自 AD</a:t>
            </a:r>
            <a:endParaRPr lang="en-US" sz="1200" dirty="0"/>
          </a:p>
        </p:txBody>
      </p:sp>
      <p:sp>
        <p:nvSpPr>
          <p:cNvPr id="7" name="edd4ec92-08e9-4b47-b843-fc3c1f3aa6fa"/>
          <p:cNvSpPr/>
          <p:nvPr/>
        </p:nvSpPr>
        <p:spPr>
          <a:xfrm>
            <a:off x="457200" y="3721443"/>
            <a:ext cx="2560320" cy="18666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9eb8bb91-85c8-402c-a5b1-e4c42157992d"/>
          <p:cNvSpPr/>
          <p:nvPr/>
        </p:nvSpPr>
        <p:spPr>
          <a:xfrm>
            <a:off x="594360" y="38487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3f8e32b1-5dde-4d08-9241-ee7226c73021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35178" y="3979386"/>
            <a:ext cx="358445" cy="358445"/>
          </a:xfrm>
          <a:prstGeom prst="rect">
            <a:avLst/>
          </a:prstGeom>
        </p:spPr>
      </p:pic>
      <p:sp>
        <p:nvSpPr>
          <p:cNvPr id="10" name="e372cdfc-8c5c-4362-8a69-658a0564e067"/>
          <p:cNvSpPr/>
          <p:nvPr/>
        </p:nvSpPr>
        <p:spPr>
          <a:xfrm>
            <a:off x="1325880" y="3848718"/>
            <a:ext cx="164592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</a:t>
            </a:r>
            <a:endParaRPr lang="en-US" sz="1800" dirty="0"/>
          </a:p>
        </p:txBody>
      </p:sp>
      <p:sp>
        <p:nvSpPr>
          <p:cNvPr id="11" name="ff31bfb9-e958-4b1c-b540-b013c705313d"/>
          <p:cNvSpPr/>
          <p:nvPr/>
        </p:nvSpPr>
        <p:spPr>
          <a:xfrm>
            <a:off x="594360" y="4569941"/>
            <a:ext cx="2331720" cy="10181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應用(SCRAM)</a:t>
            </a:r>
            <a:endParaRPr lang="en-US" sz="1200" dirty="0"/>
          </a:p>
          <a:p>
            <a:pPr algn="l" indent="0" marL="0">
              <a:spcAft>
                <a:spcPts val="300"/>
              </a:spcAft>
              <a:buNone/>
            </a:pPr>
            <a:r>
              <a:rPr lang="zh-TW" altLang="en-US" sz="12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app(client 憑證)</a:t>
            </a:r>
            <a:endParaRPr lang="en-US" sz="1200" dirty="0"/>
          </a:p>
          <a:p>
            <a:pPr algn="l" indent="0" marL="0">
              <a:buNone/>
            </a:pPr>
            <a:r>
              <a:rPr lang="zh-TW" altLang="en-US" sz="105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連 Kafka;憑證連 REST Proxy</a:t>
            </a:r>
            <a:endParaRPr lang="en-US" sz="1200" dirty="0"/>
          </a:p>
        </p:txBody>
      </p:sp>
      <p:sp>
        <p:nvSpPr>
          <p:cNvPr id="12" name="dd577d20-de6c-4e88-b26d-88beb2c0849d"/>
          <p:cNvSpPr/>
          <p:nvPr/>
        </p:nvSpPr>
        <p:spPr>
          <a:xfrm>
            <a:off x="3611880" y="1642625"/>
            <a:ext cx="2331720" cy="3945512"/>
          </a:xfrm>
          <a:prstGeom prst="roundRect">
            <a:avLst>
              <a:gd name="adj" fmla="val 9000"/>
            </a:avLst>
          </a:prstGeom>
          <a:solidFill>
            <a:srgbClr val="0F9ED5">
              <a:alpha val="12000"/>
            </a:srgbClr>
          </a:solidFill>
          <a:ln w="19050">
            <a:solidFill>
              <a:srgbClr val="0F9ED5"/>
            </a:solidFill>
            <a:prstDash val="solid"/>
          </a:ln>
        </p:spPr>
      </p:sp>
      <p:sp>
        <p:nvSpPr>
          <p:cNvPr id="13" name="ef9c9947-678b-48ca-bb7f-ce0594cf5c91"/>
          <p:cNvSpPr/>
          <p:nvPr/>
        </p:nvSpPr>
        <p:spPr>
          <a:xfrm>
            <a:off x="3611880" y="1702020"/>
            <a:ext cx="233172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0F9ED5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入口</a:t>
            </a:r>
            <a:endParaRPr lang="en-US" sz="1500" dirty="0"/>
          </a:p>
        </p:txBody>
      </p:sp>
      <p:sp>
        <p:nvSpPr>
          <p:cNvPr id="14" name="b6b5342a-ebf0-4f7b-bcb2-890327b8efd9"/>
          <p:cNvSpPr/>
          <p:nvPr/>
        </p:nvSpPr>
        <p:spPr>
          <a:xfrm>
            <a:off x="3794760" y="2109298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 Center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 → token</a:t>
            </a:r>
            <a:endParaRPr lang="en-US" sz="1300" dirty="0"/>
          </a:p>
        </p:txBody>
      </p:sp>
      <p:sp>
        <p:nvSpPr>
          <p:cNvPr id="15" name="5ff47d90-eb54-4025-a7b7-28335c6af111"/>
          <p:cNvSpPr/>
          <p:nvPr/>
        </p:nvSpPr>
        <p:spPr>
          <a:xfrm>
            <a:off x="3794760" y="3339619"/>
            <a:ext cx="196596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人:Basic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app:憑證</a:t>
            </a:r>
            <a:endParaRPr lang="en-US" sz="1300" dirty="0"/>
          </a:p>
        </p:txBody>
      </p:sp>
      <p:sp>
        <p:nvSpPr>
          <p:cNvPr id="16" name="d5391807-68d3-4a9c-9ed9-31a5fc0a9e31"/>
          <p:cNvSpPr/>
          <p:nvPr/>
        </p:nvSpPr>
        <p:spPr>
          <a:xfrm>
            <a:off x="3794760" y="4569941"/>
            <a:ext cx="1965960" cy="8909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0F9ED5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9094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CLI:PLAIN+LDAP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應用:SCRAM</a:t>
            </a:r>
            <a:endParaRPr lang="en-US" sz="1300" dirty="0"/>
          </a:p>
        </p:txBody>
      </p:sp>
      <p:sp>
        <p:nvSpPr>
          <p:cNvPr id="17" name="e03ef4f2-c1e8-4b46-a998-9e6e90bfe7ad"/>
          <p:cNvSpPr/>
          <p:nvPr/>
        </p:nvSpPr>
        <p:spPr>
          <a:xfrm>
            <a:off x="3017520" y="2703246"/>
            <a:ext cx="594360" cy="0"/>
          </a:xfrm>
          <a:prstGeom prst="line">
            <a:avLst/>
          </a:prstGeom>
          <a:noFill/>
          <a:ln w="3810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8" name="3a0c9b61-a3d4-47f5-b5d6-d492841754a8"/>
          <p:cNvSpPr/>
          <p:nvPr/>
        </p:nvSpPr>
        <p:spPr>
          <a:xfrm>
            <a:off x="3017520" y="4654790"/>
            <a:ext cx="594360" cy="0"/>
          </a:xfrm>
          <a:prstGeom prst="line">
            <a:avLst/>
          </a:prstGeom>
          <a:noFill/>
          <a:ln w="38100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0ed41d66-f355-42c2-9dbf-2e059045b74b"/>
          <p:cNvSpPr/>
          <p:nvPr/>
        </p:nvSpPr>
        <p:spPr>
          <a:xfrm>
            <a:off x="6492240" y="1642625"/>
            <a:ext cx="3566160" cy="3945512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0" name="f0e0b937-2985-4b7b-9ea8-f720778f572c"/>
          <p:cNvSpPr/>
          <p:nvPr/>
        </p:nvSpPr>
        <p:spPr>
          <a:xfrm>
            <a:off x="6675120" y="1702020"/>
            <a:ext cx="3200400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zh-TW" altLang="en-US" sz="15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叢集</a:t>
            </a:r>
            <a:endParaRPr lang="en-US" sz="1500" dirty="0"/>
          </a:p>
        </p:txBody>
      </p:sp>
      <p:sp>
        <p:nvSpPr>
          <p:cNvPr id="21" name="686c662f-673b-47a6-8f80-02d2dfd5bce6"/>
          <p:cNvSpPr/>
          <p:nvPr/>
        </p:nvSpPr>
        <p:spPr>
          <a:xfrm>
            <a:off x="6675120" y="2109298"/>
            <a:ext cx="150876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1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2" name="fd8ea72b-12a6-4d64-8e3d-428aea401548"/>
          <p:cNvSpPr/>
          <p:nvPr/>
        </p:nvSpPr>
        <p:spPr>
          <a:xfrm>
            <a:off x="8275320" y="2109298"/>
            <a:ext cx="1600200" cy="1103046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2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2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+ MDS</a:t>
            </a:r>
            <a:endParaRPr lang="en-US" sz="1300" dirty="0"/>
          </a:p>
        </p:txBody>
      </p:sp>
      <p:sp>
        <p:nvSpPr>
          <p:cNvPr id="23" name="55c83e96-dcdb-4434-a610-93e8b98d84e0"/>
          <p:cNvSpPr/>
          <p:nvPr/>
        </p:nvSpPr>
        <p:spPr>
          <a:xfrm>
            <a:off x="6675120" y="3424469"/>
            <a:ext cx="3200400" cy="678798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controller(正式 3 個)</a:t>
            </a:r>
            <a:endParaRPr lang="en-US" sz="1250" dirty="0"/>
          </a:p>
        </p:txBody>
      </p:sp>
      <p:sp>
        <p:nvSpPr>
          <p:cNvPr id="24" name="2d5b8712-cc73-4383-8fbb-03e03f96c587"/>
          <p:cNvSpPr/>
          <p:nvPr/>
        </p:nvSpPr>
        <p:spPr>
          <a:xfrm>
            <a:off x="6675120" y="4315391"/>
            <a:ext cx="3200400" cy="1060622"/>
          </a:xfrm>
          <a:prstGeom prst="roundRect">
            <a:avLst>
              <a:gd name="adj" fmla="val 7200"/>
            </a:avLst>
          </a:prstGeom>
          <a:solidFill>
            <a:srgbClr val="FFFFFF"/>
          </a:solidFill>
          <a:ln w="19050">
            <a:solidFill>
              <a:srgbClr val="7A4EAB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spcAft>
                <a:spcPts val="300"/>
              </a:spcAft>
              <a:buNone/>
            </a:pPr>
            <a:r>
              <a:rPr lang="zh-TW" altLang="en-US" sz="13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 授權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topic:_confluent-metadata-auth</a:t>
            </a:r>
            <a:endParaRPr lang="en-US" sz="1300" dirty="0"/>
          </a:p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本地 cache</a:t>
            </a:r>
            <a:endParaRPr lang="en-US" sz="1300" dirty="0"/>
          </a:p>
        </p:txBody>
      </p:sp>
      <p:sp>
        <p:nvSpPr>
          <p:cNvPr id="25" name="45206628-a730-461d-8892-987a53a66dc6"/>
          <p:cNvSpPr/>
          <p:nvPr/>
        </p:nvSpPr>
        <p:spPr>
          <a:xfrm>
            <a:off x="5943600" y="3594169"/>
            <a:ext cx="548640" cy="0"/>
          </a:xfrm>
          <a:prstGeom prst="line">
            <a:avLst/>
          </a:prstGeom>
          <a:noFill/>
          <a:ln w="3810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6" name="3dd3f35b-73e5-47aa-9250-de764dd36619"/>
          <p:cNvSpPr/>
          <p:nvPr/>
        </p:nvSpPr>
        <p:spPr>
          <a:xfrm>
            <a:off x="10607040" y="1642625"/>
            <a:ext cx="1143000" cy="1612145"/>
          </a:xfrm>
          <a:prstGeom prst="roundRect">
            <a:avLst>
              <a:gd name="adj" fmla="val 90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7" name="074ccbaa-3909-4f9d-a9fc-7780c16faeee"/>
          <p:cNvSpPr/>
          <p:nvPr/>
        </p:nvSpPr>
        <p:spPr>
          <a:xfrm>
            <a:off x="10863072" y="1769899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8" name="202de69e-7373-4b3c-8a7e-373dec503b13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1003890" y="1900568"/>
            <a:ext cx="358445" cy="358445"/>
          </a:xfrm>
          <a:prstGeom prst="rect">
            <a:avLst/>
          </a:prstGeom>
        </p:spPr>
      </p:pic>
      <p:sp>
        <p:nvSpPr>
          <p:cNvPr id="29" name="d89ee77e-d6de-4d58-9496-2754734aaff9"/>
          <p:cNvSpPr/>
          <p:nvPr/>
        </p:nvSpPr>
        <p:spPr>
          <a:xfrm>
            <a:off x="10607040" y="2491122"/>
            <a:ext cx="114300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</a:t>
            </a:r>
            <a:endParaRPr lang="en-US" sz="1400" dirty="0"/>
          </a:p>
          <a:p>
            <a:pPr algn="ctr" indent="0" marL="0">
              <a:buNone/>
            </a:pPr>
            <a:r>
              <a:rPr lang="zh-TW" altLang="en-US" sz="11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LDAP</a:t>
            </a:r>
            <a:endParaRPr lang="en-US" sz="1400" dirty="0"/>
          </a:p>
        </p:txBody>
      </p:sp>
      <p:sp>
        <p:nvSpPr>
          <p:cNvPr id="30" name="f8b0dc81-48d0-4e2c-8796-0ffc6ad9c376"/>
          <p:cNvSpPr/>
          <p:nvPr/>
        </p:nvSpPr>
        <p:spPr>
          <a:xfrm>
            <a:off x="10058400" y="2448697"/>
            <a:ext cx="548640" cy="0"/>
          </a:xfrm>
          <a:prstGeom prst="line">
            <a:avLst/>
          </a:prstGeom>
          <a:noFill/>
          <a:ln w="31750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1" name="a886d8ad-a6ed-4668-ab03-d6073e39fe63"/>
          <p:cNvSpPr/>
          <p:nvPr/>
        </p:nvSpPr>
        <p:spPr>
          <a:xfrm>
            <a:off x="10607040" y="3551744"/>
            <a:ext cx="1143000" cy="2036394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2" name="8ea04fc3-3c64-4a96-9939-4a7f8bbb3ed5"/>
          <p:cNvSpPr/>
          <p:nvPr/>
        </p:nvSpPr>
        <p:spPr>
          <a:xfrm>
            <a:off x="10863072" y="3679018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33" name="3652d8e0-e2c5-49c1-99a0-2269c40d60b6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11003890" y="3809687"/>
            <a:ext cx="358445" cy="358445"/>
          </a:xfrm>
          <a:prstGeom prst="rect">
            <a:avLst/>
          </a:prstGeom>
        </p:spPr>
      </p:pic>
      <p:sp>
        <p:nvSpPr>
          <p:cNvPr id="34" name="7a109d7c-3da1-43da-8f1e-45e92b547ffe"/>
          <p:cNvSpPr/>
          <p:nvPr/>
        </p:nvSpPr>
        <p:spPr>
          <a:xfrm>
            <a:off x="10607040" y="4357816"/>
            <a:ext cx="1143000" cy="11030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Prometheus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Alertmanager</a:t>
            </a:r>
            <a:endParaRPr lang="en-US" sz="1000" dirty="0"/>
          </a:p>
          <a:p>
            <a:pPr algn="ctr" indent="0" marL="0">
              <a:buNone/>
            </a:pPr>
            <a:r>
              <a:rPr lang="zh-TW" altLang="en-US" sz="10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(C3 用)</a:t>
            </a:r>
            <a:endParaRPr lang="en-US" sz="1000" dirty="0"/>
          </a:p>
        </p:txBody>
      </p:sp>
      <p:sp>
        <p:nvSpPr>
          <p:cNvPr id="35" name="f01f1208-5f2a-4ef3-8a3e-997b749dc607"/>
          <p:cNvSpPr/>
          <p:nvPr/>
        </p:nvSpPr>
        <p:spPr>
          <a:xfrm>
            <a:off x="457200" y="5800262"/>
            <a:ext cx="914400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人</a:t>
            </a:r>
            <a:endParaRPr lang="en-US" sz="1100" dirty="0"/>
          </a:p>
        </p:txBody>
      </p:sp>
      <p:sp>
        <p:nvSpPr>
          <p:cNvPr id="36" name="6a4f8396-661f-4a1f-994c-d037ce799dfb"/>
          <p:cNvSpPr/>
          <p:nvPr/>
        </p:nvSpPr>
        <p:spPr>
          <a:xfrm>
            <a:off x="1508760" y="5800262"/>
            <a:ext cx="1554480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 / 服務</a:t>
            </a:r>
            <a:endParaRPr lang="en-US" sz="1100" dirty="0"/>
          </a:p>
        </p:txBody>
      </p:sp>
      <p:sp>
        <p:nvSpPr>
          <p:cNvPr id="37" name="91e55453-f220-4c10-b61f-89005d920161"/>
          <p:cNvSpPr/>
          <p:nvPr/>
        </p:nvSpPr>
        <p:spPr>
          <a:xfrm>
            <a:off x="32004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叢集 / 平台</a:t>
            </a:r>
            <a:endParaRPr lang="en-US" sz="1100" dirty="0"/>
          </a:p>
        </p:txBody>
      </p:sp>
      <p:sp>
        <p:nvSpPr>
          <p:cNvPr id="38" name="df9f6e6b-8291-4cd9-a90d-cd1ed62c3d85"/>
          <p:cNvSpPr/>
          <p:nvPr/>
        </p:nvSpPr>
        <p:spPr>
          <a:xfrm>
            <a:off x="4800600" y="5800262"/>
            <a:ext cx="1463040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/ RBAC</a:t>
            </a:r>
            <a:endParaRPr lang="en-US" sz="1100" dirty="0"/>
          </a:p>
        </p:txBody>
      </p:sp>
      <p:sp>
        <p:nvSpPr>
          <p:cNvPr id="39" name="fda7668a-68da-4f70-9e86-005bfedd4987"/>
          <p:cNvSpPr/>
          <p:nvPr/>
        </p:nvSpPr>
        <p:spPr>
          <a:xfrm>
            <a:off x="6583680" y="5800262"/>
            <a:ext cx="5120640" cy="35636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zh-TW" altLang="en-US" sz="1150" b="1" dirty="0">
                <a:solidFill>
                  <a:srgbClr val="0E2841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授權集中在 MDS 的 RBAC;人綁 AD 群組,服務綁 User: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人的完整路徑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三條路徑,同一套 AD 群組授權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0eafaad-0704-4ffe-96f0-fff1409222dc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461b1d6d-3a9f-4b68-9d4b-d68985786455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c94cc829-69d1-41f9-b13c-75afe737f56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948bc00a-30c3-4f84-8eaf-6eff521d6d29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瀏覽器</a:t>
            </a:r>
            <a:endParaRPr lang="en-US" sz="1400" dirty="0"/>
          </a:p>
        </p:txBody>
      </p:sp>
      <p:sp>
        <p:nvSpPr>
          <p:cNvPr id="6" name="5c413b7a-58a1-4f9b-83de-f92b44537182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MDS(LDAP)</a:t>
            </a:r>
            <a:endParaRPr lang="en-US" sz="1100" dirty="0"/>
          </a:p>
        </p:txBody>
      </p:sp>
      <p:sp>
        <p:nvSpPr>
          <p:cNvPr id="7" name="da327689-f401-4ee5-9f6f-3648718b9f2a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8" name="72ec8612-d09e-4b27-9c59-e65129352823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(JWT,壽命可設)</a:t>
            </a:r>
            <a:endParaRPr lang="en-US" sz="1100" dirty="0"/>
          </a:p>
        </p:txBody>
      </p:sp>
      <p:sp>
        <p:nvSpPr>
          <p:cNvPr id="9" name="b5ebeb69-9728-422d-a2dd-3371e7a630a0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0" name="e9b76358-ac06-4f21-a132-adbf2cba9700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Bearer 帶本人身分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11" name="944a60ec-5de3-4a55-8da8-0028413e62f8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2" name="fe915712-b638-4494-9e7c-12baa9a089be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13" name="fdc71285-3e75-426f-98e1-3e73c01fff85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4" name="03362c27-bbfe-4a9e-ba72-c652ae922b43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5" name="9d96d5d0-68db-4e12-b5a5-8e1f43772a3a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e5b0ca40-d698-4e35-89fe-2baf0aee22e6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 直連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</a:t>
            </a:r>
            <a:endParaRPr lang="en-US" sz="1400" dirty="0"/>
          </a:p>
        </p:txBody>
      </p:sp>
      <p:sp>
        <p:nvSpPr>
          <p:cNvPr id="17" name="a6f6c6d4-47c5-4f32-9602-4e4bd8bbe942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SASL/PLAIN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帳密</a:t>
            </a:r>
            <a:endParaRPr lang="en-US" sz="1100" dirty="0"/>
          </a:p>
        </p:txBody>
      </p:sp>
      <p:sp>
        <p:nvSpPr>
          <p:cNvPr id="18" name="dc8207b3-5c26-4964-ac6c-b5a168dc29d9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19" name="9e27c717-c534-45e6-9edf-a34f7ace671e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轉 LDAP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驗證密碼</a:t>
            </a:r>
            <a:endParaRPr lang="en-US" sz="1100" dirty="0"/>
          </a:p>
        </p:txBody>
      </p:sp>
      <p:sp>
        <p:nvSpPr>
          <p:cNvPr id="20" name="5dd88e8d-a1b3-45c4-99d1-75ef87a4503f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1" name="75d2d0bf-5f08-4d8e-b714-bce96240098b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本人帳號</a:t>
            </a:r>
            <a:endParaRPr lang="en-US" sz="1100" dirty="0"/>
          </a:p>
        </p:txBody>
      </p:sp>
      <p:sp>
        <p:nvSpPr>
          <p:cNvPr id="22" name="f37cb7bf-c03f-4292-a891-f30a950af0c0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23" name="37c75b8c-30fc-4a71-b7c8-1430838b1c95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24" name="efdd0b7f-a564-4ab1-a6f2-9c2729505f75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5" name="c9d328f4-79cf-47e2-9277-90614873e196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6" name="59c2b01b-4b82-430d-971b-157a5910fbe5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22c0c533-2a98-4d16-abd0-38d17c776373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</a:t>
            </a:r>
            <a:endParaRPr lang="en-US" sz="1400" dirty="0"/>
          </a:p>
        </p:txBody>
      </p:sp>
      <p:sp>
        <p:nvSpPr>
          <p:cNvPr id="28" name="c9d18544-a153-4a60-b860-8218a1f3cd7b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Basic 帳密</a:t>
            </a:r>
            <a:endParaRPr lang="en-US" sz="1100" dirty="0"/>
          </a:p>
        </p:txBody>
      </p:sp>
      <p:sp>
        <p:nvSpPr>
          <p:cNvPr id="29" name="078bd454-0158-49d7-b237-336ed335f1e8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0" name="eb4f5e98-ee59-436c-8874-66796dccb2ac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驗證 → token</a:t>
            </a:r>
            <a:endParaRPr lang="en-US" sz="1100" dirty="0"/>
          </a:p>
        </p:txBody>
      </p:sp>
      <p:sp>
        <p:nvSpPr>
          <p:cNvPr id="31" name="44be96ac-feba-4420-83ec-2dbb58dc79c8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2" name="04f786f6-acce-4a37-9f18-6922c99711e3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連 broker</a:t>
            </a:r>
            <a:endParaRPr lang="en-US" sz="1100" dirty="0"/>
          </a:p>
        </p:txBody>
      </p:sp>
      <p:sp>
        <p:nvSpPr>
          <p:cNvPr id="33" name="39f413b7-5446-495a-b239-c2c658f8ee81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56082"/>
            </a:solidFill>
            <a:prstDash val="solid"/>
            <a:tailEnd type="triangle"/>
          </a:ln>
        </p:spPr>
      </p:sp>
      <p:sp>
        <p:nvSpPr>
          <p:cNvPr id="34" name="45d6774b-9062-45b5-8119-3d0efc029fbd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5608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(AD 群組)</a:t>
            </a:r>
            <a:endParaRPr lang="en-US" sz="1100" dirty="0"/>
          </a:p>
        </p:txBody>
      </p:sp>
      <p:sp>
        <p:nvSpPr>
          <p:cNvPr id="35" name="01804801-5c07-45a7-af1c-86d808df2433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三條路徑最後都由 RBAC 依「AD 群組」授權並留 audit:人員異動只改 AD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機器的完整路徑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身分在 Kafka 內或憑證,RBAC 綁 User: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3d45fe86-815f-4549-bbbc-b8bc6e422ffd"/>
          <p:cNvSpPr/>
          <p:nvPr/>
        </p:nvSpPr>
        <p:spPr>
          <a:xfrm>
            <a:off x="548640" y="172747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3" name="4a6d3fca-b99d-4e14-9344-d7d84da6332b"/>
          <p:cNvSpPr/>
          <p:nvPr/>
        </p:nvSpPr>
        <p:spPr>
          <a:xfrm>
            <a:off x="685800" y="198202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4" name="edfef4ca-8ce9-4ab2-b238-60cced87b356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46734" y="2131359"/>
            <a:ext cx="409651" cy="409651"/>
          </a:xfrm>
          <a:prstGeom prst="rect">
            <a:avLst/>
          </a:prstGeom>
        </p:spPr>
      </p:pic>
      <p:sp>
        <p:nvSpPr>
          <p:cNvPr id="5" name="e27e1dd7-e303-4945-9581-183dec6e45d6"/>
          <p:cNvSpPr/>
          <p:nvPr/>
        </p:nvSpPr>
        <p:spPr>
          <a:xfrm>
            <a:off x="1554480" y="202444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應用服務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</a:t>
            </a:r>
            <a:endParaRPr lang="en-US" sz="1400" dirty="0"/>
          </a:p>
        </p:txBody>
      </p:sp>
      <p:sp>
        <p:nvSpPr>
          <p:cNvPr id="6" name="38e17fd4-131e-4389-883d-45d329245436"/>
          <p:cNvSpPr/>
          <p:nvPr/>
        </p:nvSpPr>
        <p:spPr>
          <a:xfrm>
            <a:off x="310896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SASL/SCRAM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帳號密碼</a:t>
            </a:r>
            <a:endParaRPr lang="en-US" sz="1100" dirty="0"/>
          </a:p>
        </p:txBody>
      </p:sp>
      <p:sp>
        <p:nvSpPr>
          <p:cNvPr id="7" name="ffb2703a-4fe5-4091-a1e0-181ec9afa67f"/>
          <p:cNvSpPr/>
          <p:nvPr/>
        </p:nvSpPr>
        <p:spPr>
          <a:xfrm>
            <a:off x="493776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8" name="0163b3dc-0211-42d9-803d-584229936f53"/>
          <p:cNvSpPr/>
          <p:nvPr/>
        </p:nvSpPr>
        <p:spPr>
          <a:xfrm>
            <a:off x="525780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驗證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(帳密在 KRaft)</a:t>
            </a:r>
            <a:endParaRPr lang="en-US" sz="1100" dirty="0"/>
          </a:p>
        </p:txBody>
      </p:sp>
      <p:sp>
        <p:nvSpPr>
          <p:cNvPr id="9" name="a182624e-a0d2-4488-942d-42c970444a75"/>
          <p:cNvSpPr/>
          <p:nvPr/>
        </p:nvSpPr>
        <p:spPr>
          <a:xfrm>
            <a:off x="708660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0" name="8fba0de6-4e93-41cc-9ac5-09a8ba37783a"/>
          <p:cNvSpPr/>
          <p:nvPr/>
        </p:nvSpPr>
        <p:spPr>
          <a:xfrm>
            <a:off x="740664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主體 = svc-x</a:t>
            </a:r>
            <a:endParaRPr lang="en-US" sz="1100" dirty="0"/>
          </a:p>
        </p:txBody>
      </p:sp>
      <p:sp>
        <p:nvSpPr>
          <p:cNvPr id="11" name="12eecb12-4a12-4d6d-8b9e-2be34f8c15d6"/>
          <p:cNvSpPr/>
          <p:nvPr/>
        </p:nvSpPr>
        <p:spPr>
          <a:xfrm>
            <a:off x="9235440" y="233839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2" name="7ddaa8d2-ab59-4984-93d6-fd1eea365272"/>
          <p:cNvSpPr/>
          <p:nvPr/>
        </p:nvSpPr>
        <p:spPr>
          <a:xfrm>
            <a:off x="9555480" y="193959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User:svc-x</a:t>
            </a:r>
            <a:endParaRPr lang="en-US" sz="1100" dirty="0"/>
          </a:p>
        </p:txBody>
      </p:sp>
      <p:sp>
        <p:nvSpPr>
          <p:cNvPr id="13" name="6799f1af-bdaa-4340-b156-0bd38d0e9dd6"/>
          <p:cNvSpPr/>
          <p:nvPr/>
        </p:nvSpPr>
        <p:spPr>
          <a:xfrm>
            <a:off x="548640" y="3127495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4" name="c887e788-dd48-4e5f-be52-447d06903170"/>
          <p:cNvSpPr/>
          <p:nvPr/>
        </p:nvSpPr>
        <p:spPr>
          <a:xfrm>
            <a:off x="685800" y="3382044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f5921eba-391a-4aa7-81f3-4ba1487b29e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846734" y="3531380"/>
            <a:ext cx="409651" cy="409651"/>
          </a:xfrm>
          <a:prstGeom prst="rect">
            <a:avLst/>
          </a:prstGeom>
        </p:spPr>
      </p:pic>
      <p:sp>
        <p:nvSpPr>
          <p:cNvPr id="16" name="8ed36e4a-50eb-4495-8b7d-e686cdd75947"/>
          <p:cNvSpPr/>
          <p:nvPr/>
        </p:nvSpPr>
        <p:spPr>
          <a:xfrm>
            <a:off x="1554480" y="3424469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legacy app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HTTP</a:t>
            </a:r>
            <a:endParaRPr lang="en-US" sz="1400" dirty="0"/>
          </a:p>
        </p:txBody>
      </p:sp>
      <p:sp>
        <p:nvSpPr>
          <p:cNvPr id="17" name="7405eadd-58aa-4b7d-b7bd-796d381ea1f8"/>
          <p:cNvSpPr/>
          <p:nvPr/>
        </p:nvSpPr>
        <p:spPr>
          <a:xfrm>
            <a:off x="310896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 = 主體)</a:t>
            </a:r>
            <a:endParaRPr lang="en-US" sz="1100" dirty="0"/>
          </a:p>
        </p:txBody>
      </p:sp>
      <p:sp>
        <p:nvSpPr>
          <p:cNvPr id="18" name="837d2bbe-283a-42cf-88d8-946ee547bcc9"/>
          <p:cNvSpPr/>
          <p:nvPr/>
        </p:nvSpPr>
        <p:spPr>
          <a:xfrm>
            <a:off x="493776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19" name="79e8bffe-2728-4fbb-9d46-c9309cc59b71"/>
          <p:cNvSpPr/>
          <p:nvPr/>
        </p:nvSpPr>
        <p:spPr>
          <a:xfrm>
            <a:off x="525780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對映 DN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→ /impersonate</a:t>
            </a:r>
            <a:endParaRPr lang="en-US" sz="1100" dirty="0"/>
          </a:p>
        </p:txBody>
      </p:sp>
      <p:sp>
        <p:nvSpPr>
          <p:cNvPr id="20" name="3b2a7521-ac1e-4dcc-bd52-a453b1648527"/>
          <p:cNvSpPr/>
          <p:nvPr/>
        </p:nvSpPr>
        <p:spPr>
          <a:xfrm>
            <a:off x="708660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1" name="f18015ac-0d17-44e9-b70a-0b6cd9fd28ef"/>
          <p:cNvSpPr/>
          <p:nvPr/>
        </p:nvSpPr>
        <p:spPr>
          <a:xfrm>
            <a:off x="740664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token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OAUTHBEARER</a:t>
            </a:r>
            <a:endParaRPr lang="en-US" sz="1100" dirty="0"/>
          </a:p>
        </p:txBody>
      </p:sp>
      <p:sp>
        <p:nvSpPr>
          <p:cNvPr id="22" name="bf4025ba-5e31-453d-9d13-1281be2ed9b3"/>
          <p:cNvSpPr/>
          <p:nvPr/>
        </p:nvSpPr>
        <p:spPr>
          <a:xfrm>
            <a:off x="9235440" y="3738413"/>
            <a:ext cx="320040" cy="0"/>
          </a:xfrm>
          <a:prstGeom prst="line">
            <a:avLst/>
          </a:prstGeom>
          <a:noFill/>
          <a:ln w="22225">
            <a:solidFill>
              <a:srgbClr val="E97132"/>
            </a:solidFill>
            <a:prstDash val="solid"/>
            <a:tailEnd type="triangle"/>
          </a:ln>
        </p:spPr>
      </p:sp>
      <p:sp>
        <p:nvSpPr>
          <p:cNvPr id="23" name="1631318b-fd49-49a0-be32-d989a6c271b3"/>
          <p:cNvSpPr/>
          <p:nvPr/>
        </p:nvSpPr>
        <p:spPr>
          <a:xfrm>
            <a:off x="9555480" y="3339619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E97132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RBAC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User:app</a:t>
            </a:r>
            <a:endParaRPr lang="en-US" sz="1100" dirty="0"/>
          </a:p>
        </p:txBody>
      </p:sp>
      <p:sp>
        <p:nvSpPr>
          <p:cNvPr id="24" name="84c3d08c-dd72-41de-9136-ab6851451980"/>
          <p:cNvSpPr/>
          <p:nvPr/>
        </p:nvSpPr>
        <p:spPr>
          <a:xfrm>
            <a:off x="548640" y="4527516"/>
            <a:ext cx="11091672" cy="1230321"/>
          </a:xfrm>
          <a:prstGeom prst="roundRect">
            <a:avLst>
              <a:gd name="adj" fmla="val 54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5" name="46f9791b-5b07-44f5-ad45-f963540ab6ed"/>
          <p:cNvSpPr/>
          <p:nvPr/>
        </p:nvSpPr>
        <p:spPr>
          <a:xfrm>
            <a:off x="685800" y="4782065"/>
            <a:ext cx="731520" cy="6787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ac23b7a2-bde6-4e4b-9fc5-9902b7ecde24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46734" y="4931400"/>
            <a:ext cx="409651" cy="409651"/>
          </a:xfrm>
          <a:prstGeom prst="rect">
            <a:avLst/>
          </a:prstGeom>
        </p:spPr>
      </p:pic>
      <p:sp>
        <p:nvSpPr>
          <p:cNvPr id="27" name="a0b6b069-5398-4d94-bb42-448fadbd3b9c"/>
          <p:cNvSpPr/>
          <p:nvPr/>
        </p:nvSpPr>
        <p:spPr>
          <a:xfrm>
            <a:off x="1554480" y="4824490"/>
            <a:ext cx="1463040" cy="6787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平台元件</a:t>
            </a:r>
            <a:endParaRPr lang="en-US" sz="1400" dirty="0"/>
          </a:p>
          <a:p>
            <a:pPr algn="l" indent="0" marL="0">
              <a:buNone/>
            </a:pPr>
            <a:r>
              <a:rPr lang="zh-TW" altLang="en-US" sz="14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· REST Proxy</a:t>
            </a:r>
            <a:endParaRPr lang="en-US" sz="1400" dirty="0"/>
          </a:p>
        </p:txBody>
      </p:sp>
      <p:sp>
        <p:nvSpPr>
          <p:cNvPr id="28" name="a6e651cd-59aa-460b-829c-aaf22f2dedb5"/>
          <p:cNvSpPr/>
          <p:nvPr/>
        </p:nvSpPr>
        <p:spPr>
          <a:xfrm>
            <a:off x="310896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client 憑證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(CN=c3 / restproxy)</a:t>
            </a:r>
            <a:endParaRPr lang="en-US" sz="1100" dirty="0"/>
          </a:p>
        </p:txBody>
      </p:sp>
      <p:sp>
        <p:nvSpPr>
          <p:cNvPr id="29" name="44092383-230c-48b2-b659-613630f1495a"/>
          <p:cNvSpPr/>
          <p:nvPr/>
        </p:nvSpPr>
        <p:spPr>
          <a:xfrm>
            <a:off x="493776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0" name="019b3ee5-17ba-4b91-b07f-03d60e1f5aa4"/>
          <p:cNvSpPr/>
          <p:nvPr/>
        </p:nvSpPr>
        <p:spPr>
          <a:xfrm>
            <a:off x="525780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MDS 換 token</a:t>
            </a:r>
            <a:endParaRPr lang="en-US" sz="1100" dirty="0"/>
          </a:p>
        </p:txBody>
      </p:sp>
      <p:sp>
        <p:nvSpPr>
          <p:cNvPr id="31" name="b8be8375-f70c-4a88-93ef-570afde6fc2b"/>
          <p:cNvSpPr/>
          <p:nvPr/>
        </p:nvSpPr>
        <p:spPr>
          <a:xfrm>
            <a:off x="708660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2" name="158c038a-f393-4f9f-9e57-62da5169f8a5"/>
          <p:cNvSpPr/>
          <p:nvPr/>
        </p:nvSpPr>
        <p:spPr>
          <a:xfrm>
            <a:off x="740664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C3:SystemAdmin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Proxy:專屬 role</a:t>
            </a:r>
            <a:endParaRPr lang="en-US" sz="1100" dirty="0"/>
          </a:p>
        </p:txBody>
      </p:sp>
      <p:sp>
        <p:nvSpPr>
          <p:cNvPr id="33" name="07673e40-5495-4c6a-b4de-90a2a99e2d2b"/>
          <p:cNvSpPr/>
          <p:nvPr/>
        </p:nvSpPr>
        <p:spPr>
          <a:xfrm>
            <a:off x="9235440" y="5138434"/>
            <a:ext cx="320040" cy="0"/>
          </a:xfrm>
          <a:prstGeom prst="line">
            <a:avLst/>
          </a:prstGeom>
          <a:noFill/>
          <a:ln w="22225">
            <a:solidFill>
              <a:srgbClr val="196B24"/>
            </a:solidFill>
            <a:prstDash val="solid"/>
            <a:tailEnd type="triangle"/>
          </a:ln>
        </p:spPr>
      </p:sp>
      <p:sp>
        <p:nvSpPr>
          <p:cNvPr id="34" name="0320fc8b-62c5-44d5-bbc1-f7423e98c4b3"/>
          <p:cNvSpPr/>
          <p:nvPr/>
        </p:nvSpPr>
        <p:spPr>
          <a:xfrm>
            <a:off x="9555480" y="4739640"/>
            <a:ext cx="1828800" cy="80607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protected.users</a:t>
            </a:r>
            <a:endParaRPr lang="en-US" sz="1100" dirty="0"/>
          </a:p>
          <a:p>
            <a:pPr algn="ctr" indent="0" marL="0">
              <a:buNone/>
            </a:pPr>
            <a:r>
              <a:rPr lang="zh-TW" altLang="en-US" sz="11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防被冒充</a:t>
            </a:r>
            <a:endParaRPr lang="en-US" sz="1100" dirty="0"/>
          </a:p>
        </p:txBody>
      </p:sp>
      <p:sp>
        <p:nvSpPr>
          <p:cNvPr id="35" name="9f29cdc8-51db-44b8-b875-a597b6c6828e"/>
          <p:cNvSpPr/>
          <p:nvPr/>
        </p:nvSpPr>
        <p:spPr>
          <a:xfrm>
            <a:off x="548640" y="5885111"/>
            <a:ext cx="11091672" cy="339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機器不進 AD:身分在 Kafka 內(SCRAM)或憑證(CN),RBAC 綁 User:,授權事件皆留 audit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要管理的憑證與帳號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客戶實際要維運的清單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graphicFrame>
        <p:nvGraphicFramePr>
          <p:cNvPr id="23" name="dd7584f9-0e8b-4444-8332-8c8db1db29c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85050"/>
          <a:ext cx="6858000" cy="914400"/>
        </p:xfrm>
        <a:graphic>
          <a:graphicData uri="http://schemas.openxmlformats.org/drawingml/2006/table">
            <a:tbl>
              <a:tblPr/>
              <a:tblGrid>
                <a:gridCol w="2651760"/>
                <a:gridCol w="1371600"/>
                <a:gridCol w="3566160"/>
                <a:gridCol w="3502152"/>
              </a:tblGrid>
              <a:tr h="39030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項目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數量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存放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FFFFFF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輪替 / 備註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server 憑證(共用)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所有節點 secrets 目錄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SAN 涵蓋全部;逐台換;換 CA 時 truststore 先信任新舊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平台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3(c3 · restproxy · bootstrap)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對應主機;bootstrap 離線保管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RBAC 綁 CN,CN 不變則不用重綁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legacy app client 憑證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 app 1 張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app 主機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可省:若客戶能建專用 AD 帳號,改 Basic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MDS token 簽章金鑰對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1 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私鑰:MDS broker 與 controller;公鑰:broker · REST Proxy · C3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私鑰外洩 = 可偽造 token;輪替未驗證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SCRAM 服務帳號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每個服務 1 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內;密碼放密碼庫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密碼不自動到期 → 輪替流程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唯讀帳號與 LDAPS 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各 1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broker 設定(權限 600)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只讀 user / group OU;建議 LDAPS;AD 憑證更換時更新信任庫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內部與 break-glass 帳號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3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KRaft + JAAS 設定檔;bootstrap 密碼封存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kafka-broker · kafka-controller · bootstrap(break-glass);輪替未驗證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8189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b="1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 群組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EF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5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zh-TW" altLang="en-US" sz="1100" dirty="0">
                          <a:solidFill>
                            <a:srgbClr val="1A1A1A"/>
                          </a:solidFill>
                          <a:latin typeface="微軟正黑體" pitchFamily="34" charset="0"/>
                          <a:ea typeface="微軟正黑體" pitchFamily="34" charset="-122"/>
                          <a:cs typeface="微軟正黑體" pitchFamily="34" charset="-120"/>
                        </a:rPr>
                        <a:t>人員異動只改 AD</a:t>
                      </a:r>
                      <a:endParaRPr lang="zh-TW" sz="1100" dirty="0">
                        <a:latin typeface="微軟正黑體" charset="0"/>
                        <a:ea typeface="微軟正黑體" charset="0"/>
                        <a:cs typeface="微軟正黑體" charset="0"/>
                      </a:endParaRPr>
                    </a:p>
                  </a:txBody>
                  <a:tcPr marL="73152" marR="73152" marT="36576" marB="36576" anchor="ctr">
                    <a:lnL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BFBF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3" name="8a4127c4-188b-49e7-a7f9-178e4c746921"/>
          <p:cNvSpPr/>
          <p:nvPr/>
        </p:nvSpPr>
        <p:spPr>
          <a:xfrm>
            <a:off x="548640" y="584268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最少化:1 server 憑證 + 2 長期 client 憑證 + 1 備用(bootstrap)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導入步驟(RHEL 9 手動部署)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沒有 Ansible:先標準化手動流程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0ada4d5d-d891-4852-95aa-7057a4293448"/>
          <p:cNvSpPr/>
          <p:nvPr/>
        </p:nvSpPr>
        <p:spPr>
          <a:xfrm>
            <a:off x="5486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6153b833-e1ef-446a-bb57-f04f984d348e"/>
          <p:cNvSpPr/>
          <p:nvPr/>
        </p:nvSpPr>
        <p:spPr>
          <a:xfrm>
            <a:off x="11887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400" dirty="0"/>
          </a:p>
        </p:txBody>
      </p:sp>
      <p:sp>
        <p:nvSpPr>
          <p:cNvPr id="4" name="388bf57e-ff1f-48e5-8a0f-d6a808ae4a82"/>
          <p:cNvSpPr/>
          <p:nvPr/>
        </p:nvSpPr>
        <p:spPr>
          <a:xfrm>
            <a:off x="10972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0529d3de-c737-4aea-b6e0-ade6cba4168a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228039" y="2485183"/>
            <a:ext cx="332842" cy="332842"/>
          </a:xfrm>
          <a:prstGeom prst="rect">
            <a:avLst/>
          </a:prstGeom>
        </p:spPr>
      </p:pic>
      <p:sp>
        <p:nvSpPr>
          <p:cNvPr id="6" name="d9fc7a32-2fb9-4e48-9c4d-d56855bfa22c"/>
          <p:cNvSpPr/>
          <p:nvPr/>
        </p:nvSpPr>
        <p:spPr>
          <a:xfrm>
            <a:off x="6217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憑證與 truststore</a:t>
            </a:r>
            <a:endParaRPr lang="en-US" sz="1250" dirty="0"/>
          </a:p>
        </p:txBody>
      </p:sp>
      <p:sp>
        <p:nvSpPr>
          <p:cNvPr id="7" name="047dd528-733f-42ca-a13c-7ef786f758d8"/>
          <p:cNvSpPr/>
          <p:nvPr/>
        </p:nvSpPr>
        <p:spPr>
          <a:xfrm>
            <a:off x="6400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AD 的 LDAPS CA 與 MDS 金鑰對</a:t>
            </a:r>
            <a:endParaRPr lang="en-US" sz="1050" dirty="0"/>
          </a:p>
        </p:txBody>
      </p:sp>
      <p:sp>
        <p:nvSpPr>
          <p:cNvPr id="8" name="38b674d7-f563-47b7-bc56-27756c212013"/>
          <p:cNvSpPr/>
          <p:nvPr/>
        </p:nvSpPr>
        <p:spPr>
          <a:xfrm>
            <a:off x="224028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9" name="8d8b42ba-ae6e-41a9-b07c-a6802c00cdd9"/>
          <p:cNvSpPr/>
          <p:nvPr/>
        </p:nvSpPr>
        <p:spPr>
          <a:xfrm>
            <a:off x="242316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0" name="907c7bce-b615-4a86-8956-dcd7714c1630"/>
          <p:cNvSpPr/>
          <p:nvPr/>
        </p:nvSpPr>
        <p:spPr>
          <a:xfrm>
            <a:off x="306324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1db30497-29f1-4757-898c-2224c20ee73c"/>
          <p:cNvSpPr/>
          <p:nvPr/>
        </p:nvSpPr>
        <p:spPr>
          <a:xfrm>
            <a:off x="297180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2" name="6cc2fc7c-8714-4c06-b59d-5e65c0115db7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3102559" y="2485183"/>
            <a:ext cx="332842" cy="332842"/>
          </a:xfrm>
          <a:prstGeom prst="rect">
            <a:avLst/>
          </a:prstGeom>
        </p:spPr>
      </p:pic>
      <p:sp>
        <p:nvSpPr>
          <p:cNvPr id="13" name="4df248bb-81b3-4d45-8755-cd87a2433c5f"/>
          <p:cNvSpPr/>
          <p:nvPr/>
        </p:nvSpPr>
        <p:spPr>
          <a:xfrm>
            <a:off x="249631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</a:t>
            </a:r>
            <a:endParaRPr lang="en-US" sz="1250" dirty="0"/>
          </a:p>
        </p:txBody>
      </p:sp>
      <p:sp>
        <p:nvSpPr>
          <p:cNvPr id="14" name="47413742-6199-48af-b545-db867363adf1"/>
          <p:cNvSpPr/>
          <p:nvPr/>
        </p:nvSpPr>
        <p:spPr>
          <a:xfrm>
            <a:off x="251460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format + add-scram</a:t>
            </a:r>
            <a:endParaRPr lang="en-US" sz="1050" dirty="0"/>
          </a:p>
        </p:txBody>
      </p:sp>
      <p:sp>
        <p:nvSpPr>
          <p:cNvPr id="15" name="d7aefd9b-7752-4e12-9fdc-730e2809301e"/>
          <p:cNvSpPr/>
          <p:nvPr/>
        </p:nvSpPr>
        <p:spPr>
          <a:xfrm>
            <a:off x="411480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6" name="4958e246-795c-4972-941d-9316e89d92be"/>
          <p:cNvSpPr/>
          <p:nvPr/>
        </p:nvSpPr>
        <p:spPr>
          <a:xfrm>
            <a:off x="429768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17" name="1e92374f-3abd-4f2a-922a-7698098937c2"/>
          <p:cNvSpPr/>
          <p:nvPr/>
        </p:nvSpPr>
        <p:spPr>
          <a:xfrm>
            <a:off x="493776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b243f5e3-dcff-4fe6-827c-30c6a69a3f2d"/>
          <p:cNvSpPr/>
          <p:nvPr/>
        </p:nvSpPr>
        <p:spPr>
          <a:xfrm>
            <a:off x="484632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19" name="9527122d-4835-43b6-98ea-6fad1f660ccb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4977079" y="2485183"/>
            <a:ext cx="332842" cy="332842"/>
          </a:xfrm>
          <a:prstGeom prst="rect">
            <a:avLst/>
          </a:prstGeom>
        </p:spPr>
      </p:pic>
      <p:sp>
        <p:nvSpPr>
          <p:cNvPr id="20" name="d7b01c8b-8a6e-4466-97d4-5a8c9029fcf5"/>
          <p:cNvSpPr/>
          <p:nvPr/>
        </p:nvSpPr>
        <p:spPr>
          <a:xfrm>
            <a:off x="437083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broker + MDS + LDAP</a:t>
            </a:r>
            <a:endParaRPr lang="en-US" sz="1250" dirty="0"/>
          </a:p>
        </p:txBody>
      </p:sp>
      <p:sp>
        <p:nvSpPr>
          <p:cNvPr id="21" name="7389ae6a-eb30-42f4-813b-e6e7ae649912"/>
          <p:cNvSpPr/>
          <p:nvPr/>
        </p:nvSpPr>
        <p:spPr>
          <a:xfrm>
            <a:off x="438912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三個入口</a:t>
            </a:r>
            <a:endParaRPr lang="en-US" sz="1050" dirty="0"/>
          </a:p>
        </p:txBody>
      </p:sp>
      <p:sp>
        <p:nvSpPr>
          <p:cNvPr id="22" name="2e48ff45-980c-4e61-af68-6474a8ef4658"/>
          <p:cNvSpPr/>
          <p:nvPr/>
        </p:nvSpPr>
        <p:spPr>
          <a:xfrm>
            <a:off x="598932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23" name="529782ad-5d0f-4ec0-9795-905129dfefa8"/>
          <p:cNvSpPr/>
          <p:nvPr/>
        </p:nvSpPr>
        <p:spPr>
          <a:xfrm>
            <a:off x="617220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4" name="5df104ab-31ee-47f9-8f2f-c1bcbf183fad"/>
          <p:cNvSpPr/>
          <p:nvPr/>
        </p:nvSpPr>
        <p:spPr>
          <a:xfrm>
            <a:off x="681228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b6450b6a-429d-494f-b610-1ccc9e25de59"/>
          <p:cNvSpPr/>
          <p:nvPr/>
        </p:nvSpPr>
        <p:spPr>
          <a:xfrm>
            <a:off x="672084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26" name="0abb6eef-e1f8-4202-b7aa-5111c4beb733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6851599" y="2485183"/>
            <a:ext cx="332842" cy="332842"/>
          </a:xfrm>
          <a:prstGeom prst="rect">
            <a:avLst/>
          </a:prstGeom>
        </p:spPr>
      </p:pic>
      <p:sp>
        <p:nvSpPr>
          <p:cNvPr id="27" name="cb8c0560-7e2d-494d-bf8e-b02da6f6669b"/>
          <p:cNvSpPr/>
          <p:nvPr/>
        </p:nvSpPr>
        <p:spPr>
          <a:xfrm>
            <a:off x="624535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第一批 role binding</a:t>
            </a:r>
            <a:endParaRPr lang="en-US" sz="1250" dirty="0"/>
          </a:p>
        </p:txBody>
      </p:sp>
      <p:sp>
        <p:nvSpPr>
          <p:cNvPr id="28" name="81c55d94-a134-4f36-bab5-da0801cd10d6"/>
          <p:cNvSpPr/>
          <p:nvPr/>
        </p:nvSpPr>
        <p:spPr>
          <a:xfrm>
            <a:off x="626364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bootstrap → kafka-admins</a:t>
            </a:r>
            <a:endParaRPr lang="en-US" sz="1050" dirty="0"/>
          </a:p>
        </p:txBody>
      </p:sp>
      <p:sp>
        <p:nvSpPr>
          <p:cNvPr id="29" name="74542a11-cbbd-4ec0-931f-001f4cc3627f"/>
          <p:cNvSpPr/>
          <p:nvPr/>
        </p:nvSpPr>
        <p:spPr>
          <a:xfrm>
            <a:off x="786384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0" name="bb0a0cc7-7254-40cf-bc0c-8597c6d6b918"/>
          <p:cNvSpPr/>
          <p:nvPr/>
        </p:nvSpPr>
        <p:spPr>
          <a:xfrm>
            <a:off x="804672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1" name="f0899b94-65a5-47f5-a0a4-f324fe566070"/>
          <p:cNvSpPr/>
          <p:nvPr/>
        </p:nvSpPr>
        <p:spPr>
          <a:xfrm>
            <a:off x="868680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400" dirty="0"/>
          </a:p>
        </p:txBody>
      </p:sp>
      <p:sp>
        <p:nvSpPr>
          <p:cNvPr id="32" name="ecfc531a-88c0-43ec-95cd-37c3175b71b1"/>
          <p:cNvSpPr/>
          <p:nvPr/>
        </p:nvSpPr>
        <p:spPr>
          <a:xfrm>
            <a:off x="859536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3" name="225cc1b4-b8b7-42a9-b3e9-39109a416a0a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8726119" y="2485183"/>
            <a:ext cx="332842" cy="332842"/>
          </a:xfrm>
          <a:prstGeom prst="rect">
            <a:avLst/>
          </a:prstGeom>
        </p:spPr>
      </p:pic>
      <p:sp>
        <p:nvSpPr>
          <p:cNvPr id="34" name="d3af9fa7-f618-4d43-85e0-30d1fc20e952"/>
          <p:cNvSpPr/>
          <p:nvPr/>
        </p:nvSpPr>
        <p:spPr>
          <a:xfrm>
            <a:off x="811987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 Proxy · C3</a:t>
            </a:r>
            <a:endParaRPr lang="en-US" sz="1250" dirty="0"/>
          </a:p>
        </p:txBody>
      </p:sp>
      <p:sp>
        <p:nvSpPr>
          <p:cNvPr id="35" name="cc13aa56-f015-4285-bfa0-3638ae6e6965"/>
          <p:cNvSpPr/>
          <p:nvPr/>
        </p:nvSpPr>
        <p:spPr>
          <a:xfrm>
            <a:off x="813816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含 Prometheus + Alertmanager</a:t>
            </a:r>
            <a:endParaRPr lang="en-US" sz="1050" dirty="0"/>
          </a:p>
        </p:txBody>
      </p:sp>
      <p:sp>
        <p:nvSpPr>
          <p:cNvPr id="36" name="6b2a971e-140e-40f1-84f9-6756f5d40f1d"/>
          <p:cNvSpPr/>
          <p:nvPr/>
        </p:nvSpPr>
        <p:spPr>
          <a:xfrm>
            <a:off x="9738360" y="2957796"/>
            <a:ext cx="182880" cy="0"/>
          </a:xfrm>
          <a:prstGeom prst="line">
            <a:avLst/>
          </a:prstGeom>
          <a:noFill/>
          <a:ln w="22225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37" name="e9609154-3f4c-474e-8480-9700ad30b622"/>
          <p:cNvSpPr/>
          <p:nvPr/>
        </p:nvSpPr>
        <p:spPr>
          <a:xfrm>
            <a:off x="9921240" y="1769899"/>
            <a:ext cx="1691640" cy="246064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acb2dd7e-fd14-49bd-b403-6931884d2073"/>
          <p:cNvSpPr/>
          <p:nvPr/>
        </p:nvSpPr>
        <p:spPr>
          <a:xfrm>
            <a:off x="10561320" y="1854749"/>
            <a:ext cx="411480" cy="381824"/>
          </a:xfrm>
          <a:prstGeom prst="roundRect">
            <a:avLst>
              <a:gd name="adj" fmla="val 45000"/>
            </a:avLst>
          </a:prstGeom>
          <a:solidFill>
            <a:srgbClr val="0E2841"/>
          </a:solidFill>
          <a:ln w="19050">
            <a:solidFill>
              <a:srgbClr val="0E2841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400" dirty="0"/>
          </a:p>
        </p:txBody>
      </p:sp>
      <p:sp>
        <p:nvSpPr>
          <p:cNvPr id="39" name="5212f53a-6d5f-4993-9514-99e87316c8c3"/>
          <p:cNvSpPr/>
          <p:nvPr/>
        </p:nvSpPr>
        <p:spPr>
          <a:xfrm>
            <a:off x="10469880" y="2363848"/>
            <a:ext cx="594360" cy="551523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ee2bf6e6-e801-431f-9464-cf8472d681e4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10600639" y="2485183"/>
            <a:ext cx="332842" cy="332842"/>
          </a:xfrm>
          <a:prstGeom prst="rect">
            <a:avLst/>
          </a:prstGeom>
        </p:spPr>
      </p:pic>
      <p:sp>
        <p:nvSpPr>
          <p:cNvPr id="41" name="871cffdf-dca0-4dc0-8724-f1de55f5ec8f"/>
          <p:cNvSpPr/>
          <p:nvPr/>
        </p:nvSpPr>
        <p:spPr>
          <a:xfrm>
            <a:off x="9994392" y="3042645"/>
            <a:ext cx="1545336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2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與驗證</a:t>
            </a:r>
            <a:endParaRPr lang="en-US" sz="1250" dirty="0"/>
          </a:p>
        </p:txBody>
      </p:sp>
      <p:sp>
        <p:nvSpPr>
          <p:cNvPr id="42" name="12ebd128-361b-476b-be9a-70f0e333c33e"/>
          <p:cNvSpPr/>
          <p:nvPr/>
        </p:nvSpPr>
        <p:spPr>
          <a:xfrm>
            <a:off x="10012680" y="3594169"/>
            <a:ext cx="1508760" cy="593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0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路由 + 逐項驗證</a:t>
            </a:r>
            <a:endParaRPr lang="en-US" sz="1050" dirty="0"/>
          </a:p>
        </p:txBody>
      </p:sp>
      <p:sp>
        <p:nvSpPr>
          <p:cNvPr id="43" name="86c70ac2-f67c-4ad5-86d3-a63415d81484"/>
          <p:cNvSpPr/>
          <p:nvPr/>
        </p:nvSpPr>
        <p:spPr>
          <a:xfrm>
            <a:off x="548640" y="4527516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B3261E">
              <a:alpha val="12000"/>
            </a:srgbClr>
          </a:solidFill>
          <a:ln w="15875">
            <a:solidFill>
              <a:srgbClr val="B3261E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controller 要在 format 時預建 kafka-broker / kafka-controller 的 SCRAM 憑證,否則授權器起不來(實測)</a:t>
            </a:r>
            <a:endParaRPr lang="en-US" sz="1300" dirty="0"/>
          </a:p>
        </p:txBody>
      </p:sp>
      <p:sp>
        <p:nvSpPr>
          <p:cNvPr id="44" name="35d84b34-b1a5-46eb-8a0a-ffae12d1d551"/>
          <p:cNvSpPr/>
          <p:nvPr/>
        </p:nvSpPr>
        <p:spPr>
          <a:xfrm>
            <a:off x="548640" y="5036614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改設定:systemctl 逐台滾動重啟;demo 曾因強殺 controller 留下空 snapshot 而遺失 SCRAM 憑證 → 停止逾時要足夠</a:t>
            </a:r>
            <a:endParaRPr lang="en-US" sz="1200" dirty="0"/>
          </a:p>
        </p:txBody>
      </p:sp>
      <p:sp>
        <p:nvSpPr>
          <p:cNvPr id="45" name="97b9c33e-f9b0-4f3a-808a-8b493a528777"/>
          <p:cNvSpPr/>
          <p:nvPr/>
        </p:nvSpPr>
        <p:spPr>
          <a:xfrm>
            <a:off x="548640" y="5588137"/>
            <a:ext cx="11091672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15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的 14 個章節對應每一步的驗證;路徑與 systemd 單元需在 RHEL 實機核對(本專案未在 RHEL 實機驗證)</a:t>
            </a:r>
            <a:endParaRPr lang="en-US" sz="11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六個主要風險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48b5ebe2-55e8-48f4-bdb3-35b8cbc94ca1"/>
          <p:cNvSpPr/>
          <p:nvPr/>
        </p:nvSpPr>
        <p:spPr>
          <a:xfrm>
            <a:off x="548640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4ea18fb6-c363-4274-9f11-414ac4f4f60b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d4242c5f-9190-4c45-8e24-ba36e7ba93b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39f75932-07a6-48d1-bd82-e0ec03441b4e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c3 憑證 = 管理員</a:t>
            </a:r>
            <a:endParaRPr lang="en-US" sz="1350" dirty="0"/>
          </a:p>
        </p:txBody>
      </p:sp>
      <p:sp>
        <p:nvSpPr>
          <p:cNvPr id="6" name="bc979e01-0b3f-4851-8c58-6e4bc13b4326"/>
          <p:cNvSpPr/>
          <p:nvPr/>
        </p:nvSpPr>
        <p:spPr>
          <a:xfrm>
            <a:off x="685800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發現:能建立 / 刪除 role binding;拿掉權限 C3 會退出(實測)</a:t>
            </a:r>
            <a:endParaRPr lang="en-US" sz="1050" dirty="0"/>
          </a:p>
        </p:txBody>
      </p:sp>
      <p:sp>
        <p:nvSpPr>
          <p:cNvPr id="7" name="0084533c-fb06-41d6-9f3e-3f3feb5a36c7"/>
          <p:cNvSpPr/>
          <p:nvPr/>
        </p:nvSpPr>
        <p:spPr>
          <a:xfrm>
            <a:off x="685800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對策:保護私鑰與檔案權限;列入保護清單</a:t>
            </a:r>
            <a:endParaRPr lang="en-US" sz="1050" dirty="0"/>
          </a:p>
        </p:txBody>
      </p:sp>
      <p:sp>
        <p:nvSpPr>
          <p:cNvPr id="8" name="36daad0b-2070-4184-8359-995a4ba55fec"/>
          <p:cNvSpPr/>
          <p:nvPr/>
        </p:nvSpPr>
        <p:spPr>
          <a:xfrm>
            <a:off x="4325112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6067c678-cc55-4b1b-ad85-0149da52f188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13c3da32-2442-4349-9c81-d0e327ce95a9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2dbf9c11-5f9f-4762-8b1c-857a30dea38b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restproxy 憑證可代人</a:t>
            </a:r>
            <a:endParaRPr lang="en-US" sz="1350" dirty="0"/>
          </a:p>
        </p:txBody>
      </p:sp>
      <p:sp>
        <p:nvSpPr>
          <p:cNvPr id="12" name="3adcce9a-5553-4704-8d73-6f37d5ce97d1"/>
          <p:cNvSpPr/>
          <p:nvPr/>
        </p:nvSpPr>
        <p:spPr>
          <a:xfrm>
            <a:off x="4462272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發現:可代不在保護清單的使用者;混入 Group: 整份失效</a:t>
            </a:r>
            <a:endParaRPr lang="en-US" sz="1050" dirty="0"/>
          </a:p>
        </p:txBody>
      </p:sp>
      <p:sp>
        <p:nvSpPr>
          <p:cNvPr id="13" name="f3f18742-7ab4-4eb8-aaba-b99c86d32e27"/>
          <p:cNvSpPr/>
          <p:nvPr/>
        </p:nvSpPr>
        <p:spPr>
          <a:xfrm>
            <a:off x="4462272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對策:特權身分逐一以 User: 列入</a:t>
            </a:r>
            <a:endParaRPr lang="en-US" sz="1050" dirty="0"/>
          </a:p>
        </p:txBody>
      </p:sp>
      <p:sp>
        <p:nvSpPr>
          <p:cNvPr id="14" name="e378b795-b1d0-4140-930f-de69df0f4751"/>
          <p:cNvSpPr/>
          <p:nvPr/>
        </p:nvSpPr>
        <p:spPr>
          <a:xfrm>
            <a:off x="8101584" y="1685050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d8bcddc4-7b44-4c90-a417-538a3985c40e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ddec32fe-8a32-4cff-bc8a-c6aec414e1fc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dca2153b-f790-4a74-b1f6-a99f19a1b275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私鑰外洩(server · token)</a:t>
            </a:r>
            <a:endParaRPr lang="en-US" sz="1350" dirty="0"/>
          </a:p>
        </p:txBody>
      </p:sp>
      <p:sp>
        <p:nvSpPr>
          <p:cNvPr id="18" name="97352bf3-f84b-440c-a4ec-695008594145"/>
          <p:cNvSpPr/>
          <p:nvPr/>
        </p:nvSpPr>
        <p:spPr>
          <a:xfrm>
            <a:off x="8238744" y="2363848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發現:server 私鑰外洩 = 可偽裝伺服器;token 簽章私鑰外洩 = 可偽造任何人的 token</a:t>
            </a:r>
            <a:endParaRPr lang="en-US" sz="1050" dirty="0"/>
          </a:p>
        </p:txBody>
      </p:sp>
      <p:sp>
        <p:nvSpPr>
          <p:cNvPr id="19" name="14096ebc-23bb-400c-89d6-f9ffb6eff601"/>
          <p:cNvSpPr/>
          <p:nvPr/>
        </p:nvSpPr>
        <p:spPr>
          <a:xfrm>
            <a:off x="8238744" y="3110525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對策:權限 600;最小化存放;輪替計畫;共用身分不綁 role</a:t>
            </a:r>
            <a:endParaRPr lang="en-US" sz="1050" dirty="0"/>
          </a:p>
        </p:txBody>
      </p:sp>
      <p:sp>
        <p:nvSpPr>
          <p:cNvPr id="20" name="fa8779ed-1618-41f3-b445-38f7d55b32db"/>
          <p:cNvSpPr/>
          <p:nvPr/>
        </p:nvSpPr>
        <p:spPr>
          <a:xfrm>
            <a:off x="548640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1" name="66729a41-f2ae-4391-bf5e-12729eccbafc"/>
          <p:cNvSpPr/>
          <p:nvPr/>
        </p:nvSpPr>
        <p:spPr>
          <a:xfrm>
            <a:off x="685800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2" name="90b99930-bb50-4525-aec3-85789125e47e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96442" y="4222905"/>
            <a:ext cx="281635" cy="281635"/>
          </a:xfrm>
          <a:prstGeom prst="rect">
            <a:avLst/>
          </a:prstGeom>
        </p:spPr>
      </p:pic>
      <p:sp>
        <p:nvSpPr>
          <p:cNvPr id="23" name="82e39ca8-95be-4619-ae65-ae2d4915e47f"/>
          <p:cNvSpPr/>
          <p:nvPr/>
        </p:nvSpPr>
        <p:spPr>
          <a:xfrm>
            <a:off x="1280160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SCRAM 密碼不到期</a:t>
            </a:r>
            <a:endParaRPr lang="en-US" sz="1350" dirty="0"/>
          </a:p>
        </p:txBody>
      </p:sp>
      <p:sp>
        <p:nvSpPr>
          <p:cNvPr id="24" name="141647c5-9afc-4a04-a937-98349f04562a"/>
          <p:cNvSpPr/>
          <p:nvPr/>
        </p:nvSpPr>
        <p:spPr>
          <a:xfrm>
            <a:off x="685800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發現:長期不換 → 外洩風險累積</a:t>
            </a:r>
            <a:endParaRPr lang="en-US" sz="1050" dirty="0"/>
          </a:p>
        </p:txBody>
      </p:sp>
      <p:sp>
        <p:nvSpPr>
          <p:cNvPr id="25" name="49e0353a-1f07-45e1-bc93-49343e23c231"/>
          <p:cNvSpPr/>
          <p:nvPr/>
        </p:nvSpPr>
        <p:spPr>
          <a:xfrm>
            <a:off x="685800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對策:密碼庫 + 輪替流程 + 提醒</a:t>
            </a:r>
            <a:endParaRPr lang="en-US" sz="1050" dirty="0"/>
          </a:p>
        </p:txBody>
      </p:sp>
      <p:sp>
        <p:nvSpPr>
          <p:cNvPr id="26" name="a23d0ed8-a4f7-4a33-a1f1-28799e05f801"/>
          <p:cNvSpPr/>
          <p:nvPr/>
        </p:nvSpPr>
        <p:spPr>
          <a:xfrm>
            <a:off x="4325112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27" name="a95ac88f-50e5-4cde-801f-564ab9f5f9aa"/>
          <p:cNvSpPr/>
          <p:nvPr/>
        </p:nvSpPr>
        <p:spPr>
          <a:xfrm>
            <a:off x="4462272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28" name="1d635739-0a1b-4f0a-9450-f493d8f84b37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4572914" y="4222905"/>
            <a:ext cx="281635" cy="281635"/>
          </a:xfrm>
          <a:prstGeom prst="rect">
            <a:avLst/>
          </a:prstGeom>
        </p:spPr>
      </p:pic>
      <p:sp>
        <p:nvSpPr>
          <p:cNvPr id="29" name="d3ecb888-cda4-4b90-8705-613ad09c5150"/>
          <p:cNvSpPr/>
          <p:nvPr/>
        </p:nvSpPr>
        <p:spPr>
          <a:xfrm>
            <a:off x="5056632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監控元件預設未認證</a:t>
            </a:r>
            <a:endParaRPr lang="en-US" sz="1350" dirty="0"/>
          </a:p>
        </p:txBody>
      </p:sp>
      <p:sp>
        <p:nvSpPr>
          <p:cNvPr id="30" name="6b9818f7-d480-4814-bc40-5219e24bce2f"/>
          <p:cNvSpPr/>
          <p:nvPr/>
        </p:nvSpPr>
        <p:spPr>
          <a:xfrm>
            <a:off x="4462272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發現:Prometheus / Alertmanager 可無認證讀寫</a:t>
            </a:r>
            <a:endParaRPr lang="en-US" sz="1050" dirty="0"/>
          </a:p>
        </p:txBody>
      </p:sp>
      <p:sp>
        <p:nvSpPr>
          <p:cNvPr id="31" name="6d380e59-0a1a-432f-8d8c-0fa9d8cbbd83"/>
          <p:cNvSpPr/>
          <p:nvPr/>
        </p:nvSpPr>
        <p:spPr>
          <a:xfrm>
            <a:off x="4462272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對策:啟用 TLS + Basic;未啟用時網路隔離</a:t>
            </a:r>
            <a:endParaRPr lang="en-US" sz="1050" dirty="0"/>
          </a:p>
        </p:txBody>
      </p:sp>
      <p:sp>
        <p:nvSpPr>
          <p:cNvPr id="32" name="4f61c881-a5fe-411a-99a1-14ce875cb0bc"/>
          <p:cNvSpPr/>
          <p:nvPr/>
        </p:nvSpPr>
        <p:spPr>
          <a:xfrm>
            <a:off x="8101584" y="4018417"/>
            <a:ext cx="3520440" cy="2163668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3" name="bd63709f-5838-4b50-b2bf-e25999ca6312"/>
          <p:cNvSpPr/>
          <p:nvPr/>
        </p:nvSpPr>
        <p:spPr>
          <a:xfrm>
            <a:off x="8238744" y="4120237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34" name="7218c4c3-312d-4458-9e36-e16e52368515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8349386" y="4222905"/>
            <a:ext cx="281635" cy="281635"/>
          </a:xfrm>
          <a:prstGeom prst="rect">
            <a:avLst/>
          </a:prstGeom>
        </p:spPr>
      </p:pic>
      <p:sp>
        <p:nvSpPr>
          <p:cNvPr id="35" name="ee410066-27d6-43bc-b62a-46b3e5a9259f"/>
          <p:cNvSpPr/>
          <p:nvPr/>
        </p:nvSpPr>
        <p:spPr>
          <a:xfrm>
            <a:off x="8833104" y="4120237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audit 不是全記</a:t>
            </a:r>
            <a:endParaRPr lang="en-US" sz="1350" dirty="0"/>
          </a:p>
        </p:txBody>
      </p:sp>
      <p:sp>
        <p:nvSpPr>
          <p:cNvPr id="36" name="7da0bb30-ef5c-45a7-aefd-8a1d147434c7"/>
          <p:cNvSpPr/>
          <p:nvPr/>
        </p:nvSpPr>
        <p:spPr>
          <a:xfrm>
            <a:off x="8238744" y="4697215"/>
            <a:ext cx="3246120" cy="678798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發現:部分拒絕查不到;成功的 consume 預設不記(避免洗版)</a:t>
            </a:r>
            <a:endParaRPr lang="en-US" sz="1050" dirty="0"/>
          </a:p>
        </p:txBody>
      </p:sp>
      <p:sp>
        <p:nvSpPr>
          <p:cNvPr id="37" name="47894756-bceb-4930-96b8-d18895ee1ab6"/>
          <p:cNvSpPr/>
          <p:nvPr/>
        </p:nvSpPr>
        <p:spPr>
          <a:xfrm>
            <a:off x="8238744" y="5443893"/>
            <a:ext cx="3246120" cy="636373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對策:稽核需求另外盤點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風險與對策(續)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兩個操作陷阱和一項待驗證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c545d22-9521-48f4-b327-c7c6d55cdb3b"/>
          <p:cNvSpPr/>
          <p:nvPr/>
        </p:nvSpPr>
        <p:spPr>
          <a:xfrm>
            <a:off x="548640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3" name="54d76f56-ea34-4da6-99c1-a0dfe9a6087d"/>
          <p:cNvSpPr/>
          <p:nvPr/>
        </p:nvSpPr>
        <p:spPr>
          <a:xfrm>
            <a:off x="685800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4" name="653b4a19-12d4-4908-9a12-37facaf6f2c3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796442" y="1889538"/>
            <a:ext cx="281635" cy="281635"/>
          </a:xfrm>
          <a:prstGeom prst="rect">
            <a:avLst/>
          </a:prstGeom>
        </p:spPr>
      </p:pic>
      <p:sp>
        <p:nvSpPr>
          <p:cNvPr id="5" name="2fc02363-6f27-47b2-b98c-6796ba4ed679"/>
          <p:cNvSpPr/>
          <p:nvPr/>
        </p:nvSpPr>
        <p:spPr>
          <a:xfrm>
            <a:off x="1280160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Postman cookie 優先於 Basic</a:t>
            </a:r>
            <a:endParaRPr lang="en-US" sz="1350" dirty="0"/>
          </a:p>
        </p:txBody>
      </p:sp>
      <p:sp>
        <p:nvSpPr>
          <p:cNvPr id="6" name="ec66b356-da45-4947-b299-e5d4ba956f4e"/>
          <p:cNvSpPr/>
          <p:nvPr/>
        </p:nvSpPr>
        <p:spPr>
          <a:xfrm>
            <a:off x="685800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發現:MDS 驗證後回 auth_token cookie,優先於 Basic:同一 session 換身分仍以前一人執行(實測:誤新增 role binding)</a:t>
            </a:r>
            <a:endParaRPr lang="en-US" sz="1050" dirty="0"/>
          </a:p>
        </p:txBody>
      </p:sp>
      <p:sp>
        <p:nvSpPr>
          <p:cNvPr id="7" name="f63dc4a5-3107-4bac-984c-0a200278d252"/>
          <p:cNvSpPr/>
          <p:nvPr/>
        </p:nvSpPr>
        <p:spPr>
          <a:xfrm>
            <a:off x="685800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對策:換身分前清除 cookie;collection 層級 pre-request 清除</a:t>
            </a:r>
            <a:endParaRPr lang="en-US" sz="1050" dirty="0"/>
          </a:p>
        </p:txBody>
      </p:sp>
      <p:sp>
        <p:nvSpPr>
          <p:cNvPr id="8" name="2d04ef72-06b5-4a20-8a81-dc3b2cae15b3"/>
          <p:cNvSpPr/>
          <p:nvPr/>
        </p:nvSpPr>
        <p:spPr>
          <a:xfrm>
            <a:off x="4325112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9" name="ebc3e329-d9c2-4aa3-b48d-5d5359e08b0f"/>
          <p:cNvSpPr/>
          <p:nvPr/>
        </p:nvSpPr>
        <p:spPr>
          <a:xfrm>
            <a:off x="4462272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0" name="e239e144-95e1-434c-9345-dd524b1d1a60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4572914" y="1889538"/>
            <a:ext cx="281635" cy="281635"/>
          </a:xfrm>
          <a:prstGeom prst="rect">
            <a:avLst/>
          </a:prstGeom>
        </p:spPr>
      </p:pic>
      <p:sp>
        <p:nvSpPr>
          <p:cNvPr id="11" name="28b1dbba-ac86-4836-ae29-71e9d39f255a"/>
          <p:cNvSpPr/>
          <p:nvPr/>
        </p:nvSpPr>
        <p:spPr>
          <a:xfrm>
            <a:off x="5056632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移出群組後的延遲</a:t>
            </a:r>
            <a:endParaRPr lang="en-US" sz="1350" dirty="0"/>
          </a:p>
        </p:txBody>
      </p:sp>
      <p:sp>
        <p:nvSpPr>
          <p:cNvPr id="12" name="60b7c492-7699-4386-979f-1254a30933c4"/>
          <p:cNvSpPr/>
          <p:nvPr/>
        </p:nvSpPr>
        <p:spPr>
          <a:xfrm>
            <a:off x="4462272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發現:移出群組最長約 60 秒收回;刪除 AD 帳號後,已簽發 token 到期前仍有效(實測)</a:t>
            </a:r>
            <a:endParaRPr lang="en-US" sz="1050" dirty="0"/>
          </a:p>
        </p:txBody>
      </p:sp>
      <p:sp>
        <p:nvSpPr>
          <p:cNvPr id="13" name="990d5c0e-3070-4e3c-a0f2-06a353c19b9e"/>
          <p:cNvSpPr/>
          <p:nvPr/>
        </p:nvSpPr>
        <p:spPr>
          <a:xfrm>
            <a:off x="4462272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對策:預留刷新時間;離職:停用 AD 帳號,並視需要縮短 token 壽命(token.max.lifetime.ms)</a:t>
            </a:r>
            <a:endParaRPr lang="en-US" sz="1050" dirty="0"/>
          </a:p>
        </p:txBody>
      </p:sp>
      <p:sp>
        <p:nvSpPr>
          <p:cNvPr id="14" name="74aa7ea7-bbed-4226-bf1e-adf7b8864ea3"/>
          <p:cNvSpPr/>
          <p:nvPr/>
        </p:nvSpPr>
        <p:spPr>
          <a:xfrm>
            <a:off x="8101584" y="1685050"/>
            <a:ext cx="3520440" cy="2460642"/>
          </a:xfrm>
          <a:prstGeom prst="roundRect">
            <a:avLst>
              <a:gd name="adj" fmla="val 4500"/>
            </a:avLst>
          </a:prstGeom>
          <a:solidFill>
            <a:srgbClr val="FFFFFF"/>
          </a:solidFill>
          <a:ln w="12700">
            <a:solidFill>
              <a:srgbClr val="1A1A1A"/>
            </a:solidFill>
            <a:prstDash val="solid"/>
          </a:ln>
        </p:spPr>
      </p:sp>
      <p:sp>
        <p:nvSpPr>
          <p:cNvPr id="15" name="fa9c18b0-80b3-4f30-a4c7-70eac1497dae"/>
          <p:cNvSpPr/>
          <p:nvPr/>
        </p:nvSpPr>
        <p:spPr>
          <a:xfrm>
            <a:off x="8238744" y="1786869"/>
            <a:ext cx="502920" cy="466674"/>
          </a:xfrm>
          <a:prstGeom prst="roundRect">
            <a:avLst>
              <a:gd name="adj" fmla="val 45000"/>
            </a:avLst>
          </a:prstGeom>
          <a:solidFill>
            <a:srgbClr val="B3261E">
              <a:alpha val="15000"/>
            </a:srgbClr>
          </a:solidFill>
          <a:ln w="12700">
            <a:solidFill>
              <a:srgbClr val="B3261E"/>
            </a:solidFill>
            <a:prstDash val="solid"/>
          </a:ln>
        </p:spPr>
      </p:sp>
      <p:pic>
        <p:nvPicPr>
          <p:cNvPr id="16" name="4c53e0bf-c243-43b5-b711-659da67fd87f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8349386" y="1889538"/>
            <a:ext cx="281635" cy="281635"/>
          </a:xfrm>
          <a:prstGeom prst="rect">
            <a:avLst/>
          </a:prstGeom>
        </p:spPr>
      </p:pic>
      <p:sp>
        <p:nvSpPr>
          <p:cNvPr id="17" name="334c7099-bdad-4499-b47b-7a7fb5e79a72"/>
          <p:cNvSpPr/>
          <p:nvPr/>
        </p:nvSpPr>
        <p:spPr>
          <a:xfrm>
            <a:off x="8833104" y="1786869"/>
            <a:ext cx="2697480" cy="46667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5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多 controller 的機制</a:t>
            </a:r>
            <a:endParaRPr lang="en-US" sz="1350" dirty="0"/>
          </a:p>
        </p:txBody>
      </p:sp>
      <p:sp>
        <p:nvSpPr>
          <p:cNvPr id="18" name="3320f45b-eaf3-4e74-9d2d-46069364be09"/>
          <p:cNvSpPr/>
          <p:nvPr/>
        </p:nvSpPr>
        <p:spPr>
          <a:xfrm>
            <a:off x="8238744" y="2363848"/>
            <a:ext cx="3246120" cy="975772"/>
          </a:xfrm>
          <a:prstGeom prst="roundRect">
            <a:avLst>
              <a:gd name="adj" fmla="val 7200"/>
            </a:avLst>
          </a:prstGeom>
          <a:solidFill>
            <a:srgbClr val="B3261E">
              <a:alpha val="12000"/>
            </a:srgbClr>
          </a:solidFill>
          <a:ln w="12700">
            <a:solidFill>
              <a:srgbClr val="B3261E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B3261E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發現:官方說明 controller listener 不支援 SCRAM,採 PLAIN;PLAIN 已實測(機制),未含 TLS / RBAC</a:t>
            </a:r>
            <a:endParaRPr lang="en-US" sz="1050" dirty="0"/>
          </a:p>
        </p:txBody>
      </p:sp>
      <p:sp>
        <p:nvSpPr>
          <p:cNvPr id="19" name="92d5c512-bace-4143-bda1-8084b1235baf"/>
          <p:cNvSpPr/>
          <p:nvPr/>
        </p:nvSpPr>
        <p:spPr>
          <a:xfrm>
            <a:off x="8238744" y="3424469"/>
            <a:ext cx="3246120" cy="593948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2700">
            <a:solidFill>
              <a:srgbClr val="196B24"/>
            </a:solidFill>
          </a:ln>
        </p:spPr>
        <p:txBody>
          <a:bodyPr wrap="square" lIns="73152" tIns="73152" rIns="73152" bIns="73152" rtlCol="0" anchor="ctr"/>
          <a:lstStyle/>
          <a:p>
            <a:pPr algn="l" indent="0" marL="0">
              <a:buNone/>
            </a:pPr>
            <a:r>
              <a:rPr lang="zh-TW" altLang="en-US" sz="105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對策:導入前在實機以 TLS + RBAC 實測</a:t>
            </a:r>
            <a:endParaRPr lang="en-US" sz="1050" dirty="0"/>
          </a:p>
        </p:txBody>
      </p:sp>
      <p:sp>
        <p:nvSpPr>
          <p:cNvPr id="20" name="da1089ba-3663-41cb-b318-30b8b7a7a0de"/>
          <p:cNvSpPr/>
          <p:nvPr/>
        </p:nvSpPr>
        <p:spPr>
          <a:xfrm>
            <a:off x="548640" y="448509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E97132">
              <a:alpha val="12000"/>
            </a:srgbClr>
          </a:solidFill>
          <a:ln w="15875">
            <a:solidFill>
              <a:srgbClr val="E9713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前兩項是已實測的操作陷阱,第三項導入前須實機驗證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已驗證 vs 待驗證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誠實呈現目前的驗證範圍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e32fd950-b774-4953-bf5d-cb91fe426e17"/>
          <p:cNvSpPr/>
          <p:nvPr/>
        </p:nvSpPr>
        <p:spPr>
          <a:xfrm>
            <a:off x="548640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" name="34faee81-a062-4a7b-9deb-9733983a063c"/>
          <p:cNvSpPr/>
          <p:nvPr/>
        </p:nvSpPr>
        <p:spPr>
          <a:xfrm>
            <a:off x="731520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" name="67b0b3a5-b312-4ae1-8977-9b89baca8107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872338" y="1942993"/>
            <a:ext cx="358445" cy="358445"/>
          </a:xfrm>
          <a:prstGeom prst="rect">
            <a:avLst/>
          </a:prstGeom>
        </p:spPr>
      </p:pic>
      <p:sp>
        <p:nvSpPr>
          <p:cNvPr id="5" name="cafdf504-3404-41dd-a670-77483e7b82d5"/>
          <p:cNvSpPr/>
          <p:nvPr/>
        </p:nvSpPr>
        <p:spPr>
          <a:xfrm>
            <a:off x="1508760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已實跑驗證</a:t>
            </a:r>
            <a:endParaRPr lang="en-US" sz="1700" dirty="0"/>
          </a:p>
        </p:txBody>
      </p:sp>
      <p:sp>
        <p:nvSpPr>
          <p:cNvPr id="6" name="a04a4470-6b89-40da-a3da-441e00f24700"/>
          <p:cNvSpPr/>
          <p:nvPr/>
        </p:nvSpPr>
        <p:spPr>
          <a:xfrm>
            <a:off x="777240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 RBAC:加入群組生效(demo 5 秒;預設 60 秒)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AD 群組分層授權:唯讀 / 維運 / 授權管理(含臨時提權)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服務帳號 SCRAM 與輪替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人機並存:REST Proxy / legacy app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C3 人與機器流程、風險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audit 事件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LDAPS 信任庫 · 3 controller PLAIN · SCRAM 並行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✔  憑證更換三情境與元件順序(單節點 + demo 全元件)</a:t>
            </a:r>
            <a:endParaRPr lang="en-US" sz="1300" dirty="0"/>
          </a:p>
        </p:txBody>
      </p:sp>
      <p:sp>
        <p:nvSpPr>
          <p:cNvPr id="7" name="8481d36d-e453-4559-8c26-18f055d53eb0"/>
          <p:cNvSpPr/>
          <p:nvPr/>
        </p:nvSpPr>
        <p:spPr>
          <a:xfrm>
            <a:off x="6199632" y="1685050"/>
            <a:ext cx="5440680" cy="3733388"/>
          </a:xfrm>
          <a:prstGeom prst="roundRect">
            <a:avLst>
              <a:gd name="adj" fmla="val 90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8" name="5a099e6a-130d-4ec6-9d68-b409d4b260a1"/>
          <p:cNvSpPr/>
          <p:nvPr/>
        </p:nvSpPr>
        <p:spPr>
          <a:xfrm>
            <a:off x="6382512" y="1812324"/>
            <a:ext cx="640080" cy="59394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9" name="abca1590-6619-42c0-a67e-9a5d5c302e42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6523330" y="1942993"/>
            <a:ext cx="358445" cy="358445"/>
          </a:xfrm>
          <a:prstGeom prst="rect">
            <a:avLst/>
          </a:prstGeom>
        </p:spPr>
      </p:pic>
      <p:sp>
        <p:nvSpPr>
          <p:cNvPr id="10" name="5b2ad7c2-7763-4650-a7f5-aef3ff600cdf"/>
          <p:cNvSpPr/>
          <p:nvPr/>
        </p:nvSpPr>
        <p:spPr>
          <a:xfrm>
            <a:off x="7159752" y="1854749"/>
            <a:ext cx="4389120" cy="50909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7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待驗證 / 待確認</a:t>
            </a:r>
            <a:endParaRPr lang="en-US" sz="1700" dirty="0"/>
          </a:p>
        </p:txBody>
      </p:sp>
      <p:sp>
        <p:nvSpPr>
          <p:cNvPr id="11" name="f0b21eaa-cc59-4823-9b8a-57af66d040cf"/>
          <p:cNvSpPr/>
          <p:nvPr/>
        </p:nvSpPr>
        <p:spPr>
          <a:xfrm>
            <a:off x="6428232" y="2575972"/>
            <a:ext cx="5029200" cy="3139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真實 AD:巢狀群組、大小寫、UPN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多 controller 搭配 TLS + RBAC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RHEL 實機:systemd、firewalld、路徑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長駐 client 是否需重啟才重載信任庫;中繼 CA 的更換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Prometheus / Alertmanager 啟用 TLS + Basic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Java 21(demo 映像為 Java 25)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縮短 token 壽命對元件換 token 頻率的影響</a:t>
            </a:r>
            <a:endParaRPr lang="en-US" sz="1300" dirty="0"/>
          </a:p>
          <a:p>
            <a:pPr algn="l" indent="0" marL="0">
              <a:spcAft>
                <a:spcPts val="600"/>
              </a:spcAft>
              <a:buNone/>
            </a:pPr>
            <a:r>
              <a:rPr lang="zh-TW" altLang="en-US" sz="1300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?  MDS 金鑰對與內部帳號的輪替流程</a:t>
            </a:r>
            <a:endParaRPr lang="en-US" sz="1300" dirty="0"/>
          </a:p>
        </p:txBody>
      </p:sp>
      <p:sp>
        <p:nvSpPr>
          <p:cNvPr id="12" name="c6b43703-f8cd-4f60-ad69-9e398c7bc6ad"/>
          <p:cNvSpPr/>
          <p:nvPr/>
        </p:nvSpPr>
        <p:spPr>
          <a:xfrm>
            <a:off x="548640" y="5630562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56082">
              <a:alpha val="12000"/>
            </a:srgbClr>
          </a:solidFill>
          <a:ln w="15875">
            <a:solidFill>
              <a:srgbClr val="156082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2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使用 OpenLDAP 模擬 AD;商用功能(RBAC、audit、C3)需 license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導入前請客戶確認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八件需要客戶回覆的事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9bf60c24-7b5f-4cc3-9357-97c1d03e59c0"/>
          <p:cNvSpPr/>
          <p:nvPr/>
        </p:nvSpPr>
        <p:spPr>
          <a:xfrm>
            <a:off x="54864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718bab4d-7cc6-46ce-b9a2-182dc62ebda2"/>
          <p:cNvSpPr/>
          <p:nvPr/>
        </p:nvSpPr>
        <p:spPr>
          <a:xfrm>
            <a:off x="68580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1</a:t>
            </a:r>
            <a:endParaRPr lang="en-US" sz="1500" dirty="0"/>
          </a:p>
        </p:txBody>
      </p:sp>
      <p:sp>
        <p:nvSpPr>
          <p:cNvPr id="4" name="faf27762-beca-4ee7-8be6-48f8dd3cc795"/>
          <p:cNvSpPr/>
          <p:nvPr/>
        </p:nvSpPr>
        <p:spPr>
          <a:xfrm>
            <a:off x="132588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5" name="5921ba0c-d5ad-4e8b-ae42-1b3d93430ce2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1446581" y="1941296"/>
            <a:ext cx="307238" cy="307238"/>
          </a:xfrm>
          <a:prstGeom prst="rect">
            <a:avLst/>
          </a:prstGeom>
        </p:spPr>
      </p:pic>
      <p:sp>
        <p:nvSpPr>
          <p:cNvPr id="6" name="05df5857-b897-4cd5-9759-1043ae221017"/>
          <p:cNvSpPr/>
          <p:nvPr/>
        </p:nvSpPr>
        <p:spPr>
          <a:xfrm>
            <a:off x="205740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唯讀查詢帳號(bind DN)與 LDAPS</a:t>
            </a:r>
            <a:endParaRPr lang="en-US" sz="1300" dirty="0"/>
          </a:p>
        </p:txBody>
      </p:sp>
      <p:sp>
        <p:nvSpPr>
          <p:cNvPr id="7" name="50313087-9f53-4e55-9109-ea577874d713"/>
          <p:cNvSpPr/>
          <p:nvPr/>
        </p:nvSpPr>
        <p:spPr>
          <a:xfrm>
            <a:off x="6172200" y="164262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8" name="0cecf6fd-c631-47b6-a675-51e01812c99b"/>
          <p:cNvSpPr/>
          <p:nvPr/>
        </p:nvSpPr>
        <p:spPr>
          <a:xfrm>
            <a:off x="6309360" y="188020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a5887d8f-2de6-4d6f-ad42-1ccca749833a"/>
          <p:cNvSpPr/>
          <p:nvPr/>
        </p:nvSpPr>
        <p:spPr>
          <a:xfrm>
            <a:off x="6949440" y="182929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0" name="d5d70cf4-8bcf-4ea1-8595-74c55a111d5b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7070141" y="1941296"/>
            <a:ext cx="307238" cy="307238"/>
          </a:xfrm>
          <a:prstGeom prst="rect">
            <a:avLst/>
          </a:prstGeom>
        </p:spPr>
      </p:pic>
      <p:sp>
        <p:nvSpPr>
          <p:cNvPr id="11" name="99d868a7-44d0-4c28-b40f-5308104ae4a2"/>
          <p:cNvSpPr/>
          <p:nvPr/>
        </p:nvSpPr>
        <p:spPr>
          <a:xfrm>
            <a:off x="7680960" y="168505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Kafka 憑證由誰簽發:有無 AD CS(內部 CA)與根憑證散佈方式</a:t>
            </a:r>
            <a:endParaRPr lang="en-US" sz="1300" dirty="0"/>
          </a:p>
        </p:txBody>
      </p:sp>
      <p:sp>
        <p:nvSpPr>
          <p:cNvPr id="12" name="5a008e69-d3e6-42ef-bfc2-ffe5fe75700d"/>
          <p:cNvSpPr/>
          <p:nvPr/>
        </p:nvSpPr>
        <p:spPr>
          <a:xfrm>
            <a:off x="54864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13" name="7aa4ec3c-86ba-400e-8fd4-fb1e63930418"/>
          <p:cNvSpPr/>
          <p:nvPr/>
        </p:nvSpPr>
        <p:spPr>
          <a:xfrm>
            <a:off x="68580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E97132"/>
          </a:solidFill>
          <a:ln w="19050">
            <a:solidFill>
              <a:srgbClr val="E9713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0cb6169d-5291-4f07-8572-30d5d1d6f947"/>
          <p:cNvSpPr/>
          <p:nvPr/>
        </p:nvSpPr>
        <p:spPr>
          <a:xfrm>
            <a:off x="132588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5" name="5568b098-ceba-44d9-9b36-522b3d6e27ed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1446581" y="2959493"/>
            <a:ext cx="307238" cy="307238"/>
          </a:xfrm>
          <a:prstGeom prst="rect">
            <a:avLst/>
          </a:prstGeom>
        </p:spPr>
      </p:pic>
      <p:sp>
        <p:nvSpPr>
          <p:cNvPr id="16" name="7b83b3ef-3948-453c-a6c0-80d2fe793a01"/>
          <p:cNvSpPr/>
          <p:nvPr/>
        </p:nvSpPr>
        <p:spPr>
          <a:xfrm>
            <a:off x="205740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能否為 legacy app 建立專用 AD 帳號(非真人)</a:t>
            </a:r>
            <a:endParaRPr lang="en-US" sz="1300" dirty="0"/>
          </a:p>
        </p:txBody>
      </p:sp>
      <p:sp>
        <p:nvSpPr>
          <p:cNvPr id="17" name="b56d9bd3-2c20-493d-a2dd-5d8ed17e3f48"/>
          <p:cNvSpPr/>
          <p:nvPr/>
        </p:nvSpPr>
        <p:spPr>
          <a:xfrm>
            <a:off x="6172200" y="2660822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7A4EAB">
              <a:alpha val="12000"/>
            </a:srgbClr>
          </a:solidFill>
          <a:ln w="19050">
            <a:solidFill>
              <a:srgbClr val="7A4EAB"/>
            </a:solidFill>
            <a:prstDash val="solid"/>
          </a:ln>
        </p:spPr>
      </p:sp>
      <p:sp>
        <p:nvSpPr>
          <p:cNvPr id="18" name="ce43864a-9585-4c7c-9e7f-1c44e623a367"/>
          <p:cNvSpPr/>
          <p:nvPr/>
        </p:nvSpPr>
        <p:spPr>
          <a:xfrm>
            <a:off x="6309360" y="2898401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7A4EAB"/>
          </a:solidFill>
          <a:ln w="19050">
            <a:solidFill>
              <a:srgbClr val="7A4EAB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4</a:t>
            </a:r>
            <a:endParaRPr lang="en-US" sz="1500" dirty="0"/>
          </a:p>
        </p:txBody>
      </p:sp>
      <p:sp>
        <p:nvSpPr>
          <p:cNvPr id="19" name="4c2bbf9d-1588-4368-802e-749377ef37a0"/>
          <p:cNvSpPr/>
          <p:nvPr/>
        </p:nvSpPr>
        <p:spPr>
          <a:xfrm>
            <a:off x="6949440" y="2847491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7A4EAB">
              <a:alpha val="15000"/>
            </a:srgbClr>
          </a:solidFill>
          <a:ln w="12700">
            <a:solidFill>
              <a:srgbClr val="7A4EAB"/>
            </a:solidFill>
            <a:prstDash val="solid"/>
          </a:ln>
        </p:spPr>
      </p:sp>
      <p:pic>
        <p:nvPicPr>
          <p:cNvPr id="20" name="6ab7409c-8014-4475-8819-72fc1e0df7bf" descr="preencoded.png">    </p:cNvPr>
          <p:cNvPicPr>
            <a:picLocks noChangeAspect="1"/>
          </p:cNvPicPr>
          <p:nvPr/>
        </p:nvPicPr>
        <p:blipFill>
          <a:blip r:embed="rId5-created"/>
          <a:stretch>
            <a:fillRect/>
          </a:stretch>
        </p:blipFill>
        <p:spPr>
          <a:xfrm>
            <a:off x="7070141" y="2959493"/>
            <a:ext cx="307238" cy="307238"/>
          </a:xfrm>
          <a:prstGeom prst="rect">
            <a:avLst/>
          </a:prstGeom>
        </p:spPr>
      </p:pic>
      <p:sp>
        <p:nvSpPr>
          <p:cNvPr id="21" name="82c316c5-e04b-49ee-b803-811207d924f5"/>
          <p:cNvSpPr/>
          <p:nvPr/>
        </p:nvSpPr>
        <p:spPr>
          <a:xfrm>
            <a:off x="7680960" y="2703246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license 是否涵蓋 RBAC / audit / C3</a:t>
            </a:r>
            <a:endParaRPr lang="en-US" sz="1300" dirty="0"/>
          </a:p>
        </p:txBody>
      </p:sp>
      <p:sp>
        <p:nvSpPr>
          <p:cNvPr id="22" name="b36e2e9e-0cd9-436a-a828-8ae078c328af"/>
          <p:cNvSpPr/>
          <p:nvPr/>
        </p:nvSpPr>
        <p:spPr>
          <a:xfrm>
            <a:off x="54864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23" name="130a6113-10b2-43c6-ad9a-dbfd1508a1da"/>
          <p:cNvSpPr/>
          <p:nvPr/>
        </p:nvSpPr>
        <p:spPr>
          <a:xfrm>
            <a:off x="68580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5</a:t>
            </a:r>
            <a:endParaRPr lang="en-US" sz="1500" dirty="0"/>
          </a:p>
        </p:txBody>
      </p:sp>
      <p:sp>
        <p:nvSpPr>
          <p:cNvPr id="24" name="8b45e453-2d30-4f00-9387-bea1d19e92c9"/>
          <p:cNvSpPr/>
          <p:nvPr/>
        </p:nvSpPr>
        <p:spPr>
          <a:xfrm>
            <a:off x="132588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25" name="e370fca5-2e5a-4063-a547-29ebfea9da52" descr="preencoded.png">    </p:cNvPr>
          <p:cNvPicPr>
            <a:picLocks noChangeAspect="1"/>
          </p:cNvPicPr>
          <p:nvPr/>
        </p:nvPicPr>
        <p:blipFill>
          <a:blip r:embed="rId6-created"/>
          <a:stretch>
            <a:fillRect/>
          </a:stretch>
        </p:blipFill>
        <p:spPr>
          <a:xfrm>
            <a:off x="1446581" y="3977689"/>
            <a:ext cx="307238" cy="307238"/>
          </a:xfrm>
          <a:prstGeom prst="rect">
            <a:avLst/>
          </a:prstGeom>
        </p:spPr>
      </p:pic>
      <p:sp>
        <p:nvSpPr>
          <p:cNvPr id="26" name="e7d4cac7-6e93-4d2f-9769-5021e108de20"/>
          <p:cNvSpPr/>
          <p:nvPr/>
        </p:nvSpPr>
        <p:spPr>
          <a:xfrm>
            <a:off x="205740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群組是否巢狀、帳號大小寫與命名</a:t>
            </a:r>
            <a:endParaRPr lang="en-US" sz="1300" dirty="0"/>
          </a:p>
        </p:txBody>
      </p:sp>
      <p:sp>
        <p:nvSpPr>
          <p:cNvPr id="27" name="2364f258-998f-4603-a409-54b4e30b3b1e"/>
          <p:cNvSpPr/>
          <p:nvPr/>
        </p:nvSpPr>
        <p:spPr>
          <a:xfrm>
            <a:off x="6172200" y="3679018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28" name="3494b0f7-9db4-4908-8f4a-6c27477aad7a"/>
          <p:cNvSpPr/>
          <p:nvPr/>
        </p:nvSpPr>
        <p:spPr>
          <a:xfrm>
            <a:off x="6309360" y="3916598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6</a:t>
            </a:r>
            <a:endParaRPr lang="en-US" sz="1500" dirty="0"/>
          </a:p>
        </p:txBody>
      </p:sp>
      <p:sp>
        <p:nvSpPr>
          <p:cNvPr id="29" name="8faf9c8b-6ff7-4f34-af0b-81ab594fe296"/>
          <p:cNvSpPr/>
          <p:nvPr/>
        </p:nvSpPr>
        <p:spPr>
          <a:xfrm>
            <a:off x="6949440" y="3865688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30" name="3ab5d704-a7be-4a2d-a78a-463a635f23f6" descr="preencoded.png">    </p:cNvPr>
          <p:cNvPicPr>
            <a:picLocks noChangeAspect="1"/>
          </p:cNvPicPr>
          <p:nvPr/>
        </p:nvPicPr>
        <p:blipFill>
          <a:blip r:embed="rId7-created"/>
          <a:stretch>
            <a:fillRect/>
          </a:stretch>
        </p:blipFill>
        <p:spPr>
          <a:xfrm>
            <a:off x="7070141" y="3977689"/>
            <a:ext cx="307238" cy="307238"/>
          </a:xfrm>
          <a:prstGeom prst="rect">
            <a:avLst/>
          </a:prstGeom>
        </p:spPr>
      </p:pic>
      <p:sp>
        <p:nvSpPr>
          <p:cNvPr id="31" name="74bf3fd4-c602-463e-ae1a-02672bb220c8"/>
          <p:cNvSpPr/>
          <p:nvPr/>
        </p:nvSpPr>
        <p:spPr>
          <a:xfrm>
            <a:off x="7680960" y="3721443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Java 版本(建議 21)與 Prometheus / Alertmanager 部署</a:t>
            </a:r>
            <a:endParaRPr lang="en-US" sz="1300" dirty="0"/>
          </a:p>
        </p:txBody>
      </p:sp>
      <p:sp>
        <p:nvSpPr>
          <p:cNvPr id="32" name="82d571a1-6197-497e-8c52-2e7e76e72eb8"/>
          <p:cNvSpPr/>
          <p:nvPr/>
        </p:nvSpPr>
        <p:spPr>
          <a:xfrm>
            <a:off x="54864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3" name="9c677983-4e80-4343-84a3-054c4be756f5"/>
          <p:cNvSpPr/>
          <p:nvPr/>
        </p:nvSpPr>
        <p:spPr>
          <a:xfrm>
            <a:off x="68580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56082"/>
          </a:solidFill>
          <a:ln w="19050">
            <a:solidFill>
              <a:srgbClr val="156082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7</a:t>
            </a:r>
            <a:endParaRPr lang="en-US" sz="1500" dirty="0"/>
          </a:p>
        </p:txBody>
      </p:sp>
      <p:sp>
        <p:nvSpPr>
          <p:cNvPr id="34" name="95c0abde-0e49-432e-bf6c-6fa71a778065"/>
          <p:cNvSpPr/>
          <p:nvPr/>
        </p:nvSpPr>
        <p:spPr>
          <a:xfrm>
            <a:off x="132588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35" name="2c03a278-6c70-4154-a2b7-24a88081ef9a" descr="preencoded.png">    </p:cNvPr>
          <p:cNvPicPr>
            <a:picLocks noChangeAspect="1"/>
          </p:cNvPicPr>
          <p:nvPr/>
        </p:nvPicPr>
        <p:blipFill>
          <a:blip r:embed="rId8-created"/>
          <a:stretch>
            <a:fillRect/>
          </a:stretch>
        </p:blipFill>
        <p:spPr>
          <a:xfrm>
            <a:off x="1446581" y="4995886"/>
            <a:ext cx="307238" cy="307238"/>
          </a:xfrm>
          <a:prstGeom prst="rect">
            <a:avLst/>
          </a:prstGeom>
        </p:spPr>
      </p:pic>
      <p:sp>
        <p:nvSpPr>
          <p:cNvPr id="36" name="b2dc4eee-9047-4b15-9907-c430d95dab48"/>
          <p:cNvSpPr/>
          <p:nvPr/>
        </p:nvSpPr>
        <p:spPr>
          <a:xfrm>
            <a:off x="205740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是否有多台 DC(高可用):LDAP 停擺超過 24 小時,授權器會失效</a:t>
            </a:r>
            <a:endParaRPr lang="en-US" sz="1300" dirty="0"/>
          </a:p>
        </p:txBody>
      </p:sp>
      <p:sp>
        <p:nvSpPr>
          <p:cNvPr id="37" name="9d061bb1-47b7-4192-bc75-8f1615de0ec0"/>
          <p:cNvSpPr/>
          <p:nvPr/>
        </p:nvSpPr>
        <p:spPr>
          <a:xfrm>
            <a:off x="6172200" y="4697215"/>
            <a:ext cx="5440680" cy="890922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38" name="87a23b1d-02fe-42a9-ab89-e00bec3ea9c8"/>
          <p:cNvSpPr/>
          <p:nvPr/>
        </p:nvSpPr>
        <p:spPr>
          <a:xfrm>
            <a:off x="6309360" y="4934794"/>
            <a:ext cx="457200" cy="424249"/>
          </a:xfrm>
          <a:prstGeom prst="roundRect">
            <a:avLst>
              <a:gd name="adj" fmla="val 45000"/>
            </a:avLst>
          </a:prstGeom>
          <a:solidFill>
            <a:srgbClr val="196B24"/>
          </a:solidFill>
          <a:ln w="19050">
            <a:solidFill>
              <a:srgbClr val="196B24"/>
            </a:solidFill>
          </a:ln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zh-TW" altLang="en-US" sz="1500" b="1" dirty="0">
                <a:solidFill>
                  <a:srgbClr val="FFFFFF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8</a:t>
            </a:r>
            <a:endParaRPr lang="en-US" sz="1500" dirty="0"/>
          </a:p>
        </p:txBody>
      </p:sp>
      <p:sp>
        <p:nvSpPr>
          <p:cNvPr id="39" name="ea3c989c-42f6-4bad-9710-53d849d3257b"/>
          <p:cNvSpPr/>
          <p:nvPr/>
        </p:nvSpPr>
        <p:spPr>
          <a:xfrm>
            <a:off x="6949440" y="4883885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40" name="ef21a189-1471-4944-aeee-8c74bbd51aad" descr="preencoded.png">    </p:cNvPr>
          <p:cNvPicPr>
            <a:picLocks noChangeAspect="1"/>
          </p:cNvPicPr>
          <p:nvPr/>
        </p:nvPicPr>
        <p:blipFill>
          <a:blip r:embed="rId9-created"/>
          <a:stretch>
            <a:fillRect/>
          </a:stretch>
        </p:blipFill>
        <p:spPr>
          <a:xfrm>
            <a:off x="7070141" y="4995886"/>
            <a:ext cx="307238" cy="307238"/>
          </a:xfrm>
          <a:prstGeom prst="rect">
            <a:avLst/>
          </a:prstGeom>
        </p:spPr>
      </p:pic>
      <p:sp>
        <p:nvSpPr>
          <p:cNvPr id="41" name="95f41c6f-8666-4c48-985c-54b688c3ed61"/>
          <p:cNvSpPr/>
          <p:nvPr/>
        </p:nvSpPr>
        <p:spPr>
          <a:xfrm>
            <a:off x="7680960" y="4739640"/>
            <a:ext cx="3840480" cy="80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zh-TW" altLang="en-US" sz="1300" b="1" dirty="0">
                <a:solidFill>
                  <a:srgbClr val="1A1A1A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AD 的 LDAPS 憑證由誰簽發(根 CA、有無中繼 CA)</a:t>
            </a:r>
            <a:endParaRPr lang="en-US" sz="1300" dirty="0"/>
          </a:p>
        </p:txBody>
      </p:sp>
      <p:sp>
        <p:nvSpPr>
          <p:cNvPr id="42" name="96d9466f-5258-48de-a3d2-e9a0b9b05d04"/>
          <p:cNvSpPr/>
          <p:nvPr/>
        </p:nvSpPr>
        <p:spPr>
          <a:xfrm>
            <a:off x="548640" y="5757837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196B24">
              <a:alpha val="12000"/>
            </a:srgbClr>
          </a:solidFill>
          <a:ln w="15875">
            <a:solidFill>
              <a:srgbClr val="196B24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3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第 3 項若可行:legacy app 走 Basic,不需要 client 憑證</a:t>
            </a:r>
            <a:endParaRPr lang="en-US" sz="13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標題 5">
            <a:extLst>
              <a:ext uri="{FF2B5EF4-FFF2-40B4-BE49-F238E27FC236}">
                <a16:creationId xmlns:a16="http://schemas.microsoft.com/office/drawing/2014/main" id="{C6C55D01-43B8-2689-3EF4-1F1B2A3DC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z="2800" dirty="0"/>
              <a:t>下一步</a:t>
            </a:r>
          </a:p>
        </p:txBody>
      </p:sp>
      <p:sp>
        <p:nvSpPr>
          <p:cNvPr id="8" name="文字版面配置區 7">
            <a:extLst>
              <a:ext uri="{FF2B5EF4-FFF2-40B4-BE49-F238E27FC236}">
                <a16:creationId xmlns:a16="http://schemas.microsoft.com/office/drawing/2014/main" id="{68DC9D5B-CF8E-F01E-D7CD-8CCEB879766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1600" dirty="0"/>
              <a:t>接下來的三件事</a:t>
            </a:r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D374552E-9C27-1905-E11C-F9FBA067A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TW" altLang="en-US"/>
              <a:t>智慧財產權屬資拓宏宇國際</a:t>
            </a:r>
            <a:r>
              <a:rPr lang="en-US" altLang="zh-TW"/>
              <a:t>(</a:t>
            </a:r>
            <a:r>
              <a:rPr lang="zh-TW" altLang="en-US"/>
              <a:t>股</a:t>
            </a:r>
            <a:r>
              <a:rPr lang="en-US" altLang="zh-TW"/>
              <a:t>)</a:t>
            </a:r>
            <a:r>
              <a:rPr lang="zh-TW" altLang="en-US"/>
              <a:t>公司，複製或轉載必究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21CBBA8-5952-5822-2E66-94E28EAA1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79C081-DDF4-42D0-B16E-F484AE95A2F9}" type="slidenum">
              <a:rPr lang="zh-TW" altLang="en-US" smtClean="0"/>
              <a:pPr/>
              <a:t>4</a:t>
            </a:fld>
            <a:endParaRPr lang="zh-TW" altLang="en-US" sz="900"/>
          </a:p>
        </p:txBody>
      </p:sp>
      <p:sp>
        <p:nvSpPr>
          <p:cNvPr id="2" name="69713e3f-4550-4d06-af32-d2d432100eaa"/>
          <p:cNvSpPr/>
          <p:nvPr/>
        </p:nvSpPr>
        <p:spPr>
          <a:xfrm>
            <a:off x="548640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56082">
              <a:alpha val="12000"/>
            </a:srgbClr>
          </a:solidFill>
          <a:ln w="19050">
            <a:solidFill>
              <a:srgbClr val="156082"/>
            </a:solidFill>
            <a:prstDash val="solid"/>
          </a:ln>
        </p:spPr>
      </p:sp>
      <p:sp>
        <p:nvSpPr>
          <p:cNvPr id="3" name="150f2cae-3367-4ce0-81ef-51c6e7791827"/>
          <p:cNvSpPr/>
          <p:nvPr/>
        </p:nvSpPr>
        <p:spPr>
          <a:xfrm>
            <a:off x="2034540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56082">
              <a:alpha val="15000"/>
            </a:srgbClr>
          </a:solidFill>
          <a:ln w="12700">
            <a:solidFill>
              <a:srgbClr val="156082"/>
            </a:solidFill>
            <a:prstDash val="solid"/>
          </a:ln>
        </p:spPr>
      </p:sp>
      <p:pic>
        <p:nvPicPr>
          <p:cNvPr id="4" name="81e48d8e-3566-42ea-b066-bffdd20e9378" descr="preencoded.png">    </p:cNvPr>
          <p:cNvPicPr>
            <a:picLocks noChangeAspect="1"/>
          </p:cNvPicPr>
          <p:nvPr/>
        </p:nvPicPr>
        <p:blipFill>
          <a:blip r:embed="rId2-created"/>
          <a:stretch>
            <a:fillRect/>
          </a:stretch>
        </p:blipFill>
        <p:spPr>
          <a:xfrm>
            <a:off x="2155241" y="2178875"/>
            <a:ext cx="307238" cy="307238"/>
          </a:xfrm>
          <a:prstGeom prst="rect">
            <a:avLst/>
          </a:prstGeom>
        </p:spPr>
      </p:pic>
      <p:sp>
        <p:nvSpPr>
          <p:cNvPr id="5" name="45751766-a2ee-4785-826d-9e6f44aa9181"/>
          <p:cNvSpPr/>
          <p:nvPr/>
        </p:nvSpPr>
        <p:spPr>
          <a:xfrm>
            <a:off x="621792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5608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客戶確認</a:t>
            </a:r>
            <a:endParaRPr lang="en-US" sz="1800" dirty="0"/>
          </a:p>
        </p:txBody>
      </p:sp>
      <p:sp>
        <p:nvSpPr>
          <p:cNvPr id="6" name="d731fb85-238c-4104-bcea-d48eb41dd7b6"/>
          <p:cNvSpPr/>
          <p:nvPr/>
        </p:nvSpPr>
        <p:spPr>
          <a:xfrm>
            <a:off x="640080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回覆前一頁的八件事</a:t>
            </a:r>
            <a:endParaRPr lang="en-US" sz="1300" dirty="0"/>
          </a:p>
        </p:txBody>
      </p:sp>
      <p:sp>
        <p:nvSpPr>
          <p:cNvPr id="7" name="23682800-7ab3-4547-bf0c-4ab0db8d4f1e"/>
          <p:cNvSpPr/>
          <p:nvPr/>
        </p:nvSpPr>
        <p:spPr>
          <a:xfrm>
            <a:off x="4069080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8" name="c403a0b1-8705-4d77-814d-405ea23c00cb"/>
          <p:cNvSpPr/>
          <p:nvPr/>
        </p:nvSpPr>
        <p:spPr>
          <a:xfrm>
            <a:off x="4325112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E97132">
              <a:alpha val="12000"/>
            </a:srgbClr>
          </a:solidFill>
          <a:ln w="19050">
            <a:solidFill>
              <a:srgbClr val="E97132"/>
            </a:solidFill>
            <a:prstDash val="solid"/>
          </a:ln>
        </p:spPr>
      </p:sp>
      <p:sp>
        <p:nvSpPr>
          <p:cNvPr id="9" name="f16797a8-34d1-416d-81ec-042a2752966b"/>
          <p:cNvSpPr/>
          <p:nvPr/>
        </p:nvSpPr>
        <p:spPr>
          <a:xfrm>
            <a:off x="5811012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E97132">
              <a:alpha val="15000"/>
            </a:srgbClr>
          </a:solidFill>
          <a:ln w="12700">
            <a:solidFill>
              <a:srgbClr val="E97132"/>
            </a:solidFill>
            <a:prstDash val="solid"/>
          </a:ln>
        </p:spPr>
      </p:sp>
      <p:pic>
        <p:nvPicPr>
          <p:cNvPr id="10" name="54a3eca8-31f5-469a-8cd6-6c2bbbab3cd3" descr="preencoded.png">    </p:cNvPr>
          <p:cNvPicPr>
            <a:picLocks noChangeAspect="1"/>
          </p:cNvPicPr>
          <p:nvPr/>
        </p:nvPicPr>
        <p:blipFill>
          <a:blip r:embed="rId3-created"/>
          <a:stretch>
            <a:fillRect/>
          </a:stretch>
        </p:blipFill>
        <p:spPr>
          <a:xfrm>
            <a:off x="5931713" y="2178875"/>
            <a:ext cx="307238" cy="307238"/>
          </a:xfrm>
          <a:prstGeom prst="rect">
            <a:avLst/>
          </a:prstGeom>
        </p:spPr>
      </p:pic>
      <p:sp>
        <p:nvSpPr>
          <p:cNvPr id="11" name="7912fd83-85b8-4ec1-8072-fdb68756652d"/>
          <p:cNvSpPr/>
          <p:nvPr/>
        </p:nvSpPr>
        <p:spPr>
          <a:xfrm>
            <a:off x="4398264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E97132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調整方案</a:t>
            </a:r>
            <a:endParaRPr lang="en-US" sz="1800" dirty="0"/>
          </a:p>
        </p:txBody>
      </p:sp>
      <p:sp>
        <p:nvSpPr>
          <p:cNvPr id="12" name="77350382-8825-42c7-a60c-027ba30e8703"/>
          <p:cNvSpPr/>
          <p:nvPr/>
        </p:nvSpPr>
        <p:spPr>
          <a:xfrm>
            <a:off x="4416552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依客戶回覆更新設計</a:t>
            </a:r>
            <a:endParaRPr lang="en-US" sz="1300" dirty="0"/>
          </a:p>
        </p:txBody>
      </p:sp>
      <p:sp>
        <p:nvSpPr>
          <p:cNvPr id="13" name="99047ca5-a557-4935-8682-d27d570f040e"/>
          <p:cNvSpPr/>
          <p:nvPr/>
        </p:nvSpPr>
        <p:spPr>
          <a:xfrm>
            <a:off x="7845552" y="2957796"/>
            <a:ext cx="256032" cy="0"/>
          </a:xfrm>
          <a:prstGeom prst="line">
            <a:avLst/>
          </a:prstGeom>
          <a:noFill/>
          <a:ln w="31750">
            <a:solidFill>
              <a:srgbClr val="1A1A1A"/>
            </a:solidFill>
            <a:prstDash val="solid"/>
            <a:tailEnd type="triangle"/>
          </a:ln>
        </p:spPr>
      </p:sp>
      <p:sp>
        <p:nvSpPr>
          <p:cNvPr id="14" name="d9e71d61-62c6-4d1f-9a2a-68a7c5850c11"/>
          <p:cNvSpPr/>
          <p:nvPr/>
        </p:nvSpPr>
        <p:spPr>
          <a:xfrm>
            <a:off x="8101584" y="1939599"/>
            <a:ext cx="3520440" cy="2036394"/>
          </a:xfrm>
          <a:prstGeom prst="roundRect">
            <a:avLst>
              <a:gd name="adj" fmla="val 7200"/>
            </a:avLst>
          </a:prstGeom>
          <a:solidFill>
            <a:srgbClr val="196B24">
              <a:alpha val="12000"/>
            </a:srgbClr>
          </a:solidFill>
          <a:ln w="19050">
            <a:solidFill>
              <a:srgbClr val="196B24"/>
            </a:solidFill>
            <a:prstDash val="solid"/>
          </a:ln>
        </p:spPr>
      </p:sp>
      <p:sp>
        <p:nvSpPr>
          <p:cNvPr id="15" name="dd68fe1a-6b99-434d-ba4a-0ae0e762f161"/>
          <p:cNvSpPr/>
          <p:nvPr/>
        </p:nvSpPr>
        <p:spPr>
          <a:xfrm>
            <a:off x="9587484" y="2066874"/>
            <a:ext cx="548640" cy="509098"/>
          </a:xfrm>
          <a:prstGeom prst="roundRect">
            <a:avLst>
              <a:gd name="adj" fmla="val 45000"/>
            </a:avLst>
          </a:prstGeom>
          <a:solidFill>
            <a:srgbClr val="196B24">
              <a:alpha val="15000"/>
            </a:srgbClr>
          </a:solidFill>
          <a:ln w="12700">
            <a:solidFill>
              <a:srgbClr val="196B24"/>
            </a:solidFill>
            <a:prstDash val="solid"/>
          </a:ln>
        </p:spPr>
      </p:sp>
      <p:pic>
        <p:nvPicPr>
          <p:cNvPr id="16" name="80ad4d60-9332-4554-b546-76bb1e22c9b2" descr="preencoded.png">    </p:cNvPr>
          <p:cNvPicPr>
            <a:picLocks noChangeAspect="1"/>
          </p:cNvPicPr>
          <p:nvPr/>
        </p:nvPicPr>
        <p:blipFill>
          <a:blip r:embed="rId4-created"/>
          <a:stretch>
            <a:fillRect/>
          </a:stretch>
        </p:blipFill>
        <p:spPr>
          <a:xfrm>
            <a:off x="9708185" y="2178875"/>
            <a:ext cx="307238" cy="307238"/>
          </a:xfrm>
          <a:prstGeom prst="rect">
            <a:avLst/>
          </a:prstGeom>
        </p:spPr>
      </p:pic>
      <p:sp>
        <p:nvSpPr>
          <p:cNvPr id="17" name="7b1e783c-6aa2-49bf-9032-68bd4ba53e6f"/>
          <p:cNvSpPr/>
          <p:nvPr/>
        </p:nvSpPr>
        <p:spPr>
          <a:xfrm>
            <a:off x="8174736" y="2660822"/>
            <a:ext cx="3374136" cy="381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800" b="1" dirty="0">
                <a:solidFill>
                  <a:srgbClr val="196B24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RHEL 實機驗證</a:t>
            </a:r>
            <a:endParaRPr lang="en-US" sz="1800" dirty="0"/>
          </a:p>
        </p:txBody>
      </p:sp>
      <p:sp>
        <p:nvSpPr>
          <p:cNvPr id="18" name="6bd7faec-8a1b-420e-b9dd-9c3d05cba9b2"/>
          <p:cNvSpPr/>
          <p:nvPr/>
        </p:nvSpPr>
        <p:spPr>
          <a:xfrm>
            <a:off x="8193024" y="3042645"/>
            <a:ext cx="3337560" cy="8909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zh-TW" altLang="en-US" sz="1300" dirty="0">
                <a:solidFill>
                  <a:srgbClr val="1A1A1A">
                    <a:alpha val="62000"/>
                  </a:srgbClr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補上目前未驗證的項目</a:t>
            </a:r>
            <a:endParaRPr lang="en-US" sz="1300" dirty="0"/>
          </a:p>
        </p:txBody>
      </p:sp>
      <p:sp>
        <p:nvSpPr>
          <p:cNvPr id="19" name="2b9d37f4-2895-45db-853a-950f67397a0b"/>
          <p:cNvSpPr/>
          <p:nvPr/>
        </p:nvSpPr>
        <p:spPr>
          <a:xfrm>
            <a:off x="548640" y="4400241"/>
            <a:ext cx="11091672" cy="356369"/>
          </a:xfrm>
          <a:prstGeom prst="roundRect">
            <a:avLst>
              <a:gd name="adj" fmla="val 45000"/>
            </a:avLst>
          </a:prstGeom>
          <a:solidFill>
            <a:srgbClr val="7A4EAB">
              <a:alpha val="12000"/>
            </a:srgbClr>
          </a:solidFill>
          <a:ln w="15875">
            <a:solidFill>
              <a:srgbClr val="7A4EAB"/>
            </a:solidFill>
          </a:ln>
        </p:spPr>
        <p:txBody>
          <a:bodyPr wrap="square" lIns="91440" tIns="91440" rIns="91440" bIns="91440" rtlCol="0" anchor="ctr"/>
          <a:lstStyle/>
          <a:p>
            <a:pPr algn="ctr" indent="0" marL="0">
              <a:buNone/>
            </a:pPr>
            <a:r>
              <a:rPr lang="zh-TW" altLang="en-US" sz="1400" b="1" dirty="0">
                <a:solidFill>
                  <a:srgbClr val="7A4EAB"/>
                </a:solidFill>
                <a:latin typeface="微軟正黑體" pitchFamily="34" charset="0"/>
                <a:ea typeface="微軟正黑體" pitchFamily="34" charset="-122"/>
                <a:cs typeface="微軟正黑體" pitchFamily="34" charset="-120"/>
              </a:rPr>
              <a:t>Demo 與 Word 手冊可作為每一步的實作與證據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40528611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523B847-2F0C-E166-A0B6-9842DD7EA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Q &amp; A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2F8C39B6-7FEF-4D2B-AB5E-997A6F01455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TW" altLang="en-US" sz="2000" dirty="0"/>
              <a:t>Confluent Platform 安全解決方案</a:t>
            </a:r>
          </a:p>
        </p:txBody>
      </p:sp>
    </p:spTree>
    <p:extLst>
      <p:ext uri="{BB962C8B-B14F-4D97-AF65-F5344CB8AC3E}">
        <p14:creationId xmlns:p14="http://schemas.microsoft.com/office/powerpoint/2010/main" val="30796404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文件" ma:contentTypeID="0x010100DAA4B3EF1C1EC54090190B80065697EC" ma:contentTypeVersion="12" ma:contentTypeDescription="建立新的文件。" ma:contentTypeScope="" ma:versionID="adf174d9c9c77815f1856062b94d0799">
  <xsd:schema xmlns:xsd="http://www.w3.org/2001/XMLSchema" xmlns:xs="http://www.w3.org/2001/XMLSchema" xmlns:p="http://schemas.microsoft.com/office/2006/metadata/properties" xmlns:ns2="87643090-462e-4483-8fee-104e11aaa7c6" xmlns:ns3="81fbc0a5-bf19-4add-b132-07e20741ab60" targetNamespace="http://schemas.microsoft.com/office/2006/metadata/properties" ma:root="true" ma:fieldsID="dc2c921a8025a671c896172cdcf0cd5b" ns2:_="" ns3:_="">
    <xsd:import namespace="87643090-462e-4483-8fee-104e11aaa7c6"/>
    <xsd:import namespace="81fbc0a5-bf19-4add-b132-07e20741ab6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OCR" minOccurs="0"/>
                <xsd:element ref="ns2:MediaLengthInSeconds" minOccurs="0"/>
                <xsd:element ref="ns3:SharedWithUsers" minOccurs="0"/>
                <xsd:element ref="ns3:SharedWithDetail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7643090-462e-4483-8fee-104e11aaa7c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bjectDetectorVersions" ma:index="18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1fbc0a5-bf19-4add-b132-07e20741ab60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共用對象: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共用詳細資料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內容類型"/>
        <xsd:element ref="dc:title" minOccurs="0" maxOccurs="1" ma:index="4" ma:displayName="標題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8E66D0B-AA1B-4EED-A6EC-86D221198FF6}"/>
</file>

<file path=customXml/itemProps2.xml><?xml version="1.0" encoding="utf-8"?>
<ds:datastoreItem xmlns:ds="http://schemas.openxmlformats.org/officeDocument/2006/customXml" ds:itemID="{86279918-8EC7-4ECB-A798-E15F186ABB7B}"/>
</file>

<file path=customXml/itemProps3.xml><?xml version="1.0" encoding="utf-8"?>
<ds:datastoreItem xmlns:ds="http://schemas.openxmlformats.org/officeDocument/2006/customXml" ds:itemID="{1D6D8F05-3EF5-4272-8592-C532046A55FC}"/>
</file>

<file path=docProps/app.xml><?xml version="1.0" encoding="utf-8"?>
<Properties xmlns="http://schemas.openxmlformats.org/officeDocument/2006/extended-properties" xmlns:vt="http://schemas.openxmlformats.org/officeDocument/2006/docPropsVTypes">
  <TotalTime>6644</TotalTime>
  <Words>90</Words>
  <Application>Microsoft Office PowerPoint</Application>
  <PresentationFormat>寬螢幕</PresentationFormat>
  <Paragraphs>10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3" baseType="lpstr">
      <vt:lpstr>微軟正黑體</vt:lpstr>
      <vt:lpstr>Aptos</vt:lpstr>
      <vt:lpstr>Arial</vt:lpstr>
      <vt:lpstr>Arial Black</vt:lpstr>
      <vt:lpstr>Wingdings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洪瑀宣(Shally Hung)</dc:creator>
  <cp:lastModifiedBy>李佳瑋(Verna Lee)</cp:lastModifiedBy>
  <cp:revision>93</cp:revision>
  <dcterms:created xsi:type="dcterms:W3CDTF">2025-04-18T08:33:56Z</dcterms:created>
  <dcterms:modified xsi:type="dcterms:W3CDTF">2026-07-09T02:00:53Z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1e43920-ae8e-42a0-9a5c-464554aa03b2_Enabled">
    <vt:lpwstr>true</vt:lpwstr>
  </property>
  <property fmtid="{D5CDD505-2E9C-101B-9397-08002B2CF9AE}" pid="3" name="MSIP_Label_01e43920-ae8e-42a0-9a5c-464554aa03b2_SetDate">
    <vt:lpwstr>2025-04-18T09:16:17Z</vt:lpwstr>
  </property>
  <property fmtid="{D5CDD505-2E9C-101B-9397-08002B2CF9AE}" pid="4" name="MSIP_Label_01e43920-ae8e-42a0-9a5c-464554aa03b2_Method">
    <vt:lpwstr>Standard</vt:lpwstr>
  </property>
  <property fmtid="{D5CDD505-2E9C-101B-9397-08002B2CF9AE}" pid="5" name="MSIP_Label_01e43920-ae8e-42a0-9a5c-464554aa03b2_Name">
    <vt:lpwstr>IISIGroup - 普通文件</vt:lpwstr>
  </property>
  <property fmtid="{D5CDD505-2E9C-101B-9397-08002B2CF9AE}" pid="6" name="MSIP_Label_01e43920-ae8e-42a0-9a5c-464554aa03b2_SiteId">
    <vt:lpwstr>54aa2fea-ecb3-4c71-80b3-de9a356e77c1</vt:lpwstr>
  </property>
  <property fmtid="{D5CDD505-2E9C-101B-9397-08002B2CF9AE}" pid="7" name="MSIP_Label_01e43920-ae8e-42a0-9a5c-464554aa03b2_ActionId">
    <vt:lpwstr>74a092f3-de5e-48a5-8d80-572223daa2ef</vt:lpwstr>
  </property>
  <property fmtid="{D5CDD505-2E9C-101B-9397-08002B2CF9AE}" pid="8" name="MSIP_Label_01e43920-ae8e-42a0-9a5c-464554aa03b2_ContentBits">
    <vt:lpwstr>0</vt:lpwstr>
  </property>
  <property fmtid="{D5CDD505-2E9C-101B-9397-08002B2CF9AE}" pid="9" name="MSIP_Label_01e43920-ae8e-42a0-9a5c-464554aa03b2_Tag">
    <vt:lpwstr>10, 3, 0, 1</vt:lpwstr>
  </property>
  <property fmtid="{D5CDD505-2E9C-101B-9397-08002B2CF9AE}" pid="10" name="ContentTypeId">
    <vt:lpwstr>0x010100DAA4B3EF1C1EC54090190B80065697EC</vt:lpwstr>
  </property>
</Properties>
</file>