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封面。客戶前提:RHEL 9 手動部署、AD 只有 user 與 group。範圍:Kafka(含 controller 與 MDS RBAC)、REST Proxy、Control Center。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user/group(沒有服務帳號);希望憑證數量越少越好(設計上共用一組 server 憑證);RHEL 9 手動部署、尚無 Ansible;legacy app 只能 HTTP;權限要依職責分層(不同職責不同權限,唯讀只是其中一層;做法是 AD 群組 + RBAC);範圍限於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是否能不重啟載入新憑證未驗證。正式環境有 3 個 controller,需逐台重啟以維持 quorum;demo 只有 1 個 controller,多 controller 搭配 TLS 與 RBAC 的滾動重啟未驗證。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LDAP(AD)驗證密碼;登入時不查群組,群組由 MDS writer 定期從 AD 同步,授權時依帳號名稱查本地快取(實測);服務用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users)。MDS 簽發的 token 不含群組:實測 yujie、gary 的 token 只有 jti、iss、sub、exp、iat、nbf、azp、auth_time;PLAIN+LDAP 登入也只驗證密碼、不查群組。授權時 broker 用主體名稱查 writer 同步進 RBAC topic 的群組對照快取(實測:只綁 Group:kafka-developers,yujie 不需任何個別設定就能讀取;移除綁定即被拒),所以才需要 writer 定期向 AD 同步。官方文件對 MDS 自簽 token 是否含群組沒有說明,以上為實測觀察。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上一頁是預設做法:同帳號直接改密碼,client 只改密碼,role binding 不動;缺點是 client 換好之前重新連線會失敗(已連線的不受影響,實測)。新帳號並行用在不能承受任何失敗窗口的服務:建立新帳號並重綁相同 role,client 改帳號與密碼並逐步切換,全部切完後刪舊帳號與舊 binding(ch09 實測;RBAC 綁的是主體名稱,所以新帳號必須重綁)。代價:每次輪替 client 都要改帳號名稱並重啟,所以不建議作為日常輪替。官方:CFK 認證管理文件對內部帳號與 MDS 的 LDAP bind 帳號的輪替使用新舊並行,該文件沒有涵蓋 SCRAM;Apache Kafka 與 Confluent 的 SCRAM 文件都沒有說明密碼輪替流程,所以兩種做法都是依實測與客戶條件做的選擇。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mTLS。本頁是在 demo 實測啟用 TLS + Basic 的結果(spike/c3-monitoring-tls,用 override 檔啟用,帳密為 demo 測試值):①broker 推指標:telemetry exporter 的 base url 改 https,api.key / api.secret 就是 Prometheus 的 Basic 帳密,另設信任庫(confluent.telemetry.exporter.&lt;名稱&gt;.https.ssl.truststore.*);實測 Prometheus 的 OTLP 端點回 200,兩台 broker 的指標都進來。未更新的 broker 仍用 HTTP,Prometheus 日誌是 client sent an HTTP request to an HTTPS server。②Prometheus 送告警給 Alertmanager:必須在 Prometheus 的設定檔 alerting 區段設 scheme: https、basic_auth、tls_config.ca_file;官方 TLS + Basic 頁沒有寫這一段,對照實測:沒設時日誌是 Error sending alerts … bad response status 400,Alertmanager 一筆都沒收到;設了之後測試告警送達。③C3 查 Prometheus:confluent.controlcenter.prometheus.url 改 https、ssl.truststore.*、basic.auth.user.info;實測 C3 總覽畫面有指標、查詢計數持續增加(PKCS12 信任庫可用)。④C3 連 Alertmanager:alertmanager.url 改 https + 同樣兩項;C3 的狀態 API 回 ONLINE,故意改錯密碼則變 OFFLINE。web-config 檔(Prometheus --web.config.file):tls_server_config 放共用 server 憑證與私鑰,basic_auth_users 放 bcrypt 雜湊(htpasswd -B 可產生)。共用 server 憑證的 SAN 原本沒有 prometheus 與 alertmanager,openssl 驗證主機名稱 prometheus 回 hostname mismatch;用同一把 key、同一個 CA 重簽、SAN 補上這兩個名稱後通過,所以導入時共用憑證的 SAN 要涵蓋 Prometheus 與 Alertmanager 的主機名稱。未啟用時(demo 預設)實測:不帶憑證可讀指標,Alertmanager 可無認證建立與刪除靜音;啟用後,無帳密與錯誤密碼都是 401,無帳密建立靜音也是 401。未驗證:在 C3 畫面上實際建立告警觸發與靜音、mTLS 做法、confluent.controlcenter.*.alias.name 的作用(本實測沒設也能運作)。demo 映像的 Prometheus 設定檔是靜態檔,實際安裝套件是否由 C3 自動產生 alerting 設定,未驗證。沒有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broker(controller 不需要 LDAP 設定,實測)。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憑證可代人),都是實測發現。第三項:共用 server 私鑰外洩可偽裝伺服器,也能以共用身分向 MDS 認證(該身分不綁 role,無權限);MDS token 簽章私鑰外洩可偽造任何人的 token,其輪替流程未驗證。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 Kafka 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21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6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20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8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49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0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1.png"/><Relationship Id="rId3-created" Type="http://schemas.openxmlformats.org/officeDocument/2006/relationships/image" Target="../media/media52.png"/><Relationship Id="rId4-created" Type="http://schemas.openxmlformats.org/officeDocument/2006/relationships/image" Target="../media/media53.png"/><Relationship Id="rId5-created" Type="http://schemas.openxmlformats.org/officeDocument/2006/relationships/image" Target="../media/media54.png"/><Relationship Id="rId6-created" Type="http://schemas.openxmlformats.org/officeDocument/2006/relationships/image" Target="../media/media55.png"/><Relationship Id="rId7-created" Type="http://schemas.openxmlformats.org/officeDocument/2006/relationships/image" Target="../media/media56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7.png"/><Relationship Id="rId3-created" Type="http://schemas.openxmlformats.org/officeDocument/2006/relationships/image" Target="../media/media58.png"/><Relationship Id="rId4-created" Type="http://schemas.openxmlformats.org/officeDocument/2006/relationships/image" Target="../media/media59.png"/><Relationship Id="rIdNotes1" Type="http://schemas.openxmlformats.org/officeDocument/2006/relationships/notesSlide" Target="../notesSlides/notesSlide28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0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1.png"/><Relationship Id="rId3-created" Type="http://schemas.openxmlformats.org/officeDocument/2006/relationships/image" Target="../media/media62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63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64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65.png"/><Relationship Id="rIdNotes1" Type="http://schemas.openxmlformats.org/officeDocument/2006/relationships/notesSlide" Target="../notesSlides/notesSlide30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6.png"/><Relationship Id="rId3-created" Type="http://schemas.openxmlformats.org/officeDocument/2006/relationships/image" Target="../media/media67.png"/><Relationship Id="rId4-created" Type="http://schemas.openxmlformats.org/officeDocument/2006/relationships/image" Target="../media/media11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依客戶前提設計:AD 僅有 user / group</a:t>
            </a:r>
          </a:p>
        </p:txBody>
      </p:sp>
      <p:sp>
        <p:nvSpPr>
          <p:cNvPr id="2" name="94006e85-734d-49d3-8f15-b71e0086eb26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a011e7e-5e12-42ef-8ff0-5eb01ba33800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cf1f59db-9b8b-4496-9822-83045cdc5281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92bc98f1-1fc6-4b23-a08d-8dfd19f4e16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62e28ea6-bafd-462e-aafa-f0d6b22e0513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ba38a54d-0e15-4572-a0db-63b5788947a3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445742bb-1c74-4e61-bee9-ed2fb34f1dcb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9439f427-70de-4477-9f07-71974275bc0f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9479f710-842a-4d70-9d65-5579bca16ac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5ccc14cb-16d6-4570-aad5-3f50d0f41361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憑證數量越少越好</a:t>
            </a:r>
            <a:endParaRPr lang="en-US" sz="1700" dirty="0"/>
          </a:p>
        </p:txBody>
      </p:sp>
      <p:sp>
        <p:nvSpPr>
          <p:cNvPr id="11" name="820c775a-3da0-4f16-8825-da3b70f15597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88ab07fc-7743-45a6-9fc7-e6cd2d223cee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3e7bff28-394a-42ff-bdb3-92737e8f0836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b80cde4d-c981-4595-af44-dca1c20c90a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5ab52dc4-c2fd-44b0-8596-3e1e78a281b2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d1321b91-40e9-4e3c-aae0-fb58282ed56e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464b4bcd-3608-43fc-825f-9445f5129b56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6b9983d6-b658-4066-ad72-4235d90961a5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e5e4762b-e4ff-4995-9c71-5a3ed73d2cd0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984a4576-fd35-4f28-a382-e2c4feccb6ec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e82927a9-bef9-440f-aac7-e32f7da23f3f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d9c2b0da-f388-4ba1-a507-8b84894305b3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5e358bf7-e962-4ba1-af23-c06b5e6572f9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c31dd9fe-43a5-42d1-bbb0-7e0283c7667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b205e456-a1f3-411e-8c49-5df9e01ea8ed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700" dirty="0"/>
          </a:p>
        </p:txBody>
      </p:sp>
      <p:sp>
        <p:nvSpPr>
          <p:cNvPr id="26" name="f05dfaee-a202-4c99-bb3c-83d6df30f329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分層授權,不是全有或全無</a:t>
            </a:r>
            <a:endParaRPr lang="en-US" sz="1300" dirty="0"/>
          </a:p>
        </p:txBody>
      </p:sp>
      <p:sp>
        <p:nvSpPr>
          <p:cNvPr id="27" name="1d8fae91-66d5-4859-8200-0f36bb380085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1ac2e9d8-9d0a-46f4-9685-5e8aba349c51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9d24be8a-3f72-4406-92a2-e0891d8df8e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a1ec11f9-a05e-43bf-af37-094eb6eb2b41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1d1bdfcf-d569-456e-950a-00b4539de9eb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SCRAM 或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11c46a4-8619-483a-899f-7b409ac4d677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dc098df1-74db-4b79-9e5e-ad5037ca6240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1e8878a7-10b4-43b9-88c2-df4f646897a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5eb0a304-c16b-4984-82c9-2eaa0c704044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b18347b9-9657-4b93-9b5a-c64953a1175e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1737a0b9-96be-40ab-9cc0-92098f884a5d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27cf6051-1737-423b-90d7-f04c658659a7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5e15d394-2be1-4e31-b014-e5fdcadce1e9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547e1281-dbe3-4b51-a565-24ac2b437f5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21e3c805-65d2-4a42-b7e6-f531e55a986f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d4a5e47a-a73e-4764-9e47-9c7bf929a411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56392e16-a018-4154-8c4f-e7b8367a7cff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80e632a1-133d-4588-bc00-dd1fa0d81bd9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86cb8bae-6853-4003-9792-eff1f3fad18f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d32b8244-61df-4f57-9b55-cfb74d71fe7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00bf8e80-5523-4241-98aa-d2d860ebfd49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5f58e81e-6120-4969-a19c-9b2a5411388d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13f63c6c-f55a-413d-ad19-f7de568d7457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e72c85f6-c399-4520-bb89-d8cc3196d3ac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eb0efa38-41bd-4cc7-a2e4-7e28f02811df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d2daadb4-a447-4ac2-99c3-771d596394ad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fb93744-7101-42eb-b794-3d5b22a519d5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6793e1c3-3c19-4446-85f9-91c9cd75a940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a0a7a860-433d-4eed-8c3f-8b4d8272c4b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fc5d2b6b-be8c-4ae0-a4e3-3dcda8594301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0950a093-8408-455c-9556-1fab113f134b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68418d68-2b60-4aac-b664-0086e79b749c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1af09195-78be-44ea-9121-b529d00d3020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4a590ab6-d843-4980-b2c4-7d9d460f375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420d07b1-7cb8-40b6-afa5-d8dd6e536f94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e0cbc7c6-cab1-401f-b00c-84c79a030261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484573ac-6f36-4bf7-84ee-4d6f38c75f89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f91a4561-1f1c-4084-95db-99bd33d978d5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4b7889b0-5de2-4459-a4eb-5f70652c36e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93ff95b1-8570-4b60-895e-1cf50808563c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422e5e7a-875c-4c58-8b2e-ff47055859c5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12184e9e-4063-4396-997b-883194a585b9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37a7819a-5c34-48c9-a49c-b99d40f8829f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12034e28-a763-4946-a966-2de000e5c79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4c0ec73a-b064-4a9c-b6c9-186e454c5150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8e6e8fdc-20d6-4891-bf85-084f4c38c291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d65e135a-bf6a-40ec-a626-97c5d43ba63b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21a7b236-9fae-4b46-abd3-1826394e011c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67ec4996-fef3-4819-a915-d20266648a1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45799bb8-2dea-44a5-a4e2-2adda760923a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74713fbb-3dcb-4016-aa30-fda2a7da66ae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b0863178-51e1-4b48-a1f6-b162131e728f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4f132cb6-6c4b-48e1-8006-0e7ee603d122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e58ba849-1fe6-441b-ba6b-181fdc1bb49f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e5c90686-4672-474e-bb92-e908f13ce443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ca4e8185-b473-4e5c-8849-f50b05096ba5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3042ee82-cf36-4f42-90f0-09e153a82db6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7d6c9283-4e08-4f0f-9868-8fbf293bb1b1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94699394-3e67-4ce5-b800-8485b11a28ab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3c6dd832-b98d-48a1-8794-c6871ddb80a2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872ed43e-b56d-4139-b1eb-191fba4102ab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daa4015c-2807-41af-86fa-6688e63a349d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769341fa-efac-40b3-b37d-b769eb836c3f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c7f0a64b-762f-4765-92ac-a95d8be5babe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e1600bb2-fa00-46d7-8f76-2c96ec42cdf7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33963529-d03f-415d-943f-6e569acd4970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546fb75d-2fc3-41bf-811a-0762498c21b4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46a0cba0-ba9c-4680-ae40-c3fa6278c53e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25cada2c-7f7e-4c77-8bb7-a0621ab926e8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b4b0ee15-13c9-4d64-860a-d7663eb01882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5e431d42-58f2-4d19-be7d-6812a5f71621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1a8c022-6f49-4ac8-b747-3545e9ba62c8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6f11fa6c-60e4-4125-ae45-5316fd57442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ae81474d-9b92-4bee-b4cc-f3f5b76afbbb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1dbecbad-c964-4ce8-8d40-8afcdb75acdf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4b968ea8-b23b-48ca-9658-95ef5bfdcfb9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7b377b33-1b2f-4a30-bb56-1efa117a1dfb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53a0bd94-0e7a-4e25-bdfa-9532c1cdfc97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c2af4c57-104f-4ab1-b3fd-4330430ba35b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4508e54c-85c2-4a70-84f8-c0b47f447f4e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15b840bf-f097-4b91-8a10-0fecf30ab167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9a6d836a-3b27-4c85-b9c8-1df3c8bddfe3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31e4deda-d316-4081-8c87-acefce48d2ff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98012245-dea6-4313-ac6c-bb72ec5cd9ef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d254810f-ff29-463d-abd4-b310926212bd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56bce6c0-bfa0-4844-97a6-b42413b304ff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ff48da4b-5787-40e6-8151-11b79bc0888c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e1d45a7d-eda1-4de2-823b-ea97b794b84b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701a86cb-0a78-441d-8c49-9738af99ca04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ce0bb10a-ab20-426f-a639-f45fe7696c1a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broker(含 MDS):匯入 AD 的 LDAPS CA root,一份設定</a:t>
            </a:r>
            <a:endParaRPr lang="en-US" sz="1200" dirty="0"/>
          </a:p>
        </p:txBody>
      </p:sp>
      <p:sp>
        <p:nvSpPr>
          <p:cNvPr id="21" name="880d0610-328d-4527-ad89-f2e2132424e7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a649ace8-97d8-43da-af5a-71c9c7e86fc2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e6a3cf78-31c3-4cef-bc17-368dca888bc4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270051fe-0368-4b66-b5b0-58a2c3f76881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ac748c1f-bb4a-4713-873c-01b29f7af631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ea96c26c-7e21-4ec2-8184-4259e0da1b6f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1d0d2613-e0b8-494f-b2f7-4f5d5a9019b5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5ca41f1c-bd80-4e6d-afb9-afdccfd454fd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74225388-972f-4a2c-ba62-01af1b94f58b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a8ba6dca-ce26-43ae-83bc-a56b5377c294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3b1326c-025c-4219-bd45-40e0ca8b104b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3bb1cc8e-53f2-42ae-88e2-b710c4baee89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a10ffaff-4dca-4dd4-9375-753202ead14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31de4693-b9f0-4eb5-9e8d-11da9dba6761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a42f0e02-49c1-4bce-b5d9-df7d72ecadaf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ede61860-85a8-4f00-ad49-98ac6726981b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4733d2aa-ac8e-47f5-8c2c-04d4ef4d69de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4c550f94-9841-4f49-a0d5-be2ed406ab67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330c7508-18c5-45c5-b0ea-98d0badf0ae8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60e3e16f-b0c2-4c6c-8b36-e43d265198ea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f34aca79-38af-40d8-80d8-df8987f36b45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aced897e-1a84-46e8-98f9-514c76bc82d2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d4de40bd-a194-4625-9cd5-d5b0fc0a43ef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ce698a55-011b-43a7-893a-1b91920ff66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79d48b13-3bf7-464e-8ec8-9b1332b3cacc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6f170cfd-69c3-4936-9cf8-01ecdf679646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6abff650-c0e5-471f-8349-3e8c6f33e987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65e5eee1-d150-4615-b29e-4e489b421d8a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88aed0c6-997a-40c0-895a-27b3d9b46109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239c4fd0-122c-4aac-af76-c69e56a28206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a77e9a70-d087-4d53-828f-785fd9df9cee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876fe34d-7426-4548-aaaa-e04cfbb2a48f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ef653b8e-73fd-4249-8e48-df7f1cbe542b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8a95bce1-96e8-4ffd-91c7-7b15e14976c0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fd7d4f4c-a9d2-4a80-8199-92d4ab6b28b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cd3a36d2-e892-4f1c-b7bb-2c5029af187e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944aeaab-a1f7-4ce1-8cc5-9f74f0b3c48c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ef09eb9b-b32b-45a8-9a46-5ed70306c053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14c41645-f3e8-40f8-9a45-eca361ae0bcb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7ab5279b-fa7a-4102-81c2-f3ee829aff30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6289cd03-6aa8-4572-8785-db62bd5e0dd9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e347f20b-1f8f-40db-98d1-c6793019dd40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c07c4b57-d723-4353-80ce-95f4fd95dfa0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86b61997-482d-44ca-ac2c-0462832013b4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a5aa2754-1345-483e-96bd-a8dfc86cb811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cdcea43f-ae95-4103-bd85-2e0dc286dbf6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0ae0b2e2-4276-480c-b986-7584b0155a68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7c6008bc-0387-4b01-8665-5f7ed601ff8d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 CFK 憑證文件建議:先更新所有信任庫、再換憑證、逐台重啟,每個元件就緒再做下一個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e281d84-6b81-4ca9-ab35-2a99790e2b97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82cdfc3a-f41a-420f-9942-655b8583db3e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e007c1b3-a2ef-4f9a-9bf0-423a89847b4d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957dc81c-bd96-4398-bcc7-e383231b8776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9c82ace5-2f33-4ec0-9ef6-e3b7947bb965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b78e2630-eb59-4120-b6c4-c23d19cc529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9bd2bbe8-12c5-483d-9ca2-67b454205f94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728cbb35-892b-4bf9-834b-191652c6cd65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0" name="a04e4a9c-f2a5-4cb0-ab72-ff1fd68faaf4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1" name="9f15e58a-974e-44d1-b8ae-f215381420cc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0e84a3ae-4ef2-45a2-b01b-5cd90dcad4ea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3" name="9d70a4fa-e989-4365-b6da-cc7a4ba8859a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696f73cf-68da-4e46-9c27-399161cdc13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de0afdaa-b0d4-4198-a6c6-a532bb04b143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d121ab38-9c7d-44e8-bb7a-6aa28bdc2dc4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ca8a9310-6bd1-4c02-aaf9-2c2a14c4ec02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c05bf4c6-57ea-4516-a8e3-e1a5ba3de2e0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e9ea2e9b-f623-4c27-9d60-60697f4988d3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d2891cf7-976b-4984-9580-4a5d721dd408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b2d22ada-4cbb-495e-9203-14fc0cbc039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666bdbbb-0dbd-4da3-bf68-3ff768b27b8d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37d45981-d74a-4557-97b9-4ab3e5004390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15a93f3d-8bae-4840-a778-8c8067af41be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050a4682-924b-4718-b3be-db0d131b4541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e1d01973-e027-4e07-be6f-32595f618675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31475f10-faef-4da4-9700-1302b35916a0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c3aa6d1b-7625-434a-9e55-8b6b76a2cfd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72dcf6d8-19f6-4f38-9e5f-a627c8d631ff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badab10c-c518-4753-bd35-e375655a98ed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07ae8806-cf3c-453d-b6dc-5cce8f9fbc0f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e1261635-27bb-4fbe-8239-53d1da711d3d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23bd8240-d5e2-483d-a626-0885689c4ceb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c3e55b44-eb56-4729-8a51-ad1a85dfbf90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20e47f48-4982-4e2e-accd-20e58b4663d9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491e2ded-8a12-4668-87d6-32a8259eba01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0aa1e674-f756-4997-8648-cdf63d911735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03054739-aff2-4ec6-846a-8b5ca328e2c6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bd108c41-0029-438d-acc4-34da7bb3bba9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35d29efa-15d7-4dca-ba36-b411732ec7b6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3ed7021e-a326-4df8-8b82-604e9bd9ca27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每階段:controller(逐台)→ broker(逐台)→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CFK 憑證文件:信任庫先於憑證、每階段全部元件做完 · 元件順序:參考升級文件</a:t>
            </a:r>
            <a:endParaRPr lang="en-US" sz="1150" dirty="0"/>
          </a:p>
        </p:txBody>
      </p:sp>
      <p:sp>
        <p:nvSpPr>
          <p:cNvPr id="42" name="6cae1809-613c-4e31-a407-6ce1958ec01d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只換檔沒重啟,各元件仍出示舊憑證(實測)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5eef0ec-0b1d-469c-a58f-85252e9fe991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04088b93-00cd-4d48-a945-d159afd45664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71518c79-b57f-420c-84bd-24ed4e29e5b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a0eca85b-ad89-4d1e-aca5-f3837ce01b43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d2a57337-29d9-49f3-8ea1-f8a3bd33ad97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90b29f19-c226-487b-9981-6c3a9188aa68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00f5b5cf-6b37-4401-a14d-1964d3210a9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ca02c337-62ff-43a3-8ec4-03cafc314d22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7ea13c61-4abc-4500-96b6-4575f239a600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d13f2e9a-2542-4eef-a38b-e9057abca8c1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e1ceb7d5-d5c9-458d-9e4e-b2232dae666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767055fc-8ff1-49e7-b476-09b5e5374488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060342b8-b7b9-465f-afe0-c6ebe41901ff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49a8e8ad-d090-4f07-a158-3829d9e13ff6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0f41c323-c4ac-4108-b933-5b84a8e74b3f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1a446c35-0ea0-4b7f-85f5-f10fa7627a36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3934b3ef-1b4d-45aa-8d2c-549d8b2ce3c5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aecfa877-0e9d-4f46-9f96-6fd227416692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8e01644e-a467-4951-adb3-fb5830835e70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1db04e7a-2db7-46a6-be3d-3758c8a3babd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2c2ae26a-e2e9-40f0-9779-d8fa396f75ac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29dae6bd-6896-4e6b-b945-f7b5538c2b08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44489eaf-93db-4f8a-90a1-9e7a1b80be03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61eb724b-b9f1-46b5-8434-f3df7d6a7af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372ff96b-1258-47e9-afcc-e835c82aca10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f53a4aad-d8c5-42a0-b07b-ac3d477ac749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22f84a81-c31e-4c2e-94f2-7509d9217d72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4a2cb2fc-f003-440a-9173-45e484edcebe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e53841ab-73c4-4296-8d89-39c85466661e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cd408472-9150-4bbf-857a-8c7ee7bbe38d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Broker:三個入口,各管一件事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306bee6-cc92-4ee8-9de1-0708c089ac3f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8be4a51a-7d3a-4368-989b-bff1eaba2ff2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a88ea18-30b9-411b-a4e7-9211c758734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f4a83e46-73a1-4645-877b-febbe3cb1bb9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4f968725-a0db-4d07-a5c0-fdf0be777fb4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埠不要求 client 憑證(MDS 才要求)</a:t>
            </a:r>
            <a:endParaRPr lang="en-US" sz="1100" dirty="0"/>
          </a:p>
        </p:txBody>
      </p:sp>
      <p:sp>
        <p:nvSpPr>
          <p:cNvPr id="7" name="b814f626-84ec-4561-8ee7-b37755637c37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3a7b9138-3ee3-4391-9eb1-30156982fc02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7e00372b-820e-430a-b943-7243df9f9cf5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cd4cbe77-5abc-421b-a454-5a660e2b5fc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91d6e323-a799-4da0-8a01-6ca5388f4942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d0db4705-5048-4429-a27c-920c083a050b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18f40186-7270-4a71-b740-a23b6eed3f5d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f24c1d96-63d3-492c-b039-ca561a2c545f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f8368327-f313-4029-a1aa-c810e001ede5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afdc1206-b0dc-4e48-90e9-64ed7aefbc9d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e16199c2-a7c5-4dd9-b2dd-64cdea0121f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cc0d804e-f040-4698-b651-b1c735faf776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d0f3502e-e6d1-4843-b757-4621a43eca53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d90dfe8e-3a6d-41de-b2d1-faaef0e43859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e92ddeca-1279-479a-8f23-b3e94e7c2071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a3f959b6-42be-4370-b4ef-07fe69a0d269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df22265e-27e1-47b6-8962-ed0defccb57e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18360d33-9c76-47b1-b5bd-bb2201477016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058ed15e-82f7-4516-8fe0-07fb3393222f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417cabe2-aaae-41db-b3d2-996b185daf1d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6ec6149f-78ac-4f0c-8293-6ca4e1ecf39b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b9e7665a-6c3b-472b-bc2e-7ae6e4bc6f02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78ab3467-3298-43f0-8a2f-ca1a888509e8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53f7160-c24c-4d5d-8822-72fa1e2f9db1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e4a334a8-822f-4d86-868a-d0bb88cfc3e6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0af23908-d19f-472c-bd69-9965abcddb8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744a9e22-8eb1-4437-aaf0-40a2c837483b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ad62e2eb-361d-4f44-90b6-cd92840d9547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1cdc45d1-fd3c-43a1-bf28-a61c6ec6ad04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ddea98ae-fea7-423d-b5e2-f45fdd7268b9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7bd23941-80b5-4c32-a51d-b28c031f3b6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7b14aaf6-cbe4-4a6b-843a-57b8cccd6b8a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f9622f0f-c43a-434f-bbf1-cf550587b197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9d8e4835-ed41-4301-938e-dcdaef92a412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9f2d68b7-6438-46f5-894f-9e5a57751876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929e4b2e-8e08-49ce-a980-5c002f8ae8d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15cf9b39-32b2-4a17-83aa-790d29325fa4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deca9f4f-5e60-467c-beb6-1c3e6ed235aa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1d834fdf-7769-45aa-9904-b5b2f0fea861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ebf02645-0aaf-4a48-8de1-7110191bb752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a349c4a9-a0ad-41e2-9424-c72d1725354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42205c23-4176-4bd2-b590-5aed8fd3eace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5277ed20-0ca1-4c6d-8bad-97ad4cda451a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04b33a5a-8e3c-4493-9657-a3f4292e813d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176f15e3-3eb3-4b4e-bea4-c62794c1aeff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c9dbf6db-c3a7-4af9-9bd6-3e8401c11174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caf2ed05-96c7-4d93-b6fb-1628480eaa7b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d377490b-9537-41b7-8705-9f868c37c940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887db8b0-e233-4df8-b7b5-48a0a08e673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feecc233-e18c-4cb0-9077-6b0f40983848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1ce4a17d-f6da-42f4-90aa-f9557b34ec02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44c78d90-9765-4084-b45c-7a8f624b133a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4cce0e2f-4393-4493-80af-c8774803a12c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ec2bec87-e0aa-4d12-a882-56dce334c0c0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21469b6d-0c54-4ce5-b636-5ccbba61e007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c4086c3d-7c89-48b7-ac31-e4bced1c34a0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a3867d46-ffc0-4e18-85b7-8397d5dbc387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a85e0289-8b97-49a4-9a20-8c8845b270bb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b0fe6dc1-143a-4adf-8855-76cd5ceb8c51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a28755ed-b5b9-4707-b289-3fce052c9539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bc67f7c-bf9b-4433-bf82-bb1dd5fe2290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d8a154c6-08c7-4d9c-91ee-9f4538678348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d64b843a-9286-40fb-a60a-5035e05684b3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28402c98-26b6-45ae-8149-79e52b4e9ccc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212bb3d3-1bb5-4860-867c-6641c130e4d8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d9ddea0a-7d09-4206-ad7b-b9f4a70f9ad3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9309a47d-506c-4db4-bc82-1671b89e34d4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51b78567-ec71-4230-82d9-3b4e4a94492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672cd1aa-b257-4c4f-85fa-1544bf83a0f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e1154b46-dc05-49ca-a1ed-1836329267e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a2e92809-1e18-4bcc-98ce-1cdac7c4090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beb19158-fe5f-475d-99ad-44cf4c8ba6c6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d3e83a9d-9d3b-411b-8958-3cca7a40ad18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727e5883-6435-4f12-bffc-e8492b927028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fc667d4e-62ce-4578-a294-8356fc61c1b6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e25a4bd0-3449-4fa0-89f7-3407a6a06ba0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7ed5f9a5-c828-49af-9b1b-c6fca586fe24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ca6c26fc-b093-4838-9b63-e5abe7fc6b41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b4e6501f-7558-4e2a-a7eb-3488e717be2d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1245f5ed-3430-4581-8c30-e1be9b69afe5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e748cb2c-fdcf-4f27-816a-6754b85052a2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e54cdc55-2a2a-404d-9d1e-e81cc84eea97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da81a983-d610-4c25-8780-2e1113166dc2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99f7bf15-386b-481b-ae8a-bad5febabfad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33393d04-39a9-43e0-9cea-06699f35e3f3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2e4ff792-dfa6-4d49-9b23-4e1a9b0f95ac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abc212dc-fef4-43a6-b60b-794183eda85e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3d880633-7e43-42de-a256-579fd19e5c6d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b7a8e1b9-cab0-4ad9-839b-bb1cb5483a3f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af24b89b-62d8-4e55-8aab-ace75b944b57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4254939e-176c-4ee4-ac53-f5786e89ba5d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f05d3d27-b0e7-49b1-b893-01168c4dc700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d22c9bbf-8f52-48c2-bbef-074219a0cde5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9084b337-6050-4bbc-8d2e-74e990912004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d7bcfd15-2faa-4512-ab3f-3d6321b9a87b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8716ef28-567d-4297-86e4-042148f5f72b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0a820f87-1504-4b49-b59d-20d9eb1d48b4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d7c84e50-8f36-4fd9-86e6-e651221f574b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a6767048-24cd-40eb-8e75-acab555a0b7d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1163ab47-7cdd-4aec-a07c-d4334b929009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ca2c7bb3-9a70-4d32-9928-04486fb1b5c4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42c5f9e0-97a0-4b53-9521-c293bf1c2a99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31669564-dd13-4dc4-ad46-fef7fd667b25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86d6c5f9-05e9-43ad-817c-8769320bf8e9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102a657e-1e45-481c-8c52-461051884f03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0df04eff-531e-4026-ae25-49ca37dce2b9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7145f44b-a769-4724-b79d-98376a925028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7f68489-d6d7-4b67-99f7-ea2a81f6a52c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a60b73a1-8312-4aab-80e8-215f1e29a787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29b79f35-2f93-474a-97dc-e795ca9f746c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4a50dd7f-eee5-4256-acff-bd83d6817ab4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d83ca4b0-6556-4be1-97bd-5f84d8a59cf7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6864aa7c-a876-4884-993a-c6a79eb35751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9b3c2673-0df6-4465-98e5-8a8a09379a39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de212da1-ccd1-4368-8ef8-ca620714db02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33c6dbc8-fb12-429f-b3e0-f4404c4837d6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1b60e5e2-f372-486f-8462-26e0bc7841bc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01fabfba-3e96-4e25-b46b-89c3f8914c48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0a139288-302f-4974-8480-0b4d66230181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3fb7ad9b-6fdd-4c69-a608-e019c7d16432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557fcb82-b1d2-4f85-9bbc-312f9b131e67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cd2a7656-44c1-4cf1-8138-326a5de406f8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d35764cb-0f13-4417-aa5f-98b9f3d89c11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d2c4f49f-ae94-41c8-8f18-c45a1d3455c0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2221e642-ccb5-4040-9c90-03cb23b6303c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733eccde-de84-41d4-ba3e-02716da02a36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eb69e6ae-e3d4-437a-aa75-8750f208b792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99275c64-8173-402e-a610-fe44762ecc3c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8991ac1e-d17e-4575-94af-c9c79239d82b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9d3c9aef-12c8-48b5-9a9f-4c0c5f456a03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0d656928-8c1d-4e7f-82aa-7a04c66b10f0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66c719c6-9620-4cf7-ae82-42da8398c575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90788228-c3ce-47ed-b474-8ba4ad50b532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c1868877-f19f-4fd6-97ac-ea90755b551b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4264fa82-5d0b-47b3-b2f7-90868b7ba262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ddb77a3e-58b6-4916-9ece-c701a2400d8c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9c64853f-6fe4-4d42-98bf-634258a1b4d2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9a63dcf5-a482-4bdf-ab00-ec70f8a9f5a1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6f7e49e9-4de6-452b-9fa4-60b176c6ea8d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2758aa50-8af8-41b7-9b99-3bfa0e4cdd40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b56dbd1d-357b-4fa1-b83a-7ffabd2938c7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d74388bb-333c-4e75-8f0f-c83409a75697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cbd6dcdc-4998-4518-a2cc-5852f5092c45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59ef31b7-b432-4b38-91ed-10c683de76e7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42e14851-1b4b-4574-91c3-50f3004991e8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7b7dec3-8d59-4aea-b7c0-5acedb1dcdf2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10bd8b66-6c0d-4cec-8947-6c33a80a8eaa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a644c652-631c-4174-bb9a-f7a24447cba7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28923190-3dbf-4c69-a48c-9b4f9a5e5ba9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be894125-74a2-4e95-976c-6c2387e86128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fdd03ba9-a24c-41ca-aa91-ca47f6a5c1d0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d674a43e-aa12-40c2-8e33-c64c5c750d4c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9aa846b9-ba44-4327-8da3-2ecf463aeda7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10" name="73336969-2926-4906-b745-7c4f84c2b369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11" name="f551ef5a-dd16-4b5d-8d1d-d53bbc8e072f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2bc266dd-5444-4240-9632-0776379fddff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bcbed762-49f8-4a58-85d8-6dae4adbec02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06c27d52-396b-4549-999f-8247fc107b57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5" name="783eaf59-3355-49ca-ac6c-8c3d04d2cea2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6" name="620b6488-d391-4051-8d29-a7f718fc12d0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9e915b0e-86ce-48ff-9c7a-d944d851622b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f69c1978-4aa1-4fd0-80c1-545f22ec20f7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bede07b7-492c-4451-acf5-c88078f976e1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20" name="07f6791a-c0bd-464c-a551-08266fd98278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21" name="1d7ebc8e-07ae-4278-85e2-713aff398c1a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091cf33e-ee71-43d0-b9df-1b5f28548840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0a257633-acfc-4571-8c9f-6fe381220181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92f7ab84-cb94-4c15-8ca2-6d09188da5b9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5" name="94e66673-4fb7-48b2-bc1c-4184d24bc9e5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client 換新密碼</a:t>
            </a:r>
            <a:endParaRPr lang="en-US" sz="1100" dirty="0"/>
          </a:p>
        </p:txBody>
      </p:sp>
      <p:sp>
        <p:nvSpPr>
          <p:cNvPr id="26" name="45137995-d2f5-48c8-8672-b30f8786a66a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cd2da0fb-5419-4a15-9d00-f3c6f4429e0d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81d00ee5-58e4-4b40-94fc-8c643036984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c0a30c48-d5ba-4f80-9abb-2a6c0dbd4aba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4e91f7a0-31d0-4d16-8349-0bc9e564d810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846885b7-38d4-48e3-822c-23eea81d6d1e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0f13effa-3b4b-453b-85be-fa750863451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081839b8-73c0-4a9f-ab72-e66999d70098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a0ea9a30-283e-4891-b54f-c6998cd4d110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9bf45342-9592-4f01-afb1-fad20e7273b6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f7a98ed7-c388-4ed0-9aff-8e86879f65a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b1ffb450-d510-44a0-af73-e291d52c0423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官方:SCRAM 搭配 TLS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300" dirty="0"/>
          </a:p>
        </p:txBody>
      </p:sp>
      <p:sp>
        <p:nvSpPr>
          <p:cNvPr id="38" name="b593eb6d-afeb-46a2-9637-fac55173c4a5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39" name="4e962b0e-76e6-48c8-82eb-652a3e70dce5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bb9fbc89-4732-407b-91d3-ba0b11f9f5ae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41" name="8288e8c4-bf5c-47a2-b743-2ca19c1902e0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9ff961eb-61ca-4952-a503-f56aaec04898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43" name="517ce0cb-fe39-432d-9b07-5ce5ea543b24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635e7d7c-5ef9-49c2-bc04-eeae3b4f2619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45" name="8532b174-c1ce-40c6-9568-6a53f3a125fc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 = 取代:舊密碼對新連線立即失效(實測)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已連線的 client 不受影響;改完立刻換 client,換好之前重新連線的會失敗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特例:不能有失敗窗口的服務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新帳號並行:新舊同時有效,代價是 client 要改帳號、role 要重綁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a86c548-db13-4395-8dfe-9e60c5ea9ff5"/>
          <p:cNvSpPr/>
          <p:nvPr/>
        </p:nvSpPr>
        <p:spPr>
          <a:xfrm>
            <a:off x="548640" y="1685050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上一頁的做法,會有一段失敗窗口</a:t>
            </a:r>
            <a:endParaRPr lang="en-US" sz="1400" dirty="0"/>
          </a:p>
        </p:txBody>
      </p:sp>
      <p:sp>
        <p:nvSpPr>
          <p:cNvPr id="3" name="47b39700-004a-468c-a897-47e197ea4975"/>
          <p:cNvSpPr/>
          <p:nvPr/>
        </p:nvSpPr>
        <p:spPr>
          <a:xfrm>
            <a:off x="548640" y="2066874"/>
            <a:ext cx="2926080" cy="848497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端改密碼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舊密碼對新連線立即失效</a:t>
            </a:r>
            <a:endParaRPr lang="en-US" sz="1400" dirty="0"/>
          </a:p>
        </p:txBody>
      </p:sp>
      <p:sp>
        <p:nvSpPr>
          <p:cNvPr id="4" name="bbac6d37-6fbd-4236-9283-78df4ae3223e"/>
          <p:cNvSpPr/>
          <p:nvPr/>
        </p:nvSpPr>
        <p:spPr>
          <a:xfrm>
            <a:off x="3474720" y="2491122"/>
            <a:ext cx="36576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" name="95f46e8d-0167-4c42-b46f-b52e7ebd3969"/>
          <p:cNvSpPr/>
          <p:nvPr/>
        </p:nvSpPr>
        <p:spPr>
          <a:xfrm>
            <a:off x="3840480" y="2066874"/>
            <a:ext cx="4572000" cy="848497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失敗窗口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還沒換新密碼、就重新連線 → 失敗</a:t>
            </a:r>
            <a:endParaRPr lang="en-US" sz="1400" dirty="0"/>
          </a:p>
        </p:txBody>
      </p:sp>
      <p:sp>
        <p:nvSpPr>
          <p:cNvPr id="6" name="44317c19-1e1e-4fa8-bef2-68df58a961d2"/>
          <p:cNvSpPr/>
          <p:nvPr/>
        </p:nvSpPr>
        <p:spPr>
          <a:xfrm>
            <a:off x="8412480" y="2491122"/>
            <a:ext cx="36576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" name="f72bc7c2-9f7f-4162-9eb4-bccf78cb4a29"/>
          <p:cNvSpPr/>
          <p:nvPr/>
        </p:nvSpPr>
        <p:spPr>
          <a:xfrm>
            <a:off x="8778240" y="2066874"/>
            <a:ext cx="2862072" cy="848497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換好新密碼</a:t>
            </a:r>
            <a:endParaRPr lang="en-US" sz="1400" dirty="0"/>
          </a:p>
        </p:txBody>
      </p:sp>
      <p:sp>
        <p:nvSpPr>
          <p:cNvPr id="8" name="0f516c26-d310-4ef0-a4fc-ff1909610777"/>
          <p:cNvSpPr/>
          <p:nvPr/>
        </p:nvSpPr>
        <p:spPr>
          <a:xfrm>
            <a:off x="548640" y="3212345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不能承受窗口的服務:改用新帳號並行(新舊同時有效)</a:t>
            </a:r>
            <a:endParaRPr lang="en-US" sz="1400" dirty="0"/>
          </a:p>
        </p:txBody>
      </p:sp>
      <p:sp>
        <p:nvSpPr>
          <p:cNvPr id="9" name="4a440312-af92-4ff0-a3ea-0ee97b7f1be9"/>
          <p:cNvSpPr/>
          <p:nvPr/>
        </p:nvSpPr>
        <p:spPr>
          <a:xfrm>
            <a:off x="548640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10" name="fdae0405-e071-4472-aeae-aa0a52f9b437"/>
          <p:cNvSpPr/>
          <p:nvPr/>
        </p:nvSpPr>
        <p:spPr>
          <a:xfrm>
            <a:off x="3063240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fe525aa7-01f7-4b89-b5a7-1cb5dbbafdd3"/>
          <p:cNvSpPr/>
          <p:nvPr/>
        </p:nvSpPr>
        <p:spPr>
          <a:xfrm>
            <a:off x="3410712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12" name="c98b9b8b-c207-44a0-ae87-3915ed637855"/>
          <p:cNvSpPr/>
          <p:nvPr/>
        </p:nvSpPr>
        <p:spPr>
          <a:xfrm>
            <a:off x="5925312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78d26fa4-2325-4b24-a354-574c1830b11d"/>
          <p:cNvSpPr/>
          <p:nvPr/>
        </p:nvSpPr>
        <p:spPr>
          <a:xfrm>
            <a:off x="6272784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client 改帳號與密碼</a:t>
            </a:r>
            <a:endParaRPr lang="en-US" sz="1200" dirty="0"/>
          </a:p>
        </p:txBody>
      </p:sp>
      <p:sp>
        <p:nvSpPr>
          <p:cNvPr id="14" name="71cfc5e8-6175-4ed5-b7c8-3f6b7028afbe"/>
          <p:cNvSpPr/>
          <p:nvPr/>
        </p:nvSpPr>
        <p:spPr>
          <a:xfrm>
            <a:off x="8787384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cd1a2565-6b42-487e-8fd7-a230c4d8a927"/>
          <p:cNvSpPr/>
          <p:nvPr/>
        </p:nvSpPr>
        <p:spPr>
          <a:xfrm>
            <a:off x="9134856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16" name="e168c1e0-b994-4392-9b21-0a809c4af6d8"/>
          <p:cNvSpPr/>
          <p:nvPr/>
        </p:nvSpPr>
        <p:spPr>
          <a:xfrm>
            <a:off x="548640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舊帳號仍可使用</a:t>
            </a:r>
            <a:endParaRPr lang="en-US" sz="1100" dirty="0"/>
          </a:p>
        </p:txBody>
      </p:sp>
      <p:sp>
        <p:nvSpPr>
          <p:cNvPr id="17" name="b42dc058-7bef-4b87-a354-a76cd33939be"/>
          <p:cNvSpPr/>
          <p:nvPr/>
        </p:nvSpPr>
        <p:spPr>
          <a:xfrm>
            <a:off x="3410712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綁的是帳號名稱</a:t>
            </a:r>
            <a:endParaRPr lang="en-US" sz="1100" dirty="0"/>
          </a:p>
        </p:txBody>
      </p:sp>
      <p:sp>
        <p:nvSpPr>
          <p:cNvPr id="18" name="e5421f24-428c-4cca-a51d-0e63d75de55a"/>
          <p:cNvSpPr/>
          <p:nvPr/>
        </p:nvSpPr>
        <p:spPr>
          <a:xfrm>
            <a:off x="6272784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逐步切換,新舊並存</a:t>
            </a:r>
            <a:endParaRPr lang="en-US" sz="1100" dirty="0"/>
          </a:p>
        </p:txBody>
      </p:sp>
      <p:sp>
        <p:nvSpPr>
          <p:cNvPr id="19" name="613c5d7b-95d7-41e9-8860-f35576d88ae6"/>
          <p:cNvSpPr/>
          <p:nvPr/>
        </p:nvSpPr>
        <p:spPr>
          <a:xfrm>
            <a:off x="9134856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全部切完才刪</a:t>
            </a:r>
            <a:endParaRPr lang="en-US" sz="1100" dirty="0"/>
          </a:p>
        </p:txBody>
      </p:sp>
      <p:sp>
        <p:nvSpPr>
          <p:cNvPr id="20" name="b63d70bf-837d-479b-8b25-6a9f1dcc6899"/>
          <p:cNvSpPr/>
          <p:nvPr/>
        </p:nvSpPr>
        <p:spPr>
          <a:xfrm>
            <a:off x="548640" y="4612365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代價:每次輪替,client 都要改帳號名稱並重啟</a:t>
            </a:r>
            <a:endParaRPr lang="en-US" sz="1200" dirty="0"/>
          </a:p>
        </p:txBody>
      </p:sp>
      <p:sp>
        <p:nvSpPr>
          <p:cNvPr id="21" name="2e53b217-d0f5-4a12-bc88-d1d0d2a23bdb"/>
          <p:cNvSpPr/>
          <p:nvPr/>
        </p:nvSpPr>
        <p:spPr>
          <a:xfrm>
            <a:off x="6199632" y="4612365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代價:新帳號的 role binding 要重綁</a:t>
            </a:r>
            <a:endParaRPr lang="en-US" sz="1200" dirty="0"/>
          </a:p>
        </p:txBody>
      </p:sp>
      <p:sp>
        <p:nvSpPr>
          <p:cNvPr id="22" name="7a1736ed-6c0c-461a-ab47-64c41f03fe60"/>
          <p:cNvSpPr/>
          <p:nvPr/>
        </p:nvSpPr>
        <p:spPr>
          <a:xfrm>
            <a:off x="548640" y="5376013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只有不能承受失敗窗口的服務才用;日常輪替仍用同帳號改密碼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a5ba47d-a536-485c-9f19-66d256ec1ccc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da14c889-224f-4ac4-88e8-5bc63542a89d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9ec7e910-36e3-4d49-a20a-d990e026cedf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9229575e-09e6-4612-b90f-d7e1fbd5b63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058a6304-20ce-4803-989a-9b96244676b3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30ecf7b0-b869-4794-8a35-7470fefaa0f7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a2ebe9b2-d17d-4a6d-a029-2b2156bbb6ec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e8162a22-fadd-4b2e-87e0-edd0828ea9f9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bf12d5d3-5ebd-4b33-910e-5e803d800e9d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5482632a-815b-4c79-9420-5bd31cee4d6a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df908027-59d4-468a-923c-fcafcec32d4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2c82d834-857c-40c6-a1e1-1133cc290bbd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b492259c-5887-4f43-89c7-a6b19dd914d1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738733cd-e671-451d-af81-fa4998ae7ec3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2856e348-0d02-4ef8-a7fa-2e1d9b4c730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83f3ff6f-1871-4468-8796-ebe341cf909f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cc041a62-d398-4e6e-9ca5-5808b27d1b74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70cc08c2-4b2a-460c-be13-bf8523466678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ac1b3a69-09d2-4b9c-9cb8-c61ae847721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a059f285-45b0-439b-bda8-81f3b72a8384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80422fc0-786c-47fa-aa99-63e7d481441a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3454322d-1dc0-4ab0-84c8-95db77c10911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9a7082af-ded2-4b04-814a-545f73a7e9ff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1615079e-ca77-41a2-b304-833254b41bb0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6a602e03-1f43-4340-8279-f7d68a2fb33a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dfc2f812-5847-4810-8f19-c9560c398d66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de09cf81-0da2-458a-8156-d464bd55504f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1d44cb4b-7f02-4efc-9ad9-20824ba641f0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97a97f7a-217d-4fd3-b46a-4bfc40ed4254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c17b0226-2af9-4032-ba59-f4dce11fb0af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43c3899e-d758-4589-99d7-18e53b57c19c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893b009b-c479-4c3d-bf58-2541a33e9e6a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33489427-25d0-428c-9da8-a86d6b3c5e90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5f7accfd-19f5-4a7a-b99a-2b36212f4731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09b16dd0-32be-41b0-88e0-b393c2f27a73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854fb152-0000-464a-b283-1ab4222a238f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dda93cd8-b68f-4e5f-9d87-64617ace9602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3e8fae85-f7fd-45c4-b89f-0fd0048b55ec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0b8a31fc-4672-4e3c-83c8-aeab20d33302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598036e6-2b10-4705-b9f1-939f7155747c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7cdb19e7-8230-4fab-8079-8e25b789aa06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e5b4b8e4-5448-479e-a5c0-8767d12b5391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9f37a9cd-e543-41ab-b234-3751d24b816a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b465611a-0445-406d-a2a1-6cca1d604420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343f5cd3-3254-4484-9561-7115a5ec7d4e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ac591428-7392-4890-b147-1a2355ecec8f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f2c9ea56-eca6-4657-8518-66ca4f352a69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5e674776-e57e-480a-bd17-893ff7d90255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68b10574-939a-4293-a0db-58f83680a64d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58c34403-232f-4299-b19d-67f77ace8b97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74ea8e67-7c8c-4c38-b039-0e72a763895a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端 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764a1c93-ffa2-4122-93a7-a2a0e0191d58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904f6f8-61be-4a75-9340-4bdc855a5e5a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7054db3c-4395-4595-9a93-8d3462ae88f1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a5e3a472-85c2-46db-b69b-491df370221c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f55ed509-3e51-470e-b928-47f88f88f030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39fc5cb9-5927-4cec-8d14-a02dd49a17da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e761208d-d88c-46da-a05c-1eaacc26a483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b24312d3-8d71-4889-8e07-65013b780d1c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a82bef3a-84d5-4574-85cc-3367367c248f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309b312a-b544-4b70-bdfb-c6c857a8aef4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e298814b-cd30-4681-87d1-a4e003c92018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36a34fc0-149a-4f23-bd3b-745dc0211e82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f0773fa5-f8f6-4c4d-9563-aefdb688ffa8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cb1451a3-2b3c-4874-9a2b-4a8d2fb3e61c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33e5dbb4-aaa0-401f-bfcf-8add33fdd051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2a90a420-716e-49a9-abcc-749585cc8220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a8216092-f358-4ce1-a4b6-5dd62d1d9e79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b4bd04de-0ab3-4a4b-b935-a7a3334d301d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f63ba523-e570-4b8f-83ed-93531fa30b87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2f4dd287-70d8-432c-9fdb-975f47055be8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7d3c9823-a00b-45e1-8a03-e2c5eeb80b87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df183144-6dc9-441b-b8a2-511a0b757143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bca69d6e-2192-4a05-ad32-4dc91edf0e91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c0140e06-480c-4cd2-89a0-4d77c157d24a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</a:t>
            </a:r>
            <a:endParaRPr lang="en-US" sz="1400" dirty="0"/>
          </a:p>
        </p:txBody>
      </p:sp>
      <p:sp>
        <p:nvSpPr>
          <p:cNvPr id="25" name="501d9e22-39cb-4f9b-bf64-fc06c57149a7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自己的 API: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轉給 MDS 的請求: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由 MDS 驗證</a:t>
            </a:r>
            <a:endParaRPr lang="en-US" sz="1100" dirty="0"/>
          </a:p>
        </p:txBody>
      </p:sp>
      <p:sp>
        <p:nvSpPr>
          <p:cNvPr id="26" name="16b999ca-455c-4b53-b5a2-68de0e0c8dca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00791177-043a-42ea-acfe-4c2e1e15bdf0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b1ef27a0-ad90-47cb-9a84-5577017e7d3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d619856e-77d4-4f23-b201-02b619cb0835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480620df-6435-4081-857c-b988bb8ea1a3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3fec8c2b-e3b9-4f91-a235-9fcbe66864f7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af86cfed-3b3b-46ad-ac62-a4a639c5c4c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922e862c-fd51-4fbf-9449-ad3c311ab734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fe750c10-2342-464e-af08-f7673b043a20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aae3c349-0dea-4c7f-a335-9c4fa6ab7c40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bc5f9dfa-9b22-489b-bbad-817205862c70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指標與告警的四條連線,都要 TLS + Basic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c780ca8-bf25-4ef1-9ef4-ddff1834d0a7"/>
          <p:cNvSpPr/>
          <p:nvPr/>
        </p:nvSpPr>
        <p:spPr>
          <a:xfrm>
            <a:off x="54864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1142f1ce-9c6f-4e58-bf6e-581f57655050"/>
          <p:cNvSpPr/>
          <p:nvPr/>
        </p:nvSpPr>
        <p:spPr>
          <a:xfrm>
            <a:off x="164592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23a5ab69-f474-4ae5-ad9d-59c35ba5eb8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24326"/>
            <a:ext cx="307238" cy="307238"/>
          </a:xfrm>
          <a:prstGeom prst="rect">
            <a:avLst/>
          </a:prstGeom>
        </p:spPr>
      </p:pic>
      <p:sp>
        <p:nvSpPr>
          <p:cNvPr id="5" name="8df8ee57-5112-4337-9ec7-a3bde25056db"/>
          <p:cNvSpPr/>
          <p:nvPr/>
        </p:nvSpPr>
        <p:spPr>
          <a:xfrm>
            <a:off x="62179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 / 2</a:t>
            </a:r>
            <a:endParaRPr lang="en-US" sz="1400" dirty="0"/>
          </a:p>
        </p:txBody>
      </p:sp>
      <p:sp>
        <p:nvSpPr>
          <p:cNvPr id="6" name="5dbc74d0-00cb-4a83-bb3c-d5c0a46bc5b5"/>
          <p:cNvSpPr/>
          <p:nvPr/>
        </p:nvSpPr>
        <p:spPr>
          <a:xfrm>
            <a:off x="64008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telemetry exporter</a:t>
            </a:r>
            <a:endParaRPr lang="en-US" sz="1100" dirty="0"/>
          </a:p>
        </p:txBody>
      </p:sp>
      <p:sp>
        <p:nvSpPr>
          <p:cNvPr id="7" name="701892d6-cb56-4fdd-b9c6-bc53c5cb14ff"/>
          <p:cNvSpPr/>
          <p:nvPr/>
        </p:nvSpPr>
        <p:spPr>
          <a:xfrm>
            <a:off x="475488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33d2a01f-f8df-4832-b9a0-9b15bb11c28c"/>
          <p:cNvSpPr/>
          <p:nvPr/>
        </p:nvSpPr>
        <p:spPr>
          <a:xfrm>
            <a:off x="585216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2516f061-1f16-4814-89cf-aa28c4aa41b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72861" y="1924326"/>
            <a:ext cx="307238" cy="307238"/>
          </a:xfrm>
          <a:prstGeom prst="rect">
            <a:avLst/>
          </a:prstGeom>
        </p:spPr>
      </p:pic>
      <p:sp>
        <p:nvSpPr>
          <p:cNvPr id="10" name="f1c070b9-4c77-48ad-890c-6273e4a5f927"/>
          <p:cNvSpPr/>
          <p:nvPr/>
        </p:nvSpPr>
        <p:spPr>
          <a:xfrm>
            <a:off x="482803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78734f14-b3a4-459c-9a57-d8eade3a724f"/>
          <p:cNvSpPr/>
          <p:nvPr/>
        </p:nvSpPr>
        <p:spPr>
          <a:xfrm>
            <a:off x="484632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46ab222a-df0a-446d-b01f-392e66656d21"/>
          <p:cNvSpPr/>
          <p:nvPr/>
        </p:nvSpPr>
        <p:spPr>
          <a:xfrm>
            <a:off x="8897112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f59087a8-1810-4b61-88f1-5dbdf15050a1"/>
          <p:cNvSpPr/>
          <p:nvPr/>
        </p:nvSpPr>
        <p:spPr>
          <a:xfrm>
            <a:off x="999439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eb8819ff-cab2-4981-a7ef-3cd840b5121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0115093" y="1924326"/>
            <a:ext cx="307238" cy="307238"/>
          </a:xfrm>
          <a:prstGeom prst="rect">
            <a:avLst/>
          </a:prstGeom>
        </p:spPr>
      </p:pic>
      <p:sp>
        <p:nvSpPr>
          <p:cNvPr id="15" name="af641a46-0a4e-4288-bf45-903f95072825"/>
          <p:cNvSpPr/>
          <p:nvPr/>
        </p:nvSpPr>
        <p:spPr>
          <a:xfrm>
            <a:off x="8970264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4333d0f9-9a3d-4c7e-b6dd-58b3c0bc46c4"/>
          <p:cNvSpPr/>
          <p:nvPr/>
        </p:nvSpPr>
        <p:spPr>
          <a:xfrm>
            <a:off x="8988552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30078f29-b4e3-4617-9136-e65ebd8c2503"/>
          <p:cNvSpPr/>
          <p:nvPr/>
        </p:nvSpPr>
        <p:spPr>
          <a:xfrm>
            <a:off x="4754880" y="3763868"/>
            <a:ext cx="2743200" cy="127274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929f6e13-a805-4e4c-af41-6f730ede063b"/>
          <p:cNvSpPr/>
          <p:nvPr/>
        </p:nvSpPr>
        <p:spPr>
          <a:xfrm>
            <a:off x="5852160" y="3891143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053d640b-0991-4a70-b6c1-1f24f9eb777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5972861" y="4003144"/>
            <a:ext cx="307238" cy="307238"/>
          </a:xfrm>
          <a:prstGeom prst="rect">
            <a:avLst/>
          </a:prstGeom>
        </p:spPr>
      </p:pic>
      <p:sp>
        <p:nvSpPr>
          <p:cNvPr id="20" name="7bf95bc1-743b-4757-8002-488b19beeeb4"/>
          <p:cNvSpPr/>
          <p:nvPr/>
        </p:nvSpPr>
        <p:spPr>
          <a:xfrm>
            <a:off x="4828032" y="4485091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c783a0eb-c472-45aa-9dae-3c8e7653301b"/>
          <p:cNvSpPr/>
          <p:nvPr/>
        </p:nvSpPr>
        <p:spPr>
          <a:xfrm>
            <a:off x="4846320" y="4866915"/>
            <a:ext cx="2560320" cy="12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</a:t>
            </a:r>
            <a:endParaRPr lang="en-US" sz="1100" dirty="0"/>
          </a:p>
        </p:txBody>
      </p:sp>
      <p:sp>
        <p:nvSpPr>
          <p:cNvPr id="22" name="81d5ce46-2355-49af-b93d-5371281d05bf"/>
          <p:cNvSpPr/>
          <p:nvPr/>
        </p:nvSpPr>
        <p:spPr>
          <a:xfrm>
            <a:off x="3291840" y="2448697"/>
            <a:ext cx="1463040" cy="0"/>
          </a:xfrm>
          <a:prstGeom prst="line">
            <a:avLst/>
          </a:prstGeom>
          <a:noFill/>
          <a:ln w="3175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23" name="07c0bd06-5f63-40e3-90bd-5c9e4dd19201"/>
          <p:cNvSpPr/>
          <p:nvPr/>
        </p:nvSpPr>
        <p:spPr>
          <a:xfrm>
            <a:off x="3337560" y="1982024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推指標</a:t>
            </a:r>
            <a:endParaRPr lang="en-US" sz="1200" dirty="0"/>
          </a:p>
        </p:txBody>
      </p:sp>
      <p:sp>
        <p:nvSpPr>
          <p:cNvPr id="24" name="c1f2f410-0328-4e56-86ad-c2fc45e95ac5"/>
          <p:cNvSpPr/>
          <p:nvPr/>
        </p:nvSpPr>
        <p:spPr>
          <a:xfrm>
            <a:off x="3337560" y="2533547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5" name="fa5fe6c0-7536-439c-86dc-e3df4f33ff6f"/>
          <p:cNvSpPr/>
          <p:nvPr/>
        </p:nvSpPr>
        <p:spPr>
          <a:xfrm>
            <a:off x="7498080" y="2448697"/>
            <a:ext cx="1399032" cy="0"/>
          </a:xfrm>
          <a:prstGeom prst="line">
            <a:avLst/>
          </a:prstGeom>
          <a:noFill/>
          <a:ln w="317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6" name="9bc569f7-2c74-4247-9f3d-f93f6a304bed"/>
          <p:cNvSpPr/>
          <p:nvPr/>
        </p:nvSpPr>
        <p:spPr>
          <a:xfrm>
            <a:off x="7543800" y="1982024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送告警</a:t>
            </a:r>
            <a:endParaRPr lang="en-US" sz="1200" dirty="0"/>
          </a:p>
        </p:txBody>
      </p:sp>
      <p:sp>
        <p:nvSpPr>
          <p:cNvPr id="27" name="4e0e0f9b-db23-4131-b7e7-8a1f798d1509"/>
          <p:cNvSpPr/>
          <p:nvPr/>
        </p:nvSpPr>
        <p:spPr>
          <a:xfrm>
            <a:off x="7543800" y="2533547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8" name="30a7d756-dbd4-4210-94e6-33017b9f12df"/>
          <p:cNvSpPr/>
          <p:nvPr/>
        </p:nvSpPr>
        <p:spPr>
          <a:xfrm flipV="1">
            <a:off x="6126480" y="3254770"/>
            <a:ext cx="0" cy="509098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9" name="5efe84e9-7878-48d8-bf7d-12d7e04068ff"/>
          <p:cNvSpPr/>
          <p:nvPr/>
        </p:nvSpPr>
        <p:spPr>
          <a:xfrm>
            <a:off x="6217920" y="3339619"/>
            <a:ext cx="15544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查指標</a:t>
            </a:r>
            <a:endParaRPr lang="en-US" sz="1200" dirty="0"/>
          </a:p>
        </p:txBody>
      </p:sp>
      <p:sp>
        <p:nvSpPr>
          <p:cNvPr id="30" name="951a5977-5685-4798-9638-e21d028cdf72"/>
          <p:cNvSpPr/>
          <p:nvPr/>
        </p:nvSpPr>
        <p:spPr>
          <a:xfrm>
            <a:off x="6217920" y="3551744"/>
            <a:ext cx="155448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1" name="db93cb21-0248-4b79-8836-fc43ec21df85"/>
          <p:cNvSpPr/>
          <p:nvPr/>
        </p:nvSpPr>
        <p:spPr>
          <a:xfrm flipV="1">
            <a:off x="7498080" y="3254770"/>
            <a:ext cx="2743200" cy="1018197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d7391a35-adc3-4d9d-aeaf-f65db0526d49"/>
          <p:cNvSpPr/>
          <p:nvPr/>
        </p:nvSpPr>
        <p:spPr>
          <a:xfrm>
            <a:off x="8732520" y="4018417"/>
            <a:ext cx="23774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狀態 · 靜音</a:t>
            </a:r>
            <a:endParaRPr lang="en-US" sz="1200" dirty="0"/>
          </a:p>
        </p:txBody>
      </p:sp>
      <p:sp>
        <p:nvSpPr>
          <p:cNvPr id="33" name="b793aa94-98aa-4ee0-833a-95203e0b7acd"/>
          <p:cNvSpPr/>
          <p:nvPr/>
        </p:nvSpPr>
        <p:spPr>
          <a:xfrm>
            <a:off x="8732520" y="4230542"/>
            <a:ext cx="237744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4" name="ba90239d-96df-400b-8cc6-8789003344fa"/>
          <p:cNvSpPr/>
          <p:nvPr/>
        </p:nvSpPr>
        <p:spPr>
          <a:xfrm>
            <a:off x="548640" y="5206314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每條連線:web-config(TLS + bcrypt 帳號)+ 信任庫</a:t>
            </a:r>
            <a:endParaRPr lang="en-US" sz="1100" dirty="0"/>
          </a:p>
        </p:txBody>
      </p:sp>
      <p:sp>
        <p:nvSpPr>
          <p:cNvPr id="35" name="a28ab83d-9215-4e17-9e87-0d21c238b830"/>
          <p:cNvSpPr/>
          <p:nvPr/>
        </p:nvSpPr>
        <p:spPr>
          <a:xfrm>
            <a:off x="6199632" y="5206314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要補 prometheus、alertmanager(實測:否則主機名稱驗證失敗)</a:t>
            </a:r>
            <a:endParaRPr lang="en-US" sz="1100" dirty="0"/>
          </a:p>
        </p:txBody>
      </p:sp>
      <p:sp>
        <p:nvSpPr>
          <p:cNvPr id="36" name="0371cbfd-4b31-4aa4-8976-9b4dcb74733e"/>
          <p:cNvSpPr/>
          <p:nvPr/>
        </p:nvSpPr>
        <p:spPr>
          <a:xfrm>
            <a:off x="548640" y="5672987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 的 alerting 要設 https + 帳密 + CA(官方頁未寫,實測必要)</a:t>
            </a:r>
            <a:endParaRPr lang="en-US" sz="1100" dirty="0"/>
          </a:p>
        </p:txBody>
      </p:sp>
      <p:sp>
        <p:nvSpPr>
          <p:cNvPr id="37" name="105f5e14-6237-41b3-88b5-37591fcee2f7"/>
          <p:cNvSpPr/>
          <p:nvPr/>
        </p:nvSpPr>
        <p:spPr>
          <a:xfrm>
            <a:off x="6199632" y="5672987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四條都實測通過;未啟用時,無帳密就能讀指標、改靜音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e935033-6fab-4c7e-a6af-07f31fe72525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f1320f6a-b322-4216-bed8-855447840988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1046944a-5e59-43ae-a4e1-e9239b33a32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ebf205c3-97c9-40fe-8944-4ea4d01855f3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83bac25c-6845-4dc5-8d03-4f1d6b9d6ec0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45d8b124-3dfd-4098-9f24-def45ce4b23e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87596f79-44c0-4db3-bfbd-f0439bd7287b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0f67be40-6d06-4a68-b2c3-c396a8be43a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8d86429b-564e-44d3-82e8-a84d74376cb4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5c990c89-5cd1-456b-bfb4-84f57731bf4f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fc6b4ed0-1f52-4113-872b-7bd7c725f3ac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30b233c1-9038-4134-98fc-6a568beec806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edf856ac-15d2-4697-aef9-0b14496ec9a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620112b1-6a34-4676-8aba-18e1b2231288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7e179769-22af-44a1-9b2e-d0edc3bd1124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ba3dd0cd-cb1d-4d6b-bfbc-34fb9126dc92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5f36f275-c0ac-42c9-ba81-311fbb48a136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d92d204f-7bbc-46d2-b542-14d903a840cc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c663bde0-4ebc-4c16-b5de-f3dca198143c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d9696c44-d6e1-4e1d-a53d-10c95bf9fa1b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cbadca7d-d94f-4792-9042-a7cbd39774f9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d903c93f-68b3-4265-ab55-bf948121160f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3d33e5b-b6cf-454d-b6f9-81c2940a0e33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a77c0990-47c9-4a0d-aa6b-c1fe5bc959e4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63ecb900-aecc-4637-b110-266927f370c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23182098-cf18-4dcb-b31b-bc51076fb585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73800c43-1af8-4509-898a-994c29f95718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582a9bb8-f6b8-45ac-9ff7-1d6df1264a4c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1e563713-de45-4d50-b525-a0147310bd7b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7ececba7-1efa-40a1-9c4a-08d22fb0bfc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f1fbf880-ca2f-49f3-a3fe-4c2dc77b7186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8b585ca6-1555-487f-b53b-399c9eff1237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0d9ac65f-ce90-4022-a400-a7d712ece9cb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34d3a079-1ead-4eef-9a33-7975d139ddf1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fb747483-7982-4c95-9310-c006c9daa8a1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979712e3-b799-4729-8198-b281eb6688f0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f616b566-15d1-4765-b49d-46afaf8e0df9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aea8097c-386d-4c8d-b614-14f248bde0f3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26471b3d-3278-4b1c-b46a-07482da21e14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0a915206-233a-4a70-9ad2-14bf6481c2ea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12936143-94f8-493b-9da1-7059b26167fa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8f0f9b5e-f2e3-4faa-9523-4af023a78e0b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1783cabc-67c8-479e-a14a-ff58cc1b0fd7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ff1afc47-aef6-4ac5-9b31-dea0ed554046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ee359f99-503b-46a7-bfbf-e274819ebd8c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7304b9d4-2154-447e-8ecd-b32c1e1e52c1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20645588-8ce6-4820-9bf1-981adac3e363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9d4aa85a-02de-4670-9a0e-1bb85ae2e863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8e765ca8-9703-4a87-9081-b0b982c4269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2e76f3d9-4f3d-4109-a62f-65e91c6c628e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d5772df0-abab-4897-b091-6f7d1c8ad288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a16272fc-5bf5-4244-89fb-68c338a13f6d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d938dbb4-6964-4297-b825-fff55a2a51c4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0a8203b4-53ab-4d89-8a41-749be53420f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0a8b2fb9-4837-45e8-be18-fe12a67e783f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ba7e3456-b0ec-4073-893c-f6f50df132da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05e29972-33ca-432e-a09a-51a0ae4209a3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f097ef73-c026-44ff-b507-45b44b05e81c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580c105d-f3fd-4770-9c55-a7c3e7dd2842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a5feccdf-5c81-43fe-9ad4-d81c0f3f124f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9666822-ce26-4477-a719-62d2cd533d6e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cd685f9e-ada9-43e9-9e87-807b8ee15daf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be0ca3d1-9773-4b79-8bc7-b9bcc3deb9a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64916f1f-be61-4b30-8d5d-c3824ebf5365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660f1054-f187-45bf-a1bd-669920ce08ed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d403b802-85f8-417b-a662-a46103b2dc0b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0dce0e19-f4f5-4d3a-9fc8-67e7e67780e7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7b0b4903-02d1-4395-8845-64ae32a51f6e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7bee5c16-8660-4401-868c-ce2c27d3f68e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62204331-f59a-4e96-bfbb-8dfd34b1166f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553b006f-ccc9-4574-a790-cd9fa572a766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54ee0bdf-3823-430e-ad1c-55952abd52d6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cb460c8e-7d84-435c-a16a-2e035a1678c0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315e1872-004d-441d-89ca-7741b343479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37ad0f39-3142-4845-8ad4-69740613e952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a3e5e4c2-a2bb-42d3-a503-39133edbee08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8ea9c07f-d3ac-457f-b81a-1e183961ed5d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069da609-f82b-4c64-93f5-e0cbf0f34be4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驗證密碼</a:t>
            </a:r>
            <a:endParaRPr lang="en-US" sz="1100" dirty="0"/>
          </a:p>
        </p:txBody>
      </p:sp>
      <p:sp>
        <p:nvSpPr>
          <p:cNvPr id="20" name="ca0fb694-8da1-4aee-b069-765f9fe7b1fe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019d9a83-815b-45ba-b42b-82873db173c6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本人帳號</a:t>
            </a:r>
            <a:endParaRPr lang="en-US" sz="1100" dirty="0"/>
          </a:p>
        </p:txBody>
      </p:sp>
      <p:sp>
        <p:nvSpPr>
          <p:cNvPr id="22" name="4639c669-d4b6-4eec-a2a1-65aa22bd9d30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d1070775-3e5c-4deb-b0e7-c1095791d27a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4" name="73a8ead4-00b5-49c8-9e5c-9527362b3c41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acd9f936-de41-4173-bee6-0e59d2dc2235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6a2596e5-3fa8-45f3-b2ac-08d11d64f1d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a9256ed8-1f8d-4cff-9c23-2e2663f8f968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3540ad62-ea3e-4351-b4bf-16ea2294bbb5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708a7be1-c8eb-4133-adc5-a133f171a2a0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d4ca82e4-3bec-4f58-be5f-d6080a189e8b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07cd4eb5-a7bb-4371-960f-911811de03ac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aa5640ba-461e-4698-9f35-5963c6c07ffa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2472e6ae-0712-4909-a1fa-d84b3305bc3d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f31ec44f-208a-4b72-a7ff-be52b65ca1bd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d567f7d7-f09e-4cc7-a0cf-dec8710d949b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群組」授權並留 audit:人員異動只改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22cfedb-69e3-49e9-9945-dcd220dfffa1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9c42c20a-f2a8-4088-a581-afcf00612c11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f3f34d4e-aa11-4db6-8fc2-a1b75f920ef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a0363dfb-e988-418c-b012-b643a1ceff6d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e864fada-87b9-4550-a19e-236c6bb0adb0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54c8eb95-b6ea-43f4-8a88-21f94894ef58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c3118290-a08b-44a3-8010-6f72a47192c1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79ddecfe-e4c1-4658-bc88-3a4b66f4d5e5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cc0a6929-91ae-4f70-a55a-395eecc92521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svc-x</a:t>
            </a:r>
            <a:endParaRPr lang="en-US" sz="1100" dirty="0"/>
          </a:p>
        </p:txBody>
      </p:sp>
      <p:sp>
        <p:nvSpPr>
          <p:cNvPr id="11" name="152d0a1c-2e3b-4939-a56e-ccd4fda56cfa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f2e2123a-d91f-4723-979d-08b861803aff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3" name="5f1fcc33-e9c3-46aa-b1a5-46ea318b543d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11fd9824-6a23-492f-ae87-4e4e047f20ef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8a0f8aa2-84be-4e27-978c-e4e5a116cca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3b53812f-7de8-43d4-8283-61d89281760a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3e092972-874b-48de-b74b-d5681e0d6bb1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576dabda-3539-4b0f-9cec-dd2ef22f875f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4755e9bb-c971-40bb-8cb2-27c6ffb9150d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529a7a1b-91ef-4b04-966b-836f3c56ba68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d8e463dd-6450-4423-bb44-44276a1cc18e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fa97017c-2f10-4d80-8e5c-11d5e2265934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9841d366-7e06-43cc-890b-794a265a4984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bd52baee-8534-4625-8687-a91a20a44044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43aabcda-bc79-4ba0-b4a2-d1771b44befa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45514792-fe8c-4ac7-abab-c95187a6d89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93342ce8-1357-408a-be9b-a619f79f62c9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a011fb11-adf0-41d0-8b7a-ab9e565ce896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0d9e1ff9-b25f-4ad3-9875-88317f238ab0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e7f20e7b-85c7-446e-8890-921791950273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a9594ab8-587f-4b5e-84a6-08b50ea70ea1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6bb4e36c-bc57-4019-a034-15e3d5636648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C3:SystemAdmin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Proxy:專屬 role</a:t>
            </a:r>
            <a:endParaRPr lang="en-US" sz="1100" dirty="0"/>
          </a:p>
        </p:txBody>
      </p:sp>
      <p:sp>
        <p:nvSpPr>
          <p:cNvPr id="33" name="677fbd01-87b0-4d9b-8faf-868b90e3766a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3d4f41f3-9440-4ab4-a4ab-dfbb280d3ca2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94d630d8-eacf-4906-a702-5389c7994d4a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User:,授權事件皆留 audit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3" name="7ec20569-26d8-4e0d-bee0-7c6f9c1dbe7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可省:若客戶能建專用 AD 帳號,改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私鑰:MDS broker 與 controller;公鑰:broker · REST Proxy · C3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 = 可偽造 token;輪替未驗證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LDAPS;AD 憑證更換時更新信任庫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+ JAAS 設定檔;bootstrap 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kafka-broker · kafka-controller · bootstrap(break-glass);輪替未驗證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b5b595f7-d174-4b62-9563-d3e498f3981a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1c1feb2-5788-4da8-837b-98b947419989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ac19f259-cef7-4ed6-a806-22d62aaec622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885e0300-8f73-406a-ae27-46dc0fe8d979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b1ae98f9-4414-49e4-b841-9ce607d954c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8f889b02-4289-47f3-9707-ea894b4cc73d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d226021d-2162-4397-865b-32bc474736b8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 與 MDS 金鑰對</a:t>
            </a:r>
            <a:endParaRPr lang="en-US" sz="1050" dirty="0"/>
          </a:p>
        </p:txBody>
      </p:sp>
      <p:sp>
        <p:nvSpPr>
          <p:cNvPr id="8" name="4ef992bf-8ce2-41db-aea3-dfc8211228a5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d1609c6c-0b19-4808-b4dd-54fbae48edda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286f95f7-96fc-4e63-84c1-b9a1c2a58395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a81d868b-c2d4-4fc1-afc9-b1265bd7e983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e9465a7b-4680-4a99-9c18-f20b352ff9d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2ab228fb-eb9b-4427-831c-0eaa755e8224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45450374-643c-4f9a-81b2-99209a8ddf83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bca0cf12-5c97-41b2-8cf1-8e4c1d132111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d4a12478-b26e-4948-8fd9-8dea2b2f3d79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fb636b9c-afc9-4405-b0b4-5791da01fe2b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49db1cd9-a539-4425-944f-945eecccde2c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e63e11b7-9016-4250-8bd4-d8932a22a69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0f9b6ec9-8b6b-44a6-9fef-e34dfced6515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9550f267-d2a3-49e6-98ee-eedd310aa213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三個入口</a:t>
            </a:r>
            <a:endParaRPr lang="en-US" sz="1050" dirty="0"/>
          </a:p>
        </p:txBody>
      </p:sp>
      <p:sp>
        <p:nvSpPr>
          <p:cNvPr id="22" name="7d4aee83-1e4f-4d2c-9d08-4da62fedb7d7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0173f505-b4af-4510-9fbc-76bbc299ba19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8ba6170c-4324-42e6-915a-547055c1a711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2198ab65-d1c4-42df-ae5c-93daedc5905d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6c6b8356-e7e8-4a1e-9037-aa1a91f4394a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2f969cf6-1ce7-4bd2-87bb-258f22afd093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00139eb5-e21a-4d44-ad68-551e0543146d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3e1be69b-f835-43a2-973f-277e9a3a60ef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c4c985c4-e992-4fee-bfea-d3a8ed8e62f2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19662983-bfe2-4def-86b1-e089f4610fb8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8ac11ede-2fcf-4501-8e4a-87b590de451c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9a36b4b6-fd60-4ff7-abaa-dd1b2578ab9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74a56161-3c0f-4c64-99c1-d423e1a0901d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</a:t>
            </a:r>
            <a:endParaRPr lang="en-US" sz="1250" dirty="0"/>
          </a:p>
        </p:txBody>
      </p:sp>
      <p:sp>
        <p:nvSpPr>
          <p:cNvPr id="35" name="7e5f863f-8fc1-4596-907c-7808f1689092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Prometheus + Alertmanager</a:t>
            </a:r>
            <a:endParaRPr lang="en-US" sz="1050" dirty="0"/>
          </a:p>
        </p:txBody>
      </p:sp>
      <p:sp>
        <p:nvSpPr>
          <p:cNvPr id="36" name="8414013c-af0e-4422-884a-5de3f815bc48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64501a3e-0c33-4245-987b-7644ff0ee80f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a4b44f48-5d2d-470f-ae26-7e9cc00be0ed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baeef760-fd66-47b3-98b3-5a5c9b643049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05041d99-a44e-4825-bf9c-1268ad0870d0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bc1119c6-f969-4955-b9f3-0c9d1868ad86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6b0f8750-ffbf-4769-b332-59a33d3bf8d6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c6abdce9-0ff7-43c5-9ca4-a0a2912cd382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要在 format 時預建 kafka-broker / kafka-controller 的 SCRAM 憑證,否則授權器起不來(實測)</a:t>
            </a:r>
            <a:endParaRPr lang="en-US" sz="1300" dirty="0"/>
          </a:p>
        </p:txBody>
      </p:sp>
      <p:sp>
        <p:nvSpPr>
          <p:cNvPr id="44" name="db1e5ec9-8bba-42c8-95b0-7180be66a8a3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72c8ee51-a21c-480f-b204-e053adc260f0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3b61bea-724e-44b7-8bef-83a92783a0b2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628dafb9-0bd6-4c8b-a866-2b310a3c9444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d233bc15-aeb7-4d13-9838-f763dd4fcdf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f5ec4dec-b97b-457e-8d1d-0630efe2c3ce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2d423365-50da-4ca7-b8da-ceafc05620f2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59aab562-7fba-4ca2-9ba4-9918ab4ae345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c0048b75-c67b-4fd0-bd5b-6b1d1739d695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9188e8a9-7e46-45c0-bb7e-bd8ee6927d88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8b996cfc-3c72-4764-ba0d-bc28856e7cf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bf584691-807b-45fd-86c8-a2c6ba54c510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441c2124-270f-4233-9173-9999513a90f6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0acaffec-cae3-4462-bd10-19dbf1526dc3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15c59c47-783c-4421-a04b-b8d2efc86bfe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460b5b19-a5aa-4344-bc09-6627ae945b42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438b0719-bd15-46fa-af65-9c97c3f17d9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c62998fb-142c-4ed5-973e-1cbda7211a17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私鑰外洩(server · token)</a:t>
            </a:r>
            <a:endParaRPr lang="en-US" sz="1350" dirty="0"/>
          </a:p>
        </p:txBody>
      </p:sp>
      <p:sp>
        <p:nvSpPr>
          <p:cNvPr id="18" name="ff1e5993-dfc3-48f9-92b3-a56cf93aae3f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發現:server 私鑰外洩 = 可偽裝伺服器;token 簽章私鑰外洩 = 可偽造任何人的 token</a:t>
            </a:r>
            <a:endParaRPr lang="en-US" sz="1050" dirty="0"/>
          </a:p>
        </p:txBody>
      </p:sp>
      <p:sp>
        <p:nvSpPr>
          <p:cNvPr id="19" name="b1c25d66-b606-4431-af35-7a2da53ad821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600;最小化存放;輪替計畫;共用身分不綁 role</a:t>
            </a:r>
            <a:endParaRPr lang="en-US" sz="1050" dirty="0"/>
          </a:p>
        </p:txBody>
      </p:sp>
      <p:sp>
        <p:nvSpPr>
          <p:cNvPr id="20" name="481c9b9a-006d-4c9a-8465-f03299c94ee0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4828c910-d5e9-485f-9dcb-cd7cd641e7f3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582540ff-4659-40db-ba15-e234b9c1574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cdb0eeab-26c0-4e89-a3b5-4e88f2d8e36a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fa731e41-7b29-4655-ad66-9165f03bca58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5055114b-f31a-4f3f-b07d-26c4cc46fbc3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87f5a37c-cb2c-4942-b6d2-7fc7e0701acc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2a9aa4e0-9300-4f12-b3b5-c648a356d3b1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06fa9a4b-b370-4826-ab40-00a41c393a6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6c4a10b0-fc0d-4713-9703-aa63c4f1441a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5be15fe2-fe8e-4ce1-8b33-985979f7cef0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433656a4-11bc-4565-82f4-76a5c189e2b1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fdc7b5c8-8dae-495a-ac89-6c1866d9545f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b6d52434-6d31-44c1-8969-d8095883c9aa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5ee44fc1-c5c0-4004-8cf2-55d0437b054a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3ab89674-6455-4403-8e25-3b0f0b32c258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3ae9ae58-7670-4a80-89ef-5d56ac5e68f3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4c19b07f-4142-449b-a6a1-53599eb2129b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兩個操作陷阱和一項待驗證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cf8fa5b-a981-43d3-9800-0809ff2974b1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c03a3b3d-3267-4e27-821e-ed65a2480da1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63973578-9e7b-4608-9ed4-db083b0f5f3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172c16c1-45c6-4b03-82c7-06f1142f64ef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3f2338a2-4825-4fb4-92a5-5ba6475a153b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96aa90c1-8e08-495f-a4b8-549101b19888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0d075590-c8e2-4366-8b69-c208af5f86a9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95d90d77-38a3-4455-8f4e-86a7557f6957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0c06139f-db96-4a5b-bb2a-533123ec8a1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5c59a8a0-6d11-4f72-9f65-b1e0a38299ff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7e5eef9d-4b56-4eaa-9b66-77e447744354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ef89a07c-ae53-45cd-9fc1-40fa55678e2d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f3524e1d-0b70-49a1-a0ab-d2dc56e12e27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2183a6eb-f430-43fe-9aaa-ae71a9454dab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3b5a8f4d-c934-49b4-a805-c05fb2b797b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ff8775ce-8f8c-4814-bb4f-0a52ee7ff59f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8afec6a7-8017-484f-8e4b-4402c160b696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d3cfabc2-aba1-49b2-b68c-d31567db7813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c6254de3-ea20-44ee-98d7-683bd58af33b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前兩項是已實測的操作陷阱,第三項導入前須實機驗證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f354149-6963-4eea-9ec7-3b84d33b989a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e0c10625-8a4e-45a4-97ea-63c85adfafc8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5656e873-5425-41b0-b02c-0fb258fdcb4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51242326-3141-4016-a7ec-779022fbeac8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5ca3229a-d522-4c73-a1d6-694ecd44c5cd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RBAC:加入群組生效(demo 5 秒;預設 60 秒)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f1e1490c-8c1e-4a97-b629-e4abc83850f2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dec16d34-3aeb-497c-a47c-7c1e77286f2c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d1bfc0db-bfcc-4b6f-ada1-932149c1c24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92a3e47d-4338-4f54-bc58-6e744d9c13e8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06054be1-162f-4755-87a8-da3aac3a4d84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MDS 金鑰對與內部帳號的輪替流程</a:t>
            </a:r>
            <a:endParaRPr lang="en-US" sz="1300" dirty="0"/>
          </a:p>
        </p:txBody>
      </p:sp>
      <p:sp>
        <p:nvSpPr>
          <p:cNvPr id="12" name="d395512c-dfe8-48c1-b195-cd5bca1c72c0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bba2a0c-418a-4a1a-b79a-645c21e58e05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fc7f5c9e-a43b-4d74-aaa5-c8abdd1ebb5f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21e4423e-237d-4a04-87f1-f32083302813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7d221041-2523-4836-bf5a-6fd274b8de7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c948d4ee-2489-4514-8a99-c7e53ce23748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4fc8b1fa-338c-4d6a-9997-e4b7b95d95cc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eb1ae09c-7b86-40c4-971b-25af474b96e0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01644d1a-37c0-4fd7-9386-37e6dd5bc5b6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b55e8814-7e33-4cf6-8508-c612b05f34e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5f1141a2-b6e1-473b-a572-5d6da7959dbf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憑證由誰簽發:有無 AD CS(內部 CA)與根憑證散佈方式</a:t>
            </a:r>
            <a:endParaRPr lang="en-US" sz="1300" dirty="0"/>
          </a:p>
        </p:txBody>
      </p:sp>
      <p:sp>
        <p:nvSpPr>
          <p:cNvPr id="12" name="06123eae-d38d-40cf-b66f-e39fe7c3a619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a341133c-d167-45b3-af83-107e8d0d0f52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83f7ec43-33ee-4cff-9161-8ac5ead1f68a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705014b4-cc5b-4d55-a145-1d8f606a89b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204527ce-a4fc-4112-85ab-c132034c2107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能否為 legacy app 建立專用 AD 帳號(非真人)</a:t>
            </a:r>
            <a:endParaRPr lang="en-US" sz="1300" dirty="0"/>
          </a:p>
        </p:txBody>
      </p:sp>
      <p:sp>
        <p:nvSpPr>
          <p:cNvPr id="17" name="e490e391-c4a8-4fc0-88f9-9197b7a39e74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2830f811-ad73-4e2a-92a5-44b2c97b5fc9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bd37b8a1-023c-400c-81bc-4a74fbed3d78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3a92241e-fcc9-4ccd-aa7d-79bb2305927a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2c41df82-37af-4051-b0c8-9b3c331325b3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8768799a-f059-48e9-9038-cd0a20576a54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b648805d-5b52-4a88-bf4c-38dbec1130b0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e31fb010-d24d-4f74-b37a-0c66af5e601b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1bacd86e-337d-42ed-adc2-eafe2af054be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e4e06ad5-0f9f-4ad0-8faa-3dc8bd679b46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535c047b-3725-4968-b9ab-b0baebd4fcdd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7c08b26c-5b3f-4f1e-815b-99ed6a91b12a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c64d2cf1-af04-4a0f-82f3-579ac57565a4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2f2c29cb-cf28-4c73-b520-38ca1ea5163b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9af22084-ec3d-4bcc-818c-89978be99daa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11aeafe9-29ba-4f01-8fee-107037665e83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f2a246c1-6d16-41fa-836b-606258c81b21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d65b1598-b2c2-4ed7-8f4a-bc1a3f221eaa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6cac58bc-5603-458d-8d50-54babfad6654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2bee727a-ac1f-48f2-95ee-ac49942f2f37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7235838b-fdde-44d7-99b7-a353ae4eb6a3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f3239314-8f54-45d5-8c6c-1840df2626c1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4df51d2d-c49a-4322-84a5-2904c80f5821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a1e90bb7-c6a4-44f1-83f0-8c17222c2101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e2f708da-7f9b-4a53-8e81-0fac387b7c5d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7f0d6307-05e0-473c-b8bf-f9f65493ef0d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6ba5b37-eaa2-4251-a835-24d14e878ae7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7432a25a-bb39-4b7b-8295-8994835ceb78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ad56a504-c33c-4f31-9442-50c47041e41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f45e6524-bf9b-4512-9350-f41c9a81b45e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d07b935a-22e6-44ab-bd43-5b8e3eb6b307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d3f9fe56-7a06-495a-b688-7b8f03883cb6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d654cd4f-b608-4577-89f2-f4f087dd8fcd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d2bc8200-ba42-4a8b-be1f-c30d415c0e67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daa82a2a-ed5b-4bde-b5c6-f5bceeac865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930dc2b0-f8e4-475b-8d2e-c3e73b4a9925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c7d7f2cf-7057-4643-b209-12836b402ba1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0f5b8f92-353b-448e-b153-5c7b6a7f51d0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a2ed2814-d8fc-49b3-9958-0b2ba5def76a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aac47b5f-74fc-42dd-b478-fc45f977af91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ebed2760-edaa-4212-ac65-fa5acc3ec69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69a98459-ca32-49d7-9a0c-c46a5f4cbc5c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f9f5c4af-0893-42f2-bad8-a2acbcee83db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b1f717b0-f3d6-4f3b-acfc-26feb0d76984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