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  <p:sldId r:id="rId50-created" id="287"/>
    <p:sldId r:id="rId51-created" id="288"/>
    <p:sldId r:id="rId52-created" id="289"/>
    <p:sldId r:id="rId53-created" id="290"/>
    <p:sldId r:id="rId54-created" id="291"/>
    <p:sldId r:id="rId55-created" id="292"/>
    <p:sldId r:id="rId56-created" id="293"/>
    <p:sldId r:id="rId57-created" id="29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Relationship Id="rId50-created" Type="http://schemas.openxmlformats.org/officeDocument/2006/relationships/slide" Target="slides/slide39.xml"/><Relationship Id="rId51-created" Type="http://schemas.openxmlformats.org/officeDocument/2006/relationships/slide" Target="slides/slide40.xml"/><Relationship Id="rId52-created" Type="http://schemas.openxmlformats.org/officeDocument/2006/relationships/slide" Target="slides/slide41.xml"/><Relationship Id="rId53-created" Type="http://schemas.openxmlformats.org/officeDocument/2006/relationships/slide" Target="slides/slide42.xml"/><Relationship Id="rId54-created" Type="http://schemas.openxmlformats.org/officeDocument/2006/relationships/slide" Target="slides/slide43.xml"/><Relationship Id="rId55-created" Type="http://schemas.openxmlformats.org/officeDocument/2006/relationships/slide" Target="slides/slide44.xml"/><Relationship Id="rId56-created" Type="http://schemas.openxmlformats.org/officeDocument/2006/relationships/slide" Target="slides/slide45.xml"/><Relationship Id="rId57-created" Type="http://schemas.openxmlformats.org/officeDocument/2006/relationships/slide" Target="slides/slide4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封面。這是第一版草稿,內容依客戶前提設計;之後會依回饋調整並套用公司模板。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六個前提:AD 只有 user/group(沒有服務帳號);希望全部共用一組 PK+憑證;RHEL 9 手動部署、尚無 Ansible;legacy app 只能 HTTP;權限要依 AD 群組 + RBAC 分層(不同職責不同權限,唯讀只是其中一層);範圍限於 Kafka、REST Proxy、C3。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接下來依序介紹 8 個面向,最後是整合。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憑證更換實驗(demo/spike/cert-rotation,單節點 Kafka、SSL listener 要求 client 憑證,可動態換 keystore/truststore):T1 只換 server 憑證(同 CA、新金鑰):用 kafka-configs 動態更新 listener.name.ssl.ssl.keystore.location,不重啟,client 設定完全不動仍通過(動態更新只涵蓋 Kafka listener;在 demo 實測 MDS 8091 埠不會跟著換,broker 仍要重啟,REST Proxy、C3 本來就要重啟,所以本方案以 rolling restart 為主,動態更新價值有限)。T4 根憑證用同一把金鑰重新簽發:client 信任庫只放新根、server 信任庫換成新根,舊的 server 與 client 憑證都照常通過。T2 CA 換金鑰且順序錯(先換 server 憑證、client 信任庫仍是舊根):client 出現 PKIX path building failed;還原後恢復。T3 正確順序:①server 與 client 信任庫先放新舊兩個根(舊 client 憑證與新舊 server 憑證都通過)→②換 server 憑證→③重簽 client 憑證(新 CA)→④移除舊根:新 client 憑證通過,尚未重簽的舊 client 憑證被拒。未驗證:長駐 client 是否需要重啟才會重新載入信任庫(以每次新啟動的 client 模擬);有中繼 CA 的情況。MDS / REST Proxy / C3 換憑證需要重啟:已在 demo 全元件演練實測(換檔不重啟,各埠仍出示舊憑證),見下一頁;這些元件有沒有不重啟的動態重載方式未驗證。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在實際 demo 環境(demo/spike/cert-rotation/rotate-demo.sh,log 為 rotate-demo.log)用「新根 CA2(新金鑰)」演練整套更換:階段 1:信任庫換成 {CA1,CA2},controller、broker1、broker2、REST Proxy、C3 全部重啟。階段 2:server 憑證換成 CA2 簽發;檔案換好、尚未重啟時,controller 9093、broker 9094 與 MDS 8091、REST Proxy 8086、C3 9022 仍出示舊憑證;依序重啟後全部變成新簽發者;過程中包含 controller 與 broker1 已換、broker2 還沒換的混合狀態,Kafka 人員登入、MDS 登入、REST Proxy(人與 legacy 憑證)、C3 網頁皆正常。階段 3:client 憑證(c3、restproxy、bootstrap、legacy-orders)用新根重簽,CN 不變所以 RBAC 不用重綁;REST Proxy、C3 重啟(換了檔案要重啟才載入;其實舊憑證在移除舊根前仍有效,階段 3 就重啟是為了在移除舊根之前先驗證新憑證,出問題還能回頭);controller 與 broker 沒有 client 憑證所以不用;legacy app 與 bootstrap 是直接讀檔,換檔即生效;新舊根並存期間,舊 CA 簽發的 legacy 憑證仍被接受。階段 4:信任庫只留新根,全部重啟;舊 CA 簽發的 legacy 憑證被拒(TLS 握手失敗),仍只信任舊根的 client 連不上新憑證。順序的依據:Confluent for Kubernetes 憑證管理文件的 CA 輪替流程是「步驟為主」:先更新所有元件的信任庫、確認每個元件都有新舊兩個 CA,再更新憑證;每個元件 rollout 完成才繼續。不是「一個元件做完全部步驟再換下一個」(那樣會在其他元件還沒信任新根時就出示新憑證)。也不是「一個步驟同時重啟全部」:每個步驟內逐個元件、逐台 rolling。該文件沒有規定元件之間的順序;本頁的 controller → broker(一次一台)→ REST Proxy → C3 是參考官方升級文件的順序(KRaft controller 先、broker 次之、Control Center 最後),不是憑證輪替文件的明文規定。注意:本頁以「重啟」載入為準,這也是官方的建議做法:Confluent for Kubernetes 憑證管理文件寫「Always renew truststores for all components before renewing certificates」、驗證每個元件信任庫都有新舊兩個 CA、「Wait for each component’s rollout to complete before proceeding」、先在非正式環境演練。動態載入是選項:官方 dynamic config 頁說 Kafka 的 keystore / truststore 可用 listener 前綴動態更新、只影響新連線(inter-broker listener 要求新 keystore 被該 listener 信任庫信任);CFK 文件的動態憑證載入只涵蓋 Kafka 與 Kafka REST、且只到個別 listener。Kafka 的 listener keystore / truststore 可用 kafka-configs 動態更新、不用重啟 JVM(單節點實驗實測),這不是 rolling restart;但 demo 全元件演練沒有使用動態更新,MDS 埠(Jetty)、REST Proxy、C3 是否能不重啟載入新憑證未驗證。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官方:SCRAM overview 頁說 KRaft controller 之間不支援 SCRAM、broker→controller 可用;但 KRaft security 頁的寫法不同,官方文件間不一致,實測 3 個 controller 用 SCRAM-SHA-512:互相認證失敗(Invalid user credentials)、選不出 leader,與 SCRAM overview 頁一致(推測原因:SCRAM 憑證存放在 metadata log,quorum 還沒形成就無法驗證,此為推測)。主 demo 僅 1 個 controller;另以獨立實驗(spike/multi-controller:3 controller + 1 broker,SASL_PLAINTEXT)驗證 PLAIN:三個 voter 組成 quorum,停掉 leader 後重新選舉、重啟後回到 follower 無 lag,未驗證搭配 TLS / RBAC。另:官方 MDS 設定頁說 RBAC 下 controller 應設 confluent.metadata.server.kraft.controller.enabled=true,且只有 MDS writer broker 連 LDAP;本專案原以為 controller 需要 ldap.*,重建環境後重測已推翻:無 LDAP 的 controller 仍能依群組授權(ch11 通過),現採官方設定。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人用 SASL/PLAIN,broker 把帳密交給 LDAP(AD)驗證並取得群組;服務用 SCRAM;平台元件用 OAUTHBEARER(MDS token)。INTERNAL 埠的使用者:broker 間用 kafka-broker;controller 連 broker(讀 RBAC 資料、audit 匯出)用 kafka-controller,皆為 SCRAM 與 super user。LDAP callback 不用在 inter-broker:客戶 AD 沒有服務帳號,官方也不建議 PLAIN + LDAP。INTERNAL 埠只是另一個 SASL 埠,任何有效 SCRAM 帳號都能「認證」進去(授權仍生效),所以必須用防火牆限制。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官方:MDS 在異動 RBAC 時把最新資訊寫入 topic,broker 讀取後 cache 在本地授權;群組同步只有 MDS writer broker 週期性向 LDAP 取(實測:LDAP 日誌同一時間只有 writer 查詢,broker2 重啟後 writer 換成 broker1;writer 把使用者→群組寫進 _confluent-metadata-auth,內容含 RoleBinding、User(群組對照)、Status(writerBrokerId),其他 broker 消費該 topic 更新本地快取;leader 在非 writer 的 partition 上,加入群組 3 秒內生效、移出約 6 秒)。注意:使用者認證(MDS 以使用者帳密 bind、CLIENT 埠 PLAIN+LDAP callback)由各 broker 自己連 AD,所以 AD 防火牆來源要涵蓋所有 broker(controller 不需要 LDAP 設定,實測)。客戶前提:需要 AD 唯讀查詢帳號(bind DN,只讀 user/group OU,建議 LDAPS);使用者密碼由 simple bind 以使用者自己的 DN 驗證。token:平台元件(C3、REST Proxy 自己的工作)由 client 函式庫重新換 token,不需人工;人用 C3 登入有 6 小時上限,到期重新登入;實測從 AD 刪除使用者後,已簽發 token 仍可呼叫 MDS(200),Basic 重新登入回 401,離職流程要考慮最長一個 token 壽命的空窗(demo 設 1 小時;設定 confluent.metadata.server.token.max.lifetime.ms)。writer 是什麼:MDS 內嵌在多台 broker,但同一時間只有一台 broker 擔任 writer(RBAC topic 的 Status 記錄會寫 writerBrokerId 與 generationId;實測 broker2 重啟後 writer 由 broker2 換成 broker1)。實測 LDAP 日誌:群組搜尋只由 writer 發出,結果寫進 RBAC topic,其他 broker 消費該 topic 更新快取。writer 的挑選方式與角色綁定寫入是否一律經過 writer,未驗證。人登入的 LDAP 流程(實測,PLAIN+LDAP 與 MDS Basic 皆相同):先用唯讀 bind 帳號搜尋使用者取得完整 DN,再用使用者自己的 DN 與密碼做一次 simple bind,成功即密碼正確,然後斷線。MDS 的 Bearer 是 MDS 自己簽發的 token(JWT),不是外部 OAuth2 token;Kafka 的 OAUTHBEARER 只是攜帶這個 token 的機制名稱。機器 / 平台元件以 client 憑證向 MDS 認證(MDS 設 REQUESTED,所以人 Basic 與機器憑證可並存),憑證 CN 經對映規則成為主體,只能用 User: 綁 role(官方 mTLS RBAC 頁:憑證主體不支援群組授權);REST Proxy 另可用自己的憑證代機器呼叫 /impersonate 申請 token(需列入 impersonation super users)。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的缺點是密碼無自動到期,所以配套:密碼庫、新帳號並行再停舊帳號的輪替流程(第 9 章實測)。並行做法:建立不同名稱的新帳號(kafka-configs --add-config SCRAM-SHA-512=[password=…],不會與舊帳號衝突)→ 對新主體綁相同 role(RBAC 綁的是主體名稱,新帳號必須重綁)→ 應用逐步切換 → 全部切完後刪舊帳號憑證與舊 binding。實測:對同一帳號同一機制再設一次密碼會直接取代,舊密碼立即失效,所以不能用來做平滑切換;同一帳號可同時有 SCRAM-SHA-256 與 SCRAM-SHA-512 兩個憑證,listener 兩機制都啟用時兩組密碼同時可登入(實測);動態更新 listener.name.client.sasl.enabled.mechanisms 被接受但沒有生效,需改設定檔並重啟 broker。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token。官方 AuthenticationHandler 範例是 REQUIRED(純 mTLS);人機並存用 REQUESTED 是本專案實測組合。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看起來在本地用 MDS 公鑰驗章(實測推論:偽造 token 被擋時 MDS 沒有對應 401 紀錄),但仍會以使用者 token 呼叫 MDS 查可見範圍。登入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C3 next-gen 需要 Prometheus 與 Alertmanager 另外部署。官方支援 C3 與它們之間的 TLS + HTTP Basic(7.5 以後)與 mTLS。本 demo 沒啟用,所以實測看到無認證;啟用後的設定與效果尚未實測。沒有 Schema Registry 時,C3 預設連 localhost:8081,把 schema.registry.enable 設為 false 可關閉該連線。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查不到,原因未明;c3 的事件在本 demo 為降噪而排除(實測不排除時 C3 每幾秒產生 ListOffsets/OffsetFetch,洗版審計 topic)。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全景:人經 C3、REST Proxy 或 CLI 進入;機器經 SCRAM 直連或 client 憑證經 REST Proxy;所有身分的授權由 MDS 的 RBAC 集中判斷,broker 本地 cache。群組同步由 MDS writer broker 負責;使用者認證(MDS Basic、CLIENT 埠 PLAIN+LDAP)由各 broker 連 AD,AD 防火牆來源要涵蓋所有 broker(demo 實測 controller 也需 LDAP 設定)。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人的三條路徑:C3(Basic→token→Bearer)、CLI 直連 broker(SASL/PLAIN + LDAP callback)、REST Proxy(Basic 轉 MDS 換 token)。授權都依 AD 群組。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機器三條路徑:應用用 SCRAM 直連;legacy app 用 client 憑證經 REST Proxy;平台元件(C3、REST Proxy)用 client 憑證向 MDS 換 token。憑證身分只能綁 User:,不能綁群組。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的憑證可省,前提是客戶能建幾個一般 AD user 讓 app 走 Basic。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順序:憑證與 truststore → controller(kafka-storage format --add-scram,須在 broker 啟動前)→ broker + MDS + LDAP → 以 bootstrap 憑證建立第一批 role binding(管理權交給 AD 群組 kafka-admins)→ REST Proxy、C3、Prometheus/Alertmanager → audit 路由與驗證。實測教訓:改共用設定時 docker 連動重建 controller,逾時強殺留下空 KRaft snapshot,controller 重啟後遺失 SCRAM 憑證,broker 無法啟動。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六個主要風險與對策。前兩項是平台元件憑證的風險(c3 憑證=管理員、restproxy 憑證可代人),都是實測發現。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Postman cookie 陷阱(SPIKE 實測):MDS 驗證成功後回 auth_token cookie,cookie 優先於 Basic;同一 Postman session 換身分仍以前一人執行,實測 yujie 曾以 gary 身分新增 role binding。群組移出延遲:ldap.refresh.interval.ms 官方預設 60000;已簽發 token:實測刪除 AD 帳號後,舊 token 到期前仍可呼叫 MDS,Basic 重新登入回 401;token 路徑下授權是否依現在群組未測。多 controller:官方 SCRAM overview 與 KRaft security 頁說法不一致;3 個 controller 間 SASL/PLAIN 已用獨立實驗驗證(機制)。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1。現場指令:./demo.sh ch01。截圖為該章節實際執行輸出,非示意圖。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2。現場指令:./demo.sh ch03。截圖為該章節實際執行輸出,非示意圖。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3。現場指令:./demo.sh ch04。截圖為該章節實際執行輸出,非示意圖。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4。現場指令:./demo.sh ch07。截圖為該章節實際執行輸出,非示意圖。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5。現場指令:./demo.sh ch11。截圖為該章節實際執行輸出,非示意圖。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6。現場指令:./demo.sh ch12。截圖為該章節實際執行輸出,非示意圖。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7。現場指令:./demo.sh ch13。截圖為該章節實際執行輸出,非示意圖。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如實呈現:左邊是 demo 已實跑驗證的項目;右邊是尚未驗證或需在客戶環境確認的項目。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請客戶確認的八件事。第 3 項決定 legacy app 要不要 client 憑證;第 2 項決定憑證如何簽發與散佈;第 7 項:官方 ldap.retry.timeout.ms 預設 24 小時,LDAP 持續失敗超過這段時間授權器會被標為失敗,所以 AD 要有多台 DC;第 8 項:LDAPS 的 CA 要匯入 broker 的信任庫,若由中繼 CA 簽發且 AD 不附完整鏈,中繼 CA 也要匯入。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17.png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8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17.png"/><Relationship Id="rId6-created" Type="http://schemas.openxmlformats.org/officeDocument/2006/relationships/image" Target="../media/media16.png"/><Relationship Id="rId7-created" Type="http://schemas.openxmlformats.org/officeDocument/2006/relationships/image" Target="../media/media21.png"/><Relationship Id="rId8-created" Type="http://schemas.openxmlformats.org/officeDocument/2006/relationships/image" Target="../media/media22.png"/><Relationship Id="rId9-created" Type="http://schemas.openxmlformats.org/officeDocument/2006/relationships/image" Target="../media/media23.png"/><Relationship Id="rId10-created" Type="http://schemas.openxmlformats.org/officeDocument/2006/relationships/image" Target="../media/media24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5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6.png"/><Relationship Id="rId3-created" Type="http://schemas.openxmlformats.org/officeDocument/2006/relationships/image" Target="../media/media27.png"/><Relationship Id="rId4-created" Type="http://schemas.openxmlformats.org/officeDocument/2006/relationships/image" Target="../media/media10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9.png"/><Relationship Id="rId3-created" Type="http://schemas.openxmlformats.org/officeDocument/2006/relationships/image" Target="../media/media20.png"/><Relationship Id="rId4-created" Type="http://schemas.openxmlformats.org/officeDocument/2006/relationships/image" Target="../media/media21.png"/><Relationship Id="rId5-created" Type="http://schemas.openxmlformats.org/officeDocument/2006/relationships/image" Target="../media/media28.png"/><Relationship Id="rId6-created" Type="http://schemas.openxmlformats.org/officeDocument/2006/relationships/image" Target="../media/media29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9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19.png"/><Relationship Id="rId5-created" Type="http://schemas.openxmlformats.org/officeDocument/2006/relationships/image" Target="../media/media30.png"/><Relationship Id="rId6-created" Type="http://schemas.openxmlformats.org/officeDocument/2006/relationships/image" Target="../media/media31.png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0.png"/><Relationship Id="rId3-created" Type="http://schemas.openxmlformats.org/officeDocument/2006/relationships/image" Target="../media/media32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17.png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3.png"/><Relationship Id="rId3-created" Type="http://schemas.openxmlformats.org/officeDocument/2006/relationships/image" Target="../media/media17.png"/><Relationship Id="rId4-created" Type="http://schemas.openxmlformats.org/officeDocument/2006/relationships/image" Target="../media/media34.png"/><Relationship Id="rId5-created" Type="http://schemas.openxmlformats.org/officeDocument/2006/relationships/image" Target="../media/media11.png"/><Relationship Id="rId6-created" Type="http://schemas.openxmlformats.org/officeDocument/2006/relationships/image" Target="../media/media9.png"/><Relationship Id="rId7-created" Type="http://schemas.openxmlformats.org/officeDocument/2006/relationships/image" Target="../media/media35.png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6.png"/><Relationship Id="rId3-created" Type="http://schemas.openxmlformats.org/officeDocument/2006/relationships/image" Target="../media/media36.png"/><Relationship Id="rId4-created" Type="http://schemas.openxmlformats.org/officeDocument/2006/relationships/image" Target="../media/media37.png"/><Relationship Id="rId5-created" Type="http://schemas.openxmlformats.org/officeDocument/2006/relationships/image" Target="../media/media37.png"/><Relationship Id="rId6-created" Type="http://schemas.openxmlformats.org/officeDocument/2006/relationships/image" Target="../media/media36.png"/><Relationship Id="rId7-created" Type="http://schemas.openxmlformats.org/officeDocument/2006/relationships/image" Target="../media/media37.png"/><Relationship Id="rId8-created" Type="http://schemas.openxmlformats.org/officeDocument/2006/relationships/image" Target="../media/media37.png"/><Relationship Id="rId9-created" Type="http://schemas.openxmlformats.org/officeDocument/2006/relationships/image" Target="../media/media37.png"/><Relationship Id="rId10-created" Type="http://schemas.openxmlformats.org/officeDocument/2006/relationships/image" Target="../media/media37.png"/><Relationship Id="rId11-created" Type="http://schemas.openxmlformats.org/officeDocument/2006/relationships/image" Target="../media/media37.png"/><Relationship Id="rId12-created" Type="http://schemas.openxmlformats.org/officeDocument/2006/relationships/image" Target="../media/media36.png"/><Relationship Id="rId13-created" Type="http://schemas.openxmlformats.org/officeDocument/2006/relationships/image" Target="../media/media37.png"/><Relationship Id="rId14-created" Type="http://schemas.openxmlformats.org/officeDocument/2006/relationships/image" Target="../media/media37.png"/><Relationship Id="rId15-created" Type="http://schemas.openxmlformats.org/officeDocument/2006/relationships/image" Target="../media/media37.png"/><Relationship Id="rId16-created" Type="http://schemas.openxmlformats.org/officeDocument/2006/relationships/image" Target="../media/media37.png"/><Relationship Id="rId17-created" Type="http://schemas.openxmlformats.org/officeDocument/2006/relationships/image" Target="../media/media36.png"/><Relationship Id="rId18-created" Type="http://schemas.openxmlformats.org/officeDocument/2006/relationships/image" Target="../media/media36.png"/><Relationship Id="rId19-created" Type="http://schemas.openxmlformats.org/officeDocument/2006/relationships/image" Target="../media/media36.png"/><Relationship Id="rId20-created" Type="http://schemas.openxmlformats.org/officeDocument/2006/relationships/image" Target="../media/media36.png"/><Relationship Id="rId21-created" Type="http://schemas.openxmlformats.org/officeDocument/2006/relationships/image" Target="../media/media36.png"/><Relationship Id="rIdNotes1" Type="http://schemas.openxmlformats.org/officeDocument/2006/relationships/notesSlide" Target="../notesSlides/notesSlide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8.png"/><Relationship Id="rId3-created" Type="http://schemas.openxmlformats.org/officeDocument/2006/relationships/image" Target="../media/media35.png"/><Relationship Id="rId4-created" Type="http://schemas.openxmlformats.org/officeDocument/2006/relationships/image" Target="../media/media39.png"/><Relationship Id="rIdNotes1" Type="http://schemas.openxmlformats.org/officeDocument/2006/relationships/notesSlide" Target="../notesSlides/notesSlide15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7.png"/><Relationship Id="rId3-created" Type="http://schemas.openxmlformats.org/officeDocument/2006/relationships/image" Target="../media/media15.png"/><Relationship Id="rId4-created" Type="http://schemas.openxmlformats.org/officeDocument/2006/relationships/image" Target="../media/media40.png"/><Relationship Id="rId5-created" Type="http://schemas.openxmlformats.org/officeDocument/2006/relationships/image" Target="../media/media20.png"/><Relationship Id="rId6-created" Type="http://schemas.openxmlformats.org/officeDocument/2006/relationships/image" Target="../media/media17.png"/><Relationship Id="rId7-created" Type="http://schemas.openxmlformats.org/officeDocument/2006/relationships/image" Target="../media/media12.png"/><Relationship Id="rId8-created" Type="http://schemas.openxmlformats.org/officeDocument/2006/relationships/image" Target="../media/media21.png"/><Relationship Id="rId9-created" Type="http://schemas.openxmlformats.org/officeDocument/2006/relationships/image" Target="../media/media41.png"/><Relationship Id="rIdNotes1" Type="http://schemas.openxmlformats.org/officeDocument/2006/relationships/notesSlide" Target="../notesSlides/notesSlide16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Notes1" Type="http://schemas.openxmlformats.org/officeDocument/2006/relationships/notesSlide" Target="../notesSlides/notesSlide1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2.png"/><Relationship Id="rId3-created" Type="http://schemas.openxmlformats.org/officeDocument/2006/relationships/image" Target="../media/media42.png"/><Relationship Id="rId4-created" Type="http://schemas.openxmlformats.org/officeDocument/2006/relationships/image" Target="../media/media43.png"/><Relationship Id="rId5-created" Type="http://schemas.openxmlformats.org/officeDocument/2006/relationships/image" Target="../media/media35.png"/><Relationship Id="rId6-created" Type="http://schemas.openxmlformats.org/officeDocument/2006/relationships/image" Target="../media/media18.png"/><Relationship Id="rIdNotes1" Type="http://schemas.openxmlformats.org/officeDocument/2006/relationships/notesSlide" Target="../notesSlides/notesSlide1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3.png"/><Relationship Id="rId3-created" Type="http://schemas.openxmlformats.org/officeDocument/2006/relationships/image" Target="../media/media44.png"/><Relationship Id="rId4-created" Type="http://schemas.openxmlformats.org/officeDocument/2006/relationships/image" Target="../media/media35.png"/><Relationship Id="rIdNotes1" Type="http://schemas.openxmlformats.org/officeDocument/2006/relationships/notesSlide" Target="../notesSlides/notesSlide1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42.png"/><Relationship Id="rIdNotes1" Type="http://schemas.openxmlformats.org/officeDocument/2006/relationships/notesSlide" Target="../notesSlides/notesSlide2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2.png"/><Relationship Id="rId3-created" Type="http://schemas.openxmlformats.org/officeDocument/2006/relationships/image" Target="../media/media45.png"/><Relationship Id="rId4-created" Type="http://schemas.openxmlformats.org/officeDocument/2006/relationships/image" Target="../media/media40.png"/><Relationship Id="rIdNotes1" Type="http://schemas.openxmlformats.org/officeDocument/2006/relationships/notesSlide" Target="../notesSlides/notesSlide2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6.png"/><Relationship Id="rId3-created" Type="http://schemas.openxmlformats.org/officeDocument/2006/relationships/image" Target="../media/media12.png"/><Relationship Id="rId4-created" Type="http://schemas.openxmlformats.org/officeDocument/2006/relationships/image" Target="../media/media32.png"/><Relationship Id="rIdNotes1" Type="http://schemas.openxmlformats.org/officeDocument/2006/relationships/notesSlide" Target="../notesSlides/notesSlide2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6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47.png"/><Relationship Id="rId6-created" Type="http://schemas.openxmlformats.org/officeDocument/2006/relationships/image" Target="../media/media22.png"/><Relationship Id="rId7-created" Type="http://schemas.openxmlformats.org/officeDocument/2006/relationships/image" Target="../media/media48.png"/><Relationship Id="rIdNotes1" Type="http://schemas.openxmlformats.org/officeDocument/2006/relationships/notesSlide" Target="../notesSlides/notesSlide2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9.png"/><Relationship Id="rId3-created" Type="http://schemas.openxmlformats.org/officeDocument/2006/relationships/image" Target="../media/media50.png"/><Relationship Id="rId4-created" Type="http://schemas.openxmlformats.org/officeDocument/2006/relationships/image" Target="../media/media51.png"/><Relationship Id="rId5-created" Type="http://schemas.openxmlformats.org/officeDocument/2006/relationships/image" Target="../media/media52.png"/><Relationship Id="rId6-created" Type="http://schemas.openxmlformats.org/officeDocument/2006/relationships/image" Target="../media/media53.png"/><Relationship Id="rId7-created" Type="http://schemas.openxmlformats.org/officeDocument/2006/relationships/image" Target="../media/media54.png"/><Relationship Id="rIdNotes1" Type="http://schemas.openxmlformats.org/officeDocument/2006/relationships/notesSlide" Target="../notesSlides/notesSlide2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5.png"/><Relationship Id="rId3-created" Type="http://schemas.openxmlformats.org/officeDocument/2006/relationships/image" Target="../media/media56.png"/><Relationship Id="rId4-created" Type="http://schemas.openxmlformats.org/officeDocument/2006/relationships/image" Target="../media/media57.png"/><Relationship Id="rIdNotes1" Type="http://schemas.openxmlformats.org/officeDocument/2006/relationships/notesSlide" Target="../notesSlides/notesSlide27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8.png"/><Relationship Id="rIdNotes1" Type="http://schemas.openxmlformats.org/officeDocument/2006/relationships/notesSlide" Target="../notesSlides/notesSlide29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9.png"/><Relationship Id="rIdNotes1" Type="http://schemas.openxmlformats.org/officeDocument/2006/relationships/notesSlide" Target="../notesSlides/notesSlide30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0.png"/><Relationship Id="rIdNotes1" Type="http://schemas.openxmlformats.org/officeDocument/2006/relationships/notesSlide" Target="../notesSlides/notesSlide3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1.png"/><Relationship Id="rIdNotes1" Type="http://schemas.openxmlformats.org/officeDocument/2006/relationships/notesSlide" Target="../notesSlides/notesSlide32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2.png"/><Relationship Id="rIdNotes1" Type="http://schemas.openxmlformats.org/officeDocument/2006/relationships/notesSlide" Target="../notesSlides/notesSlide33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3.png"/><Relationship Id="rIdNotes1" Type="http://schemas.openxmlformats.org/officeDocument/2006/relationships/notesSlide" Target="../notesSlides/notesSlide34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4.png"/><Relationship Id="rIdNotes1" Type="http://schemas.openxmlformats.org/officeDocument/2006/relationships/notesSlide" Target="../notesSlides/notesSlide35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6.png"/><Relationship Id="rId3-created" Type="http://schemas.openxmlformats.org/officeDocument/2006/relationships/image" Target="../media/media65.png"/><Relationship Id="rIdNotes1" Type="http://schemas.openxmlformats.org/officeDocument/2006/relationships/notesSlide" Target="../notesSlides/notesSlide36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6.png"/><Relationship Id="rId3-created" Type="http://schemas.openxmlformats.org/officeDocument/2006/relationships/image" Target="../media/media67.png"/><Relationship Id="rId4-created" Type="http://schemas.openxmlformats.org/officeDocument/2006/relationships/image" Target="../media/media12.png"/><Relationship Id="rId5-created" Type="http://schemas.openxmlformats.org/officeDocument/2006/relationships/image" Target="../media/media68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69.png"/><Relationship Id="rId8-created" Type="http://schemas.openxmlformats.org/officeDocument/2006/relationships/image" Target="../media/media20.png"/><Relationship Id="rId9-created" Type="http://schemas.openxmlformats.org/officeDocument/2006/relationships/image" Target="../media/media70.png"/><Relationship Id="rIdNotes1" Type="http://schemas.openxmlformats.org/officeDocument/2006/relationships/notesSlide" Target="../notesSlides/notesSlide37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71.png"/><Relationship Id="rId3-created" Type="http://schemas.openxmlformats.org/officeDocument/2006/relationships/image" Target="../media/media72.png"/><Relationship Id="rId4-created" Type="http://schemas.openxmlformats.org/officeDocument/2006/relationships/image" Target="../media/media11.pn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依客戶前提設計:AD 僅有 user / group</a:t>
            </a:r>
          </a:p>
        </p:txBody>
      </p:sp>
      <p:sp>
        <p:nvSpPr>
          <p:cNvPr id="2" name="ab5506a3-c60e-4943-a509-07358ad5635e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客戶前提與設計原則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先把限制說清楚,方案才站得住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六個前提決定了方案的形狀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5f121fe-321d-493a-8ca0-e38c450da633"/>
          <p:cNvSpPr/>
          <p:nvPr/>
        </p:nvSpPr>
        <p:spPr>
          <a:xfrm>
            <a:off x="548640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20d4f163-a441-437d-858e-a87d1594cd32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de7929c9-5586-4f5b-a3e6-b65757ac80d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ea910a27-dbe8-450b-ba3e-775552e8c36d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只有人與群組</a:t>
            </a:r>
            <a:endParaRPr lang="en-US" sz="1700" dirty="0"/>
          </a:p>
        </p:txBody>
      </p:sp>
      <p:sp>
        <p:nvSpPr>
          <p:cNvPr id="6" name="8a7a6ea4-30cb-4c50-ac77-093eda02ed7c"/>
          <p:cNvSpPr/>
          <p:nvPr/>
        </p:nvSpPr>
        <p:spPr>
          <a:xfrm>
            <a:off x="640080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沒有服務帳號</a:t>
            </a:r>
            <a:endParaRPr lang="en-US" sz="1300" dirty="0"/>
          </a:p>
        </p:txBody>
      </p:sp>
      <p:sp>
        <p:nvSpPr>
          <p:cNvPr id="7" name="d821b9eb-f199-4235-ad96-48f13f3fe794"/>
          <p:cNvSpPr/>
          <p:nvPr/>
        </p:nvSpPr>
        <p:spPr>
          <a:xfrm>
            <a:off x="4325112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2cafa1dd-e79f-43a8-9340-9874253c40bc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88dbb7e8-f0aa-4d84-a7b4-2c2713b491c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bcd1767b-eb3e-4eed-990a-679759714558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PK + 憑證</a:t>
            </a:r>
            <a:endParaRPr lang="en-US" sz="1700" dirty="0"/>
          </a:p>
        </p:txBody>
      </p:sp>
      <p:sp>
        <p:nvSpPr>
          <p:cNvPr id="11" name="049927de-58d7-4230-bdea-630be6538ee9"/>
          <p:cNvSpPr/>
          <p:nvPr/>
        </p:nvSpPr>
        <p:spPr>
          <a:xfrm>
            <a:off x="4416552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希望憑證管理最小化</a:t>
            </a:r>
            <a:endParaRPr lang="en-US" sz="1300" dirty="0"/>
          </a:p>
        </p:txBody>
      </p:sp>
      <p:sp>
        <p:nvSpPr>
          <p:cNvPr id="12" name="d15d75b3-e623-4dd7-b063-ddb057b043ff"/>
          <p:cNvSpPr/>
          <p:nvPr/>
        </p:nvSpPr>
        <p:spPr>
          <a:xfrm>
            <a:off x="8101584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3" name="030893ed-4139-4bb1-900f-9ddbb530974a"/>
          <p:cNvSpPr/>
          <p:nvPr/>
        </p:nvSpPr>
        <p:spPr>
          <a:xfrm>
            <a:off x="9587484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4" name="0a24b66d-ddf4-45b9-950f-bf8be88701d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66751"/>
            <a:ext cx="307238" cy="307238"/>
          </a:xfrm>
          <a:prstGeom prst="rect">
            <a:avLst/>
          </a:prstGeom>
        </p:spPr>
      </p:pic>
      <p:sp>
        <p:nvSpPr>
          <p:cNvPr id="15" name="40907712-4605-45bb-ba59-267568c99a20"/>
          <p:cNvSpPr/>
          <p:nvPr/>
        </p:nvSpPr>
        <p:spPr>
          <a:xfrm>
            <a:off x="8174736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 VM · 手動安裝</a:t>
            </a:r>
            <a:endParaRPr lang="en-US" sz="1700" dirty="0"/>
          </a:p>
        </p:txBody>
      </p:sp>
      <p:sp>
        <p:nvSpPr>
          <p:cNvPr id="16" name="fbdd9010-c68d-4c99-a883-e0cc570ec4a4"/>
          <p:cNvSpPr/>
          <p:nvPr/>
        </p:nvSpPr>
        <p:spPr>
          <a:xfrm>
            <a:off x="8193024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目前沒有 Ansible</a:t>
            </a:r>
            <a:endParaRPr lang="en-US" sz="1300" dirty="0"/>
          </a:p>
        </p:txBody>
      </p:sp>
      <p:sp>
        <p:nvSpPr>
          <p:cNvPr id="17" name="b4e6d607-9a99-43b7-b5fa-787988136c8d"/>
          <p:cNvSpPr/>
          <p:nvPr/>
        </p:nvSpPr>
        <p:spPr>
          <a:xfrm>
            <a:off x="548640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9d514a98-60b2-474f-9b89-c2afe19a7712"/>
          <p:cNvSpPr/>
          <p:nvPr/>
        </p:nvSpPr>
        <p:spPr>
          <a:xfrm>
            <a:off x="2034540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9" name="31ccb755-6f23-426c-9e8f-b8c3cbe48cf5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4257694"/>
            <a:ext cx="307238" cy="307238"/>
          </a:xfrm>
          <a:prstGeom prst="rect">
            <a:avLst/>
          </a:prstGeom>
        </p:spPr>
      </p:pic>
      <p:sp>
        <p:nvSpPr>
          <p:cNvPr id="20" name="bda571a3-b2aa-4be7-8efe-93a5a218f6f7"/>
          <p:cNvSpPr/>
          <p:nvPr/>
        </p:nvSpPr>
        <p:spPr>
          <a:xfrm>
            <a:off x="621792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只能 HTTP</a:t>
            </a:r>
            <a:endParaRPr lang="en-US" sz="1700" dirty="0"/>
          </a:p>
        </p:txBody>
      </p:sp>
      <p:sp>
        <p:nvSpPr>
          <p:cNvPr id="21" name="b5728a5c-69c8-4a1a-8e9d-6c598cd6b394"/>
          <p:cNvSpPr/>
          <p:nvPr/>
        </p:nvSpPr>
        <p:spPr>
          <a:xfrm>
            <a:off x="640080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不能用 Kafka client</a:t>
            </a:r>
            <a:endParaRPr lang="en-US" sz="1300" dirty="0"/>
          </a:p>
        </p:txBody>
      </p:sp>
      <p:sp>
        <p:nvSpPr>
          <p:cNvPr id="22" name="8ffb83c6-2c6f-40bf-ad32-7645970a361d"/>
          <p:cNvSpPr/>
          <p:nvPr/>
        </p:nvSpPr>
        <p:spPr>
          <a:xfrm>
            <a:off x="4325112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16a226d2-aa75-4f65-a176-68e677e39ad7"/>
          <p:cNvSpPr/>
          <p:nvPr/>
        </p:nvSpPr>
        <p:spPr>
          <a:xfrm>
            <a:off x="5811012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4" name="1b1d7de6-53ec-4272-8850-14761748c18a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4257694"/>
            <a:ext cx="307238" cy="307238"/>
          </a:xfrm>
          <a:prstGeom prst="rect">
            <a:avLst/>
          </a:prstGeom>
        </p:spPr>
      </p:pic>
      <p:sp>
        <p:nvSpPr>
          <p:cNvPr id="25" name="255a3190-b00a-4f11-879f-ca463a82554d"/>
          <p:cNvSpPr/>
          <p:nvPr/>
        </p:nvSpPr>
        <p:spPr>
          <a:xfrm>
            <a:off x="4398264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AD 群組 + RBAC 分層授權</a:t>
            </a:r>
            <a:endParaRPr lang="en-US" sz="1700" dirty="0"/>
          </a:p>
        </p:txBody>
      </p:sp>
      <p:sp>
        <p:nvSpPr>
          <p:cNvPr id="26" name="90876c40-7285-4a19-9c1e-d89e709b04ba"/>
          <p:cNvSpPr/>
          <p:nvPr/>
        </p:nvSpPr>
        <p:spPr>
          <a:xfrm>
            <a:off x="4416552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不同職責,不同權限</a:t>
            </a:r>
            <a:endParaRPr lang="en-US" sz="1300" dirty="0"/>
          </a:p>
        </p:txBody>
      </p:sp>
      <p:sp>
        <p:nvSpPr>
          <p:cNvPr id="27" name="6ab1a073-526e-4ad3-8a2f-8bcec9b3dd2c"/>
          <p:cNvSpPr/>
          <p:nvPr/>
        </p:nvSpPr>
        <p:spPr>
          <a:xfrm>
            <a:off x="8101584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78fff9e9-75c5-4c40-8d67-979fd4f33229"/>
          <p:cNvSpPr/>
          <p:nvPr/>
        </p:nvSpPr>
        <p:spPr>
          <a:xfrm>
            <a:off x="9587484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784a803e-6e93-4584-a5a9-9b7cea706e97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4257694"/>
            <a:ext cx="307238" cy="307238"/>
          </a:xfrm>
          <a:prstGeom prst="rect">
            <a:avLst/>
          </a:prstGeom>
        </p:spPr>
      </p:pic>
      <p:sp>
        <p:nvSpPr>
          <p:cNvPr id="30" name="a490fd3e-006d-429d-b98b-e2d81d15552f"/>
          <p:cNvSpPr/>
          <p:nvPr/>
        </p:nvSpPr>
        <p:spPr>
          <a:xfrm>
            <a:off x="8174736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</a:t>
            </a:r>
            <a:endParaRPr lang="en-US" sz="1700" dirty="0"/>
          </a:p>
        </p:txBody>
      </p:sp>
      <p:sp>
        <p:nvSpPr>
          <p:cNvPr id="31" name="db3b610a-ee9d-4505-8b3c-55b060843740"/>
          <p:cNvSpPr/>
          <p:nvPr/>
        </p:nvSpPr>
        <p:spPr>
          <a:xfrm>
            <a:off x="8193024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· REST Proxy · C3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設計原則:兩個身分平面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人走 AD,機器走 Kafka 內的服務帳號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833556c-0c9f-4768-8207-8a5477ddc658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3c19e7a9-84e7-4057-a567-bf4cc7e1b85b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22e6ae6c-73e7-4353-a8cd-0585778b40e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a7112d73-2a3d-4f61-9927-490844ab8209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ab7b05f2-8333-4c87-b2c3-54d29bc14865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16784a9e-6c14-4c05-9ad9-af1284f65e93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c111d765-6cfe-431d-9354-324ab0d089e6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64af9bbf-c12d-4845-b16a-b4188018c3bc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9cde2a19-fe59-4a51-872c-2602fe6b16d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625e3a3b-07ed-432e-98fc-278d14f3b4fd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c49f62a9-340f-41db-8450-53263fe8f2e6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e81d97a9-5318-449d-ad14-24b216dff1d3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fa40b675-92fe-47c2-9e9a-0e33b397e073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77250606-bf82-4fa4-9afd-1cbf8f5c30ae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91a3751f-e1c3-4be7-9923-e9c9ab1e71c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1aecb676-6f77-4d58-9511-b028a0649631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b6e2d947-b4c8-411b-972d-466837421c70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集中授權</a:t>
            </a:r>
            <a:endParaRPr lang="en-US" sz="1100" dirty="0"/>
          </a:p>
        </p:txBody>
      </p:sp>
      <p:sp>
        <p:nvSpPr>
          <p:cNvPr id="19" name="465ad844-fd82-4e59-b2e4-17d428367d03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774c7db1-5fd6-4465-a632-3ad7eec59261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55acfec1-d181-46d4-be6d-0da9aec55475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1349c08d-c735-4fc7-b87c-eba5ab37fb21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方案總覽:逐一介紹每個組件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每個組件各用什麼方式認證與授權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c9936fc-3675-480b-85fd-442f03add894"/>
          <p:cNvSpPr/>
          <p:nvPr/>
        </p:nvSpPr>
        <p:spPr>
          <a:xfrm>
            <a:off x="548640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0ffe9b2e-3333-4b2f-bae4-23e9d83c1c30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af850146-30a6-49fc-851a-32c8db92943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61d739a6-b160-474e-a598-a6001c23dc45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與憑證</a:t>
            </a:r>
            <a:endParaRPr lang="en-US" sz="1500" dirty="0"/>
          </a:p>
        </p:txBody>
      </p:sp>
      <p:sp>
        <p:nvSpPr>
          <p:cNvPr id="6" name="6ecb637b-eef0-4f8c-a540-c4ee74307b9c"/>
          <p:cNvSpPr/>
          <p:nvPr/>
        </p:nvSpPr>
        <p:spPr>
          <a:xfrm>
            <a:off x="640080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server 憑證</a:t>
            </a:r>
            <a:endParaRPr lang="en-US" sz="1200" dirty="0"/>
          </a:p>
        </p:txBody>
      </p:sp>
      <p:sp>
        <p:nvSpPr>
          <p:cNvPr id="7" name="bfb856eb-d42b-4fe4-92a0-6070f3c4d402"/>
          <p:cNvSpPr/>
          <p:nvPr/>
        </p:nvSpPr>
        <p:spPr>
          <a:xfrm>
            <a:off x="4325112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688b66d8-bb02-44f3-843b-b7e05aa998c6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e1da8dc9-8c39-4988-9631-54a4d62afdb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d76cce88-bd3a-4045-bef4-ac631a39239e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1" name="d657efa3-b7d4-436d-bf18-f86844c9dc4d"/>
          <p:cNvSpPr/>
          <p:nvPr/>
        </p:nvSpPr>
        <p:spPr>
          <a:xfrm>
            <a:off x="4416552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 · 內部帳號</a:t>
            </a:r>
            <a:endParaRPr lang="en-US" sz="1200" dirty="0"/>
          </a:p>
        </p:txBody>
      </p:sp>
      <p:sp>
        <p:nvSpPr>
          <p:cNvPr id="12" name="d727be9d-de98-43b0-9d30-b723642c856b"/>
          <p:cNvSpPr/>
          <p:nvPr/>
        </p:nvSpPr>
        <p:spPr>
          <a:xfrm>
            <a:off x="8101584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92b6d7cc-a249-46fb-bd25-9f0301f2e337"/>
          <p:cNvSpPr/>
          <p:nvPr/>
        </p:nvSpPr>
        <p:spPr>
          <a:xfrm>
            <a:off x="958748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a244fb5f-da37-4711-a8a5-645f190e3f4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24326"/>
            <a:ext cx="307238" cy="307238"/>
          </a:xfrm>
          <a:prstGeom prst="rect">
            <a:avLst/>
          </a:prstGeom>
        </p:spPr>
      </p:pic>
      <p:sp>
        <p:nvSpPr>
          <p:cNvPr id="15" name="abd17f6a-b843-48df-b9aa-a3d718ae3ee1"/>
          <p:cNvSpPr/>
          <p:nvPr/>
        </p:nvSpPr>
        <p:spPr>
          <a:xfrm>
            <a:off x="8174736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16" name="d0427983-dd9f-4e23-8e21-0ef75decc801"/>
          <p:cNvSpPr/>
          <p:nvPr/>
        </p:nvSpPr>
        <p:spPr>
          <a:xfrm>
            <a:off x="8193024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PLAIN+LDAP · SCRAM · token</a:t>
            </a:r>
            <a:endParaRPr lang="en-US" sz="1200" dirty="0"/>
          </a:p>
        </p:txBody>
      </p:sp>
      <p:sp>
        <p:nvSpPr>
          <p:cNvPr id="17" name="33a40154-2a5c-4675-a715-03f20e47d4d5"/>
          <p:cNvSpPr/>
          <p:nvPr/>
        </p:nvSpPr>
        <p:spPr>
          <a:xfrm>
            <a:off x="548640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8" name="9c91c0bd-275a-40c8-a937-5e2583e467f6"/>
          <p:cNvSpPr/>
          <p:nvPr/>
        </p:nvSpPr>
        <p:spPr>
          <a:xfrm>
            <a:off x="2034540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9" name="79db0f49-85f2-4551-bf0e-235850d39a9b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3494046"/>
            <a:ext cx="307238" cy="307238"/>
          </a:xfrm>
          <a:prstGeom prst="rect">
            <a:avLst/>
          </a:prstGeom>
        </p:spPr>
      </p:pic>
      <p:sp>
        <p:nvSpPr>
          <p:cNvPr id="20" name="a41ff7de-39fc-43b5-a4d6-cd812554a0bc"/>
          <p:cNvSpPr/>
          <p:nvPr/>
        </p:nvSpPr>
        <p:spPr>
          <a:xfrm>
            <a:off x="621792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21" name="28da3361-f55b-4edc-b09e-392415fd02cc"/>
          <p:cNvSpPr/>
          <p:nvPr/>
        </p:nvSpPr>
        <p:spPr>
          <a:xfrm>
            <a:off x="640080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 → role</a:t>
            </a:r>
            <a:endParaRPr lang="en-US" sz="1200" dirty="0"/>
          </a:p>
        </p:txBody>
      </p:sp>
      <p:sp>
        <p:nvSpPr>
          <p:cNvPr id="22" name="b2bf0dbb-f6ce-43c4-b85d-c178606b3cff"/>
          <p:cNvSpPr/>
          <p:nvPr/>
        </p:nvSpPr>
        <p:spPr>
          <a:xfrm>
            <a:off x="4325112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3" name="3d51edaf-2d30-4de4-8e16-56543be0fa85"/>
          <p:cNvSpPr/>
          <p:nvPr/>
        </p:nvSpPr>
        <p:spPr>
          <a:xfrm>
            <a:off x="5811012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4" name="7ff99e8f-7bda-4500-aa77-4b391c7ffb61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3494046"/>
            <a:ext cx="307238" cy="307238"/>
          </a:xfrm>
          <a:prstGeom prst="rect">
            <a:avLst/>
          </a:prstGeom>
        </p:spPr>
      </p:pic>
      <p:sp>
        <p:nvSpPr>
          <p:cNvPr id="25" name="e566555f-cff0-48a4-ace3-53d8405e42c4"/>
          <p:cNvSpPr/>
          <p:nvPr/>
        </p:nvSpPr>
        <p:spPr>
          <a:xfrm>
            <a:off x="4398264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500" dirty="0"/>
          </a:p>
        </p:txBody>
      </p:sp>
      <p:sp>
        <p:nvSpPr>
          <p:cNvPr id="26" name="1d7ef41c-a539-4e95-82f8-df32abdde273"/>
          <p:cNvSpPr/>
          <p:nvPr/>
        </p:nvSpPr>
        <p:spPr>
          <a:xfrm>
            <a:off x="4416552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+ 最小權限</a:t>
            </a:r>
            <a:endParaRPr lang="en-US" sz="1200" dirty="0"/>
          </a:p>
        </p:txBody>
      </p:sp>
      <p:sp>
        <p:nvSpPr>
          <p:cNvPr id="27" name="c5436337-3889-4a49-97ac-3af294302835"/>
          <p:cNvSpPr/>
          <p:nvPr/>
        </p:nvSpPr>
        <p:spPr>
          <a:xfrm>
            <a:off x="8101584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d85932e5-a17c-4e2c-8354-7a356806e2e2"/>
          <p:cNvSpPr/>
          <p:nvPr/>
        </p:nvSpPr>
        <p:spPr>
          <a:xfrm>
            <a:off x="9587484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a8eea0ed-3000-424f-99f1-32398c3deb21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3494046"/>
            <a:ext cx="307238" cy="307238"/>
          </a:xfrm>
          <a:prstGeom prst="rect">
            <a:avLst/>
          </a:prstGeom>
        </p:spPr>
      </p:pic>
      <p:sp>
        <p:nvSpPr>
          <p:cNvPr id="30" name="da7175cc-e21e-45a7-9eb1-6b67ec2dcd06"/>
          <p:cNvSpPr/>
          <p:nvPr/>
        </p:nvSpPr>
        <p:spPr>
          <a:xfrm>
            <a:off x="8174736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31" name="eee846c9-5ba4-4bee-a56f-667c3df4b90d"/>
          <p:cNvSpPr/>
          <p:nvPr/>
        </p:nvSpPr>
        <p:spPr>
          <a:xfrm>
            <a:off x="8193024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Basic · 機器憑證</a:t>
            </a:r>
            <a:endParaRPr lang="en-US" sz="1200" dirty="0"/>
          </a:p>
        </p:txBody>
      </p:sp>
      <p:sp>
        <p:nvSpPr>
          <p:cNvPr id="32" name="617e677b-f55d-4ff4-a8f7-e4f8b686912e"/>
          <p:cNvSpPr/>
          <p:nvPr/>
        </p:nvSpPr>
        <p:spPr>
          <a:xfrm>
            <a:off x="548640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3" name="9579616d-98d2-463a-8a2e-047d08d8654c"/>
          <p:cNvSpPr/>
          <p:nvPr/>
        </p:nvSpPr>
        <p:spPr>
          <a:xfrm>
            <a:off x="2034540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4" name="4f13ab99-3eb9-41d1-8eea-c04943b1748f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2155241" y="5063766"/>
            <a:ext cx="307238" cy="307238"/>
          </a:xfrm>
          <a:prstGeom prst="rect">
            <a:avLst/>
          </a:prstGeom>
        </p:spPr>
      </p:pic>
      <p:sp>
        <p:nvSpPr>
          <p:cNvPr id="35" name="dc65c27e-3ed0-4c6f-9417-647f11c8bec4"/>
          <p:cNvSpPr/>
          <p:nvPr/>
        </p:nvSpPr>
        <p:spPr>
          <a:xfrm>
            <a:off x="621792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500" dirty="0"/>
          </a:p>
        </p:txBody>
      </p:sp>
      <p:sp>
        <p:nvSpPr>
          <p:cNvPr id="36" name="65e7f05a-1fc7-4e30-bb66-6dbcdd208b01"/>
          <p:cNvSpPr/>
          <p:nvPr/>
        </p:nvSpPr>
        <p:spPr>
          <a:xfrm>
            <a:off x="640080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人用本人身分</a:t>
            </a:r>
            <a:endParaRPr lang="en-US" sz="1200" dirty="0"/>
          </a:p>
        </p:txBody>
      </p:sp>
      <p:sp>
        <p:nvSpPr>
          <p:cNvPr id="37" name="0680769c-6e6c-4873-b058-001309ec419e"/>
          <p:cNvSpPr/>
          <p:nvPr/>
        </p:nvSpPr>
        <p:spPr>
          <a:xfrm>
            <a:off x="4325112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8" name="1e0f40d4-0dd2-4f0e-9f50-bbb0a5cbb55e"/>
          <p:cNvSpPr/>
          <p:nvPr/>
        </p:nvSpPr>
        <p:spPr>
          <a:xfrm>
            <a:off x="5811012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9" name="bc99c06a-a03f-4e62-89db-d0eea9ae8d8d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5931713" y="5063766"/>
            <a:ext cx="307238" cy="307238"/>
          </a:xfrm>
          <a:prstGeom prst="rect">
            <a:avLst/>
          </a:prstGeom>
        </p:spPr>
      </p:pic>
      <p:sp>
        <p:nvSpPr>
          <p:cNvPr id="40" name="6e71eda2-d84f-4a54-9b61-186ea2c3ab40"/>
          <p:cNvSpPr/>
          <p:nvPr/>
        </p:nvSpPr>
        <p:spPr>
          <a:xfrm>
            <a:off x="4398264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1" name="494489ce-d842-4da1-ae72-3f9ed9023528"/>
          <p:cNvSpPr/>
          <p:nvPr/>
        </p:nvSpPr>
        <p:spPr>
          <a:xfrm>
            <a:off x="4416552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誰被拒、誰改授權</a:t>
            </a:r>
            <a:endParaRPr lang="en-US" sz="1200" dirty="0"/>
          </a:p>
        </p:txBody>
      </p:sp>
      <p:sp>
        <p:nvSpPr>
          <p:cNvPr id="42" name="339a0928-b2ff-43e2-8203-c0bbff894a43"/>
          <p:cNvSpPr/>
          <p:nvPr/>
        </p:nvSpPr>
        <p:spPr>
          <a:xfrm>
            <a:off x="8101584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3" name="edbb672c-14e2-4ff5-a932-811230e1461f"/>
          <p:cNvSpPr/>
          <p:nvPr/>
        </p:nvSpPr>
        <p:spPr>
          <a:xfrm>
            <a:off x="9587484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4" name="ade36d94-c2db-4b85-8029-f1ff2f59d7f2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9708185" y="5063766"/>
            <a:ext cx="307238" cy="307238"/>
          </a:xfrm>
          <a:prstGeom prst="rect">
            <a:avLst/>
          </a:prstGeom>
        </p:spPr>
      </p:pic>
      <p:sp>
        <p:nvSpPr>
          <p:cNvPr id="45" name="84e1fc04-245b-4efc-a9d9-646de57c9b9d"/>
          <p:cNvSpPr/>
          <p:nvPr/>
        </p:nvSpPr>
        <p:spPr>
          <a:xfrm>
            <a:off x="8174736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整合與導入</a:t>
            </a:r>
            <a:endParaRPr lang="en-US" sz="1500" dirty="0"/>
          </a:p>
        </p:txBody>
      </p:sp>
      <p:sp>
        <p:nvSpPr>
          <p:cNvPr id="46" name="8aa368d5-eb47-4221-97ce-f39976683186"/>
          <p:cNvSpPr/>
          <p:nvPr/>
        </p:nvSpPr>
        <p:spPr>
          <a:xfrm>
            <a:off x="8193024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全景 · 步驟 · 風險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逐一介紹組件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每個組件:角色 · 怎麼認證 · 怎麼授權 · 要注意什麼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TLS 與憑證:共用 1 組,只做加密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共用 server 憑證只加密;平台元件的 client 憑證用來換 token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78aab85-2cf2-4fd7-a83b-60d9f0bf94e2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af9867aa-b3c5-45e6-aa7b-f30eb6fcfeb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520074ac-eea9-40c3-9639-2c0cefb13a1f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f9a615ee-b69e-4491-92e6-99eeff0535a3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e1ec1b05-ee35-4122-ae5b-40275de07b16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97724daf-a2f8-4a79-befa-2550f907e871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b17b298c-07f6-4af2-90cd-844625a4dc13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266ee412-8d9c-4949-bb62-7b8520b99d46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6a55d22b-82bb-4339-bf3f-31584ab90391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a0a084a8-4f6c-4d98-93de-b10c90af5e5a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967191f2-1623-4d14-9dc0-4311841511a7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76d146ce-75d8-4edf-bdf3-bcd3ff4e6ba2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130aaf9a-a6e6-4a7a-bf18-84e7f2a053f4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c733b713-2442-46d4-b3a1-601e44648596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0ae6e27b-57ee-43d1-87bd-a15893c2b05e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b8567d57-3642-4e00-83b5-58910781ea3d"/>
          <p:cNvSpPr/>
          <p:nvPr/>
        </p:nvSpPr>
        <p:spPr>
          <a:xfrm>
            <a:off x="548640" y="4230542"/>
            <a:ext cx="5486400" cy="135759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1fdf9462-0dbd-4425-916e-8e43df9f0e3c"/>
          <p:cNvSpPr/>
          <p:nvPr/>
        </p:nvSpPr>
        <p:spPr>
          <a:xfrm>
            <a:off x="731520" y="4315391"/>
            <a:ext cx="512064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端</a:t>
            </a:r>
            <a:endParaRPr lang="en-US" sz="1500" dirty="0"/>
          </a:p>
        </p:txBody>
      </p:sp>
      <p:sp>
        <p:nvSpPr>
          <p:cNvPr id="19" name="c16f0583-05db-4dfc-8964-cdb1d3416795"/>
          <p:cNvSpPr/>
          <p:nvPr/>
        </p:nvSpPr>
        <p:spPr>
          <a:xfrm>
            <a:off x="731520" y="4697215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只需 truststore(匯入 CA root)</a:t>
            </a:r>
            <a:endParaRPr lang="en-US" sz="1200" dirty="0"/>
          </a:p>
        </p:txBody>
      </p:sp>
      <p:sp>
        <p:nvSpPr>
          <p:cNvPr id="20" name="7f24f21b-9798-4e45-90dd-a36c499b27a7"/>
          <p:cNvSpPr/>
          <p:nvPr/>
        </p:nvSpPr>
        <p:spPr>
          <a:xfrm>
            <a:off x="731520" y="5121464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 / MDS:另匯入 AD 的 LDAPS CA root</a:t>
            </a:r>
            <a:endParaRPr lang="en-US" sz="1200" dirty="0"/>
          </a:p>
        </p:txBody>
      </p:sp>
      <p:sp>
        <p:nvSpPr>
          <p:cNvPr id="21" name="2c7f9711-3f6f-4f02-b3f1-a9dc92e7331e"/>
          <p:cNvSpPr/>
          <p:nvPr/>
        </p:nvSpPr>
        <p:spPr>
          <a:xfrm>
            <a:off x="6400800" y="1685050"/>
            <a:ext cx="5239512" cy="2375792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2" name="c49c8e2e-4fe8-4642-8806-7f9a5c439e18"/>
          <p:cNvSpPr/>
          <p:nvPr/>
        </p:nvSpPr>
        <p:spPr>
          <a:xfrm>
            <a:off x="6583680" y="1769899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平台元件用 client 憑證向 MDS 證明身分</a:t>
            </a:r>
            <a:endParaRPr lang="en-US" sz="1500" dirty="0"/>
          </a:p>
        </p:txBody>
      </p:sp>
      <p:sp>
        <p:nvSpPr>
          <p:cNvPr id="23" name="f5aeb028-edfe-45ef-a861-d28235be3a8f"/>
          <p:cNvSpPr/>
          <p:nvPr/>
        </p:nvSpPr>
        <p:spPr>
          <a:xfrm>
            <a:off x="6583680" y="2236573"/>
            <a:ext cx="1371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24" name="1a4dd299-fa13-4f06-b011-ef9b371a297d"/>
          <p:cNvSpPr/>
          <p:nvPr/>
        </p:nvSpPr>
        <p:spPr>
          <a:xfrm>
            <a:off x="8046720" y="2236573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</a:t>
            </a:r>
            <a:endParaRPr lang="en-US" sz="1200" dirty="0"/>
          </a:p>
        </p:txBody>
      </p:sp>
      <p:sp>
        <p:nvSpPr>
          <p:cNvPr id="25" name="7783bdc8-6ee2-49c5-82f3-8d630dd8e1e0"/>
          <p:cNvSpPr/>
          <p:nvPr/>
        </p:nvSpPr>
        <p:spPr>
          <a:xfrm>
            <a:off x="9692640" y="2236573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26" name="f10bcbe8-5079-46bb-983f-dc6073031235"/>
          <p:cNvSpPr/>
          <p:nvPr/>
        </p:nvSpPr>
        <p:spPr>
          <a:xfrm>
            <a:off x="6583680" y="2686277"/>
            <a:ext cx="493776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每個經 REST Proxy 的 legacy app 各 1 張(由 REST Proxy 辨識後代為申請 token)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人的路徑不用:人走 AD 帳密。RBAC 下 C3 連 broker 只能 OAUTHBEARER,所以先以憑證向 MDS 換 token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綁 RBAC 的是 CN:換憑證只要 CN 不變,不用重綁權限</a:t>
            </a:r>
            <a:endParaRPr lang="en-US" sz="1150" dirty="0"/>
          </a:p>
        </p:txBody>
      </p:sp>
      <p:sp>
        <p:nvSpPr>
          <p:cNvPr id="27" name="6ea81e9e-b2ad-4657-bd8f-5cc2c8d892aa"/>
          <p:cNvSpPr/>
          <p:nvPr/>
        </p:nvSpPr>
        <p:spPr>
          <a:xfrm>
            <a:off x="6400800" y="4145692"/>
            <a:ext cx="5239512" cy="1527295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8" name="6c9aba0f-4705-43e4-8c37-deb0cc53a698"/>
          <p:cNvSpPr/>
          <p:nvPr/>
        </p:nvSpPr>
        <p:spPr>
          <a:xfrm>
            <a:off x="6583680" y="4213572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要請客戶簽認</a:t>
            </a:r>
            <a:endParaRPr lang="en-US" sz="1500" dirty="0"/>
          </a:p>
        </p:txBody>
      </p:sp>
      <p:sp>
        <p:nvSpPr>
          <p:cNvPr id="29" name="75284ecc-1580-4f52-9a8d-251efff53d99"/>
          <p:cNvSpPr/>
          <p:nvPr/>
        </p:nvSpPr>
        <p:spPr>
          <a:xfrm>
            <a:off x="6583680" y="4569941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私鑰外洩 = 可偽裝伺服器;共用憑證對應的身分(CN)永遠不綁任何 role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只換 server 憑證(CA 不變):逐台換 keystore,truststore 不動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CA 換金鑰:truststore 先新舊並存 → 重簽 server 與 client 憑證 → 移除舊 root</a:t>
            </a:r>
            <a:endParaRPr lang="en-US" sz="1100" dirty="0"/>
          </a:p>
        </p:txBody>
      </p:sp>
      <p:sp>
        <p:nvSpPr>
          <p:cNvPr id="30" name="85653ab3-45e7-48ab-bcda-a71c52dbd51d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共用憑證只負責加密、不承載權限;身分另外處理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憑證更換:三種情境,順序不能錯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依單節點實驗結果整理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601874d-f747-48a0-b730-afb76752d8aa"/>
          <p:cNvSpPr/>
          <p:nvPr/>
        </p:nvSpPr>
        <p:spPr>
          <a:xfrm>
            <a:off x="548640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ed0f8f93-ec7d-459f-ade6-da217fa23bff"/>
          <p:cNvSpPr/>
          <p:nvPr/>
        </p:nvSpPr>
        <p:spPr>
          <a:xfrm>
            <a:off x="685800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ed0aabe0-a4a5-4ef8-8cda-c7a424330cf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06501" y="1898871"/>
            <a:ext cx="307238" cy="307238"/>
          </a:xfrm>
          <a:prstGeom prst="rect">
            <a:avLst/>
          </a:prstGeom>
        </p:spPr>
      </p:pic>
      <p:sp>
        <p:nvSpPr>
          <p:cNvPr id="5" name="b4165a65-a036-440e-bf3b-c41adde6a8fa"/>
          <p:cNvSpPr/>
          <p:nvPr/>
        </p:nvSpPr>
        <p:spPr>
          <a:xfrm>
            <a:off x="1371600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 server 憑證</a:t>
            </a:r>
            <a:endParaRPr lang="en-US" sz="1400" dirty="0"/>
          </a:p>
        </p:txBody>
      </p:sp>
      <p:sp>
        <p:nvSpPr>
          <p:cNvPr id="6" name="d8db4e08-b6f8-4276-bac2-e6d736a83172"/>
          <p:cNvSpPr/>
          <p:nvPr/>
        </p:nvSpPr>
        <p:spPr>
          <a:xfrm>
            <a:off x="1371600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不變(例如到期更新)</a:t>
            </a:r>
            <a:endParaRPr lang="en-US" sz="1100" dirty="0"/>
          </a:p>
        </p:txBody>
      </p:sp>
      <p:sp>
        <p:nvSpPr>
          <p:cNvPr id="7" name="8362e78e-afc2-4d44-97ef-44f14d05ca4e"/>
          <p:cNvSpPr/>
          <p:nvPr/>
        </p:nvSpPr>
        <p:spPr>
          <a:xfrm>
            <a:off x="731520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keystore(新憑證)</a:t>
            </a:r>
            <a:endParaRPr lang="en-US" sz="1150" dirty="0"/>
          </a:p>
        </p:txBody>
      </p:sp>
      <p:sp>
        <p:nvSpPr>
          <p:cNvPr id="8" name="8a250d4a-e9cd-4522-9024-ba6e4427a0b4"/>
          <p:cNvSpPr/>
          <p:nvPr/>
        </p:nvSpPr>
        <p:spPr>
          <a:xfrm>
            <a:off x="2331720" y="2957796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9" name="3af82373-6104-459b-a4db-5b37a0f2afbc"/>
          <p:cNvSpPr/>
          <p:nvPr/>
        </p:nvSpPr>
        <p:spPr>
          <a:xfrm>
            <a:off x="731520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truststore 不動</a:t>
            </a:r>
            <a:endParaRPr lang="en-US" sz="1150" dirty="0"/>
          </a:p>
        </p:txBody>
      </p:sp>
      <p:sp>
        <p:nvSpPr>
          <p:cNvPr id="10" name="767a0901-f7dc-43a9-bb6d-67b86588787e"/>
          <p:cNvSpPr/>
          <p:nvPr/>
        </p:nvSpPr>
        <p:spPr>
          <a:xfrm>
            <a:off x="2331720" y="3636594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11" name="90696c8a-a599-4bd3-b407-134c5fdfc1ff"/>
          <p:cNvSpPr/>
          <p:nvPr/>
        </p:nvSpPr>
        <p:spPr>
          <a:xfrm>
            <a:off x="731520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不用改</a:t>
            </a:r>
            <a:endParaRPr lang="en-US" sz="1150" dirty="0"/>
          </a:p>
        </p:txBody>
      </p:sp>
      <p:sp>
        <p:nvSpPr>
          <p:cNvPr id="12" name="227be57a-72bd-40d8-91bc-35e4ba50ec72"/>
          <p:cNvSpPr/>
          <p:nvPr/>
        </p:nvSpPr>
        <p:spPr>
          <a:xfrm>
            <a:off x="731520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實測:換 keystore 後,client 設定不用改</a:t>
            </a:r>
            <a:endParaRPr lang="en-US" sz="1050" dirty="0"/>
          </a:p>
        </p:txBody>
      </p:sp>
      <p:sp>
        <p:nvSpPr>
          <p:cNvPr id="13" name="6123c9f0-99bf-4b0a-9ba3-a51a6159d193"/>
          <p:cNvSpPr/>
          <p:nvPr/>
        </p:nvSpPr>
        <p:spPr>
          <a:xfrm>
            <a:off x="4311396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063f2019-2923-48b0-9897-23a841d269e5"/>
          <p:cNvSpPr/>
          <p:nvPr/>
        </p:nvSpPr>
        <p:spPr>
          <a:xfrm>
            <a:off x="4448556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bf9c8cef-c171-429c-996d-b44b402794e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69257" y="1898871"/>
            <a:ext cx="307238" cy="307238"/>
          </a:xfrm>
          <a:prstGeom prst="rect">
            <a:avLst/>
          </a:prstGeom>
        </p:spPr>
      </p:pic>
      <p:sp>
        <p:nvSpPr>
          <p:cNvPr id="16" name="6024af94-48c8-4070-9875-1c2279c2329e"/>
          <p:cNvSpPr/>
          <p:nvPr/>
        </p:nvSpPr>
        <p:spPr>
          <a:xfrm>
            <a:off x="5134356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根換新、金鑰不變</a:t>
            </a:r>
            <a:endParaRPr lang="en-US" sz="1400" dirty="0"/>
          </a:p>
        </p:txBody>
      </p:sp>
      <p:sp>
        <p:nvSpPr>
          <p:cNvPr id="17" name="4dea29d1-c06b-4992-bab7-f66a4bacb890"/>
          <p:cNvSpPr/>
          <p:nvPr/>
        </p:nvSpPr>
        <p:spPr>
          <a:xfrm>
            <a:off x="5134356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同一把金鑰重新簽發根憑證</a:t>
            </a:r>
            <a:endParaRPr lang="en-US" sz="1100" dirty="0"/>
          </a:p>
        </p:txBody>
      </p:sp>
      <p:sp>
        <p:nvSpPr>
          <p:cNvPr id="18" name="e0e588f7-2bc6-41ea-a47d-94eb4110b860"/>
          <p:cNvSpPr/>
          <p:nvPr/>
        </p:nvSpPr>
        <p:spPr>
          <a:xfrm>
            <a:off x="4494276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信任庫換成新根</a:t>
            </a:r>
            <a:endParaRPr lang="en-US" sz="1150" dirty="0"/>
          </a:p>
        </p:txBody>
      </p:sp>
      <p:sp>
        <p:nvSpPr>
          <p:cNvPr id="19" name="9123090f-c13d-44a5-9291-81293a37fc25"/>
          <p:cNvSpPr/>
          <p:nvPr/>
        </p:nvSpPr>
        <p:spPr>
          <a:xfrm>
            <a:off x="6099048" y="2957796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c5f7203a-13bb-4015-ab4a-bc8934e11c9e"/>
          <p:cNvSpPr/>
          <p:nvPr/>
        </p:nvSpPr>
        <p:spPr>
          <a:xfrm>
            <a:off x="4494276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舊的 server / client 憑證照常通過</a:t>
            </a:r>
            <a:endParaRPr lang="en-US" sz="1150" dirty="0"/>
          </a:p>
        </p:txBody>
      </p:sp>
      <p:sp>
        <p:nvSpPr>
          <p:cNvPr id="21" name="8dbe3f36-bb52-4200-ba5e-ebeef4a28336"/>
          <p:cNvSpPr/>
          <p:nvPr/>
        </p:nvSpPr>
        <p:spPr>
          <a:xfrm>
            <a:off x="6099048" y="3636594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7657ea06-b9ee-4233-b8fd-0e202aea55da"/>
          <p:cNvSpPr/>
          <p:nvPr/>
        </p:nvSpPr>
        <p:spPr>
          <a:xfrm>
            <a:off x="4494276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不用重簽任何憑證</a:t>
            </a:r>
            <a:endParaRPr lang="en-US" sz="1150" dirty="0"/>
          </a:p>
        </p:txBody>
      </p:sp>
      <p:sp>
        <p:nvSpPr>
          <p:cNvPr id="23" name="dc120a42-adc5-451b-9da3-b502e96fa907"/>
          <p:cNvSpPr/>
          <p:nvPr/>
        </p:nvSpPr>
        <p:spPr>
          <a:xfrm>
            <a:off x="4494276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實測:信任庫換成新根,舊的 server / client 憑證照常通過</a:t>
            </a:r>
            <a:endParaRPr lang="en-US" sz="1050" dirty="0"/>
          </a:p>
        </p:txBody>
      </p:sp>
      <p:sp>
        <p:nvSpPr>
          <p:cNvPr id="24" name="8028d803-6ad7-44fe-b369-18037be10f62"/>
          <p:cNvSpPr/>
          <p:nvPr/>
        </p:nvSpPr>
        <p:spPr>
          <a:xfrm>
            <a:off x="8074152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5" name="b75b85ba-49f4-4097-9c78-a4eee90b4ec3"/>
          <p:cNvSpPr/>
          <p:nvPr/>
        </p:nvSpPr>
        <p:spPr>
          <a:xfrm>
            <a:off x="8211312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6" name="fef4dfc6-3dcb-4ef9-bbec-04503456fba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32013" y="1898871"/>
            <a:ext cx="307238" cy="307238"/>
          </a:xfrm>
          <a:prstGeom prst="rect">
            <a:avLst/>
          </a:prstGeom>
        </p:spPr>
      </p:pic>
      <p:sp>
        <p:nvSpPr>
          <p:cNvPr id="27" name="aa68f1e5-e2c7-4d81-8615-414c81f032df"/>
          <p:cNvSpPr/>
          <p:nvPr/>
        </p:nvSpPr>
        <p:spPr>
          <a:xfrm>
            <a:off x="8897112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換金鑰</a:t>
            </a:r>
            <a:endParaRPr lang="en-US" sz="1400" dirty="0"/>
          </a:p>
        </p:txBody>
      </p:sp>
      <p:sp>
        <p:nvSpPr>
          <p:cNvPr id="28" name="b897d0fa-91a9-41eb-93c8-ee65266bc1b3"/>
          <p:cNvSpPr/>
          <p:nvPr/>
        </p:nvSpPr>
        <p:spPr>
          <a:xfrm>
            <a:off x="8897112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新根、新金鑰:所有憑證都要重簽</a:t>
            </a:r>
            <a:endParaRPr lang="en-US" sz="1100" dirty="0"/>
          </a:p>
        </p:txBody>
      </p:sp>
      <p:sp>
        <p:nvSpPr>
          <p:cNvPr id="29" name="09093d1d-3b80-42de-bf6c-6708e95ffa39"/>
          <p:cNvSpPr/>
          <p:nvPr/>
        </p:nvSpPr>
        <p:spPr>
          <a:xfrm>
            <a:off x="8257032" y="2533547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370d558f-5e1d-4a39-9729-d133f33cccb8"/>
          <p:cNvSpPr/>
          <p:nvPr/>
        </p:nvSpPr>
        <p:spPr>
          <a:xfrm>
            <a:off x="8668512" y="2491122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所有信任庫先放「新舊兩個根」(server + client)</a:t>
            </a:r>
            <a:endParaRPr lang="en-US" sz="1100" dirty="0"/>
          </a:p>
        </p:txBody>
      </p:sp>
      <p:sp>
        <p:nvSpPr>
          <p:cNvPr id="31" name="95e350cf-ecaf-4299-92dd-39620aed9e58"/>
          <p:cNvSpPr/>
          <p:nvPr/>
        </p:nvSpPr>
        <p:spPr>
          <a:xfrm>
            <a:off x="8257032" y="3042645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9ecb8f24-5d1d-4cf2-872d-f5d3b68fa55b"/>
          <p:cNvSpPr/>
          <p:nvPr/>
        </p:nvSpPr>
        <p:spPr>
          <a:xfrm>
            <a:off x="8668512" y="3000221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server 憑證(新 CA 簽發)</a:t>
            </a:r>
            <a:endParaRPr lang="en-US" sz="1100" dirty="0"/>
          </a:p>
        </p:txBody>
      </p:sp>
      <p:sp>
        <p:nvSpPr>
          <p:cNvPr id="33" name="8f37ce00-057d-4248-a43d-96a921f4f6c9"/>
          <p:cNvSpPr/>
          <p:nvPr/>
        </p:nvSpPr>
        <p:spPr>
          <a:xfrm>
            <a:off x="8257032" y="3551744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aee824aa-4969-4564-83b2-4f9ddd78e4f1"/>
          <p:cNvSpPr/>
          <p:nvPr/>
        </p:nvSpPr>
        <p:spPr>
          <a:xfrm>
            <a:off x="8668512" y="3509319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重簽 client 憑證(c3、restproxy、bootstrap、legacy app)</a:t>
            </a:r>
            <a:endParaRPr lang="en-US" sz="1100" dirty="0"/>
          </a:p>
        </p:txBody>
      </p:sp>
      <p:sp>
        <p:nvSpPr>
          <p:cNvPr id="35" name="f7273d04-bc73-417c-b74e-96e88f47f635"/>
          <p:cNvSpPr/>
          <p:nvPr/>
        </p:nvSpPr>
        <p:spPr>
          <a:xfrm>
            <a:off x="8257032" y="4060842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3a36c833-1365-4c6a-aaee-f77f38fb7910"/>
          <p:cNvSpPr/>
          <p:nvPr/>
        </p:nvSpPr>
        <p:spPr>
          <a:xfrm>
            <a:off x="8668512" y="4018417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全部確認後,才移除舊根</a:t>
            </a:r>
            <a:endParaRPr lang="en-US" sz="1100" dirty="0"/>
          </a:p>
        </p:txBody>
      </p:sp>
      <p:sp>
        <p:nvSpPr>
          <p:cNvPr id="37" name="94fb545e-1d44-461f-839f-ebe1f0f7d8a3"/>
          <p:cNvSpPr/>
          <p:nvPr/>
        </p:nvSpPr>
        <p:spPr>
          <a:xfrm>
            <a:off x="8257032" y="4502061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先換 server 憑證、client 還沒信任新根 → PKIX 失敗(實測)</a:t>
            </a:r>
            <a:endParaRPr lang="en-US" sz="1000" dirty="0"/>
          </a:p>
        </p:txBody>
      </p:sp>
      <p:sp>
        <p:nvSpPr>
          <p:cNvPr id="38" name="1c9c6629-3de7-4be5-9000-420b140b79a9"/>
          <p:cNvSpPr/>
          <p:nvPr/>
        </p:nvSpPr>
        <p:spPr>
          <a:xfrm>
            <a:off x="8257032" y="4960249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移除舊根後,舊 CA 簽發且未重簽的 client 憑證被拒(實測)</a:t>
            </a:r>
            <a:endParaRPr lang="en-US" sz="1000" dirty="0"/>
          </a:p>
        </p:txBody>
      </p:sp>
      <p:sp>
        <p:nvSpPr>
          <p:cNvPr id="39" name="3f79354c-d12e-45c8-abbf-89b473d9b8c4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官方建議:先更新所有信任庫、再換憑證、逐個元件 rolling restart,每個就緒再做下一個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元件更換順序:先信任、後出示、最後移除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CA 換金鑰的情境:依 demo 實際環境演練整理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7f0d512-3d2e-490c-97d4-f136fde22b4a"/>
          <p:cNvSpPr/>
          <p:nvPr/>
        </p:nvSpPr>
        <p:spPr>
          <a:xfrm>
            <a:off x="3017520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信任庫:新舊並存</a:t>
            </a:r>
            <a:endParaRPr lang="en-US" sz="1200" dirty="0"/>
          </a:p>
        </p:txBody>
      </p:sp>
      <p:sp>
        <p:nvSpPr>
          <p:cNvPr id="3" name="78cdb338-fed5-40f7-ab92-b20a8d718b00"/>
          <p:cNvSpPr/>
          <p:nvPr/>
        </p:nvSpPr>
        <p:spPr>
          <a:xfrm>
            <a:off x="5175504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換 server 憑證</a:t>
            </a:r>
            <a:endParaRPr lang="en-US" sz="1200" dirty="0"/>
          </a:p>
        </p:txBody>
      </p:sp>
      <p:sp>
        <p:nvSpPr>
          <p:cNvPr id="4" name="429534f7-608b-49cf-8efa-f3aef20106a3"/>
          <p:cNvSpPr/>
          <p:nvPr/>
        </p:nvSpPr>
        <p:spPr>
          <a:xfrm>
            <a:off x="7333488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重簽 client 憑證</a:t>
            </a:r>
            <a:endParaRPr lang="en-US" sz="1200" dirty="0"/>
          </a:p>
        </p:txBody>
      </p:sp>
      <p:sp>
        <p:nvSpPr>
          <p:cNvPr id="5" name="3d1246e1-f5fb-4d3d-bbf7-a4165c379f1d"/>
          <p:cNvSpPr/>
          <p:nvPr/>
        </p:nvSpPr>
        <p:spPr>
          <a:xfrm>
            <a:off x="9491472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移除舊根</a:t>
            </a:r>
            <a:endParaRPr lang="en-US" sz="1200" dirty="0"/>
          </a:p>
        </p:txBody>
      </p:sp>
      <p:sp>
        <p:nvSpPr>
          <p:cNvPr id="6" name="f3afb086-0f91-4099-bfc8-45e55966fec6"/>
          <p:cNvSpPr/>
          <p:nvPr/>
        </p:nvSpPr>
        <p:spPr>
          <a:xfrm>
            <a:off x="548640" y="2278998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7" name="69e7ab2d-053a-47dd-95e3-71e4ca0ef76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58368" y="2380818"/>
            <a:ext cx="347472" cy="347472"/>
          </a:xfrm>
          <a:prstGeom prst="rect">
            <a:avLst/>
          </a:prstGeom>
        </p:spPr>
      </p:pic>
      <p:sp>
        <p:nvSpPr>
          <p:cNvPr id="8" name="c3d5e086-c8c0-44b7-bc94-122b39fee816"/>
          <p:cNvSpPr/>
          <p:nvPr/>
        </p:nvSpPr>
        <p:spPr>
          <a:xfrm>
            <a:off x="1097280" y="2278998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9" name="94d3b7b0-ea87-4c47-a708-071dc7a534ba"/>
          <p:cNvSpPr/>
          <p:nvPr/>
        </p:nvSpPr>
        <p:spPr>
          <a:xfrm>
            <a:off x="3017520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10" name="00e2b519-d17c-4b51-9ac0-852041426b22"/>
          <p:cNvSpPr/>
          <p:nvPr/>
        </p:nvSpPr>
        <p:spPr>
          <a:xfrm>
            <a:off x="5175504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11" name="783eee91-bd76-4bb5-8f8a-3e69c9bcfc10"/>
          <p:cNvSpPr/>
          <p:nvPr/>
        </p:nvSpPr>
        <p:spPr>
          <a:xfrm>
            <a:off x="7333488" y="2278998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2" name="44c05229-90ef-487d-87bf-c41820dc0a18"/>
          <p:cNvSpPr/>
          <p:nvPr/>
        </p:nvSpPr>
        <p:spPr>
          <a:xfrm>
            <a:off x="9491472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13" name="313ac987-1360-4b84-b8df-0081fa9c8784"/>
          <p:cNvSpPr/>
          <p:nvPr/>
        </p:nvSpPr>
        <p:spPr>
          <a:xfrm>
            <a:off x="548640" y="2906886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29613575-3542-4d55-bbe5-2ec9f6cc465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368" y="3008706"/>
            <a:ext cx="347472" cy="347472"/>
          </a:xfrm>
          <a:prstGeom prst="rect">
            <a:avLst/>
          </a:prstGeom>
        </p:spPr>
      </p:pic>
      <p:sp>
        <p:nvSpPr>
          <p:cNvPr id="15" name="408e3658-4198-43d3-9d7d-0064c7c7a2dd"/>
          <p:cNvSpPr/>
          <p:nvPr/>
        </p:nvSpPr>
        <p:spPr>
          <a:xfrm>
            <a:off x="1097280" y="2906886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broker(含 MDS)</a:t>
            </a:r>
            <a:endParaRPr lang="en-US" sz="1200" dirty="0"/>
          </a:p>
        </p:txBody>
      </p:sp>
      <p:sp>
        <p:nvSpPr>
          <p:cNvPr id="16" name="c03344cc-331e-4662-9b0b-4e92cc1593a7"/>
          <p:cNvSpPr/>
          <p:nvPr/>
        </p:nvSpPr>
        <p:spPr>
          <a:xfrm>
            <a:off x="3017520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7" name="301cdb06-5625-4107-99f1-6cfaf1fc7344"/>
          <p:cNvSpPr/>
          <p:nvPr/>
        </p:nvSpPr>
        <p:spPr>
          <a:xfrm>
            <a:off x="5175504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8" name="105b3c65-27a0-40e5-8f8f-c3320c323a5d"/>
          <p:cNvSpPr/>
          <p:nvPr/>
        </p:nvSpPr>
        <p:spPr>
          <a:xfrm>
            <a:off x="7333488" y="2906886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9" name="ef379795-e974-4d13-9535-9c11855f0e74"/>
          <p:cNvSpPr/>
          <p:nvPr/>
        </p:nvSpPr>
        <p:spPr>
          <a:xfrm>
            <a:off x="9491472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0" name="84b4c05f-3033-4442-8c7c-f4530c6529b1"/>
          <p:cNvSpPr/>
          <p:nvPr/>
        </p:nvSpPr>
        <p:spPr>
          <a:xfrm>
            <a:off x="548640" y="3534774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1" name="86a0d182-7f07-477b-b280-6ed6ec80b09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658368" y="3636594"/>
            <a:ext cx="347472" cy="347472"/>
          </a:xfrm>
          <a:prstGeom prst="rect">
            <a:avLst/>
          </a:prstGeom>
        </p:spPr>
      </p:pic>
      <p:sp>
        <p:nvSpPr>
          <p:cNvPr id="22" name="ac18d73d-96de-4c54-932c-00416b69fb3c"/>
          <p:cNvSpPr/>
          <p:nvPr/>
        </p:nvSpPr>
        <p:spPr>
          <a:xfrm>
            <a:off x="1097280" y="3534774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23" name="039d2f84-4d5b-42d3-9a25-c0b930be993d"/>
          <p:cNvSpPr/>
          <p:nvPr/>
        </p:nvSpPr>
        <p:spPr>
          <a:xfrm>
            <a:off x="3017520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4" name="40529f57-d3ef-4981-99f1-6aaa5296f191"/>
          <p:cNvSpPr/>
          <p:nvPr/>
        </p:nvSpPr>
        <p:spPr>
          <a:xfrm>
            <a:off x="5175504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5" name="4e91763b-ec77-4b0a-8ed7-816a1de71def"/>
          <p:cNvSpPr/>
          <p:nvPr/>
        </p:nvSpPr>
        <p:spPr>
          <a:xfrm>
            <a:off x="7333488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6" name="f098e618-4e9d-46d0-be7c-a2f7dcae1971"/>
          <p:cNvSpPr/>
          <p:nvPr/>
        </p:nvSpPr>
        <p:spPr>
          <a:xfrm>
            <a:off x="9491472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7" name="cd05762b-2f41-4934-b597-dc7a4d4d0f81"/>
          <p:cNvSpPr/>
          <p:nvPr/>
        </p:nvSpPr>
        <p:spPr>
          <a:xfrm>
            <a:off x="548640" y="4162662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8" name="95cf2b8d-2d91-4b6d-af94-13d73dc62e0d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58368" y="4264482"/>
            <a:ext cx="347472" cy="347472"/>
          </a:xfrm>
          <a:prstGeom prst="rect">
            <a:avLst/>
          </a:prstGeom>
        </p:spPr>
      </p:pic>
      <p:sp>
        <p:nvSpPr>
          <p:cNvPr id="29" name="0ebb92c6-91e1-45b0-9a25-2e39d42e50f3"/>
          <p:cNvSpPr/>
          <p:nvPr/>
        </p:nvSpPr>
        <p:spPr>
          <a:xfrm>
            <a:off x="1097280" y="4162662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00" dirty="0"/>
          </a:p>
        </p:txBody>
      </p:sp>
      <p:sp>
        <p:nvSpPr>
          <p:cNvPr id="30" name="d76d70f2-d6b9-4637-9d91-db92d2a94131"/>
          <p:cNvSpPr/>
          <p:nvPr/>
        </p:nvSpPr>
        <p:spPr>
          <a:xfrm>
            <a:off x="3017520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1" name="18c68709-6bd1-4f37-a1a2-007ad09df249"/>
          <p:cNvSpPr/>
          <p:nvPr/>
        </p:nvSpPr>
        <p:spPr>
          <a:xfrm>
            <a:off x="5175504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2" name="7e0be1bf-971e-46f6-ac9a-234ab8066984"/>
          <p:cNvSpPr/>
          <p:nvPr/>
        </p:nvSpPr>
        <p:spPr>
          <a:xfrm>
            <a:off x="7333488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3" name="a2e71cdd-38cd-4adb-bfac-ef4e950ea99c"/>
          <p:cNvSpPr/>
          <p:nvPr/>
        </p:nvSpPr>
        <p:spPr>
          <a:xfrm>
            <a:off x="9491472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4" name="c6b28a13-1e19-4d17-bb6d-aa7a0c4c7c3a"/>
          <p:cNvSpPr/>
          <p:nvPr/>
        </p:nvSpPr>
        <p:spPr>
          <a:xfrm>
            <a:off x="548640" y="4790550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35" name="0309ee58-fba0-46ed-961b-04921243e585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8368" y="4892370"/>
            <a:ext cx="347472" cy="347472"/>
          </a:xfrm>
          <a:prstGeom prst="rect">
            <a:avLst/>
          </a:prstGeom>
        </p:spPr>
      </p:pic>
      <p:sp>
        <p:nvSpPr>
          <p:cNvPr id="36" name="9d294059-1410-4af6-a2a5-91a5811dc2fa"/>
          <p:cNvSpPr/>
          <p:nvPr/>
        </p:nvSpPr>
        <p:spPr>
          <a:xfrm>
            <a:off x="1097280" y="4790550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/ CLI(client)</a:t>
            </a:r>
            <a:endParaRPr lang="en-US" sz="1200" dirty="0"/>
          </a:p>
        </p:txBody>
      </p:sp>
      <p:sp>
        <p:nvSpPr>
          <p:cNvPr id="37" name="cfc04304-9d49-447f-a16f-6fd09b3f96f5"/>
          <p:cNvSpPr/>
          <p:nvPr/>
        </p:nvSpPr>
        <p:spPr>
          <a:xfrm>
            <a:off x="3017520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信任庫加新根</a:t>
            </a:r>
            <a:endParaRPr lang="en-US" sz="1150" dirty="0"/>
          </a:p>
        </p:txBody>
      </p:sp>
      <p:sp>
        <p:nvSpPr>
          <p:cNvPr id="38" name="8f93874b-367f-416f-8dd7-652705a23843"/>
          <p:cNvSpPr/>
          <p:nvPr/>
        </p:nvSpPr>
        <p:spPr>
          <a:xfrm>
            <a:off x="5175504" y="4790550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39" name="96e3cb71-78f2-46f6-8b52-b5b564e03af1"/>
          <p:cNvSpPr/>
          <p:nvPr/>
        </p:nvSpPr>
        <p:spPr>
          <a:xfrm>
            <a:off x="7333488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換新憑證</a:t>
            </a:r>
            <a:endParaRPr lang="en-US" sz="1150" dirty="0"/>
          </a:p>
        </p:txBody>
      </p:sp>
      <p:sp>
        <p:nvSpPr>
          <p:cNvPr id="40" name="5d69e222-7cb9-4230-94bc-1fa3c3e9d0d3"/>
          <p:cNvSpPr/>
          <p:nvPr/>
        </p:nvSpPr>
        <p:spPr>
          <a:xfrm>
            <a:off x="9491472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信任庫移除舊根</a:t>
            </a:r>
            <a:endParaRPr lang="en-US" sz="1150" dirty="0"/>
          </a:p>
        </p:txBody>
      </p:sp>
      <p:sp>
        <p:nvSpPr>
          <p:cNvPr id="41" name="32a13d3b-1af2-4bdf-83cf-b1466a418cee"/>
          <p:cNvSpPr/>
          <p:nvPr/>
        </p:nvSpPr>
        <p:spPr>
          <a:xfrm>
            <a:off x="548640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每階段:controller → broker(一次一台)→ REST Proxy → C3,就緒才做下一個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官方:信任庫先於憑證、每階段全部元件做完;元件順序參考升級順序</a:t>
            </a:r>
            <a:endParaRPr lang="en-US" sz="1150" dirty="0"/>
          </a:p>
        </p:txBody>
      </p:sp>
      <p:sp>
        <p:nvSpPr>
          <p:cNvPr id="42" name="7724915b-fea0-44b9-83be-e49382922e8d"/>
          <p:cNvSpPr/>
          <p:nvPr/>
        </p:nvSpPr>
        <p:spPr>
          <a:xfrm>
            <a:off x="6199632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只換檔沒重啟,6 個埠仍出示舊憑證(實測)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與 broker 沒有 client 憑證 → ③ 階段不用重啟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Controller(KRaft)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只認內部帳號,人與服務都不直接連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e99f0d5-69bf-4953-a716-f03d869820e3"/>
          <p:cNvSpPr/>
          <p:nvPr/>
        </p:nvSpPr>
        <p:spPr>
          <a:xfrm>
            <a:off x="54864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db552bdc-0587-475b-aa40-7fc7d4257598"/>
          <p:cNvSpPr/>
          <p:nvPr/>
        </p:nvSpPr>
        <p:spPr>
          <a:xfrm>
            <a:off x="10515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6487d807-7a76-4c4a-86ae-8b5a3880ee9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172261" y="1966751"/>
            <a:ext cx="307238" cy="307238"/>
          </a:xfrm>
          <a:prstGeom prst="rect">
            <a:avLst/>
          </a:prstGeom>
        </p:spPr>
      </p:pic>
      <p:sp>
        <p:nvSpPr>
          <p:cNvPr id="5" name="bdaca45b-4d19-402c-be5e-99665e86ca29"/>
          <p:cNvSpPr/>
          <p:nvPr/>
        </p:nvSpPr>
        <p:spPr>
          <a:xfrm>
            <a:off x="54864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1</a:t>
            </a:r>
            <a:endParaRPr lang="en-US" sz="1200" dirty="0"/>
          </a:p>
        </p:txBody>
      </p:sp>
      <p:sp>
        <p:nvSpPr>
          <p:cNvPr id="6" name="777e5f69-9dae-4d04-b860-2c12aac9168d"/>
          <p:cNvSpPr/>
          <p:nvPr/>
        </p:nvSpPr>
        <p:spPr>
          <a:xfrm>
            <a:off x="228600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7" name="6003b845-71f5-4451-90a4-848fa70061bd"/>
          <p:cNvSpPr/>
          <p:nvPr/>
        </p:nvSpPr>
        <p:spPr>
          <a:xfrm>
            <a:off x="2788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8" name="4a517d8c-ff0d-4838-880d-0dcba49669e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2909621" y="1966751"/>
            <a:ext cx="307238" cy="307238"/>
          </a:xfrm>
          <a:prstGeom prst="rect">
            <a:avLst/>
          </a:prstGeom>
        </p:spPr>
      </p:pic>
      <p:sp>
        <p:nvSpPr>
          <p:cNvPr id="9" name="d141d291-4a66-455c-850d-83970b647ee3"/>
          <p:cNvSpPr/>
          <p:nvPr/>
        </p:nvSpPr>
        <p:spPr>
          <a:xfrm>
            <a:off x="228600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2</a:t>
            </a:r>
            <a:endParaRPr lang="en-US" sz="1200" dirty="0"/>
          </a:p>
        </p:txBody>
      </p:sp>
      <p:sp>
        <p:nvSpPr>
          <p:cNvPr id="10" name="537b391a-489e-409b-89a1-e03478b69e16"/>
          <p:cNvSpPr/>
          <p:nvPr/>
        </p:nvSpPr>
        <p:spPr>
          <a:xfrm>
            <a:off x="402336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3fbdb3f9-92f9-4047-a6fa-dbf9bde715bc"/>
          <p:cNvSpPr/>
          <p:nvPr/>
        </p:nvSpPr>
        <p:spPr>
          <a:xfrm>
            <a:off x="452628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dc4066f4-cb97-427b-b4aa-9de1c90847a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646981" y="1966751"/>
            <a:ext cx="307238" cy="307238"/>
          </a:xfrm>
          <a:prstGeom prst="rect">
            <a:avLst/>
          </a:prstGeom>
        </p:spPr>
      </p:pic>
      <p:sp>
        <p:nvSpPr>
          <p:cNvPr id="13" name="89add776-b159-4736-bf64-cd9a09bdcd61"/>
          <p:cNvSpPr/>
          <p:nvPr/>
        </p:nvSpPr>
        <p:spPr>
          <a:xfrm>
            <a:off x="402336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3</a:t>
            </a:r>
            <a:endParaRPr lang="en-US" sz="1200" dirty="0"/>
          </a:p>
        </p:txBody>
      </p:sp>
      <p:sp>
        <p:nvSpPr>
          <p:cNvPr id="14" name="97b4bccb-adcc-4eba-ba3a-a1976ef2d91a"/>
          <p:cNvSpPr/>
          <p:nvPr/>
        </p:nvSpPr>
        <p:spPr>
          <a:xfrm>
            <a:off x="548640" y="2957796"/>
            <a:ext cx="50292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Raft quorum:正式環境 3 個;主 demo 1 個</a:t>
            </a:r>
            <a:endParaRPr lang="en-US" sz="1250" dirty="0"/>
          </a:p>
        </p:txBody>
      </p:sp>
      <p:sp>
        <p:nvSpPr>
          <p:cNvPr id="15" name="5bbb9db4-8f60-4bc4-9783-02b09873d90f"/>
          <p:cNvSpPr/>
          <p:nvPr/>
        </p:nvSpPr>
        <p:spPr>
          <a:xfrm>
            <a:off x="5943600" y="1769899"/>
            <a:ext cx="5696712" cy="2036394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6" name="ec929d84-516b-4d64-8df5-ce9b0b52bd45"/>
          <p:cNvSpPr/>
          <p:nvPr/>
        </p:nvSpPr>
        <p:spPr>
          <a:xfrm>
            <a:off x="6126480" y="1854749"/>
            <a:ext cx="53035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9093</a:t>
            </a:r>
            <a:endParaRPr lang="en-US" sz="1500" dirty="0"/>
          </a:p>
        </p:txBody>
      </p:sp>
      <p:sp>
        <p:nvSpPr>
          <p:cNvPr id="17" name="090df27f-0f2b-4baa-95ec-3feccdc44bfa"/>
          <p:cNvSpPr/>
          <p:nvPr/>
        </p:nvSpPr>
        <p:spPr>
          <a:xfrm>
            <a:off x="6126480" y="2278998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</a:t>
            </a:r>
            <a:endParaRPr lang="en-US" sz="1200" dirty="0"/>
          </a:p>
        </p:txBody>
      </p:sp>
      <p:sp>
        <p:nvSpPr>
          <p:cNvPr id="18" name="6d18196f-1045-4dd9-a011-b8ffaf02a3a2"/>
          <p:cNvSpPr/>
          <p:nvPr/>
        </p:nvSpPr>
        <p:spPr>
          <a:xfrm>
            <a:off x="7772400" y="2278998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200" dirty="0"/>
          </a:p>
        </p:txBody>
      </p:sp>
      <p:sp>
        <p:nvSpPr>
          <p:cNvPr id="19" name="5b09d8e2-11a9-4cc0-99f8-24a64387ceb0"/>
          <p:cNvSpPr/>
          <p:nvPr/>
        </p:nvSpPr>
        <p:spPr>
          <a:xfrm>
            <a:off x="9601200" y="2278998"/>
            <a:ext cx="18288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靜態內部帳號</a:t>
            </a:r>
            <a:endParaRPr lang="en-US" sz="1200" dirty="0"/>
          </a:p>
        </p:txBody>
      </p:sp>
      <p:sp>
        <p:nvSpPr>
          <p:cNvPr id="20" name="64dfaaf2-1c83-4de9-ac0d-4b3bb723504a"/>
          <p:cNvSpPr/>
          <p:nvPr/>
        </p:nvSpPr>
        <p:spPr>
          <a:xfrm>
            <a:off x="6126480" y="2788096"/>
            <a:ext cx="53035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帳號:kafka-controller · kafka-broker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broker(9092):SCRAM 身分 kafka-controller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授權資料(role binding、使用者→群組)透過 broker 的 RBAC topic 取得</a:t>
            </a:r>
            <a:endParaRPr lang="en-US" sz="1300" dirty="0"/>
          </a:p>
        </p:txBody>
      </p:sp>
      <p:sp>
        <p:nvSpPr>
          <p:cNvPr id="21" name="82c91db0-9f1d-4528-84a8-2af1732361fc"/>
          <p:cNvSpPr/>
          <p:nvPr/>
        </p:nvSpPr>
        <p:spPr>
          <a:xfrm>
            <a:off x="548640" y="3594169"/>
            <a:ext cx="5029200" cy="933347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2" name="a2fe4eeb-710e-4b76-b3cc-cec6a2f1c165"/>
          <p:cNvSpPr/>
          <p:nvPr/>
        </p:nvSpPr>
        <p:spPr>
          <a:xfrm>
            <a:off x="731520" y="3679018"/>
            <a:ext cx="466344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 + super.users</a:t>
            </a:r>
            <a:endParaRPr lang="en-US" sz="1300" dirty="0"/>
          </a:p>
        </p:txBody>
      </p:sp>
      <p:sp>
        <p:nvSpPr>
          <p:cNvPr id="23" name="9b058cf3-367c-41d5-a943-ac545d83c413"/>
          <p:cNvSpPr/>
          <p:nvPr/>
        </p:nvSpPr>
        <p:spPr>
          <a:xfrm>
            <a:off x="548640" y="4739640"/>
            <a:ext cx="5029200" cy="8484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4" name="5a658f52-c618-4fdf-b7bc-5df91de990e5"/>
          <p:cNvSpPr/>
          <p:nvPr/>
        </p:nvSpPr>
        <p:spPr>
          <a:xfrm>
            <a:off x="685800" y="482449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5" name="53d21938-5817-4680-b9b1-38004a96a064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26618" y="4955158"/>
            <a:ext cx="358445" cy="358445"/>
          </a:xfrm>
          <a:prstGeom prst="rect">
            <a:avLst/>
          </a:prstGeom>
        </p:spPr>
      </p:pic>
      <p:sp>
        <p:nvSpPr>
          <p:cNvPr id="26" name="cc734729-30a9-4740-8a38-50669dea25c6"/>
          <p:cNvSpPr/>
          <p:nvPr/>
        </p:nvSpPr>
        <p:spPr>
          <a:xfrm>
            <a:off x="1463040" y="4824490"/>
            <a:ext cx="402336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7" name="4075835b-fb8e-48a2-bf49-0768d3747b04"/>
          <p:cNvSpPr/>
          <p:nvPr/>
        </p:nvSpPr>
        <p:spPr>
          <a:xfrm>
            <a:off x="5943600" y="3933568"/>
            <a:ext cx="5696712" cy="1696995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d9a08db6-6b11-44ca-9ae9-697ca1b47792"/>
          <p:cNvSpPr/>
          <p:nvPr/>
        </p:nvSpPr>
        <p:spPr>
          <a:xfrm>
            <a:off x="608076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8be61876-42bd-43a9-a9d1-eaf51a066c27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221578" y="4191511"/>
            <a:ext cx="358445" cy="358445"/>
          </a:xfrm>
          <a:prstGeom prst="rect">
            <a:avLst/>
          </a:prstGeom>
        </p:spPr>
      </p:pic>
      <p:sp>
        <p:nvSpPr>
          <p:cNvPr id="30" name="2db5b1af-ada6-4f49-91e4-5c3bcc56bc5e"/>
          <p:cNvSpPr/>
          <p:nvPr/>
        </p:nvSpPr>
        <p:spPr>
          <a:xfrm>
            <a:off x="6903720" y="3992962"/>
            <a:ext cx="4572000" cy="1612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為什麼是 PLAIN 靜態帳號:三種做法逐一排除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不用 SCRAM:官方 SCRAM overview 頁說明 controller listener 不支援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AD:AD 不含服務帳號,而且內部通道一旦依賴 AD,AD 異常時就會牽連叢集本身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mTLS:客戶希望憑證越少越好,不為內部通道另發 client 憑證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因此採用 PLAIN 靜態帳號:帳號寫在 JAAS 設定,不依賴 AD、不另發憑證</a:t>
            </a:r>
            <a:endParaRPr lang="en-US" sz="1400" dirty="0"/>
          </a:p>
        </p:txBody>
      </p:sp>
      <p:sp>
        <p:nvSpPr>
          <p:cNvPr id="31" name="11bb716d-f4c3-4646-ae40-d892dfb12b31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只認內部帳號;人與服務都不直接連它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Broker:三個 listener,各管一件事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 PLAIN + AD、服務 SCRAM、平台 OAUTHBEARER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deb5ae5-888d-4148-8a0a-1e29a6f6093a"/>
          <p:cNvSpPr/>
          <p:nvPr/>
        </p:nvSpPr>
        <p:spPr>
          <a:xfrm>
            <a:off x="548640" y="1727475"/>
            <a:ext cx="2103120" cy="364853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e64f0178-c1de-4834-a6fc-db19d9843430"/>
          <p:cNvSpPr/>
          <p:nvPr/>
        </p:nvSpPr>
        <p:spPr>
          <a:xfrm>
            <a:off x="1051560" y="1897174"/>
            <a:ext cx="1097280" cy="1018197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fa06c453-dbd7-4920-9dcc-c94c2a0b9e4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92962" y="2121177"/>
            <a:ext cx="614477" cy="614477"/>
          </a:xfrm>
          <a:prstGeom prst="rect">
            <a:avLst/>
          </a:prstGeom>
        </p:spPr>
      </p:pic>
      <p:sp>
        <p:nvSpPr>
          <p:cNvPr id="5" name="2fb467cc-f408-46fc-9542-ca4d365a7a72"/>
          <p:cNvSpPr/>
          <p:nvPr/>
        </p:nvSpPr>
        <p:spPr>
          <a:xfrm>
            <a:off x="548640" y="3042645"/>
            <a:ext cx="21031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2000" dirty="0"/>
          </a:p>
        </p:txBody>
      </p:sp>
      <p:sp>
        <p:nvSpPr>
          <p:cNvPr id="6" name="095074d9-006a-40fe-a3b2-ba75011be73b"/>
          <p:cNvSpPr/>
          <p:nvPr/>
        </p:nvSpPr>
        <p:spPr>
          <a:xfrm>
            <a:off x="640080" y="3509319"/>
            <a:ext cx="192024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listener:ssl.client.auth = none</a:t>
            </a:r>
            <a:endParaRPr lang="en-US" sz="1100" dirty="0"/>
          </a:p>
        </p:txBody>
      </p:sp>
      <p:sp>
        <p:nvSpPr>
          <p:cNvPr id="7" name="e440ad10-3645-461a-ba33-920d94dec62f"/>
          <p:cNvSpPr/>
          <p:nvPr/>
        </p:nvSpPr>
        <p:spPr>
          <a:xfrm flipV="1">
            <a:off x="2651760" y="2278998"/>
            <a:ext cx="457200" cy="1272746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8" name="213ef1fe-ce4f-4f7f-ad86-a20d440f913c"/>
          <p:cNvSpPr/>
          <p:nvPr/>
        </p:nvSpPr>
        <p:spPr>
          <a:xfrm>
            <a:off x="3108960" y="1727475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9" name="1ba7c418-b1a4-4613-ac20-022bc46d0014"/>
          <p:cNvSpPr/>
          <p:nvPr/>
        </p:nvSpPr>
        <p:spPr>
          <a:xfrm>
            <a:off x="3246120" y="19820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74ef149f-d8d6-4013-811c-f9d8c4b6a47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386938" y="2112692"/>
            <a:ext cx="358445" cy="358445"/>
          </a:xfrm>
          <a:prstGeom prst="rect">
            <a:avLst/>
          </a:prstGeom>
        </p:spPr>
      </p:pic>
      <p:sp>
        <p:nvSpPr>
          <p:cNvPr id="11" name="3d9f7a10-3f10-4bef-8b6a-3a2bf8095787"/>
          <p:cNvSpPr/>
          <p:nvPr/>
        </p:nvSpPr>
        <p:spPr>
          <a:xfrm>
            <a:off x="4069080" y="1829294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 9092</a:t>
            </a:r>
            <a:endParaRPr lang="en-US" sz="1700" dirty="0"/>
          </a:p>
        </p:txBody>
      </p:sp>
      <p:sp>
        <p:nvSpPr>
          <p:cNvPr id="12" name="1cffc89e-7cc0-400a-87d9-94a89bc94ec5"/>
          <p:cNvSpPr/>
          <p:nvPr/>
        </p:nvSpPr>
        <p:spPr>
          <a:xfrm>
            <a:off x="4069080" y="2278998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SCRAM-SHA-512</a:t>
            </a:r>
            <a:endParaRPr lang="en-US" sz="1300" dirty="0"/>
          </a:p>
        </p:txBody>
      </p:sp>
      <p:sp>
        <p:nvSpPr>
          <p:cNvPr id="13" name="b1f8614d-9741-484a-8c67-e1b9114711ce"/>
          <p:cNvSpPr/>
          <p:nvPr/>
        </p:nvSpPr>
        <p:spPr>
          <a:xfrm>
            <a:off x="8229600" y="1829294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↔ broker</a:t>
            </a:r>
            <a:endParaRPr lang="en-US" sz="1200" dirty="0"/>
          </a:p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</a:t>
            </a:r>
            <a:endParaRPr lang="en-US" sz="1200" dirty="0"/>
          </a:p>
        </p:txBody>
      </p:sp>
      <p:sp>
        <p:nvSpPr>
          <p:cNvPr id="14" name="055ee522-4d9e-4dad-ad7e-1833c2b4aac2"/>
          <p:cNvSpPr/>
          <p:nvPr/>
        </p:nvSpPr>
        <p:spPr>
          <a:xfrm flipV="1">
            <a:off x="2651760" y="3551744"/>
            <a:ext cx="45720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5" name="24e5f40c-9dc2-4557-9c3d-53d46a4f23b7"/>
          <p:cNvSpPr/>
          <p:nvPr/>
        </p:nvSpPr>
        <p:spPr>
          <a:xfrm>
            <a:off x="3108960" y="3000221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6" name="c75b77d6-daa6-4e3f-904d-cbc55d066311"/>
          <p:cNvSpPr/>
          <p:nvPr/>
        </p:nvSpPr>
        <p:spPr>
          <a:xfrm>
            <a:off x="3246120" y="325477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7" name="aa15d9ab-9335-4c15-aa8a-21ace8d4cc6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386938" y="3385438"/>
            <a:ext cx="358445" cy="358445"/>
          </a:xfrm>
          <a:prstGeom prst="rect">
            <a:avLst/>
          </a:prstGeom>
        </p:spPr>
      </p:pic>
      <p:sp>
        <p:nvSpPr>
          <p:cNvPr id="18" name="94b5fe3f-a7a3-412a-8260-9d792a368655"/>
          <p:cNvSpPr/>
          <p:nvPr/>
        </p:nvSpPr>
        <p:spPr>
          <a:xfrm>
            <a:off x="4069080" y="3102040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700" dirty="0"/>
          </a:p>
        </p:txBody>
      </p:sp>
      <p:sp>
        <p:nvSpPr>
          <p:cNvPr id="19" name="26189e80-0e9c-4553-979a-a2e05f6b6115"/>
          <p:cNvSpPr/>
          <p:nvPr/>
        </p:nvSpPr>
        <p:spPr>
          <a:xfrm>
            <a:off x="4069080" y="3551744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PLAIN+LDAP / SCRAM / OAUTHBEARER(帶 MDS token)</a:t>
            </a:r>
            <a:endParaRPr lang="en-US" sz="1300" dirty="0"/>
          </a:p>
        </p:txBody>
      </p:sp>
      <p:sp>
        <p:nvSpPr>
          <p:cNvPr id="20" name="aed1042e-bf7a-4a3e-8a2f-864c6b6b98b5"/>
          <p:cNvSpPr/>
          <p:nvPr/>
        </p:nvSpPr>
        <p:spPr>
          <a:xfrm>
            <a:off x="8229600" y="3102040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服務 · token</a:t>
            </a:r>
            <a:endParaRPr lang="en-US" sz="1200" dirty="0"/>
          </a:p>
        </p:txBody>
      </p:sp>
      <p:sp>
        <p:nvSpPr>
          <p:cNvPr id="21" name="ccf18ca6-18f6-40d5-a169-f1c23034eead"/>
          <p:cNvSpPr/>
          <p:nvPr/>
        </p:nvSpPr>
        <p:spPr>
          <a:xfrm>
            <a:off x="2651760" y="3551744"/>
            <a:ext cx="457200" cy="1272746"/>
          </a:xfrm>
          <a:prstGeom prst="line">
            <a:avLst/>
          </a:prstGeom>
          <a:noFill/>
          <a:ln w="22225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22" name="1d6b1366-1455-4a8a-a61a-8e114a11fd3a"/>
          <p:cNvSpPr/>
          <p:nvPr/>
        </p:nvSpPr>
        <p:spPr>
          <a:xfrm>
            <a:off x="3108960" y="4272966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af83a346-4e14-4b11-84e3-13fa8f77d2fb"/>
          <p:cNvSpPr/>
          <p:nvPr/>
        </p:nvSpPr>
        <p:spPr>
          <a:xfrm>
            <a:off x="3246120" y="4527516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1db9722f-9a52-4181-8b13-11c49b2f4783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386938" y="4658184"/>
            <a:ext cx="358445" cy="358445"/>
          </a:xfrm>
          <a:prstGeom prst="rect">
            <a:avLst/>
          </a:prstGeom>
        </p:spPr>
      </p:pic>
      <p:sp>
        <p:nvSpPr>
          <p:cNvPr id="25" name="40f417fa-84e8-47c2-9acf-3c1b6f741843"/>
          <p:cNvSpPr/>
          <p:nvPr/>
        </p:nvSpPr>
        <p:spPr>
          <a:xfrm>
            <a:off x="4069080" y="4374786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8091</a:t>
            </a:r>
            <a:endParaRPr lang="en-US" sz="1700" dirty="0"/>
          </a:p>
        </p:txBody>
      </p:sp>
      <p:sp>
        <p:nvSpPr>
          <p:cNvPr id="26" name="ed8a34e7-91f5-4629-a10e-2ec40abf196d"/>
          <p:cNvSpPr/>
          <p:nvPr/>
        </p:nvSpPr>
        <p:spPr>
          <a:xfrm>
            <a:off x="4069080" y="4824490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7" name="c6198769-1a2d-40bb-8bd5-7ed651709a8e"/>
          <p:cNvSpPr/>
          <p:nvPr/>
        </p:nvSpPr>
        <p:spPr>
          <a:xfrm>
            <a:off x="8229600" y="4374786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 · 管理 API</a:t>
            </a:r>
            <a:endParaRPr lang="en-US" sz="1200" dirty="0"/>
          </a:p>
        </p:txBody>
      </p:sp>
      <p:sp>
        <p:nvSpPr>
          <p:cNvPr id="28" name="b03e567f-3de5-4031-9847-1ecb1dbafb0f"/>
          <p:cNvSpPr/>
          <p:nvPr/>
        </p:nvSpPr>
        <p:spPr>
          <a:xfrm>
            <a:off x="548640" y="5588137"/>
            <a:ext cx="758952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內部通道不走 AD、不走 mTLS(AD 不含服務帳號、憑證不另發)→ 身分由帳號提供:INTERNAL 用 SCRAM、CONTROLLER 用 PLAIN;LDAP callback 只掛 CLIENT</a:t>
            </a:r>
            <a:endParaRPr lang="en-US" sz="1100" dirty="0"/>
          </a:p>
        </p:txBody>
      </p:sp>
      <p:sp>
        <p:nvSpPr>
          <p:cNvPr id="29" name="4ed94dfd-e903-408e-b021-b8f229262154"/>
          <p:cNvSpPr/>
          <p:nvPr/>
        </p:nvSpPr>
        <p:spPr>
          <a:xfrm>
            <a:off x="8275320" y="5588137"/>
            <a:ext cx="3364992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防火牆:9092 只開給 broker / controller 節點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MDS:RBAC 的中樞(內嵌於 broker)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換 token、管 RBAC、向 AD 查群組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b769879-d0d2-4884-8ed7-ad79bb5b4123"/>
          <p:cNvSpPr/>
          <p:nvPr/>
        </p:nvSpPr>
        <p:spPr>
          <a:xfrm>
            <a:off x="54864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0E2841">
              <a:alpha val="12000"/>
            </a:srgbClr>
          </a:solidFill>
          <a:ln w="19050">
            <a:solidFill>
              <a:srgbClr val="0E2841"/>
            </a:solidFill>
            <a:prstDash val="solid"/>
          </a:ln>
        </p:spPr>
      </p:sp>
      <p:sp>
        <p:nvSpPr>
          <p:cNvPr id="3" name="a11e263b-02ba-4b3f-bdbc-cefda9be152e"/>
          <p:cNvSpPr/>
          <p:nvPr/>
        </p:nvSpPr>
        <p:spPr>
          <a:xfrm>
            <a:off x="15316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0E2841">
              <a:alpha val="15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4" name="953aaef8-482c-4adc-a3ab-c3aa0e4deaa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652321" y="1966751"/>
            <a:ext cx="307238" cy="307238"/>
          </a:xfrm>
          <a:prstGeom prst="rect">
            <a:avLst/>
          </a:prstGeom>
        </p:spPr>
      </p:pic>
      <p:sp>
        <p:nvSpPr>
          <p:cNvPr id="5" name="fa5568c4-f1d2-4727-8404-c4a117aecbb6"/>
          <p:cNvSpPr/>
          <p:nvPr/>
        </p:nvSpPr>
        <p:spPr>
          <a:xfrm>
            <a:off x="62179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管理者</a:t>
            </a:r>
            <a:endParaRPr lang="en-US" sz="1400" dirty="0"/>
          </a:p>
        </p:txBody>
      </p:sp>
      <p:sp>
        <p:nvSpPr>
          <p:cNvPr id="6" name="8619ae22-c973-40b4-993d-dd7cea7c24a8"/>
          <p:cNvSpPr/>
          <p:nvPr/>
        </p:nvSpPr>
        <p:spPr>
          <a:xfrm>
            <a:off x="64008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C3 或 API 指派 role binding</a:t>
            </a:r>
            <a:endParaRPr lang="en-US" sz="1150" dirty="0"/>
          </a:p>
        </p:txBody>
      </p:sp>
      <p:sp>
        <p:nvSpPr>
          <p:cNvPr id="7" name="eff5bc56-47d9-466c-aa20-c93ff82eb167"/>
          <p:cNvSpPr/>
          <p:nvPr/>
        </p:nvSpPr>
        <p:spPr>
          <a:xfrm>
            <a:off x="338328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8" name="0700a34f-2fdf-4171-bee5-d68d548541b6"/>
          <p:cNvSpPr/>
          <p:nvPr/>
        </p:nvSpPr>
        <p:spPr>
          <a:xfrm>
            <a:off x="43662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9" name="c0e3a3c3-0919-4043-bbb6-229048e9ab3d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486961" y="1966751"/>
            <a:ext cx="307238" cy="307238"/>
          </a:xfrm>
          <a:prstGeom prst="rect">
            <a:avLst/>
          </a:prstGeom>
        </p:spPr>
      </p:pic>
      <p:sp>
        <p:nvSpPr>
          <p:cNvPr id="10" name="22bdba4b-9918-4464-b532-b40ee93d88ee"/>
          <p:cNvSpPr/>
          <p:nvPr/>
        </p:nvSpPr>
        <p:spPr>
          <a:xfrm>
            <a:off x="345643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11" name="3450648c-a3ef-4da6-bc73-fd8fc4ecadee"/>
          <p:cNvSpPr/>
          <p:nvPr/>
        </p:nvSpPr>
        <p:spPr>
          <a:xfrm>
            <a:off x="347472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認證:Basic(AD)· MDS token(Bearer)· client 憑證(mTLS)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token · 管理 RBAC</a:t>
            </a:r>
            <a:endParaRPr lang="en-US" sz="1150" dirty="0"/>
          </a:p>
        </p:txBody>
      </p:sp>
      <p:sp>
        <p:nvSpPr>
          <p:cNvPr id="12" name="a23ec6fc-a045-46de-9532-86192437eca3"/>
          <p:cNvSpPr/>
          <p:nvPr/>
        </p:nvSpPr>
        <p:spPr>
          <a:xfrm>
            <a:off x="621792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1e16da91-01c7-41a3-a64c-a56b79af982d"/>
          <p:cNvSpPr/>
          <p:nvPr/>
        </p:nvSpPr>
        <p:spPr>
          <a:xfrm>
            <a:off x="720090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bb93e81b-29da-4ed3-b425-cdd5091284f7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321601" y="1966751"/>
            <a:ext cx="307238" cy="307238"/>
          </a:xfrm>
          <a:prstGeom prst="rect">
            <a:avLst/>
          </a:prstGeom>
        </p:spPr>
      </p:pic>
      <p:sp>
        <p:nvSpPr>
          <p:cNvPr id="15" name="b52d1319-75cd-4075-a167-e6136421d16d"/>
          <p:cNvSpPr/>
          <p:nvPr/>
        </p:nvSpPr>
        <p:spPr>
          <a:xfrm>
            <a:off x="629107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topic</a:t>
            </a:r>
            <a:endParaRPr lang="en-US" sz="1400" dirty="0"/>
          </a:p>
        </p:txBody>
      </p:sp>
      <p:sp>
        <p:nvSpPr>
          <p:cNvPr id="16" name="04ad3778-2fba-4541-ac2f-5853923d5e19"/>
          <p:cNvSpPr/>
          <p:nvPr/>
        </p:nvSpPr>
        <p:spPr>
          <a:xfrm>
            <a:off x="630936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role binding 與使用者→群組</a:t>
            </a:r>
            <a:endParaRPr lang="en-US" sz="1150" dirty="0"/>
          </a:p>
        </p:txBody>
      </p:sp>
      <p:sp>
        <p:nvSpPr>
          <p:cNvPr id="17" name="f8ce4355-7a2d-4e42-8f38-cf00093ab272"/>
          <p:cNvSpPr/>
          <p:nvPr/>
        </p:nvSpPr>
        <p:spPr>
          <a:xfrm>
            <a:off x="905256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f24c8650-da86-4421-b817-a9755066ff20"/>
          <p:cNvSpPr/>
          <p:nvPr/>
        </p:nvSpPr>
        <p:spPr>
          <a:xfrm>
            <a:off x="10035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52b830d0-6e11-4fa8-9a4d-210df568aa52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1966751"/>
            <a:ext cx="307238" cy="307238"/>
          </a:xfrm>
          <a:prstGeom prst="rect">
            <a:avLst/>
          </a:prstGeom>
        </p:spPr>
      </p:pic>
      <p:sp>
        <p:nvSpPr>
          <p:cNvPr id="20" name="804ca68c-14ee-4575-9df4-37e9a46d3a68"/>
          <p:cNvSpPr/>
          <p:nvPr/>
        </p:nvSpPr>
        <p:spPr>
          <a:xfrm>
            <a:off x="912571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每台 broker</a:t>
            </a:r>
            <a:endParaRPr lang="en-US" sz="1400" dirty="0"/>
          </a:p>
        </p:txBody>
      </p:sp>
      <p:sp>
        <p:nvSpPr>
          <p:cNvPr id="21" name="4d99b7ab-47a5-4ddf-a50d-819986267031"/>
          <p:cNvSpPr/>
          <p:nvPr/>
        </p:nvSpPr>
        <p:spPr>
          <a:xfrm>
            <a:off x="914400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讀取並 cache,本地授權</a:t>
            </a:r>
            <a:endParaRPr lang="en-US" sz="1150" dirty="0"/>
          </a:p>
        </p:txBody>
      </p:sp>
      <p:sp>
        <p:nvSpPr>
          <p:cNvPr id="22" name="499ee309-9a62-43af-98b6-bc49316c916d"/>
          <p:cNvSpPr/>
          <p:nvPr/>
        </p:nvSpPr>
        <p:spPr>
          <a:xfrm>
            <a:off x="306324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87043fd7-c51b-433e-a655-f52b32d993d2"/>
          <p:cNvSpPr/>
          <p:nvPr/>
        </p:nvSpPr>
        <p:spPr>
          <a:xfrm>
            <a:off x="589788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5ed38604-6934-43c3-8ad3-c2cfdf7cbcce"/>
          <p:cNvSpPr/>
          <p:nvPr/>
        </p:nvSpPr>
        <p:spPr>
          <a:xfrm>
            <a:off x="873252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979889ba-eaef-4423-b334-66d9211a0377"/>
          <p:cNvSpPr/>
          <p:nvPr/>
        </p:nvSpPr>
        <p:spPr>
          <a:xfrm>
            <a:off x="3383280" y="3806293"/>
            <a:ext cx="2514600" cy="18666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6" name="5449cb75-7464-4b7f-84a7-05f92f8f881a"/>
          <p:cNvSpPr/>
          <p:nvPr/>
        </p:nvSpPr>
        <p:spPr>
          <a:xfrm>
            <a:off x="436626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7" name="4b67f61b-eddb-442c-90ef-4e0757e9fd48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486961" y="4045569"/>
            <a:ext cx="307238" cy="307238"/>
          </a:xfrm>
          <a:prstGeom prst="rect">
            <a:avLst/>
          </a:prstGeom>
        </p:spPr>
      </p:pic>
      <p:sp>
        <p:nvSpPr>
          <p:cNvPr id="28" name="958ccd83-aa30-4f5a-bb5c-58b91480195f"/>
          <p:cNvSpPr/>
          <p:nvPr/>
        </p:nvSpPr>
        <p:spPr>
          <a:xfrm>
            <a:off x="3456432" y="4527516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AD(LDAP)</a:t>
            </a:r>
            <a:endParaRPr lang="en-US" sz="1400" dirty="0"/>
          </a:p>
        </p:txBody>
      </p:sp>
      <p:sp>
        <p:nvSpPr>
          <p:cNvPr id="29" name="36392bf6-1fda-4a3f-af3b-45d7226e67ab"/>
          <p:cNvSpPr/>
          <p:nvPr/>
        </p:nvSpPr>
        <p:spPr>
          <a:xfrm>
            <a:off x="3474720" y="4909339"/>
            <a:ext cx="2331720" cy="721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唯讀 bind 帳號:搜尋使用者、定期查群組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驗密碼:用使用者自己的 DN + 密碼 simple bind</a:t>
            </a:r>
            <a:endParaRPr lang="en-US" sz="1150" dirty="0"/>
          </a:p>
        </p:txBody>
      </p:sp>
      <p:sp>
        <p:nvSpPr>
          <p:cNvPr id="30" name="ce80f412-9edb-4347-9332-7325a212da53"/>
          <p:cNvSpPr/>
          <p:nvPr/>
        </p:nvSpPr>
        <p:spPr>
          <a:xfrm>
            <a:off x="4636008" y="3509319"/>
            <a:ext cx="0" cy="296974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41587ed8-55d7-40ea-abc4-2c7954135535"/>
          <p:cNvSpPr/>
          <p:nvPr/>
        </p:nvSpPr>
        <p:spPr>
          <a:xfrm>
            <a:off x="4709160" y="3534774"/>
            <a:ext cx="12801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查詢 / bind</a:t>
            </a:r>
            <a:endParaRPr lang="en-US" sz="1000" dirty="0"/>
          </a:p>
        </p:txBody>
      </p:sp>
      <p:sp>
        <p:nvSpPr>
          <p:cNvPr id="32" name="1d840808-f52f-4a67-93a9-0a4ea4b51145"/>
          <p:cNvSpPr/>
          <p:nvPr/>
        </p:nvSpPr>
        <p:spPr>
          <a:xfrm>
            <a:off x="6217920" y="3806293"/>
            <a:ext cx="5422392" cy="1866694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375d0498-c4da-4393-a0eb-eb7d9d756098"/>
          <p:cNvSpPr/>
          <p:nvPr/>
        </p:nvSpPr>
        <p:spPr>
          <a:xfrm>
            <a:off x="6400800" y="3891143"/>
            <a:ext cx="50292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重點</a:t>
            </a:r>
            <a:endParaRPr lang="en-US" sz="1500" dirty="0"/>
          </a:p>
        </p:txBody>
      </p:sp>
      <p:sp>
        <p:nvSpPr>
          <p:cNvPr id="34" name="5085b5e2-d5c7-4e36-81f9-706b9366554e"/>
          <p:cNvSpPr/>
          <p:nvPr/>
        </p:nvSpPr>
        <p:spPr>
          <a:xfrm>
            <a:off x="6400800" y="4230542"/>
            <a:ext cx="5074920" cy="144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群組異動在 AD 做,Kafka 端零變更;由一台 broker 擔任 writer 向 AD 查群組(預設 60 秒;demo 5 秒),寫入 RBAC topic,其他 broker 讀取後更新快取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人:Basic(AD 帳密)經 MDS 向 AD 驗證;各 broker 都連 AD,需匯入 AD 的 LDAPS CA root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機器 / 平台元件:client 憑證(mTLS)→ CN 對映成主體 → 向 MDS 換 token;憑證主體只能綁 User:(不支援群組)</a:t>
            </a:r>
            <a:endParaRPr lang="en-US" sz="105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token:JWT,壽命可設(demo 設 1 小時);元件自動重新換;刪除 AD 帳號後,舊 token 到期前仍有效(實測)</a:t>
            </a:r>
            <a:endParaRPr lang="en-US" sz="1050" dirty="0"/>
          </a:p>
        </p:txBody>
      </p:sp>
      <p:sp>
        <p:nvSpPr>
          <p:cNvPr id="35" name="c2749361-c7bc-4df0-91cf-ba38ce2788e0"/>
          <p:cNvSpPr/>
          <p:nvPr/>
        </p:nvSpPr>
        <p:spPr>
          <a:xfrm>
            <a:off x="548640" y="3806293"/>
            <a:ext cx="2514600" cy="1866694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aaf51401-7aee-4646-b782-f45ed6b5bc9a"/>
          <p:cNvSpPr/>
          <p:nvPr/>
        </p:nvSpPr>
        <p:spPr>
          <a:xfrm>
            <a:off x="141732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7" name="6e1fcc66-c0b0-4b0a-a446-b853ff3b495e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538021" y="4045569"/>
            <a:ext cx="307238" cy="307238"/>
          </a:xfrm>
          <a:prstGeom prst="rect">
            <a:avLst/>
          </a:prstGeom>
        </p:spPr>
      </p:pic>
      <p:sp>
        <p:nvSpPr>
          <p:cNvPr id="38" name="5d45876b-dc5a-4596-8fad-a71ec568827c"/>
          <p:cNvSpPr/>
          <p:nvPr/>
        </p:nvSpPr>
        <p:spPr>
          <a:xfrm>
            <a:off x="640080" y="4527516"/>
            <a:ext cx="23317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 AD 唯讀查詢帳號</a:t>
            </a:r>
            <a:endParaRPr lang="en-US" sz="125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bind DN;不要用真人帳號;建議 LDAPS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 → role:依職責分層授權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同一個 AD,不同群組 = 不同權限層級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8787d9c-ac19-4ec6-b69c-82ed20a467d9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ce4e1d09-9648-4dc5-978b-58028f06b2ea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ba2c9a5a-f399-4615-b1f3-1c73eb876fad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0e1ebfe3-cc8f-49eb-bbc3-1e5c9c16c6ed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93cbdcf4-7aca-49c2-950c-d76835ab935f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4de22c4c-6d10-4a34-aa3e-2aa2a9b0dedd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bde9d015-5e09-4f9a-b6e2-5ef7583f4abe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1e166c40-73d8-4f5f-a2c2-2e26b855fd4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842b9de8-c3de-4c03-a703-7c0fdb4b152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6b0499ec-af2a-49b9-a790-270a789fed2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8f570f08-2565-4ca5-b6d6-ef6e3cea04c9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dc83f5a1-31b0-4f94-9adb-b3ca4257ea79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0f612755-b565-47e5-9d0b-c7430e67d800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165836c2-98d6-4712-bf91-cb5a64bf15d5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5fd8820a-d320-4f7f-ad5c-9916c5dd56ff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32d9e6ea-fcbd-4977-a52f-d1d3e8bacd9e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9af37cde-b395-4699-8afd-6952cf0f6c77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93092e65-8832-458f-8389-dd1e00df56ad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e7d054a1-808d-4639-b302-1e9cc52f94a5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8e40d452-51ba-482b-9387-07388136082e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5903263b-59db-4dc2-9476-421b7355497e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5bcae2cf-2634-49cf-a544-d87f860fd8a8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bf0a1490-942a-4df2-a149-3d13c60b8455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a1248c1c-3aaf-4108-9efe-e5c7c9c8ece2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1cfce363-7b29-4ef4-ab5e-58a691ee9f30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a87bcf43-dc80-4f8a-9d2b-f61e620c18bc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1f628741-39ee-4fa9-9649-f52b82f460f1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0ecb0cfb-a7c4-442a-be65-e2aef58d2307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26b89b53-82a0-4a68-a8e2-a1bc3e993480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f790686b-fbdb-43b4-b528-b9fdb1f23fb1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98230e8a-62a4-4229-ac34-abf514a300c2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25d683e8-832f-4ad0-9ecf-94167dcc2d03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7badb571-ae44-4a49-a2cd-e32b6f4ad2c6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cef28403-e460-468f-a15a-073115f9b9d3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f8deec43-f72b-4252-b6fa-7b58ae8bfec0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86e0fb2f-e3ee-4f05-b0e4-8e555979ef7b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26e14be9-2bbf-435b-8c45-7c6460472efe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1e0a538e-b53c-44e3-bfa1-3974af74416c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5084b3c8-d4d6-48ca-bcd1-80e13464bc25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0db4a20f-0682-402e-8a8f-9b0809b0fdbe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6968ee60-385b-4463-934d-da6b0b0b8dbb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5a143151-0c5b-46fb-a80c-b85a85498f33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77a5ab45-c7e2-43e6-8e5b-e786b7a37ce3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29f89cbb-9e54-4221-a4b4-6a5b696cf9b9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fb089bc2-9f33-4c5a-8a3e-960d457df28b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ff44d46f-74b4-49ed-b2d3-7f1d79cecfc8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留痕</a:t>
            </a:r>
            <a:endParaRPr lang="en-US" sz="1400" dirty="0"/>
          </a:p>
        </p:txBody>
      </p:sp>
      <p:sp>
        <p:nvSpPr>
          <p:cNvPr id="48" name="804af014-08e5-4fce-9d1b-ffa9fabf4f22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95e35f4-2e99-4ab1-b610-7a3317d26366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932fdaf8-d816-4690-b78f-1f471f44e5ec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0bc36a37-3c6b-4e74-8a49-49d4151e7eae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a69cdd4d-4fdd-4a36-8567-e86ea76d9e61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e5ad8b30-d60a-40ea-8a3b-07a013dd9dd1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1066aaf1-5f18-4ad1-a304-b4eee333fd2f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64e361d0-17ec-4212-93b5-bcac9b674955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4c4c463f-67a3-427c-9459-b528013e1c40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c4610f19-20f5-43d7-ab56-69f0c9c26980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6915b444-d46d-4d08-a81c-7f6a57a6d4ed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5fb1cf68-2157-4fff-bf3e-a66460095346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9ae8897a-e816-44ce-8e96-9185ad08d868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adb40502-7e24-49a4-956f-5d7daa811bb6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7d1c8ba2-5f6e-4c6e-8a82-d4f8d0329b25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45587de5-8aa5-4200-a710-100e7643305e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7e6a703b-169e-4489-a0b9-e40aee1b39d2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8098219c-120e-4d32-935a-71423a3f725e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fc8dd136-8414-464f-8e9f-fb827fbbfa2e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d6e92b87-07dc-479b-abd1-04ee557a5d47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1edc74eb-c6c5-4cf8-a8eb-4c3c1243e393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e9402b9a-b56b-4494-886e-0c88b73b1f6b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8b88a1cc-30ec-4c49-a3df-1c8519a2b002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bf1bacff-643b-42bd-8414-7b01a2d08e89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c9e8613f-17d1-45aa-a469-53e4a2ec9a21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83cbb9a0-4145-481e-848a-cceebd559fd7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5ef98073-8434-4555-89f6-4a42bc14bf6b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d4a34607-270d-4203-a605-fb2ba6a62121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39e66a4d-40db-476c-b557-18c9d0d3ae17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ada3b46e-e70d-4d16-8c61-612a4ed7dee2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94c3ce53-f26f-41d4-8a2a-18465857dd2d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1a49c6f5-674f-419d-802d-9938d11ebd44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b934f7ea-a93f-420f-b625-1f6d3d73249d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01251036-b307-488e-9e19-01236af2405a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c87b4d23-c8a6-4a08-8979-76b4e4ffb2d4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9a6249f2-c1ec-4722-8e9b-c4d16426da63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c132ff32-babc-449b-810f-8bd01400bb35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9781673a-f160-4e6e-82b4-b6ac047f3d79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cfd6761a-b892-4fbc-8335-8b48a529e8a4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服務帳號:SCRAM,不放 AD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沒有服務帳號 → SCRAM + 最小權限 + 輪替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984b25d-0176-4f83-951b-2e3de019aa3f"/>
          <p:cNvSpPr/>
          <p:nvPr/>
        </p:nvSpPr>
        <p:spPr>
          <a:xfrm>
            <a:off x="548640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ccc002b4-b70d-42c4-b50b-76f765ee4fdb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ee647c02-826f-405e-b203-2291a50798fd"/>
          <p:cNvSpPr/>
          <p:nvPr/>
        </p:nvSpPr>
        <p:spPr>
          <a:xfrm>
            <a:off x="640080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</a:t>
            </a:r>
            <a:endParaRPr lang="en-US" sz="1400" dirty="0"/>
          </a:p>
        </p:txBody>
      </p:sp>
      <p:sp>
        <p:nvSpPr>
          <p:cNvPr id="5" name="610f5ed8-6699-4334-a523-99127a7e80fc"/>
          <p:cNvSpPr/>
          <p:nvPr/>
        </p:nvSpPr>
        <p:spPr>
          <a:xfrm>
            <a:off x="640080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kafka-configs 在 Kafka 內建立</a:t>
            </a:r>
            <a:endParaRPr lang="en-US" sz="1100" dirty="0"/>
          </a:p>
        </p:txBody>
      </p:sp>
      <p:sp>
        <p:nvSpPr>
          <p:cNvPr id="6" name="8d3668fb-206c-468c-b9c4-c13296daca94"/>
          <p:cNvSpPr/>
          <p:nvPr/>
        </p:nvSpPr>
        <p:spPr>
          <a:xfrm>
            <a:off x="2560320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7ec13756-2c28-4575-9816-76ce9ea52d91"/>
          <p:cNvSpPr/>
          <p:nvPr/>
        </p:nvSpPr>
        <p:spPr>
          <a:xfrm>
            <a:off x="2816352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bcd2a19c-f909-4c71-b51c-232f1f689568"/>
          <p:cNvSpPr/>
          <p:nvPr/>
        </p:nvSpPr>
        <p:spPr>
          <a:xfrm>
            <a:off x="2926080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8d8110b9-4c24-4dc7-bcba-dd7beba29a79"/>
          <p:cNvSpPr/>
          <p:nvPr/>
        </p:nvSpPr>
        <p:spPr>
          <a:xfrm>
            <a:off x="2907792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400" dirty="0"/>
          </a:p>
        </p:txBody>
      </p:sp>
      <p:sp>
        <p:nvSpPr>
          <p:cNvPr id="10" name="00f30e86-c928-4560-bbfe-00410e0437ae"/>
          <p:cNvSpPr/>
          <p:nvPr/>
        </p:nvSpPr>
        <p:spPr>
          <a:xfrm>
            <a:off x="2907792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 User:svc-x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前綴最小權限</a:t>
            </a:r>
            <a:endParaRPr lang="en-US" sz="1100" dirty="0"/>
          </a:p>
        </p:txBody>
      </p:sp>
      <p:sp>
        <p:nvSpPr>
          <p:cNvPr id="11" name="90ad1ebd-1ad2-41d2-873b-e028424d77ca"/>
          <p:cNvSpPr/>
          <p:nvPr/>
        </p:nvSpPr>
        <p:spPr>
          <a:xfrm>
            <a:off x="4828032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cc260e67-7915-4abd-981f-4b15ad291960"/>
          <p:cNvSpPr/>
          <p:nvPr/>
        </p:nvSpPr>
        <p:spPr>
          <a:xfrm>
            <a:off x="5084064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fbea8bf2-22d5-47f7-bf30-e76b9466cd68"/>
          <p:cNvSpPr/>
          <p:nvPr/>
        </p:nvSpPr>
        <p:spPr>
          <a:xfrm>
            <a:off x="5193792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2f7a60be-d263-4728-af9d-f07740209375"/>
          <p:cNvSpPr/>
          <p:nvPr/>
        </p:nvSpPr>
        <p:spPr>
          <a:xfrm>
            <a:off x="5175504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</a:t>
            </a:r>
            <a:endParaRPr lang="en-US" sz="1400" dirty="0"/>
          </a:p>
        </p:txBody>
      </p:sp>
      <p:sp>
        <p:nvSpPr>
          <p:cNvPr id="15" name="f591f3bb-56b2-4a1d-9ade-26bbfbc3a87f"/>
          <p:cNvSpPr/>
          <p:nvPr/>
        </p:nvSpPr>
        <p:spPr>
          <a:xfrm>
            <a:off x="5175504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設定檔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 600</a:t>
            </a:r>
            <a:endParaRPr lang="en-US" sz="1100" dirty="0"/>
          </a:p>
        </p:txBody>
      </p:sp>
      <p:sp>
        <p:nvSpPr>
          <p:cNvPr id="16" name="f28c2723-ece2-45a9-b02b-ec9fdd3b4e7e"/>
          <p:cNvSpPr/>
          <p:nvPr/>
        </p:nvSpPr>
        <p:spPr>
          <a:xfrm>
            <a:off x="7095744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7" name="3cc5530f-d83a-4d32-8da3-9e543f0f7b71"/>
          <p:cNvSpPr/>
          <p:nvPr/>
        </p:nvSpPr>
        <p:spPr>
          <a:xfrm>
            <a:off x="7351776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fa7274fa-3749-431d-92d2-a21f53f64525"/>
          <p:cNvSpPr/>
          <p:nvPr/>
        </p:nvSpPr>
        <p:spPr>
          <a:xfrm>
            <a:off x="7461504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2a3d046d-f0cc-4df8-a12d-7a6af98a89a5"/>
          <p:cNvSpPr/>
          <p:nvPr/>
        </p:nvSpPr>
        <p:spPr>
          <a:xfrm>
            <a:off x="7443216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</a:t>
            </a:r>
            <a:endParaRPr lang="en-US" sz="1400" dirty="0"/>
          </a:p>
        </p:txBody>
      </p:sp>
      <p:sp>
        <p:nvSpPr>
          <p:cNvPr id="20" name="ac9f02e8-44e1-45d6-8cea-e260e5bdc1f2"/>
          <p:cNvSpPr/>
          <p:nvPr/>
        </p:nvSpPr>
        <p:spPr>
          <a:xfrm>
            <a:off x="7443216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新帳號並行 → 切換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停舊</a:t>
            </a:r>
            <a:endParaRPr lang="en-US" sz="1100" dirty="0"/>
          </a:p>
        </p:txBody>
      </p:sp>
      <p:sp>
        <p:nvSpPr>
          <p:cNvPr id="21" name="e9904f04-bfae-42d0-8dc4-7a6ac9b9bf02"/>
          <p:cNvSpPr/>
          <p:nvPr/>
        </p:nvSpPr>
        <p:spPr>
          <a:xfrm>
            <a:off x="9363456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a3fc5792-c4fa-4b67-9c52-13b630fb383f"/>
          <p:cNvSpPr/>
          <p:nvPr/>
        </p:nvSpPr>
        <p:spPr>
          <a:xfrm>
            <a:off x="9619488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3" name="e920301d-055e-49c5-8eff-2ae142dfaa80"/>
          <p:cNvSpPr/>
          <p:nvPr/>
        </p:nvSpPr>
        <p:spPr>
          <a:xfrm>
            <a:off x="9729216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fdb5fed7-b6d3-41b5-a29c-5cf536ba5da6"/>
          <p:cNvSpPr/>
          <p:nvPr/>
        </p:nvSpPr>
        <p:spPr>
          <a:xfrm>
            <a:off x="9710928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保管</a:t>
            </a:r>
            <a:endParaRPr lang="en-US" sz="1400" dirty="0"/>
          </a:p>
        </p:txBody>
      </p:sp>
      <p:sp>
        <p:nvSpPr>
          <p:cNvPr id="25" name="24ddb8c6-591e-4b5f-b0fa-0ac857dbd091"/>
          <p:cNvSpPr/>
          <p:nvPr/>
        </p:nvSpPr>
        <p:spPr>
          <a:xfrm>
            <a:off x="9710928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密碼放密碼庫</a:t>
            </a:r>
            <a:endParaRPr lang="en-US" sz="1100" dirty="0"/>
          </a:p>
        </p:txBody>
      </p:sp>
      <p:sp>
        <p:nvSpPr>
          <p:cNvPr id="26" name="a0413298-c740-40fa-b683-0211165b5051"/>
          <p:cNvSpPr/>
          <p:nvPr/>
        </p:nvSpPr>
        <p:spPr>
          <a:xfrm>
            <a:off x="54864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64ffb40f-b755-4086-a936-a750a89531da"/>
          <p:cNvSpPr/>
          <p:nvPr/>
        </p:nvSpPr>
        <p:spPr>
          <a:xfrm>
            <a:off x="73152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9969bf92-560d-4636-8ff2-e95df5d916b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4021811"/>
            <a:ext cx="358445" cy="358445"/>
          </a:xfrm>
          <a:prstGeom prst="rect">
            <a:avLst/>
          </a:prstGeom>
        </p:spPr>
      </p:pic>
      <p:sp>
        <p:nvSpPr>
          <p:cNvPr id="29" name="2b80a8ca-e389-456e-830a-fc0109bbb12c"/>
          <p:cNvSpPr/>
          <p:nvPr/>
        </p:nvSpPr>
        <p:spPr>
          <a:xfrm>
            <a:off x="150876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Kafka(KRaft)內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 AD</a:t>
            </a:r>
            <a:endParaRPr lang="en-US" sz="1300" dirty="0"/>
          </a:p>
        </p:txBody>
      </p:sp>
      <p:sp>
        <p:nvSpPr>
          <p:cNvPr id="30" name="ac1a307b-b4de-4261-a7d2-988ed5a11c2d"/>
          <p:cNvSpPr/>
          <p:nvPr/>
        </p:nvSpPr>
        <p:spPr>
          <a:xfrm>
            <a:off x="425196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1" name="1e1600a5-1f53-4ca1-8fc4-0bb58306c4f1"/>
          <p:cNvSpPr/>
          <p:nvPr/>
        </p:nvSpPr>
        <p:spPr>
          <a:xfrm>
            <a:off x="443484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2" name="710bdab1-afef-4ff1-902f-6c5db31524a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5658" y="4021811"/>
            <a:ext cx="358445" cy="358445"/>
          </a:xfrm>
          <a:prstGeom prst="rect">
            <a:avLst/>
          </a:prstGeom>
        </p:spPr>
      </p:pic>
      <p:sp>
        <p:nvSpPr>
          <p:cNvPr id="33" name="5998d752-e1f1-43d4-8c51-15269b4c4253"/>
          <p:cNvSpPr/>
          <p:nvPr/>
        </p:nvSpPr>
        <p:spPr>
          <a:xfrm>
            <a:off x="521208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要有輪替流程與提醒</a:t>
            </a:r>
            <a:endParaRPr lang="en-US" sz="1300" dirty="0"/>
          </a:p>
        </p:txBody>
      </p:sp>
      <p:sp>
        <p:nvSpPr>
          <p:cNvPr id="34" name="a369b93d-ef90-4fec-8344-7875f7b6337f"/>
          <p:cNvSpPr/>
          <p:nvPr/>
        </p:nvSpPr>
        <p:spPr>
          <a:xfrm>
            <a:off x="7955280" y="3721443"/>
            <a:ext cx="3685032" cy="1018197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5" name="ee2ebbe9-0023-4441-9a7c-ca6e77e154bb"/>
          <p:cNvSpPr/>
          <p:nvPr/>
        </p:nvSpPr>
        <p:spPr>
          <a:xfrm>
            <a:off x="813816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6" name="e24d3ca0-1e51-414d-8448-1007efff602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278978" y="4021811"/>
            <a:ext cx="358445" cy="358445"/>
          </a:xfrm>
          <a:prstGeom prst="rect">
            <a:avLst/>
          </a:prstGeom>
        </p:spPr>
      </p:pic>
      <p:sp>
        <p:nvSpPr>
          <p:cNvPr id="37" name="38450e7e-7bba-4ddd-8bae-e560753881b5"/>
          <p:cNvSpPr/>
          <p:nvPr/>
        </p:nvSpPr>
        <p:spPr>
          <a:xfrm>
            <a:off x="8915400" y="3806293"/>
            <a:ext cx="26517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不走 AD 登入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沒有服務帳號</a:t>
            </a:r>
            <a:endParaRPr lang="en-US" sz="1300" dirty="0"/>
          </a:p>
        </p:txBody>
      </p:sp>
      <p:sp>
        <p:nvSpPr>
          <p:cNvPr id="38" name="8f32521d-6465-4708-8339-3f43dd4cf183"/>
          <p:cNvSpPr/>
          <p:nvPr/>
        </p:nvSpPr>
        <p:spPr>
          <a:xfrm>
            <a:off x="548640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建新帳號 svc-x-v2</a:t>
            </a:r>
            <a:endParaRPr lang="en-US" sz="1200" dirty="0"/>
          </a:p>
        </p:txBody>
      </p:sp>
      <p:sp>
        <p:nvSpPr>
          <p:cNvPr id="39" name="e9f425f5-b830-4d20-b2db-f2fd52357c10"/>
          <p:cNvSpPr/>
          <p:nvPr/>
        </p:nvSpPr>
        <p:spPr>
          <a:xfrm>
            <a:off x="3063240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0" name="1e1247df-1bc0-47b3-88c0-e3d7f30c39db"/>
          <p:cNvSpPr/>
          <p:nvPr/>
        </p:nvSpPr>
        <p:spPr>
          <a:xfrm>
            <a:off x="3410712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重綁相同 role</a:t>
            </a:r>
            <a:endParaRPr lang="en-US" sz="1200" dirty="0"/>
          </a:p>
        </p:txBody>
      </p:sp>
      <p:sp>
        <p:nvSpPr>
          <p:cNvPr id="41" name="09c28d1d-1d8e-4d43-b8d5-4209b5aa160a"/>
          <p:cNvSpPr/>
          <p:nvPr/>
        </p:nvSpPr>
        <p:spPr>
          <a:xfrm>
            <a:off x="5925312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2" name="4552dd90-fa81-4b91-9108-5f203ce2a7ff"/>
          <p:cNvSpPr/>
          <p:nvPr/>
        </p:nvSpPr>
        <p:spPr>
          <a:xfrm>
            <a:off x="6272784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應用逐步切換</a:t>
            </a:r>
            <a:endParaRPr lang="en-US" sz="1200" dirty="0"/>
          </a:p>
        </p:txBody>
      </p:sp>
      <p:sp>
        <p:nvSpPr>
          <p:cNvPr id="43" name="255b0742-b495-4e9d-9734-e7f990ea0e1d"/>
          <p:cNvSpPr/>
          <p:nvPr/>
        </p:nvSpPr>
        <p:spPr>
          <a:xfrm>
            <a:off x="8787384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4" name="2cb615dc-dbf4-4e63-b1a8-dfe010565cdf"/>
          <p:cNvSpPr/>
          <p:nvPr/>
        </p:nvSpPr>
        <p:spPr>
          <a:xfrm>
            <a:off x="9134856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刪舊帳號與舊 binding</a:t>
            </a:r>
            <a:endParaRPr lang="en-US" sz="1200" dirty="0"/>
          </a:p>
        </p:txBody>
      </p:sp>
      <p:sp>
        <p:nvSpPr>
          <p:cNvPr id="45" name="b98e3e6d-f81a-4ba8-bd19-db146e82dc47"/>
          <p:cNvSpPr/>
          <p:nvPr/>
        </p:nvSpPr>
        <p:spPr>
          <a:xfrm>
            <a:off x="548640" y="5460863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同帳號重設密碼 = 取代:舊密碼立即失效(實測)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不想換帳號名:同帳號可有 SHA-256 + SHA-512 兩組密碼並行(實測可行;需在 broker 設定檔啟用兩機制並重啟)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REST Proxy:legacy app 的入口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 Basic、機器用 client 憑證,身分一路傳到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b6ea3b0-6f0f-4b72-a4a8-8477afe99526"/>
          <p:cNvSpPr/>
          <p:nvPr/>
        </p:nvSpPr>
        <p:spPr>
          <a:xfrm>
            <a:off x="548640" y="1600200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人(Postman · 手動測試)</a:t>
            </a:r>
            <a:endParaRPr lang="en-US" sz="1400" dirty="0"/>
          </a:p>
        </p:txBody>
      </p:sp>
      <p:sp>
        <p:nvSpPr>
          <p:cNvPr id="3" name="92ebdcfc-ce1e-4d5f-8da0-3cc705736b36"/>
          <p:cNvSpPr/>
          <p:nvPr/>
        </p:nvSpPr>
        <p:spPr>
          <a:xfrm>
            <a:off x="3657600" y="1922629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" name="f4c4b22a-1ad8-4f9b-8fb7-17c4f46f5f18"/>
          <p:cNvSpPr/>
          <p:nvPr/>
        </p:nvSpPr>
        <p:spPr>
          <a:xfrm>
            <a:off x="3749040" y="1990509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5" name="708e0baa-0746-4337-b2a9-095af7ada5f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3841577" y="2076377"/>
            <a:ext cx="235549" cy="235549"/>
          </a:xfrm>
          <a:prstGeom prst="rect">
            <a:avLst/>
          </a:prstGeom>
        </p:spPr>
      </p:pic>
      <p:sp>
        <p:nvSpPr>
          <p:cNvPr id="6" name="47404446-10a0-4648-b6c4-67949e296bf8"/>
          <p:cNvSpPr/>
          <p:nvPr/>
        </p:nvSpPr>
        <p:spPr>
          <a:xfrm>
            <a:off x="4251960" y="1990509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7" name="3feb3823-f446-475a-82e9-6f682fe4a385"/>
          <p:cNvSpPr/>
          <p:nvPr/>
        </p:nvSpPr>
        <p:spPr>
          <a:xfrm flipV="1">
            <a:off x="43434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8" name="824c1073-debc-4e11-9ecc-a27163e1395f"/>
          <p:cNvSpPr/>
          <p:nvPr/>
        </p:nvSpPr>
        <p:spPr>
          <a:xfrm>
            <a:off x="50292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9" name="ba482175-e3c5-4c50-bfd3-4929e38422d0"/>
          <p:cNvSpPr/>
          <p:nvPr/>
        </p:nvSpPr>
        <p:spPr>
          <a:xfrm>
            <a:off x="5852160" y="1854749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0" name="d26defb1-95a0-4099-9a88-e51b540f5f84"/>
          <p:cNvSpPr/>
          <p:nvPr/>
        </p:nvSpPr>
        <p:spPr>
          <a:xfrm>
            <a:off x="5486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1" name="c0b44f1f-2fcc-4e27-83fe-d452d2b997fd"/>
          <p:cNvSpPr/>
          <p:nvPr/>
        </p:nvSpPr>
        <p:spPr>
          <a:xfrm>
            <a:off x="6400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dfcd3cfa-f63e-4b9a-bfc9-d400292913c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44687" y="2825769"/>
            <a:ext cx="266273" cy="266273"/>
          </a:xfrm>
          <a:prstGeom prst="rect">
            <a:avLst/>
          </a:prstGeom>
        </p:spPr>
      </p:pic>
      <p:sp>
        <p:nvSpPr>
          <p:cNvPr id="13" name="fa125955-75f0-47a8-a4e1-df9ea506bb12"/>
          <p:cNvSpPr/>
          <p:nvPr/>
        </p:nvSpPr>
        <p:spPr>
          <a:xfrm>
            <a:off x="11887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300" dirty="0"/>
          </a:p>
        </p:txBody>
      </p:sp>
      <p:sp>
        <p:nvSpPr>
          <p:cNvPr id="14" name="3e1fa817-553f-4626-bc20-aa5d7e8799c9"/>
          <p:cNvSpPr/>
          <p:nvPr/>
        </p:nvSpPr>
        <p:spPr>
          <a:xfrm>
            <a:off x="3657600" y="2618397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5" name="d42aa2d4-b049-4da2-ae45-33035171fce4"/>
          <p:cNvSpPr/>
          <p:nvPr/>
        </p:nvSpPr>
        <p:spPr>
          <a:xfrm>
            <a:off x="374904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6" name="0a153c6c-5aac-48f7-a3ec-583a28d5ee2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853647" y="2825769"/>
            <a:ext cx="266273" cy="266273"/>
          </a:xfrm>
          <a:prstGeom prst="rect">
            <a:avLst/>
          </a:prstGeom>
        </p:spPr>
      </p:pic>
      <p:sp>
        <p:nvSpPr>
          <p:cNvPr id="17" name="e76cc1d1-9e3d-48c6-84a8-ab63e2bff1b1"/>
          <p:cNvSpPr/>
          <p:nvPr/>
        </p:nvSpPr>
        <p:spPr>
          <a:xfrm>
            <a:off x="4297680" y="2728701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18" name="81bc67dd-cd6c-4211-81b4-79be1d6c7f47"/>
          <p:cNvSpPr/>
          <p:nvPr/>
        </p:nvSpPr>
        <p:spPr>
          <a:xfrm>
            <a:off x="69494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9" name="c712f524-349f-4ddd-86a2-3120f6717379"/>
          <p:cNvSpPr/>
          <p:nvPr/>
        </p:nvSpPr>
        <p:spPr>
          <a:xfrm>
            <a:off x="70408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0" name="e96a006a-8ccd-469f-b1be-311a95faeb0f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145487" y="2825769"/>
            <a:ext cx="266273" cy="266273"/>
          </a:xfrm>
          <a:prstGeom prst="rect">
            <a:avLst/>
          </a:prstGeom>
        </p:spPr>
      </p:pic>
      <p:sp>
        <p:nvSpPr>
          <p:cNvPr id="21" name="7210ae6c-4ed4-417b-987b-ac5db6e4c599"/>
          <p:cNvSpPr/>
          <p:nvPr/>
        </p:nvSpPr>
        <p:spPr>
          <a:xfrm>
            <a:off x="75895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22" name="a9344eea-8021-451f-96f0-cdc1bfcf5d53"/>
          <p:cNvSpPr/>
          <p:nvPr/>
        </p:nvSpPr>
        <p:spPr>
          <a:xfrm>
            <a:off x="2377440" y="2957796"/>
            <a:ext cx="128016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0807bfc8-e87a-4bb7-b284-ac4b690edd7f"/>
          <p:cNvSpPr/>
          <p:nvPr/>
        </p:nvSpPr>
        <p:spPr>
          <a:xfrm>
            <a:off x="5760720" y="2957796"/>
            <a:ext cx="11887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4" name="2a806527-4275-441c-8083-9f5114dfd971"/>
          <p:cNvSpPr/>
          <p:nvPr/>
        </p:nvSpPr>
        <p:spPr>
          <a:xfrm>
            <a:off x="1554480" y="3339619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Basic(AD 帳密)</a:t>
            </a:r>
            <a:endParaRPr lang="en-US" sz="1000" dirty="0"/>
          </a:p>
        </p:txBody>
      </p:sp>
      <p:sp>
        <p:nvSpPr>
          <p:cNvPr id="25" name="c1fda0ae-4102-4306-9ca6-662918836c51"/>
          <p:cNvSpPr/>
          <p:nvPr/>
        </p:nvSpPr>
        <p:spPr>
          <a:xfrm>
            <a:off x="5532120" y="3339619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OAUTHBEARER(帶 token)</a:t>
            </a:r>
            <a:endParaRPr lang="en-US" sz="1000" dirty="0"/>
          </a:p>
        </p:txBody>
      </p:sp>
      <p:sp>
        <p:nvSpPr>
          <p:cNvPr id="26" name="e9fb4737-1493-4928-83d2-5143c4f4ff40"/>
          <p:cNvSpPr/>
          <p:nvPr/>
        </p:nvSpPr>
        <p:spPr>
          <a:xfrm>
            <a:off x="8915400" y="2703246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27" name="066f0114-1aa5-46d0-ba52-545c4db8a780"/>
          <p:cNvSpPr/>
          <p:nvPr/>
        </p:nvSpPr>
        <p:spPr>
          <a:xfrm>
            <a:off x="548640" y="3636594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機器(legacy app)</a:t>
            </a:r>
            <a:endParaRPr lang="en-US" sz="1400" dirty="0"/>
          </a:p>
        </p:txBody>
      </p:sp>
      <p:sp>
        <p:nvSpPr>
          <p:cNvPr id="28" name="72d0a182-c29b-4eef-9d01-ceed81d65266"/>
          <p:cNvSpPr/>
          <p:nvPr/>
        </p:nvSpPr>
        <p:spPr>
          <a:xfrm>
            <a:off x="3657600" y="3959022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9" name="ab5114f3-57de-4279-bee1-8e748622c86b"/>
          <p:cNvSpPr/>
          <p:nvPr/>
        </p:nvSpPr>
        <p:spPr>
          <a:xfrm>
            <a:off x="3749040" y="4026902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0" name="96077778-5f6f-4dea-bbe1-92a724127878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41577" y="4112770"/>
            <a:ext cx="235549" cy="235549"/>
          </a:xfrm>
          <a:prstGeom prst="rect">
            <a:avLst/>
          </a:prstGeom>
        </p:spPr>
      </p:pic>
      <p:sp>
        <p:nvSpPr>
          <p:cNvPr id="31" name="c65e0b3b-ed59-499e-a3a2-d8f4e61b0c63"/>
          <p:cNvSpPr/>
          <p:nvPr/>
        </p:nvSpPr>
        <p:spPr>
          <a:xfrm>
            <a:off x="4251960" y="4026902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32" name="436f7ede-75c1-4dfe-b664-84c3810d42b2"/>
          <p:cNvSpPr/>
          <p:nvPr/>
        </p:nvSpPr>
        <p:spPr>
          <a:xfrm flipV="1">
            <a:off x="43434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3" name="a7921414-2a1b-4945-a3ce-ddb4f260dcaf"/>
          <p:cNvSpPr/>
          <p:nvPr/>
        </p:nvSpPr>
        <p:spPr>
          <a:xfrm>
            <a:off x="50292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4" name="bd506bb8-5526-4fa6-810a-d5c0af33b671"/>
          <p:cNvSpPr/>
          <p:nvPr/>
        </p:nvSpPr>
        <p:spPr>
          <a:xfrm>
            <a:off x="5852160" y="3891143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5" name="12976505-b1d8-4370-9bc8-c0a3e9d319f6"/>
          <p:cNvSpPr/>
          <p:nvPr/>
        </p:nvSpPr>
        <p:spPr>
          <a:xfrm>
            <a:off x="5486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6" name="38b6453c-5757-4dd9-bcec-d3f27c3445fc"/>
          <p:cNvSpPr/>
          <p:nvPr/>
        </p:nvSpPr>
        <p:spPr>
          <a:xfrm>
            <a:off x="6400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7" name="833d0ae5-4026-4f06-b1bf-c13d396fdafa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44687" y="4862163"/>
            <a:ext cx="266273" cy="266273"/>
          </a:xfrm>
          <a:prstGeom prst="rect">
            <a:avLst/>
          </a:prstGeom>
        </p:spPr>
      </p:pic>
      <p:sp>
        <p:nvSpPr>
          <p:cNvPr id="38" name="bf3b5f37-63cb-49d0-a815-a4ea0d920f67"/>
          <p:cNvSpPr/>
          <p:nvPr/>
        </p:nvSpPr>
        <p:spPr>
          <a:xfrm>
            <a:off x="11887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</p:txBody>
      </p:sp>
      <p:sp>
        <p:nvSpPr>
          <p:cNvPr id="39" name="be5ccf21-f45a-49e6-bcb9-4bcefb8a2f66"/>
          <p:cNvSpPr/>
          <p:nvPr/>
        </p:nvSpPr>
        <p:spPr>
          <a:xfrm>
            <a:off x="3657600" y="4654790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0" name="448e5f25-ddde-47e3-a406-d5c7a42a829a"/>
          <p:cNvSpPr/>
          <p:nvPr/>
        </p:nvSpPr>
        <p:spPr>
          <a:xfrm>
            <a:off x="374904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1" name="3e336fd0-bcac-49bb-8747-45b074078c1a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3853647" y="4862163"/>
            <a:ext cx="266273" cy="266273"/>
          </a:xfrm>
          <a:prstGeom prst="rect">
            <a:avLst/>
          </a:prstGeom>
        </p:spPr>
      </p:pic>
      <p:sp>
        <p:nvSpPr>
          <p:cNvPr id="42" name="7b0fc50c-8c34-4a1e-8502-2d07a29b3ba6"/>
          <p:cNvSpPr/>
          <p:nvPr/>
        </p:nvSpPr>
        <p:spPr>
          <a:xfrm>
            <a:off x="4297680" y="4765095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43" name="a8f2a24c-06c7-4f3c-bb8f-2d5a30410f35"/>
          <p:cNvSpPr/>
          <p:nvPr/>
        </p:nvSpPr>
        <p:spPr>
          <a:xfrm>
            <a:off x="69494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4" name="4a7ec9eb-0461-4205-8668-63535e48a8f5"/>
          <p:cNvSpPr/>
          <p:nvPr/>
        </p:nvSpPr>
        <p:spPr>
          <a:xfrm>
            <a:off x="70408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5" name="652891a2-afde-42be-a364-8e78b9e61ff0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145487" y="4862163"/>
            <a:ext cx="266273" cy="266273"/>
          </a:xfrm>
          <a:prstGeom prst="rect">
            <a:avLst/>
          </a:prstGeom>
        </p:spPr>
      </p:pic>
      <p:sp>
        <p:nvSpPr>
          <p:cNvPr id="46" name="705a654c-b8cc-4529-9098-682cf06a6318"/>
          <p:cNvSpPr/>
          <p:nvPr/>
        </p:nvSpPr>
        <p:spPr>
          <a:xfrm>
            <a:off x="75895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47" name="e9e09a19-373b-433e-b639-3b25f5e1ee0a"/>
          <p:cNvSpPr/>
          <p:nvPr/>
        </p:nvSpPr>
        <p:spPr>
          <a:xfrm>
            <a:off x="2377440" y="4994189"/>
            <a:ext cx="128016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8" name="e43efb8c-214c-4777-b7c7-40e48302d640"/>
          <p:cNvSpPr/>
          <p:nvPr/>
        </p:nvSpPr>
        <p:spPr>
          <a:xfrm>
            <a:off x="5760720" y="4994189"/>
            <a:ext cx="11887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9" name="937f566e-44fe-47bf-8c8c-4dcf13d49ba9"/>
          <p:cNvSpPr/>
          <p:nvPr/>
        </p:nvSpPr>
        <p:spPr>
          <a:xfrm>
            <a:off x="1554480" y="5376013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client 憑證(CN)→ 對映成主體</a:t>
            </a:r>
            <a:endParaRPr lang="en-US" sz="1000" dirty="0"/>
          </a:p>
        </p:txBody>
      </p:sp>
      <p:sp>
        <p:nvSpPr>
          <p:cNvPr id="50" name="2d89655d-9b0a-4f81-83cc-2f49b29832d1"/>
          <p:cNvSpPr/>
          <p:nvPr/>
        </p:nvSpPr>
        <p:spPr>
          <a:xfrm>
            <a:off x="5532120" y="5376013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⑤ OAUTHBEARER(帶 token)</a:t>
            </a:r>
            <a:endParaRPr lang="en-US" sz="1000" dirty="0"/>
          </a:p>
        </p:txBody>
      </p:sp>
      <p:sp>
        <p:nvSpPr>
          <p:cNvPr id="51" name="c54240dd-5e53-4ed6-92b5-037f62fc2deb"/>
          <p:cNvSpPr/>
          <p:nvPr/>
        </p:nvSpPr>
        <p:spPr>
          <a:xfrm>
            <a:off x="8915400" y="4739640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52" name="ac412e9b-dd5a-4caf-bfd7-9dacaa6541e8"/>
          <p:cNvSpPr/>
          <p:nvPr/>
        </p:nvSpPr>
        <p:spPr>
          <a:xfrm>
            <a:off x="548640" y="5715412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3" name="59c19dd2-77bc-49fa-a034-ad4915244ff5"/>
          <p:cNvSpPr/>
          <p:nvPr/>
        </p:nvSpPr>
        <p:spPr>
          <a:xfrm>
            <a:off x="548640" y="6063296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Center:人用本人身分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C3 自己的背景工作才用憑證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5c50df2-c581-4a14-863f-987926e9a1c9"/>
          <p:cNvSpPr/>
          <p:nvPr/>
        </p:nvSpPr>
        <p:spPr>
          <a:xfrm>
            <a:off x="548640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33874d8d-579f-45ab-9b98-9c8b9e5368e0"/>
          <p:cNvSpPr/>
          <p:nvPr/>
        </p:nvSpPr>
        <p:spPr>
          <a:xfrm>
            <a:off x="658368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14e17186-7c37-4dbc-8f87-eb0ab25a969c"/>
          <p:cNvSpPr/>
          <p:nvPr/>
        </p:nvSpPr>
        <p:spPr>
          <a:xfrm>
            <a:off x="640080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登入</a:t>
            </a:r>
            <a:endParaRPr lang="en-US" sz="1400" dirty="0"/>
          </a:p>
        </p:txBody>
      </p:sp>
      <p:sp>
        <p:nvSpPr>
          <p:cNvPr id="5" name="56505aa6-a579-4ebd-81a5-d04321bc867b"/>
          <p:cNvSpPr/>
          <p:nvPr/>
        </p:nvSpPr>
        <p:spPr>
          <a:xfrm>
            <a:off x="640080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瀏覽器送 AD 帳密</a:t>
            </a:r>
            <a:endParaRPr lang="en-US" sz="1100" dirty="0"/>
          </a:p>
        </p:txBody>
      </p:sp>
      <p:sp>
        <p:nvSpPr>
          <p:cNvPr id="6" name="70aa8e24-5eb4-46f4-82aa-9d7453a05cf0"/>
          <p:cNvSpPr/>
          <p:nvPr/>
        </p:nvSpPr>
        <p:spPr>
          <a:xfrm>
            <a:off x="2560320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7" name="13fb5727-7366-495f-8344-ec09eae05a2d"/>
          <p:cNvSpPr/>
          <p:nvPr/>
        </p:nvSpPr>
        <p:spPr>
          <a:xfrm>
            <a:off x="2816352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1608f1f3-0cf0-488f-ac7d-2803319143fd"/>
          <p:cNvSpPr/>
          <p:nvPr/>
        </p:nvSpPr>
        <p:spPr>
          <a:xfrm>
            <a:off x="2926080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c52c6986-242a-423c-8a50-e2b937be2abf"/>
          <p:cNvSpPr/>
          <p:nvPr/>
        </p:nvSpPr>
        <p:spPr>
          <a:xfrm>
            <a:off x="2907792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轉給 MDS</a:t>
            </a:r>
            <a:endParaRPr lang="en-US" sz="1400" dirty="0"/>
          </a:p>
        </p:txBody>
      </p:sp>
      <p:sp>
        <p:nvSpPr>
          <p:cNvPr id="10" name="41e3935e-c641-4860-8dfe-defa237f5d89"/>
          <p:cNvSpPr/>
          <p:nvPr/>
        </p:nvSpPr>
        <p:spPr>
          <a:xfrm>
            <a:off x="2907792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向 AD 驗證</a:t>
            </a:r>
            <a:endParaRPr lang="en-US" sz="1100" dirty="0"/>
          </a:p>
        </p:txBody>
      </p:sp>
      <p:sp>
        <p:nvSpPr>
          <p:cNvPr id="11" name="8c545aff-49c6-49ea-bcb6-7415b9c5e6a2"/>
          <p:cNvSpPr/>
          <p:nvPr/>
        </p:nvSpPr>
        <p:spPr>
          <a:xfrm>
            <a:off x="4828032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d3e0bef2-15e0-43c9-8e12-1d935f8c220f"/>
          <p:cNvSpPr/>
          <p:nvPr/>
        </p:nvSpPr>
        <p:spPr>
          <a:xfrm>
            <a:off x="5084064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d5e414fa-6a94-4ae2-af99-6c35a5d639a8"/>
          <p:cNvSpPr/>
          <p:nvPr/>
        </p:nvSpPr>
        <p:spPr>
          <a:xfrm>
            <a:off x="5193792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42fe9782-ff93-41a8-aed4-f336ba94ad08"/>
          <p:cNvSpPr/>
          <p:nvPr/>
        </p:nvSpPr>
        <p:spPr>
          <a:xfrm>
            <a:off x="5175504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 token</a:t>
            </a:r>
            <a:endParaRPr lang="en-US" sz="1400" dirty="0"/>
          </a:p>
        </p:txBody>
      </p:sp>
      <p:sp>
        <p:nvSpPr>
          <p:cNvPr id="15" name="2db8e99c-e68b-4455-b0b4-892b8d8228cf"/>
          <p:cNvSpPr/>
          <p:nvPr/>
        </p:nvSpPr>
        <p:spPr>
          <a:xfrm>
            <a:off x="5175504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壽命可設(demo 1 小時),會續期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登入上限預設 6 小時</a:t>
            </a:r>
            <a:endParaRPr lang="en-US" sz="1100" dirty="0"/>
          </a:p>
        </p:txBody>
      </p:sp>
      <p:sp>
        <p:nvSpPr>
          <p:cNvPr id="16" name="1339432b-e67c-4606-8f6d-ea9c494442bd"/>
          <p:cNvSpPr/>
          <p:nvPr/>
        </p:nvSpPr>
        <p:spPr>
          <a:xfrm>
            <a:off x="7095744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2801d9df-e872-4ca6-9cbb-ce1462f07339"/>
          <p:cNvSpPr/>
          <p:nvPr/>
        </p:nvSpPr>
        <p:spPr>
          <a:xfrm>
            <a:off x="7351776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91ef660f-fe93-4da7-b078-a88a470f4214"/>
          <p:cNvSpPr/>
          <p:nvPr/>
        </p:nvSpPr>
        <p:spPr>
          <a:xfrm>
            <a:off x="7461504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8b0208c9-fd06-4331-b920-55cf54e683de"/>
          <p:cNvSpPr/>
          <p:nvPr/>
        </p:nvSpPr>
        <p:spPr>
          <a:xfrm>
            <a:off x="7443216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之後帶 Bearer</a:t>
            </a:r>
            <a:endParaRPr lang="en-US" sz="1400" dirty="0"/>
          </a:p>
        </p:txBody>
      </p:sp>
      <p:sp>
        <p:nvSpPr>
          <p:cNvPr id="20" name="0bf32c0c-7c25-41b2-847c-067683644f94"/>
          <p:cNvSpPr/>
          <p:nvPr/>
        </p:nvSpPr>
        <p:spPr>
          <a:xfrm>
            <a:off x="7443216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優先看 Bearer(實測)</a:t>
            </a:r>
            <a:endParaRPr lang="en-US" sz="1100" dirty="0"/>
          </a:p>
        </p:txBody>
      </p:sp>
      <p:sp>
        <p:nvSpPr>
          <p:cNvPr id="21" name="ebdcd4c2-dee9-48af-a984-a05ef909c662"/>
          <p:cNvSpPr/>
          <p:nvPr/>
        </p:nvSpPr>
        <p:spPr>
          <a:xfrm>
            <a:off x="9363456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6db74d51-b0ba-4261-82a8-684d2f8067ce"/>
          <p:cNvSpPr/>
          <p:nvPr/>
        </p:nvSpPr>
        <p:spPr>
          <a:xfrm>
            <a:off x="9619488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4a3e3c98-b163-4d3e-a93a-20c594c555fe"/>
          <p:cNvSpPr/>
          <p:nvPr/>
        </p:nvSpPr>
        <p:spPr>
          <a:xfrm>
            <a:off x="9729216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0a5276b8-1302-4b17-86a1-3b6d99f12e7e"/>
          <p:cNvSpPr/>
          <p:nvPr/>
        </p:nvSpPr>
        <p:spPr>
          <a:xfrm>
            <a:off x="9710928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驗章 + 查範圍</a:t>
            </a:r>
            <a:endParaRPr lang="en-US" sz="1400" dirty="0"/>
          </a:p>
        </p:txBody>
      </p:sp>
      <p:sp>
        <p:nvSpPr>
          <p:cNvPr id="25" name="eca1e0d2-5ca7-48ea-8dd9-f10ffe1df7cb"/>
          <p:cNvSpPr/>
          <p:nvPr/>
        </p:nvSpPr>
        <p:spPr>
          <a:xfrm>
            <a:off x="9710928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本地驗章(實測推論)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再向 MDS 查權限</a:t>
            </a:r>
            <a:endParaRPr lang="en-US" sz="1100" dirty="0"/>
          </a:p>
        </p:txBody>
      </p:sp>
      <p:sp>
        <p:nvSpPr>
          <p:cNvPr id="26" name="af7e41d2-fd47-4c02-9291-e8c94db7f794"/>
          <p:cNvSpPr/>
          <p:nvPr/>
        </p:nvSpPr>
        <p:spPr>
          <a:xfrm>
            <a:off x="548640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c5bbb4e6-b475-4997-bc99-ab09b9bb78b4"/>
          <p:cNvSpPr/>
          <p:nvPr/>
        </p:nvSpPr>
        <p:spPr>
          <a:xfrm>
            <a:off x="731520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99cd8382-e22e-48c0-9b6b-346efbeda8d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3936962"/>
            <a:ext cx="358445" cy="358445"/>
          </a:xfrm>
          <a:prstGeom prst="rect">
            <a:avLst/>
          </a:prstGeom>
        </p:spPr>
      </p:pic>
      <p:sp>
        <p:nvSpPr>
          <p:cNvPr id="29" name="30758578-e617-4501-9bee-124349413b42"/>
          <p:cNvSpPr/>
          <p:nvPr/>
        </p:nvSpPr>
        <p:spPr>
          <a:xfrm>
            <a:off x="1508760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主體 = User:gary / ming</a:t>
            </a:r>
            <a:endParaRPr lang="en-US" sz="1500" dirty="0"/>
          </a:p>
        </p:txBody>
      </p:sp>
      <p:sp>
        <p:nvSpPr>
          <p:cNvPr id="30" name="e2d8b5a0-ac40-4c17-98d8-2e3bd93875f4"/>
          <p:cNvSpPr/>
          <p:nvPr/>
        </p:nvSpPr>
        <p:spPr>
          <a:xfrm>
            <a:off x="6199632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1" name="032a8a32-629f-4fb4-88d8-2b08a7b6ebd7"/>
          <p:cNvSpPr/>
          <p:nvPr/>
        </p:nvSpPr>
        <p:spPr>
          <a:xfrm>
            <a:off x="6382512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2" name="8c24f71e-20ad-48e1-992b-e6cf6e0038f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3936962"/>
            <a:ext cx="358445" cy="358445"/>
          </a:xfrm>
          <a:prstGeom prst="rect">
            <a:avLst/>
          </a:prstGeom>
        </p:spPr>
      </p:pic>
      <p:sp>
        <p:nvSpPr>
          <p:cNvPr id="33" name="80749e9b-9e33-4d8e-b587-cd8f4b5ae4ff"/>
          <p:cNvSpPr/>
          <p:nvPr/>
        </p:nvSpPr>
        <p:spPr>
          <a:xfrm>
            <a:off x="7159752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官方要求 SystemAdmin</a:t>
            </a:r>
            <a:endParaRPr lang="en-US" sz="1500" dirty="0"/>
          </a:p>
        </p:txBody>
      </p:sp>
      <p:sp>
        <p:nvSpPr>
          <p:cNvPr id="34" name="36cfa67b-f87a-494c-95ca-2c0632c614f6"/>
          <p:cNvSpPr/>
          <p:nvPr/>
        </p:nvSpPr>
        <p:spPr>
          <a:xfrm>
            <a:off x="548640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5" name="5853a2c2-0072-4e7c-b1c5-fc453ad0c285"/>
          <p:cNvSpPr/>
          <p:nvPr/>
        </p:nvSpPr>
        <p:spPr>
          <a:xfrm>
            <a:off x="6199632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6" name="d0ae8d02-bec8-4d1a-b5de-ecc027dd3f97"/>
          <p:cNvSpPr/>
          <p:nvPr/>
        </p:nvSpPr>
        <p:spPr>
          <a:xfrm>
            <a:off x="548640" y="5800262"/>
            <a:ext cx="110916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周邊:Prometheus · Alertmanager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認證現況與可啟用的保護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992dbca-6b06-4b59-8b19-f3d90c81f75d"/>
          <p:cNvSpPr/>
          <p:nvPr/>
        </p:nvSpPr>
        <p:spPr>
          <a:xfrm>
            <a:off x="5486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e342e8d6-97e9-46a4-9c33-9ada59c384f7"/>
          <p:cNvSpPr/>
          <p:nvPr/>
        </p:nvSpPr>
        <p:spPr>
          <a:xfrm>
            <a:off x="1645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ae82e406-3373-4fd9-adf3-646d8837f3d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766621" y="1966751"/>
            <a:ext cx="307238" cy="307238"/>
          </a:xfrm>
          <a:prstGeom prst="rect">
            <a:avLst/>
          </a:prstGeom>
        </p:spPr>
      </p:pic>
      <p:sp>
        <p:nvSpPr>
          <p:cNvPr id="5" name="967d7e41-f10f-4181-bf41-3237a432f108"/>
          <p:cNvSpPr/>
          <p:nvPr/>
        </p:nvSpPr>
        <p:spPr>
          <a:xfrm>
            <a:off x="6217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6" name="e202e43b-a6eb-4c21-a447-4a497c47ba24"/>
          <p:cNvSpPr/>
          <p:nvPr/>
        </p:nvSpPr>
        <p:spPr>
          <a:xfrm>
            <a:off x="6400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 2.x</a:t>
            </a:r>
            <a:endParaRPr lang="en-US" sz="1100" dirty="0"/>
          </a:p>
        </p:txBody>
      </p:sp>
      <p:sp>
        <p:nvSpPr>
          <p:cNvPr id="7" name="1c17704c-366c-486f-8e77-51f1351708cd"/>
          <p:cNvSpPr/>
          <p:nvPr/>
        </p:nvSpPr>
        <p:spPr>
          <a:xfrm>
            <a:off x="42062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d3d9faa5-204f-499c-b327-d1444a532c7d"/>
          <p:cNvSpPr/>
          <p:nvPr/>
        </p:nvSpPr>
        <p:spPr>
          <a:xfrm>
            <a:off x="53035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fd4876a2-0e39-47d1-9a2a-6688bfd1e8f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424221" y="1966751"/>
            <a:ext cx="307238" cy="307238"/>
          </a:xfrm>
          <a:prstGeom prst="rect">
            <a:avLst/>
          </a:prstGeom>
        </p:spPr>
      </p:pic>
      <p:sp>
        <p:nvSpPr>
          <p:cNvPr id="10" name="8fa30650-d442-45a5-940b-1f23dd2cad68"/>
          <p:cNvSpPr/>
          <p:nvPr/>
        </p:nvSpPr>
        <p:spPr>
          <a:xfrm>
            <a:off x="42793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df610e74-030f-447c-8732-cced35e56060"/>
          <p:cNvSpPr/>
          <p:nvPr/>
        </p:nvSpPr>
        <p:spPr>
          <a:xfrm>
            <a:off x="42976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</a:t>
            </a:r>
            <a:endParaRPr lang="en-US" sz="1100" dirty="0"/>
          </a:p>
        </p:txBody>
      </p:sp>
      <p:sp>
        <p:nvSpPr>
          <p:cNvPr id="12" name="837ed767-56c9-4484-a456-13e19f8d49bd"/>
          <p:cNvSpPr/>
          <p:nvPr/>
        </p:nvSpPr>
        <p:spPr>
          <a:xfrm>
            <a:off x="78638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8498397f-dc0b-42a6-b119-12279e750a78"/>
          <p:cNvSpPr/>
          <p:nvPr/>
        </p:nvSpPr>
        <p:spPr>
          <a:xfrm>
            <a:off x="89611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666f5808-7fe2-42aa-9a35-f576d590d84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081821" y="1966751"/>
            <a:ext cx="307238" cy="307238"/>
          </a:xfrm>
          <a:prstGeom prst="rect">
            <a:avLst/>
          </a:prstGeom>
        </p:spPr>
      </p:pic>
      <p:sp>
        <p:nvSpPr>
          <p:cNvPr id="15" name="6526ea9d-98e8-43d2-a864-bb8f1c7bc1d4"/>
          <p:cNvSpPr/>
          <p:nvPr/>
        </p:nvSpPr>
        <p:spPr>
          <a:xfrm>
            <a:off x="79369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20ae38f9-aad8-4cd5-b717-046c34a78120"/>
          <p:cNvSpPr/>
          <p:nvPr/>
        </p:nvSpPr>
        <p:spPr>
          <a:xfrm>
            <a:off x="79552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</a:t>
            </a:r>
            <a:endParaRPr lang="en-US" sz="1100" dirty="0"/>
          </a:p>
        </p:txBody>
      </p:sp>
      <p:sp>
        <p:nvSpPr>
          <p:cNvPr id="17" name="e24b8b18-3330-4da8-a55b-ea91dcaa82c2"/>
          <p:cNvSpPr/>
          <p:nvPr/>
        </p:nvSpPr>
        <p:spPr>
          <a:xfrm>
            <a:off x="32918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de4537bb-3b38-41b1-9655-bf9126887887"/>
          <p:cNvSpPr/>
          <p:nvPr/>
        </p:nvSpPr>
        <p:spPr>
          <a:xfrm>
            <a:off x="69494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94b55960-70fb-4926-b932-cf58bf1ef918"/>
          <p:cNvSpPr/>
          <p:nvPr/>
        </p:nvSpPr>
        <p:spPr>
          <a:xfrm>
            <a:off x="548640" y="3933568"/>
            <a:ext cx="5486400" cy="1484870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0" name="11173cb1-ed7c-413a-9d5e-50e2fd5b7068"/>
          <p:cNvSpPr/>
          <p:nvPr/>
        </p:nvSpPr>
        <p:spPr>
          <a:xfrm>
            <a:off x="73152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1" name="6e278bfd-8c01-4f54-b4a7-addb374de110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72338" y="4191511"/>
            <a:ext cx="358445" cy="358445"/>
          </a:xfrm>
          <a:prstGeom prst="rect">
            <a:avLst/>
          </a:prstGeom>
        </p:spPr>
      </p:pic>
      <p:sp>
        <p:nvSpPr>
          <p:cNvPr id="22" name="2ddd2ff3-7960-4495-bd53-56b194dc15e4"/>
          <p:cNvSpPr/>
          <p:nvPr/>
        </p:nvSpPr>
        <p:spPr>
          <a:xfrm>
            <a:off x="1508760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 demo 未啟用認證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不帶憑證可讀指標;Alertmanager 可無認證建立 / 刪除靜音</a:t>
            </a:r>
            <a:endParaRPr lang="en-US" sz="1400" dirty="0"/>
          </a:p>
        </p:txBody>
      </p:sp>
      <p:sp>
        <p:nvSpPr>
          <p:cNvPr id="23" name="2f64c1bc-a745-400f-8d10-c58225a3782a"/>
          <p:cNvSpPr/>
          <p:nvPr/>
        </p:nvSpPr>
        <p:spPr>
          <a:xfrm>
            <a:off x="6199632" y="3933568"/>
            <a:ext cx="5440680" cy="1484870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bd64eac8-ea42-4ff5-ab2e-abafd2a327ec"/>
          <p:cNvSpPr/>
          <p:nvPr/>
        </p:nvSpPr>
        <p:spPr>
          <a:xfrm>
            <a:off x="6382512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5" name="122c0a35-1e3b-4767-879d-d90988b1b67b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23330" y="4191511"/>
            <a:ext cx="358445" cy="358445"/>
          </a:xfrm>
          <a:prstGeom prst="rect">
            <a:avLst/>
          </a:prstGeom>
        </p:spPr>
      </p:pic>
      <p:sp>
        <p:nvSpPr>
          <p:cNvPr id="26" name="8bb8f9a6-55f5-49d6-a8f9-8a0031a4d42b"/>
          <p:cNvSpPr/>
          <p:nvPr/>
        </p:nvSpPr>
        <p:spPr>
          <a:xfrm>
            <a:off x="7159752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官方支援 TLS + HTTP Basic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正式環境應啟用;客戶不想管憑證 → 共用 server 憑證做 TLS + Basic 帳密</a:t>
            </a:r>
            <a:endParaRPr lang="en-US" sz="1400" dirty="0"/>
          </a:p>
        </p:txBody>
      </p:sp>
      <p:sp>
        <p:nvSpPr>
          <p:cNvPr id="27" name="169edc77-1221-4c89-8e7c-5b8920d4161b"/>
          <p:cNvSpPr/>
          <p:nvPr/>
        </p:nvSpPr>
        <p:spPr>
          <a:xfrm>
            <a:off x="548640" y="5630562"/>
            <a:ext cx="749808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Schema Registry 未部署 → confluent.controlcenter.schema.registry.enable=false</a:t>
            </a:r>
            <a:endParaRPr lang="en-US" sz="1150" dirty="0"/>
          </a:p>
        </p:txBody>
      </p:sp>
      <p:sp>
        <p:nvSpPr>
          <p:cNvPr id="28" name="da4aab08-130c-4142-b863-dd6723461910"/>
          <p:cNvSpPr/>
          <p:nvPr/>
        </p:nvSpPr>
        <p:spPr>
          <a:xfrm>
            <a:off x="8229600" y="5630562"/>
            <a:ext cx="341071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啟用後的實測:尚未做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log:誰被拒、誰改了授權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預設只記錄 Management 與 Authorize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121b541-e29b-4829-bfbc-c9e9b46622c5"/>
          <p:cNvSpPr/>
          <p:nvPr/>
        </p:nvSpPr>
        <p:spPr>
          <a:xfrm>
            <a:off x="548640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" name="9f0e0c03-8e92-45d2-922c-d2d17dab6119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" name="aaf85c26-cef9-43b7-ba4d-06a01c07431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e215c5de-8b42-487c-af66-4924a6b404aa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官方預設</a:t>
            </a:r>
            <a:endParaRPr lang="en-US" sz="1600" dirty="0"/>
          </a:p>
        </p:txBody>
      </p:sp>
      <p:sp>
        <p:nvSpPr>
          <p:cNvPr id="6" name="495e7157-c397-476d-a49d-455fc35211f3"/>
          <p:cNvSpPr/>
          <p:nvPr/>
        </p:nvSpPr>
        <p:spPr>
          <a:xfrm>
            <a:off x="640080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confluent-audit-log-events</a:t>
            </a:r>
            <a:endParaRPr lang="en-US" sz="1200" dirty="0"/>
          </a:p>
        </p:txBody>
      </p:sp>
      <p:sp>
        <p:nvSpPr>
          <p:cNvPr id="7" name="08d35341-5ae7-40c4-8785-1216eed13471"/>
          <p:cNvSpPr/>
          <p:nvPr/>
        </p:nvSpPr>
        <p:spPr>
          <a:xfrm>
            <a:off x="4325112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284b8394-2359-49b5-afb6-2dc9220a6ce1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e2d22b4f-0264-4cee-827b-e8dbf46e256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eff95c75-4509-4d91-805f-6fa4c188c0ef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自訂 router</a:t>
            </a:r>
            <a:endParaRPr lang="en-US" sz="1600" dirty="0"/>
          </a:p>
        </p:txBody>
      </p:sp>
      <p:sp>
        <p:nvSpPr>
          <p:cNvPr id="11" name="bc0b5b2c-9a68-4437-9bfe-ba068245ec15"/>
          <p:cNvSpPr/>
          <p:nvPr/>
        </p:nvSpPr>
        <p:spPr>
          <a:xfrm>
            <a:off x="4416552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topic 前綴記錄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 describe 的「被拒」事件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被允許的 consume 不記(避免洗版)</a:t>
            </a:r>
            <a:endParaRPr lang="en-US" sz="1200" dirty="0"/>
          </a:p>
        </p:txBody>
      </p:sp>
      <p:sp>
        <p:nvSpPr>
          <p:cNvPr id="12" name="607042b9-0840-4240-ba77-ea44d095e1db"/>
          <p:cNvSpPr/>
          <p:nvPr/>
        </p:nvSpPr>
        <p:spPr>
          <a:xfrm>
            <a:off x="8101584" y="1727475"/>
            <a:ext cx="3538728" cy="216366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3" name="80be68a1-ecc1-46a1-a175-17fdf07bf12c"/>
          <p:cNvSpPr/>
          <p:nvPr/>
        </p:nvSpPr>
        <p:spPr>
          <a:xfrm>
            <a:off x="9596628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784c3ceb-c791-442a-a634-591499f8422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66751"/>
            <a:ext cx="307238" cy="307238"/>
          </a:xfrm>
          <a:prstGeom prst="rect">
            <a:avLst/>
          </a:prstGeom>
        </p:spPr>
      </p:pic>
      <p:sp>
        <p:nvSpPr>
          <p:cNvPr id="15" name="affe2126-edde-4cfb-896d-c2b443221bb8"/>
          <p:cNvSpPr/>
          <p:nvPr/>
        </p:nvSpPr>
        <p:spPr>
          <a:xfrm>
            <a:off x="8174736" y="2448697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查不到的</a:t>
            </a:r>
            <a:endParaRPr lang="en-US" sz="1600" dirty="0"/>
          </a:p>
        </p:txBody>
      </p:sp>
      <p:sp>
        <p:nvSpPr>
          <p:cNvPr id="16" name="e0afea8a-e57b-445d-81fc-076a5f645dd0"/>
          <p:cNvSpPr/>
          <p:nvPr/>
        </p:nvSpPr>
        <p:spPr>
          <a:xfrm>
            <a:off x="8193024" y="2830521"/>
            <a:ext cx="3355848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 actingPrincipal 為空</a:t>
            </a:r>
            <a:endParaRPr lang="en-US" sz="1200" dirty="0"/>
          </a:p>
        </p:txBody>
      </p:sp>
      <p:sp>
        <p:nvSpPr>
          <p:cNvPr id="17" name="4369a80d-e424-40ca-a30d-f47f124bbaaf"/>
          <p:cNvSpPr/>
          <p:nvPr/>
        </p:nvSpPr>
        <p:spPr>
          <a:xfrm>
            <a:off x="4069080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a480ceda-30e4-4cbc-8ed8-ba9e1049d6a4"/>
          <p:cNvSpPr/>
          <p:nvPr/>
        </p:nvSpPr>
        <p:spPr>
          <a:xfrm>
            <a:off x="7845552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a6a20f7f-5c2f-4bae-8a0b-57ed4508f4cd"/>
          <p:cNvSpPr/>
          <p:nvPr/>
        </p:nvSpPr>
        <p:spPr>
          <a:xfrm>
            <a:off x="548640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能看到:誰被拒(需自訂 router)</a:t>
            </a:r>
            <a:endParaRPr lang="en-US" sz="1250" dirty="0"/>
          </a:p>
        </p:txBody>
      </p:sp>
      <p:sp>
        <p:nvSpPr>
          <p:cNvPr id="20" name="6c523dab-de4a-4efa-ab53-a94c3a4c62b7"/>
          <p:cNvSpPr/>
          <p:nvPr/>
        </p:nvSpPr>
        <p:spPr>
          <a:xfrm>
            <a:off x="6153912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能看到:誰嘗試改授權(DENIED)</a:t>
            </a:r>
            <a:endParaRPr lang="en-US" sz="1250" dirty="0"/>
          </a:p>
        </p:txBody>
      </p:sp>
      <p:sp>
        <p:nvSpPr>
          <p:cNvPr id="21" name="1d42492d-d511-4f48-8d62-d1eb8001042b"/>
          <p:cNvSpPr/>
          <p:nvPr/>
        </p:nvSpPr>
        <p:spPr>
          <a:xfrm>
            <a:off x="548640" y="4697215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2" name="50b381f1-0bf0-48d2-a5c3-8827b37b7945"/>
          <p:cNvSpPr/>
          <p:nvPr/>
        </p:nvSpPr>
        <p:spPr>
          <a:xfrm>
            <a:off x="548640" y="52063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3" name="1e43ad0b-10fc-4344-8506-2f0a7194d5db"/>
          <p:cNvSpPr/>
          <p:nvPr/>
        </p:nvSpPr>
        <p:spPr>
          <a:xfrm>
            <a:off x="548640" y="567298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整合起來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全景 · 人與機器的完整路徑 · 要管理的憑證 · 導入步驟 · 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全景整合圖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人與機器如何進入,由 MDS 的 RBAC 集中判斷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e5e4abc-6b30-4c68-99d3-8d423f81331d"/>
          <p:cNvSpPr/>
          <p:nvPr/>
        </p:nvSpPr>
        <p:spPr>
          <a:xfrm>
            <a:off x="457200" y="1642625"/>
            <a:ext cx="2560320" cy="1824269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955f3128-3ec2-4bf8-9521-8ac02207ace4"/>
          <p:cNvSpPr/>
          <p:nvPr/>
        </p:nvSpPr>
        <p:spPr>
          <a:xfrm>
            <a:off x="594360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08a2df99-0cae-4fc1-8e48-e942054a913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5178" y="1900568"/>
            <a:ext cx="358445" cy="358445"/>
          </a:xfrm>
          <a:prstGeom prst="rect">
            <a:avLst/>
          </a:prstGeom>
        </p:spPr>
      </p:pic>
      <p:sp>
        <p:nvSpPr>
          <p:cNvPr id="5" name="17044665-5f13-4143-933b-0970cc6fd973"/>
          <p:cNvSpPr/>
          <p:nvPr/>
        </p:nvSpPr>
        <p:spPr>
          <a:xfrm>
            <a:off x="1325880" y="1769899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800" dirty="0"/>
          </a:p>
        </p:txBody>
      </p:sp>
      <p:sp>
        <p:nvSpPr>
          <p:cNvPr id="6" name="699e1543-2e02-4a64-8b10-c02b3ba498f9"/>
          <p:cNvSpPr/>
          <p:nvPr/>
        </p:nvSpPr>
        <p:spPr>
          <a:xfrm>
            <a:off x="594360" y="2491122"/>
            <a:ext cx="233172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 · yujie · ming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 · CLI · Postman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身分來自 AD</a:t>
            </a:r>
            <a:endParaRPr lang="en-US" sz="1200" dirty="0"/>
          </a:p>
        </p:txBody>
      </p:sp>
      <p:sp>
        <p:nvSpPr>
          <p:cNvPr id="7" name="89758bdf-8937-4f2f-b20f-fd948bf42e3c"/>
          <p:cNvSpPr/>
          <p:nvPr/>
        </p:nvSpPr>
        <p:spPr>
          <a:xfrm>
            <a:off x="457200" y="3721443"/>
            <a:ext cx="2560320" cy="18666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0fd1687d-11c7-41ca-97af-4b436f0e9132"/>
          <p:cNvSpPr/>
          <p:nvPr/>
        </p:nvSpPr>
        <p:spPr>
          <a:xfrm>
            <a:off x="594360" y="38487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79ca59b6-0cc1-4645-b6f5-898518f1bba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5178" y="3979386"/>
            <a:ext cx="358445" cy="358445"/>
          </a:xfrm>
          <a:prstGeom prst="rect">
            <a:avLst/>
          </a:prstGeom>
        </p:spPr>
      </p:pic>
      <p:sp>
        <p:nvSpPr>
          <p:cNvPr id="10" name="110f5978-7c9d-429c-b71b-048d2a147c66"/>
          <p:cNvSpPr/>
          <p:nvPr/>
        </p:nvSpPr>
        <p:spPr>
          <a:xfrm>
            <a:off x="1325880" y="3848718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</a:t>
            </a:r>
            <a:endParaRPr lang="en-US" sz="1800" dirty="0"/>
          </a:p>
        </p:txBody>
      </p:sp>
      <p:sp>
        <p:nvSpPr>
          <p:cNvPr id="11" name="bff25bbf-f03a-49c8-a4e7-8fea6c75164b"/>
          <p:cNvSpPr/>
          <p:nvPr/>
        </p:nvSpPr>
        <p:spPr>
          <a:xfrm>
            <a:off x="594360" y="4569941"/>
            <a:ext cx="233172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應用(SCRAM)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app(client 憑證)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連 Kafka;憑證連 REST Proxy</a:t>
            </a:r>
            <a:endParaRPr lang="en-US" sz="1200" dirty="0"/>
          </a:p>
        </p:txBody>
      </p:sp>
      <p:sp>
        <p:nvSpPr>
          <p:cNvPr id="12" name="1e129025-9a28-4f44-915e-561f76ed5195"/>
          <p:cNvSpPr/>
          <p:nvPr/>
        </p:nvSpPr>
        <p:spPr>
          <a:xfrm>
            <a:off x="3611880" y="1642625"/>
            <a:ext cx="2331720" cy="3945512"/>
          </a:xfrm>
          <a:prstGeom prst="roundRect">
            <a:avLst>
              <a:gd name="adj" fmla="val 9000"/>
            </a:avLst>
          </a:prstGeom>
          <a:solidFill>
            <a:srgbClr val="0F9ED5">
              <a:alpha val="12000"/>
            </a:srgbClr>
          </a:solidFill>
          <a:ln w="19050">
            <a:solidFill>
              <a:srgbClr val="0F9ED5"/>
            </a:solidFill>
            <a:prstDash val="solid"/>
          </a:ln>
        </p:spPr>
      </p:sp>
      <p:sp>
        <p:nvSpPr>
          <p:cNvPr id="13" name="912b1fa6-8252-439f-b36f-a738d0a40d50"/>
          <p:cNvSpPr/>
          <p:nvPr/>
        </p:nvSpPr>
        <p:spPr>
          <a:xfrm>
            <a:off x="3611880" y="1702020"/>
            <a:ext cx="2331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F9ED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入口</a:t>
            </a:r>
            <a:endParaRPr lang="en-US" sz="1500" dirty="0"/>
          </a:p>
        </p:txBody>
      </p:sp>
      <p:sp>
        <p:nvSpPr>
          <p:cNvPr id="14" name="b1f4590b-779d-4c82-8ee7-c5e6a216ef2c"/>
          <p:cNvSpPr/>
          <p:nvPr/>
        </p:nvSpPr>
        <p:spPr>
          <a:xfrm>
            <a:off x="3794760" y="2109298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 → token</a:t>
            </a:r>
            <a:endParaRPr lang="en-US" sz="1300" dirty="0"/>
          </a:p>
        </p:txBody>
      </p:sp>
      <p:sp>
        <p:nvSpPr>
          <p:cNvPr id="15" name="c3da7208-ae68-40c7-a4bd-cfc143493944"/>
          <p:cNvSpPr/>
          <p:nvPr/>
        </p:nvSpPr>
        <p:spPr>
          <a:xfrm>
            <a:off x="3794760" y="3339619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app:憑證</a:t>
            </a:r>
            <a:endParaRPr lang="en-US" sz="1300" dirty="0"/>
          </a:p>
        </p:txBody>
      </p:sp>
      <p:sp>
        <p:nvSpPr>
          <p:cNvPr id="16" name="5564780d-1567-437b-8885-a98b3ccdf155"/>
          <p:cNvSpPr/>
          <p:nvPr/>
        </p:nvSpPr>
        <p:spPr>
          <a:xfrm>
            <a:off x="3794760" y="4569941"/>
            <a:ext cx="1965960" cy="8909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CLI:PLAIN+LDAP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應用:SCRAM</a:t>
            </a:r>
            <a:endParaRPr lang="en-US" sz="1300" dirty="0"/>
          </a:p>
        </p:txBody>
      </p:sp>
      <p:sp>
        <p:nvSpPr>
          <p:cNvPr id="17" name="e1e1bc59-c106-4fcf-9a3a-0e3ceda2e9f7"/>
          <p:cNvSpPr/>
          <p:nvPr/>
        </p:nvSpPr>
        <p:spPr>
          <a:xfrm>
            <a:off x="3017520" y="2703246"/>
            <a:ext cx="59436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8" name="8d4701e1-482b-43ae-8959-d09d0db25003"/>
          <p:cNvSpPr/>
          <p:nvPr/>
        </p:nvSpPr>
        <p:spPr>
          <a:xfrm>
            <a:off x="3017520" y="4654790"/>
            <a:ext cx="594360" cy="0"/>
          </a:xfrm>
          <a:prstGeom prst="line">
            <a:avLst/>
          </a:prstGeom>
          <a:noFill/>
          <a:ln w="381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da926d2c-f8ea-4f97-b648-4ab3b69748ab"/>
          <p:cNvSpPr/>
          <p:nvPr/>
        </p:nvSpPr>
        <p:spPr>
          <a:xfrm>
            <a:off x="6492240" y="1642625"/>
            <a:ext cx="3566160" cy="3945512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0" name="fc032a54-97a4-4adf-ae24-8c7f325f7421"/>
          <p:cNvSpPr/>
          <p:nvPr/>
        </p:nvSpPr>
        <p:spPr>
          <a:xfrm>
            <a:off x="6675120" y="1702020"/>
            <a:ext cx="32004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21" name="55d01468-4032-4230-9f76-59ebec5f9b32"/>
          <p:cNvSpPr/>
          <p:nvPr/>
        </p:nvSpPr>
        <p:spPr>
          <a:xfrm>
            <a:off x="6675120" y="2109298"/>
            <a:ext cx="150876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2" name="e9c586b0-7e13-4828-9336-dec807d87d13"/>
          <p:cNvSpPr/>
          <p:nvPr/>
        </p:nvSpPr>
        <p:spPr>
          <a:xfrm>
            <a:off x="8275320" y="2109298"/>
            <a:ext cx="160020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2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3" name="3af2eba0-0990-46fd-adf0-02905d87e864"/>
          <p:cNvSpPr/>
          <p:nvPr/>
        </p:nvSpPr>
        <p:spPr>
          <a:xfrm>
            <a:off x="6675120" y="3424469"/>
            <a:ext cx="3200400" cy="6787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controller(正式 3 個)</a:t>
            </a:r>
            <a:endParaRPr lang="en-US" sz="1250" dirty="0"/>
          </a:p>
        </p:txBody>
      </p:sp>
      <p:sp>
        <p:nvSpPr>
          <p:cNvPr id="24" name="dad6ab18-a77c-4d4e-8887-7f910ab9a55d"/>
          <p:cNvSpPr/>
          <p:nvPr/>
        </p:nvSpPr>
        <p:spPr>
          <a:xfrm>
            <a:off x="6675120" y="4315391"/>
            <a:ext cx="320040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topic:_confluent-metadata-auth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本地 cache</a:t>
            </a:r>
            <a:endParaRPr lang="en-US" sz="1300" dirty="0"/>
          </a:p>
        </p:txBody>
      </p:sp>
      <p:sp>
        <p:nvSpPr>
          <p:cNvPr id="25" name="1eb6aadc-d937-49dd-9f05-641ed39d74d4"/>
          <p:cNvSpPr/>
          <p:nvPr/>
        </p:nvSpPr>
        <p:spPr>
          <a:xfrm>
            <a:off x="5943600" y="3594169"/>
            <a:ext cx="54864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49ffd027-121f-4cb0-8b68-956dcbeb7060"/>
          <p:cNvSpPr/>
          <p:nvPr/>
        </p:nvSpPr>
        <p:spPr>
          <a:xfrm>
            <a:off x="10607040" y="1642625"/>
            <a:ext cx="1143000" cy="1612145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d6ab59e5-9f5a-4433-be0c-98dc9c62f179"/>
          <p:cNvSpPr/>
          <p:nvPr/>
        </p:nvSpPr>
        <p:spPr>
          <a:xfrm>
            <a:off x="10863072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9c12799c-e91f-4954-bb68-f790dd99cc0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1003890" y="1900568"/>
            <a:ext cx="358445" cy="358445"/>
          </a:xfrm>
          <a:prstGeom prst="rect">
            <a:avLst/>
          </a:prstGeom>
        </p:spPr>
      </p:pic>
      <p:sp>
        <p:nvSpPr>
          <p:cNvPr id="29" name="29c92a88-6887-49a9-bdf7-63bb7c755526"/>
          <p:cNvSpPr/>
          <p:nvPr/>
        </p:nvSpPr>
        <p:spPr>
          <a:xfrm>
            <a:off x="10607040" y="2491122"/>
            <a:ext cx="11430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</a:t>
            </a:r>
            <a:endParaRPr lang="en-US" sz="1400" dirty="0"/>
          </a:p>
        </p:txBody>
      </p:sp>
      <p:sp>
        <p:nvSpPr>
          <p:cNvPr id="30" name="e67652ed-fdaf-486f-a8fb-88710fa9ef11"/>
          <p:cNvSpPr/>
          <p:nvPr/>
        </p:nvSpPr>
        <p:spPr>
          <a:xfrm>
            <a:off x="10058400" y="2448697"/>
            <a:ext cx="54864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563f4483-4d3f-412f-b3d2-f9bf961af673"/>
          <p:cNvSpPr/>
          <p:nvPr/>
        </p:nvSpPr>
        <p:spPr>
          <a:xfrm>
            <a:off x="10607040" y="3551744"/>
            <a:ext cx="1143000" cy="20363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2" name="038c52c2-99d7-436a-86aa-628fddba934f"/>
          <p:cNvSpPr/>
          <p:nvPr/>
        </p:nvSpPr>
        <p:spPr>
          <a:xfrm>
            <a:off x="10863072" y="36790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3" name="18bd3910-a866-4f63-8fcf-44639bd423c6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1003890" y="3809687"/>
            <a:ext cx="358445" cy="358445"/>
          </a:xfrm>
          <a:prstGeom prst="rect">
            <a:avLst/>
          </a:prstGeom>
        </p:spPr>
      </p:pic>
      <p:sp>
        <p:nvSpPr>
          <p:cNvPr id="34" name="0b9c3df3-2da9-4a29-a14a-4c5c6fd6b788"/>
          <p:cNvSpPr/>
          <p:nvPr/>
        </p:nvSpPr>
        <p:spPr>
          <a:xfrm>
            <a:off x="10607040" y="4357816"/>
            <a:ext cx="114300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(C3 用)</a:t>
            </a:r>
            <a:endParaRPr lang="en-US" sz="1000" dirty="0"/>
          </a:p>
        </p:txBody>
      </p:sp>
      <p:sp>
        <p:nvSpPr>
          <p:cNvPr id="35" name="a446279f-bd6d-4c46-89a3-6e1a340cdd9d"/>
          <p:cNvSpPr/>
          <p:nvPr/>
        </p:nvSpPr>
        <p:spPr>
          <a:xfrm>
            <a:off x="457200" y="5800262"/>
            <a:ext cx="91440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100" dirty="0"/>
          </a:p>
        </p:txBody>
      </p:sp>
      <p:sp>
        <p:nvSpPr>
          <p:cNvPr id="36" name="c119efb4-9c7c-41dd-9848-269190bc2f4c"/>
          <p:cNvSpPr/>
          <p:nvPr/>
        </p:nvSpPr>
        <p:spPr>
          <a:xfrm>
            <a:off x="1508760" y="5800262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 / 服務</a:t>
            </a:r>
            <a:endParaRPr lang="en-US" sz="1100" dirty="0"/>
          </a:p>
        </p:txBody>
      </p:sp>
      <p:sp>
        <p:nvSpPr>
          <p:cNvPr id="37" name="71b29ee3-7a6b-479b-9c26-ff4d5421b355"/>
          <p:cNvSpPr/>
          <p:nvPr/>
        </p:nvSpPr>
        <p:spPr>
          <a:xfrm>
            <a:off x="32004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 / 平台</a:t>
            </a:r>
            <a:endParaRPr lang="en-US" sz="1100" dirty="0"/>
          </a:p>
        </p:txBody>
      </p:sp>
      <p:sp>
        <p:nvSpPr>
          <p:cNvPr id="38" name="56767caf-f6e7-4d66-af54-314db7c15d9b"/>
          <p:cNvSpPr/>
          <p:nvPr/>
        </p:nvSpPr>
        <p:spPr>
          <a:xfrm>
            <a:off x="48006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 RBAC</a:t>
            </a:r>
            <a:endParaRPr lang="en-US" sz="1100" dirty="0"/>
          </a:p>
        </p:txBody>
      </p:sp>
      <p:sp>
        <p:nvSpPr>
          <p:cNvPr id="39" name="d568cbb6-f467-4b65-95a1-558c1f58b0e5"/>
          <p:cNvSpPr/>
          <p:nvPr/>
        </p:nvSpPr>
        <p:spPr>
          <a:xfrm>
            <a:off x="6583680" y="5800262"/>
            <a:ext cx="5120640" cy="356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授權集中在 MDS 的 RBAC;人綁 AD 群組,服務綁 User: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三條路徑,同一套 AD 群組授權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31bf422-01ad-4364-90d7-82afb30f9adc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cc9932c7-ff07-4e14-8a53-fb2b90463be6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635e3605-2f6c-4b57-979e-48968927795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c8d4cf10-e423-4830-858e-cf93421b8861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</a:t>
            </a:r>
            <a:endParaRPr lang="en-US" sz="1400" dirty="0"/>
          </a:p>
        </p:txBody>
      </p:sp>
      <p:sp>
        <p:nvSpPr>
          <p:cNvPr id="6" name="78d2ccc2-ed84-4c70-9f85-29b7ddb0102a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MDS(LDAP)</a:t>
            </a:r>
            <a:endParaRPr lang="en-US" sz="1100" dirty="0"/>
          </a:p>
        </p:txBody>
      </p:sp>
      <p:sp>
        <p:nvSpPr>
          <p:cNvPr id="7" name="9aecfb3a-fa08-48ce-9eeb-b224e78412c4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8" name="a7c7ab99-f5f1-4735-b0b1-9e5d2f03adc4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(JWT,壽命可設)</a:t>
            </a:r>
            <a:endParaRPr lang="en-US" sz="1100" dirty="0"/>
          </a:p>
        </p:txBody>
      </p:sp>
      <p:sp>
        <p:nvSpPr>
          <p:cNvPr id="9" name="729878e9-4e83-45b1-a297-482c49dd89dd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c28a0ec8-6283-4367-9664-ce5e968c956f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11" name="193ff2e7-6eaa-45bf-9beb-dd91e8f0583d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a21c4663-90da-4f33-a663-aaddb31aa85b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13" name="0afb1db4-9933-406a-8091-266d5211e0f8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4d83ec3e-c815-4275-bb13-528b15d67935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4c816651-338e-4aed-aeaa-2604b822f04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a10199e5-4901-4deb-b55f-ff0e1bd50607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sp>
        <p:nvSpPr>
          <p:cNvPr id="17" name="62169d1c-e4d8-44eb-951e-cfec0e0afcdc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</a:t>
            </a:r>
            <a:endParaRPr lang="en-US" sz="1100" dirty="0"/>
          </a:p>
        </p:txBody>
      </p:sp>
      <p:sp>
        <p:nvSpPr>
          <p:cNvPr id="18" name="b8ed5111-d401-4f86-898b-6ffbae435d23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715e65ba-b9c8-420f-b777-f88a89fb2268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驗證並取群組</a:t>
            </a:r>
            <a:endParaRPr lang="en-US" sz="1100" dirty="0"/>
          </a:p>
        </p:txBody>
      </p:sp>
      <p:sp>
        <p:nvSpPr>
          <p:cNvPr id="20" name="b7f9738e-b4dd-4581-b716-d19b67eec5db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1" name="bd00d47c-4d55-4297-8331-d8e6bd15ba1e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22" name="cd4e7a59-7d38-4a0d-a0e9-ec59df975a83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73f9e10b-a444-4638-a96c-8a959c0fc409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留痕</a:t>
            </a:r>
            <a:endParaRPr lang="en-US" sz="1100" dirty="0"/>
          </a:p>
        </p:txBody>
      </p:sp>
      <p:sp>
        <p:nvSpPr>
          <p:cNvPr id="24" name="7e39b183-e7a8-4372-b1e2-bfd0001d9066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5" name="6ee558bb-e073-4ee7-8763-8969630461f5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6" name="47bd1eff-90d0-44db-a770-f2099dd3e0f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8098da4f-24d7-4227-8ce3-49ade8041ee1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</a:t>
            </a:r>
            <a:endParaRPr lang="en-US" sz="1400" dirty="0"/>
          </a:p>
        </p:txBody>
      </p:sp>
      <p:sp>
        <p:nvSpPr>
          <p:cNvPr id="28" name="51c6e444-c437-4a7e-a952-22d4896dc7ab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</p:txBody>
      </p:sp>
      <p:sp>
        <p:nvSpPr>
          <p:cNvPr id="29" name="4385424a-096b-462e-96ba-febf742c015b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0" name="b4c07d59-bf10-4963-8856-47e6d287c081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驗證 → token</a:t>
            </a:r>
            <a:endParaRPr lang="en-US" sz="1100" dirty="0"/>
          </a:p>
        </p:txBody>
      </p:sp>
      <p:sp>
        <p:nvSpPr>
          <p:cNvPr id="31" name="c67e0fd5-c8e7-4a32-bc70-0d0c19a920e2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69a397f4-6a64-4a5d-a7fe-65b81aa01572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33" name="c928e84a-21de-43a5-8e99-a9f3f9f73750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4" name="ae9343c3-0006-49c7-9790-282885f46c8f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35" name="5a2f4a52-c02b-483c-a9c1-6a28c6f4ebaf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三條路徑最後都由 RBAC 依「AD 群組」授權:人員異動只改 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機器的完整路徑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身分在 Kafka 內或憑證,RBAC 綁 User: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a830614-328b-4a01-92e5-fbe783a9ca42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b9277d59-19c6-45bf-af5b-8da4933aeac4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51bb6689-dc9c-4b8b-8860-323d9a16de6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f5a532b1-7fc2-4f1b-baac-0400adc4df7f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應用服務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</a:t>
            </a:r>
            <a:endParaRPr lang="en-US" sz="1400" dirty="0"/>
          </a:p>
        </p:txBody>
      </p:sp>
      <p:sp>
        <p:nvSpPr>
          <p:cNvPr id="6" name="e1bb61a1-a53c-4c50-97f8-b16230175364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SASL/SCRAM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帳號密碼</a:t>
            </a:r>
            <a:endParaRPr lang="en-US" sz="1100" dirty="0"/>
          </a:p>
        </p:txBody>
      </p:sp>
      <p:sp>
        <p:nvSpPr>
          <p:cNvPr id="7" name="d59230ad-c1e3-4ae7-98da-835d7c7d1de7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8" name="d4d953f1-59a0-46b9-842e-86311ffc7800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驗證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(帳密在 KRaft)</a:t>
            </a:r>
            <a:endParaRPr lang="en-US" sz="1100" dirty="0"/>
          </a:p>
        </p:txBody>
      </p:sp>
      <p:sp>
        <p:nvSpPr>
          <p:cNvPr id="9" name="a7bc9a86-8343-4211-81ce-544ceabaa68e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0" name="a501014a-3c39-43fa-8bb2-f6e71e27f7c1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User:svc-x</a:t>
            </a:r>
            <a:endParaRPr lang="en-US" sz="1100" dirty="0"/>
          </a:p>
        </p:txBody>
      </p:sp>
      <p:sp>
        <p:nvSpPr>
          <p:cNvPr id="11" name="5cc3be3b-6c61-4ad6-982a-8d6cf45f8061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5dbd9fa8-3050-4626-b464-755beac2cac0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留痕</a:t>
            </a:r>
            <a:endParaRPr lang="en-US" sz="1100" dirty="0"/>
          </a:p>
        </p:txBody>
      </p:sp>
      <p:sp>
        <p:nvSpPr>
          <p:cNvPr id="13" name="e3bf80be-51f6-4bff-a0f3-0598986a0d21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4" name="fe1802c0-b726-4edb-9765-b5915e3c1cd3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c58d242a-855d-4d21-bc81-e6122477fcc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b9bd47eb-b660-4433-8824-edfbf2d9dfcf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</a:t>
            </a:r>
            <a:endParaRPr lang="en-US" sz="1400" dirty="0"/>
          </a:p>
        </p:txBody>
      </p:sp>
      <p:sp>
        <p:nvSpPr>
          <p:cNvPr id="17" name="902f8c5f-6897-4549-8abb-447fadfab20f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 = 主體)</a:t>
            </a:r>
            <a:endParaRPr lang="en-US" sz="1100" dirty="0"/>
          </a:p>
        </p:txBody>
      </p:sp>
      <p:sp>
        <p:nvSpPr>
          <p:cNvPr id="18" name="2bda7dfb-7f49-4632-bc70-7fe4772dbd97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652deafe-6dab-4db9-817e-80cd6afa47d5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對映 DN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/impersonate</a:t>
            </a:r>
            <a:endParaRPr lang="en-US" sz="1100" dirty="0"/>
          </a:p>
        </p:txBody>
      </p:sp>
      <p:sp>
        <p:nvSpPr>
          <p:cNvPr id="20" name="5d1a9e4e-b577-4f74-90b6-3fe5cab4be91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c04ae0cf-22c0-459a-af21-78bcf526e4fe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</p:txBody>
      </p:sp>
      <p:sp>
        <p:nvSpPr>
          <p:cNvPr id="22" name="554c9441-7c03-4c76-97f7-e93582e1c462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3" name="6299ea01-eb52-4932-ae0f-dbe1d49d8191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User:app</a:t>
            </a:r>
            <a:endParaRPr lang="en-US" sz="1100" dirty="0"/>
          </a:p>
        </p:txBody>
      </p:sp>
      <p:sp>
        <p:nvSpPr>
          <p:cNvPr id="24" name="188d7604-8f1d-4225-b4ae-5fd2b21b95b5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5" name="1c50e77b-e052-4422-969d-e1e5432b5852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827bc681-14ea-480b-825a-9722ac3f9ce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6b6e64a5-70af-4310-a573-b3f7f5e58cfc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</a:t>
            </a:r>
            <a:endParaRPr lang="en-US" sz="1400" dirty="0"/>
          </a:p>
        </p:txBody>
      </p:sp>
      <p:sp>
        <p:nvSpPr>
          <p:cNvPr id="28" name="7b04eec8-1124-4304-a348-fa6da5b08f19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(CN=c3 / restproxy)</a:t>
            </a:r>
            <a:endParaRPr lang="en-US" sz="1100" dirty="0"/>
          </a:p>
        </p:txBody>
      </p:sp>
      <p:sp>
        <p:nvSpPr>
          <p:cNvPr id="29" name="9a1b9791-3945-45f7-a7a0-d52cbb78c4b3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0" name="2cc0d7a8-36be-4343-8396-4240363be03f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換 token</a:t>
            </a:r>
            <a:endParaRPr lang="en-US" sz="1100" dirty="0"/>
          </a:p>
        </p:txBody>
      </p:sp>
      <p:sp>
        <p:nvSpPr>
          <p:cNvPr id="31" name="792b64a1-0140-4095-a8fd-c08b1bebee02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2" name="945a34f8-0c66-48e1-b4e0-88b8745a89f6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或專屬 role</a:t>
            </a:r>
            <a:endParaRPr lang="en-US" sz="1100" dirty="0"/>
          </a:p>
        </p:txBody>
      </p:sp>
      <p:sp>
        <p:nvSpPr>
          <p:cNvPr id="33" name="83344831-8704-4e12-90b2-c133dd9d1a3e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4" name="61e77181-ceef-4575-b585-79fc1a666b50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protected.users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防被冒充</a:t>
            </a:r>
            <a:endParaRPr lang="en-US" sz="1100" dirty="0"/>
          </a:p>
        </p:txBody>
      </p:sp>
      <p:sp>
        <p:nvSpPr>
          <p:cNvPr id="35" name="5a278629-f0e4-4c78-84be-9ea8db822fca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機器不進 AD:身分在 Kafka 內(SCRAM)或憑證(CN),RBAC 綁 User: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客戶實際要維運的清單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2" name="553b4342-152c-4a2f-87f8-31863ef53cb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3566160"/>
                <a:gridCol w="35021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 / 備註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所有節點 secrets 目錄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涵蓋全部;逐台換;換 CA 時 truststore 先信任新舊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3(c3 · restproxy · bootstrap)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對應主機;bootstrap 離線保管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CN,CN 不變則不用重綁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可省:若客戶能建一般 AD user,改 Basic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內;密碼放密碼庫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密碼不自動到期 → 輪替流程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設定(權限 600)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 user / group OU;建議 LDAPS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SCRAM 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內;密碼封存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與 bootstrap 憑證同名的 super user;break-glass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人員異動只改 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15479c65-d561-4237-a98b-be088496d7ba"/>
          <p:cNvSpPr/>
          <p:nvPr/>
        </p:nvSpPr>
        <p:spPr>
          <a:xfrm>
            <a:off x="548640" y="584268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最少化:1 server 憑證 + 2 長期 client 憑證 + 1 備用(bootstrap)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導入步驟(RHEL 9 手動部署)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沒有 Ansible:先標準化手動流程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bed2dcd-f3b2-43ef-88da-02358f3f35f2"/>
          <p:cNvSpPr/>
          <p:nvPr/>
        </p:nvSpPr>
        <p:spPr>
          <a:xfrm>
            <a:off x="5486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7fe4ded-66ee-431a-a7cb-d7bbdfa2e18b"/>
          <p:cNvSpPr/>
          <p:nvPr/>
        </p:nvSpPr>
        <p:spPr>
          <a:xfrm>
            <a:off x="11887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93aa169f-c366-4118-bb6a-33278f0145aa"/>
          <p:cNvSpPr/>
          <p:nvPr/>
        </p:nvSpPr>
        <p:spPr>
          <a:xfrm>
            <a:off x="10972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21c0383b-a182-4898-99bc-b34ece6583a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28039" y="2485183"/>
            <a:ext cx="332842" cy="332842"/>
          </a:xfrm>
          <a:prstGeom prst="rect">
            <a:avLst/>
          </a:prstGeom>
        </p:spPr>
      </p:pic>
      <p:sp>
        <p:nvSpPr>
          <p:cNvPr id="6" name="8152cf96-188a-4da6-8579-c6d8d37c141f"/>
          <p:cNvSpPr/>
          <p:nvPr/>
        </p:nvSpPr>
        <p:spPr>
          <a:xfrm>
            <a:off x="6217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憑證與 truststore</a:t>
            </a:r>
            <a:endParaRPr lang="en-US" sz="1250" dirty="0"/>
          </a:p>
        </p:txBody>
      </p:sp>
      <p:sp>
        <p:nvSpPr>
          <p:cNvPr id="7" name="b834da6a-ba9e-41f5-a121-ca593318fca1"/>
          <p:cNvSpPr/>
          <p:nvPr/>
        </p:nvSpPr>
        <p:spPr>
          <a:xfrm>
            <a:off x="6400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AD 的 LDAPS CA</a:t>
            </a:r>
            <a:endParaRPr lang="en-US" sz="1050" dirty="0"/>
          </a:p>
        </p:txBody>
      </p:sp>
      <p:sp>
        <p:nvSpPr>
          <p:cNvPr id="8" name="e2744e82-2631-4e85-8ba5-5c62a1be978e"/>
          <p:cNvSpPr/>
          <p:nvPr/>
        </p:nvSpPr>
        <p:spPr>
          <a:xfrm>
            <a:off x="224028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7516cb12-886f-4abd-bc9e-19435ad148dd"/>
          <p:cNvSpPr/>
          <p:nvPr/>
        </p:nvSpPr>
        <p:spPr>
          <a:xfrm>
            <a:off x="242316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0" name="842a405d-40ff-4c1e-a9e2-2d99a96ef54d"/>
          <p:cNvSpPr/>
          <p:nvPr/>
        </p:nvSpPr>
        <p:spPr>
          <a:xfrm>
            <a:off x="306324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5fdcf66a-b816-4bce-8c52-3b19d0361068"/>
          <p:cNvSpPr/>
          <p:nvPr/>
        </p:nvSpPr>
        <p:spPr>
          <a:xfrm>
            <a:off x="297180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31093679-4dc2-4f0a-a7f9-2416024e5bb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102559" y="2485183"/>
            <a:ext cx="332842" cy="332842"/>
          </a:xfrm>
          <a:prstGeom prst="rect">
            <a:avLst/>
          </a:prstGeom>
        </p:spPr>
      </p:pic>
      <p:sp>
        <p:nvSpPr>
          <p:cNvPr id="13" name="55d45010-aa78-4eb9-9c79-718900155019"/>
          <p:cNvSpPr/>
          <p:nvPr/>
        </p:nvSpPr>
        <p:spPr>
          <a:xfrm>
            <a:off x="249631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4" name="35fd538e-0547-465f-bdc7-df622161d050"/>
          <p:cNvSpPr/>
          <p:nvPr/>
        </p:nvSpPr>
        <p:spPr>
          <a:xfrm>
            <a:off x="251460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format + add-scram</a:t>
            </a:r>
            <a:endParaRPr lang="en-US" sz="1050" dirty="0"/>
          </a:p>
        </p:txBody>
      </p:sp>
      <p:sp>
        <p:nvSpPr>
          <p:cNvPr id="15" name="3863a16e-1877-4ade-bd39-c92c8218e85d"/>
          <p:cNvSpPr/>
          <p:nvPr/>
        </p:nvSpPr>
        <p:spPr>
          <a:xfrm>
            <a:off x="411480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e5f345c2-c8a0-4626-be3d-b2cd9e9c03f9"/>
          <p:cNvSpPr/>
          <p:nvPr/>
        </p:nvSpPr>
        <p:spPr>
          <a:xfrm>
            <a:off x="429768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7" name="6a221713-7136-41a8-bf7d-17ff2cd0f3db"/>
          <p:cNvSpPr/>
          <p:nvPr/>
        </p:nvSpPr>
        <p:spPr>
          <a:xfrm>
            <a:off x="493776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b146c4c2-e24c-4e10-90f8-ff49bb7ca19a"/>
          <p:cNvSpPr/>
          <p:nvPr/>
        </p:nvSpPr>
        <p:spPr>
          <a:xfrm>
            <a:off x="484632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d7a495ed-5363-4a3a-a407-fa262128258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977079" y="2485183"/>
            <a:ext cx="332842" cy="332842"/>
          </a:xfrm>
          <a:prstGeom prst="rect">
            <a:avLst/>
          </a:prstGeom>
        </p:spPr>
      </p:pic>
      <p:sp>
        <p:nvSpPr>
          <p:cNvPr id="20" name="0d6bb023-a035-45c8-aa9e-e15834c63602"/>
          <p:cNvSpPr/>
          <p:nvPr/>
        </p:nvSpPr>
        <p:spPr>
          <a:xfrm>
            <a:off x="437083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+ MDS + LDAP</a:t>
            </a:r>
            <a:endParaRPr lang="en-US" sz="1250" dirty="0"/>
          </a:p>
        </p:txBody>
      </p:sp>
      <p:sp>
        <p:nvSpPr>
          <p:cNvPr id="21" name="32ff5dd1-802b-4f66-96a6-642878fc3536"/>
          <p:cNvSpPr/>
          <p:nvPr/>
        </p:nvSpPr>
        <p:spPr>
          <a:xfrm>
            <a:off x="438912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 listener</a:t>
            </a:r>
            <a:endParaRPr lang="en-US" sz="1050" dirty="0"/>
          </a:p>
        </p:txBody>
      </p:sp>
      <p:sp>
        <p:nvSpPr>
          <p:cNvPr id="22" name="f08f9b99-cfda-4c11-be87-af8c3d6131c8"/>
          <p:cNvSpPr/>
          <p:nvPr/>
        </p:nvSpPr>
        <p:spPr>
          <a:xfrm>
            <a:off x="598932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872189e6-c84c-4d6d-be9a-5f543128c330"/>
          <p:cNvSpPr/>
          <p:nvPr/>
        </p:nvSpPr>
        <p:spPr>
          <a:xfrm>
            <a:off x="617220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39c6dd68-31fa-481e-aafe-3605b64792f3"/>
          <p:cNvSpPr/>
          <p:nvPr/>
        </p:nvSpPr>
        <p:spPr>
          <a:xfrm>
            <a:off x="681228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52ce00ba-4f98-4bff-b638-afb2b0e865bd"/>
          <p:cNvSpPr/>
          <p:nvPr/>
        </p:nvSpPr>
        <p:spPr>
          <a:xfrm>
            <a:off x="672084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da4081d3-aef7-4ed6-951b-bca55fb0b5c6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851599" y="2485183"/>
            <a:ext cx="332842" cy="332842"/>
          </a:xfrm>
          <a:prstGeom prst="rect">
            <a:avLst/>
          </a:prstGeom>
        </p:spPr>
      </p:pic>
      <p:sp>
        <p:nvSpPr>
          <p:cNvPr id="27" name="b2bd3b1d-c954-4ec9-8c1a-99d55678a49f"/>
          <p:cNvSpPr/>
          <p:nvPr/>
        </p:nvSpPr>
        <p:spPr>
          <a:xfrm>
            <a:off x="624535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第一批 role binding</a:t>
            </a:r>
            <a:endParaRPr lang="en-US" sz="1250" dirty="0"/>
          </a:p>
        </p:txBody>
      </p:sp>
      <p:sp>
        <p:nvSpPr>
          <p:cNvPr id="28" name="3401e30f-7950-404f-bbd9-4655233e246d"/>
          <p:cNvSpPr/>
          <p:nvPr/>
        </p:nvSpPr>
        <p:spPr>
          <a:xfrm>
            <a:off x="626364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→ kafka-admins</a:t>
            </a:r>
            <a:endParaRPr lang="en-US" sz="1050" dirty="0"/>
          </a:p>
        </p:txBody>
      </p:sp>
      <p:sp>
        <p:nvSpPr>
          <p:cNvPr id="29" name="6f2d44ad-8aca-4984-bbf5-22a92601ea45"/>
          <p:cNvSpPr/>
          <p:nvPr/>
        </p:nvSpPr>
        <p:spPr>
          <a:xfrm>
            <a:off x="786384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0" name="c06f316b-8fbe-4f1b-87b0-eeb865dc6cca"/>
          <p:cNvSpPr/>
          <p:nvPr/>
        </p:nvSpPr>
        <p:spPr>
          <a:xfrm>
            <a:off x="804672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1" name="36e323ef-3555-446d-bdf9-52fdee585e4f"/>
          <p:cNvSpPr/>
          <p:nvPr/>
        </p:nvSpPr>
        <p:spPr>
          <a:xfrm>
            <a:off x="868680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1fcb5046-54d5-46e7-a6ea-d7d71c246398"/>
          <p:cNvSpPr/>
          <p:nvPr/>
        </p:nvSpPr>
        <p:spPr>
          <a:xfrm>
            <a:off x="859536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3" name="34001b54-3266-42dd-9862-0042fc2c8bdc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8726119" y="2485183"/>
            <a:ext cx="332842" cy="332842"/>
          </a:xfrm>
          <a:prstGeom prst="rect">
            <a:avLst/>
          </a:prstGeom>
        </p:spPr>
      </p:pic>
      <p:sp>
        <p:nvSpPr>
          <p:cNvPr id="34" name="530b7810-843f-409c-8e64-8c5bde207014"/>
          <p:cNvSpPr/>
          <p:nvPr/>
        </p:nvSpPr>
        <p:spPr>
          <a:xfrm>
            <a:off x="811987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· C3 · 監控</a:t>
            </a:r>
            <a:endParaRPr lang="en-US" sz="1250" dirty="0"/>
          </a:p>
        </p:txBody>
      </p:sp>
      <p:sp>
        <p:nvSpPr>
          <p:cNvPr id="35" name="76efba9a-822f-480b-a17b-0b00e1876819"/>
          <p:cNvSpPr/>
          <p:nvPr/>
        </p:nvSpPr>
        <p:spPr>
          <a:xfrm>
            <a:off x="813816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 + Alertmanager</a:t>
            </a:r>
            <a:endParaRPr lang="en-US" sz="1050" dirty="0"/>
          </a:p>
        </p:txBody>
      </p:sp>
      <p:sp>
        <p:nvSpPr>
          <p:cNvPr id="36" name="2a2ba42c-48ef-4d89-800c-23d88f8bcdf3"/>
          <p:cNvSpPr/>
          <p:nvPr/>
        </p:nvSpPr>
        <p:spPr>
          <a:xfrm>
            <a:off x="973836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7" name="7e2e73fe-5e8d-4948-927d-539cf7876764"/>
          <p:cNvSpPr/>
          <p:nvPr/>
        </p:nvSpPr>
        <p:spPr>
          <a:xfrm>
            <a:off x="99212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47288b18-ec0a-450a-8cba-d2c8b58e683d"/>
          <p:cNvSpPr/>
          <p:nvPr/>
        </p:nvSpPr>
        <p:spPr>
          <a:xfrm>
            <a:off x="105613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f873472b-132c-429e-990f-1de2009d059f"/>
          <p:cNvSpPr/>
          <p:nvPr/>
        </p:nvSpPr>
        <p:spPr>
          <a:xfrm>
            <a:off x="104698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a9a549ac-5698-41f9-a559-b83cd09d191d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600639" y="2485183"/>
            <a:ext cx="332842" cy="332842"/>
          </a:xfrm>
          <a:prstGeom prst="rect">
            <a:avLst/>
          </a:prstGeom>
        </p:spPr>
      </p:pic>
      <p:sp>
        <p:nvSpPr>
          <p:cNvPr id="41" name="31f136bd-8860-42c6-8007-257d6d9fa22e"/>
          <p:cNvSpPr/>
          <p:nvPr/>
        </p:nvSpPr>
        <p:spPr>
          <a:xfrm>
            <a:off x="99943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與驗證</a:t>
            </a:r>
            <a:endParaRPr lang="en-US" sz="1250" dirty="0"/>
          </a:p>
        </p:txBody>
      </p:sp>
      <p:sp>
        <p:nvSpPr>
          <p:cNvPr id="42" name="2e663ec9-942a-45a5-b7fd-6a608e8f02cb"/>
          <p:cNvSpPr/>
          <p:nvPr/>
        </p:nvSpPr>
        <p:spPr>
          <a:xfrm>
            <a:off x="100126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路由 + 逐項驗證</a:t>
            </a:r>
            <a:endParaRPr lang="en-US" sz="1050" dirty="0"/>
          </a:p>
        </p:txBody>
      </p:sp>
      <p:sp>
        <p:nvSpPr>
          <p:cNvPr id="43" name="9b10b119-03a7-4be4-9263-0a02ffd76fd5"/>
          <p:cNvSpPr/>
          <p:nvPr/>
        </p:nvSpPr>
        <p:spPr>
          <a:xfrm>
            <a:off x="548640" y="452751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順序錯誤需重新 format:controller 要在 broker 啟動前預建 SCRAM 憑證</a:t>
            </a:r>
            <a:endParaRPr lang="en-US" sz="1300" dirty="0"/>
          </a:p>
        </p:txBody>
      </p:sp>
      <p:sp>
        <p:nvSpPr>
          <p:cNvPr id="44" name="1927ed08-217c-4e48-9324-cc495085c9e7"/>
          <p:cNvSpPr/>
          <p:nvPr/>
        </p:nvSpPr>
        <p:spPr>
          <a:xfrm>
            <a:off x="548640" y="50366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改設定:systemctl 逐台滾動重啟;demo 曾因強殺 controller 留下空 snapshot 而遺失 SCRAM 憑證 → 停止逾時要足夠</a:t>
            </a:r>
            <a:endParaRPr lang="en-US" sz="1200" dirty="0"/>
          </a:p>
        </p:txBody>
      </p:sp>
      <p:sp>
        <p:nvSpPr>
          <p:cNvPr id="45" name="f932e6c9-193f-4f17-82c3-7c4b5ab705f3"/>
          <p:cNvSpPr/>
          <p:nvPr/>
        </p:nvSpPr>
        <p:spPr>
          <a:xfrm>
            <a:off x="548640" y="5588137"/>
            <a:ext cx="11091672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的 14 個章節對應每一步的驗證;路徑與 systemd 單元需在 RHEL 實機核對(本專案未在 RHEL 實機驗證)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六個主要風險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e4bfa3d-7581-4cdb-9a3d-5854065576ab"/>
          <p:cNvSpPr/>
          <p:nvPr/>
        </p:nvSpPr>
        <p:spPr>
          <a:xfrm>
            <a:off x="548640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4b12d387-dbe7-40d2-aaca-e686385a3b78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d09710b1-538d-4240-8e9b-8ce9eb2be95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0e8997ea-1e22-4a85-adc6-170ce0c695c9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</a:t>
            </a:r>
            <a:endParaRPr lang="en-US" sz="1350" dirty="0"/>
          </a:p>
        </p:txBody>
      </p:sp>
      <p:sp>
        <p:nvSpPr>
          <p:cNvPr id="6" name="cfc5a3ba-4e7c-4ba1-a9a1-5509d0e54f93"/>
          <p:cNvSpPr/>
          <p:nvPr/>
        </p:nvSpPr>
        <p:spPr>
          <a:xfrm>
            <a:off x="685800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7" name="fefd1348-8a67-417c-af2e-36fd9a8b301f"/>
          <p:cNvSpPr/>
          <p:nvPr/>
        </p:nvSpPr>
        <p:spPr>
          <a:xfrm>
            <a:off x="685800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8" name="8e722cff-d069-463d-b4f7-478d731e1010"/>
          <p:cNvSpPr/>
          <p:nvPr/>
        </p:nvSpPr>
        <p:spPr>
          <a:xfrm>
            <a:off x="4325112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fa2938b8-9bd7-4560-9934-8474e470ec0d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67dc57fb-0b4b-4b60-8f90-4f70f1dd81f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8e6b704a-cd31-478f-9fc9-589b4f558fcf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</a:t>
            </a:r>
            <a:endParaRPr lang="en-US" sz="1350" dirty="0"/>
          </a:p>
        </p:txBody>
      </p:sp>
      <p:sp>
        <p:nvSpPr>
          <p:cNvPr id="12" name="1e898c1d-cf7c-4db9-9bf2-c3309d31c7ba"/>
          <p:cNvSpPr/>
          <p:nvPr/>
        </p:nvSpPr>
        <p:spPr>
          <a:xfrm>
            <a:off x="4462272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3" name="03dd77a6-93e7-405a-8dc9-44568152403d"/>
          <p:cNvSpPr/>
          <p:nvPr/>
        </p:nvSpPr>
        <p:spPr>
          <a:xfrm>
            <a:off x="4462272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對策:特權身分逐一以 User: 列入</a:t>
            </a:r>
            <a:endParaRPr lang="en-US" sz="1050" dirty="0"/>
          </a:p>
        </p:txBody>
      </p:sp>
      <p:sp>
        <p:nvSpPr>
          <p:cNvPr id="14" name="66a196e2-b0ab-4c95-b460-254b39990e23"/>
          <p:cNvSpPr/>
          <p:nvPr/>
        </p:nvSpPr>
        <p:spPr>
          <a:xfrm>
            <a:off x="8101584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4eed6692-89b9-457b-8009-e93f6f4f0ad1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4069ab1a-7238-4ed0-9c05-953e1a5cffd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c5e35d2d-175e-4e4a-9be3-6b1126506e8c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server 私鑰</a:t>
            </a:r>
            <a:endParaRPr lang="en-US" sz="1350" dirty="0"/>
          </a:p>
        </p:txBody>
      </p:sp>
      <p:sp>
        <p:nvSpPr>
          <p:cNvPr id="18" name="8156d371-76a1-403e-8abe-e128e6732945"/>
          <p:cNvSpPr/>
          <p:nvPr/>
        </p:nvSpPr>
        <p:spPr>
          <a:xfrm>
            <a:off x="8238744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發現:外洩 = 可偽裝伺服器,也能以共用身分向 MDS 認證(無權限)</a:t>
            </a:r>
            <a:endParaRPr lang="en-US" sz="1050" dirty="0"/>
          </a:p>
        </p:txBody>
      </p:sp>
      <p:sp>
        <p:nvSpPr>
          <p:cNvPr id="19" name="e954d3be-34cf-4e2e-88c3-79cb7903e8ea"/>
          <p:cNvSpPr/>
          <p:nvPr/>
        </p:nvSpPr>
        <p:spPr>
          <a:xfrm>
            <a:off x="8238744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對策:權限 600;最小化存放;輪替計畫;該身分不綁 role</a:t>
            </a:r>
            <a:endParaRPr lang="en-US" sz="1050" dirty="0"/>
          </a:p>
        </p:txBody>
      </p:sp>
      <p:sp>
        <p:nvSpPr>
          <p:cNvPr id="20" name="ef098d64-7a62-4f45-8586-371d6baf8d17"/>
          <p:cNvSpPr/>
          <p:nvPr/>
        </p:nvSpPr>
        <p:spPr>
          <a:xfrm>
            <a:off x="548640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2c7b29d5-cd6c-45c2-bbdf-b03e8c4544d7"/>
          <p:cNvSpPr/>
          <p:nvPr/>
        </p:nvSpPr>
        <p:spPr>
          <a:xfrm>
            <a:off x="685800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2" name="9913bcf5-d527-4e56-ba0d-6efb65cfd83c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96442" y="4222905"/>
            <a:ext cx="281635" cy="281635"/>
          </a:xfrm>
          <a:prstGeom prst="rect">
            <a:avLst/>
          </a:prstGeom>
        </p:spPr>
      </p:pic>
      <p:sp>
        <p:nvSpPr>
          <p:cNvPr id="23" name="9e645e59-b085-4f9e-8c04-be76bca5a853"/>
          <p:cNvSpPr/>
          <p:nvPr/>
        </p:nvSpPr>
        <p:spPr>
          <a:xfrm>
            <a:off x="1280160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密碼不到期</a:t>
            </a:r>
            <a:endParaRPr lang="en-US" sz="1350" dirty="0"/>
          </a:p>
        </p:txBody>
      </p:sp>
      <p:sp>
        <p:nvSpPr>
          <p:cNvPr id="24" name="d8d96b81-1048-41e8-9ed6-54d6cc8da627"/>
          <p:cNvSpPr/>
          <p:nvPr/>
        </p:nvSpPr>
        <p:spPr>
          <a:xfrm>
            <a:off x="685800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5" name="3b8ba0ed-e8ca-4f3c-a7f8-7cd47511f4e0"/>
          <p:cNvSpPr/>
          <p:nvPr/>
        </p:nvSpPr>
        <p:spPr>
          <a:xfrm>
            <a:off x="685800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對策:密碼庫 + 輪替流程 + 提醒</a:t>
            </a:r>
            <a:endParaRPr lang="en-US" sz="1050" dirty="0"/>
          </a:p>
        </p:txBody>
      </p:sp>
      <p:sp>
        <p:nvSpPr>
          <p:cNvPr id="26" name="e20ef793-a0f7-490e-a12b-642488ab5461"/>
          <p:cNvSpPr/>
          <p:nvPr/>
        </p:nvSpPr>
        <p:spPr>
          <a:xfrm>
            <a:off x="4325112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528f653e-5a86-4db3-92bd-e27e0cab554e"/>
          <p:cNvSpPr/>
          <p:nvPr/>
        </p:nvSpPr>
        <p:spPr>
          <a:xfrm>
            <a:off x="4462272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8" name="e6943c32-8c6d-461b-a08b-e9000d8da3ff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572914" y="4222905"/>
            <a:ext cx="281635" cy="281635"/>
          </a:xfrm>
          <a:prstGeom prst="rect">
            <a:avLst/>
          </a:prstGeom>
        </p:spPr>
      </p:pic>
      <p:sp>
        <p:nvSpPr>
          <p:cNvPr id="29" name="7fac1ada-157e-436a-babd-3d7b6cf1f29a"/>
          <p:cNvSpPr/>
          <p:nvPr/>
        </p:nvSpPr>
        <p:spPr>
          <a:xfrm>
            <a:off x="5056632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監控元件預設未認證</a:t>
            </a:r>
            <a:endParaRPr lang="en-US" sz="1350" dirty="0"/>
          </a:p>
        </p:txBody>
      </p:sp>
      <p:sp>
        <p:nvSpPr>
          <p:cNvPr id="30" name="aa0dc3fd-4816-4e0e-a5e9-9fcf15ed779e"/>
          <p:cNvSpPr/>
          <p:nvPr/>
        </p:nvSpPr>
        <p:spPr>
          <a:xfrm>
            <a:off x="4462272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1" name="fb685965-f6ad-40ed-9eee-67f6c3c1407b"/>
          <p:cNvSpPr/>
          <p:nvPr/>
        </p:nvSpPr>
        <p:spPr>
          <a:xfrm>
            <a:off x="4462272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2" name="e29d1191-47f3-41a2-a387-6a1a0b3b54a8"/>
          <p:cNvSpPr/>
          <p:nvPr/>
        </p:nvSpPr>
        <p:spPr>
          <a:xfrm>
            <a:off x="8101584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78d0cfcd-dbc8-46db-a5d2-6723a9d11a5f"/>
          <p:cNvSpPr/>
          <p:nvPr/>
        </p:nvSpPr>
        <p:spPr>
          <a:xfrm>
            <a:off x="8238744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4" name="73645b32-e5d3-40b4-9e5a-ad05e4daf252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8349386" y="4222905"/>
            <a:ext cx="281635" cy="281635"/>
          </a:xfrm>
          <a:prstGeom prst="rect">
            <a:avLst/>
          </a:prstGeom>
        </p:spPr>
      </p:pic>
      <p:sp>
        <p:nvSpPr>
          <p:cNvPr id="35" name="bde7c5fe-36f6-4930-a5de-2c6748221332"/>
          <p:cNvSpPr/>
          <p:nvPr/>
        </p:nvSpPr>
        <p:spPr>
          <a:xfrm>
            <a:off x="8833104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不是全記</a:t>
            </a:r>
            <a:endParaRPr lang="en-US" sz="1350" dirty="0"/>
          </a:p>
        </p:txBody>
      </p:sp>
      <p:sp>
        <p:nvSpPr>
          <p:cNvPr id="36" name="6ccfaeb6-e987-4f6c-b215-bd6464075251"/>
          <p:cNvSpPr/>
          <p:nvPr/>
        </p:nvSpPr>
        <p:spPr>
          <a:xfrm>
            <a:off x="8238744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發現:部分拒絕查不到;成功的 consume 預設不記(避免洗版)</a:t>
            </a:r>
            <a:endParaRPr lang="en-US" sz="1050" dirty="0"/>
          </a:p>
        </p:txBody>
      </p:sp>
      <p:sp>
        <p:nvSpPr>
          <p:cNvPr id="37" name="92a24002-9d6e-4f34-b8c8-93ad7d7c6302"/>
          <p:cNvSpPr/>
          <p:nvPr/>
        </p:nvSpPr>
        <p:spPr>
          <a:xfrm>
            <a:off x="8238744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對策:稽核需求另外盤點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最需要補驗證的項目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be036c4-7523-495b-a1de-a7701ed759c4"/>
          <p:cNvSpPr/>
          <p:nvPr/>
        </p:nvSpPr>
        <p:spPr>
          <a:xfrm>
            <a:off x="548640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ea396639-7ee5-4d4c-bacd-e0c77eba8d4b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aa1e3389-b406-467f-8c9f-1553459408f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37fad4cb-ee43-4a85-85b6-255b748d528e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 cookie 優先於 Basic</a:t>
            </a:r>
            <a:endParaRPr lang="en-US" sz="1350" dirty="0"/>
          </a:p>
        </p:txBody>
      </p:sp>
      <p:sp>
        <p:nvSpPr>
          <p:cNvPr id="6" name="458ad428-2220-4a7c-8cdd-da38912adf50"/>
          <p:cNvSpPr/>
          <p:nvPr/>
        </p:nvSpPr>
        <p:spPr>
          <a:xfrm>
            <a:off x="685800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發現:MDS 驗證後回 auth_token cookie,優先於 Basic:同一 session 換身分仍以前一人執行(實測:誤新增 role binding)</a:t>
            </a:r>
            <a:endParaRPr lang="en-US" sz="1050" dirty="0"/>
          </a:p>
        </p:txBody>
      </p:sp>
      <p:sp>
        <p:nvSpPr>
          <p:cNvPr id="7" name="ee4677b6-23d3-4aee-abd9-be491963614a"/>
          <p:cNvSpPr/>
          <p:nvPr/>
        </p:nvSpPr>
        <p:spPr>
          <a:xfrm>
            <a:off x="685800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對策:換身分前清除 cookie;collection 層級 pre-request 清除</a:t>
            </a:r>
            <a:endParaRPr lang="en-US" sz="1050" dirty="0"/>
          </a:p>
        </p:txBody>
      </p:sp>
      <p:sp>
        <p:nvSpPr>
          <p:cNvPr id="8" name="10d26e00-540a-44ec-98a3-47ff7e038776"/>
          <p:cNvSpPr/>
          <p:nvPr/>
        </p:nvSpPr>
        <p:spPr>
          <a:xfrm>
            <a:off x="4325112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5fb9687e-acf8-4f3f-a50d-f6052b75ab10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915d651b-17b5-4c81-a756-14fdfdbb77f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3b953951-b4d1-4ec9-9af5-247e9b46a9bf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移出群組後的延遲</a:t>
            </a:r>
            <a:endParaRPr lang="en-US" sz="1350" dirty="0"/>
          </a:p>
        </p:txBody>
      </p:sp>
      <p:sp>
        <p:nvSpPr>
          <p:cNvPr id="12" name="22ddd065-fd03-434a-8ea5-7feb12520d93"/>
          <p:cNvSpPr/>
          <p:nvPr/>
        </p:nvSpPr>
        <p:spPr>
          <a:xfrm>
            <a:off x="4462272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發現:移出群組最長約 60 秒收回;刪除 AD 帳號後,已簽發 token 到期前仍有效(實測)</a:t>
            </a:r>
            <a:endParaRPr lang="en-US" sz="1050" dirty="0"/>
          </a:p>
        </p:txBody>
      </p:sp>
      <p:sp>
        <p:nvSpPr>
          <p:cNvPr id="13" name="b7bb375a-240d-48af-902e-0f6171fb568a"/>
          <p:cNvSpPr/>
          <p:nvPr/>
        </p:nvSpPr>
        <p:spPr>
          <a:xfrm>
            <a:off x="4462272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對策:預留刷新時間;離職:停用 AD 帳號,並視需要縮短 token 壽命(token.max.lifetime.ms)</a:t>
            </a:r>
            <a:endParaRPr lang="en-US" sz="1050" dirty="0"/>
          </a:p>
        </p:txBody>
      </p:sp>
      <p:sp>
        <p:nvSpPr>
          <p:cNvPr id="14" name="a4a86fac-76a8-4bc6-964f-5ee10295099c"/>
          <p:cNvSpPr/>
          <p:nvPr/>
        </p:nvSpPr>
        <p:spPr>
          <a:xfrm>
            <a:off x="8101584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a4f135af-4564-4331-9297-fd1aff0920fb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ad2464c6-72ff-4350-8c0b-820a4999a00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78a20f64-076c-477d-a2e9-aead43ff88a4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controller 的機制</a:t>
            </a:r>
            <a:endParaRPr lang="en-US" sz="1350" dirty="0"/>
          </a:p>
        </p:txBody>
      </p:sp>
      <p:sp>
        <p:nvSpPr>
          <p:cNvPr id="18" name="8fca26a2-3f80-42b3-b611-eb773f4dc8ea"/>
          <p:cNvSpPr/>
          <p:nvPr/>
        </p:nvSpPr>
        <p:spPr>
          <a:xfrm>
            <a:off x="8238744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發現:官方說明 controller listener 不支援 SCRAM,採 PLAIN;PLAIN 已實測(機制),未含 TLS / RBAC</a:t>
            </a:r>
            <a:endParaRPr lang="en-US" sz="1050" dirty="0"/>
          </a:p>
        </p:txBody>
      </p:sp>
      <p:sp>
        <p:nvSpPr>
          <p:cNvPr id="19" name="3b218341-87cb-44a3-8b18-f29da60cf50b"/>
          <p:cNvSpPr/>
          <p:nvPr/>
        </p:nvSpPr>
        <p:spPr>
          <a:xfrm>
            <a:off x="8238744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對策:導入前在實機以 TLS + RBAC 實測</a:t>
            </a:r>
            <a:endParaRPr lang="en-US" sz="1050" dirty="0"/>
          </a:p>
        </p:txBody>
      </p:sp>
      <p:sp>
        <p:nvSpPr>
          <p:cNvPr id="20" name="9cd262db-00b7-40d4-864b-518208a29c03"/>
          <p:cNvSpPr/>
          <p:nvPr/>
        </p:nvSpPr>
        <p:spPr>
          <a:xfrm>
            <a:off x="548640" y="448509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這三項是這份方案目前最需要補驗證的地方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Live Demo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七個情境,直接下指令看結果(每頁左:指令與預期,右:實際畫面)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1:沒有身分就進不來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5b84bac-24b3-4241-ba99-d0f18352c012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ch01</a:t>
            </a:r>
            <a:endParaRPr lang="en-US" sz="1200" dirty="0"/>
          </a:p>
        </p:txBody>
      </p:sp>
      <p:sp>
        <p:nvSpPr>
          <p:cNvPr id="3" name="066b6eea-61f6-4e75-b5d1-c66cdd6944d7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</a:t>
            </a:r>
            <a:endParaRPr lang="en-US" sz="1200" dirty="0"/>
          </a:p>
        </p:txBody>
      </p:sp>
      <p:sp>
        <p:nvSpPr>
          <p:cNvPr id="4" name="5d199177-6eb5-4ffe-9456-033a88d55505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3746adad-a8e2-4b5d-ab61-d1f19914385d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kafka-topics --bootstrap-server broker1:9094 --command-config yujie.properties --list</a:t>
            </a:r>
            <a:endParaRPr lang="en-US" sz="1100" dirty="0"/>
          </a:p>
        </p:txBody>
      </p:sp>
      <p:sp>
        <p:nvSpPr>
          <p:cNvPr id="6" name="74cb55b6-c329-42ec-a4ab-f6b6296a8fd6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65ff7d57-5dd8-42a7-a421-390cf7a507ec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帳密正確 → 認證成功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但尚未授權 → 看得到的 topic:0 個</a:t>
            </a:r>
            <a:endParaRPr lang="en-US" sz="1300" dirty="0"/>
          </a:p>
        </p:txBody>
      </p:sp>
      <p:sp>
        <p:nvSpPr>
          <p:cNvPr id="8" name="04563533-69c6-4200-a914-bc66a74666a5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證明:預設全拒絕;認證成功不等於有權限</a:t>
            </a:r>
            <a:endParaRPr lang="en-US" sz="1200" dirty="0"/>
          </a:p>
        </p:txBody>
      </p:sp>
      <p:sp>
        <p:nvSpPr>
          <p:cNvPr id="9" name="998538e9-8c6c-4394-b5c5-29fdcd08a61e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7dcf6012-022d-4e92-a5f0-8e095376e8f6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920b8282-2ac4-4125-afd5-18ed8ec8dbc3" descr="C:\Users\user\IdeaProjects\untitled6\deck\demo-shots\ch01-04-valid-no-perm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98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2:AD 群組決定權限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fc924a9-2c72-4326-80c4-308c98bf3b07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ch03</a:t>
            </a:r>
            <a:endParaRPr lang="en-US" sz="1200" dirty="0"/>
          </a:p>
        </p:txBody>
      </p:sp>
      <p:sp>
        <p:nvSpPr>
          <p:cNvPr id="3" name="83b1cc0a-4a7b-439b-a70e-d6dbb2d0c182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ming</a:t>
            </a:r>
            <a:endParaRPr lang="en-US" sz="1200" dirty="0"/>
          </a:p>
        </p:txBody>
      </p:sp>
      <p:sp>
        <p:nvSpPr>
          <p:cNvPr id="4" name="a80b1a49-ca53-4fbf-bb0a-48ccac364936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7694c02b-aa00-437a-8dac-d2908e8ad983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echo hi | kafka-console-producer --command-config ming.properties --topic orders.events</a:t>
            </a:r>
            <a:endParaRPr lang="en-US" sz="1100" dirty="0"/>
          </a:p>
        </p:txBody>
      </p:sp>
      <p:sp>
        <p:nvSpPr>
          <p:cNvPr id="6" name="ec9279b9-0805-4b0e-a95a-1c2bab2e6791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64b2510c-dfc8-4f91-b27b-f410d2583e85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不在群組:TOPIC_AUTHORIZATION_FAILED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加入 AD 群組後約 4 秒:寫入成功</a:t>
            </a:r>
            <a:endParaRPr lang="en-US" sz="1300" dirty="0"/>
          </a:p>
        </p:txBody>
      </p:sp>
      <p:sp>
        <p:nvSpPr>
          <p:cNvPr id="8" name="0c33b3ca-7cc4-4b95-ba9e-f860f1f7dec2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證明:授權跟著群組走,Kafka 端零變更</a:t>
            </a:r>
            <a:endParaRPr lang="en-US" sz="1200" dirty="0"/>
          </a:p>
        </p:txBody>
      </p:sp>
      <p:sp>
        <p:nvSpPr>
          <p:cNvPr id="9" name="5898cdaa-4230-40ec-add8-cc251eb10b75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373db6f8-7115-41fc-8f7a-0ab9eeadc229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df325969-a335-4c6d-bf7e-ec75e32d8f5d" descr="C:\Users\user\IdeaProjects\untitled6\deck\demo-shots\ch03-05-ming-deni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86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3:依群組分層:唯讀只是一層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c31d250-e4de-4f77-9e58-a150fc6a997c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ch04</a:t>
            </a:r>
            <a:endParaRPr lang="en-US" sz="1200" dirty="0"/>
          </a:p>
        </p:txBody>
      </p:sp>
      <p:sp>
        <p:nvSpPr>
          <p:cNvPr id="3" name="517e583f-e114-4ca1-89cc-75f333410eb5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ming(唯讀群組)</a:t>
            </a:r>
            <a:endParaRPr lang="en-US" sz="1200" dirty="0"/>
          </a:p>
        </p:txBody>
      </p:sp>
      <p:sp>
        <p:nvSpPr>
          <p:cNvPr id="4" name="08451bc5-c263-4d37-b497-0d7768160973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6f0bc524-0bc5-475f-b16b-f09b02ebd4c2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echo oops | kafka-console-producer --command-config ming.properties --topic orders.events</a:t>
            </a:r>
            <a:endParaRPr lang="en-US" sz="1100" dirty="0"/>
          </a:p>
        </p:txBody>
      </p:sp>
      <p:sp>
        <p:nvSpPr>
          <p:cNvPr id="6" name="798ae3b5-eda5-4974-9609-6a31496e958f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c1c7ca22-5378-4791-86d8-82873ecc958f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寫入被拒:Cluster authorization failed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讀取仍可成功</a:t>
            </a:r>
            <a:endParaRPr lang="en-US" sz="1300" dirty="0"/>
          </a:p>
        </p:txBody>
      </p:sp>
      <p:sp>
        <p:nvSpPr>
          <p:cNvPr id="8" name="0df884ac-a262-41b5-a9d0-ee1bd34bceca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證明:同一個 AD,不同群組 = 不同權限層級</a:t>
            </a:r>
            <a:endParaRPr lang="en-US" sz="1200" dirty="0"/>
          </a:p>
        </p:txBody>
      </p:sp>
      <p:sp>
        <p:nvSpPr>
          <p:cNvPr id="9" name="ffec9dd2-6341-4cea-95c1-9ffc5ca5cb05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5e425183-f906-44a4-8e60-01161d4e4cd2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b6577dc8-58b0-4602-9bd3-c96fdaf08799" descr="C:\Users\user\IdeaProjects\untitled6\deck\demo-shots\ch04-05-ming-write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69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4:服務帳號:最小權限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d90e646-8e6c-48e7-bdbe-002425899844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ch07</a:t>
            </a:r>
            <a:endParaRPr lang="en-US" sz="1200" dirty="0"/>
          </a:p>
        </p:txBody>
      </p:sp>
      <p:sp>
        <p:nvSpPr>
          <p:cNvPr id="3" name="02ff18a3-190d-4d7e-ad20-b25adae55f73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svc-orders</a:t>
            </a:r>
            <a:endParaRPr lang="en-US" sz="1200" dirty="0"/>
          </a:p>
        </p:txBody>
      </p:sp>
      <p:sp>
        <p:nvSpPr>
          <p:cNvPr id="4" name="bb0c91dc-38b2-4a69-8364-5f258891e0a6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14aa9607-dd4f-4e91-b02d-8c502993cf6b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echo x | kafka-console-producer --command-config svc-orders.properties --topic payments.events</a:t>
            </a:r>
            <a:endParaRPr lang="en-US" sz="1100" dirty="0"/>
          </a:p>
        </p:txBody>
      </p:sp>
      <p:sp>
        <p:nvSpPr>
          <p:cNvPr id="6" name="31c80cbd-313b-4565-be8a-90fc8a5fb501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4ba93557-673a-4d44-aa2d-101e582d2c38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可寫入;payments.* → 被拒</a:t>
            </a:r>
            <a:endParaRPr lang="en-US" sz="1300" dirty="0"/>
          </a:p>
        </p:txBody>
      </p:sp>
      <p:sp>
        <p:nvSpPr>
          <p:cNvPr id="8" name="be90a201-4516-4742-b274-f594cd85af4b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證明:服務走 SCRAM + RBAC,只拿到需要的範圍</a:t>
            </a:r>
            <a:endParaRPr lang="en-US" sz="1200" dirty="0"/>
          </a:p>
        </p:txBody>
      </p:sp>
      <p:sp>
        <p:nvSpPr>
          <p:cNvPr id="9" name="b10ade84-f1cc-46ba-bd08-ffa86c373c49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c0f94c87-1366-4792-b39d-04d0dbc89695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2f71ac4a-ccae-409c-ac3e-1808447fc66c" descr="C:\Users\user\IdeaProjects\untitled6\deck\demo-shots\ch07-05-svc-deni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204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5:維運分權:能管不能讀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e28e5ef-2869-4dbf-b65a-e9766b81c03e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ch11</a:t>
            </a:r>
            <a:endParaRPr lang="en-US" sz="1200" dirty="0"/>
          </a:p>
        </p:txBody>
      </p:sp>
      <p:sp>
        <p:nvSpPr>
          <p:cNvPr id="3" name="16a7e280-a519-4d3c-b8d4-f8b3c4d6e221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yujie(kafka-ops)</a:t>
            </a:r>
            <a:endParaRPr lang="en-US" sz="1200" dirty="0"/>
          </a:p>
        </p:txBody>
      </p:sp>
      <p:sp>
        <p:nvSpPr>
          <p:cNvPr id="4" name="0e4aafa4-02cb-4511-ae96-f65a2cc764aa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41534f8b-f89f-4656-b9ed-6a1a687f1cc5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kafka-console-consumer --command-config yujie.properties --topic infra.ops-demo --from-beginning</a:t>
            </a:r>
            <a:endParaRPr lang="en-US" sz="1100" dirty="0"/>
          </a:p>
        </p:txBody>
      </p:sp>
      <p:sp>
        <p:nvSpPr>
          <p:cNvPr id="6" name="90a21ab5-5e55-471c-9db2-cb15be7ded9a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69300e6d-7a09-4e7f-9ab9-044c008d27ba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維運可建立 / 管理 topic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但讀取資料 → 被拒,處理 0 筆</a:t>
            </a:r>
            <a:endParaRPr lang="en-US" sz="1300" dirty="0"/>
          </a:p>
        </p:txBody>
      </p:sp>
      <p:sp>
        <p:nvSpPr>
          <p:cNvPr id="8" name="3758156f-d91a-4c5c-b65a-5d7d773f04f7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證明:管理權與資料權分離</a:t>
            </a:r>
            <a:endParaRPr lang="en-US" sz="1200" dirty="0"/>
          </a:p>
        </p:txBody>
      </p:sp>
      <p:sp>
        <p:nvSpPr>
          <p:cNvPr id="9" name="ba8ee3a0-2743-46d1-a139-4666c6370de8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6b310b24-dd06-43fa-9507-641bb5824b88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bab82980-610f-4e0c-b581-2de38f336404" descr="C:\Users\user\IdeaProjects\untitled6\deck\demo-shots\ch11-07-ops-norea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310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6:legacy app:憑證與 REST Proxy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1c671a9-b068-4d76-9175-8415505dc90c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ch12</a:t>
            </a:r>
            <a:endParaRPr lang="en-US" sz="1200" dirty="0"/>
          </a:p>
        </p:txBody>
      </p:sp>
      <p:sp>
        <p:nvSpPr>
          <p:cNvPr id="3" name="68f59ce1-21bb-4a76-a09d-949c47837019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legacy-orders</a:t>
            </a:r>
            <a:endParaRPr lang="en-US" sz="1200" dirty="0"/>
          </a:p>
        </p:txBody>
      </p:sp>
      <p:sp>
        <p:nvSpPr>
          <p:cNvPr id="4" name="9f3befef-6476-4eee-9fa6-a5b1771c42f6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4859261e-a44b-40da-ad6d-91d7ebcc4edb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curl --cert client-legacy-orders.pem -X POST https://restproxy:8086/topics/orders.events</a:t>
            </a:r>
            <a:endParaRPr lang="en-US" sz="1100" dirty="0"/>
          </a:p>
        </p:txBody>
      </p:sp>
      <p:sp>
        <p:nvSpPr>
          <p:cNvPr id="6" name="930632fc-49a6-469b-b322-a65e34f70db4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04ad8cef-14de-4ed6-8349-15ce1bb57e19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授權後 HTTP 200,回傳 offset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偽造憑證:TLS 握手即被拒</a:t>
            </a:r>
            <a:endParaRPr lang="en-US" sz="1300" dirty="0"/>
          </a:p>
        </p:txBody>
      </p:sp>
      <p:sp>
        <p:nvSpPr>
          <p:cNvPr id="8" name="df992017-a148-43fb-b4b7-5c1fd11850c7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證明:REST Proxy 以憑證辨識機器,自簽憑證進不來</a:t>
            </a:r>
            <a:endParaRPr lang="en-US" sz="1200" dirty="0"/>
          </a:p>
        </p:txBody>
      </p:sp>
      <p:sp>
        <p:nvSpPr>
          <p:cNvPr id="9" name="85ed31d4-7503-4152-bbe9-75efaffaac99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0d92ec82-9376-4a28-a71c-6e667624da88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9b54ebba-8cd4-4e28-b377-e86537c803f5" descr="C:\Users\user\IdeaProjects\untitled6\deck\demo-shots\ch12-04-ok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33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7:C3 實際用誰的身分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5db59ed-f9cc-4bc1-88bb-83b667a72a91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ch13</a:t>
            </a:r>
            <a:endParaRPr lang="en-US" sz="1200" dirty="0"/>
          </a:p>
        </p:txBody>
      </p:sp>
      <p:sp>
        <p:nvSpPr>
          <p:cNvPr id="3" name="bda0d88a-1271-4a28-96fe-30a24d352500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操作員</a:t>
            </a:r>
            <a:endParaRPr lang="en-US" sz="1200" dirty="0"/>
          </a:p>
        </p:txBody>
      </p:sp>
      <p:sp>
        <p:nvSpPr>
          <p:cNvPr id="4" name="8972718f-6a67-416b-a71d-5e19a8be48f9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c7a708a0-7b1c-4b4a-8649-256f79ce1f3c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docker logs broker | grep "User Principal: ming"</a:t>
            </a:r>
            <a:endParaRPr lang="en-US" sz="1100" dirty="0"/>
          </a:p>
        </p:txBody>
      </p:sp>
      <p:sp>
        <p:nvSpPr>
          <p:cNvPr id="6" name="262ee89a-0e46-40c0-86a8-744924767a1a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66ce139e-6b4d-440c-b3c5-0e4458136ce5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日誌的呼叫主體是 ming 本人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不是 c3</a:t>
            </a:r>
            <a:endParaRPr lang="en-US" sz="1300" dirty="0"/>
          </a:p>
        </p:txBody>
      </p:sp>
      <p:sp>
        <p:nvSpPr>
          <p:cNvPr id="8" name="85adc599-5423-49b1-bcfd-cd9f7c74c82e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證明:人操作 C3 時,身分一路帶到 MDS</a:t>
            </a:r>
            <a:endParaRPr lang="en-US" sz="1200" dirty="0"/>
          </a:p>
        </p:txBody>
      </p:sp>
      <p:sp>
        <p:nvSpPr>
          <p:cNvPr id="9" name="505bd238-5c5f-4a22-970b-08819c3f9348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77796b03-4ff4-403d-8e15-4086466e343b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6766d9e8-9bcc-4df9-845f-59e614e5cce9" descr="C:\Users\user\IdeaProjects\untitled6\deck\demo-shots\ch13-02-mds-as-user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69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已驗證 vs 待驗證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誠實呈現目前的驗證範圍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8544f18-09b1-4a80-bd94-bdab402623af"/>
          <p:cNvSpPr/>
          <p:nvPr/>
        </p:nvSpPr>
        <p:spPr>
          <a:xfrm>
            <a:off x="548640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78f011e1-93f2-41b6-8699-ba80659030c1"/>
          <p:cNvSpPr/>
          <p:nvPr/>
        </p:nvSpPr>
        <p:spPr>
          <a:xfrm>
            <a:off x="731520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a398bfca-b8b4-47ea-8b94-f7a0ed9baeb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1942993"/>
            <a:ext cx="358445" cy="358445"/>
          </a:xfrm>
          <a:prstGeom prst="rect">
            <a:avLst/>
          </a:prstGeom>
        </p:spPr>
      </p:pic>
      <p:sp>
        <p:nvSpPr>
          <p:cNvPr id="5" name="a724406c-a5a1-4c87-9636-4b5958ab2fa4"/>
          <p:cNvSpPr/>
          <p:nvPr/>
        </p:nvSpPr>
        <p:spPr>
          <a:xfrm>
            <a:off x="1508760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已實跑驗證</a:t>
            </a:r>
            <a:endParaRPr lang="en-US" sz="1700" dirty="0"/>
          </a:p>
        </p:txBody>
      </p:sp>
      <p:sp>
        <p:nvSpPr>
          <p:cNvPr id="6" name="d866ec5b-bc51-4bc6-be81-8200c0186071"/>
          <p:cNvSpPr/>
          <p:nvPr/>
        </p:nvSpPr>
        <p:spPr>
          <a:xfrm>
            <a:off x="777240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 RBAC:加入群組數秒生效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群組分層授權:唯讀 / 維運 / 授權管理(含臨時提權)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服務帳號 SCRAM 與輪替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人機並存:REST Proxy / legacy app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C3 人與機器流程、風險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audit 事件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LDAPS 信任庫 · 3 controller PLAIN · SCRAM 並行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憑證更換三情境與元件順序(單節點 + demo 全元件)</a:t>
            </a:r>
            <a:endParaRPr lang="en-US" sz="1300" dirty="0"/>
          </a:p>
        </p:txBody>
      </p:sp>
      <p:sp>
        <p:nvSpPr>
          <p:cNvPr id="7" name="65859cfb-8df2-46d7-ad5b-f3dc6f4e01f6"/>
          <p:cNvSpPr/>
          <p:nvPr/>
        </p:nvSpPr>
        <p:spPr>
          <a:xfrm>
            <a:off x="6199632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2f9be61e-32b2-4ea7-9a61-8d3a0671cc2e"/>
          <p:cNvSpPr/>
          <p:nvPr/>
        </p:nvSpPr>
        <p:spPr>
          <a:xfrm>
            <a:off x="6382512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5ef077c3-06b4-456e-843e-bb5c4679d00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1942993"/>
            <a:ext cx="358445" cy="358445"/>
          </a:xfrm>
          <a:prstGeom prst="rect">
            <a:avLst/>
          </a:prstGeom>
        </p:spPr>
      </p:pic>
      <p:sp>
        <p:nvSpPr>
          <p:cNvPr id="10" name="728cf813-82b4-479a-9b02-9b901fcd07c7"/>
          <p:cNvSpPr/>
          <p:nvPr/>
        </p:nvSpPr>
        <p:spPr>
          <a:xfrm>
            <a:off x="7159752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待驗證 / 待確認</a:t>
            </a:r>
            <a:endParaRPr lang="en-US" sz="1700" dirty="0"/>
          </a:p>
        </p:txBody>
      </p:sp>
      <p:sp>
        <p:nvSpPr>
          <p:cNvPr id="11" name="640154cc-1b89-43de-9f83-7f1431ac5127"/>
          <p:cNvSpPr/>
          <p:nvPr/>
        </p:nvSpPr>
        <p:spPr>
          <a:xfrm>
            <a:off x="6428232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真實 AD:巢狀群組、大小寫、UPN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多 controller 搭配 TLS + RBAC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RHEL 實機:systemd、firewalld、路徑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長駐 client 是否需重啟才重載信任庫;中繼 CA 的更換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Prometheus / Alertmanager 啟用 TLS + Basic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Java 21(demo 映像為 Java 25)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縮短 token 壽命對元件換 token 頻率的影響</a:t>
            </a:r>
            <a:endParaRPr lang="en-US" sz="1300" dirty="0"/>
          </a:p>
        </p:txBody>
      </p:sp>
      <p:sp>
        <p:nvSpPr>
          <p:cNvPr id="12" name="2f300d92-b07b-42e0-9589-b67741952e8f"/>
          <p:cNvSpPr/>
          <p:nvPr/>
        </p:nvSpPr>
        <p:spPr>
          <a:xfrm>
            <a:off x="548640" y="5630562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使用 OpenLDAP 模擬 AD;商用功能(RBAC、audit、C3)需 license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八件需要客戶回覆的事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06be4b0-af4a-4402-b7ef-069e31236ada"/>
          <p:cNvSpPr/>
          <p:nvPr/>
        </p:nvSpPr>
        <p:spPr>
          <a:xfrm>
            <a:off x="54864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6862e783-ec30-423f-82b2-39caf8fd7e17"/>
          <p:cNvSpPr/>
          <p:nvPr/>
        </p:nvSpPr>
        <p:spPr>
          <a:xfrm>
            <a:off x="68580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c53b597a-340a-4ac4-ba26-ab804f4193bf"/>
          <p:cNvSpPr/>
          <p:nvPr/>
        </p:nvSpPr>
        <p:spPr>
          <a:xfrm>
            <a:off x="132588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7872d0f8-0fea-4d8f-ab1c-e2a1dd695bd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446581" y="1941296"/>
            <a:ext cx="307238" cy="307238"/>
          </a:xfrm>
          <a:prstGeom prst="rect">
            <a:avLst/>
          </a:prstGeom>
        </p:spPr>
      </p:pic>
      <p:sp>
        <p:nvSpPr>
          <p:cNvPr id="6" name="3c633d6a-501a-4a08-be37-5168f72c2d32"/>
          <p:cNvSpPr/>
          <p:nvPr/>
        </p:nvSpPr>
        <p:spPr>
          <a:xfrm>
            <a:off x="205740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唯讀查詢帳號(bind DN)與 LDAPS</a:t>
            </a:r>
            <a:endParaRPr lang="en-US" sz="1300" dirty="0"/>
          </a:p>
        </p:txBody>
      </p:sp>
      <p:sp>
        <p:nvSpPr>
          <p:cNvPr id="7" name="a21f4dda-810b-4a7a-af83-3b2973ff89ad"/>
          <p:cNvSpPr/>
          <p:nvPr/>
        </p:nvSpPr>
        <p:spPr>
          <a:xfrm>
            <a:off x="617220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803e861f-af5b-49db-9ef9-cf90f00fd0a3"/>
          <p:cNvSpPr/>
          <p:nvPr/>
        </p:nvSpPr>
        <p:spPr>
          <a:xfrm>
            <a:off x="630936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046fbc2e-a046-434b-8c3a-1f03d63de9ab"/>
          <p:cNvSpPr/>
          <p:nvPr/>
        </p:nvSpPr>
        <p:spPr>
          <a:xfrm>
            <a:off x="694944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3d97bac1-603f-4148-b8f2-1f230d45620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070141" y="1941296"/>
            <a:ext cx="307238" cy="307238"/>
          </a:xfrm>
          <a:prstGeom prst="rect">
            <a:avLst/>
          </a:prstGeom>
        </p:spPr>
      </p:pic>
      <p:sp>
        <p:nvSpPr>
          <p:cNvPr id="11" name="70d1ebd4-a683-4d3b-a8ae-fd99c27b3179"/>
          <p:cNvSpPr/>
          <p:nvPr/>
        </p:nvSpPr>
        <p:spPr>
          <a:xfrm>
            <a:off x="768096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有無 AD CS(內部 CA)與根憑證散佈方式</a:t>
            </a:r>
            <a:endParaRPr lang="en-US" sz="1300" dirty="0"/>
          </a:p>
        </p:txBody>
      </p:sp>
      <p:sp>
        <p:nvSpPr>
          <p:cNvPr id="12" name="77e89d2d-eb57-4b6c-8cb9-90f8e4fe5e76"/>
          <p:cNvSpPr/>
          <p:nvPr/>
        </p:nvSpPr>
        <p:spPr>
          <a:xfrm>
            <a:off x="54864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1373a66e-7041-4659-b6f6-872f92662114"/>
          <p:cNvSpPr/>
          <p:nvPr/>
        </p:nvSpPr>
        <p:spPr>
          <a:xfrm>
            <a:off x="68580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5d817f62-39bf-4495-8b7b-e4923871e30d"/>
          <p:cNvSpPr/>
          <p:nvPr/>
        </p:nvSpPr>
        <p:spPr>
          <a:xfrm>
            <a:off x="132588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53393b22-ec59-45e8-9c03-9131e43a5537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446581" y="2959493"/>
            <a:ext cx="307238" cy="307238"/>
          </a:xfrm>
          <a:prstGeom prst="rect">
            <a:avLst/>
          </a:prstGeom>
        </p:spPr>
      </p:pic>
      <p:sp>
        <p:nvSpPr>
          <p:cNvPr id="16" name="f9122770-a625-4bda-814f-1d891fe2d250"/>
          <p:cNvSpPr/>
          <p:nvPr/>
        </p:nvSpPr>
        <p:spPr>
          <a:xfrm>
            <a:off x="205740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能否建幾個一般 AD user 給 legacy app</a:t>
            </a:r>
            <a:endParaRPr lang="en-US" sz="1300" dirty="0"/>
          </a:p>
        </p:txBody>
      </p:sp>
      <p:sp>
        <p:nvSpPr>
          <p:cNvPr id="17" name="f48522e7-c7d1-4e29-af6d-842cdee83c08"/>
          <p:cNvSpPr/>
          <p:nvPr/>
        </p:nvSpPr>
        <p:spPr>
          <a:xfrm>
            <a:off x="617220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8" name="e97eec80-0489-4cc7-b5fc-41082ead8ea7"/>
          <p:cNvSpPr/>
          <p:nvPr/>
        </p:nvSpPr>
        <p:spPr>
          <a:xfrm>
            <a:off x="630936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290a474f-d0ea-4d89-aca3-7e305601b720"/>
          <p:cNvSpPr/>
          <p:nvPr/>
        </p:nvSpPr>
        <p:spPr>
          <a:xfrm>
            <a:off x="694944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0" name="24f99c0f-eb97-4ce7-955c-c5abb13f9e54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070141" y="2959493"/>
            <a:ext cx="307238" cy="307238"/>
          </a:xfrm>
          <a:prstGeom prst="rect">
            <a:avLst/>
          </a:prstGeom>
        </p:spPr>
      </p:pic>
      <p:sp>
        <p:nvSpPr>
          <p:cNvPr id="21" name="fe79a1d1-aebe-49ee-a1e8-d3c6f9d3885a"/>
          <p:cNvSpPr/>
          <p:nvPr/>
        </p:nvSpPr>
        <p:spPr>
          <a:xfrm>
            <a:off x="768096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license 是否涵蓋 RBAC / audit / C3</a:t>
            </a:r>
            <a:endParaRPr lang="en-US" sz="1300" dirty="0"/>
          </a:p>
        </p:txBody>
      </p:sp>
      <p:sp>
        <p:nvSpPr>
          <p:cNvPr id="22" name="2e204e78-a7ae-4842-b149-6af72e1b51d8"/>
          <p:cNvSpPr/>
          <p:nvPr/>
        </p:nvSpPr>
        <p:spPr>
          <a:xfrm>
            <a:off x="54864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5ad61aca-71b9-4aed-866d-7212826bb62d"/>
          <p:cNvSpPr/>
          <p:nvPr/>
        </p:nvSpPr>
        <p:spPr>
          <a:xfrm>
            <a:off x="68580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7fb63275-729f-4eb3-a8d1-344543da6232"/>
          <p:cNvSpPr/>
          <p:nvPr/>
        </p:nvSpPr>
        <p:spPr>
          <a:xfrm>
            <a:off x="132588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5" name="b3480317-d47d-41f8-9dde-948a0be3236a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1446581" y="3977689"/>
            <a:ext cx="307238" cy="307238"/>
          </a:xfrm>
          <a:prstGeom prst="rect">
            <a:avLst/>
          </a:prstGeom>
        </p:spPr>
      </p:pic>
      <p:sp>
        <p:nvSpPr>
          <p:cNvPr id="26" name="952ed88b-e0e1-4745-907d-777dac8c58d7"/>
          <p:cNvSpPr/>
          <p:nvPr/>
        </p:nvSpPr>
        <p:spPr>
          <a:xfrm>
            <a:off x="205740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群組是否巢狀、帳號大小寫與命名</a:t>
            </a:r>
            <a:endParaRPr lang="en-US" sz="1300" dirty="0"/>
          </a:p>
        </p:txBody>
      </p:sp>
      <p:sp>
        <p:nvSpPr>
          <p:cNvPr id="27" name="1e5fe83e-1722-495c-bbca-36be8dee056f"/>
          <p:cNvSpPr/>
          <p:nvPr/>
        </p:nvSpPr>
        <p:spPr>
          <a:xfrm>
            <a:off x="617220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7f7fb89f-738b-49e6-934b-ace7f33d0c4e"/>
          <p:cNvSpPr/>
          <p:nvPr/>
        </p:nvSpPr>
        <p:spPr>
          <a:xfrm>
            <a:off x="630936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e843760f-1d30-48b2-aa6a-375229c94b8b"/>
          <p:cNvSpPr/>
          <p:nvPr/>
        </p:nvSpPr>
        <p:spPr>
          <a:xfrm>
            <a:off x="694944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0" name="cc2c75d5-0d86-4567-9439-5dafefc616b6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070141" y="3977689"/>
            <a:ext cx="307238" cy="307238"/>
          </a:xfrm>
          <a:prstGeom prst="rect">
            <a:avLst/>
          </a:prstGeom>
        </p:spPr>
      </p:pic>
      <p:sp>
        <p:nvSpPr>
          <p:cNvPr id="31" name="d5b94870-10dc-40ce-9ead-0d7919511eb9"/>
          <p:cNvSpPr/>
          <p:nvPr/>
        </p:nvSpPr>
        <p:spPr>
          <a:xfrm>
            <a:off x="768096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Java 版本(建議 21)與 Prometheus / Alertmanager 部署</a:t>
            </a:r>
            <a:endParaRPr lang="en-US" sz="1300" dirty="0"/>
          </a:p>
        </p:txBody>
      </p:sp>
      <p:sp>
        <p:nvSpPr>
          <p:cNvPr id="32" name="a3f4c00b-1124-4db8-bd90-f7235c46e974"/>
          <p:cNvSpPr/>
          <p:nvPr/>
        </p:nvSpPr>
        <p:spPr>
          <a:xfrm>
            <a:off x="54864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3" name="9a294bb4-1a11-4c70-b53e-72c14bf70aea"/>
          <p:cNvSpPr/>
          <p:nvPr/>
        </p:nvSpPr>
        <p:spPr>
          <a:xfrm>
            <a:off x="68580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bc5a758f-75bd-4e55-8cf3-54a4958f95b2"/>
          <p:cNvSpPr/>
          <p:nvPr/>
        </p:nvSpPr>
        <p:spPr>
          <a:xfrm>
            <a:off x="132588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5" name="f67fa15b-3dc1-44b2-abc4-d31f92017ee6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1446581" y="4995886"/>
            <a:ext cx="307238" cy="307238"/>
          </a:xfrm>
          <a:prstGeom prst="rect">
            <a:avLst/>
          </a:prstGeom>
        </p:spPr>
      </p:pic>
      <p:sp>
        <p:nvSpPr>
          <p:cNvPr id="36" name="54c3063a-065a-4d76-a561-aecb16c2f8e3"/>
          <p:cNvSpPr/>
          <p:nvPr/>
        </p:nvSpPr>
        <p:spPr>
          <a:xfrm>
            <a:off x="205740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是否有多台 DC(高可用):LDAP 停擺超過 24 小時,授權器會失效</a:t>
            </a:r>
            <a:endParaRPr lang="en-US" sz="1300" dirty="0"/>
          </a:p>
        </p:txBody>
      </p:sp>
      <p:sp>
        <p:nvSpPr>
          <p:cNvPr id="37" name="1c4889d5-a03b-4299-bd8c-2f11db22e334"/>
          <p:cNvSpPr/>
          <p:nvPr/>
        </p:nvSpPr>
        <p:spPr>
          <a:xfrm>
            <a:off x="617220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01257300-e2c6-4735-8d6e-b2bc245f3b19"/>
          <p:cNvSpPr/>
          <p:nvPr/>
        </p:nvSpPr>
        <p:spPr>
          <a:xfrm>
            <a:off x="630936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bea7f148-6a65-480e-bdac-417f6209a87c"/>
          <p:cNvSpPr/>
          <p:nvPr/>
        </p:nvSpPr>
        <p:spPr>
          <a:xfrm>
            <a:off x="694944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6e289710-caed-48ee-8305-3ae58b732f68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070141" y="4995886"/>
            <a:ext cx="307238" cy="307238"/>
          </a:xfrm>
          <a:prstGeom prst="rect">
            <a:avLst/>
          </a:prstGeom>
        </p:spPr>
      </p:pic>
      <p:sp>
        <p:nvSpPr>
          <p:cNvPr id="41" name="862e8f84-016e-4c2d-a485-70ff2943f96a"/>
          <p:cNvSpPr/>
          <p:nvPr/>
        </p:nvSpPr>
        <p:spPr>
          <a:xfrm>
            <a:off x="768096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的 LDAPS 憑證由誰簽發(根 CA、有無中繼 CA)</a:t>
            </a:r>
            <a:endParaRPr lang="en-US" sz="1300" dirty="0"/>
          </a:p>
        </p:txBody>
      </p:sp>
      <p:sp>
        <p:nvSpPr>
          <p:cNvPr id="42" name="e3060629-d75a-4f5e-a351-e667d8c1aedf"/>
          <p:cNvSpPr/>
          <p:nvPr/>
        </p:nvSpPr>
        <p:spPr>
          <a:xfrm>
            <a:off x="548640" y="575783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項若可行:legacy app 走 Basic,不需要 client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下一步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接下來的三件事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421f91b-dd4b-45c0-8b0b-d71819c22310"/>
          <p:cNvSpPr/>
          <p:nvPr/>
        </p:nvSpPr>
        <p:spPr>
          <a:xfrm>
            <a:off x="548640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953711a2-ed01-4803-9a7e-0347e41650b4"/>
          <p:cNvSpPr/>
          <p:nvPr/>
        </p:nvSpPr>
        <p:spPr>
          <a:xfrm>
            <a:off x="2034540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eb7ed58e-8a25-48c8-a1ff-ec3148d577d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2178875"/>
            <a:ext cx="307238" cy="307238"/>
          </a:xfrm>
          <a:prstGeom prst="rect">
            <a:avLst/>
          </a:prstGeom>
        </p:spPr>
      </p:pic>
      <p:sp>
        <p:nvSpPr>
          <p:cNvPr id="5" name="6e4d8d18-44ac-4ed4-b410-8c949a7bf2be"/>
          <p:cNvSpPr/>
          <p:nvPr/>
        </p:nvSpPr>
        <p:spPr>
          <a:xfrm>
            <a:off x="621792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客戶確認</a:t>
            </a:r>
            <a:endParaRPr lang="en-US" sz="1800" dirty="0"/>
          </a:p>
        </p:txBody>
      </p:sp>
      <p:sp>
        <p:nvSpPr>
          <p:cNvPr id="6" name="ed19d3cc-0320-4c75-94b5-e647c9e0ab18"/>
          <p:cNvSpPr/>
          <p:nvPr/>
        </p:nvSpPr>
        <p:spPr>
          <a:xfrm>
            <a:off x="640080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回覆前一頁的六件事</a:t>
            </a:r>
            <a:endParaRPr lang="en-US" sz="1300" dirty="0"/>
          </a:p>
        </p:txBody>
      </p:sp>
      <p:sp>
        <p:nvSpPr>
          <p:cNvPr id="7" name="3a1ad245-1ade-4957-a828-8b6ce01682f5"/>
          <p:cNvSpPr/>
          <p:nvPr/>
        </p:nvSpPr>
        <p:spPr>
          <a:xfrm>
            <a:off x="4069080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bb8d1b40-4504-4e2a-96c0-0c3121bae22d"/>
          <p:cNvSpPr/>
          <p:nvPr/>
        </p:nvSpPr>
        <p:spPr>
          <a:xfrm>
            <a:off x="4325112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c6fd9a3d-63b2-4f24-bc1e-6f3328453237"/>
          <p:cNvSpPr/>
          <p:nvPr/>
        </p:nvSpPr>
        <p:spPr>
          <a:xfrm>
            <a:off x="5811012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ee9d9313-10fd-42ec-be21-854c664c232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2178875"/>
            <a:ext cx="307238" cy="307238"/>
          </a:xfrm>
          <a:prstGeom prst="rect">
            <a:avLst/>
          </a:prstGeom>
        </p:spPr>
      </p:pic>
      <p:sp>
        <p:nvSpPr>
          <p:cNvPr id="11" name="36b6c4cd-77b5-4d09-8e26-33989917857d"/>
          <p:cNvSpPr/>
          <p:nvPr/>
        </p:nvSpPr>
        <p:spPr>
          <a:xfrm>
            <a:off x="4398264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調整方案</a:t>
            </a:r>
            <a:endParaRPr lang="en-US" sz="1800" dirty="0"/>
          </a:p>
        </p:txBody>
      </p:sp>
      <p:sp>
        <p:nvSpPr>
          <p:cNvPr id="12" name="0df0be66-cfb1-4891-bc72-814f17560531"/>
          <p:cNvSpPr/>
          <p:nvPr/>
        </p:nvSpPr>
        <p:spPr>
          <a:xfrm>
            <a:off x="4416552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依客戶回覆更新設計</a:t>
            </a:r>
            <a:endParaRPr lang="en-US" sz="1300" dirty="0"/>
          </a:p>
        </p:txBody>
      </p:sp>
      <p:sp>
        <p:nvSpPr>
          <p:cNvPr id="13" name="e03e540a-89ad-4202-9466-13634135f4f1"/>
          <p:cNvSpPr/>
          <p:nvPr/>
        </p:nvSpPr>
        <p:spPr>
          <a:xfrm>
            <a:off x="7845552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61631648-130e-416d-bc5c-c9c52f46b7a9"/>
          <p:cNvSpPr/>
          <p:nvPr/>
        </p:nvSpPr>
        <p:spPr>
          <a:xfrm>
            <a:off x="8101584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fc5d2034-600d-4062-bbd4-75ecf27edbfe"/>
          <p:cNvSpPr/>
          <p:nvPr/>
        </p:nvSpPr>
        <p:spPr>
          <a:xfrm>
            <a:off x="9587484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6" name="5677197e-9d96-4b08-9e2b-d156946e203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2178875"/>
            <a:ext cx="307238" cy="307238"/>
          </a:xfrm>
          <a:prstGeom prst="rect">
            <a:avLst/>
          </a:prstGeom>
        </p:spPr>
      </p:pic>
      <p:sp>
        <p:nvSpPr>
          <p:cNvPr id="17" name="831dceba-8c08-4a63-8749-448d5f9865bf"/>
          <p:cNvSpPr/>
          <p:nvPr/>
        </p:nvSpPr>
        <p:spPr>
          <a:xfrm>
            <a:off x="8174736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實機驗證</a:t>
            </a:r>
            <a:endParaRPr lang="en-US" sz="1800" dirty="0"/>
          </a:p>
        </p:txBody>
      </p:sp>
      <p:sp>
        <p:nvSpPr>
          <p:cNvPr id="18" name="8132a8a5-f24e-44d2-970d-e29f22f0ccb0"/>
          <p:cNvSpPr/>
          <p:nvPr/>
        </p:nvSpPr>
        <p:spPr>
          <a:xfrm>
            <a:off x="8193024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補上目前未驗證的項目</a:t>
            </a:r>
            <a:endParaRPr lang="en-US" sz="1300" dirty="0"/>
          </a:p>
        </p:txBody>
      </p:sp>
      <p:sp>
        <p:nvSpPr>
          <p:cNvPr id="19" name="8071b45b-e2d1-4c6f-8806-6b93fc587ce5"/>
          <p:cNvSpPr/>
          <p:nvPr/>
        </p:nvSpPr>
        <p:spPr>
          <a:xfrm>
            <a:off x="548640" y="440024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與 Word 手冊可作為每一步的實作與證據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