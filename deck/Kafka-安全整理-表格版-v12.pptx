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2" d="100"/>
          <a:sy n="102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依原本的五頁大綱整理成表格:傳輸加密、認證、授權、與 Kafka 元件交互。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broker、controller、C3、REST Proxy、MDS 共用一組 server 私鑰與憑證,設定在 keystore;SAN 必須涵蓋這些元件對外的網域或 IP。client 端的 truststore 匯入簽發 server 憑證的 root CA 憑證。MDS 與 broker 會連 AD,AD 走 LDAPS 時,要另外設定信任庫,匯入簽發 AD server 憑證的 root CA;MDS 與 broker 共用一組設定。補充(原大綱沒列):C3、REST Proxy、bootstrap 與經 REST Proxy 的 legacy app 另外各有一張 client 憑證,用來向 MDS 或 REST Proxy 證明身分(見認證與元件交互各頁);共用的 server 憑證只做加密,它的 CN 不綁任何 role。AD 的 LDAPS 憑證若由中繼 CA 簽發而 AD 只送出自己的憑證(不附中繼 CA),實測(2026-10-05,demo 的 broker2 連到一個只送葉憑證的 LDAPS 端點):信任庫只放 root CA 時,MDS 的 Basic 登入與 Kafka 的 PLAIN 加 LDAP 登入都失敗,broker 日誌是 PKIX path building failed;信任庫放 root CA 加中繼 CA,或只放中繼 CA,兩種登入都成功。AD 若會送出完整鏈,則只放 root CA 即可(主 demo 先前的 LDAPS 實驗)。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原列的九條連線:broker→broker、controller→broker、MDS→broker、broker→controller、controller→controller、C3→broker、C3→MDS、REST Proxy→broker、REST Proxy→MDS。補充(原大綱沒列,已併入表格最後一列與後兩欄):外部 client 連進來時也需要信任同一張 root CA:人的 CLI 與服務連 broker;瀏覽器連 C3;腳本與 legacy app 連 REST Proxy;bootstrap 與腳本直接呼叫 MDS。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Kafka 叢集內部元件溝通:broker、controller 連 broker 用 SASL/SCRAM-SHA-512;broker、controller 連 controller 用 SASL/PLAIN,帳號密碼寫在 JAAS 設定。人連 broker 用 SASL/PLAIN 加 LDAP(AD)。服務連 broker 用 SASL/SCRAM-SHA-512。C3 與 REST Proxy 連 broker 用 SASL/OAUTHBEARER,會先用 client 憑證向 MDS 換 MDS token;bootstrap 連 broker 也用同樣的方式,不另建 SCRAM 帳號。補充:元件處理自己的工作時帶元件自己的 token;人經 C3 或 REST Proxy 操作時帶本人的 token;legacy app 經 REST Proxy 時帶代表該 app 的 token。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授權依靠內嵌元件 MDS 管理 RBAC 資訊。MDS 是 HTTP REST 服務,提供 token 簽發與 RBAC 相關的 API。RBAC 的 API 被呼叫後,會把 RBAC 資訊寫入 Kafka topic。MDS 也會定期把 AD 的 user 與 groups 對應的變更寫入同一個 topic。Kafka 用已認證的 user 對應 topic 中的 groups,再比對 RBAC 資訊,判斷這個 user 有沒有權限。補充(demo 實測):topic 是 _confluent-metadata-auth;同一時間只有一台 broker 的 MDS 負責向 AD 查詢並寫入;每台 broker 各自讀取整個 topic 更新本地快取。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AD 群組與 role 對應的建議做法。設計原則:①人不寫資料(讀取群組只讀,維運群組連資料都讀不到),寫資料只由服務帳號做(SCRAM,綁 User:,只綁自己的 topic);②讀取群組依系統切 topic 前綴,避免跨系統讀取,前提是客戶有 topic 命名規範(尚未確認);③建 topic 與改授權分成兩個群組,平時是空的,依變更單臨時加入、做完移出(臨時加入與移出的流程在 demo 第 11 章實測過);④資安與稽核另設群組;⑤SystemAdmin 只在緊急時使用。建 topic 的角色選 ClusterAdmin:可建、刪、改 topic 與設定,不能讀寫資料;代價是範圍為整個叢集,不能限定前綴(DeveloperManage 可限定前綴,但不能改設定)。官方依據(Confluent Platform 文件):RBAC overview 頁:"As a best practice, grant each user the minimum role required to complete their tasks.";role binding 建議上限 1000(soft limit);群組綁定的使用者 ID 大小寫要與 AD 紀錄一致。Predefined roles 頁:建議把 SystemAdmin 限制在每個叢集一到兩人,用於初始設定或正式環境的緊急狀況;UserAdmin:"Users granted this role should be extremely trustworthy because they can grant roles to themselves and others.",並可用 audit log 監看;ClusterAdmin:"This role cannot read or write Kafka topic data because it does not have Read or Write operations on Topic.";DeveloperManage 可建立或刪除 topic,但不能改設定。官方沒有提供群組怎麼切的範本;本頁的切法是依上述原則與職責分離的要求所做的設計。SecurityAdmin 與 AuditAdmin 的權限實測(2026-10-05,暫時綁給一個沒有其他角色的 AD 帳號,測完解除):SecurityAdmin 可以查詢 role binding(查誰有某個角色、查某人的角色),不能新增或指派 role binding(403),不能讀 audit 設定(403);AuditAdmin 可以讀取與更新 audit 設定(GET 與 PUT 皆 200),不能查詢 role binding(403);兩者都不能讀 topic 資料、不能建立 topic。依系統切群組會讓 role binding 變多,要留意 1000 筆的建議上限。不同環境(例如測試與正式)建議各用一套群組。讀資料需要兩個綁定:Topic 的 DeveloperRead,以及 consumer group(資源類型 Group)的 DeveloperRead;只綁 Topic 時 consumer 無法加入 group。Topic 的名稱與 consumer group 的名稱是兩套各自獨立的名稱,前綴不一定相同,要分開綁定、分開規範;另外資源類型 Group 指 consumer group,與主體的 Group:(AD 群組)不同。demo 的做法是 Topic 與 Group 各綁一筆前綴(例如 Topic orders. 與 Group demo-)。只寫資料的服務只需要 Topic 的 DeveloperWrite。使用交易(transaction)的 producer 另需要 TransactionalId 資源的 DeveloperWrite(實測,2026-10-05):只有 Topic 的 DeveloperWrite 時,交易寫入出現 TransactionalIdAuthorizationException;加綁 TransactionalId 的 DeveloperWrite 後成功;解除後再次被拒。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 更正與補充:官方 Predefined roles 頁除了這十個角色,另列有 KsqlAdmin(本方案範圍沒有 ksqlDB,未列入);十個是 demo 的 MDS 實際回傳的數量。SecurityAdmin 依官方原文是 Enables management of platform-wide security initiatives(設定加密、audit log 追蹤等安全功能);demo 實測到的是:可以查詢 role binding,不能新增或指派,也不能讀 audit 設定(audit 設定要 AuditAdmin)。右側資源名稱(orders.、infra.、demo-)是範例。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bootstrap 服務帳號連 MDS:使用 mTLS 認證(須提供 client 憑證),由 MDS 做權限控管,bootstrap 應為 super user。C3、REST Proxy 連 MDS:使用 mTLS 認證,MDS 認證後簽發代表元件本身的 MDS token,元件用它與 broker 交互。人連 C3 與 legacy app 連 REST Proxy 的步驟見後兩頁。補充(原大綱沒列):人用腳本或 Postman 經 REST Proxy 時用 Basic(AD 帳號密碼),REST Proxy 把帳密轉給 MDS 驗證並取得本人的 token,不經 impersonate。用詞:原大綱的「服務 → REST Proxy」在這裡改稱 legacy app(只能 HTTP、用憑證的服務),以便和認證頁用 SCRAM 直連 broker 的「服務」區分。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人連 C3:瀏覽器用 Basic 登入;C3 把 Basic 資訊轉給 MDS 做 AD 驗證;MDS 回傳代表人的 MDS token 並放在回應的 cookie;C3 把 MDS token 放在回應的 cookie 給瀏覽器儲存。之後瀏覽器發請求給 C3:如果要與 MDS 交互,C3 把 MDS token 轉給 MDS 驗證;若未與 MDS 交互,則用 MDS 公鑰在本地驗證;若操作與 broker 有關,則拿 MDS token 與 broker 交互。補充(demo 實測):token 同時在回應內容與 HttpOnly 的 auth_token cookie;瀏覽器之後的請求主要用 Authorization: Bearer 標頭帶 token,兩者都有時伺服器優先看 Bearer。補充(demo 實測,2026-10-05):轉給 MDS 的路徑,C3 不先驗 token;帶偽造的 token 時 MDS 回 401。完全不帶 token 時,C3 內部的 HTTP 客戶端會向 MDS 出示共用的 server 憑證,MDS 把請求認成 User:kafka.demo.local;這個身分沒有任何 role,所以查詢授權資料回 403,只有不需要權限的角色清單回 200。因此共用憑證的身分不可以綁任何 role。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服務連 REST Proxy:使用 mTLS 認證(須提供 client 憑證);REST Proxy 取出服務憑證的 CN 當作服務帳號;向 MDS 做 impersonate,取得服務的 MDS token;用 MDS token 與 broker 交互。補充(原大綱沒列,已併入第 3 步):REST Proxy 呼叫 impersonate 時,是用自己的 client 憑證(CN 為 restproxy)向 MDS 認證。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準備事項依前面各頁整理。共用的 server 憑證:SAN 要涵蓋 broker、controller、MDS、C3、REST Proxy 對外的網域或 IP。client 憑證:C3、REST Proxy、bootstrap 與每個 legacy app 各一張,憑證的 CN 經對映後就是 RBAC 綁定的主體,所以 CN 的命名要先定。MDS 的 token 簽章金鑰對:私鑰用來簽發 token,公鑰給 broker、REST Proxy、C3 驗證;輪替流程未在 demo 驗證。內部帳號:連 broker 用的 SCRAM 帳號要在初始化(format)叢集時預先建立,否則授權器起不來(demo 實測);連 controller 用的 PLAIN 帳號寫在 JAAS 設定。服務帳號:每個服務一個 SCRAM 帳號,SCRAM 密碼不會自動到期。bootstrap 是 super user,不受授權檢查,官方建議只給少數人。bootstrap 與 C3、REST Proxy 一樣只用 client 憑證,不另建 SCRAM 帳號:對 MDS 直接出示憑證;對 broker 先用憑證向 MDS 換 token 再以 OAUTHBEARER 連線(demo 實測,2026-10-05:可列出 topic、建立與刪除 topic、建立與刪除 SCRAM 帳號)。代價:MDS 無法簽發 token 時 bootstrap 連不上 broker(此情況為推論,未實際停掉 MDS 測試);那時仍可用內部帳號(SCRAM,super user)直連 broker。內部帳號的兩份帳密各自存放:連 broker 的 SCRAM 帳號存在 Kafka 內,連 controller 的 PLAIN 帳號寫在 controller 的 JAAS 設定(user_kafka-broker、user_kafka-controller);名稱相同,授權時都是同一個主體,super.users 只要列一次;但密碼不會同步,輪替時兩邊都要改。這兩個名稱不能被其他來源使用(例如 AD 不可有同名帳號),因為任何機制只要以這個名稱通過認證就是 super user。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AD 唯讀查詢帳號:broker 驗證人的密碼時先用它搜尋使用者,MDS 也用它定期查群組。使用者與群組的位置(搜尋的起點)要由 AD 管理員提供;官方說明群組綁定的使用者 ID 大小寫要與 AD 紀錄一致。AD 群組:依「AD 群組對應 RBAC role」頁建立,讀取群組依系統各一個,建 topic、改授權、緊急用的群組平時保持空的。命名規範:topic 與 consumer group 是兩套各自獨立的名稱,要分別定前綴,才能用前綴綁定;沒有規範時只能逐一綁定,role binding 數量會變多(官方建議上限 1000 筆)。防火牆(補充,前面各頁沒有列):元件之間的九條連線見「哪些連線要設信任庫」頁,另外要開 broker 連 AD(LDAPS),以及人、服務、legacy app 連到 broker、C3、REST Proxy;controller 的埠與 broker 的內部埠只開給叢集節點。實際的埠號依部署設定,本頁不列。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傳輸加密、認證、授權、元件交互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傳輸加密:要準備的憑證與信任庫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server 端共用一組憑證;要證明身分的元件另有 client 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2</a:t>
            </a:fld>
            <a:endParaRPr lang="zh-TW" altLang="en-US" sz="900"/>
          </a:p>
        </p:txBody>
      </p:sp>
      <p:graphicFrame>
        <p:nvGraphicFramePr>
          <p:cNvPr id="2" name="7205f8ca-e0ed-476d-82fe-aef5c9a98b0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777449"/>
              </p:ext>
            </p:extLst>
          </p:nvPr>
        </p:nvGraphicFramePr>
        <p:xfrm>
          <a:off x="548640" y="1685050"/>
          <a:ext cx="11091672" cy="3173381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放什麼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誰要設定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5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keystore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共用的一組 server 私鑰與憑證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broker、controller、MDS、C3、REST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要涵蓋這些元件對外的網域或 IP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5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server 憑證的 root 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每一條連線的 client 端(見下一頁)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只放 </a:t>
                      </a:r>
                      <a:r>
                        <a:rPr lang="en-US" altLang="zh-TW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root </a:t>
                      </a: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CA 憑證,不放私鑰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5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LDAPS 的 truststore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AD server 憑證的 </a:t>
                      </a:r>
                      <a:r>
                        <a:rPr lang="en-US" altLang="zh-TW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root </a:t>
                      </a: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CA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與 MDS(共用一組設定)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走 LDAPS 時才需要;AD 只送出自己的憑證時,要匯入中繼 CA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5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各自的私鑰與憑證;憑證的 CN 就是身分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Proxy、bootstrap、各 legacy app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MDS 或 REST Proxy 證明身分;共用的 server 憑證不當身分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傳輸加密:哪些連線要設信任庫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列是 client 端,欄是連到的 server 端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graphicFrame>
        <p:nvGraphicFramePr>
          <p:cNvPr id="2" name="ae0ea4b6-b060-4822-927d-0b39d9131c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444897"/>
        </p:xfrm>
        <a:graphic>
          <a:graphicData uri="http://schemas.openxmlformats.org/drawingml/2006/table">
            <a:tbl>
              <a:tblPr/>
              <a:tblGrid>
                <a:gridCol w="2404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端 ↓ / server 端 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0E2841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外部 client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需要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dc2faf7c-8ece-48e2-991c-f1bf25407c5f"/>
          <p:cNvSpPr/>
          <p:nvPr/>
        </p:nvSpPr>
        <p:spPr>
          <a:xfrm>
            <a:off x="548640" y="5291163"/>
            <a:ext cx="11091672" cy="381824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標「需要」的每一條連線,client 端都匯入同一張 root CA 憑證</a:t>
            </a:r>
            <a:endParaRPr lang="en-US" sz="1250" dirty="0"/>
          </a:p>
        </p:txBody>
      </p:sp>
      <p:sp>
        <p:nvSpPr>
          <p:cNvPr id="7" name="4ec586b3-3b21-4657-a86a-2d50fb59b585"/>
          <p:cNvSpPr/>
          <p:nvPr/>
        </p:nvSpPr>
        <p:spPr>
          <a:xfrm>
            <a:off x="548640" y="5757837"/>
            <a:ext cx="11091672" cy="381824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外部 client:人的 CLI 與瀏覽器、服務、legacy app、bootstrap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認證:誰連誰,用什麼機制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連到 broker 與 controller 的五種連線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ef22ed0d-c92b-48aa-989e-1fd1d6829ad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444899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連到哪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機制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帳密或憑據在哪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controller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寫在 JAAS 設定的帳號與密碼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SASL/PLAIN + LDAP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的帳號與密碼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SASL/SCRAM-SHA-512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內的 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Proxy、bootstrap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SASL/OAUTHBEARER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 MDS token:元件自己的(用 client 憑證換),或代人、代 legacy app 取得的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10dd8a05-f8f8-463f-af39-b79a4b869bfd"/>
          <p:cNvSpPr/>
          <p:nvPr/>
        </p:nvSpPr>
        <p:spPr>
          <a:xfrm>
            <a:off x="548640" y="5376013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前兩列是叢集內部元件互連;後三列是外部連進 broker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授權:MDS 管 RBAC,broker 判斷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RBAC 資料與群組資料都放在同一個 Kafka topic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5</a:t>
            </a:fld>
            <a:endParaRPr lang="zh-TW" altLang="en-US" sz="900"/>
          </a:p>
        </p:txBody>
      </p:sp>
      <p:graphicFrame>
        <p:nvGraphicFramePr>
          <p:cNvPr id="5" name="1a1f1df4-5c42-4333-a62d-2dbdd5f289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444899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1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4E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內嵌在 broker 的 HTTP REST 服務,提供 token 簽發與 RBAC 的 API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的 API 被呼叫後,把 RBAC 資訊寫入 Kafka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定期查 AD;使用者與群組的對應有變更時,寫入同一個 topic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topic 的資料讀進本地快取;用已認證的使用者查出所屬群組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把使用者與群組拿去比對 RBAC 資訊,判斷這個動作有沒有權限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授權:AD 群組對應 RBAC role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建議做法:人不寫資料,高權限群組平時是空的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6</a:t>
            </a:fld>
            <a:endParaRPr lang="zh-TW" altLang="en-US" sz="900"/>
          </a:p>
        </p:txBody>
      </p:sp>
      <p:graphicFrame>
        <p:nvGraphicFramePr>
          <p:cNvPr id="2" name="81de1c42-cf59-4db1-86c9-445c15a091c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716415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群組或身分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綁定的 role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範圍(scope)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平時是否有人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Topic:&lt;topic 前綴&gt;;Group(consumer group):&lt;group 前綴&gt;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有:該系統維護人員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有:維運人員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看叢集狀態;不能讀寫資料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空:依變更單臨時加入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建、刪、改 topic 與設定;不能讀寫資料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空:依變更單臨時加入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只管授權;不碰資料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有:資安與稽核人員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檢視授權設定;管理 audit 設定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整個叢集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空:緊急時一到兩人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服務帳號(SCRAM)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讀:DeveloperRead;寫:DeveloperWrite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Topic:自己的 topic;讀取時另加 Group:自己的 consumer group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不適用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1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寫資料只由服務帳號做;綁 User:</a:t>
                      </a:r>
                      <a:endParaRPr lang="zh-TW" sz="11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750f8829-c27f-42e3-8fc4-ac094710fe88"/>
          <p:cNvSpPr/>
          <p:nvPr/>
        </p:nvSpPr>
        <p:spPr>
          <a:xfrm>
            <a:off x="548640" y="5588137"/>
            <a:ext cx="11091672" cy="381824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名稱與前綴是範例;topic 與 consumer group 各有自己的名稱,命名規範要請客戶確認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 RBAC 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本方案用到的內建角色,依「綁在叢集」或「綁在資源」分兩類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7</a:t>
            </a:fld>
            <a:endParaRPr lang="zh-TW" altLang="en-US" sz="900"/>
          </a:p>
        </p:txBody>
      </p:sp>
      <p:sp>
        <p:nvSpPr>
          <p:cNvPr id="2" name="63a147a4-ffe9-466a-aaf2-662ebea6ced9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40" name="b8528bad-39b7-4ae2-b711-99a5f44ec07e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1" name="b33e01e7-7028-48c2-a675-135338a97a1a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5380abe1-e1b9-428a-b06a-0fdada146edd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42" name="133e6200-37ff-48e6-9432-43dc0f1b1200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f7a53872-ba66-418a-8f7c-add0878b6518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43" name="dca61593-ff80-4680-8827-9717362a0fea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6565f643-daae-48a9-bab8-1d2924b74f8a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be73d5d8-acc4-47ce-96d0-d1110faa6e87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619a2413-6e0c-4fbb-805a-0273bd6983cd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b34a6b12-b314-4241-ba02-738a312e2e5f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ff2a9956-c0b3-4632-8d52-229eace916ff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可檢視授權設定,不能改</a:t>
            </a:r>
            <a:endParaRPr lang="en-US" sz="1100" dirty="0"/>
          </a:p>
        </p:txBody>
      </p:sp>
      <p:sp>
        <p:nvSpPr>
          <p:cNvPr id="14" name="d204b1fa-f5e2-49df-b249-91393e4dd426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95249bc4-bf2c-4559-8fad-ffa54baefe29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2ee0d821-2f03-4193-b19a-3c779708923a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d658f23b-7f34-430d-93c3-29f867d070b5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d6b5b9d4-d387-4f1f-bdcb-ddf53832599e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f578232c-081f-4beb-afa2-c7ac6998c266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e90ca8fa-f2ab-43af-951b-25ef7c40a8b6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b9fba6e4-efd9-42d7-8322-ffe6b008711b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5ce92782-29a2-416a-bc0d-2e5b0b738291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c35decbf-df8e-4f5f-84b6-4e8c5f121ce5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6cec4a64-c5c0-46bb-a632-f6a66fe55f79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1bb9b1dc-277b-4a98-99f9-c2ad77ead0e8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8bb66f08-7afe-4643-bfd8-8890e2a38d31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07e353ef-2227-4a73-8df5-ee35b88bf788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9f1cf1a2-e8a6-456c-8d53-0dbb4b5b3822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823b7752-954c-45fe-8e81-9ab8cc1748cf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2b5825fc-0e29-484a-936c-c7b34d873f07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marL="0" indent="0" algn="ctr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93bf399f-b998-40cc-8f36-351742480f1e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比對方式(名稱為範例)</a:t>
            </a:r>
            <a:endParaRPr lang="en-US" sz="1200" dirty="0"/>
          </a:p>
        </p:txBody>
      </p:sp>
      <p:sp>
        <p:nvSpPr>
          <p:cNvPr id="32" name="0c8f9829-e1cc-4fc1-a5e7-9d98bb19f538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f61ef707-20d5-48cb-b7d9-9351ff0da214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609525c9-21cc-40cc-9977-f3cde5743aa5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da9bc3c5-d5f7-4f04-848a-a920f1441e79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marL="0" indent="0" algn="ctr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marL="0" indent="0" algn="ctr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0cc7b8e6-b2b4-4fad-bc8b-baae954d05f3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marL="0" indent="0" algn="l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db69cf86-c4f8-4075-894b-3e4bd5da2104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對應上一頁的例子</a:t>
            </a:r>
            <a:endParaRPr lang="en-US" sz="1100" dirty="0"/>
          </a:p>
        </p:txBody>
      </p:sp>
      <p:sp>
        <p:nvSpPr>
          <p:cNvPr id="38" name="0a09a945-605b-4e57-acd8-e235d2fc6773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 → Operator @ 叢集</a:t>
            </a:r>
            <a:endParaRPr lang="en-US" sz="1000" dirty="0"/>
          </a:p>
        </p:txBody>
      </p:sp>
      <p:sp>
        <p:nvSpPr>
          <p:cNvPr id="39" name="c93e1b52-94db-4e07-a14b-a4cd0ee40447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讀取群組 → DeveloperRead @ 前綴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與 Kafka 元件交互:總覽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五種交互,認證方式與結果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8</a:t>
            </a:fld>
            <a:endParaRPr lang="zh-TW" altLang="en-US" sz="900"/>
          </a:p>
        </p:txBody>
      </p:sp>
      <p:graphicFrame>
        <p:nvGraphicFramePr>
          <p:cNvPr id="2" name="f655cc01-9453-4e47-bbc3-0653fd67ca7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529749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誰連誰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對方做什麼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結果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服務帳號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做權限控管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 應為 super user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→ MDS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認證後,簽發代表元件本身的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元件帶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→ C3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 Basic 登入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轉給 MDS,由 MDS 向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取得代表本人的 token(見「人 → C3」頁)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 → 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Basic(AD 帳號密碼)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轉給 MDS,由 MDS 向 AD 驗證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取得代表本人的 token,帶去與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→ 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mTLS(提供 client 憑證)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 向 MDS 做 impersonate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取得代表 legacy app 的 token(見「legacy app → REST Proxy」頁)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 → C3:登入與之後的請求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登入取得 token;之後依請求類型處理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9</a:t>
            </a:fld>
            <a:endParaRPr lang="zh-TW" altLang="en-US" sz="900"/>
          </a:p>
        </p:txBody>
      </p:sp>
      <p:graphicFrame>
        <p:nvGraphicFramePr>
          <p:cNvPr id="9" name="b3e8de07-7f8f-4445-9816-e8db4ce468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2477614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7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Basic(AD 帳號密碼)登入 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Basic 資訊轉給 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AD 驗證,回傳代表本人的 MDS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回給瀏覽器(回應內容與 cookie 都有)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瀏覽器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之後發請求給 C3 時,用 Bearer 標頭帶這個 token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" name="7f709829-0cf9-496b-8052-04566a297ab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32361"/>
          <a:ext cx="11091672" cy="1578206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99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收到請求後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token 怎麼處理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2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請求要與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把 MDS token 轉給 MDS,由 MDS 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2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請求不與 MDS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用 MDS 的公鑰在本地驗證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2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操作與 broker 有關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帶這個 MDS token 與 broker 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legacy app → REST Proxy:憑證換 token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只能 HTTP 的服務;憑證的 CN 就是它的帳號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10</a:t>
            </a:fld>
            <a:endParaRPr lang="zh-TW" altLang="en-US" sz="900"/>
          </a:p>
        </p:txBody>
      </p:sp>
      <p:graphicFrame>
        <p:nvGraphicFramePr>
          <p:cNvPr id="10" name="0ab8774f-68de-451d-986b-551ee503aa5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529749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1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順序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 mTLS 連 REST Proxy,提供 client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2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取出憑證的 CN,當作這個 app 的帳號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用自己的 client 憑證向 MDS 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4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向 MDS 做 impersonate,取得代表這個 app 的 MDS token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帶這個 MDS token 與 broker 交互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準備事項(一):憑證、金鑰與帳號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依前面各頁整理:導入前要先備妥的東西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11</a:t>
            </a:fld>
            <a:endParaRPr lang="zh-TW" altLang="en-US" sz="900"/>
          </a:p>
        </p:txBody>
      </p:sp>
      <p:graphicFrame>
        <p:nvGraphicFramePr>
          <p:cNvPr id="11" name="d2927200-b9a3-4665-8517-47f0e88765b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4191573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要準備什麼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注意事項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共用的 server 私鑰與憑證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要列出所有元件的主機名稱或 IP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簽發 server 憑證的 root CA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放進各元件與外部 client 的信任庫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憑證:c3、restproxy、bootstrap、各 legacy app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認證、元件交互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憑證的 CN 就是身分,命名要先定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 LDAPS 用的 CA 憑證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傳輸加密(連 AD)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有中繼 CA 時一併提供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簽發 token 用的金鑰對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授權、元件交互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私鑰外洩可偽造任何人的 token,要限制存放位置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 kafka-broker、kafka-controller 的密碼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認證(叢集內部)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帳號在初始化叢集時建立;controller 的 JAAS 設定另放同名的 PLAIN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每個服務一個 SCRAM 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密碼放密碼庫;密碼不會自動到期,要有輪替流程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1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bootstrap(super user)的保管方式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認證、元件交互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不受授權限制;只用 client 憑證,不另建帳號;用完離線保管,指定保管人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準備事項(二):AD、命名規範與流程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需要 AD 管理員、應用團隊與維運一起確認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12</a:t>
            </a:fld>
            <a:endParaRPr lang="zh-TW" altLang="en-US" sz="900"/>
          </a:p>
        </p:txBody>
      </p:sp>
      <p:graphicFrame>
        <p:nvGraphicFramePr>
          <p:cNvPr id="12" name="833d52ac-ffe6-4029-9307-7db6a4f84b9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953995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要準備什麼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注意事項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唯讀查詢帳號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只讀使用者與群組;不用真人帳號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使用者與群組在 AD 的位置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用來設定搜尋範圍;帳號大小寫要與 AD 一致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 AD 群組並放入成員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依「AD 群組對應 RBAC role」頁;高權限群組先保持空的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 與 consumer group 的命名規範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兩套名稱各自定前綴;沒有規範就無法依前綴授權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服務與 legacy app 的清單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認證、授權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列出各自要讀寫的 topic 與 consumer group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臨時加入高權限群組的變更流程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依變更單加入,做完移出;緊急用的群組指定一到兩人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防火牆連線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傳輸加密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元件之間的九條連線、broker 連 AD、外部 client 連入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6279918-8EC7-4ECB-A798-E15F186ABB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E66D0B-AA1B-4EED-A6EC-86D221198F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643090-462e-4483-8fee-104e11aaa7c6"/>
    <ds:schemaRef ds:uri="81fbc0a5-bf19-4add-b132-07e20741ab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6D8F05-3EF5-4272-8592-C532046A55F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6653</TotalTime>
  <Words>5391</Words>
  <Application>Microsoft Office PowerPoint</Application>
  <PresentationFormat>寬螢幕</PresentationFormat>
  <Paragraphs>347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微軟正黑體</vt:lpstr>
      <vt:lpstr>Aptos</vt:lpstr>
      <vt:lpstr>Arial</vt:lpstr>
      <vt:lpstr>Arial Black</vt:lpstr>
      <vt:lpstr>Wingdings</vt:lpstr>
      <vt:lpstr>Office 佈景主題</vt:lpstr>
      <vt:lpstr>Kafka 安全整理</vt:lpstr>
      <vt:lpstr>傳輸加密:要準備的憑證與信任庫</vt:lpstr>
      <vt:lpstr>傳輸加密:哪些連線要設信任庫</vt:lpstr>
      <vt:lpstr>認證:誰連誰,用什麼機制</vt:lpstr>
      <vt:lpstr>授權:MDS 管 RBAC,broker 判斷</vt:lpstr>
      <vt:lpstr>授權:AD 群組對應 RBAC role</vt:lpstr>
      <vt:lpstr>Confluent 內建 RBAC 角色與 scope</vt:lpstr>
      <vt:lpstr>與 Kafka 元件交互:總覽</vt:lpstr>
      <vt:lpstr>人 → C3:登入與之後的請求</vt:lpstr>
      <vt:lpstr>legacy app → REST Proxy:憑證換 token</vt:lpstr>
      <vt:lpstr>準備事項(一):憑證、金鑰與帳號</vt:lpstr>
      <vt:lpstr>準備事項(二):AD、命名規範與流程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user</cp:lastModifiedBy>
  <cp:revision>95</cp:revision>
  <dcterms:created xsi:type="dcterms:W3CDTF">2025-04-18T08:33:56Z</dcterms:created>
  <dcterms:modified xsi:type="dcterms:W3CDTF">2026-10-05T08:48:14Z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