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  <p:sldId r:id="rId58-created" id="295"/>
    <p:sldId r:id="rId59-created" id="296"/>
    <p:sldId r:id="rId60-created" id="297"/>
    <p:sldId r:id="rId61-created" id="298"/>
    <p:sldId r:id="rId62-created" id="299"/>
    <p:sldId r:id="rId63-created" id="30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Relationship Id="rId58-created" Type="http://schemas.openxmlformats.org/officeDocument/2006/relationships/slide" Target="slides/slide47.xml"/><Relationship Id="rId59-created" Type="http://schemas.openxmlformats.org/officeDocument/2006/relationships/slide" Target="slides/slide48.xml"/><Relationship Id="rId60-created" Type="http://schemas.openxmlformats.org/officeDocument/2006/relationships/slide" Target="slides/slide49.xml"/><Relationship Id="rId61-created" Type="http://schemas.openxmlformats.org/officeDocument/2006/relationships/slide" Target="slides/slide50.xml"/><Relationship Id="rId62-created" Type="http://schemas.openxmlformats.org/officeDocument/2006/relationships/slide" Target="slides/slide51.xml"/><Relationship Id="rId63-created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dd131fbf-c711-4a0c-aca7-59a024119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be846c1-298d-4788-9d27-cda938c32cd7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aff99d3-28d1-4a43-aba3-de2b63dbaa40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388f4d1-b8c5-41f2-be24-49d350bf3e2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d692fe4f-0afb-4fed-a9b6-808368849c87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77c83ce9-0b62-400e-911f-adcb722cbb3d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05fcab03-94b3-4a03-be14-987a8bde3790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3f2f408-bff9-41c5-9864-450706403fa9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dcbe7f9f-53d8-4be6-93c3-6a4f4ce4f03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1409979d-e871-4dac-9823-280002388bce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0dff6d6a-a49d-4210-879d-93a7e821bcbf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01498fae-2c85-40b0-9218-991dbd43e004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42ce2f42-49ee-4b84-aa3f-86ae74e98b8c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4ab198db-5caf-44c7-b314-5b653923244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5873a84c-32b8-47f8-9a0a-6587b425edb5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d00dfdcd-8f65-4e9c-b97c-ef44ca9d2a12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37f1cc08-1a6e-4931-ac77-4d5c7e24efb2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26b13243-dea1-4a1c-89cd-d644f0f449d9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b9f04fb7-d35b-498c-a6f6-4debdae0a23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3be01d4b-c104-4f2b-be0c-284a91578b3f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a0174bba-21a3-4d62-898b-424dd63bade6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86229e60-0cea-43f6-a605-7586254d3c61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2401b068-661a-49a5-aad2-66bfd0148ad2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69ad9e62-72cb-4440-a606-b21b3d722fd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6fe68800-c0f7-4817-b3c7-50044de59c86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ec5c0eff-83f5-44ee-a5f0-693cd788e792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052732c6-b968-415b-8f73-6fdd94142659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a32ddd3b-d31f-4104-a16c-1c0d3fb96e62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1e876554-848a-4760-bd52-fc8a03298fe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a8274b51-489b-409f-9682-9968acb0a576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bc6efbfa-7015-439e-9d3e-f3fa2410c93d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30a91a13-c0e4-4fad-a451-b005efbe12d4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c00f7ea2-f70e-4881-bc4e-931524b1ced7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924aa7a3-353d-48e5-999d-24d6bd12ab66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be308561-f5c9-43e0-a348-b59ae9a483c0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441d95b6-c34a-4189-9ce7-0f0ea15a398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f4acc2bd-1730-47aa-ad88-91c9442c0108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df3c8168-b62d-44b9-b0fd-5dfe607dedc8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162b8b74-d8c0-4720-922d-f971b40c464a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196a18e4-d263-4d8a-b7b6-5437e19906e8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185ad445-6230-4cec-8f09-71450d67246f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db93e607-b142-4b42-aca3-b94254ecd213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55126dc8-033b-4660-b8c1-54ff1c20ccfe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內部憑證(mTLS);只接 broker</a:t>
            </a:r>
            <a:endParaRPr lang="en-US" sz="1050" dirty="0"/>
          </a:p>
        </p:txBody>
      </p:sp>
      <p:sp>
        <p:nvSpPr>
          <p:cNvPr id="44" name="550bf067-5636-4a64-98c1-4d4cdab51d24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內部連線:mTLS,broker 與 controller 共用一張內部憑證(身分是 super user);MDS 負責驗證、授權、簽 token</a:t>
            </a:r>
            <a:endParaRPr lang="en-US" sz="1050" dirty="0"/>
          </a:p>
        </p:txBody>
      </p:sp>
      <p:sp>
        <p:nvSpPr>
          <p:cNvPr id="45" name="fd6d19d4-1068-4356-a81a-0952647f1803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13e3809c-8251-4213-8ab5-846e0300f995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2ad47df3-e507-46a8-ae7b-a461c797eea1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2760d361-8bfc-40b2-b231-d591d1a9bb1a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d9a81bf7-4f62-40aa-adad-f1a20e210999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6bfe9205-6615-4854-94e7-98ca8dc97685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d2587316-28c4-4be1-bc90-e65570c6c898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79ee6223-887e-42be-b38d-2b105f1f664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e4aa2dad-8db9-4b51-a5f6-2bf406c8a6b1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a7647d00-7513-4f6a-9417-0713c271f03c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dcaa84bd-5eee-4082-9729-4538878bb577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ade629ba-77e5-40d9-9d24-08c211174393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828fcbf8-961f-4cc5-b9aa-d8e3aa2e53ae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d59041a2-b7ac-475d-ac0b-53e976000b82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ebb82a20-91b8-408d-9449-53470f64eeec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62495a1f-514e-42f8-ab8b-b25a65132bfa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702af267-875b-4d0e-8e96-0f0920609f5d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990e4ee0-6b0b-47bd-a4bf-c939ee605331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b5676ad3-ea8f-47db-8900-046eb780b0a2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f62065d8-367e-4c0d-b6d0-5b54a75ef5ea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34f32624-3394-4029-bef7-ff07ed48719a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28b5f55b-3414-48d7-9d3a-6acb31ca413c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1c7f584a-442a-4b48-922c-88a8970179b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fe0e831-61c5-496a-b729-afb7f9634770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dfe980ad-de81-4db0-86be-d95343c64d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731c472-b917-4d39-b92e-01900bb99b19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cbfc00b4-0a07-4972-93ee-f1e12c392b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493f21f-ca6e-4b7c-8345-b6b576b03612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1d93e62-137b-4b7e-848f-56d6dcd85e52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43df910-b929-4f5b-8c7d-12105be40e0a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4e8cbf5b-4742-41a6-af9e-4bd2cbc9536f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f8bc01c5-7163-4bc4-a7ed-349ebda7e9bc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d62f1151-d9e2-4081-b702-a160b28bee00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b18169d3-eed5-4830-be91-a57263882306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5e47ded4-5681-42e7-b787-80d201013634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a613903b-9199-4128-a9ef-95f3cc7f7be9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129015a9-b1c9-441a-8e60-43a1af96bc49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7d3e518a-1d44-4243-bbfa-667ae3a10dd1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58f3081a-283c-4165-bbcf-b02873cf35de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7f1d6e0f-ec62-41be-a597-80befadc154a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da7c7469-6799-44cd-9bc6-19cfbfbdc2a7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b16555de-260a-4368-ab74-88d510f0d566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e03f06c6-c6a4-4481-9497-d7bd040664cc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dc4e20bf-b7d6-4da8-a9d5-fd83fdb92627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4d5849b0-1e87-4acd-b714-d18be14ab79d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8962a160-f7a0-4b7e-960f-71386071e1e7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f6fa204d-1f2c-41ee-9b75-9a9c9d0e7688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01fffd0f-0563-4405-9a07-698265a11120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84fc6ca8-15f5-40ff-8257-8a4d10777a94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d586c2ac-5d73-4693-8092-f4b78b201300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2ec0c1f6-f0b0-4f50-abf9-243c231eea3e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69cff0c5-eac3-4ac4-b66d-df9c0d5082d0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54dd8f22-4550-4464-842c-5c33abd866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bbe50986-3bdf-449b-b430-f184adb6431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7129e14-1f2b-4d2b-b111-6832f0d9de67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一張內部憑證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ab5104aa-7fcc-4fb7-bc8c-c967e05f2d0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內部憑證(1 張,broker 與 controller 共用)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內部埠與 controller 埠的 mTLS;身分是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拿到私鑰等於叢集管理員:每台 0600、不入版本庫;稽核分不出是哪一台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65686b2-781f-4046-818b-b2e0000c679b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7fc008eb-e5e5-4359-96ef-dc2e0758189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b5f3adf0-3837-4db7-8962-dc21e191d3f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mTLS:broker 與 controller 共用一張內部憑證;防火牆只開給叢集節點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憑證身分是 super user,私鑰要保護;稽核分不出是哪一台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帳號被偷之後:六道防線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假設某個帳密外洩,多久被發現、能做多少事、多久失效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ae745515-b3ab-44a1-832f-29f433131aa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3017520"/>
                <a:gridCol w="25877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效果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測試環境結果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 re-authentication:長連線每隔一段時間重新驗證(建議 1 小時)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帳號被停用或改密碼後,既有長連線在期限內被切斷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改密碼後舊連線被切斷(測試值 60 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認證失敗次數的告警規則(Prometheus)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密碼被猜、被撞庫時能發現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連續失敗觸發告警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版本與套件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TLS 1.3 / 1.2 與 AEAD 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擋掉老舊、較弱的套件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設定前 broker 接受舊的 CBC 套件;設定後被拒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單一來源連線上限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每個來源 IP 的連線數上限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一個來源不能開無限條連線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超過上限的連線被拒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流量配額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quota(位元組/秒)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被偷的帳號最多能灌多少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超過配額即被限速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帳戶鎖定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的鎖定原則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擋暴力猜密碼;但鎖定也能被拿來鎖別人的帳號(雙面刃)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鎖定後 MDS 與 Kafka 同時失敗;緊急路徑與機器帳號不受影響;解鎖即恢復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SCRAM 帳號:停用,不要刪除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Apache Kafka 已知問題;影響 Confluent Platform 8.3.x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80de6f53-9080-4de0-8ac7-711b413a01d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已知問題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刪除 SCRAM 憑證後,broker 重放 metadata 時會丟掉整組 SCRAM 使用者(KAFKA-20774);修復在 Kafka 4.5.0(尚未發行),Confluent Platform 8.3.x 內含 Kafka 4.3.x,受影響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症狀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內部通道用 SCRAM:broker 重啟後起不來。內部通道用 mTLS:broker 起得來,但對外埠所有 SCRAM 登入失敗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何時發生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全新叢集刪除一個 SCRAM 帳號後重啟 broker 即重現;跑很久、已有 metadata 快照的叢集不一定重現——沒重現不代表安全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 = 覆寫成隨機密碼 + 解除角色,一律不刪除;內部通道採 mTLS,降低 broker 起不來的風險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已經刪過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重建被刪的同名帳號(任何密碼),再滾動重啟 broker 即恢復;不必清資料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Registry 與欄位級加密(CSFLE)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授權沿用同一套身分與群組;欄位加密本身需要加購授權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57d525f2-815a-4ba0-b9b1-84ffb61bc8f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5196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要帳密:不帶或密碼錯 401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subject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跟 AD 群組走:訂單群組只能碰 orders. 開頭的 subject,其他被拒;列出 subject 只看到有權限的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金鑰加密金鑰(KEK)管理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 security 群組能建;應用群組只被授權讀;無角色者被拒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Schema Registry 自身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 client 憑證向 MDS 換 token 連 Kafka,不佔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規則沒生效的風險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沒開規則 extension 時,加密規則被默默丟掉、資料以明文寫入;上線前與每次改規則後,要讀 topic 原始位元組確認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欄位實際加密與解密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註冊帶加密規則的 schema 需要企業版加 CSFLE 加購授權,否則回 402;加密、解密、金鑰輪替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未驗證(待授權)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解密權限與 KMS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由 KMS 控制,不是 Kafka 的 RBAC;內建支援 AWS、Azure、GCP、HashiCorp Vault;地端 HSM 需自訂 Java 驅動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依官方文件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5" name="8e98ac8e-28fa-492f-b1b6-94c192ff7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47074724-bf3c-4100-b9be-7ef36aa0e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0732b81-241b-4d81-9b5c-c0a5543e7b86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c1c93c4e-d820-4cf3-8a57-fc663b8772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7703519-5753-45bd-9f8b-1afea40e5bf2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8de8810-fb46-4930-9b85-cef5fd155b7a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bfa980fa-613c-43cc-ab23-05952d79790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d06b33d-e70e-4b13-9552-4d1609eccd8e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5b0fadfd-5df9-4e03-a15b-43e16dadc93c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60ae6a5b-a500-43f7-8f0f-57ec9260ebef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e61b5f28-37b6-4934-8f35-bbc7fb78fa79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6b592126-b5b6-410a-9078-63bc036044a6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79ec7bb5-4c41-4b14-af93-ac810377f305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db9d5b15-9f0a-4146-96d7-c2b9532c7d93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8a20a552-7183-4a48-b393-736a607db46f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4a76f248-26b9-4f57-af9e-c36711b92733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0a63fbc1-9d14-47e2-9102-eaa266c2df2a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c7f67751-f4a1-4aee-a903-c6537a705678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d0b32608-79d6-4d3b-882c-07acae8d2da3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e6588c7f-48aa-4cfb-9f59-0b9f5a19a1f3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fd481053-36c5-4cbe-8c59-69a4d66ecf0a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01f4666c-3927-44a4-921c-4d76196e2467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cb6858fa-3ef5-4f33-861f-9a342376bb9c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dd73eee3-4a21-4043-9074-d3bc1a3ca01e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8" name="3794e3af-7cee-42fd-b175-4c1207b7d9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9" name="a8dd619a-797f-4bb3-bfa3-d34f208f5de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01889ee3-b335-45f5-8108-092e9a78ebf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71f3f186-23e2-4cb8-a829-4722c93cb89a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14001068-eb23-41bd-8089-cb9231927a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1258f0f-1e32-4db8-8a0d-2e332ccd4bb4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5a73a5d-99d8-4877-8141-37244b75f2b7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7b3361fb-cbca-4000-9a77-7d9d4ef8711a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08f691ed-1155-4957-b636-6cd5ff7e3f68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ba7783aa-f025-4606-ac2a-d59c4fd80492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9af36aab-8da8-46c1-9902-5cf828a707c9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2565abcc-6d4f-49f7-9a7b-1224f4e5aec5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9c93fab-5208-4f02-aff4-b71fe4e3c71b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6dfc1db6-e7e7-4941-8b92-0bc38f63b614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5f40b5b8-085a-469d-8cda-4fa6a0cd16b3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e33f8f38-9195-4278-a21a-3e5867825e49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7466194b-5f1a-48c2-8d15-d0ad21c71330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6cd53343-8350-41d4-bb65-46f12ded6334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10624a51-9517-48ed-9696-f3bfc2110d4b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fa012fcb-dea2-4238-af67-7dc5fc367f0d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90aa55d0-0fa1-4794-899a-5d64efd144e3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3bdd677a-78ce-4b1c-830e-34274cd6c6dc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8f985b86-c9b9-4c62-a81a-85ff07681f9f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3c3bd25a-c47e-4aa6-9e38-89014229ba77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a7127530-a6e8-4755-a74d-e77380ca1a37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652e9df8-6a2a-485f-baa2-bcd58ab094e0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7fec7402-6129-4586-be4e-7ab8e3620951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af62e6cb-0115-418e-86fb-7bc834007e6b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2c2341e2-90f4-4750-839a-a2250bcf56f8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0c5c5313-e122-4c02-9723-8128f6bd30d2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d0dbd22f-6bce-4e17-90a7-0409fe38accf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32b67ce6-87d2-4f1c-b9c3-0e4d75766b35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8bcc4db5-04ed-43e5-afa4-b05a3d494fc5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7f841259-a44a-486d-9b12-23acbe9e42c9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45d51481-33df-43e0-85bc-9a69962373bd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5a387502-5c46-47f1-a7fa-aff730d2af90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4058748d-510c-4033-8759-40c0b9c19aab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36387765-a747-41f6-acf4-e71b4dec0593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dd090319-8b78-4d10-b8cc-1a99dd6d9cd0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1326a6d6-1114-4428-8ccf-e3682b1bc3c4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1f475505-2748-4e08-bd17-c2b8a20feb6d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7169821b-9a03-4bc9-b6a0-c3253889326e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d0f27701-b432-4ab7-8b42-d39655095b74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51775139-80c0-4174-be18-3dbaf89338de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e7a0e335-d131-4b69-b6c7-893648bb8d3d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ae00d14d-52be-4528-9f4d-9e319e47d013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設定檔密碼加密:輪替與重啟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Confluent Secret Protection;主金鑰由 CyberArk 保管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03cf9aae-a9a9-44e0-a4e5-7668fe96fa5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做法與結果(測試環境實測)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兩層金鑰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主金鑰(CyberArk 保管,啟動時取)加密資料金鑰;資料金鑰加密設定檔裡的密碼。叢集共用同一把主金鑰、同一份密文檔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輪替主金鑰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只重包資料金鑰,值的密文不變;需要「目前的」與「新的」passphrase(也要保管,只讓管理員讀);新主金鑰只顯示一次,要立刻寫回 CyberArk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輪替資料金鑰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只需要目前的 passphrase;所有值重新加密;主金鑰不變,CyberArk 不用動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檔與主金鑰要成對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新檔配舊金鑰、舊檔配新金鑰都解不開;不成對時 broker 起不來。輪替前先備好舊檔與舊主金鑰以便退回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一定要重啟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啟動時才讀。維護窗口內一台一台做:換檔 → 取新主金鑰 → 重啟 → 確認健康 → 下一台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重啟期間服務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 2 台 broker、副本 2:輪替並滾動重啟期間持續寫入 1200 筆,全部寫入、零遺失;正式環境建議副本 3、最小同步副本 2,controller 也逐台重啟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passphrase 在這個版本的指令只能直接放在指令列(不讀檔),輪替要在受控的管理主機上做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六、平台韌性、可觀測性與應用開發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高可用、監控告警、憑證、容量、日誌與追蹤、應用端可靠性、資料契約、Connect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高可用:壞幾台還撐得住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3 台 controller、3 台以上 broker、副本 3、min.insync.replicas 2;順序與數字都用停機實測確認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4" name="9fd09e56-fbd7-43cf-b82a-dbe1d56b728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寫入(acks=all)不中斷;副本不足的分區數(URP)大於 0 是要告警的訊號;恢復後補齊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2 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acks=all 被擋;acks=1 的 producer 回報成功,consumer 卻讀不到(高水位不前進),恢復後才出現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叢集照常:建 topic、寫入都正常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2 台 controller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失去多數:建 topic、describe 沒回應;既有 topic 的讀寫暫時還可用,不是可依賴的容錯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滾動重啟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一台一台(等 URP 回 0),controller 非 active 先、active 最後;背景寫入零失敗零遺失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動態 quorum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測試用靜態 quorum;正式環境建議動態 quorum 並在 VM 上演練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監控與告警:兩條指標路徑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告警要「真的會響」;銀行自有監控走 JMX exporter,不依賴 Control Center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5" name="b69a0627-99ff-4e7d-8a7c-d59d649cfc4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233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telemetry → Prometheus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JMX exporter → Prometheus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 的資料來源,保留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銀行自有監控與告警的建議路徑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偵測時間(停 1 台 broker)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150 到 250 秒(指標 60 秒送一次)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35 秒(每 15 秒抓一次)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C3 綁在一起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獨立於 C3;既有 Prometheus、Grafana 可直接用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必設告警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URP、under-min-isr、離線分區、active controller 不是 1、controller 掉線、broker fenced、unclean election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同一組,另加「抓不到 exporter」的監控的監控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cb024cb-e10c-4f5b-8fda-6f2b2cfa16f4"/>
          <p:cNvSpPr/>
          <p:nvPr/>
        </p:nvSpPr>
        <p:spPr>
          <a:xfrm>
            <a:off x="548640" y="4654790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監控端點也要保護:exporter 用 HTTPS + 帳密(JMX exporter 不支援 mTLS)、blackbox 用 mTLS;Prometheus 與 Alertmanager 依用途分開帳號</a:t>
            </a:r>
            <a:endParaRPr lang="en-US" sz="1250" dirty="0"/>
          </a:p>
        </p:txBody>
      </p:sp>
      <p:sp>
        <p:nvSpPr>
          <p:cNvPr id="4" name="846a5ffd-fa6e-4637-87b6-cfbe20eb6f73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磁碟用量要另外用 node_exporter;consumer lag 用 kafka_exporter(社群專案,上線前評估維護狀況)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告警送到人:寄成信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值班的人不會盯著畫面;通知的設計比通道重要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6" name="24dbf5d3-a187-4923-bdfe-d046a60bf9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通道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以 SMTP 寄到行內自架的郵件伺服器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以測試用郵件伺服器驗證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依嚴重度分流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critical 寄值班信箱、warning 寄維運群組信箱;主旨寫明狀態、告警名稱、嚴重度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同類合併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同名同嚴重度的告警合併成一封(group_by),一次壞多台不洗版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發生與解除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 1 台 broker 約 30 秒收到 FIRING,恢復後約 40 秒收到 RESOLVED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郵件伺服器保護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強制 STARTTLS 並要帳密;Alertmanager 的密碼從檔案讀,用行內 CA 驗證伺服器憑證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其他通道、靜音與抑制、高可用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簡訊、通訊軟體、工單 webhook;靜音與抑制規則;Alertmanager 多實例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憑證:到期監控與不停機換憑證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憑證過期是常見的停機原因;換憑證要有預檢、金絲雀與不依賴被換掉的那條路的回退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7" name="1870616e-918e-45b2-bf8c-b558b15c0d5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到期監控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blackbox 對各端點做 TLS 探測,看「實際送出」的憑證(不是看檔案);&lt; 30 天告警;client 憑證與 CA 用檔案巡檢補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不停機換憑證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動態 keystore 重載(listener 層級),逐台設定:預檢 → 先換一台當金絲雀並用 client 角度驗證 → 其餘;寫入零失敗、不重啟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不同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新憑證的 DN、SAN 與現有不同,broker 拒絕更新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別的 CA 簽的憑證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會接受,client 全部驗證失敗;影響限於金絲雀;回退必須走不經對外埠的帶外路徑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只涵蓋 Kafka 的 listener;MDS 等 Jetty 入口要重啟;動態設定存在叢集 metadata,靜態設定要同步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容量:分區搬家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新增 broker 不會自動搬舊資料;搬家要有回退檔、限速與收尾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bda6469-c9bc-48db-8d97-75041e2f7d2c"/>
          <p:cNvSpPr/>
          <p:nvPr/>
        </p:nvSpPr>
        <p:spPr>
          <a:xfrm>
            <a:off x="548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14f4039-5ca0-48ec-9947-4e3767897d97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71cf43f-3fb0-4f97-acc7-5fe9d36a1516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存回退檔</a:t>
            </a:r>
            <a:endParaRPr lang="en-US" sz="1400" dirty="0"/>
          </a:p>
        </p:txBody>
      </p:sp>
      <p:sp>
        <p:nvSpPr>
          <p:cNvPr id="5" name="132acc11-b02d-4e25-847d-8ff77b22b19f"/>
          <p:cNvSpPr/>
          <p:nvPr/>
        </p:nvSpPr>
        <p:spPr>
          <a:xfrm>
            <a:off x="640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搬家前先把目前的指派存起來;--generate 的建議只是草稿</a:t>
            </a:r>
            <a:endParaRPr lang="en-US" sz="1100" dirty="0"/>
          </a:p>
        </p:txBody>
      </p:sp>
      <p:sp>
        <p:nvSpPr>
          <p:cNvPr id="6" name="eae431f6-aab4-4758-8cc8-170d4d5b1536"/>
          <p:cNvSpPr/>
          <p:nvPr/>
        </p:nvSpPr>
        <p:spPr>
          <a:xfrm>
            <a:off x="2834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4702c886-a00b-4345-9a17-40797d299e9a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d7a61703-ddbe-401d-97c6-4695dfe296c0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審過的計畫</a:t>
            </a:r>
            <a:endParaRPr lang="en-US" sz="1400" dirty="0"/>
          </a:p>
        </p:txBody>
      </p:sp>
      <p:sp>
        <p:nvSpPr>
          <p:cNvPr id="9" name="85053593-f1f3-4b21-af29-2609a76d568d"/>
          <p:cNvSpPr/>
          <p:nvPr/>
        </p:nvSpPr>
        <p:spPr>
          <a:xfrm>
            <a:off x="2926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人審:搬哪些、搬多少資料、是否違反機架規劃</a:t>
            </a:r>
            <a:endParaRPr lang="en-US" sz="1100" dirty="0"/>
          </a:p>
        </p:txBody>
      </p:sp>
      <p:sp>
        <p:nvSpPr>
          <p:cNvPr id="10" name="2daab8aa-7fae-46f5-b47d-3f11f93fec26"/>
          <p:cNvSpPr/>
          <p:nvPr/>
        </p:nvSpPr>
        <p:spPr>
          <a:xfrm>
            <a:off x="5120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57422b41-b072-4203-b28f-a120334ac3e4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f72a39f7-b399-4d2c-88fa-b78bfd70e887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限速執行</a:t>
            </a:r>
            <a:endParaRPr lang="en-US" sz="1400" dirty="0"/>
          </a:p>
        </p:txBody>
      </p:sp>
      <p:sp>
        <p:nvSpPr>
          <p:cNvPr id="13" name="63cc815a-34e5-46de-9bb1-b31be733ee02"/>
          <p:cNvSpPr/>
          <p:nvPr/>
        </p:nvSpPr>
        <p:spPr>
          <a:xfrm>
            <a:off x="5212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--execute --throttle;背景寫入實測零失敗</a:t>
            </a:r>
            <a:endParaRPr lang="en-US" sz="1100" dirty="0"/>
          </a:p>
        </p:txBody>
      </p:sp>
      <p:sp>
        <p:nvSpPr>
          <p:cNvPr id="14" name="216f45dd-ee0e-43d6-ae20-855fc53b7da8"/>
          <p:cNvSpPr/>
          <p:nvPr/>
        </p:nvSpPr>
        <p:spPr>
          <a:xfrm>
            <a:off x="7406640" y="1769899"/>
            <a:ext cx="2103120" cy="212124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4005e690-2eef-4051-9d70-ca76b3116c7c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54af337a-20b0-4429-a23d-de7eae8b6135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--verify 收尾</a:t>
            </a:r>
            <a:endParaRPr lang="en-US" sz="1400" dirty="0"/>
          </a:p>
        </p:txBody>
      </p:sp>
      <p:sp>
        <p:nvSpPr>
          <p:cNvPr id="17" name="effef839-3808-44bd-9ac2-b1b9003a7519"/>
          <p:cNvSpPr/>
          <p:nvPr/>
        </p:nvSpPr>
        <p:spPr>
          <a:xfrm>
            <a:off x="7498080" y="2745671"/>
            <a:ext cx="192024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完成時自動移除限速;不收尾,限速設定會殘留在 broker 與 topic</a:t>
            </a:r>
            <a:endParaRPr lang="en-US" sz="1100" dirty="0"/>
          </a:p>
        </p:txBody>
      </p:sp>
      <p:sp>
        <p:nvSpPr>
          <p:cNvPr id="18" name="72ed360c-e8b3-4fc9-b7de-07dcc6fe78fd"/>
          <p:cNvSpPr/>
          <p:nvPr/>
        </p:nvSpPr>
        <p:spPr>
          <a:xfrm>
            <a:off x="9692640" y="1769899"/>
            <a:ext cx="1947672" cy="2121243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9" name="b29e214f-89d3-4f0c-b695-5eb685338488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3bcd2fb2-4bf2-47ab-9870-d18b0686f2a8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必要時取消</a:t>
            </a:r>
            <a:endParaRPr lang="en-US" sz="1400" dirty="0"/>
          </a:p>
        </p:txBody>
      </p:sp>
      <p:sp>
        <p:nvSpPr>
          <p:cNvPr id="21" name="f66583eb-c1e3-4649-8f4a-811019024ae8"/>
          <p:cNvSpPr/>
          <p:nvPr/>
        </p:nvSpPr>
        <p:spPr>
          <a:xfrm>
            <a:off x="9784080" y="2745671"/>
            <a:ext cx="1764792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--cancel 回到搬家前並清除限速</a:t>
            </a:r>
            <a:endParaRPr lang="en-US" sz="1100" dirty="0"/>
          </a:p>
        </p:txBody>
      </p:sp>
      <p:sp>
        <p:nvSpPr>
          <p:cNvPr id="22" name="a0842989-25a2-4646-9d00-ae0d3f7f6836"/>
          <p:cNvSpPr/>
          <p:nvPr/>
        </p:nvSpPr>
        <p:spPr>
          <a:xfrm>
            <a:off x="2651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4ae442ee-accf-4eb3-b7ad-0ef36e48ab50"/>
          <p:cNvSpPr/>
          <p:nvPr/>
        </p:nvSpPr>
        <p:spPr>
          <a:xfrm>
            <a:off x="4937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f568d928-72c7-4916-948e-74b3a9ea0a8a"/>
          <p:cNvSpPr/>
          <p:nvPr/>
        </p:nvSpPr>
        <p:spPr>
          <a:xfrm>
            <a:off x="7223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9e6872b9-5712-470a-8913-68f857ae7896"/>
          <p:cNvSpPr/>
          <p:nvPr/>
        </p:nvSpPr>
        <p:spPr>
          <a:xfrm>
            <a:off x="95097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347e7115-2214-43ff-a988-334c481aa88f"/>
          <p:cNvSpPr/>
          <p:nvPr/>
        </p:nvSpPr>
        <p:spPr>
          <a:xfrm>
            <a:off x="548640" y="431539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搬家期間不要同時做滾動重啟或換憑證;限速值依服務延遲逐步調,不要憑感覺</a:t>
            </a:r>
            <a:endParaRPr lang="en-US" sz="1250" dirty="0"/>
          </a:p>
        </p:txBody>
      </p:sp>
      <p:sp>
        <p:nvSpPr>
          <p:cNvPr id="27" name="26d9841d-7367-4d28-9573-a2e0674657e2"/>
          <p:cNvSpPr/>
          <p:nvPr/>
        </p:nvSpPr>
        <p:spPr>
          <a:xfrm>
            <a:off x="548640" y="4824490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要審計畫、要控制節奏時用這套;擴縮容與下線 broker 的自動版是下一頁的 Self-Balancing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容量與成本:Self-Balancing 與 Tiered Storage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自動搬分區、舊資料放物件儲存;兩者的授權與版本資格官方頁沒有明載,導入前向 Confluent 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9" name="5b198174-59e2-4f43-8abd-e54c76331ee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實測結果與限制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Self-Balancing 啟用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下跑在 active controller:controller 與 broker 都要設 enable 與 inter.broker.listener.name,要滾動重啟;只動態開 broker 沒有用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加空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自動搬副本、不用手寫計畫;但要先蒐集指標視窗,實測等 15 到 20 分鐘才開始搬;搬家時寫入零失敗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移除 broker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kafka-remove-brokers 一個指令:副本搬走、資料筆數不變、broker 自動關機(約 3 分鐘);新建 topic 後約 18 分鐘內算不出計畫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負載不均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官方只在副本數與超過 20% 的磁碟用量觸發;小資料量不會搬,磁碟用量仍要自己監控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測試環境已驗證(超過 20% 未驗證)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Tiered Storage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 segment 上傳到 S3 相容物件儲存(測試用 MinIO,HTTPS):本機從約 300 MB 降到約 20 MB,從頭讀仍讀到全部,broker 重啟後仍在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Tiered 的踩坑與保護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憑證檔格式特殊、預設伺服器端加密需要物件儲存支援 KMS、讀取要信任行內 CA;專用帳號只限單一 bucket,匿名被拒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物件儲存中斷、讀取效能、授權範圍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物件儲存掛掉時的行為、回補 30 天資料的延遲、客戶行內物件儲存是否在官方認證清單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Grafana 全元件監控,以及日誌與追蹤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 Center 只看得到 broker 與 controller;Grafana 把 Kafka、主機、consumer、日誌、追蹤放在一起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0" name="6ce0d5e7-8f96-4779-92fa-0d96c3d47a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0624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官方儀表板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的 KRaft 儀表板原樣匯入(固定版本、校驗雜湊);匯入成功不等於有資料,要逐個查詢確認,不改官方內容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主機與 consumer lag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node_exporter(磁碟等)、kafka_exporter(lag;帳號只有 Describe);兩者都 mTLS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Grafana 本身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HTTPS、AD 登入、群組對映角色;本機 admin 只留緊急用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日誌與追蹤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Loki、Tempo、Alloy;資料先寫進 Kafka 再送下游:下游停機資料不掉;trace 跨過 Kafka 串起 producer 與 consumer(程式碼不改)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稽核事件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audit topic 一併進 Loki,在 Grafana 查「誰對什麼被拒」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高可用、取樣、脫敏、Loki 存取控制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Loki 本身沒有 RBAC;取樣與脫敏要在上線前決定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應用開發:可靠性要靠寫法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叢集再穩,應用寫法不對一樣會重複或掉資料;預設行為要先讓開發者看過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1" name="dcbceedb-9cde-4269-a376-860c25fdd23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冪等 producer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凍結造成逾時重送:關閉冪等會多寫重複(1500 → 1505),開啟為 0;預設就是開,不要手動關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手動提交 offset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處理後、提交前當機,重啟後同一批被再處理(at-least-once);消費端處理要能容許重複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rebalance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eager 收回全部分區、cooperative 只收回要換人的;長駐服務偏好 cooperative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靜態成員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滾動部署時動態成員每個實例都觸發 rebalance,靜態成員(group.instance.id)不會;代價是故障轉移要等 session timeout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交易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abort 的訊息仍在 log;消費端要設 read_committed,否則看得到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 consumer protocol、exactly-once 完整流程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KIP-848、consume-transform-produce、Streams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演進與資料契約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schema 怎麼改才不會讓另一端壞掉:把「約定」變成機器擋得住的規則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2" name="b4430f62-b42a-43f4-a1c5-3d0a6f8b9dd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實測結果與建議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相容性模式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BACKWARD 先升級 consumer、FORWARD 先升級 producer、FULL 不拘;選哪個取決於兩端誰先上線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TRANSITIVE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只比最新版會漏掉更早的版本;topic 會被重播就用 TRANSITIVE;檢查要對照全部版本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註冊前先檢查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用相容性檢查 API 放進 CI,不要等上線才被拒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兩道關卡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授權擋是 403、不相容擋是 409,兩道獨立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命名策略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RecordNameStrategy 讓 subject 脫離 topic,依 topic 前綴的授權就失效;選它是架構決定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資料契約規則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 條件規則在寫入端擋下壞資料;只在 client 端序列化器執行,不能取代 broker 端授權;正式授權範圍要向 Confluent 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測試環境已驗證(授權待確認)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Kafka Connect:授權、身分、壞資料與密碼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連接器長期在背景跑、手上常握著別的系統的帳密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3" name="e4da56b5-8d46-4145-9317-d4a0b9559cf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7959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誰能管連接器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走 HTTPS,認證用 AD 帳密,授權依群組與連接器名稱;無權限者列表為空、建立 403;命名規則是授權設計的一部分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連接器的身分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每個連接器用自己的 AD 服務帳號(最小權限),不共用 worker 的身分;worker 本身不給資料 topic 的讀取權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壞資料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預設遇到第一筆壞資料就停;errors.tolerance=all 加 DLQ 好壞分流並附錯誤標頭;DLQ 要有告警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連接器設定存在 Kafka 的 topic;直接寫密碼就是明文;改用 config provider 引用密碼檔(由 CyberArk 提供)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worker、source 連接器、密碼輪替生效方式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 worker 與檔案型連接器做過;其餘沒有做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七、待確認、限制與導入順序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4" name="02d16f91-a3f2-4e8b-8e20-79d52e39d3e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是否需要欄位級加密(CSFLE);取得加購授權的方式;地端 KMS 或 HSM 的型號與是否有 Java 驅動;重新認證間隔、連線上限與配額的政策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CSFLE 能否導入、金鑰放哪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5" name="c041aebf-240d-46ef-99d5-dec55fa476a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CyberArk:秘密管理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已用 CyberArk 的開源版 Conjur 實測「應用程式取密碼、輪替、OP menu 取帳密、設定檔密碼不落地」;商業版 CCP / Conjur 的 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CyberArk:PAM(PSM、CPM、PVWA)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無法在測試環境重現,整合方式為通用模式;需在客戶環境 PoC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已實測新舊並行流程(建新帳號、驗證、隔離、看 audit、才停用舊帳號,停用是覆寫成隨機密碼、不刪除);由 CPM 自訂平台或排程觸發同一支腳本,需在客戶環境確認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停用帳號對已連線的影響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實測:只停用 SCRAM 憑證擋不住已連著的連線,必須先解除角色;長連線的應用要能在失敗時重新取帳密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 可用性與根的秘密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取不到帳密應用與 broker 起不來,要規劃高可用與重試;機器 API key(secret zero)的保護與輪替未示範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資料保護、金鑰管理與參數值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6" name="d8308569-c0ff-469f-9ef7-63892f9df5f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欄位級加密(CSFLE)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需要企業版加 CSFLE 加購授權;測試環境的試用授權註冊加密規則會被拒(HTTP 402),所以加密、解密、金鑰輪替都未驗證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地端 KMS 與 HSM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內建只支援 AWS、Azure、GCP、HashiCorp Vault;HSM 需自訂 Java 驅動(官方有介面說明,未見 HSM 範例);廠商是否有現成驅動未確認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能否當 KMS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開源版 Conjur 是秘密管理,不是 KMS(它把秘密交出去,不代為加解密);PAM 等其他模組是否提供 KMS 式服務未確認,要問客戶的 CyberArk 窗口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已實測單台與兩台共用同一把金鑰的逐台重啟;更多台與 controller 的流程依官方文件與同樣原則,正式環境要在維護窗口內演練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刪除問題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Apache Kafka 回報與測試環境實測;升級到含修復的版本(4.5.0 以上)前維持「停用不刪除」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防線參數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 60 秒、連線上限 2、配額等是測試值;正式值要依客戶的應用特性與容量評估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40e4c1f-d125-4388-85ce-573c04fb69e4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9516502a-bfeb-4e74-ae0a-6c2910997573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482fd09b-a97a-4f98-a24c-83fa770b727f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4f797186-ecf6-4c2f-8798-f57e0402a00e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7b3afd4f-7b8b-42b8-b258-3f0f2d2fd1d4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3956b0da-0b6c-4c34-aba9-367059b95a28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b2130a3a-27f2-4e74-8f95-83273a20512e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d92f04b8-f822-49da-92d7-1025b66b065e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b8e7d28f-486c-4d01-a8a7-41f590025873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f6dbebf8-d49c-4b4b-8693-15bf7faf054a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2a3ea5ec-a862-4c54-91f9-a4bf7292b8c3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b1d5c5f7-43b1-4c31-8d3d-7923d163972d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22119fdb-b62a-403c-b167-f400a7c78d5d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ded78c9c-0fe4-407f-969e-6e578e2e7c78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1bd1b8eb-2912-4140-afec-76a654cca164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3fe39f48-c68f-428c-b678-f620506eb03d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6855813e-4c41-4082-b465-34e781d11ff2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effa30ef-514e-4f08-bf19-c65ab3792efc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c3cf2fcc-40a7-4059-96c0-b5c6bcfcda39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161867ee-e1a2-4b71-bf63-63faed0e6ce9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70a19d7b-877e-48df-add9-f96fdea121c1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246edfe3-9951-46ce-99f1-562b5f158244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358e6d96-ceab-476c-8413-ba40c7df7b64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66848c0b-db29-4f0d-bde2-2194032d4673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21ecf25b-830c-48a9-a75b-5917ab57396d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0ce65ffb-9306-4354-babe-51145a70662f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