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8-created" Type="http://schemas.openxmlformats.org/officeDocument/2006/relationships/image" Target="../media/media15.png"/><Relationship Id="rId9-created" Type="http://schemas.openxmlformats.org/officeDocument/2006/relationships/image" Target="../media/media16.png"/><Relationship Id="rId10-created" Type="http://schemas.openxmlformats.org/officeDocument/2006/relationships/image" Target="../media/media17.png"/><Relationship Id="rId11-created" Type="http://schemas.openxmlformats.org/officeDocument/2006/relationships/image" Target="../media/media18.png"/><Relationship Id="rId12-created" Type="http://schemas.openxmlformats.org/officeDocument/2006/relationships/image" Target="../media/media1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安全整合建議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依客戶前提的整體方案,與行內 CyberArk 的整合方式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客戶前提與本方案的對應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每一項前提都有一個明確的做法;細節在後面各章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556d792e-b047-40e4-b428-5f1875d8a7b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本方案的做法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只有 user 與 group;使用者名稱 =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帳號登入,授權綁在 AD 群組;服務與平台元件不佔用 AD 帳號;身分名稱以 AD 記錄為準(登入不分大小寫)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憑證要少:共用一張 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 server 憑證只做傳輸加密、不當身分;需要身分的元件各一張 client 憑證(C3、REST Proxy、初始化用的 bootstrap、經 REST Proxy 的應用系統)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RHEL 9 VM,手動安裝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 + systemd;維運選單(OP menu)放跳板機;不依賴自動化工具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有系統只能用 HTTP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Proxy;以 client 憑證為身分,REST Proxy 代為向 MDS 取 token,身分一路傳到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人只能唯讀,依 AD 群組分層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 個 AD 群組對應角色;需要變更時臨時加入群組、做完移出,Kafka 端零變更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負載平衡用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只放在 REST Proxy 前面,L4 透傳;REST Proxy 連 MDS 設多台即可,不需要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當「秘密管理層」:人的特權存取、主機帳號輪替、應用程式取密碼;不改變身分與授權設計(第五章)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一、整體架構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元件、連線與四條身分路徑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整體架構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正式環境的元件與主要連線;內部埠只開給 broker 與 controller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330cdc7-c8b3-4c7a-a65a-5afdaeb4c53c"/>
          <p:cNvSpPr/>
          <p:nvPr/>
        </p:nvSpPr>
        <p:spPr>
          <a:xfrm>
            <a:off x="548640" y="172747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9058a6c-9494-4c85-8deb-99a13b7d7bcf"/>
          <p:cNvSpPr/>
          <p:nvPr/>
        </p:nvSpPr>
        <p:spPr>
          <a:xfrm>
            <a:off x="12344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f71a0f11-18b2-4dfa-851d-1dd58460c43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355141" y="1966751"/>
            <a:ext cx="307238" cy="307238"/>
          </a:xfrm>
          <a:prstGeom prst="rect">
            <a:avLst/>
          </a:prstGeom>
        </p:spPr>
      </p:pic>
      <p:sp>
        <p:nvSpPr>
          <p:cNvPr id="5" name="332fe02f-1d22-47ff-9187-4bc841446995"/>
          <p:cNvSpPr/>
          <p:nvPr/>
        </p:nvSpPr>
        <p:spPr>
          <a:xfrm>
            <a:off x="621792" y="2448697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</a:t>
            </a:r>
            <a:endParaRPr lang="en-US" sz="1400" dirty="0"/>
          </a:p>
        </p:txBody>
      </p:sp>
      <p:sp>
        <p:nvSpPr>
          <p:cNvPr id="6" name="dcc8f6a9-d78e-4883-b39b-ec7b527b190e"/>
          <p:cNvSpPr/>
          <p:nvPr/>
        </p:nvSpPr>
        <p:spPr>
          <a:xfrm>
            <a:off x="640080" y="283052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帳號;瀏覽器、工具、腳本</a:t>
            </a:r>
            <a:endParaRPr lang="en-US" sz="1050" dirty="0"/>
          </a:p>
        </p:txBody>
      </p:sp>
      <p:sp>
        <p:nvSpPr>
          <p:cNvPr id="7" name="31769d93-92f4-453d-bdd4-95a13b605071"/>
          <p:cNvSpPr/>
          <p:nvPr/>
        </p:nvSpPr>
        <p:spPr>
          <a:xfrm>
            <a:off x="548640" y="321234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3eb6525f-78f6-401e-887e-114a732332d3"/>
          <p:cNvSpPr/>
          <p:nvPr/>
        </p:nvSpPr>
        <p:spPr>
          <a:xfrm>
            <a:off x="12344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f3949fa1-d996-460f-9dd6-849c2420bd4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1355141" y="3451621"/>
            <a:ext cx="307238" cy="307238"/>
          </a:xfrm>
          <a:prstGeom prst="rect">
            <a:avLst/>
          </a:prstGeom>
        </p:spPr>
      </p:pic>
      <p:sp>
        <p:nvSpPr>
          <p:cNvPr id="10" name="1e0f4048-e3b7-4698-94e7-6054bcef079f"/>
          <p:cNvSpPr/>
          <p:nvPr/>
        </p:nvSpPr>
        <p:spPr>
          <a:xfrm>
            <a:off x="621792" y="393356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應用系統</a:t>
            </a:r>
            <a:endParaRPr lang="en-US" sz="1400" dirty="0"/>
          </a:p>
        </p:txBody>
      </p:sp>
      <p:sp>
        <p:nvSpPr>
          <p:cNvPr id="11" name="21ada493-b65e-4ffd-9a81-c91c222bdee4"/>
          <p:cNvSpPr/>
          <p:nvPr/>
        </p:nvSpPr>
        <p:spPr>
          <a:xfrm>
            <a:off x="640080" y="431539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帳號或 client 憑證</a:t>
            </a:r>
            <a:endParaRPr lang="en-US" sz="1050" dirty="0"/>
          </a:p>
        </p:txBody>
      </p:sp>
      <p:sp>
        <p:nvSpPr>
          <p:cNvPr id="12" name="991158b6-f7d7-4893-abab-3b79265c57be"/>
          <p:cNvSpPr/>
          <p:nvPr/>
        </p:nvSpPr>
        <p:spPr>
          <a:xfrm>
            <a:off x="548640" y="469721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50f4d195-709b-43af-b456-d00e9b169727"/>
          <p:cNvSpPr/>
          <p:nvPr/>
        </p:nvSpPr>
        <p:spPr>
          <a:xfrm>
            <a:off x="12344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7f4cfd0e-53c4-452f-8fa5-6c6549959c1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355141" y="4936491"/>
            <a:ext cx="307238" cy="307238"/>
          </a:xfrm>
          <a:prstGeom prst="rect">
            <a:avLst/>
          </a:prstGeom>
        </p:spPr>
      </p:pic>
      <p:sp>
        <p:nvSpPr>
          <p:cNvPr id="15" name="105a1e06-1408-494e-a00c-43bee14805e7"/>
          <p:cNvSpPr/>
          <p:nvPr/>
        </p:nvSpPr>
        <p:spPr>
          <a:xfrm>
            <a:off x="621792" y="541843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跳板機 + OP menu</a:t>
            </a:r>
            <a:endParaRPr lang="en-US" sz="1300" dirty="0"/>
          </a:p>
        </p:txBody>
      </p:sp>
      <p:sp>
        <p:nvSpPr>
          <p:cNvPr id="16" name="4791607e-b778-45ea-b295-6cea2266289f"/>
          <p:cNvSpPr/>
          <p:nvPr/>
        </p:nvSpPr>
        <p:spPr>
          <a:xfrm>
            <a:off x="640080" y="5800262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本人 AD 身分</a:t>
            </a:r>
            <a:endParaRPr lang="en-US" sz="1050" dirty="0"/>
          </a:p>
        </p:txBody>
      </p:sp>
      <p:sp>
        <p:nvSpPr>
          <p:cNvPr id="17" name="4ecc4608-7c46-4a64-803b-7476470e48cb"/>
          <p:cNvSpPr/>
          <p:nvPr/>
        </p:nvSpPr>
        <p:spPr>
          <a:xfrm>
            <a:off x="3017520" y="172747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7f277c93-66e8-4180-b820-4541bc04cd6f"/>
          <p:cNvSpPr/>
          <p:nvPr/>
        </p:nvSpPr>
        <p:spPr>
          <a:xfrm>
            <a:off x="37490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8d82b1c5-b228-445a-ba0e-1ddefdd43cf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869741" y="1966751"/>
            <a:ext cx="307238" cy="307238"/>
          </a:xfrm>
          <a:prstGeom prst="rect">
            <a:avLst/>
          </a:prstGeom>
        </p:spPr>
      </p:pic>
      <p:sp>
        <p:nvSpPr>
          <p:cNvPr id="20" name="9746b80e-eb59-4074-a780-de80856302e1"/>
          <p:cNvSpPr/>
          <p:nvPr/>
        </p:nvSpPr>
        <p:spPr>
          <a:xfrm>
            <a:off x="3090672" y="2448697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82118581-6eb7-485b-b910-bc00ae99230b"/>
          <p:cNvSpPr/>
          <p:nvPr/>
        </p:nvSpPr>
        <p:spPr>
          <a:xfrm>
            <a:off x="3108960" y="283052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HTTPS;人用 AD,自身用憑證</a:t>
            </a:r>
            <a:endParaRPr lang="en-US" sz="1050" dirty="0"/>
          </a:p>
        </p:txBody>
      </p:sp>
      <p:sp>
        <p:nvSpPr>
          <p:cNvPr id="22" name="ff9856e4-2c38-4dc7-ad16-00120e9b6912"/>
          <p:cNvSpPr/>
          <p:nvPr/>
        </p:nvSpPr>
        <p:spPr>
          <a:xfrm>
            <a:off x="3017520" y="321234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3" name="a5062527-3310-4581-8fa0-68b22d6d5e45"/>
          <p:cNvSpPr/>
          <p:nvPr/>
        </p:nvSpPr>
        <p:spPr>
          <a:xfrm>
            <a:off x="37490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4" name="94ff55eb-12c8-4fa0-ba29-7e5fdab4a9a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69741" y="3451621"/>
            <a:ext cx="307238" cy="307238"/>
          </a:xfrm>
          <a:prstGeom prst="rect">
            <a:avLst/>
          </a:prstGeom>
        </p:spPr>
      </p:pic>
      <p:sp>
        <p:nvSpPr>
          <p:cNvPr id="25" name="fbbb5381-bc17-485e-a53d-2edff34fd626"/>
          <p:cNvSpPr/>
          <p:nvPr/>
        </p:nvSpPr>
        <p:spPr>
          <a:xfrm>
            <a:off x="3090672" y="393356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F5 → REST Proxy</a:t>
            </a:r>
            <a:endParaRPr lang="en-US" sz="1400" dirty="0"/>
          </a:p>
        </p:txBody>
      </p:sp>
      <p:sp>
        <p:nvSpPr>
          <p:cNvPr id="26" name="9f06dfba-585a-46e1-906e-cd61796a5dcd"/>
          <p:cNvSpPr/>
          <p:nvPr/>
        </p:nvSpPr>
        <p:spPr>
          <a:xfrm>
            <a:off x="3108960" y="431539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 透傳;帳密或 client 憑證</a:t>
            </a:r>
            <a:endParaRPr lang="en-US" sz="1050" dirty="0"/>
          </a:p>
        </p:txBody>
      </p:sp>
      <p:sp>
        <p:nvSpPr>
          <p:cNvPr id="27" name="c22ea7da-248b-4db9-bec2-8571ca677679"/>
          <p:cNvSpPr/>
          <p:nvPr/>
        </p:nvSpPr>
        <p:spPr>
          <a:xfrm>
            <a:off x="3017520" y="469721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cb6d9fe9-aefa-43c1-86d4-7c4016ca1346"/>
          <p:cNvSpPr/>
          <p:nvPr/>
        </p:nvSpPr>
        <p:spPr>
          <a:xfrm>
            <a:off x="37490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9" name="0f8a3857-f859-4179-8ccf-20651db2c5e5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3869741" y="4936491"/>
            <a:ext cx="307238" cy="307238"/>
          </a:xfrm>
          <a:prstGeom prst="rect">
            <a:avLst/>
          </a:prstGeom>
        </p:spPr>
      </p:pic>
      <p:sp>
        <p:nvSpPr>
          <p:cNvPr id="30" name="e6e33016-06e2-49cc-8e4e-00645072e26f"/>
          <p:cNvSpPr/>
          <p:nvPr/>
        </p:nvSpPr>
        <p:spPr>
          <a:xfrm>
            <a:off x="3090672" y="541843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</a:t>
            </a:r>
            <a:endParaRPr lang="en-US" sz="1400" dirty="0"/>
          </a:p>
        </p:txBody>
      </p:sp>
      <p:sp>
        <p:nvSpPr>
          <p:cNvPr id="31" name="36d3eec6-8d07-4deb-a936-e97dc14bc5e0"/>
          <p:cNvSpPr/>
          <p:nvPr/>
        </p:nvSpPr>
        <p:spPr>
          <a:xfrm>
            <a:off x="3108960" y="5800262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+ 帳密</a:t>
            </a:r>
            <a:endParaRPr lang="en-US" sz="1050" dirty="0"/>
          </a:p>
        </p:txBody>
      </p:sp>
      <p:sp>
        <p:nvSpPr>
          <p:cNvPr id="32" name="106ad0e3-fbce-446f-9371-93bb569b6f85"/>
          <p:cNvSpPr/>
          <p:nvPr/>
        </p:nvSpPr>
        <p:spPr>
          <a:xfrm>
            <a:off x="5669280" y="1727475"/>
            <a:ext cx="3657600" cy="441218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98ecad4d-3b8c-48ae-8115-c744b239c78b"/>
          <p:cNvSpPr/>
          <p:nvPr/>
        </p:nvSpPr>
        <p:spPr>
          <a:xfrm>
            <a:off x="5760720" y="1769899"/>
            <a:ext cx="3474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34" name="448c5fc3-093b-4f09-a79e-2b3c452f8ca3"/>
          <p:cNvSpPr/>
          <p:nvPr/>
        </p:nvSpPr>
        <p:spPr>
          <a:xfrm>
            <a:off x="5852160" y="2151723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5" name="32e1dd2b-a347-405f-84cd-b099413d402a"/>
          <p:cNvSpPr/>
          <p:nvPr/>
        </p:nvSpPr>
        <p:spPr>
          <a:xfrm>
            <a:off x="7223760" y="227899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6" name="9a2e4b51-c797-4a6e-b40a-953a94a9db8c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7344461" y="2390999"/>
            <a:ext cx="307238" cy="307238"/>
          </a:xfrm>
          <a:prstGeom prst="rect">
            <a:avLst/>
          </a:prstGeom>
        </p:spPr>
      </p:pic>
      <p:sp>
        <p:nvSpPr>
          <p:cNvPr id="37" name="4e47904d-07b8-4374-9077-88b044a47b41"/>
          <p:cNvSpPr/>
          <p:nvPr/>
        </p:nvSpPr>
        <p:spPr>
          <a:xfrm>
            <a:off x="5925312" y="287294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×N(內建 MDS)</a:t>
            </a:r>
            <a:endParaRPr lang="en-US" sz="1300" dirty="0"/>
          </a:p>
        </p:txBody>
      </p:sp>
      <p:sp>
        <p:nvSpPr>
          <p:cNvPr id="38" name="eb2d5fc3-20bf-4990-8ea4-d5fd5bfe6e19"/>
          <p:cNvSpPr/>
          <p:nvPr/>
        </p:nvSpPr>
        <p:spPr>
          <a:xfrm>
            <a:off x="5943600" y="325477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對外埠:AD 帳密、SCRAM、token</a:t>
            </a:r>
            <a:endParaRPr lang="en-US" sz="1050" dirty="0"/>
          </a:p>
        </p:txBody>
      </p:sp>
      <p:sp>
        <p:nvSpPr>
          <p:cNvPr id="39" name="68aa9b47-33ec-433e-903b-bde95925ce98"/>
          <p:cNvSpPr/>
          <p:nvPr/>
        </p:nvSpPr>
        <p:spPr>
          <a:xfrm>
            <a:off x="5852160" y="3636594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0" name="fcc05051-291b-43ff-b05e-a8eb2efa4b43"/>
          <p:cNvSpPr/>
          <p:nvPr/>
        </p:nvSpPr>
        <p:spPr>
          <a:xfrm>
            <a:off x="7223760" y="37638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1" name="d2c1c19f-e77b-418c-9168-d22e133a97aa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344461" y="3875870"/>
            <a:ext cx="307238" cy="307238"/>
          </a:xfrm>
          <a:prstGeom prst="rect">
            <a:avLst/>
          </a:prstGeom>
        </p:spPr>
      </p:pic>
      <p:sp>
        <p:nvSpPr>
          <p:cNvPr id="42" name="3c590a37-a1be-427b-a276-7f025dc4769a"/>
          <p:cNvSpPr/>
          <p:nvPr/>
        </p:nvSpPr>
        <p:spPr>
          <a:xfrm>
            <a:off x="5925312" y="435781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×3</a:t>
            </a:r>
            <a:endParaRPr lang="en-US" sz="1300" dirty="0"/>
          </a:p>
        </p:txBody>
      </p:sp>
      <p:sp>
        <p:nvSpPr>
          <p:cNvPr id="43" name="4a20d052-681a-4f0d-a36a-9451f6403168"/>
          <p:cNvSpPr/>
          <p:nvPr/>
        </p:nvSpPr>
        <p:spPr>
          <a:xfrm>
            <a:off x="5943600" y="473964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內部帳號;只接 broker</a:t>
            </a:r>
            <a:endParaRPr lang="en-US" sz="1050" dirty="0"/>
          </a:p>
        </p:txBody>
      </p:sp>
      <p:sp>
        <p:nvSpPr>
          <p:cNvPr id="44" name="963ba4a9-6b92-4b00-aaff-564e07d3c448"/>
          <p:cNvSpPr/>
          <p:nvPr/>
        </p:nvSpPr>
        <p:spPr>
          <a:xfrm>
            <a:off x="5852160" y="5079039"/>
            <a:ext cx="3291840" cy="97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內部連線:內部帳號(super user);全部 TLS,共用 server 憑證;MDS 負責驗證、授權、簽 token</a:t>
            </a:r>
            <a:endParaRPr lang="en-US" sz="1050" dirty="0"/>
          </a:p>
        </p:txBody>
      </p:sp>
      <p:sp>
        <p:nvSpPr>
          <p:cNvPr id="45" name="93cc2311-33dc-4e52-bf9e-9b9c82ec617a"/>
          <p:cNvSpPr/>
          <p:nvPr/>
        </p:nvSpPr>
        <p:spPr>
          <a:xfrm>
            <a:off x="9692640" y="172747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6" name="65f7a287-01ce-4011-9d2e-037f8c198a79"/>
          <p:cNvSpPr/>
          <p:nvPr/>
        </p:nvSpPr>
        <p:spPr>
          <a:xfrm>
            <a:off x="10392156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7" name="4b451439-4f08-4a8a-b9f1-64ab940f4632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10512857" y="1966751"/>
            <a:ext cx="307238" cy="307238"/>
          </a:xfrm>
          <a:prstGeom prst="rect">
            <a:avLst/>
          </a:prstGeom>
        </p:spPr>
      </p:pic>
      <p:sp>
        <p:nvSpPr>
          <p:cNvPr id="48" name="15d47f23-2782-4818-978a-732d5349d6dd"/>
          <p:cNvSpPr/>
          <p:nvPr/>
        </p:nvSpPr>
        <p:spPr>
          <a:xfrm>
            <a:off x="9765792" y="2448697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</p:txBody>
      </p:sp>
      <p:sp>
        <p:nvSpPr>
          <p:cNvPr id="49" name="3e1467bd-2293-4683-8e83-fc8847979393"/>
          <p:cNvSpPr/>
          <p:nvPr/>
        </p:nvSpPr>
        <p:spPr>
          <a:xfrm>
            <a:off x="9784080" y="283052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使用者與群組;加密連線</a:t>
            </a:r>
            <a:endParaRPr lang="en-US" sz="1050" dirty="0"/>
          </a:p>
        </p:txBody>
      </p:sp>
      <p:sp>
        <p:nvSpPr>
          <p:cNvPr id="50" name="173f4df3-61d4-472c-af1f-c4c3d96d1234"/>
          <p:cNvSpPr/>
          <p:nvPr/>
        </p:nvSpPr>
        <p:spPr>
          <a:xfrm>
            <a:off x="9692640" y="321234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1" name="48666c5e-6fd7-4b1e-b5a1-029dd69086ef"/>
          <p:cNvSpPr/>
          <p:nvPr/>
        </p:nvSpPr>
        <p:spPr>
          <a:xfrm>
            <a:off x="10392156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52" name="9cac6aa2-c732-4996-a4db-a9b8514b5031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10512857" y="3451621"/>
            <a:ext cx="307238" cy="307238"/>
          </a:xfrm>
          <a:prstGeom prst="rect">
            <a:avLst/>
          </a:prstGeom>
        </p:spPr>
      </p:pic>
      <p:sp>
        <p:nvSpPr>
          <p:cNvPr id="53" name="4af1011d-5ef3-4d7c-b6a2-16b439fa550f"/>
          <p:cNvSpPr/>
          <p:nvPr/>
        </p:nvSpPr>
        <p:spPr>
          <a:xfrm>
            <a:off x="9765792" y="393356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</a:t>
            </a:r>
            <a:endParaRPr lang="en-US" sz="1400" dirty="0"/>
          </a:p>
        </p:txBody>
      </p:sp>
      <p:sp>
        <p:nvSpPr>
          <p:cNvPr id="54" name="74a867e8-1a0d-4665-ba91-318c8f9505fe"/>
          <p:cNvSpPr/>
          <p:nvPr/>
        </p:nvSpPr>
        <p:spPr>
          <a:xfrm>
            <a:off x="9784080" y="431539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PSM、CPM、CCP</a:t>
            </a:r>
            <a:endParaRPr lang="en-US" sz="1050" dirty="0"/>
          </a:p>
        </p:txBody>
      </p:sp>
      <p:sp>
        <p:nvSpPr>
          <p:cNvPr id="55" name="6f9eef9c-87cb-4a76-887b-bdf2c78e95dc"/>
          <p:cNvSpPr/>
          <p:nvPr/>
        </p:nvSpPr>
        <p:spPr>
          <a:xfrm>
            <a:off x="9692640" y="469721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56" name="dbd1c309-489c-47ab-9ef5-e03ffeb6c173"/>
          <p:cNvSpPr/>
          <p:nvPr/>
        </p:nvSpPr>
        <p:spPr>
          <a:xfrm>
            <a:off x="10392156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57" name="d72cd9c2-9010-417a-9812-f5bc109fc970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10512857" y="4936491"/>
            <a:ext cx="307238" cy="307238"/>
          </a:xfrm>
          <a:prstGeom prst="rect">
            <a:avLst/>
          </a:prstGeom>
        </p:spPr>
      </p:pic>
      <p:sp>
        <p:nvSpPr>
          <p:cNvPr id="58" name="42826eeb-4042-4dea-8e7e-0468bf4e1ef0"/>
          <p:cNvSpPr/>
          <p:nvPr/>
        </p:nvSpPr>
        <p:spPr>
          <a:xfrm>
            <a:off x="9765792" y="541843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</a:t>
            </a:r>
            <a:endParaRPr lang="en-US" sz="1400" dirty="0"/>
          </a:p>
        </p:txBody>
      </p:sp>
      <p:sp>
        <p:nvSpPr>
          <p:cNvPr id="59" name="42c66a0a-ccf5-4b44-b2a8-f8dc9a979ec4"/>
          <p:cNvSpPr/>
          <p:nvPr/>
        </p:nvSpPr>
        <p:spPr>
          <a:xfrm>
            <a:off x="9784080" y="5800262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內部埠只開給叢集</a:t>
            </a:r>
            <a:endParaRPr lang="en-US" sz="1050" dirty="0"/>
          </a:p>
        </p:txBody>
      </p:sp>
      <p:sp>
        <p:nvSpPr>
          <p:cNvPr id="60" name="2c4abd8e-3944-4e30-8127-a7d83292b4b2"/>
          <p:cNvSpPr/>
          <p:nvPr/>
        </p:nvSpPr>
        <p:spPr>
          <a:xfrm>
            <a:off x="2468880" y="2406272"/>
            <a:ext cx="5486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1" name="82d3c80d-df2b-4921-be78-e11824afa633"/>
          <p:cNvSpPr/>
          <p:nvPr/>
        </p:nvSpPr>
        <p:spPr>
          <a:xfrm>
            <a:off x="2468880" y="3891143"/>
            <a:ext cx="54864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62" name="5e1e2da2-0eed-4d91-9912-a5d207096d79"/>
          <p:cNvSpPr/>
          <p:nvPr/>
        </p:nvSpPr>
        <p:spPr>
          <a:xfrm>
            <a:off x="5029200" y="2406272"/>
            <a:ext cx="640080" cy="212124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3" name="0b08e5f1-7e6b-4aa9-bc7b-d7d677f31b93"/>
          <p:cNvSpPr/>
          <p:nvPr/>
        </p:nvSpPr>
        <p:spPr>
          <a:xfrm flipV="1">
            <a:off x="5029200" y="3212345"/>
            <a:ext cx="640080" cy="678798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4" name="8e32f256-a7f3-4869-a8e0-600260f11aac"/>
          <p:cNvSpPr/>
          <p:nvPr/>
        </p:nvSpPr>
        <p:spPr>
          <a:xfrm flipV="1">
            <a:off x="9235440" y="2406272"/>
            <a:ext cx="457200" cy="296974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5" name="e2954086-b1a2-4466-9a64-1f4f2681c35c"/>
          <p:cNvSpPr/>
          <p:nvPr/>
        </p:nvSpPr>
        <p:spPr>
          <a:xfrm flipH="1">
            <a:off x="9235440" y="3891143"/>
            <a:ext cx="457200" cy="0"/>
          </a:xfrm>
          <a:prstGeom prst="line">
            <a:avLst/>
          </a:prstGeom>
          <a:noFill/>
          <a:ln w="28575">
            <a:solidFill>
              <a:srgbClr val="B3261E"/>
            </a:solidFill>
            <a:prstDash val="dash"/>
            <a:tailEnd type="triangle"/>
          </a:ln>
        </p:spPr>
      </p:sp>
      <p:sp>
        <p:nvSpPr>
          <p:cNvPr id="66" name="d592a9df-4123-46ba-b1ce-97ac788b32f0"/>
          <p:cNvSpPr/>
          <p:nvPr/>
        </p:nvSpPr>
        <p:spPr>
          <a:xfrm>
            <a:off x="2468880" y="5376013"/>
            <a:ext cx="3200400" cy="42425"/>
          </a:xfrm>
          <a:prstGeom prst="line">
            <a:avLst/>
          </a:prstGeom>
          <a:noFill/>
          <a:ln w="28575">
            <a:solidFill>
              <a:srgbClr val="156082"/>
            </a:solidFill>
            <a:prstDash val="dash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四條身分路徑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誰用什麼身分進來;最後都由 broker 的 RBAC 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fe3db94d-0ac0-49d7-8ff0-d39d78046be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200400"/>
                <a:gridCol w="31363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密碼或憑證放哪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 → MDS 向 AD 驗證 → 簽發 1 小時 token;C3 與 REST Proxy 以本人身分連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群組;依「現在」的群組判斷,異動立即生效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AD;不經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服務(直連)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內建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角色綁在帳號上;只開放自己的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 + 應用端;密碼由 CyberArk 保管與取用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憑證(C3、REST Proxy、bootstrap)向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必須是 SystemAdmin(官方要求);REST Proxy 可代為申請,受保護清單擋特權身分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各主機 0600;私鑰可由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憑證經 REST Proxy,代為向 MDS 取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看到的是該系統,不是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應用端;私鑰可由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c8ce21f7-de3e-4819-94d9-d1ca204315f2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憑證只做傳輸加密;把它當身分會讓所有持有者變成同一個人(實測),所以不綁任何角色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二、人與授權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AD 帳號、7 個群組、唯讀與臨時提權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人:AD 帳號登入,授權跟著群組走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帳號與群組都在 AD;人員異動只改 AD,Kafka 端不用改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9dfd8a0d-fb5c-48cf-aa9a-271d11596a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Proxy、工具、OP menu 都用 AD 帳密;登入大小寫不分,系統內的身分名稱以 AD 記錄的 CN 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群組;加入群組約數秒生效(MDS 定期重讀群組);移出群組後已發出的 token 立刻失去權限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離職與調動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只改 AD;帳號停用前,已發出的 token 在到期前仍能通過認證但沒有任何權限,所以離職要同時停用 AD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角色綁定的主體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群組用 Group:名稱;個人與憑證用 User:名稱,區分大小寫,要寫 AD 記錄的寫法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唯讀原則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正式環境人只有讀取權;建 topic、改授權、看叢集狀態分給三個維運群組,臨時加入、做完移出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9d7a6221-8f26-4888-9f71-a29be2c59054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 AD 密碼不經 CyberArk;CyberArk 管的是「主機登入」與「機器密碼」(第五章)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群組與角色(7 組)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高權限群組平常是空的;每個群組指定負責人,定期覆核成員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6ed03e3f-7da2-4e34-be68-6508f58fd2b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908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實際能做什麼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DeveloperRead(該系統的 topic)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topic、讀資料;正式環境人的日常權限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看叢集狀態;建不了 topic、讀不到資料、改不了授權,連 topic 細節也看不到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ResourceOwner(Topic、Group)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 與 consumer group,讀得到資料,並能在自己範圍內改授權 → 強角色,只臨時加入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叢集設定、建立應用系統的 SCRAM 帳號;不能讀寫資料、不能改授權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只管授權(指派、移除角色),不能建 topic、不能讀資料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SecurityAdmin、AuditAdmin、audit 紀錄的讀取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檢視授權設定、audit 設定與紀錄;不能改授權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全部權限;平常沒有人,緊急時經核准臨時加入,事後移出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565d88d1-fc45-47aa-aba2-b8253b993063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「能做什麼」是實測結果,不是推論;topic-admin 比直覺強,所以列為臨時角色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人只能唯讀:臨時提權與收回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需要變更時的流程;全程只動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47cd972-de9b-47c1-9aea-f7bc0d337e7c"/>
          <p:cNvSpPr/>
          <p:nvPr/>
        </p:nvSpPr>
        <p:spPr>
          <a:xfrm>
            <a:off x="548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768fe2e6-a579-4ca5-8960-613058ba2a10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fd069aee-5ce9-4c3a-be08-6e5d82317940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</a:t>
            </a:r>
            <a:endParaRPr lang="en-US" sz="1400" dirty="0"/>
          </a:p>
        </p:txBody>
      </p:sp>
      <p:sp>
        <p:nvSpPr>
          <p:cNvPr id="5" name="ac2dfe3a-296d-493b-9eed-b4034a290863"/>
          <p:cNvSpPr/>
          <p:nvPr/>
        </p:nvSpPr>
        <p:spPr>
          <a:xfrm>
            <a:off x="640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依現行核准方式提出;指定群組與時限</a:t>
            </a:r>
            <a:endParaRPr lang="en-US" sz="1100" dirty="0"/>
          </a:p>
        </p:txBody>
      </p:sp>
      <p:sp>
        <p:nvSpPr>
          <p:cNvPr id="6" name="e511ea87-f4e9-49b3-a1b9-68c55fbde0f2"/>
          <p:cNvSpPr/>
          <p:nvPr/>
        </p:nvSpPr>
        <p:spPr>
          <a:xfrm>
            <a:off x="2834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0416082d-09c5-4eb8-84e8-da37cfc1cbff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8d3bf5a5-e4ee-41a1-9b34-6f6d52d86844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</a:t>
            </a:r>
            <a:endParaRPr lang="en-US" sz="1400" dirty="0"/>
          </a:p>
        </p:txBody>
      </p:sp>
      <p:sp>
        <p:nvSpPr>
          <p:cNvPr id="9" name="ee84f31c-017d-4836-b46b-2da56c1dfac8"/>
          <p:cNvSpPr/>
          <p:nvPr/>
        </p:nvSpPr>
        <p:spPr>
          <a:xfrm>
            <a:off x="2926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管理員把人加進 kafka-topic-admin 等群組</a:t>
            </a:r>
            <a:endParaRPr lang="en-US" sz="1100" dirty="0"/>
          </a:p>
        </p:txBody>
      </p:sp>
      <p:sp>
        <p:nvSpPr>
          <p:cNvPr id="10" name="048dea2c-9436-4dec-8c17-b43e895360c4"/>
          <p:cNvSpPr/>
          <p:nvPr/>
        </p:nvSpPr>
        <p:spPr>
          <a:xfrm>
            <a:off x="5120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b037dd20-37c2-4fdb-bf95-9aadb1d4bf9e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2df63d84-082c-4338-b906-ac5eeefc742a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數秒內生效</a:t>
            </a:r>
            <a:endParaRPr lang="en-US" sz="1400" dirty="0"/>
          </a:p>
        </p:txBody>
      </p:sp>
      <p:sp>
        <p:nvSpPr>
          <p:cNvPr id="13" name="565a494e-46aa-4866-b8e0-3ca2d77076db"/>
          <p:cNvSpPr/>
          <p:nvPr/>
        </p:nvSpPr>
        <p:spPr>
          <a:xfrm>
            <a:off x="5212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定期重讀群組;本人用同一個帳號操作</a:t>
            </a:r>
            <a:endParaRPr lang="en-US" sz="1100" dirty="0"/>
          </a:p>
        </p:txBody>
      </p:sp>
      <p:sp>
        <p:nvSpPr>
          <p:cNvPr id="14" name="73812594-f865-4d76-9d83-7934187dc0bb"/>
          <p:cNvSpPr/>
          <p:nvPr/>
        </p:nvSpPr>
        <p:spPr>
          <a:xfrm>
            <a:off x="7406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e67380e1-965f-4de1-a268-604b5e69b026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fb1cb913-8620-4577-b001-fe377fbc284a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做完移出</a:t>
            </a:r>
            <a:endParaRPr lang="en-US" sz="1400" dirty="0"/>
          </a:p>
        </p:txBody>
      </p:sp>
      <p:sp>
        <p:nvSpPr>
          <p:cNvPr id="17" name="a5f72e0c-9cad-4e27-a66c-39e7c29df57c"/>
          <p:cNvSpPr/>
          <p:nvPr/>
        </p:nvSpPr>
        <p:spPr>
          <a:xfrm>
            <a:off x="7498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時限到或工作完成即移出;已發出的 token 立刻失去權限</a:t>
            </a:r>
            <a:endParaRPr lang="en-US" sz="1100" dirty="0"/>
          </a:p>
        </p:txBody>
      </p:sp>
      <p:sp>
        <p:nvSpPr>
          <p:cNvPr id="18" name="f5b3c07e-c332-42e6-85b4-6669761ce9e6"/>
          <p:cNvSpPr/>
          <p:nvPr/>
        </p:nvSpPr>
        <p:spPr>
          <a:xfrm>
            <a:off x="9692640" y="1769899"/>
            <a:ext cx="1947672" cy="19515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9" name="23de8097-6375-4b51-bfc0-dbc84bf47b45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8f0c7ec0-6f74-49b1-9983-0eb10467daa1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事後可查</a:t>
            </a:r>
            <a:endParaRPr lang="en-US" sz="1400" dirty="0"/>
          </a:p>
        </p:txBody>
      </p:sp>
      <p:sp>
        <p:nvSpPr>
          <p:cNvPr id="21" name="ed670e4e-d003-4552-82a4-2ffab3dee847"/>
          <p:cNvSpPr/>
          <p:nvPr/>
        </p:nvSpPr>
        <p:spPr>
          <a:xfrm>
            <a:off x="9784080" y="2745671"/>
            <a:ext cx="1764792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紀錄:誰、什麼時候、對什麼做了什麼、結果</a:t>
            </a:r>
            <a:endParaRPr lang="en-US" sz="1100" dirty="0"/>
          </a:p>
        </p:txBody>
      </p:sp>
      <p:sp>
        <p:nvSpPr>
          <p:cNvPr id="22" name="8a3e35e2-8eee-4554-9728-31ec2e24c599"/>
          <p:cNvSpPr/>
          <p:nvPr/>
        </p:nvSpPr>
        <p:spPr>
          <a:xfrm>
            <a:off x="2651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79d4986a-87c9-43ca-a573-40ab03015042"/>
          <p:cNvSpPr/>
          <p:nvPr/>
        </p:nvSpPr>
        <p:spPr>
          <a:xfrm>
            <a:off x="4937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c0b3854a-e4c5-4136-8048-117b3a977331"/>
          <p:cNvSpPr/>
          <p:nvPr/>
        </p:nvSpPr>
        <p:spPr>
          <a:xfrm>
            <a:off x="7223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561e2f7e-5a0e-4167-a44c-81f6b757362d"/>
          <p:cNvSpPr/>
          <p:nvPr/>
        </p:nvSpPr>
        <p:spPr>
          <a:xfrm>
            <a:off x="9509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7" name="fd2c5e6e-62bc-4e77-b599-fee3412db4c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加入哪個群組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看叢集健康、分割區狀態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kafka-ops(看得到、改不了)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topic、重設 consumer 讀取位置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kafka-topic-admin(強角色,做完立刻移出)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新系統上線要授權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kafka-rbac-admin(只管授權)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建立應用系統帳號、叢集設定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三、應用系統、平台元件與線路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SCRAM、client 憑證、F5、傳輸加密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應用系統:兩種連線方式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能用 Kafka 用戶端的直連;只能 HTTP 的經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aade4683-c487-4c64-b30b-8790afe1dc3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帳號(Kafka 內建,不佔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憑證;REST Proxy 以自己的憑證向 MDS 代為申請該系統的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與 audit 看到的是該系統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最小權限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只開放自己的 topic 與 consumer group;碰別的 topic 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上線流程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建帳號 → 綁角色 → 密碼交付(建議經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簽憑證 → 綁角色 → 私鑰交付(建議經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密碼或憑證更換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新帳號並行 → 應用切換 → 停舊,不中斷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憑證到期前換發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必要的保護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密碼不落地:啟動時從 CyberArk 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受保護清單:管理員與平台身分不可被代為申請;清單區分大小寫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bee16551-f2c9-4b18-8068-2b53da2d81a9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的憑證可以代任何不在受保護清單的身分,所以清單要列入所有特權身分,寫法要與 AD 記錄一致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平台元件與憑證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憑證總數:一張共用 server 憑證 + 各元件一張 client 憑證 + 經 REST Proxy 的系統各一張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f06197d9-2fe3-4df9-8711-294c36525f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要注意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憑證(1 張)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所有元件的 TLS 加密;名稱要涵蓋所有主機與 F5 的名稱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只做加密、不當身分、不綁任何角色;不要收斂憑證用途(C3 內部會出示它)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自身向 MDS 認證;該身分必須是 SystemAdmin(官方要求)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拿到私鑰等於管理員:檔案權限、不入版本庫、列入受保護清單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代應用系統向 MDS 申請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同上;受保護清單擋特權身分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初始化第一批授權;平常不用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封存,建議由 CyberArk 保管、依單借出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的系統各一張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該系統的身分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隨系統數增加;命名規範先定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a300f73c-7f8b-49ce-983b-94e561f1f320"/>
          <p:cNvSpPr/>
          <p:nvPr/>
        </p:nvSpPr>
        <p:spPr>
          <a:xfrm>
            <a:off x="548640" y="5460863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可用行內既有的 AD CS;若 CyberArk 含 Certificate Manager 也可由它簽發與續期(選配)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負載平衡(F5)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只放在 REST Proxy 前面;其他連線不需要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7174f817-de19-442f-887c-dba2af3590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做法與依據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 → F5 → REST Proxy ×N;broker、MDS、C3 不經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L4(TCP)透傳。F5 不終止 TLS:終止會讓 REST Proxy 看不到 client 憑證,憑證身分全部失效(實測 401)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危險設定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 終止 TLS 再用固定憑證連後端:所有呼叫者(含沒憑證的)都變成同一個身分(實測)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名稱要含 F5 的虛擬伺服器名稱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consumer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consumer 實例綁在某一台,需要 sticky(同一來源固定到同一台);producer 不需要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設定多台 MDS 位址即可自動切換(實測:停一台仍全部成功,首次切換約 8 秒),不需要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要確認的 F5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虛擬伺服器類型、後端 TLS session 復用、persistence、idle timeout、SNAT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傳輸加密與入口保護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每一條線都加密;每一個入口都要認證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1de0cf44-3ba4-4166-9c52-0076edf2ea3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935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線路或入口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→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加密連線(636 埠),信任行內 CA;只有連 AD 的 broker 需要信任庫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憑證若有中繼 CA,信任庫要放進中繼 CA(實測)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 →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 HTTPS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使用者端要信任行內 CA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Prometheus、Alertmanager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+ 帳密;C3 與 broker 推送指標都帶帳密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沒有細部授權:帳密依用途分開;日誌會印出帳密標頭,要保護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內建 Admin REST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依官方設定安全擴充:匿名擋下、依使用者角色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未設定時完全沒有認證;與 MDS 共用埠,不能靠防火牆擋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內部埠(broker 互連、controller)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防火牆只開給叢集節點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應用與工具 →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TLS;人用 AD 帳密、服務用 SCRAM、元件用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同一個對外埠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監控、告警與稽核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看得到、告得了、查得到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2" name="ab1a1d24-af50-448a-af1a-a1a08db57b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監控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搭配 Prometheus;指標由 broker 推送;維護前用 OP menu 對該節點靜音告警,做完即結束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告警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Alertmanager 路由;靜音與告警變更要有人看(有帳密就能靜音,所以帳密分開)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稽核(audit)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寫入 audit 事件:誰、什麼時候、對什麼、允許或拒絕;授權變更(含非管理員的嘗試)都有紀錄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定期覆核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匯出權限清單(角色、主體、資源範圍)供覆核;SystemAdmin 保持最少人數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紀錄保護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每個動作留紀錄並集中到 syslog;C3、Prometheus 日誌含帳密標頭,權限要收緊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四、日常維運與緊急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OP menu、跳板機與主機、初始化與緊急模式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OP menu:分層與真正的門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操作員只從選單執行審核過的作業;選單不判斷權限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d0f6cf6e-a5f3-4fd7-9399-6392651982f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4480560"/>
                <a:gridCol w="24963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真正的門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健康檢查(含身分鏈)、topic 狀態、consumer 落後量、磁碟、憑證到期日、leader 分布、生效設定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RBAC:唯讀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broker、滾動重啟、維護模式、查看服務日誌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 sudo 規則;一次一台,每台等叢集恢復才換下一台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kafka-topic-admin;kafka-cluster-admin + 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topic、應用系統帳號上線與下架、更換密碼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RBAC;執行前顯示影響並要求確認;可限制時段、同一時間只允許一人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kafka-rbac-admin、kafka-security;緊急模式依 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指派權限、匯出與查詢 audit、匯出權限清單、緊急模式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RBAC;緊急模式經 sudo 切換專用帳號,逐條記錄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b247d4a5-0d0a-4a08-8d49-e080d9f5a5c1"/>
          <p:cNvSpPr/>
          <p:nvPr/>
        </p:nvSpPr>
        <p:spPr>
          <a:xfrm>
            <a:off x="548640" y="5418438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的動作由 RBAC 依本人 AD 帳號判斷;主機的動作由 sudo 規則判斷;每次執行留紀錄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跳板機與主機:兩種情況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不影響 Kafka 本身(broker 查 AD 不需要主機加入網域);只影響人怎麼登入主機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4" name="ee60cebb-f9ae-4a26-b476-eb4636ff06f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622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主機沒有加入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帳號;OP menu 直接取登入者,不再問帳密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本機帳號(或經 CyberArk PSM 代登入);OP menu 自己問 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直接引用 AD 群組;人員異動只改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維護本機帳號與群組,或把 PSM 當門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操作員用本人身分 ssh;主機日誌直接看得到是誰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用自動化帳號 ssh(key 由 CyberArk 保管與輪替、執行時取);「是誰」靠 OP menu 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份量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root 與 breakglass、PSM 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加上日常 ssh 身分也靠它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較簡單、稽核直接;若客戶可做,建議這條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可行;多一個自動化帳號要管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d266c43b-0c03-4915-a2b7-0d538345c182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 兩種情況都支援,只差一個設定;待客戶回答:主機與跳板機是否加入 AD、人連主機是否一律經 PSM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初始化與緊急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bootstrap 只用於初始化;緊急時用自己的身分加 breakglass 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257d511-ab99-4493-8002-a70a74b03575"/>
          <p:cNvSpPr/>
          <p:nvPr/>
        </p:nvSpPr>
        <p:spPr>
          <a:xfrm>
            <a:off x="54864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367b1add-2405-4a3f-94fa-6565fd7760a0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fa76a12c-ab0e-4434-8024-d936b21359dc"/>
          <p:cNvSpPr/>
          <p:nvPr/>
        </p:nvSpPr>
        <p:spPr>
          <a:xfrm>
            <a:off x="64008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初始化</a:t>
            </a:r>
            <a:endParaRPr lang="en-US" sz="1400" dirty="0"/>
          </a:p>
        </p:txBody>
      </p:sp>
      <p:sp>
        <p:nvSpPr>
          <p:cNvPr id="5" name="c9aff696-bc00-426b-a183-bfe80da26a7a"/>
          <p:cNvSpPr/>
          <p:nvPr/>
        </p:nvSpPr>
        <p:spPr>
          <a:xfrm>
            <a:off x="64008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bootstrap 憑證建立第一批授權:C3、REST Proxy、7 個群組</a:t>
            </a:r>
            <a:endParaRPr lang="en-US" sz="1100" dirty="0"/>
          </a:p>
        </p:txBody>
      </p:sp>
      <p:sp>
        <p:nvSpPr>
          <p:cNvPr id="6" name="43131943-933a-4780-ae57-bd89a2fce5bb"/>
          <p:cNvSpPr/>
          <p:nvPr/>
        </p:nvSpPr>
        <p:spPr>
          <a:xfrm>
            <a:off x="338328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760a89be-9406-4126-9f2d-a30faea20a7e"/>
          <p:cNvSpPr/>
          <p:nvPr/>
        </p:nvSpPr>
        <p:spPr>
          <a:xfrm>
            <a:off x="349300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5602e3fd-ba6a-4d28-87ed-1fff2b4f92d4"/>
          <p:cNvSpPr/>
          <p:nvPr/>
        </p:nvSpPr>
        <p:spPr>
          <a:xfrm>
            <a:off x="347472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驗收</a:t>
            </a:r>
            <a:endParaRPr lang="en-US" sz="1400" dirty="0"/>
          </a:p>
        </p:txBody>
      </p:sp>
      <p:sp>
        <p:nvSpPr>
          <p:cNvPr id="9" name="f1e19490-a3a2-403f-9fa7-1022610407d7"/>
          <p:cNvSpPr/>
          <p:nvPr/>
        </p:nvSpPr>
        <p:spPr>
          <a:xfrm>
            <a:off x="347472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AD 身分確認:rbac-admin 能改授權、ops 不能變更、無群組被拒</a:t>
            </a:r>
            <a:endParaRPr lang="en-US" sz="1100" dirty="0"/>
          </a:p>
        </p:txBody>
      </p:sp>
      <p:sp>
        <p:nvSpPr>
          <p:cNvPr id="10" name="63691a41-996c-4257-b263-09513bfae941"/>
          <p:cNvSpPr/>
          <p:nvPr/>
        </p:nvSpPr>
        <p:spPr>
          <a:xfrm>
            <a:off x="621792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1" name="540f8284-e330-43bc-af36-6d7ad8b1a05f"/>
          <p:cNvSpPr/>
          <p:nvPr/>
        </p:nvSpPr>
        <p:spPr>
          <a:xfrm>
            <a:off x="632764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c366a184-91a7-4d3d-8dc4-e1f47abac451"/>
          <p:cNvSpPr/>
          <p:nvPr/>
        </p:nvSpPr>
        <p:spPr>
          <a:xfrm>
            <a:off x="630936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封存</a:t>
            </a:r>
            <a:endParaRPr lang="en-US" sz="1400" dirty="0"/>
          </a:p>
        </p:txBody>
      </p:sp>
      <p:sp>
        <p:nvSpPr>
          <p:cNvPr id="13" name="8984cce1-a51b-4163-8226-1ec84e668225"/>
          <p:cNvSpPr/>
          <p:nvPr/>
        </p:nvSpPr>
        <p:spPr>
          <a:xfrm>
            <a:off x="630936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憑證私鑰離線保管(建議 CyberArk);日常不使用</a:t>
            </a:r>
            <a:endParaRPr lang="en-US" sz="1100" dirty="0"/>
          </a:p>
        </p:txBody>
      </p:sp>
      <p:sp>
        <p:nvSpPr>
          <p:cNvPr id="14" name="7f9502e6-8087-4143-9829-b7210bab01ea"/>
          <p:cNvSpPr/>
          <p:nvPr/>
        </p:nvSpPr>
        <p:spPr>
          <a:xfrm>
            <a:off x="9052560" y="1769899"/>
            <a:ext cx="2587752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0035fdbe-1b62-4a17-83fa-0721a0ddb95c"/>
          <p:cNvSpPr/>
          <p:nvPr/>
        </p:nvSpPr>
        <p:spPr>
          <a:xfrm>
            <a:off x="916228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154629e5-6e27-4321-a921-40c815ca85dc"/>
          <p:cNvSpPr/>
          <p:nvPr/>
        </p:nvSpPr>
        <p:spPr>
          <a:xfrm>
            <a:off x="9144000" y="2295968"/>
            <a:ext cx="24048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緊急</a:t>
            </a:r>
            <a:endParaRPr lang="en-US" sz="1400" dirty="0"/>
          </a:p>
        </p:txBody>
      </p:sp>
      <p:sp>
        <p:nvSpPr>
          <p:cNvPr id="17" name="d4e6bd3e-7112-4540-a5af-4c076c600ecb"/>
          <p:cNvSpPr/>
          <p:nvPr/>
        </p:nvSpPr>
        <p:spPr>
          <a:xfrm>
            <a:off x="9144000" y="2745671"/>
            <a:ext cx="2404872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經核准臨時加入 kafka-breakglass,用本人身分操作;事後移出並查 audit</a:t>
            </a:r>
            <a:endParaRPr lang="en-US" sz="1100" dirty="0"/>
          </a:p>
        </p:txBody>
      </p:sp>
      <p:sp>
        <p:nvSpPr>
          <p:cNvPr id="18" name="e152f527-c272-4dcf-8758-df924a6af234"/>
          <p:cNvSpPr/>
          <p:nvPr/>
        </p:nvSpPr>
        <p:spPr>
          <a:xfrm>
            <a:off x="320040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18406d16-84da-4cf1-b6b2-765b383689a9"/>
          <p:cNvSpPr/>
          <p:nvPr/>
        </p:nvSpPr>
        <p:spPr>
          <a:xfrm>
            <a:off x="603504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f57ac878-043f-4833-a812-636837286aa1"/>
          <p:cNvSpPr/>
          <p:nvPr/>
        </p:nvSpPr>
        <p:spPr>
          <a:xfrm>
            <a:off x="886968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15" name="1e0ddf01-836e-4bc3-8453-f8d3a47a04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06293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或 MDS 身分機制失效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憑證經 OP menu 緊急模式(sudo 切換專用帳號)執行單一指令,逐條記錄;事後輪替憑證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 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保持最少;平常 kafka-breakglass 是空的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緊急模式每一條指令都記錄;CyberArk PSM 可加錄影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五、CyberArk 整合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先懂元件,再看接在哪裡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是什麼:會用到的元件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一套「特權存取與秘密管理」平台;不同模組解決不同問題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6" name="c9f5856e-e8ca-4e93-bfc4-8080df2f07b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我們用在哪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加密保存密碼、私鑰等「秘密」;PVWA 是管理與申請的網頁介面(核准流程、借出紀錄)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保管 bootstrap 私鑰、root 密碼、breakglass 相關;依單借出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自動定期更換被納管帳號的密碼或 SSH key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輪替跳板機與各主機的 root、本機帳號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/ PSM for SSH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人連主機時由它代登入(密碼不經手)並錄影;可當跳板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人登入跳板機與主機;緊急操作有錄影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應用程式用的取密碼 API:以應用識別 + 主機或憑證認證,回傳密碼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應用系統啟動時取 SCRAM 密碼;平台元件啟動前取設定檔密碼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新一代的秘密管理(含 Kubernetes、CI/CD);host 身分換短效 token 取秘密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若客戶已採用,可取代 CCP 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小工具:啟動程式前把秘密變成環境變數,不改程式碼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不方便改程式的應用或腳本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Certificate Manager(選配)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憑證簽發、到期追蹤與自動續期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憑證與 client 憑證的生命週期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整合總圖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身分與授權不變;CyberArk 只接管「密碼與私鑰放哪、誰能拿、怎麼輪替、怎麼錄影」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7" name="ab5b31ed-7957-42f9-8646-d6c223368f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4389120"/>
                <a:gridCol w="15819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現有機制(不變)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接入點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帳密換 token;角色綁 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不經 CyberArk;只有「登入跳板機」這段可先過 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+ OP menu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身分 + sudo;動作留紀錄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代登入與錄影;sudo 引用 AD 群組;緊急操作有錄影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OS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 + sudoers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 定期輪替 root 與本機帳號;人要用時經 PSM 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/ 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 0600;群組平常空的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私鑰存 Vault,依單核准借出、用完換發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帳密或 client 憑證 + 最小權限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啟動時向 CCP 取密碼或私鑰,在記憶體使用、不落地;不改程式用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/ Conjur /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平台元件設定檔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設定檔內的密碼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Confluent Secret Protection 加密設定檔,主金鑰啟動時向 CCP 取;或啟動前取密碼寫 0600 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+ Secret Protection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一張憑證只做加密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(選配)Certificate Manager 簽發與續期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 Manager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12a7b5d4-ac24-4c15-a582-382db38049d5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 SCRAM 密碼沒有現成的 CPM 平台:用「新帳號並行 → 切換 → 停舊」腳本,由 CPM 自訂平台或排程呼叫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人連主機的三種模式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決定 OP menu 的 ssh 身分怎麼設計;要向客戶確認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8" name="7e5ada73-5fa9-4f01-bb62-5dc4d0b5586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  <a:gridCol w="23134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人怎麼連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 OP menu 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A. PSM 就是跳板機(最常見)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帳號連 PSM for SSH,由它取主機帳密開 session、錄影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22 埠通常只開給 PSM;原本的跳板機變成被納管的主機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用自動化帳號 ssh 各主機,key 由 CyberArk 保管、執行時取;人仍以 AD 身分登入選單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B. PSM 在跳板機前面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維持跳板機直連主機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幾乎不用改;補上 CyberArk 管理的 key 與集中紀錄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C. 兩層都經 PSM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進跳板機,再經 PSM 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繞兩次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ssh 要改成經 PSM,複雜,不建議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66fcd5b0-a658-44b1-9e88-bb93c3cc1688"/>
          <p:cNvSpPr/>
          <p:nvPr/>
        </p:nvSpPr>
        <p:spPr>
          <a:xfrm>
            <a:off x="548640" y="516388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建議:A 或 B 皆可;重點是「主機 22 埠允許哪些來源」與「跳板機是否加入 AD」,兩個答案決定做法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應用程式取密碼與輪替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密碼不落地;換密碼不中斷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2a2b09a-830a-4fbb-ba2b-e0984ec6d9d5"/>
          <p:cNvSpPr/>
          <p:nvPr/>
        </p:nvSpPr>
        <p:spPr>
          <a:xfrm>
            <a:off x="548640" y="1685050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取密碼(每次啟動)</a:t>
            </a:r>
            <a:endParaRPr lang="en-US" sz="1350" dirty="0"/>
          </a:p>
        </p:txBody>
      </p:sp>
      <p:sp>
        <p:nvSpPr>
          <p:cNvPr id="3" name="069e12d7-d01c-4692-b0d6-87c1251d220d"/>
          <p:cNvSpPr/>
          <p:nvPr/>
        </p:nvSpPr>
        <p:spPr>
          <a:xfrm>
            <a:off x="5486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" name="8a79b679-8a93-42d9-910b-a4f30604cdc7"/>
          <p:cNvSpPr/>
          <p:nvPr/>
        </p:nvSpPr>
        <p:spPr>
          <a:xfrm>
            <a:off x="6583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7c23e5d2-52ed-4d66-ba3b-7dae887b79a2"/>
          <p:cNvSpPr/>
          <p:nvPr/>
        </p:nvSpPr>
        <p:spPr>
          <a:xfrm>
            <a:off x="6400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</a:t>
            </a:r>
            <a:endParaRPr lang="en-US" sz="1400" dirty="0"/>
          </a:p>
        </p:txBody>
      </p:sp>
      <p:sp>
        <p:nvSpPr>
          <p:cNvPr id="6" name="97fc2e86-2276-4fc8-b46e-7f638066fada"/>
          <p:cNvSpPr/>
          <p:nvPr/>
        </p:nvSpPr>
        <p:spPr>
          <a:xfrm>
            <a:off x="6400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應用以 AppID + 主機或憑證向 CCP 認證</a:t>
            </a:r>
            <a:endParaRPr lang="en-US" sz="1100" dirty="0"/>
          </a:p>
        </p:txBody>
      </p:sp>
      <p:sp>
        <p:nvSpPr>
          <p:cNvPr id="7" name="545bf3dc-f745-4991-b51c-5caa8d2f567a"/>
          <p:cNvSpPr/>
          <p:nvPr/>
        </p:nvSpPr>
        <p:spPr>
          <a:xfrm>
            <a:off x="32918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a36c40ee-88a8-4673-9b57-c1e4e54d5a96"/>
          <p:cNvSpPr/>
          <p:nvPr/>
        </p:nvSpPr>
        <p:spPr>
          <a:xfrm>
            <a:off x="34015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3d5e483a-d1e4-41a4-b12b-97d0a3543340"/>
          <p:cNvSpPr/>
          <p:nvPr/>
        </p:nvSpPr>
        <p:spPr>
          <a:xfrm>
            <a:off x="33832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</a:t>
            </a:r>
            <a:endParaRPr lang="en-US" sz="1400" dirty="0"/>
          </a:p>
        </p:txBody>
      </p:sp>
      <p:sp>
        <p:nvSpPr>
          <p:cNvPr id="10" name="cffe39a0-f3c7-44ef-80cf-133cf6521b31"/>
          <p:cNvSpPr/>
          <p:nvPr/>
        </p:nvSpPr>
        <p:spPr>
          <a:xfrm>
            <a:off x="33832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取得 SCRAM 帳密(或憑證私鑰)</a:t>
            </a:r>
            <a:endParaRPr lang="en-US" sz="1100" dirty="0"/>
          </a:p>
        </p:txBody>
      </p:sp>
      <p:sp>
        <p:nvSpPr>
          <p:cNvPr id="11" name="603af5f1-b6af-4c1a-90b3-6080debdd0ee"/>
          <p:cNvSpPr/>
          <p:nvPr/>
        </p:nvSpPr>
        <p:spPr>
          <a:xfrm>
            <a:off x="60350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2" name="2b39433c-533f-4124-9f0b-f792c80b36d0"/>
          <p:cNvSpPr/>
          <p:nvPr/>
        </p:nvSpPr>
        <p:spPr>
          <a:xfrm>
            <a:off x="61447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ab37bff5-25e2-47c2-947c-fd7e1190d437"/>
          <p:cNvSpPr/>
          <p:nvPr/>
        </p:nvSpPr>
        <p:spPr>
          <a:xfrm>
            <a:off x="61264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記憶體使用</a:t>
            </a:r>
            <a:endParaRPr lang="en-US" sz="1400" dirty="0"/>
          </a:p>
        </p:txBody>
      </p:sp>
      <p:sp>
        <p:nvSpPr>
          <p:cNvPr id="14" name="ef42c8d8-b23a-48b7-a299-0c78437de755"/>
          <p:cNvSpPr/>
          <p:nvPr/>
        </p:nvSpPr>
        <p:spPr>
          <a:xfrm>
            <a:off x="61264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組成連線設定,不寫入磁碟</a:t>
            </a:r>
            <a:endParaRPr lang="en-US" sz="1100" dirty="0"/>
          </a:p>
        </p:txBody>
      </p:sp>
      <p:sp>
        <p:nvSpPr>
          <p:cNvPr id="15" name="ada1eccd-fdb4-46ba-a525-70d2b727512b"/>
          <p:cNvSpPr/>
          <p:nvPr/>
        </p:nvSpPr>
        <p:spPr>
          <a:xfrm>
            <a:off x="8778240" y="2024449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6" name="a1ff55b9-7e77-40fd-9264-e65dbb26fc0c"/>
          <p:cNvSpPr/>
          <p:nvPr/>
        </p:nvSpPr>
        <p:spPr>
          <a:xfrm>
            <a:off x="88879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fb92c9ef-b504-400c-9813-5216728e1d0a"/>
          <p:cNvSpPr/>
          <p:nvPr/>
        </p:nvSpPr>
        <p:spPr>
          <a:xfrm>
            <a:off x="8869680" y="2550517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400" dirty="0"/>
          </a:p>
        </p:txBody>
      </p:sp>
      <p:sp>
        <p:nvSpPr>
          <p:cNvPr id="18" name="de00b891-9dde-4975-b216-123c98a0c019"/>
          <p:cNvSpPr/>
          <p:nvPr/>
        </p:nvSpPr>
        <p:spPr>
          <a:xfrm>
            <a:off x="8869680" y="3000221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認證;broker RBAC 判斷</a:t>
            </a:r>
            <a:endParaRPr lang="en-US" sz="1100" dirty="0"/>
          </a:p>
        </p:txBody>
      </p:sp>
      <p:sp>
        <p:nvSpPr>
          <p:cNvPr id="19" name="5cb4cb5d-fa31-4825-b0e7-d6b1d6b43c38"/>
          <p:cNvSpPr/>
          <p:nvPr/>
        </p:nvSpPr>
        <p:spPr>
          <a:xfrm>
            <a:off x="31089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8ef2b96b-ee04-469a-9ead-1996c0f1613d"/>
          <p:cNvSpPr/>
          <p:nvPr/>
        </p:nvSpPr>
        <p:spPr>
          <a:xfrm>
            <a:off x="58521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1" name="761b7e34-558e-4420-8e58-938103d8a4ed"/>
          <p:cNvSpPr/>
          <p:nvPr/>
        </p:nvSpPr>
        <p:spPr>
          <a:xfrm>
            <a:off x="85953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2" name="725cf007-ca6b-4582-936b-fb6ebf548899"/>
          <p:cNvSpPr/>
          <p:nvPr/>
        </p:nvSpPr>
        <p:spPr>
          <a:xfrm>
            <a:off x="548640" y="3848718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輪替(定期或事件觸發)</a:t>
            </a:r>
            <a:endParaRPr lang="en-US" sz="1350" dirty="0"/>
          </a:p>
        </p:txBody>
      </p:sp>
      <p:sp>
        <p:nvSpPr>
          <p:cNvPr id="23" name="ec8672e3-2ba8-4a7f-a58f-ebfbcace468c"/>
          <p:cNvSpPr/>
          <p:nvPr/>
        </p:nvSpPr>
        <p:spPr>
          <a:xfrm>
            <a:off x="5486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0f55c077-e767-41ff-8811-049ff631d366"/>
          <p:cNvSpPr/>
          <p:nvPr/>
        </p:nvSpPr>
        <p:spPr>
          <a:xfrm>
            <a:off x="6583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6fd083a8-6038-46f1-8569-36c32682fee1"/>
          <p:cNvSpPr/>
          <p:nvPr/>
        </p:nvSpPr>
        <p:spPr>
          <a:xfrm>
            <a:off x="6400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建新帳號</a:t>
            </a:r>
            <a:endParaRPr lang="en-US" sz="1400" dirty="0"/>
          </a:p>
        </p:txBody>
      </p:sp>
      <p:sp>
        <p:nvSpPr>
          <p:cNvPr id="26" name="f83c8705-0da9-404d-b3d0-b554b3b3fb72"/>
          <p:cNvSpPr/>
          <p:nvPr/>
        </p:nvSpPr>
        <p:spPr>
          <a:xfrm>
            <a:off x="6400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v2 帳號並綁同樣角色,寫回 Vault</a:t>
            </a:r>
            <a:endParaRPr lang="en-US" sz="1100" dirty="0"/>
          </a:p>
        </p:txBody>
      </p:sp>
      <p:sp>
        <p:nvSpPr>
          <p:cNvPr id="27" name="8360a8ba-6be7-4859-9648-3d47545a9275"/>
          <p:cNvSpPr/>
          <p:nvPr/>
        </p:nvSpPr>
        <p:spPr>
          <a:xfrm>
            <a:off x="32918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3cd54902-61ba-4f79-b212-e4b2e179a461"/>
          <p:cNvSpPr/>
          <p:nvPr/>
        </p:nvSpPr>
        <p:spPr>
          <a:xfrm>
            <a:off x="34015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2f98fb64-02d8-4c30-a387-edb530bb0e74"/>
          <p:cNvSpPr/>
          <p:nvPr/>
        </p:nvSpPr>
        <p:spPr>
          <a:xfrm>
            <a:off x="33832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並行</a:t>
            </a:r>
            <a:endParaRPr lang="en-US" sz="1400" dirty="0"/>
          </a:p>
        </p:txBody>
      </p:sp>
      <p:sp>
        <p:nvSpPr>
          <p:cNvPr id="30" name="975bba55-097d-4c10-bb4f-e80e835b681e"/>
          <p:cNvSpPr/>
          <p:nvPr/>
        </p:nvSpPr>
        <p:spPr>
          <a:xfrm>
            <a:off x="33832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新舊同時可用,應用逐批重啟切換</a:t>
            </a:r>
            <a:endParaRPr lang="en-US" sz="1100" dirty="0"/>
          </a:p>
        </p:txBody>
      </p:sp>
      <p:sp>
        <p:nvSpPr>
          <p:cNvPr id="31" name="4eb71e36-8907-4971-97b2-a9b99a4ba2f7"/>
          <p:cNvSpPr/>
          <p:nvPr/>
        </p:nvSpPr>
        <p:spPr>
          <a:xfrm>
            <a:off x="60350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2" name="9fbd3bc7-1fec-4b3a-8316-4ede16e13b3c"/>
          <p:cNvSpPr/>
          <p:nvPr/>
        </p:nvSpPr>
        <p:spPr>
          <a:xfrm>
            <a:off x="61447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a1c8d54b-66f3-47d5-b4da-75bc753bbe21"/>
          <p:cNvSpPr/>
          <p:nvPr/>
        </p:nvSpPr>
        <p:spPr>
          <a:xfrm>
            <a:off x="61264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停舊</a:t>
            </a:r>
            <a:endParaRPr lang="en-US" sz="1400" dirty="0"/>
          </a:p>
        </p:txBody>
      </p:sp>
      <p:sp>
        <p:nvSpPr>
          <p:cNvPr id="34" name="2dc2f215-9ed9-4521-839e-f48f1ede7d43"/>
          <p:cNvSpPr/>
          <p:nvPr/>
        </p:nvSpPr>
        <p:spPr>
          <a:xfrm>
            <a:off x="61264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全部切換後停用舊帳號,舊密碼立刻失效</a:t>
            </a:r>
            <a:endParaRPr lang="en-US" sz="1100" dirty="0"/>
          </a:p>
        </p:txBody>
      </p:sp>
      <p:sp>
        <p:nvSpPr>
          <p:cNvPr id="35" name="3e8bee3d-fbb4-4beb-8795-6a1062369154"/>
          <p:cNvSpPr/>
          <p:nvPr/>
        </p:nvSpPr>
        <p:spPr>
          <a:xfrm>
            <a:off x="8778240" y="4188117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40c25ebe-8efe-45a1-8c23-238029fbf977"/>
          <p:cNvSpPr/>
          <p:nvPr/>
        </p:nvSpPr>
        <p:spPr>
          <a:xfrm>
            <a:off x="88879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41352f77-379e-407c-bc06-a8259fdeba9e"/>
          <p:cNvSpPr/>
          <p:nvPr/>
        </p:nvSpPr>
        <p:spPr>
          <a:xfrm>
            <a:off x="8869680" y="4714185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誰來做</a:t>
            </a:r>
            <a:endParaRPr lang="en-US" sz="1400" dirty="0"/>
          </a:p>
        </p:txBody>
      </p:sp>
      <p:sp>
        <p:nvSpPr>
          <p:cNvPr id="38" name="b100f779-69e3-4f59-a05d-2975f18f32ea"/>
          <p:cNvSpPr/>
          <p:nvPr/>
        </p:nvSpPr>
        <p:spPr>
          <a:xfrm>
            <a:off x="8869680" y="5163889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CPM 自訂平台呼叫腳本,或排程;全程 audit 可查</a:t>
            </a:r>
            <a:endParaRPr lang="en-US" sz="1100" dirty="0"/>
          </a:p>
        </p:txBody>
      </p:sp>
      <p:sp>
        <p:nvSpPr>
          <p:cNvPr id="39" name="e92620bd-d887-4d98-bcd1-ba1679cf1f12"/>
          <p:cNvSpPr/>
          <p:nvPr/>
        </p:nvSpPr>
        <p:spPr>
          <a:xfrm>
            <a:off x="31089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0" name="856f75df-ad69-494e-a079-b877bbde59c1"/>
          <p:cNvSpPr/>
          <p:nvPr/>
        </p:nvSpPr>
        <p:spPr>
          <a:xfrm>
            <a:off x="58521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1" name="d1d5024c-ae47-4f94-abf4-559e864058cf"/>
          <p:cNvSpPr/>
          <p:nvPr/>
        </p:nvSpPr>
        <p:spPr>
          <a:xfrm>
            <a:off x="85953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六、待確認、限制與導入順序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/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要向客戶確認的事項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答案會決定幾個分支的做法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0" name="6473bc0a-932a-44a9-bd0e-3e72e39cdba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27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問題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使用者名稱與 CN 是否完全相同(含大小寫);Kafka 群組放哪個 OU;群組人數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群組查詢設定、主體寫法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跳板機與各主機是否加入 AD;人連主機是否一律經 PSM;主機 22 埠允許哪些來源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登入與 sudo 設計、OP menu 的 ssh 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有哪些模組(PSM、CPM、CCP、Conjur、Summon、Certificate Manager);應用主機與 Kafka 節點能否連到 CCP / PSM;AppID 用 IP 還是憑證認;輪替週期與負責人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第五章每一列的做法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虛擬伺服器類型(L4)、後端 TLS session 復用、persistence、idle timeout、SNAT;REST Proxy 幾台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憑證名稱、sticky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變更管理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變更核准方式;維運作業項目清單;現有 OP menu 樣貌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的核准檢查與項目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由誰簽(AD CS 或 Certificate Manager);有效期政策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憑證生命週期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未驗證與限制(如實說明)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已實測的以外,這些尚未在客戶環境驗證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1" name="45f194a9-6a37-49ad-aa39-2a39bfc8a21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CyberArk:秘密管理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已用 CyberArk 的開源版 Conjur 實測「應用程式取密碼、輪替、OP menu 取帳密、設定檔密碼不落地」;商業版 CCP / Conjur 的 API 細節以客戶版本文件為準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CyberArk:PAM(PSM、CPM、PVWA)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無法在測試環境重現,整合方式為通用模式;需在客戶環境 PoC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真實 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巢狀群組、群組異動的實際延遲、AD 憑證鏈(中繼 CA)要以客戶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以同類負載平衡器實測 L4 透傳可行、L7 終止不可;F5 本身的行為要以客戶設定驗證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 controller 與 RHEL 部署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設計依官方文件;以本方案的測試環境為準,未在客戶 VM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未驗證;建議 C3 不經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密碼輪替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已實測新舊並行流程(建新帳號、驗證、隔離、看 audit、才刪);由 CPM 自訂平台或排程觸發同一支腳本,需在客戶環境確認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停用帳號對已連線的影響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實測:只刪 SCRAM 憑證擋不住已連著的連線,必須先解除角色;長連線的應用要能在失敗時重新取帳密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 可用性與根的秘密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取不到帳密應用與 broker 起不來,要規劃高可用與重試;機器 API key(secret zero)的保護與輪替未示範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導入順序建議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先把身分與授權做對,再接 CyberArk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b85288d-89b5-4911-ac94-ef790ea3064f"/>
          <p:cNvSpPr/>
          <p:nvPr/>
        </p:nvSpPr>
        <p:spPr>
          <a:xfrm>
            <a:off x="548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1c2b3843-ecc2-4a1f-899c-c3f77a3e3651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69d2c47e-ce90-4895-8ffc-a79b93b59f6d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基礎</a:t>
            </a:r>
            <a:endParaRPr lang="en-US" sz="1400" dirty="0"/>
          </a:p>
        </p:txBody>
      </p:sp>
      <p:sp>
        <p:nvSpPr>
          <p:cNvPr id="5" name="3dededce-60f2-454f-8df0-d7d0ab2387da"/>
          <p:cNvSpPr/>
          <p:nvPr/>
        </p:nvSpPr>
        <p:spPr>
          <a:xfrm>
            <a:off x="640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群組與唯讀查詢帳號;憑證;叢集與 TLS;初始授權與驗收</a:t>
            </a:r>
            <a:endParaRPr lang="en-US" sz="1100" dirty="0"/>
          </a:p>
        </p:txBody>
      </p:sp>
      <p:sp>
        <p:nvSpPr>
          <p:cNvPr id="6" name="8742cf64-19f6-4eb3-aeb0-36519d4a9b55"/>
          <p:cNvSpPr/>
          <p:nvPr/>
        </p:nvSpPr>
        <p:spPr>
          <a:xfrm>
            <a:off x="2834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c5f8e3d5-4dd0-485e-b581-915f969c4c9f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bdaf02c9-9ef4-457a-8251-3f53376fc725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人與系統上線</a:t>
            </a:r>
            <a:endParaRPr lang="en-US" sz="1400" dirty="0"/>
          </a:p>
        </p:txBody>
      </p:sp>
      <p:sp>
        <p:nvSpPr>
          <p:cNvPr id="9" name="62f0983d-9ae6-4a27-9b45-acf37a54aa02"/>
          <p:cNvSpPr/>
          <p:nvPr/>
        </p:nvSpPr>
        <p:spPr>
          <a:xfrm>
            <a:off x="2926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C3、REST Proxy、F5;應用系統帳號與憑證;命名規範</a:t>
            </a:r>
            <a:endParaRPr lang="en-US" sz="1100" dirty="0"/>
          </a:p>
        </p:txBody>
      </p:sp>
      <p:sp>
        <p:nvSpPr>
          <p:cNvPr id="10" name="f7ebb8a4-0a36-4346-90dc-e95455621b31"/>
          <p:cNvSpPr/>
          <p:nvPr/>
        </p:nvSpPr>
        <p:spPr>
          <a:xfrm>
            <a:off x="5120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1" name="b3230466-364d-4ba4-a1fd-090441c5579e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00730ecd-9f32-4ebc-9f38-63d8e6f1af8c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</a:t>
            </a:r>
            <a:endParaRPr lang="en-US" sz="1400" dirty="0"/>
          </a:p>
        </p:txBody>
      </p:sp>
      <p:sp>
        <p:nvSpPr>
          <p:cNvPr id="13" name="823f8f12-1ed4-49e7-b737-cfe0774722b9"/>
          <p:cNvSpPr/>
          <p:nvPr/>
        </p:nvSpPr>
        <p:spPr>
          <a:xfrm>
            <a:off x="5212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menu、監控告警、audit 匯出與覆核;緊急流程演練</a:t>
            </a:r>
            <a:endParaRPr lang="en-US" sz="1100" dirty="0"/>
          </a:p>
        </p:txBody>
      </p:sp>
      <p:sp>
        <p:nvSpPr>
          <p:cNvPr id="14" name="231745d5-3c4b-4af6-ba58-3f5a9b30249f"/>
          <p:cNvSpPr/>
          <p:nvPr/>
        </p:nvSpPr>
        <p:spPr>
          <a:xfrm>
            <a:off x="7406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10cc9524-09a7-4169-a7e4-dcc9899f42a7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d3bc887d-a2db-4e63-b2c6-713e712b33ef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第一階段</a:t>
            </a:r>
            <a:endParaRPr lang="en-US" sz="1400" dirty="0"/>
          </a:p>
        </p:txBody>
      </p:sp>
      <p:sp>
        <p:nvSpPr>
          <p:cNvPr id="17" name="461489b9-6fa9-4a65-9bce-1b27a2271e8f"/>
          <p:cNvSpPr/>
          <p:nvPr/>
        </p:nvSpPr>
        <p:spPr>
          <a:xfrm>
            <a:off x="7498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 代登入與錄影;CPM 輪替主機帳號;bootstrap 私鑰入 Vault</a:t>
            </a:r>
            <a:endParaRPr lang="en-US" sz="1100" dirty="0"/>
          </a:p>
        </p:txBody>
      </p:sp>
      <p:sp>
        <p:nvSpPr>
          <p:cNvPr id="18" name="c0d99e08-aa95-40f3-81dd-e00f3ff78516"/>
          <p:cNvSpPr/>
          <p:nvPr/>
        </p:nvSpPr>
        <p:spPr>
          <a:xfrm>
            <a:off x="9692640" y="1769899"/>
            <a:ext cx="1947672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9" name="8f8f5a0e-0d45-45f5-89a4-9be69be158aa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1f8139b5-f2d6-44c0-94b4-36ea3f09f2f0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第二階段</a:t>
            </a:r>
            <a:endParaRPr lang="en-US" sz="1400" dirty="0"/>
          </a:p>
        </p:txBody>
      </p:sp>
      <p:sp>
        <p:nvSpPr>
          <p:cNvPr id="21" name="60642938-e104-4d7c-9a0d-9735af6607f7"/>
          <p:cNvSpPr/>
          <p:nvPr/>
        </p:nvSpPr>
        <p:spPr>
          <a:xfrm>
            <a:off x="9784080" y="2745671"/>
            <a:ext cx="1764792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應用程式經 CCP 取密碼;設定檔密碼不落地;SCRAM 輪替自動化</a:t>
            </a:r>
            <a:endParaRPr lang="en-US" sz="1100" dirty="0"/>
          </a:p>
        </p:txBody>
      </p:sp>
      <p:sp>
        <p:nvSpPr>
          <p:cNvPr id="22" name="7994a91b-fbb6-4b6f-b5d3-e0d2a40ace48"/>
          <p:cNvSpPr/>
          <p:nvPr/>
        </p:nvSpPr>
        <p:spPr>
          <a:xfrm>
            <a:off x="2651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dfb9e285-569a-4931-a739-8c03387eb46c"/>
          <p:cNvSpPr/>
          <p:nvPr/>
        </p:nvSpPr>
        <p:spPr>
          <a:xfrm>
            <a:off x="4937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36a80a12-a49a-4c89-b7d0-cee54ee7ebe5"/>
          <p:cNvSpPr/>
          <p:nvPr/>
        </p:nvSpPr>
        <p:spPr>
          <a:xfrm>
            <a:off x="7223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464422e7-ac1d-4104-8132-22d93eae400e"/>
          <p:cNvSpPr/>
          <p:nvPr/>
        </p:nvSpPr>
        <p:spPr>
          <a:xfrm>
            <a:off x="9509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11b67bbe-b008-4e01-8fde-417c5d142a37"/>
          <p:cNvSpPr/>
          <p:nvPr/>
        </p:nvSpPr>
        <p:spPr>
          <a:xfrm>
            <a:off x="548640" y="4400241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到 3 步已在測試環境完整驗證;第 4、5 步依客戶回答的 CyberArk 模組決定範圍</a:t>
            </a:r>
            <a:endParaRPr lang="en-US" sz="1250" dirty="0"/>
          </a:p>
        </p:txBody>
      </p:sp>
      <p:sp>
        <p:nvSpPr>
          <p:cNvPr id="27" name="d2b01886-8266-4312-b28c-19aedb50129a"/>
          <p:cNvSpPr/>
          <p:nvPr/>
        </p:nvSpPr>
        <p:spPr>
          <a:xfrm>
            <a:off x="548640" y="490933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每一步都有驗收標準:身分對、權限對、紀錄查得到;不過關不進下一步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