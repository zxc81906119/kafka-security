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78" autoAdjust="0"/>
    <p:restoredTop sz="90831" autoAdjust="0"/>
  </p:normalViewPr>
  <p:slideViewPr>
    <p:cSldViewPr snapToGrid="0">
      <p:cViewPr varScale="1">
        <p:scale>
          <a:sx n="102" d="100"/>
          <a:sy n="102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依原本的五頁大綱整理成表格:傳輸加密、認證、授權、與 Kafka 元件交互。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broker、controller、C3、REST Proxy、MDS 共用一組 server 私鑰與憑證,設定在 keystore;SAN 必須涵蓋這些元件對外的網域或 IP。client 端的 truststore 匯入簽發 server 憑證的 root CA 憑證。MDS 與 broker 會連 AD,AD 走 LDAPS 時,要另外設定信任庫,匯入簽發 AD server 憑證的 root CA;MDS 與 broker 共用一組設定。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原列的九條連線:broker→broker、controller→broker、MDS→broker、broker→controller、controller→controller、C3→broker、C3→MDS、REST Proxy→broker、REST Proxy→MDS。補充(原大綱沒列):外部 client(人的 CLI、服務、瀏覽器、經 REST Proxy 的 app)連到 broker、C3、REST Proxy 時,也需要信任同一張 root CA。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Kafka 叢集內部元件溝通:broker、controller 連 broker 用 SASL/SCRAM-SHA-512;broker、controller 連 controller 用 SASL/PLAIN,帳號密碼寫在 JAAS 設定。人連 broker 用 SASL/PLAIN 加 LDAP(AD)。服務連 broker 用 SASL/SCRAM-SHA-512。C3 與 REST Proxy 連 broker 用 SASL/OAUTHBEARER,會先用 client 憑證向 MDS 換 MDS token。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授權依靠內嵌元件 MDS 管理 RBAC 資訊。MDS 是 HTTP REST 服務,提供 token 簽發與 RBAC 相關的 API。RBAC 的 API 被呼叫後,會把 RBAC 資訊寫入 Kafka topic。MDS 也會定期把 AD 的 user 與 groups 對應的變更寫入同一個 topic。Kafka 用已認證的 user 對應 topic 中的 groups,再比對 RBAC 資訊,判斷這個 user 有沒有權限。補充(demo 實測):topic 是 _confluent-metadata-auth;同一時間只有一台 broker 的 MDS 負責向 AD 查詢並寫入;每台 broker 各自讀取整個 topic 更新本地快取。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五個 AD 群組與綁定的 role,來自 demo(第 3、4、11 章)的實際綁定:kafka-readonly 綁 DeveloperRead(Topic orders. 前綴,另含 consumer group demo- 前綴);kafka-developers 綁 DeveloperRead 與 DeveloperWrite(orders. 前綴);kafka-ops 綁 Operator(叢集範圍)與 DeveloperManage(Topic infra. 前綴);kafka-rbac-admins 綁 UserAdmin;kafka-admins 綁 SystemAdmin。前綴名稱(orders.、infra.)是 demo 的例子,導入時依客戶的 topic 命名調整。移出群組後,預設最長約 60 秒收回(ldap.refresh.interval.ms 預設值)。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維運選單(OP MENU)只是操作介面,以操作者本人的身分執行;能不能做由 Kafka 的 RBAC 依本人所屬的 AD 群組判斷。功能列是依 role 的權限整理的常見維運功能,不是客戶現有選單的實際項目,導入時要對照客戶的選單逐項確認。依據(demo 第 11 章實測):kafka-ops 可建立與刪除 infra. 前綴的 topic、可看叢集,但讀不到資料、不能改授權;kafka-rbac-admins 可調整授權,但不能建 topic;DeveloperManage 與 Operator 都不能改 topic 設定,要改需 ResourceOwner(含讀寫資料)或 ClusterAdmin(叢集範圍,不能讀寫資料),demo 的五個群組中只有 kafka-admins 能改。讀寫範圍限於綁定的前綴(demo 為 orders.)。不建議選單背後用共用高權限帳號:audit 只會剩下共用帳號,看不到實際操作者。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bootstrap 服務帳號連 MDS:使用 mTLS 認證(須提供 client 憑證),由 MDS 做權限控管,bootstrap 應為 super user。C3、REST Proxy 連 MDS:使用 mTLS 認證,MDS 認證後簽發代表元件本身的 MDS token,元件用它與 broker 交互。人連 C3 與服務連 REST Proxy 的步驟見後兩頁。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人連 C3:瀏覽器用 Basic 登入;C3 把 Basic 資訊轉給 MDS 做 AD 驗證;MDS 回傳代表人的 MDS token 並放在回應的 cookie;C3 把 MDS token 放在回應的 cookie 給瀏覽器儲存。之後瀏覽器發請求給 C3:如果要與 MDS 交互,C3 把 MDS token 轉給 MDS 驗證;若未與 MDS 交互,則用 MDS 公鑰在本地驗證;若操作與 broker 有關,則拿 MDS token 與 broker 交互。補充(demo 實測):token 同時在回應內容與 HttpOnly 的 auth_token cookie;瀏覽器之後的請求主要用 Authorization: Bearer 標頭帶 token,兩者都有時伺服器優先看 Bearer。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服務連 REST Proxy:使用 mTLS 認證(須提供 client 憑證);REST Proxy 取出服務憑證的 CN 當作服務帳號;向 MDS 做 impersonate,取得服務的 MDS token;用 MDS token 與 broker 交互。補充:REST Proxy 呼叫 impersonate 時,是用自己的 client 憑證(CN 為 restproxy)向 MDS 認證。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傳輸加密、認證、授權、元件交互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傳輸加密:要準備的憑證與信任庫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server 端共用一組憑證;client 端只需要信任庫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</a:t>
            </a:fld>
            <a:endParaRPr lang="zh-TW" altLang="en-US" sz="900"/>
          </a:p>
        </p:txBody>
      </p:sp>
      <p:graphicFrame>
        <p:nvGraphicFramePr>
          <p:cNvPr id="2" name="0a07869a-5ae2-44a5-8dae-7851c6d69b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2808525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放什麼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誰要設定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keystore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共用的一組 server 私鑰與憑證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broker、controller、MDS、C3、REST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要涵蓋這些元件對外的網域或 IP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server 憑證的 root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每一條連線的 client 端(見下一頁)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只放 CA 憑證,不放私鑰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LDAPS 的 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AD server 憑證的 root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與 MDS(共用一組設定)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走 LDAPS 時才需要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傳輸加密:哪些連線要設信任庫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列是 client 端,欄是連到的 server 端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graphicFrame>
        <p:nvGraphicFramePr>
          <p:cNvPr id="2" name="8360ce87-a5bb-4cf3-ab5a-d130e57b585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020649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端 ↓ / server 端 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6f33c5e3-0a21-4a1d-8cec-8e4004d2e5cc"/>
          <p:cNvSpPr/>
          <p:nvPr/>
        </p:nvSpPr>
        <p:spPr>
          <a:xfrm>
            <a:off x="548640" y="5079039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九條連線的 client 端,都匯入同一張 root CA 憑證</a:t>
            </a:r>
            <a:endParaRPr lang="en-US" sz="1250" dirty="0"/>
          </a:p>
        </p:txBody>
      </p:sp>
      <p:sp>
        <p:nvSpPr>
          <p:cNvPr id="7" name="60f157fe-e5f4-4f34-8cb7-9ee61dee63db"/>
          <p:cNvSpPr/>
          <p:nvPr/>
        </p:nvSpPr>
        <p:spPr>
          <a:xfrm>
            <a:off x="548640" y="5605107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補充:人的 CLI、服務、瀏覽器等外部 client 連進來時,也要信任這張 root CA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認證:誰連誰,用什麼機制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連到 broker 與 controller 的五種連線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fb1cf072-406d-45cc-9ea2-61a6121904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444899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連到哪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機制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帳密或憑據在哪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寫在 JAAS 設定的帳號與密碼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 + LDAP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SASL/OAUTHBEARER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先用 client 憑證向 MDS 換 MDS token,再帶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ed29d08e-30f6-4fda-9b07-c1f34ceeec09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前兩列是叢集內部元件互連;後三列是外部連進 broker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授權:MDS 管 RBAC,broker 判斷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RBAC 資料與群組資料都放在同一個 Kafka topic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5</a:t>
            </a:fld>
            <a:endParaRPr lang="zh-TW" altLang="en-US" sz="900"/>
          </a:p>
        </p:txBody>
      </p:sp>
      <p:graphicFrame>
        <p:nvGraphicFramePr>
          <p:cNvPr id="5" name="d1f968ec-aaf7-448a-bbb8-d57b8c67c09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444899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內嵌在 broker 的 HTTP REST 服務,提供 token 簽發與 RBAC 的 API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的 API 被呼叫後,把 RBAC 資訊寫入 Kafka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定期查 AD;使用者與群組的對應有變更時,寫入同一個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用已認證的使用者,從 topic 的資料查出所屬群組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把使用者與群組拿去比對 RBAC 資訊,判斷這個動作有沒有權限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809c790b-e4aa-482c-9e16-69b060a195c5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補充:各 broker 會把 topic 的資料讀進本地快取,授權時查快取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授權:AD 群組對應 RBAC role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人依職責放進 AD 群組;role 綁在群組上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6</a:t>
            </a:fld>
            <a:endParaRPr lang="zh-TW" altLang="en-US" sz="900"/>
          </a:p>
        </p:txBody>
      </p:sp>
      <p:graphicFrame>
        <p:nvGraphicFramePr>
          <p:cNvPr id="2" name="094c74d3-3841-4105-b8f7-5489e4d374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444899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綁定的 role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範圍(scope)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kafka-readonly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Topic:orders. 前綴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只能看 topic、讀資料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kafka-developers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DeveloperRead、DeveloperWrite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Topic:orders. 前綴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讀寫自己負責的 topic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Operator、DeveloperManage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整個叢集;Topic:infra. 前綴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維運:看叢集、建刪 topic;讀不到資料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只管授權;不碰資料、不能建 topic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kafka-admins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全部權限;緊急時才用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cc4e4d26-6925-4bc4-9ae1-4e8e25e0d08c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人員異動只改 AD 群組,Kafka 端不用改;臨時提權:依單據加入群組,做完移出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授權:OP MENU 功能對應 AD 群組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選單只是操作介面;能不能做,由操作者本人的群組決定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7</a:t>
            </a:fld>
            <a:endParaRPr lang="zh-TW" altLang="en-US" sz="900"/>
          </a:p>
        </p:txBody>
      </p:sp>
      <p:graphicFrame>
        <p:nvGraphicFramePr>
          <p:cNvPr id="7" name="702e9e0c-5d82-41e4-b680-9d74589585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241257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功能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需要的 role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readonly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rbac-admins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admins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DeveloperWrite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建立、刪除 topic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DeveloperManage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改 topic 設定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ResourceOwner 或 ClusterAdmin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調整授權(role binding)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32dadeff-768d-4f1a-8a57-b4c6146deaa9"/>
          <p:cNvSpPr/>
          <p:nvPr/>
        </p:nvSpPr>
        <p:spPr>
          <a:xfrm>
            <a:off x="548640" y="5163889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選單以操作者本人的 AD 帳號執行:權限在 Kafka 判斷,audit 看得到是誰</a:t>
            </a:r>
            <a:endParaRPr lang="en-US" sz="1250" dirty="0"/>
          </a:p>
        </p:txBody>
      </p:sp>
      <p:sp>
        <p:nvSpPr>
          <p:cNvPr id="5" name="e0be56c3-af72-4f6d-822c-ed6b8311f9af"/>
          <p:cNvSpPr/>
          <p:nvPr/>
        </p:nvSpPr>
        <p:spPr>
          <a:xfrm>
            <a:off x="548640" y="5672987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不建議:選單背後用一個共用的高權限帳號,再由選單判斷誰能按什麼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 RBAC 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十個內建角色,依「綁在叢集」或「綁在資源」分兩類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8</a:t>
            </a:fld>
            <a:endParaRPr lang="zh-TW" altLang="en-US" sz="900"/>
          </a:p>
        </p:txBody>
      </p:sp>
      <p:sp>
        <p:nvSpPr>
          <p:cNvPr id="2" name="bfc5d106-b5c4-4977-a447-e7a557eb5d73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40" name="52cb5bb9-f5f3-49f4-9a8a-8a16fb983156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1" name="feb235fb-1090-41d3-b20c-d5d3ee02f5bc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83c15073-d672-4e38-8494-b7863c89b612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42" name="91eb05fe-77cc-43b4-b8c8-3d56e13db386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b8d26e37-0b54-4728-ad4a-6671066e7fcc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43" name="aa4eafa5-4255-46df-8a24-506e75badfef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c8883334-2fe4-4806-83f7-9ec3c6df019e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b67d9cd6-d856-417b-a0fe-e979da52a5bb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2630727f-7916-4aa1-b1a0-ab6d964dc0a7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e6ceab9c-6308-473f-aeea-28f1024addfc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828469e8-c5bb-4b62-a321-85c1b463c149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只檢視授權設定,不能改</a:t>
            </a:r>
            <a:endParaRPr lang="en-US" sz="1100" dirty="0"/>
          </a:p>
        </p:txBody>
      </p:sp>
      <p:sp>
        <p:nvSpPr>
          <p:cNvPr id="14" name="ea2d53ea-cfa7-4935-9d95-09f495ce01de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689a2084-8056-47fb-b250-5d924b0f61e7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a829c1de-aae5-4071-91a1-ca1fd32eeb4a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1a9e47ce-b4c8-48f3-8807-56658e272dde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674d0e24-60e7-412e-8b2d-2783406a455e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b606ef41-7542-4e5e-960c-d0d1d4c45eed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b46167ec-8d94-4f5a-b946-f3902bd93612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ed5ed0e4-6566-4ec7-9068-9f5edd7426db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677a4c7d-a093-44e4-b19d-effadffe7e57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3867e644-8757-483a-b6ca-fa779101da6d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fc9a3012-ff83-4067-8970-538e063ba218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501e609a-e57c-4b6a-a13b-c00d3a70a702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aefd6324-3a34-4a28-b2d6-88ec979ffca6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ebfb71a6-9cf4-4d85-b30d-1fb2f41d17b6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ea7ec4ca-69d6-46d5-8fc5-439cbd30aef6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928d1b95-c0f8-483d-ae6e-ae705b06af35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76685789-ef23-4dfe-8e04-622e193c0316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595cea27-e0ae-4b2c-b73d-c0cd4c5e4422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</a:t>
            </a:r>
            <a:endParaRPr lang="en-US" sz="1200" dirty="0"/>
          </a:p>
        </p:txBody>
      </p:sp>
      <p:sp>
        <p:nvSpPr>
          <p:cNvPr id="32" name="2ff6435a-2072-4fea-a117-a06d2b9ff0bc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cc070176-934d-4da5-b6be-2d6719f21844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41716ddc-32df-48c5-a472-f3dfb68a97d6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4c7e3777-d10c-4c1e-ab98-7864b946563e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3c251879-bb3e-4b5c-9da9-dfee017c3bc2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marL="0" indent="0" algn="l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99832399-dd60-4267-8eff-8393a9d23388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本專案的例子</a:t>
            </a:r>
            <a:endParaRPr lang="en-US" sz="1100" dirty="0"/>
          </a:p>
        </p:txBody>
      </p:sp>
      <p:sp>
        <p:nvSpPr>
          <p:cNvPr id="38" name="9a0860ad-b9e1-4b96-a6c1-f5936f204cad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Operator @ 叢集</a:t>
            </a:r>
            <a:endParaRPr lang="en-US" sz="1000" dirty="0"/>
          </a:p>
        </p:txBody>
      </p:sp>
      <p:sp>
        <p:nvSpPr>
          <p:cNvPr id="39" name="a7e405e6-150c-483a-a62e-5ef994fa4665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DeveloperManage @ infra.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與 Kafka 元件交互:總覽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四種交互,認證方式與結果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9</a:t>
            </a:fld>
            <a:endParaRPr lang="zh-TW" altLang="en-US" sz="900"/>
          </a:p>
        </p:txBody>
      </p:sp>
      <p:graphicFrame>
        <p:nvGraphicFramePr>
          <p:cNvPr id="9" name="3d70d42e-f6ec-4b7e-932e-be9befa56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275201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對方做什麼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結果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12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服務帳號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做權限控管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應為 super user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2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認證後,簽發代表元件本身的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元件帶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12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→ 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 Basic 登入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轉給 MDS,由 MDS 向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取得代表本人的 token(見「人 → C3」頁)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12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 → 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向 MDS 做 impersonate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取得代表服務的 token(見「服務 → REST Proxy」頁)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 → C3:登入與之後的請求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登入取得 token;之後依請求類型處理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10</a:t>
            </a:fld>
            <a:endParaRPr lang="zh-TW" altLang="en-US" sz="900"/>
          </a:p>
        </p:txBody>
      </p:sp>
      <p:graphicFrame>
        <p:nvGraphicFramePr>
          <p:cNvPr id="10" name="1fec6834-5228-4d0e-94a5-d6095a90eae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247761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7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Basic(AD 帳號密碼)登入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Basic 資訊轉給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AD 驗證,回傳代表本人的 MDS token(放在回應的 cookie)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放在回應的 cookie,交給瀏覽器保存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之後發請求給 C3 時帶著這個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9" name="84c2abb8-ba63-4bd6-9c2f-b60060257c8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32361"/>
          <a:ext cx="11091672" cy="157820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收到請求後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token 怎麼處理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2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請求要與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轉給 MDS,由 MDS 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2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請求不與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用 MDS 的公鑰在本地驗證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2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操作與 broker 有關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帶這個 MDS token 與 broker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 → REST Proxy:憑證換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憑證的 CN 就是服務帳號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11</a:t>
            </a:fld>
            <a:endParaRPr lang="zh-TW" altLang="en-US" sz="900"/>
          </a:p>
        </p:txBody>
      </p:sp>
      <p:graphicFrame>
        <p:nvGraphicFramePr>
          <p:cNvPr id="11" name="10d94186-7f3c-477e-9184-97e328f77c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105501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mTLS 連 REST Proxy,提供 client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取出服務憑證的 CN,當作服務帳號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MDS 做 impersonate,取得代表這個服務的 MDS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帶這個 MDS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1442c7e6-05f0-41fa-876d-4e2b624c3e68"/>
          <p:cNvSpPr/>
          <p:nvPr/>
        </p:nvSpPr>
        <p:spPr>
          <a:xfrm>
            <a:off x="548640" y="5079039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補充:第 3 步 REST Proxy 是用自己的 client 憑證向 MDS 認證,再代服務申請 token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6279918-8EC7-4ECB-A798-E15F186ABB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E66D0B-AA1B-4EED-A6EC-86D221198F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643090-462e-4483-8fee-104e11aaa7c6"/>
    <ds:schemaRef ds:uri="81fbc0a5-bf19-4add-b132-07e20741ab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6D8F05-3EF5-4272-8592-C532046A55F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6649</TotalTime>
  <Words>3131</Words>
  <Application>Microsoft Office PowerPoint</Application>
  <PresentationFormat>寬螢幕</PresentationFormat>
  <Paragraphs>292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微軟正黑體</vt:lpstr>
      <vt:lpstr>Aptos</vt:lpstr>
      <vt:lpstr>Arial</vt:lpstr>
      <vt:lpstr>Arial Black</vt:lpstr>
      <vt:lpstr>Wingdings</vt:lpstr>
      <vt:lpstr>Office 佈景主題</vt:lpstr>
      <vt:lpstr>Kafka 安全整理</vt:lpstr>
      <vt:lpstr>傳輸加密:要準備的憑證與信任庫</vt:lpstr>
      <vt:lpstr>傳輸加密:哪些連線要設信任庫</vt:lpstr>
      <vt:lpstr>認證:誰連誰,用什麼機制</vt:lpstr>
      <vt:lpstr>授權:MDS 管 RBAC,broker 判斷</vt:lpstr>
      <vt:lpstr>授權:AD 群組對應 RBAC role</vt:lpstr>
      <vt:lpstr>授權:OP MENU 功能對應 AD 群組</vt:lpstr>
      <vt:lpstr>Confluent 內建 RBAC 角色與 scope</vt:lpstr>
      <vt:lpstr>與 Kafka 元件交互:總覽</vt:lpstr>
      <vt:lpstr>人 → C3:登入與之後的請求</vt:lpstr>
      <vt:lpstr>服務 → REST Proxy:憑證換 token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user</cp:lastModifiedBy>
  <cp:revision>93</cp:revision>
  <dcterms:created xsi:type="dcterms:W3CDTF">2025-04-18T08:33:56Z</dcterms:created>
  <dcterms:modified xsi:type="dcterms:W3CDTF">2026-10-05T07:08:42Z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