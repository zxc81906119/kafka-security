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97aa470e-6f9c-b5c1-0841-0c44039e33b8}">
          <p14:sldIdLst>
            <p14:sldId id="256"/>
          </p14:sldIdLst>
        </p14:section>
        <p14:section name="客戶前提與設計原則" id="{48b9f316-7f61-2956-6ae4-761921420fd3}">
          <p14:sldIdLst>
            <p14:sldId id="257"/>
            <p14:sldId id="258"/>
            <p14:sldId id="259"/>
            <p14:sldId id="260"/>
          </p14:sldIdLst>
        </p14:section>
        <p14:section name="逐項介紹" id="{c3d1807e-ce7c-81e5-bef6-a6daeb530a45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整合起來" id="{6fb83f20-2074-63c4-5c2a-5b2ec9683442}">
          <p14:sldIdLst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封面。客戶前提:RHEL 9 手動部署、AD 只有 user 與 group。範圍:Kafka(含 controller 與 MDS RBAC)、REST Proxy、Control Center。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六個前提:AD 只有 user/group(沒有服務帳號);希望憑證數量越少越好(設計上共用一組 server 憑證);RHEL 9 手動部署、尚無 Ansible;legacy app 只能 HTTP;權限要依職責分層(不同職責不同權限,唯讀只是其中一層;做法是 AD 群組 + RBAC);範圍限於 Kafka、REST Proxy、C3。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核心主張:AD 管人,Kafka 管機器。人與服務用不同的身分來源,但授權都集中在 MDS 的 RBAC。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前四格(藍)是 Confluent 的組件:Controller、Broker、REST Proxy、Control Center;後面(紫)是貫穿全案的安全機制,最後是整合與導入。MDS 是 Broker 內建的服務,不是獨立組件。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server 端共用一組 PK+憑證,SAN 要涵蓋所有組件對外連線的網域/IP;客戶內部 CA 簽發。client 只需 truststore。需要 client 憑證的是平台元件(c3、restproxy、bootstrap)與經 REST Proxy 的 legacy app。第 8 章實測:共用憑證當 client 身分,MDS 看到的主體都一樣。另外實測發現:MDS 設 REQUESTED 時會要求 client 憑證,C3 內部有一個用共用 keystore 的 HTTP 客戶端(查叢集 ID)會自動出示共用憑證,MDS 日誌的主體是 kafka.demo.local;所以這個身分一律不綁 role,且共用憑證不要收斂 EKU(收斂後這些呼叫會被拒)。AD 的 LDAPS CA root(信任庫放的是簽發 LDAPS 憑證的 CA 憑證,不是 AD 伺服器自己的憑證;若 LDAPS 憑證由中繼 CA 簽發且 AD 只送出自己的憑證、不附完整鏈,中繼 CA 也要匯入,此情況未實測):官方 MDS-LDAP 頁用 ldap.java.naming.security.protocol=SSL 與 ldap.ssl.truststore.*;實測 broker 不設信任庫時 PLAIN+LDAP 登入與群組同步都失敗(PKIX path building failed),加上後恢復;只有連 AD 的 JVM(broker 的 PLAIN+LDAP listener 與 MDS,同一批 broker,一份 ldap.ssl.truststore.* 設定即可)需要,controller、C3、REST Proxy 不連 AD。輪替(已在單節點實驗實測,見下一頁):CA 不變只換 server 憑證 → 只換 keystore;CA 根換新但金鑰不變 → truststore 新增新 root、舊的到期前移除;CA 換金鑰 → 先讓所有 truststore(server 與 client 兩邊)同時信任新舊 root,再用新 CA 重簽 server 憑證與 client 憑證(c3、restproxy、bootstrap、各 legacy app),確認後移除舊 root。有中繼 CA 時 keystore 要帶完整鏈。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憑證更換實驗(demo/spike/cert-rotation,單節點 Kafka、SSL listener 要求 client 憑證,可動態換 keystore/truststore):T1 只換 server 憑證(同 CA、新金鑰):用 kafka-configs 動態更新 listener.name.ssl.ssl.keystore.location,不重啟,client 設定完全不動仍通過(動態更新只涵蓋 Kafka listener;在 demo 實測 MDS 8091 埠不會跟著換,broker 仍要重啟,REST Proxy、C3 本來就要重啟,所以本方案以 rolling restart 為主,動態更新價值有限)。T4 根憑證用同一把金鑰重新簽發:client 信任庫只放新根、server 信任庫換成新根,舊的 server 與 client 憑證都照常通過。T2 CA 換金鑰且順序錯(先換 server 憑證、client 信任庫仍是舊根):client 出現 PKIX path building failed;還原後恢復。T3 正確順序:①server 與 client 信任庫先放新舊兩個根(舊 client 憑證與新舊 server 憑證都通過)→②換 server 憑證→③重簽 client 憑證(新 CA)→④移除舊根:新 client 憑證通過,尚未重簽的舊 client 憑證被拒。未驗證:長駐 client 是否需要重啟才會重新載入信任庫(以每次新啟動的 client 模擬);有中繼 CA 的情況。MDS / REST Proxy / C3 換憑證需要重啟:已在 demo 全元件演練實測(換檔不重啟,各埠仍出示舊憑證),見下一頁;這些元件有沒有不重啟的動態重載方式未驗證。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在實際 demo 環境(demo/spike/cert-rotation/rotate-demo.sh,log 為 rotate-demo.log)用「新根 CA2(新金鑰)」演練整套更換:階段 1:信任庫換成 {CA1,CA2},controller、broker1、broker2、REST Proxy、C3 全部重啟。階段 2:server 憑證換成 CA2 簽發;檔案換好、尚未重啟時,controller 9093、broker 9094 與 MDS 8091、REST Proxy 8086、C3 9022 仍出示舊憑證;依序重啟後全部變成新簽發者;過程中包含 controller 與 broker1 已換、broker2 還沒換的混合狀態,Kafka 人員登入、MDS 登入、REST Proxy(人與 legacy 憑證)、C3 網頁皆正常。階段 3:client 憑證(c3、restproxy、bootstrap、legacy-orders)用新根重簽,CN 不變所以 RBAC 不用重綁;REST Proxy、C3 重啟(換了檔案要重啟才載入;其實舊憑證在移除舊根前仍有效,階段 3 就重啟是為了在移除舊根之前先驗證新憑證,出問題還能回頭);controller 與 broker 沒有 client 憑證所以不用;legacy app 與 bootstrap 是直接讀檔,換檔即生效;新舊根並存期間,舊 CA 簽發的 legacy 憑證仍被接受。階段 4:信任庫只留新根,全部重啟;舊 CA 簽發的 legacy 憑證被拒(TLS 握手失敗),仍只信任舊根的 client 連不上新憑證。順序的依據:Confluent for Kubernetes 憑證管理文件的 CA 輪替流程是「步驟為主」:先更新所有元件的信任庫、確認每個元件都有新舊兩個 CA,再更新憑證;每個元件 rollout 完成才繼續。不是「一個元件做完全部步驟再換下一個」(那樣會在其他元件還沒信任新根時就出示新憑證)。也不是「一個步驟同時重啟全部」:每個步驟內逐個元件、逐台 rolling。該文件沒有規定元件之間的順序;本頁的 controller → broker(一次一台)→ REST Proxy → C3 是參考官方升級文件的順序(KRaft controller 先、broker 次之、Control Center 最後),不是憑證輪替文件的明文規定。注意:本頁以「重啟」載入為準,這也是官方的建議做法:Confluent for Kubernetes 憑證管理文件寫「Always renew truststores for all components before renewing certificates」、驗證每個元件信任庫都有新舊兩個 CA、「Wait for each component’s rollout to complete before proceeding」、先在非正式環境演練。動態載入是選項:官方 dynamic config 頁說 Kafka 的 keystore / truststore 可用 listener 前綴動態更新、只影響新連線(inter-broker listener 要求新 keystore 被該 listener 信任庫信任);CFK 文件的動態憑證載入只涵蓋 Kafka 與 Kafka REST、且只到個別 listener。Kafka 的 listener keystore / truststore 可用 kafka-configs 動態更新、不用重啟 JVM(單節點實驗實測),這不是 rolling restart;但 demo 全元件演練沒有使用動態更新,MDS 埠(Jetty)、REST Proxy、C3 是否能不重啟載入新憑證未驗證。正式環境有 3 個 controller,需逐台重啟以維持 quorum;demo 只有 1 個 controller,多 controller 搭配 TLS 與 RBAC 的滾動重啟未驗證。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官方:SCRAM overview 頁說 KRaft controller 之間不支援 SCRAM、broker→controller 可用;但 KRaft security 頁的寫法不同,官方文件間不一致,實測 3 個 controller 用 SCRAM-SHA-512:互相認證失敗(Invalid user credentials)、選不出 leader,與 SCRAM overview 頁一致(推測原因:SCRAM 憑證存放在 metadata log,quorum 還沒形成就無法驗證,此為推測)。主 demo 僅 1 個 controller;另以獨立實驗(spike/multi-controller:3 controller + 1 broker,SASL_PLAINTEXT)驗證 PLAIN:三個 voter 組成 quorum,停掉 leader 後重新選舉、重啟後回到 follower 無 lag,未驗證搭配 TLS / RBAC。另:官方 MDS 設定頁說 RBAC 下 controller 應設 confluent.metadata.server.kraft.controller.enabled=true,且只有 MDS writer broker 連 LDAP;本專案原以為 controller 需要 ldap.*,重建環境後重測已推翻:無 LDAP 的 controller 仍能依群組授權(ch11 通過),現採官方設定。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人用 SASL/PLAIN,broker 把帳密交給 LDAP(AD)驗證密碼;登入時不查群組,群組由 MDS writer 定期從 AD 同步,授權時依帳號名稱查本地快取(實測);服務用 SCRAM;平台元件用 OAUTHBEARER(MDS token)。INTERNAL 埠的使用者:broker 間用 kafka-broker;controller 連 broker(讀 RBAC 資料、audit 匯出)用 kafka-controller,皆為 SCRAM 與 super user。LDAP callback 不用在 inter-broker:客戶 AD 沒有服務帳號,官方也不建議 PLAIN + LDAP。INTERNAL 埠只是另一個 SASL 埠,任何有效 SCRAM 帳號都能「認證」進去(授權仍生效),所以必須用防火牆限制。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官方:MDS 在異動 RBAC 時把最新資訊寫入 topic,broker 讀取後 cache 在本地授權;群組同步只有 MDS writer broker 週期性向 LDAP 取(實測:LDAP 日誌同一時間只有 writer 查詢,broker2 重啟後 writer 換成 broker1;writer 把使用者→群組寫進 _confluent-metadata-auth,內容含 RoleBinding、User(群組對照)、Status(writerBrokerId),其他 broker 消費該 topic 更新本地快取;leader 在非 writer 的 partition 上,加入群組 3 秒內生效、移出約 6 秒)。注意:使用者認證(MDS 以使用者帳密 bind、CLIENT 埠 PLAIN+LDAP callback)由各 broker 自己連 AD,所以 AD 防火牆來源要涵蓋所有 broker(controller 不需要 LDAP 設定,實測)。客戶前提:需要 AD 唯讀查詢帳號(bind DN,只讀 user/group OU,建議 LDAPS);使用者密碼由 simple bind 以使用者自己的 DN 驗證。token:平台元件(C3、REST Proxy 自己的工作)由 client 函式庫重新換 token,不需人工;人用 C3 登入有 6 小時上限,到期重新登入;實測從 AD 刪除使用者後,已簽發 token 仍可呼叫 MDS(200),Basic 重新登入回 401,離職流程要考慮最長一個 token 壽命的空窗(demo 設 1 小時;設定 confluent.metadata.server.token.max.lifetime.ms)。writer 是什麼:MDS 內嵌在多台 broker,但同一時間只有一台 broker 擔任 writer(RBAC topic 的 Status 記錄會寫 writerBrokerId 與 generationId;實測 broker2 重啟後 writer 由 broker2 換成 broker1)。實測 LDAP 日誌:群組搜尋只由 writer 發出,結果寫進 RBAC topic,其他 broker 消費該 topic 更新快取。writer 的挑選方式與角色綁定寫入是否一律經過 writer,未驗證。人登入的 LDAP 流程(實測,PLAIN+LDAP 與 MDS Basic 皆相同):先用唯讀 bind 帳號搜尋使用者取得完整 DN,再用使用者自己的 DN 與密碼做一次 simple bind,成功即密碼正確,然後斷線。MDS 的 Bearer 是 MDS 自己簽發的 token(JWT),不是外部 OAuth2 token;Kafka 的 OAUTHBEARER 只是攜帶這個 token 的機制名稱。機器 / 平台元件以 client 憑證向 MDS 認證(MDS 設 REQUESTED,所以人 Basic 與機器憑證可並存),憑證 CN 經對映規則成為主體,只能用 User: 綁 role(官方 mTLS RBAC 頁:憑證主體不支援群組授權);REST Proxy 另可用自己的憑證代機器呼叫 /impersonate 申請 token(需列入 impersonation super users)。MDS 簽發的 token 不含群組:實測 yujie、gary 的 token 只有 jti、iss、sub、exp、iat、nbf、azp、auth_time;PLAIN+LDAP 登入也只驗證密碼、不查群組。授權時 broker 用主體名稱查 writer 同步進 RBAC topic 的群組對照快取(實測:只綁 Group:kafka-developers,yujie 不需任何個別設定就能讀取;移除綁定即被拒),所以才需要 writer 定期向 AD 同步。官方文件對 MDS 自簽 token 是否含群組沒有說明,以上為實測觀察。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權限放在 Kafka(RBAC + AD 群組);維運選單/腳本只是操作介面,以操作者本人身分執行。DeveloperManage 不能改 topic 設定;要改設定需 ResourceOwner 或 ClusterAdmin(叢集範圍、無讀寫)。UserAdmin 理論上可替自己授權,人數最少、臨時提權、audit 必看。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角色與範圍來自本 demo 的 MDS(GET /security/1.0/roles)實際回傳:叢集範圍(scopeType=Cluster):SystemAdmin、UserAdmin、ClusterAdmin、Operator、SecurityAdmin、AuditAdmin;資源範圍(scopeType=Resource):ResourceOwner、DeveloperRead、DeveloperWrite、DeveloperManage。權限細節為本專案實測:DeveloperManage 不能 AlterConfigs;ClusterAdmin 可改 topic 設定但不能讀寫;Operator 不能建 topic;IdempotentWrite 只包含在 DeveloperWrite / ResourceOwner。scope 的意思:role binding 綁在「哪個叢集」(叢集範圍角色),或綁在叢集內「哪個資源」(資源類型 + 名稱 + LITERAL / PREFIXED)。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服務身分用 SASL/SCRAM-SHA-512,不放 AD(AD 沒有服務帳號)。SCRAM 的缺點是密碼無自動到期,所以配套:密碼庫與輪替流程。輪替做法(同帳號直接改密碼):①新密碼先存入密碼庫,用 bootstrap 的 SCRAM 身分執行 kafka-configs --alter --add-config SCRAM-SHA-512=[password=新密碼] --entity-type users --entity-name 帳號;②立刻讓每個 client 換成新密碼並重啟或重新載入;③用新密碼設定檔連線,確認沒有 SaslAuthenticationException 且授權正常(帳號名稱不變,RBAC 綁定不用重綁);④用舊密碼確認已被拒;出問題時再執行一次 kafka-configs 把密碼改回舊的。實測:對同一帳號同一機制再設一次密碼會直接取代,舊密碼對新連線立即失效;已連線的 client 在 Kafka 端改密碼後不受影響(45 秒後仍送出訊息,無認證錯誤),因為密碼是在連線建立時驗證。風險:在 client 換新密碼之前,任何重新連線(應用重啟、broker 重啟、leader 轉移、閒置斷線)都會失敗,所以改完要立刻換 client;若設定了 connections.max.reauth.ms(定期重新認證),已連線的 client 也會在重新認證時失敗(demo 未設定,未實測)。kafka-configs 的密碼在指令列,可能留在 shell 歷史或被 ps 看到,導入時要留意。官方(SCRAM overview 頁):SCRAM 憑證儲存在 KRaft,適用於 KRaft 位於私有網路的環境;SCRAM 只應搭配 TLS 使用。該頁沒有說明 SCRAM 密碼輪替流程,本頁的做法是依實測與客戶條件(通常不改帳號名稱)選擇。需要完全沒有風險窗口的服務,可改用新帳號並行(ch09 實測,新帳號要重綁 role),細節見 SPIKE-FINDINGS。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上一頁是預設做法:同帳號直接改密碼,client 只改密碼,role binding 不動;缺點是 client 換好之前重新連線會失敗(已連線的不受影響,實測)。新帳號並行用在不能承受任何失敗窗口的服務:建立新帳號並重綁相同 role,client 改帳號與密碼並逐步切換,全部切完後刪舊帳號與舊 binding(ch09 實測;RBAC 綁的是主體名稱,所以新帳號必須重綁)。代價:每次輪替 client 都要改帳號名稱並重啟,所以不建議作為日常輪替。官方:CFK 認證管理文件對內部帳號與 MDS 的 LDAP bind 帳號的輪替使用新舊並行,該文件沒有涵蓋 SCRAM;Apache Kafka 與 Confluent 的 SCRAM 文件都沒有說明密碼輪替流程,所以兩種做法都是依實測與客戶條件做的選擇。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REST Proxy 是中心:它向 MDS 要 token,再帶 token 以 OAUTHBEARER 連 broker(MDS 不呼叫 broker),broker 用 MDS 公鑰驗章、以 sub 為主體授權。機器五步:legacy app 出示 client 憑證 → REST Proxy 依對映規則得到主體 → REST Proxy 用自己的憑證(CN=restproxy)向 MDS 認證並呼叫 /impersonate → MDS 回 sub=app、cp_proxy=restproxy 的 token → REST Proxy 以 OAUTHBEARER 連 broker。人 Basic 進入,REST Proxy 把帳密轉給 MDS 驗證換 token(沒有 /impersonate);機器出示 client 憑證,REST Proxy 用 AuthenticationHandler 把 DN 對映成主體,再以 restproxy 自己的憑證呼叫 MDS /impersonate 取得該主體的 token。客戶前提:人沒有 client 憑證、機器需要憑證,兩者必須並存,所以設 REQUESTED(官方 AuthenticationHandler 範例是 REQUIRED、純 mTLS);人機並存的組合為本專案實測驗證。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登入時瀏覽器第一個呼叫帶 Basic(C3 代轉 MDS),之後都帶 Bearer;同時有 HttpOnly auth_token cookie,伺服器優先看 Bearer。C3 自己的 API(例如 /2.0/clusters/kafka)在本地用 MDS 公鑰驗章:偽造或沒有簽章的 token,C3 直接回 401,MDS 的請求日誌(io.confluent.rest-utils.requests)沒有任何對應請求;有效 token 才會再以使用者 token 呼叫 MDS 查可見範圍(lookup/.../visibility)。但經 C3 轉給 MDS 的路徑(/api/metadata/security/1.0/...,例如在 C3 改 role binding)C3 不先驗章:同樣的偽造 token 會被轉給 MDS,由 MDS 回 401(實測,2026-10-05)。所以在 C3 改 role binding 時,驗證 token 的是 MDS。登入 session 上限由 confluent.controlcenter.auth.bearer.token.max.lifetime.ms 控制(官方:預設 6 小時、上限 24 小時、須不小於 MDS 的 token 壽命)。C3 自己的背景工作用 c3 憑證換 token,拿掉 SystemAdmin 後 Streams/license 立即授權失敗,約 1 分鐘後容器退出(實測)。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C3 next-gen 需要 Prometheus 與 Alertmanager 另外部署。官方支援 C3 與它們之間的 TLS + HTTP Basic(7.5 以後)與 mTLS。本頁是在 demo 實測啟用 TLS + Basic 的結果(spike/c3-monitoring-tls,用 override 檔啟用,帳密為 demo 測試值):①broker 推指標:telemetry exporter 的 base url 改 https,api.key / api.secret 就是 Prometheus 的 Basic 帳密,另設信任庫(confluent.telemetry.exporter.&lt;名稱&gt;.https.ssl.truststore.*);實測 Prometheus 的 OTLP 端點回 200,兩台 broker 的指標都進來。未更新的 broker 仍用 HTTP,Prometheus 日誌是 client sent an HTTP request to an HTTPS server。②Prometheus 送告警給 Alertmanager:必須在 Prometheus 的設定檔 alerting 區段設 scheme: https、basic_auth、tls_config.ca_file;官方 TLS + Basic 頁沒有寫這一段,對照實測:沒設時日誌是 Error sending alerts … bad response status 400,Alertmanager 一筆都沒收到;設了之後測試告警送達。③C3 查 Prometheus:confluent.controlcenter.prometheus.url 改 https、ssl.truststore.*、basic.auth.user.info;實測 C3 總覽畫面有指標、查詢計數持續增加(PKCS12 信任庫可用)。④C3 連 Alertmanager:alertmanager.url 改 https + 同樣兩項;C3 的狀態 API 回 ONLINE,故意改錯密碼則變 OFFLINE。web-config 檔(Prometheus --web.config.file):tls_server_config 放共用 server 憑證與私鑰,basic_auth_users 放 bcrypt 雜湊(htpasswd -B 可產生)。共用 server 憑證的 SAN 原本沒有 prometheus 與 alertmanager,openssl 驗證主機名稱 prometheus 回 hostname mismatch;用同一把 key、同一個 CA 重簽、SAN 補上這兩個名稱後通過,所以導入時共用憑證的 SAN 要涵蓋 Prometheus 與 Alertmanager 的主機名稱。未啟用時(demo 預設)實測:不帶憑證可讀指標,Alertmanager 可無認證建立與刪除靜音;啟用後,無帳密與錯誤密碼都是 401,無帳密建立靜音也是 401。C3 畫面建立 trigger 與 email action 已實測:C3 把 trigger 寫成 Prometheus 規則檔(trigger_rules-generated.yml)並通知 Prometheus 重新載入,由 Prometheus 評估並送告警給 Alertmanager;action 寫進 alertmanager-generated.yml(receiver 與依 alertname 的路由),再對 Alertmanager 發 POST /-/reload(帶 Basic),實測重新載入成功、Alertmanager 執行中的設定出現新 receiver。C3 沒有靜音功能(告警區只有 Overview、History、Triggers、Actions),靜音只能直接對 Alertmanager 的 API 操作。C3 的 INFO 日誌會印出請求標頭,包含 Authorization: Basic(Base64 解開即帳密),日誌檔需要保護。未驗證:C3 建立的 trigger 實際觸發並寄出通知(demo 用假的 SMTP)、mTLS 做法、confluent.controlcenter.*.alias.name 的作用(本實測沒設也能運作)。demo 映像的 Prometheus 設定檔是靜態檔,實際安裝套件是否由 C3 自動產生 alerting 設定,未驗證。沒有 Schema Registry 時,C3 預設連 localhost:8081,把 schema.registry.enable 設為 false 可關閉該連線。 為什麼用 Basic 不用 mTLS:官方兩種都支援(TLS + Basic 自 7.5,另有 mTLS 設定頁);依客戶前提(憑證越少越好),mTLS 要替 broker、C3、Prometheus、Alertmanager 各發 client 憑證,Basic 只要帳號密碼,所以選 Basic;帳密的代價見下。防火牆:Prometheus 9090 要開給 broker(推指標)與 C3;Alertmanager 9093 要開給 C3 與 Prometheus(送告警);這四條以外不用開。新增的要管理項目:Prometheus 與 Alertmanager 各一組 Basic 帳密(demo 用同名 c3),bcrypt 雜湊在 web-config,明文放在 broker 設定(api.secret)與 C3 設定(basic.auth.user.info),輪替流程未驗證,應列入「要管理的憑證與帳號」清單;共用 server 憑證的私鑰也要放到 Prometheus 與 Alertmanager 的主機,私鑰的存放處變多,外洩風險範圍變大。Basic 沒有唯讀與寫入的分級:broker、C3 查指標、C3 重載規則都用同一組帳密(官方也沒有提供分級)。未驗證:KRaft controller 是否也要設 telemetry exporter(demo 的 controller 沒設,正式環境有 3 個 controller)、Prometheus 與 Alertmanager 更換共用憑證時是否要重啟、email 告警帶 SMTP 帳密時帳密如何寫進 alertmanager-generated.yml、帶 Basic 的使用者能否呼叫 Prometheus 的 /-/quit(映像啟動時有開 --web.enable-lifecycle)、人用瀏覽器直接開 Prometheus 或 Alertmanager 網頁的體驗。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官方預設:Management 與 Authorize 兩類事件(含 allowed/denied);produce、consume、describe、interbroker、heartbeat 預設關閉。本 demo 用自訂 router 開啟資料面事件。實測:只有 DeveloperRead 的 ming produce 被拒(叢集層級 IdempotentWrite,官方歸 PRODUCE 類 kafka.InitProducerId),audit 查不到,原因未明;本 demo 的 router 只排除 kafka-broker 與 kafka-controller 兩個內部身分,c3 不排除(曾觀察到記錄 allowed 事件時 C3 每幾秒產生 ListOffsets/OffsetFetch 而洗版審計 topic;現行 router 不記被允許的 consume)。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全景:人經 C3、REST Proxy 或 CLI 進入;機器經 SCRAM 直連或 client 憑證經 REST Proxy;所有身分的授權由 MDS 的 RBAC 集中判斷,broker 本地 cache。群組同步由 MDS writer broker 負責;使用者認證(MDS Basic、CLIENT 埠 PLAIN+LDAP)由各 broker 連 AD,AD 防火牆來源要涵蓋所有 broker(controller 不需要 LDAP 設定,實測)。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人的三條路徑:C3(Basic→token→Bearer)、CLI 直連 broker(SASL/PLAIN + LDAP callback)、REST Proxy(Basic 轉 MDS 換 token)。授權都依 AD 群組。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機器三條路徑:應用用 SCRAM 直連;legacy app 用 client 憑證經 REST Proxy;平台元件(C3、REST Proxy)用 client 憑證向 MDS 換 token。憑證身分只能綁 User:,不能綁群組。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憑證最少化:1 組 server 憑證 + c3、restproxy 兩張長期 client 憑證 + 1 張備用(bootstrap)。legacy app 的憑證可省,前提是客戶能建專用 AD 帳號(非真人)讓 app 走 Basic。另需保管:MDS token 簽章金鑰對(私鑰在 MDS broker 與 controller、公鑰在 broker / REST Proxy / C3,外洩可偽造 token,輪替流程未驗證)、內部帳號 kafka-broker / kafka-controller(SCRAM 與 PLAIN 靜態帳號,輪替流程未驗證)、AD LDAPS CA root 信任庫。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順序:憑證與 truststore → controller(kafka-storage format --add-scram,須在 broker 啟動前)→ broker + MDS + LDAP → 以 bootstrap 憑證建立第一批 role binding(管理權交給 AD 群組 kafka-admins)→ REST Proxy、C3、Prometheus/Alertmanager → audit 路由與驗證。實測教訓:改共用設定時 docker 連動重建 controller,逾時強殺留下空 KRaft snapshot,controller 重啟後遺失 SCRAM 憑證,broker 無法啟動。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六個主要風險與對策。前兩項是平台元件憑證的風險(c3 憑證=管理員、restproxy 憑證可代人),都是實測發現。第三項:共用 server 私鑰外洩可偽裝伺服器,也能以共用身分向 MDS 認證(該身分不綁 role,無權限);MDS token 簽章私鑰外洩可偽造任何人的 token,其輪替流程未驗證。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Postman cookie 陷阱(SPIKE 實測):MDS 驗證成功後回 auth_token cookie,cookie 優先於 Basic;同一 Postman session 換身分仍以前一人執行,實測 yujie 曾以 gary 身分新增 role binding。群組移出延遲:ldap.refresh.interval.ms 官方預設 60000;已簽發 token:實測刪除 AD 帳號後,舊 token 到期前仍可呼叫 MDS,Basic 重新登入回 401;token 路徑下授權是否依現在群組未測。多 controller:官方 SCRAM overview 與 KRaft security 頁說法不一致;3 個 controller 間 SASL/PLAIN 已用獨立實驗驗證(機制)。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如實呈現:左邊是 demo 已實跑驗證的項目;右邊是尚未驗證或需在客戶環境確認的項目。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請客戶確認的八件事。第 3 項決定 legacy app 要不要 client 憑證;第 2 項決定 Kafka 憑證如何簽發與散佈;第 7 項:官方 ldap.retry.timeout.ms 預設 24 小時,LDAP 持續失敗超過這段時間授權器會被標為失敗,所以 AD 要有多台 DC;第 8 項:LDAPS 的 CA 要匯入 broker 的信任庫,若由中繼 CA 簽發且 AD 不附完整鏈,中繼 CA 也要匯入。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22960" y="2011680"/>
            <a:ext cx="76809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8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822960" y="3657600"/>
            <a:ext cx="76809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520440"/>
            <a:ext cx="10515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>
                    <a:alpha val="50000"/>
                  </a:schemeClr>
                </a:solidFill>
              </a:rPr>
              <a:t>Confluent Platform 安全解決方案 · 草稿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image" Target="../media/image-13-13.png"/><Relationship Id="rId14" Type="http://schemas.openxmlformats.org/officeDocument/2006/relationships/image" Target="../media/image-13-14.png"/><Relationship Id="rId15" Type="http://schemas.openxmlformats.org/officeDocument/2006/relationships/image" Target="../media/image-13-15.png"/><Relationship Id="rId16" Type="http://schemas.openxmlformats.org/officeDocument/2006/relationships/image" Target="../media/image-13-16.png"/><Relationship Id="rId17" Type="http://schemas.openxmlformats.org/officeDocument/2006/relationships/image" Target="../media/image-13-17.png"/><Relationship Id="rId18" Type="http://schemas.openxmlformats.org/officeDocument/2006/relationships/image" Target="../media/image-13-18.png"/><Relationship Id="rId19" Type="http://schemas.openxmlformats.org/officeDocument/2006/relationships/image" Target="../media/image-13-19.png"/><Relationship Id="rId20" Type="http://schemas.openxmlformats.org/officeDocument/2006/relationships/image" Target="../media/image-13-20.png"/><Relationship Id="rId21" Type="http://schemas.openxmlformats.org/officeDocument/2006/relationships/slideLayout" Target="../slideLayouts/slideLayout4.xml"/><Relationship Id="rId2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image" Target="../media/image-30-6.png"/><Relationship Id="rId7" Type="http://schemas.openxmlformats.org/officeDocument/2006/relationships/image" Target="../media/image-30-7.png"/><Relationship Id="rId8" Type="http://schemas.openxmlformats.org/officeDocument/2006/relationships/image" Target="../media/image-30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201168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TW" altLang="en-US" sz="3800" b="1" dirty="0">
                <a:solidFill>
                  <a:schemeClr val="tx2"/>
                </a:solidFill>
              </a:rPr>
              <a:t>Confluent Platform 安全解決方案</a:t>
            </a:r>
            <a:endParaRPr lang="zh-TW" sz="3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22960" y="36576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800" dirty="0">
                <a:solidFill>
                  <a:schemeClr val="tx1"/>
                </a:solidFill>
              </a:rPr>
              <a:t>依客戶前提設計:AD 僅有 user / group · 共用單一 server 憑證 · RHEL 9 手動部署</a:t>
            </a:r>
            <a:endParaRPr lang="zh-TW" sz="1800" dirty="0"/>
          </a:p>
        </p:txBody>
      </p:sp>
      <p:sp>
        <p:nvSpPr>
          <p:cNvPr id="4" name="Shape 2"/>
          <p:cNvSpPr/>
          <p:nvPr/>
        </p:nvSpPr>
        <p:spPr>
          <a:xfrm>
            <a:off x="8778240" y="1463040"/>
            <a:ext cx="1371600" cy="1371600"/>
          </a:xfrm>
          <a:prstGeom prst="roundRect">
            <a:avLst>
              <a:gd name="adj" fmla="val 45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2" y="1764792"/>
            <a:ext cx="768096" cy="76809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332720" y="2286000"/>
            <a:ext cx="1097280" cy="1097280"/>
          </a:xfrm>
          <a:prstGeom prst="roundRect">
            <a:avLst>
              <a:gd name="adj" fmla="val 45000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4122" y="2527402"/>
            <a:ext cx="614477" cy="614477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052560" y="3200400"/>
            <a:ext cx="1097280" cy="1097280"/>
          </a:xfrm>
          <a:prstGeom prst="roundRect">
            <a:avLst>
              <a:gd name="adj" fmla="val 45000"/>
            </a:avLst>
          </a:prstGeom>
          <a:solidFill>
            <a:schemeClr val="accent3">
              <a:alpha val="1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3962" y="3441802"/>
            <a:ext cx="614477" cy="614477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10424160" y="3840480"/>
            <a:ext cx="914400" cy="914400"/>
          </a:xfrm>
          <a:prstGeom prst="roundRect">
            <a:avLst>
              <a:gd name="adj" fmla="val 45000"/>
            </a:avLst>
          </a:prstGeom>
          <a:solidFill>
            <a:schemeClr val="accent5">
              <a:alpha val="15000"/>
            </a:schemeClr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5328" y="4041648"/>
            <a:ext cx="512064" cy="512064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822960" y="5120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dirty="0">
                <a:solidFill>
                  <a:schemeClr val="tx1">
                    <a:alpha val="62000"/>
                  </a:schemeClr>
                </a:solidFill>
              </a:rPr>
              <a:t>範圍:Kafka(broker / controller / MDS)· REST Proxy · Control Center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chemeClr val="tx1">
                    <a:alpha val="62000"/>
                  </a:schemeClr>
                </a:solidFill>
              </a:rPr>
              <a:t>草稿 v0.1 — 待調整後套用公司模板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TW" altLang="en-US" sz="3800" b="1" dirty="0">
                <a:solidFill>
                  <a:schemeClr val="bg1"/>
                </a:solidFill>
              </a:rPr>
              <a:t>客戶前提與設計原則</a:t>
            </a:r>
            <a:endParaRPr lang="zh-TW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520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800" dirty="0">
                <a:solidFill>
                  <a:schemeClr val="bg2"/>
                </a:solidFill>
              </a:rPr>
              <a:t>先把限制說清楚,方案才站得住</a:t>
            </a:r>
            <a:endParaRPr lang="zh-TW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tx2"/>
                </a:solidFill>
              </a:rPr>
              <a:t>客戶前提</a:t>
            </a:r>
            <a:endParaRPr lang="zh-TW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20440" cy="2240280"/>
          </a:xfrm>
          <a:prstGeom prst="roundRect">
            <a:avLst>
              <a:gd name="adj" fmla="val 72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34540" y="155448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5241" y="167518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21792" y="2194560"/>
            <a:ext cx="3374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chemeClr val="accent1"/>
                </a:solidFill>
              </a:rPr>
              <a:t>AD 只有人與群組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60604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chemeClr val="tx1">
                    <a:alpha val="62000"/>
                  </a:schemeClr>
                </a:solidFill>
              </a:rPr>
              <a:t>沒有服務帳號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25112" y="1417320"/>
            <a:ext cx="3520440" cy="2240280"/>
          </a:xfrm>
          <a:prstGeom prst="roundRect">
            <a:avLst>
              <a:gd name="adj" fmla="val 7200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811012" y="155448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1713" y="167518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398264" y="2194560"/>
            <a:ext cx="3374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chemeClr val="accent2"/>
                </a:solidFill>
              </a:rPr>
              <a:t>憑證數量越少越好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416552" y="260604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chemeClr val="tx1">
                    <a:alpha val="62000"/>
                  </a:schemeClr>
                </a:solidFill>
              </a:rPr>
              <a:t>希望憑證管理最小化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101584" y="1417320"/>
            <a:ext cx="3520440" cy="2240280"/>
          </a:xfrm>
          <a:prstGeom prst="roundRect">
            <a:avLst>
              <a:gd name="adj" fmla="val 7200"/>
            </a:avLst>
          </a:prstGeom>
          <a:solidFill>
            <a:schemeClr val="accent3">
              <a:alpha val="1200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587484" y="155448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3">
              <a:alpha val="1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8185" y="167518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174736" y="2194560"/>
            <a:ext cx="3374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chemeClr val="accent3"/>
                </a:solidFill>
              </a:rPr>
              <a:t>RHEL 9 VM · 手動安裝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8193024" y="260604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chemeClr val="tx1">
                    <a:alpha val="62000"/>
                  </a:schemeClr>
                </a:solidFill>
              </a:rPr>
              <a:t>目前沒有 Ansible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548640" y="3886200"/>
            <a:ext cx="3520440" cy="2240280"/>
          </a:xfrm>
          <a:prstGeom prst="roundRect">
            <a:avLst>
              <a:gd name="adj" fmla="val 7200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2034540" y="402336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5241" y="4144061"/>
            <a:ext cx="307238" cy="30723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21792" y="4663440"/>
            <a:ext cx="3374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chemeClr val="accent2"/>
                </a:solidFill>
              </a:rPr>
              <a:t>legacy app 只能 HTTP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640080" y="507492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chemeClr val="tx1">
                    <a:alpha val="62000"/>
                  </a:schemeClr>
                </a:solidFill>
              </a:rPr>
              <a:t>不能用 Kafka client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4325112" y="3886200"/>
            <a:ext cx="3520440" cy="2240280"/>
          </a:xfrm>
          <a:prstGeom prst="roundRect">
            <a:avLst>
              <a:gd name="adj" fmla="val 72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811012" y="402336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1713" y="4144061"/>
            <a:ext cx="307238" cy="30723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398264" y="4663440"/>
            <a:ext cx="3374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chemeClr val="accent1"/>
                </a:solidFill>
              </a:rPr>
              <a:t>不同職責,不同權限</a:t>
            </a:r>
            <a:endParaRPr lang="en-US" sz="1700" dirty="0"/>
          </a:p>
        </p:txBody>
      </p:sp>
      <p:sp>
        <p:nvSpPr>
          <p:cNvPr id="27" name="Text 20"/>
          <p:cNvSpPr txBox="1"/>
          <p:nvPr/>
        </p:nvSpPr>
        <p:spPr>
          <a:xfrm>
            <a:off x="4416552" y="507492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chemeClr val="tx1">
                    <a:alpha val="62000"/>
                  </a:schemeClr>
                </a:solidFill>
              </a:rPr>
              <a:t>分層授權,不是全有或全無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8101584" y="3886200"/>
            <a:ext cx="3520440" cy="2240280"/>
          </a:xfrm>
          <a:prstGeom prst="roundRect">
            <a:avLst>
              <a:gd name="adj" fmla="val 7200"/>
            </a:avLst>
          </a:prstGeom>
          <a:solidFill>
            <a:schemeClr val="accent5">
              <a:alpha val="1200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9587484" y="402336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5">
              <a:alpha val="15000"/>
            </a:schemeClr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08185" y="4144061"/>
            <a:ext cx="307238" cy="307238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174736" y="4663440"/>
            <a:ext cx="3374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chemeClr val="accent5"/>
                </a:solidFill>
              </a:rPr>
              <a:t>範圍</a:t>
            </a:r>
            <a:endParaRPr lang="en-US" sz="1700" dirty="0"/>
          </a:p>
        </p:txBody>
      </p:sp>
      <p:sp>
        <p:nvSpPr>
          <p:cNvPr id="32" name="Text 24"/>
          <p:cNvSpPr txBox="1"/>
          <p:nvPr/>
        </p:nvSpPr>
        <p:spPr>
          <a:xfrm>
            <a:off x="8193024" y="507492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chemeClr val="tx1">
                    <a:alpha val="62000"/>
                  </a:schemeClr>
                </a:solidFill>
              </a:rPr>
              <a:t>Kafka · REST Proxy · C3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tx2"/>
                </a:solidFill>
              </a:rPr>
              <a:t>設計原則:兩個身分平面</a:t>
            </a:r>
            <a:endParaRPr lang="zh-TW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4297680" cy="3383280"/>
          </a:xfrm>
          <a:prstGeom prst="roundRect">
            <a:avLst>
              <a:gd name="adj" fmla="val 90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00200"/>
            <a:ext cx="731520" cy="731520"/>
          </a:xfrm>
          <a:prstGeom prst="roundRect">
            <a:avLst>
              <a:gd name="adj" fmla="val 45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8174" y="1761134"/>
            <a:ext cx="409651" cy="40965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6916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400" b="1" dirty="0">
                <a:solidFill>
                  <a:schemeClr val="accent1"/>
                </a:solidFill>
              </a:rPr>
              <a:t>人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6060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AD 帳密 + AD 群組</a:t>
            </a:r>
            <a:endParaRPr lang="en-US" sz="1600" dirty="0"/>
          </a:p>
          <a:p>
            <a:pPr algn="l" indent="0" marL="0">
              <a:buNone/>
            </a:pPr>
            <a:r>
              <a:rPr lang="zh-TW" altLang="en-US" sz="1300" dirty="0">
                <a:solidFill>
                  <a:schemeClr val="tx1">
                    <a:alpha val="62000"/>
                  </a:schemeClr>
                </a:solidFill>
              </a:rPr>
              <a:t>登入 C3 · 手動腳本 · Postman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4069080"/>
            <a:ext cx="3749040" cy="384048"/>
          </a:xfrm>
          <a:prstGeom prst="roundRect">
            <a:avLst>
              <a:gd name="adj" fmla="val 45000"/>
            </a:avLst>
          </a:prstGeom>
          <a:solidFill>
            <a:schemeClr val="accent1">
              <a:alpha val="12000"/>
            </a:schemeClr>
          </a:solidFill>
          <a:ln w="15875">
            <a:solidFill>
              <a:schemeClr val="accent1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1"/>
                </a:solidFill>
              </a:rPr>
              <a:t>授權跟著 AD 群組走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342632" y="1417320"/>
            <a:ext cx="4297680" cy="3383280"/>
          </a:xfrm>
          <a:prstGeom prst="roundRect">
            <a:avLst>
              <a:gd name="adj" fmla="val 9000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571232" y="1600200"/>
            <a:ext cx="731520" cy="731520"/>
          </a:xfrm>
          <a:prstGeom prst="roundRect">
            <a:avLst>
              <a:gd name="adj" fmla="val 45000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2166" y="1761134"/>
            <a:ext cx="409651" cy="40965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485632" y="16916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400" b="1" dirty="0">
                <a:solidFill>
                  <a:schemeClr val="accent2"/>
                </a:solidFill>
              </a:rPr>
              <a:t>服務</a:t>
            </a:r>
            <a:endParaRPr lang="en-US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7616952" y="251460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連 Kafka:SCRAM 帳密</a:t>
            </a:r>
            <a:endParaRPr lang="en-US" sz="1600" dirty="0"/>
          </a:p>
          <a:p>
            <a:pPr algn="l" indent="0" marL="0">
              <a:spcAft>
                <a:spcPts val="800"/>
              </a:spcAft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連 MDS / REST Proxy:client 憑證</a:t>
            </a:r>
            <a:endParaRPr lang="en-US" sz="1600" dirty="0"/>
          </a:p>
          <a:p>
            <a:pPr algn="l" indent="0" marL="0">
              <a:buNone/>
            </a:pPr>
            <a:r>
              <a:rPr lang="zh-TW" altLang="en-US" sz="1300" dirty="0">
                <a:solidFill>
                  <a:schemeClr val="tx1">
                    <a:alpha val="62000"/>
                  </a:schemeClr>
                </a:solidFill>
              </a:rPr>
              <a:t>應用 · 排程 · legacy app · 平台元件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616952" y="4069080"/>
            <a:ext cx="3749040" cy="384048"/>
          </a:xfrm>
          <a:prstGeom prst="roundRect">
            <a:avLst>
              <a:gd name="adj" fmla="val 45000"/>
            </a:avLst>
          </a:prstGeom>
          <a:solidFill>
            <a:schemeClr val="accent2">
              <a:alpha val="12000"/>
            </a:schemeClr>
          </a:solidFill>
          <a:ln w="15875">
            <a:solidFill>
              <a:schemeClr val="accent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2"/>
                </a:solidFill>
              </a:rPr>
              <a:t>授權綁 User:服務名稱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120640" y="2103120"/>
            <a:ext cx="1947672" cy="1737360"/>
          </a:xfrm>
          <a:prstGeom prst="roundRect">
            <a:avLst>
              <a:gd name="adj" fmla="val 9000"/>
            </a:avLst>
          </a:prstGeom>
          <a:solidFill>
            <a:schemeClr val="accent5">
              <a:alpha val="1200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824728" y="224028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5">
              <a:alpha val="15000"/>
            </a:schemeClr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5429" y="2360981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166360" y="2880360"/>
            <a:ext cx="1856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accent5"/>
                </a:solidFill>
              </a:rPr>
              <a:t>MDS · RBAC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5212080" y="3291840"/>
            <a:ext cx="1764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chemeClr val="tx1">
                    <a:alpha val="62000"/>
                  </a:schemeClr>
                </a:solidFill>
              </a:rPr>
              <a:t>集中管理授權規則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846320" y="2971800"/>
            <a:ext cx="274320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 flipH="1">
            <a:off x="7068312" y="2971800"/>
            <a:ext cx="274320" cy="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2" name="Text 17"/>
          <p:cNvSpPr/>
          <p:nvPr/>
        </p:nvSpPr>
        <p:spPr>
          <a:xfrm>
            <a:off x="548640" y="5074920"/>
            <a:ext cx="11091672" cy="640080"/>
          </a:xfrm>
          <a:prstGeom prst="roundRect">
            <a:avLst>
              <a:gd name="adj" fmla="val 9000"/>
            </a:avLst>
          </a:prstGeom>
          <a:solidFill>
            <a:schemeClr val="tx2"/>
          </a:solidFill>
          <a:ln w="19050">
            <a:solidFill>
              <a:schemeClr val="tx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chemeClr val="bg1"/>
                </a:solidFill>
              </a:rPr>
              <a:t>怎麼分?有人在場、由人直接或間接操作 = 人;其餘(無人值守)= 服務</a:t>
            </a:r>
            <a:endParaRPr lang="en-US" sz="1700" dirty="0"/>
          </a:p>
        </p:txBody>
      </p:sp>
      <p:sp>
        <p:nvSpPr>
          <p:cNvPr id="23" name="Text 18"/>
          <p:cNvSpPr txBox="1"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chemeClr val="tx1">
                    <a:alpha val="62000"/>
                  </a:schemeClr>
                </a:solidFill>
              </a:rPr>
              <a:t>腳本由手動轉成排程 → 必須改用服務身分,不借用人的帳號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tx2"/>
                </a:solidFill>
              </a:rPr>
              <a:t>方案總覽:組件與安全機制</a:t>
            </a:r>
            <a:endParaRPr lang="zh-TW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20440" cy="1554480"/>
          </a:xfrm>
          <a:prstGeom prst="roundRect">
            <a:avLst>
              <a:gd name="adj" fmla="val 72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34540" y="150876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5241" y="162946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21792" y="2148840"/>
            <a:ext cx="3374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accent1"/>
                </a:solidFill>
              </a:rPr>
              <a:t>Controller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603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chemeClr val="tx1">
                    <a:alpha val="62000"/>
                  </a:schemeClr>
                </a:solidFill>
              </a:rPr>
              <a:t>SASL/PLAIN · 內部帳號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25112" y="1371600"/>
            <a:ext cx="3520440" cy="1554480"/>
          </a:xfrm>
          <a:prstGeom prst="roundRect">
            <a:avLst>
              <a:gd name="adj" fmla="val 72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811012" y="150876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1713" y="162946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398264" y="2148840"/>
            <a:ext cx="3374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accent1"/>
                </a:solidFill>
              </a:rPr>
              <a:t>Broker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416552" y="25603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chemeClr val="tx1">
                    <a:alpha val="62000"/>
                  </a:schemeClr>
                </a:solidFill>
              </a:rPr>
              <a:t>PLAIN+LDAP · SCRAM · token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101584" y="1371600"/>
            <a:ext cx="3520440" cy="1554480"/>
          </a:xfrm>
          <a:prstGeom prst="roundRect">
            <a:avLst>
              <a:gd name="adj" fmla="val 72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587484" y="150876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8185" y="162946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174736" y="2148840"/>
            <a:ext cx="3374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accent1"/>
                </a:solidFill>
              </a:rPr>
              <a:t>REST Proxy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8193024" y="25603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chemeClr val="tx1">
                    <a:alpha val="62000"/>
                  </a:schemeClr>
                </a:solidFill>
              </a:rPr>
              <a:t>人 Basic · 機器憑證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48640" y="3063240"/>
            <a:ext cx="3520440" cy="1554480"/>
          </a:xfrm>
          <a:prstGeom prst="roundRect">
            <a:avLst>
              <a:gd name="adj" fmla="val 72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2034540" y="320040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5241" y="3321101"/>
            <a:ext cx="307238" cy="30723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21792" y="3840480"/>
            <a:ext cx="3374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accent1"/>
                </a:solidFill>
              </a:rPr>
              <a:t>Control Center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640080" y="42519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chemeClr val="tx1">
                    <a:alpha val="62000"/>
                  </a:schemeClr>
                </a:solidFill>
              </a:rPr>
              <a:t>人用本人身分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4325112" y="3063240"/>
            <a:ext cx="3520440" cy="1554480"/>
          </a:xfrm>
          <a:prstGeom prst="roundRect">
            <a:avLst>
              <a:gd name="adj" fmla="val 7200"/>
            </a:avLst>
          </a:prstGeom>
          <a:solidFill>
            <a:schemeClr val="accent5">
              <a:alpha val="1200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811012" y="320040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5">
              <a:alpha val="15000"/>
            </a:schemeClr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1713" y="3321101"/>
            <a:ext cx="307238" cy="30723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398264" y="3840480"/>
            <a:ext cx="3374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accent5"/>
                </a:solidFill>
              </a:rPr>
              <a:t>TLS 與憑證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4416552" y="42519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chemeClr val="tx1">
                    <a:alpha val="62000"/>
                  </a:schemeClr>
                </a:solidFill>
              </a:rPr>
              <a:t>共用 1 組 server 憑證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8101584" y="3063240"/>
            <a:ext cx="3520440" cy="1554480"/>
          </a:xfrm>
          <a:prstGeom prst="roundRect">
            <a:avLst>
              <a:gd name="adj" fmla="val 7200"/>
            </a:avLst>
          </a:prstGeom>
          <a:solidFill>
            <a:schemeClr val="accent5">
              <a:alpha val="1200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9587484" y="320040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5">
              <a:alpha val="15000"/>
            </a:schemeClr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08185" y="3321101"/>
            <a:ext cx="307238" cy="307238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174736" y="3840480"/>
            <a:ext cx="3374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accent5"/>
                </a:solidFill>
              </a:rPr>
              <a:t>MDS · RBAC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8193024" y="42519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chemeClr val="tx1">
                    <a:alpha val="62000"/>
                  </a:schemeClr>
                </a:solidFill>
              </a:rPr>
              <a:t>AD 群組 → role</a:t>
            </a:r>
            <a:endParaRPr lang="en-US" sz="1200" dirty="0"/>
          </a:p>
        </p:txBody>
      </p:sp>
      <p:sp>
        <p:nvSpPr>
          <p:cNvPr id="33" name="Shape 25"/>
          <p:cNvSpPr/>
          <p:nvPr/>
        </p:nvSpPr>
        <p:spPr>
          <a:xfrm>
            <a:off x="548640" y="4754880"/>
            <a:ext cx="3520440" cy="1554480"/>
          </a:xfrm>
          <a:prstGeom prst="roundRect">
            <a:avLst>
              <a:gd name="adj" fmla="val 7200"/>
            </a:avLst>
          </a:prstGeom>
          <a:solidFill>
            <a:schemeClr val="accent5">
              <a:alpha val="1200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2034540" y="489204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5">
              <a:alpha val="15000"/>
            </a:schemeClr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55241" y="5012741"/>
            <a:ext cx="307238" cy="307238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621792" y="5532120"/>
            <a:ext cx="3374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accent5"/>
                </a:solidFill>
              </a:rPr>
              <a:t>服務帳號</a:t>
            </a:r>
            <a:endParaRPr lang="en-US" sz="1500" dirty="0"/>
          </a:p>
        </p:txBody>
      </p:sp>
      <p:sp>
        <p:nvSpPr>
          <p:cNvPr id="37" name="Text 28"/>
          <p:cNvSpPr txBox="1"/>
          <p:nvPr/>
        </p:nvSpPr>
        <p:spPr>
          <a:xfrm>
            <a:off x="640080" y="59436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chemeClr val="tx1">
                    <a:alpha val="62000"/>
                  </a:schemeClr>
                </a:solidFill>
              </a:rPr>
              <a:t>SCRAM + 最小權限</a:t>
            </a:r>
            <a:endParaRPr lang="en-US" sz="1200" dirty="0"/>
          </a:p>
        </p:txBody>
      </p:sp>
      <p:sp>
        <p:nvSpPr>
          <p:cNvPr id="38" name="Shape 29"/>
          <p:cNvSpPr/>
          <p:nvPr/>
        </p:nvSpPr>
        <p:spPr>
          <a:xfrm>
            <a:off x="4325112" y="4754880"/>
            <a:ext cx="3520440" cy="1554480"/>
          </a:xfrm>
          <a:prstGeom prst="roundRect">
            <a:avLst>
              <a:gd name="adj" fmla="val 7200"/>
            </a:avLst>
          </a:prstGeom>
          <a:solidFill>
            <a:schemeClr val="accent5">
              <a:alpha val="1200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39" name="Shape 30"/>
          <p:cNvSpPr/>
          <p:nvPr/>
        </p:nvSpPr>
        <p:spPr>
          <a:xfrm>
            <a:off x="5811012" y="489204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5">
              <a:alpha val="15000"/>
            </a:schemeClr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1713" y="5012741"/>
            <a:ext cx="307238" cy="307238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4398264" y="5532120"/>
            <a:ext cx="3374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accent5"/>
                </a:solidFill>
              </a:rPr>
              <a:t>Audit log</a:t>
            </a:r>
            <a:endParaRPr lang="en-US" sz="1500" dirty="0"/>
          </a:p>
        </p:txBody>
      </p:sp>
      <p:sp>
        <p:nvSpPr>
          <p:cNvPr id="42" name="Text 32"/>
          <p:cNvSpPr txBox="1"/>
          <p:nvPr/>
        </p:nvSpPr>
        <p:spPr>
          <a:xfrm>
            <a:off x="4416552" y="59436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chemeClr val="tx1">
                    <a:alpha val="62000"/>
                  </a:schemeClr>
                </a:solidFill>
              </a:rPr>
              <a:t>誰被拒、誰改授權</a:t>
            </a:r>
            <a:endParaRPr lang="en-US" sz="1200" dirty="0"/>
          </a:p>
        </p:txBody>
      </p:sp>
      <p:sp>
        <p:nvSpPr>
          <p:cNvPr id="43" name="Shape 33"/>
          <p:cNvSpPr/>
          <p:nvPr/>
        </p:nvSpPr>
        <p:spPr>
          <a:xfrm>
            <a:off x="8101584" y="4754880"/>
            <a:ext cx="3520440" cy="1554480"/>
          </a:xfrm>
          <a:prstGeom prst="roundRect">
            <a:avLst>
              <a:gd name="adj" fmla="val 7200"/>
            </a:avLst>
          </a:prstGeom>
          <a:solidFill>
            <a:schemeClr val="accent3">
              <a:alpha val="1200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44" name="Shape 34"/>
          <p:cNvSpPr/>
          <p:nvPr/>
        </p:nvSpPr>
        <p:spPr>
          <a:xfrm>
            <a:off x="9587484" y="489204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3">
              <a:alpha val="1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08185" y="5012741"/>
            <a:ext cx="307238" cy="307238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8174736" y="5532120"/>
            <a:ext cx="3374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accent3"/>
                </a:solidFill>
              </a:rPr>
              <a:t>整合與導入</a:t>
            </a:r>
            <a:endParaRPr lang="en-US" sz="1500" dirty="0"/>
          </a:p>
        </p:txBody>
      </p:sp>
      <p:sp>
        <p:nvSpPr>
          <p:cNvPr id="47" name="Text 36"/>
          <p:cNvSpPr txBox="1"/>
          <p:nvPr/>
        </p:nvSpPr>
        <p:spPr>
          <a:xfrm>
            <a:off x="8193024" y="59436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chemeClr val="tx1">
                    <a:alpha val="62000"/>
                  </a:schemeClr>
                </a:solidFill>
              </a:rPr>
              <a:t>全景 · 步驟 · 風險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TW" altLang="en-US" sz="3800" b="1" dirty="0">
                <a:solidFill>
                  <a:schemeClr val="bg1"/>
                </a:solidFill>
              </a:rPr>
              <a:t>逐項介紹</a:t>
            </a:r>
            <a:endParaRPr lang="zh-TW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520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800" dirty="0">
                <a:solidFill>
                  <a:schemeClr val="bg2"/>
                </a:solidFill>
              </a:rPr>
              <a:t>每一項:傳輸加密 · 認證 · 授權 · 注意事項</a:t>
            </a:r>
            <a:endParaRPr lang="zh-TW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tx2"/>
                </a:solidFill>
              </a:rPr>
              <a:t>TLS 與憑證:共用 1 組,只做加密</a:t>
            </a:r>
            <a:endParaRPr lang="zh-TW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600200"/>
            <a:ext cx="1188720" cy="1188720"/>
          </a:xfrm>
          <a:prstGeom prst="roundRect">
            <a:avLst>
              <a:gd name="adj" fmla="val 45000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038" y="1861718"/>
            <a:ext cx="665683" cy="66568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9260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2"/>
                </a:solidFill>
              </a:rPr>
              <a:t>1 組 PK + 憑證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3429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chemeClr val="tx1">
                    <a:alpha val="62000"/>
                  </a:schemeClr>
                </a:solidFill>
              </a:rPr>
              <a:t>SAN 涵蓋所有組件的網域 / IP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 flipV="1">
            <a:off x="2148840" y="1600200"/>
            <a:ext cx="868680" cy="59436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8" name="Text 5"/>
          <p:cNvSpPr/>
          <p:nvPr/>
        </p:nvSpPr>
        <p:spPr>
          <a:xfrm>
            <a:off x="3017520" y="1417320"/>
            <a:ext cx="1828800" cy="365760"/>
          </a:xfrm>
          <a:prstGeom prst="roundRect">
            <a:avLst>
              <a:gd name="adj" fmla="val 45000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tx1"/>
                </a:solidFill>
              </a:rPr>
              <a:t>controller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 flipV="1">
            <a:off x="2148840" y="2057400"/>
            <a:ext cx="868680" cy="13716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0" name="Text 7"/>
          <p:cNvSpPr/>
          <p:nvPr/>
        </p:nvSpPr>
        <p:spPr>
          <a:xfrm>
            <a:off x="3017520" y="1874520"/>
            <a:ext cx="1828800" cy="365760"/>
          </a:xfrm>
          <a:prstGeom prst="roundRect">
            <a:avLst>
              <a:gd name="adj" fmla="val 45000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tx1"/>
                </a:solidFill>
              </a:rPr>
              <a:t>broker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148840" y="2194560"/>
            <a:ext cx="868680" cy="32004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2" name="Text 9"/>
          <p:cNvSpPr/>
          <p:nvPr/>
        </p:nvSpPr>
        <p:spPr>
          <a:xfrm>
            <a:off x="3017520" y="2331720"/>
            <a:ext cx="1828800" cy="365760"/>
          </a:xfrm>
          <a:prstGeom prst="roundRect">
            <a:avLst>
              <a:gd name="adj" fmla="val 45000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tx1"/>
                </a:solidFill>
              </a:rPr>
              <a:t>MDS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148840" y="2194560"/>
            <a:ext cx="868680" cy="77724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4" name="Text 11"/>
          <p:cNvSpPr/>
          <p:nvPr/>
        </p:nvSpPr>
        <p:spPr>
          <a:xfrm>
            <a:off x="3017520" y="2788920"/>
            <a:ext cx="1828800" cy="365760"/>
          </a:xfrm>
          <a:prstGeom prst="roundRect">
            <a:avLst>
              <a:gd name="adj" fmla="val 45000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tx1"/>
                </a:solidFill>
              </a:rPr>
              <a:t>REST Proxy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148840" y="2194560"/>
            <a:ext cx="868680" cy="123444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6" name="Text 13"/>
          <p:cNvSpPr/>
          <p:nvPr/>
        </p:nvSpPr>
        <p:spPr>
          <a:xfrm>
            <a:off x="3017520" y="3246120"/>
            <a:ext cx="1828800" cy="365760"/>
          </a:xfrm>
          <a:prstGeom prst="roundRect">
            <a:avLst>
              <a:gd name="adj" fmla="val 45000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tx1"/>
                </a:solidFill>
              </a:rPr>
              <a:t>C3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3017520" y="3703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chemeClr val="tx1">
                    <a:alpha val="62000"/>
                  </a:schemeClr>
                </a:solidFill>
              </a:rPr>
              <a:t>server 端啟動 TLS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48640" y="4114800"/>
            <a:ext cx="5486400" cy="1463040"/>
          </a:xfrm>
          <a:prstGeom prst="roundRect">
            <a:avLst>
              <a:gd name="adj" fmla="val 90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31520" y="4206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chemeClr val="accent1"/>
                </a:solidFill>
              </a:rPr>
              <a:t>client 端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731520" y="4617720"/>
            <a:ext cx="5120640" cy="384048"/>
          </a:xfrm>
          <a:prstGeom prst="roundRect">
            <a:avLst>
              <a:gd name="adj" fmla="val 45000"/>
            </a:avLst>
          </a:prstGeom>
          <a:solidFill>
            <a:schemeClr val="accent1">
              <a:alpha val="12000"/>
            </a:schemeClr>
          </a:solidFill>
          <a:ln w="15875">
            <a:solidFill>
              <a:schemeClr val="accent1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1"/>
                </a:solidFill>
              </a:rPr>
              <a:t>只需 truststore(匯入 CA root)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31520" y="5074920"/>
            <a:ext cx="5120640" cy="384048"/>
          </a:xfrm>
          <a:prstGeom prst="roundRect">
            <a:avLst>
              <a:gd name="adj" fmla="val 45000"/>
            </a:avLst>
          </a:prstGeom>
          <a:solidFill>
            <a:schemeClr val="accent1">
              <a:alpha val="12000"/>
            </a:schemeClr>
          </a:solidFill>
          <a:ln w="15875">
            <a:solidFill>
              <a:schemeClr val="accent1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1"/>
                </a:solidFill>
              </a:rPr>
              <a:t>連 AD 的 broker(含 MDS):匯入 AD 的 LDAPS CA root,一份設定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400800" y="1371600"/>
            <a:ext cx="5239512" cy="2560320"/>
          </a:xfrm>
          <a:prstGeom prst="roundRect">
            <a:avLst>
              <a:gd name="adj" fmla="val 9000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583680" y="1463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chemeClr val="accent2"/>
                </a:solidFill>
              </a:rPr>
              <a:t>平台元件用 client 憑證向 MDS 證明身分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6583680" y="1965960"/>
            <a:ext cx="1371600" cy="384048"/>
          </a:xfrm>
          <a:prstGeom prst="roundRect">
            <a:avLst>
              <a:gd name="adj" fmla="val 45000"/>
            </a:avLst>
          </a:prstGeom>
          <a:solidFill>
            <a:schemeClr val="accent2">
              <a:alpha val="12000"/>
            </a:schemeClr>
          </a:solidFill>
          <a:ln w="15875">
            <a:solidFill>
              <a:schemeClr val="accent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2"/>
                </a:solidFill>
              </a:rPr>
              <a:t>c3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046720" y="1965960"/>
            <a:ext cx="1554480" cy="384048"/>
          </a:xfrm>
          <a:prstGeom prst="roundRect">
            <a:avLst>
              <a:gd name="adj" fmla="val 45000"/>
            </a:avLst>
          </a:prstGeom>
          <a:solidFill>
            <a:schemeClr val="accent2">
              <a:alpha val="12000"/>
            </a:schemeClr>
          </a:solidFill>
          <a:ln w="15875">
            <a:solidFill>
              <a:schemeClr val="accent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2"/>
                </a:solidFill>
              </a:rPr>
              <a:t>restproxy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9692640" y="1965960"/>
            <a:ext cx="1737360" cy="384048"/>
          </a:xfrm>
          <a:prstGeom prst="roundRect">
            <a:avLst>
              <a:gd name="adj" fmla="val 45000"/>
            </a:avLst>
          </a:prstGeom>
          <a:solidFill>
            <a:schemeClr val="accent2">
              <a:alpha val="12000"/>
            </a:schemeClr>
          </a:solidFill>
          <a:ln w="15875">
            <a:solidFill>
              <a:schemeClr val="accent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2"/>
                </a:solidFill>
              </a:rPr>
              <a:t>bootstrap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6583680" y="2450592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150" b="1" dirty="0">
                <a:solidFill>
                  <a:schemeClr val="tx1"/>
                </a:solidFill>
              </a:rPr>
              <a:t>+ 每個經 REST Proxy 的 legacy app 各 1 張(由 REST Proxy 辨識後代為申請 token)</a:t>
            </a:r>
            <a:endParaRPr lang="en-US" sz="115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100" dirty="0">
                <a:solidFill>
                  <a:schemeClr val="tx1"/>
                </a:solidFill>
              </a:rPr>
              <a:t>人的路徑不用:人走 AD 帳密。RBAC 下 C3 連 broker 只能 OAUTHBEARER,所以先以憑證向 MDS 換 token</a:t>
            </a:r>
            <a:endParaRPr lang="en-US" sz="115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chemeClr val="tx1">
                    <a:alpha val="62000"/>
                  </a:schemeClr>
                </a:solidFill>
              </a:rPr>
              <a:t>綁 RBAC 的是 CN:換憑證只要 CN 不變,不用重綁權限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6400800" y="4023360"/>
            <a:ext cx="5239512" cy="1645920"/>
          </a:xfrm>
          <a:prstGeom prst="roundRect">
            <a:avLst>
              <a:gd name="adj" fmla="val 9000"/>
            </a:avLst>
          </a:prstGeom>
          <a:solidFill>
            <a:schemeClr val="accent6">
              <a:alpha val="12000"/>
            </a:schemeClr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40965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chemeClr val="accent6"/>
                </a:solidFill>
              </a:rPr>
              <a:t>要請客戶簽認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6583680" y="448056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100" dirty="0">
                <a:solidFill>
                  <a:schemeClr val="tx1"/>
                </a:solidFill>
              </a:rPr>
              <a:t>•  私鑰外洩 = 可偽裝伺服器;共用憑證對應的身分(CN)永遠不綁任何 role</a:t>
            </a:r>
            <a:endParaRPr lang="en-US" sz="11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100" dirty="0">
                <a:solidFill>
                  <a:schemeClr val="tx1"/>
                </a:solidFill>
              </a:rPr>
              <a:t>•  只換 server 憑證(CA 不變):逐台換 keystore,truststore 不動</a:t>
            </a:r>
            <a:endParaRPr lang="en-US" sz="110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chemeClr val="tx1"/>
                </a:solidFill>
              </a:rPr>
              <a:t>•  CA 換金鑰:truststore 先新舊並存 → 重簽 server 與 client 憑證 → 移除舊 root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48640" y="5806440"/>
            <a:ext cx="11091672" cy="457200"/>
          </a:xfrm>
          <a:prstGeom prst="roundRect">
            <a:avLst>
              <a:gd name="adj" fmla="val 9000"/>
            </a:avLst>
          </a:prstGeom>
          <a:solidFill>
            <a:schemeClr val="tx2"/>
          </a:solidFill>
          <a:ln w="19050">
            <a:solidFill>
              <a:schemeClr val="tx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bg1"/>
                </a:solidFill>
              </a:rPr>
              <a:t>共用憑證只負責加密、不承載權限;身分另外處理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tx2"/>
                </a:solidFill>
              </a:rPr>
              <a:t>憑證更換:三種情境,順序不能錯</a:t>
            </a:r>
            <a:endParaRPr lang="zh-TW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66160" cy="4069080"/>
          </a:xfrm>
          <a:prstGeom prst="roundRect">
            <a:avLst>
              <a:gd name="adj" fmla="val 3600"/>
            </a:avLst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81328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3">
              <a:alpha val="1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501" y="1602029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463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chemeClr val="accent3"/>
                </a:solidFill>
              </a:rPr>
              <a:t>只換 server 憑證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1828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chemeClr val="tx1">
                    <a:alpha val="62000"/>
                  </a:schemeClr>
                </a:solidFill>
              </a:rPr>
              <a:t>CA 不變(例如到期更新)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31520" y="2286000"/>
            <a:ext cx="3200400" cy="457200"/>
          </a:xfrm>
          <a:prstGeom prst="roundRect">
            <a:avLst>
              <a:gd name="adj" fmla="val 18000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chemeClr val="tx1"/>
                </a:solidFill>
              </a:rPr>
              <a:t>換 keystore(新憑證)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331720" y="2743200"/>
            <a:ext cx="0" cy="27432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0" name="Text 7"/>
          <p:cNvSpPr/>
          <p:nvPr/>
        </p:nvSpPr>
        <p:spPr>
          <a:xfrm>
            <a:off x="731520" y="3017520"/>
            <a:ext cx="3200400" cy="457200"/>
          </a:xfrm>
          <a:prstGeom prst="roundRect">
            <a:avLst>
              <a:gd name="adj" fmla="val 18000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chemeClr val="tx1"/>
                </a:solidFill>
              </a:rPr>
              <a:t>truststore 不動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331720" y="3474720"/>
            <a:ext cx="0" cy="27432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2" name="Text 9"/>
          <p:cNvSpPr/>
          <p:nvPr/>
        </p:nvSpPr>
        <p:spPr>
          <a:xfrm>
            <a:off x="731520" y="3749040"/>
            <a:ext cx="3200400" cy="457200"/>
          </a:xfrm>
          <a:prstGeom prst="roundRect">
            <a:avLst>
              <a:gd name="adj" fmla="val 18000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chemeClr val="tx1"/>
                </a:solidFill>
              </a:rPr>
              <a:t>client 不用改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31520" y="4526280"/>
            <a:ext cx="3200400" cy="457200"/>
          </a:xfrm>
          <a:prstGeom prst="roundRect">
            <a:avLst>
              <a:gd name="adj" fmla="val 45000"/>
            </a:avLst>
          </a:prstGeom>
          <a:solidFill>
            <a:schemeClr val="accent3">
              <a:alpha val="12000"/>
            </a:schemeClr>
          </a:solidFill>
          <a:ln w="15875">
            <a:solidFill>
              <a:schemeClr val="accent3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chemeClr val="accent3"/>
                </a:solidFill>
              </a:rPr>
              <a:t>實測:換 keystore 後,client 設定不用改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311396" y="1371600"/>
            <a:ext cx="3566160" cy="4069080"/>
          </a:xfrm>
          <a:prstGeom prst="roundRect">
            <a:avLst>
              <a:gd name="adj" fmla="val 3600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448556" y="1481328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9257" y="1602029"/>
            <a:ext cx="307238" cy="307238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134356" y="1463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chemeClr val="accent1"/>
                </a:solidFill>
              </a:rPr>
              <a:t>CA 根換新、金鑰不變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5134356" y="1828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chemeClr val="tx1">
                    <a:alpha val="62000"/>
                  </a:schemeClr>
                </a:solidFill>
              </a:rPr>
              <a:t>同一把金鑰重新簽發根憑證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494276" y="2286000"/>
            <a:ext cx="3200400" cy="457200"/>
          </a:xfrm>
          <a:prstGeom prst="roundRect">
            <a:avLst>
              <a:gd name="adj" fmla="val 18000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chemeClr val="tx1"/>
                </a:solidFill>
              </a:rPr>
              <a:t>信任庫換成新根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6099048" y="2743200"/>
            <a:ext cx="0" cy="27432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1" name="Text 17"/>
          <p:cNvSpPr/>
          <p:nvPr/>
        </p:nvSpPr>
        <p:spPr>
          <a:xfrm>
            <a:off x="4494276" y="3017520"/>
            <a:ext cx="3200400" cy="457200"/>
          </a:xfrm>
          <a:prstGeom prst="roundRect">
            <a:avLst>
              <a:gd name="adj" fmla="val 18000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chemeClr val="tx1"/>
                </a:solidFill>
              </a:rPr>
              <a:t>舊的 server / client 憑證照常通過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6099048" y="3474720"/>
            <a:ext cx="0" cy="27432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3" name="Text 19"/>
          <p:cNvSpPr/>
          <p:nvPr/>
        </p:nvSpPr>
        <p:spPr>
          <a:xfrm>
            <a:off x="4494276" y="3749040"/>
            <a:ext cx="3200400" cy="457200"/>
          </a:xfrm>
          <a:prstGeom prst="roundRect">
            <a:avLst>
              <a:gd name="adj" fmla="val 18000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chemeClr val="tx1"/>
                </a:solidFill>
              </a:rPr>
              <a:t>不用重簽任何憑證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4494276" y="4526280"/>
            <a:ext cx="3200400" cy="457200"/>
          </a:xfrm>
          <a:prstGeom prst="roundRect">
            <a:avLst>
              <a:gd name="adj" fmla="val 45000"/>
            </a:avLst>
          </a:prstGeom>
          <a:solidFill>
            <a:schemeClr val="accent1">
              <a:alpha val="12000"/>
            </a:schemeClr>
          </a:solidFill>
          <a:ln w="15875">
            <a:solidFill>
              <a:schemeClr val="accent1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chemeClr val="accent1"/>
                </a:solidFill>
              </a:rPr>
              <a:t>實測:信任庫換成新根,舊的 server / client 憑證照常通過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8074152" y="1371600"/>
            <a:ext cx="3566160" cy="4069080"/>
          </a:xfrm>
          <a:prstGeom prst="roundRect">
            <a:avLst>
              <a:gd name="adj" fmla="val 3600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211312" y="1481328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2013" y="1602029"/>
            <a:ext cx="307238" cy="307238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8897112" y="1463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chemeClr val="accent2"/>
                </a:solidFill>
              </a:rPr>
              <a:t>CA 換金鑰</a:t>
            </a:r>
            <a:endParaRPr lang="en-US" sz="1400" dirty="0"/>
          </a:p>
        </p:txBody>
      </p:sp>
      <p:sp>
        <p:nvSpPr>
          <p:cNvPr id="29" name="Text 24"/>
          <p:cNvSpPr txBox="1"/>
          <p:nvPr/>
        </p:nvSpPr>
        <p:spPr>
          <a:xfrm>
            <a:off x="8897112" y="1828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chemeClr val="tx1">
                    <a:alpha val="62000"/>
                  </a:schemeClr>
                </a:solidFill>
              </a:rPr>
              <a:t>新根、新金鑰:所有憑證都要重簽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8257032" y="2286000"/>
            <a:ext cx="329184" cy="329184"/>
          </a:xfrm>
          <a:prstGeom prst="roundRect">
            <a:avLst>
              <a:gd name="adj" fmla="val 45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31" name="Text 26"/>
          <p:cNvSpPr txBox="1"/>
          <p:nvPr/>
        </p:nvSpPr>
        <p:spPr>
          <a:xfrm>
            <a:off x="8668512" y="22402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所有信任庫先放「新舊兩個根」(server + client)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8257032" y="2834640"/>
            <a:ext cx="329184" cy="329184"/>
          </a:xfrm>
          <a:prstGeom prst="roundRect">
            <a:avLst>
              <a:gd name="adj" fmla="val 45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33" name="Text 28"/>
          <p:cNvSpPr txBox="1"/>
          <p:nvPr/>
        </p:nvSpPr>
        <p:spPr>
          <a:xfrm>
            <a:off x="8668512" y="27889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換 server 憑證(新 CA 簽發)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8257032" y="3383280"/>
            <a:ext cx="329184" cy="329184"/>
          </a:xfrm>
          <a:prstGeom prst="roundRect">
            <a:avLst>
              <a:gd name="adj" fmla="val 45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35" name="Text 30"/>
          <p:cNvSpPr txBox="1"/>
          <p:nvPr/>
        </p:nvSpPr>
        <p:spPr>
          <a:xfrm>
            <a:off x="8668512" y="3337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重簽 client 憑證(c3、restproxy、bootstrap、legacy app)</a:t>
            </a:r>
            <a:endParaRPr lang="en-US" sz="1100" dirty="0"/>
          </a:p>
        </p:txBody>
      </p:sp>
      <p:sp>
        <p:nvSpPr>
          <p:cNvPr id="36" name="Text 31"/>
          <p:cNvSpPr/>
          <p:nvPr/>
        </p:nvSpPr>
        <p:spPr>
          <a:xfrm>
            <a:off x="8257032" y="3931920"/>
            <a:ext cx="329184" cy="329184"/>
          </a:xfrm>
          <a:prstGeom prst="roundRect">
            <a:avLst>
              <a:gd name="adj" fmla="val 45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37" name="Text 32"/>
          <p:cNvSpPr txBox="1"/>
          <p:nvPr/>
        </p:nvSpPr>
        <p:spPr>
          <a:xfrm>
            <a:off x="8668512" y="38862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全部確認後,才移除舊根</a:t>
            </a:r>
            <a:endParaRPr lang="en-US" sz="1100" dirty="0"/>
          </a:p>
        </p:txBody>
      </p:sp>
      <p:sp>
        <p:nvSpPr>
          <p:cNvPr id="38" name="Text 33"/>
          <p:cNvSpPr/>
          <p:nvPr/>
        </p:nvSpPr>
        <p:spPr>
          <a:xfrm>
            <a:off x="8257032" y="4407408"/>
            <a:ext cx="3200400" cy="420624"/>
          </a:xfrm>
          <a:prstGeom prst="roundRect">
            <a:avLst>
              <a:gd name="adj" fmla="val 45000"/>
            </a:avLst>
          </a:prstGeom>
          <a:solidFill>
            <a:schemeClr val="accent6">
              <a:alpha val="12000"/>
            </a:schemeClr>
          </a:solidFill>
          <a:ln w="15875">
            <a:solidFill>
              <a:schemeClr val="accent6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chemeClr val="accent6"/>
                </a:solidFill>
              </a:rPr>
              <a:t>先換 server 憑證、client 還沒信任新根 → PKIX 失敗(實測)</a:t>
            </a:r>
            <a:endParaRPr lang="en-US" sz="1000" dirty="0"/>
          </a:p>
        </p:txBody>
      </p:sp>
      <p:sp>
        <p:nvSpPr>
          <p:cNvPr id="39" name="Text 34"/>
          <p:cNvSpPr/>
          <p:nvPr/>
        </p:nvSpPr>
        <p:spPr>
          <a:xfrm>
            <a:off x="8257032" y="4901184"/>
            <a:ext cx="3200400" cy="420624"/>
          </a:xfrm>
          <a:prstGeom prst="roundRect">
            <a:avLst>
              <a:gd name="adj" fmla="val 45000"/>
            </a:avLst>
          </a:prstGeom>
          <a:solidFill>
            <a:schemeClr val="accent6">
              <a:alpha val="12000"/>
            </a:schemeClr>
          </a:solidFill>
          <a:ln w="15875">
            <a:solidFill>
              <a:schemeClr val="accent6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chemeClr val="accent6"/>
                </a:solidFill>
              </a:rPr>
              <a:t>移除舊根後,舊 CA 簽發且未重簽的 client 憑證被拒(實測)</a:t>
            </a:r>
            <a:endParaRPr lang="en-US" sz="1000" dirty="0"/>
          </a:p>
        </p:txBody>
      </p:sp>
      <p:sp>
        <p:nvSpPr>
          <p:cNvPr id="40" name="Text 35"/>
          <p:cNvSpPr/>
          <p:nvPr/>
        </p:nvSpPr>
        <p:spPr>
          <a:xfrm>
            <a:off x="548640" y="5623560"/>
            <a:ext cx="11091672" cy="594360"/>
          </a:xfrm>
          <a:prstGeom prst="roundRect">
            <a:avLst>
              <a:gd name="adj" fmla="val 9000"/>
            </a:avLst>
          </a:prstGeom>
          <a:solidFill>
            <a:schemeClr val="tx2"/>
          </a:solidFill>
          <a:ln w="19050">
            <a:solidFill>
              <a:schemeClr val="tx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chemeClr val="bg1"/>
                </a:solidFill>
              </a:rPr>
              <a:t>官方 CFK 憑證文件建議:先更新所有信任庫、再換憑證、逐台重啟,每個元件就緒再做下一個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tx2"/>
                </a:solidFill>
              </a:rPr>
              <a:t>元件更換順序:先信任、後出示、最後移除</a:t>
            </a:r>
            <a:endParaRPr lang="zh-TW" sz="2800" dirty="0"/>
          </a:p>
        </p:txBody>
      </p:sp>
      <p:sp>
        <p:nvSpPr>
          <p:cNvPr id="3" name="Text 1"/>
          <p:cNvSpPr/>
          <p:nvPr/>
        </p:nvSpPr>
        <p:spPr>
          <a:xfrm>
            <a:off x="3017520" y="1325880"/>
            <a:ext cx="2057400" cy="566928"/>
          </a:xfrm>
          <a:prstGeom prst="roundRect">
            <a:avLst>
              <a:gd name="adj" fmla="val 13500"/>
            </a:avLst>
          </a:prstGeom>
          <a:solidFill>
            <a:schemeClr val="tx2"/>
          </a:solidFill>
          <a:ln w="19050">
            <a:solidFill>
              <a:schemeClr val="tx2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① 信任庫:新舊並存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175504" y="1325880"/>
            <a:ext cx="2057400" cy="566928"/>
          </a:xfrm>
          <a:prstGeom prst="roundRect">
            <a:avLst>
              <a:gd name="adj" fmla="val 13500"/>
            </a:avLst>
          </a:prstGeom>
          <a:solidFill>
            <a:schemeClr val="tx2"/>
          </a:solidFill>
          <a:ln w="19050">
            <a:solidFill>
              <a:schemeClr val="tx2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② 換 server 憑證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33488" y="1325880"/>
            <a:ext cx="2057400" cy="566928"/>
          </a:xfrm>
          <a:prstGeom prst="roundRect">
            <a:avLst>
              <a:gd name="adj" fmla="val 13500"/>
            </a:avLst>
          </a:prstGeom>
          <a:solidFill>
            <a:schemeClr val="tx2"/>
          </a:solidFill>
          <a:ln w="19050">
            <a:solidFill>
              <a:schemeClr val="tx2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③ 重簽 client 憑證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491472" y="1325880"/>
            <a:ext cx="2057400" cy="566928"/>
          </a:xfrm>
          <a:prstGeom prst="roundRect">
            <a:avLst>
              <a:gd name="adj" fmla="val 13500"/>
            </a:avLst>
          </a:prstGeom>
          <a:solidFill>
            <a:schemeClr val="tx2"/>
          </a:solidFill>
          <a:ln w="19050">
            <a:solidFill>
              <a:schemeClr val="tx2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④ 移除舊根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2377440" cy="566928"/>
          </a:xfrm>
          <a:prstGeom prst="roundRect">
            <a:avLst>
              <a:gd name="adj" fmla="val 10800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121408"/>
            <a:ext cx="347472" cy="34747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97280" y="201168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chemeClr val="accent3"/>
                </a:solidFill>
              </a:rPr>
              <a:t>controller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017520" y="2011680"/>
            <a:ext cx="2057400" cy="566928"/>
          </a:xfrm>
          <a:prstGeom prst="roundRect">
            <a:avLst>
              <a:gd name="adj" fmla="val 13500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chemeClr val="accent3"/>
                </a:solidFill>
              </a:rPr>
              <a:t>逐台重啟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175504" y="2011680"/>
            <a:ext cx="2057400" cy="566928"/>
          </a:xfrm>
          <a:prstGeom prst="roundRect">
            <a:avLst>
              <a:gd name="adj" fmla="val 13500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chemeClr val="accent3"/>
                </a:solidFill>
              </a:rPr>
              <a:t>逐台重啟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7333488" y="201168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chemeClr val="tx1">
                    <a:alpha val="62000"/>
                  </a:schemeClr>
                </a:solidFill>
              </a:rPr>
              <a:t>不用動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9491472" y="2011680"/>
            <a:ext cx="2057400" cy="566928"/>
          </a:xfrm>
          <a:prstGeom prst="roundRect">
            <a:avLst>
              <a:gd name="adj" fmla="val 13500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chemeClr val="accent3"/>
                </a:solidFill>
              </a:rPr>
              <a:t>逐台重啟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48640" y="2688336"/>
            <a:ext cx="2377440" cy="566928"/>
          </a:xfrm>
          <a:prstGeom prst="roundRect">
            <a:avLst>
              <a:gd name="adj" fmla="val 10800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798064"/>
            <a:ext cx="347472" cy="34747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097280" y="2688336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chemeClr val="accent1"/>
                </a:solidFill>
              </a:rPr>
              <a:t>broker(含 MDS)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017520" y="2688336"/>
            <a:ext cx="2057400" cy="566928"/>
          </a:xfrm>
          <a:prstGeom prst="roundRect">
            <a:avLst>
              <a:gd name="adj" fmla="val 13500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chemeClr val="accent1"/>
                </a:solidFill>
              </a:rPr>
              <a:t>逐台重啟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5175504" y="2688336"/>
            <a:ext cx="2057400" cy="566928"/>
          </a:xfrm>
          <a:prstGeom prst="roundRect">
            <a:avLst>
              <a:gd name="adj" fmla="val 13500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chemeClr val="accent1"/>
                </a:solidFill>
              </a:rPr>
              <a:t>逐台重啟</a:t>
            </a:r>
            <a:endParaRPr lang="en-US" sz="1150" dirty="0"/>
          </a:p>
        </p:txBody>
      </p:sp>
      <p:sp>
        <p:nvSpPr>
          <p:cNvPr id="19" name="Text 15"/>
          <p:cNvSpPr txBox="1"/>
          <p:nvPr/>
        </p:nvSpPr>
        <p:spPr>
          <a:xfrm>
            <a:off x="7333488" y="2688336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chemeClr val="tx1">
                    <a:alpha val="62000"/>
                  </a:schemeClr>
                </a:solidFill>
              </a:rPr>
              <a:t>不用動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9491472" y="2688336"/>
            <a:ext cx="2057400" cy="566928"/>
          </a:xfrm>
          <a:prstGeom prst="roundRect">
            <a:avLst>
              <a:gd name="adj" fmla="val 13500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chemeClr val="accent1"/>
                </a:solidFill>
              </a:rPr>
              <a:t>逐台重啟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548640" y="3364992"/>
            <a:ext cx="2377440" cy="566928"/>
          </a:xfrm>
          <a:prstGeom prst="roundRect">
            <a:avLst>
              <a:gd name="adj" fmla="val 10800"/>
            </a:avLst>
          </a:prstGeom>
          <a:solidFill>
            <a:schemeClr val="accent2">
              <a:alpha val="12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474720"/>
            <a:ext cx="347472" cy="347472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097280" y="3364992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chemeClr val="accent2"/>
                </a:solidFill>
              </a:rPr>
              <a:t>REST Proxy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3017520" y="3364992"/>
            <a:ext cx="2057400" cy="566928"/>
          </a:xfrm>
          <a:prstGeom prst="roundRect">
            <a:avLst>
              <a:gd name="adj" fmla="val 13500"/>
            </a:avLst>
          </a:prstGeom>
          <a:solidFill>
            <a:schemeClr val="accent2">
              <a:alpha val="12000"/>
            </a:schemeClr>
          </a:solidFill>
          <a:ln w="12700">
            <a:solidFill>
              <a:schemeClr val="accent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chemeClr val="accent2"/>
                </a:solidFill>
              </a:rPr>
              <a:t>重啟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5175504" y="3364992"/>
            <a:ext cx="2057400" cy="566928"/>
          </a:xfrm>
          <a:prstGeom prst="roundRect">
            <a:avLst>
              <a:gd name="adj" fmla="val 13500"/>
            </a:avLst>
          </a:prstGeom>
          <a:solidFill>
            <a:schemeClr val="accent2">
              <a:alpha val="12000"/>
            </a:schemeClr>
          </a:solidFill>
          <a:ln w="12700">
            <a:solidFill>
              <a:schemeClr val="accent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chemeClr val="accent2"/>
                </a:solidFill>
              </a:rPr>
              <a:t>重啟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7333488" y="3364992"/>
            <a:ext cx="2057400" cy="566928"/>
          </a:xfrm>
          <a:prstGeom prst="roundRect">
            <a:avLst>
              <a:gd name="adj" fmla="val 13500"/>
            </a:avLst>
          </a:prstGeom>
          <a:solidFill>
            <a:schemeClr val="accent2">
              <a:alpha val="12000"/>
            </a:schemeClr>
          </a:solidFill>
          <a:ln w="12700">
            <a:solidFill>
              <a:schemeClr val="accent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chemeClr val="accent2"/>
                </a:solidFill>
              </a:rPr>
              <a:t>重啟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9491472" y="3364992"/>
            <a:ext cx="2057400" cy="566928"/>
          </a:xfrm>
          <a:prstGeom prst="roundRect">
            <a:avLst>
              <a:gd name="adj" fmla="val 13500"/>
            </a:avLst>
          </a:prstGeom>
          <a:solidFill>
            <a:schemeClr val="accent2">
              <a:alpha val="12000"/>
            </a:schemeClr>
          </a:solidFill>
          <a:ln w="12700">
            <a:solidFill>
              <a:schemeClr val="accent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chemeClr val="accent2"/>
                </a:solidFill>
              </a:rPr>
              <a:t>重啟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548640" y="4041648"/>
            <a:ext cx="2377440" cy="566928"/>
          </a:xfrm>
          <a:prstGeom prst="roundRect">
            <a:avLst>
              <a:gd name="adj" fmla="val 10800"/>
            </a:avLst>
          </a:prstGeom>
          <a:solidFill>
            <a:schemeClr val="accent5">
              <a:alpha val="12000"/>
            </a:schemeClr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151376"/>
            <a:ext cx="347472" cy="347472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1097280" y="4041648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chemeClr val="accent5"/>
                </a:solidFill>
              </a:rPr>
              <a:t>Control Center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3017520" y="4041648"/>
            <a:ext cx="2057400" cy="566928"/>
          </a:xfrm>
          <a:prstGeom prst="roundRect">
            <a:avLst>
              <a:gd name="adj" fmla="val 13500"/>
            </a:avLst>
          </a:prstGeom>
          <a:solidFill>
            <a:schemeClr val="accent5">
              <a:alpha val="12000"/>
            </a:schemeClr>
          </a:solidFill>
          <a:ln w="12700">
            <a:solidFill>
              <a:schemeClr val="accent5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chemeClr val="accent5"/>
                </a:solidFill>
              </a:rPr>
              <a:t>重啟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5175504" y="4041648"/>
            <a:ext cx="2057400" cy="566928"/>
          </a:xfrm>
          <a:prstGeom prst="roundRect">
            <a:avLst>
              <a:gd name="adj" fmla="val 13500"/>
            </a:avLst>
          </a:prstGeom>
          <a:solidFill>
            <a:schemeClr val="accent5">
              <a:alpha val="12000"/>
            </a:schemeClr>
          </a:solidFill>
          <a:ln w="12700">
            <a:solidFill>
              <a:schemeClr val="accent5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chemeClr val="accent5"/>
                </a:solidFill>
              </a:rPr>
              <a:t>重啟</a:t>
            </a:r>
            <a:endParaRPr lang="en-US" sz="1150" dirty="0"/>
          </a:p>
        </p:txBody>
      </p:sp>
      <p:sp>
        <p:nvSpPr>
          <p:cNvPr id="33" name="Text 27"/>
          <p:cNvSpPr/>
          <p:nvPr/>
        </p:nvSpPr>
        <p:spPr>
          <a:xfrm>
            <a:off x="7333488" y="4041648"/>
            <a:ext cx="2057400" cy="566928"/>
          </a:xfrm>
          <a:prstGeom prst="roundRect">
            <a:avLst>
              <a:gd name="adj" fmla="val 13500"/>
            </a:avLst>
          </a:prstGeom>
          <a:solidFill>
            <a:schemeClr val="accent5">
              <a:alpha val="12000"/>
            </a:schemeClr>
          </a:solidFill>
          <a:ln w="12700">
            <a:solidFill>
              <a:schemeClr val="accent5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chemeClr val="accent5"/>
                </a:solidFill>
              </a:rPr>
              <a:t>重啟</a:t>
            </a:r>
            <a:endParaRPr lang="en-US" sz="1150" dirty="0"/>
          </a:p>
        </p:txBody>
      </p:sp>
      <p:sp>
        <p:nvSpPr>
          <p:cNvPr id="34" name="Text 28"/>
          <p:cNvSpPr/>
          <p:nvPr/>
        </p:nvSpPr>
        <p:spPr>
          <a:xfrm>
            <a:off x="9491472" y="4041648"/>
            <a:ext cx="2057400" cy="566928"/>
          </a:xfrm>
          <a:prstGeom prst="roundRect">
            <a:avLst>
              <a:gd name="adj" fmla="val 13500"/>
            </a:avLst>
          </a:prstGeom>
          <a:solidFill>
            <a:schemeClr val="accent5">
              <a:alpha val="12000"/>
            </a:schemeClr>
          </a:solidFill>
          <a:ln w="12700">
            <a:solidFill>
              <a:schemeClr val="accent5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chemeClr val="accent5"/>
                </a:solidFill>
              </a:rPr>
              <a:t>重啟</a:t>
            </a:r>
            <a:endParaRPr lang="en-US" sz="1150" dirty="0"/>
          </a:p>
        </p:txBody>
      </p:sp>
      <p:sp>
        <p:nvSpPr>
          <p:cNvPr id="35" name="Shape 29"/>
          <p:cNvSpPr/>
          <p:nvPr/>
        </p:nvSpPr>
        <p:spPr>
          <a:xfrm>
            <a:off x="548640" y="4718304"/>
            <a:ext cx="2377440" cy="566928"/>
          </a:xfrm>
          <a:prstGeom prst="roundRect">
            <a:avLst>
              <a:gd name="adj" fmla="val 10800"/>
            </a:avLst>
          </a:prstGeom>
          <a:solidFill>
            <a:schemeClr val="tx2">
              <a:alpha val="12000"/>
            </a:schemeClr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4828032"/>
            <a:ext cx="347472" cy="347472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1097280" y="4718304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chemeClr val="tx2"/>
                </a:solidFill>
              </a:rPr>
              <a:t>應用 / CLI(client)</a:t>
            </a:r>
            <a:endParaRPr lang="en-US" sz="1200" dirty="0"/>
          </a:p>
        </p:txBody>
      </p:sp>
      <p:sp>
        <p:nvSpPr>
          <p:cNvPr id="38" name="Text 31"/>
          <p:cNvSpPr/>
          <p:nvPr/>
        </p:nvSpPr>
        <p:spPr>
          <a:xfrm>
            <a:off x="3017520" y="4718304"/>
            <a:ext cx="2057400" cy="566928"/>
          </a:xfrm>
          <a:prstGeom prst="roundRect">
            <a:avLst>
              <a:gd name="adj" fmla="val 13500"/>
            </a:avLst>
          </a:prstGeom>
          <a:solidFill>
            <a:schemeClr val="tx2">
              <a:alpha val="12000"/>
            </a:schemeClr>
          </a:solidFill>
          <a:ln w="12700">
            <a:solidFill>
              <a:schemeClr val="tx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chemeClr val="tx2"/>
                </a:solidFill>
              </a:rPr>
              <a:t>信任庫加新根</a:t>
            </a:r>
            <a:endParaRPr lang="en-US" sz="1150" dirty="0"/>
          </a:p>
        </p:txBody>
      </p:sp>
      <p:sp>
        <p:nvSpPr>
          <p:cNvPr id="39" name="Text 32"/>
          <p:cNvSpPr txBox="1"/>
          <p:nvPr/>
        </p:nvSpPr>
        <p:spPr>
          <a:xfrm>
            <a:off x="5175504" y="4718304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chemeClr val="tx1">
                    <a:alpha val="62000"/>
                  </a:schemeClr>
                </a:solidFill>
              </a:rPr>
              <a:t>不用動</a:t>
            </a:r>
            <a:endParaRPr lang="en-US" sz="1150" dirty="0"/>
          </a:p>
        </p:txBody>
      </p:sp>
      <p:sp>
        <p:nvSpPr>
          <p:cNvPr id="40" name="Text 33"/>
          <p:cNvSpPr/>
          <p:nvPr/>
        </p:nvSpPr>
        <p:spPr>
          <a:xfrm>
            <a:off x="7333488" y="4718304"/>
            <a:ext cx="2057400" cy="566928"/>
          </a:xfrm>
          <a:prstGeom prst="roundRect">
            <a:avLst>
              <a:gd name="adj" fmla="val 13500"/>
            </a:avLst>
          </a:prstGeom>
          <a:solidFill>
            <a:schemeClr val="tx2">
              <a:alpha val="12000"/>
            </a:schemeClr>
          </a:solidFill>
          <a:ln w="12700">
            <a:solidFill>
              <a:schemeClr val="tx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chemeClr val="tx2"/>
                </a:solidFill>
              </a:rPr>
              <a:t>legacy app 換新憑證</a:t>
            </a:r>
            <a:endParaRPr lang="en-US" sz="1150" dirty="0"/>
          </a:p>
        </p:txBody>
      </p:sp>
      <p:sp>
        <p:nvSpPr>
          <p:cNvPr id="41" name="Text 34"/>
          <p:cNvSpPr/>
          <p:nvPr/>
        </p:nvSpPr>
        <p:spPr>
          <a:xfrm>
            <a:off x="9491472" y="4718304"/>
            <a:ext cx="2057400" cy="566928"/>
          </a:xfrm>
          <a:prstGeom prst="roundRect">
            <a:avLst>
              <a:gd name="adj" fmla="val 13500"/>
            </a:avLst>
          </a:prstGeom>
          <a:solidFill>
            <a:schemeClr val="tx2">
              <a:alpha val="12000"/>
            </a:schemeClr>
          </a:solidFill>
          <a:ln w="12700">
            <a:solidFill>
              <a:schemeClr val="tx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chemeClr val="tx2"/>
                </a:solidFill>
              </a:rPr>
              <a:t>信任庫移除舊根</a:t>
            </a:r>
            <a:endParaRPr lang="en-US" sz="1150" dirty="0"/>
          </a:p>
        </p:txBody>
      </p:sp>
      <p:sp>
        <p:nvSpPr>
          <p:cNvPr id="42" name="Text 35"/>
          <p:cNvSpPr/>
          <p:nvPr/>
        </p:nvSpPr>
        <p:spPr>
          <a:xfrm>
            <a:off x="548640" y="5440680"/>
            <a:ext cx="5440680" cy="777240"/>
          </a:xfrm>
          <a:prstGeom prst="roundRect">
            <a:avLst>
              <a:gd name="adj" fmla="val 5400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</a:ln>
        </p:spPr>
        <p:txBody>
          <a:bodyPr wrap="square" lIns="109728" tIns="109728" rIns="109728" bIns="109728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zh-TW" altLang="en-US" sz="1150" b="1" dirty="0">
                <a:solidFill>
                  <a:schemeClr val="accent3"/>
                </a:solidFill>
              </a:rPr>
              <a:t>每階段:controller(逐台)→ broker(逐台)→ REST Proxy → C3,就緒才做下一個</a:t>
            </a:r>
            <a:endParaRPr lang="en-US" sz="115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chemeClr val="accent3"/>
                </a:solidFill>
              </a:rPr>
              <a:t>CFK 憑證文件:信任庫先於憑證、每階段全部元件做完 · 元件順序:參考升級文件</a:t>
            </a:r>
            <a:endParaRPr lang="en-US" sz="1150" dirty="0"/>
          </a:p>
        </p:txBody>
      </p:sp>
      <p:sp>
        <p:nvSpPr>
          <p:cNvPr id="43" name="Text 36"/>
          <p:cNvSpPr/>
          <p:nvPr/>
        </p:nvSpPr>
        <p:spPr>
          <a:xfrm>
            <a:off x="6199632" y="5440680"/>
            <a:ext cx="5440680" cy="777240"/>
          </a:xfrm>
          <a:prstGeom prst="roundRect">
            <a:avLst>
              <a:gd name="adj" fmla="val 5400"/>
            </a:avLst>
          </a:prstGeom>
          <a:solidFill>
            <a:schemeClr val="accent6">
              <a:alpha val="12000"/>
            </a:schemeClr>
          </a:solidFill>
          <a:ln w="12700">
            <a:solidFill>
              <a:schemeClr val="accent6"/>
            </a:solidFill>
          </a:ln>
        </p:spPr>
        <p:txBody>
          <a:bodyPr wrap="square" lIns="109728" tIns="109728" rIns="109728" bIns="109728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zh-TW" altLang="en-US" sz="1150" b="1" dirty="0">
                <a:solidFill>
                  <a:schemeClr val="accent6"/>
                </a:solidFill>
              </a:rPr>
              <a:t>只換檔沒重啟,各元件仍出示舊憑證(實測)</a:t>
            </a:r>
            <a:endParaRPr lang="en-US" sz="115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chemeClr val="accent6"/>
                </a:solidFill>
              </a:rPr>
              <a:t>controller 與 broker 沒有 client 憑證 → ③ 階段不用重啟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tx2"/>
                </a:solidFill>
              </a:rPr>
              <a:t>Controller(KRaft)</a:t>
            </a:r>
            <a:endParaRPr lang="zh-TW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554480" cy="1188720"/>
          </a:xfrm>
          <a:prstGeom prst="roundRect">
            <a:avLst>
              <a:gd name="adj" fmla="val 9000"/>
            </a:avLst>
          </a:prstGeom>
          <a:solidFill>
            <a:schemeClr val="accent3">
              <a:alpha val="1200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155448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3">
              <a:alpha val="1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2261" y="167518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194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tx1"/>
                </a:solidFill>
              </a:rPr>
              <a:t>controller 1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286000" y="1463040"/>
            <a:ext cx="1554480" cy="1188720"/>
          </a:xfrm>
          <a:prstGeom prst="roundRect">
            <a:avLst>
              <a:gd name="adj" fmla="val 9000"/>
            </a:avLst>
          </a:prstGeom>
          <a:solidFill>
            <a:schemeClr val="accent3">
              <a:alpha val="1200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88920" y="155448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3">
              <a:alpha val="1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9621" y="167518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286000" y="2194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tx1"/>
                </a:solidFill>
              </a:rPr>
              <a:t>controller 2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023360" y="1463040"/>
            <a:ext cx="1554480" cy="1188720"/>
          </a:xfrm>
          <a:prstGeom prst="roundRect">
            <a:avLst>
              <a:gd name="adj" fmla="val 9000"/>
            </a:avLst>
          </a:prstGeom>
          <a:solidFill>
            <a:schemeClr val="accent3">
              <a:alpha val="1200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26280" y="155448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3">
              <a:alpha val="1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6981" y="1675181"/>
            <a:ext cx="307238" cy="30723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023360" y="2194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tx1"/>
                </a:solidFill>
              </a:rPr>
              <a:t>controller 3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548640" y="2743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chemeClr val="accent2"/>
                </a:solidFill>
              </a:rPr>
              <a:t>Raft quorum:正式環境 3 個;主 demo 1 個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943600" y="1463040"/>
            <a:ext cx="5696712" cy="2194560"/>
          </a:xfrm>
          <a:prstGeom prst="roundRect">
            <a:avLst>
              <a:gd name="adj" fmla="val 9000"/>
            </a:avLst>
          </a:prstGeom>
          <a:solidFill>
            <a:schemeClr val="accent3">
              <a:alpha val="1200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126480" y="15544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chemeClr val="accent3"/>
                </a:solidFill>
              </a:rPr>
              <a:t>CONTROLLER 9093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126480" y="2011680"/>
            <a:ext cx="1554480" cy="384048"/>
          </a:xfrm>
          <a:prstGeom prst="roundRect">
            <a:avLst>
              <a:gd name="adj" fmla="val 45000"/>
            </a:avLst>
          </a:prstGeom>
          <a:solidFill>
            <a:schemeClr val="accent3">
              <a:alpha val="12000"/>
            </a:schemeClr>
          </a:solidFill>
          <a:ln w="15875">
            <a:solidFill>
              <a:schemeClr val="accent3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3"/>
                </a:solidFill>
              </a:rPr>
              <a:t>SASL_SSL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7772400" y="2011680"/>
            <a:ext cx="1737360" cy="384048"/>
          </a:xfrm>
          <a:prstGeom prst="roundRect">
            <a:avLst>
              <a:gd name="adj" fmla="val 45000"/>
            </a:avLst>
          </a:prstGeom>
          <a:solidFill>
            <a:schemeClr val="accent3">
              <a:alpha val="12000"/>
            </a:schemeClr>
          </a:solidFill>
          <a:ln w="15875">
            <a:solidFill>
              <a:schemeClr val="accent3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3"/>
                </a:solidFill>
              </a:rPr>
              <a:t>SASL/PLAIN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9601200" y="2011680"/>
            <a:ext cx="1828800" cy="384048"/>
          </a:xfrm>
          <a:prstGeom prst="roundRect">
            <a:avLst>
              <a:gd name="adj" fmla="val 45000"/>
            </a:avLst>
          </a:prstGeom>
          <a:solidFill>
            <a:schemeClr val="accent3">
              <a:alpha val="12000"/>
            </a:schemeClr>
          </a:solidFill>
          <a:ln w="15875">
            <a:solidFill>
              <a:schemeClr val="accent3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3"/>
                </a:solidFill>
              </a:rPr>
              <a:t>靜態內部帳號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6126480" y="256032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帳號:kafka-controller · kafka-broker</a:t>
            </a:r>
            <a:endParaRPr lang="en-US" sz="13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b="1" dirty="0">
                <a:solidFill>
                  <a:schemeClr val="accent3"/>
                </a:solidFill>
              </a:rPr>
              <a:t>controller → broker(9092):SCRAM 身分 kafka-controller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zh-TW" altLang="en-US" sz="1200" dirty="0">
                <a:solidFill>
                  <a:schemeClr val="tx1">
                    <a:alpha val="62000"/>
                  </a:schemeClr>
                </a:solidFill>
              </a:rPr>
              <a:t>授權資料(role binding、使用者→群組)透過 broker 的 RBAC topic 取得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548640" y="3429000"/>
            <a:ext cx="5029200" cy="1005840"/>
          </a:xfrm>
          <a:prstGeom prst="roundRect">
            <a:avLst>
              <a:gd name="adj" fmla="val 5400"/>
            </a:avLst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731520" y="35204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chemeClr val="accent3"/>
                </a:solidFill>
              </a:rPr>
              <a:t>授權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250" dirty="0">
                <a:solidFill>
                  <a:schemeClr val="tx1"/>
                </a:solidFill>
              </a:rPr>
              <a:t>ConfluentServerAuthorizer + super.users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548640" y="4663440"/>
            <a:ext cx="5029200" cy="914400"/>
          </a:xfrm>
          <a:prstGeom prst="roundRect">
            <a:avLst>
              <a:gd name="adj" fmla="val 9000"/>
            </a:avLst>
          </a:prstGeom>
          <a:solidFill>
            <a:schemeClr val="accent6">
              <a:alpha val="12000"/>
            </a:schemeClr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85800" y="4754880"/>
            <a:ext cx="640080" cy="640080"/>
          </a:xfrm>
          <a:prstGeom prst="roundRect">
            <a:avLst>
              <a:gd name="adj" fmla="val 45000"/>
            </a:avLst>
          </a:prstGeom>
          <a:solidFill>
            <a:schemeClr val="accent6">
              <a:alpha val="15000"/>
            </a:schemeClr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618" y="4895698"/>
            <a:ext cx="358445" cy="358445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463040" y="475488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chemeClr val="accent6"/>
                </a:solidFill>
              </a:rPr>
              <a:t>防火牆:9093 只開給 broker / controller 節點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5943600" y="3794760"/>
            <a:ext cx="5696712" cy="1828800"/>
          </a:xfrm>
          <a:prstGeom prst="roundRect">
            <a:avLst>
              <a:gd name="adj" fmla="val 9000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6080760" y="3931920"/>
            <a:ext cx="640080" cy="640080"/>
          </a:xfrm>
          <a:prstGeom prst="roundRect">
            <a:avLst>
              <a:gd name="adj" fmla="val 45000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1578" y="4072738"/>
            <a:ext cx="358445" cy="358445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6903720" y="3858768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400" b="1" dirty="0">
                <a:solidFill>
                  <a:schemeClr val="accent2"/>
                </a:solidFill>
              </a:rPr>
              <a:t>為什麼是 PLAIN 靜態帳號:三種做法逐一排除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dirty="0">
                <a:solidFill>
                  <a:schemeClr val="tx1"/>
                </a:solidFill>
              </a:rPr>
              <a:t>•  不用 SCRAM:官方 SCRAM overview 頁說明 controller listener 不支援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dirty="0">
                <a:solidFill>
                  <a:schemeClr val="tx1"/>
                </a:solidFill>
              </a:rPr>
              <a:t>•  不走 AD:AD 不含服務帳號,而且內部通道一旦依賴 AD,AD 異常時就會牽連叢集本身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dirty="0">
                <a:solidFill>
                  <a:schemeClr val="tx1"/>
                </a:solidFill>
              </a:rPr>
              <a:t>•  不走 mTLS:客戶希望憑證越少越好,不為內部通道另發 client 憑證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200" b="1" dirty="0">
                <a:solidFill>
                  <a:schemeClr val="accent2"/>
                </a:solidFill>
              </a:rPr>
              <a:t>→ 因此採用 PLAIN 靜態帳號:帳號寫在 JAAS 設定,不依賴 AD、不另發憑證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548640" y="5806440"/>
            <a:ext cx="11091672" cy="457200"/>
          </a:xfrm>
          <a:prstGeom prst="roundRect">
            <a:avLst>
              <a:gd name="adj" fmla="val 9000"/>
            </a:avLst>
          </a:prstGeom>
          <a:solidFill>
            <a:schemeClr val="tx2"/>
          </a:solidFill>
          <a:ln w="19050">
            <a:solidFill>
              <a:schemeClr val="tx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bg1"/>
                </a:solidFill>
              </a:rPr>
              <a:t>controller 只認內部帳號;人與服務都不直接連它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tx2"/>
                </a:solidFill>
              </a:rPr>
              <a:t>Broker:三個入口,各管一件事</a:t>
            </a:r>
            <a:endParaRPr lang="zh-TW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103120" cy="3931920"/>
          </a:xfrm>
          <a:prstGeom prst="roundRect">
            <a:avLst>
              <a:gd name="adj" fmla="val 90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1600200"/>
            <a:ext cx="1097280" cy="1097280"/>
          </a:xfrm>
          <a:prstGeom prst="roundRect">
            <a:avLst>
              <a:gd name="adj" fmla="val 45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2962" y="1841602"/>
            <a:ext cx="614477" cy="61447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834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2000" b="1" dirty="0">
                <a:solidFill>
                  <a:schemeClr val="accent1"/>
                </a:solidFill>
              </a:rPr>
              <a:t>broker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33756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zh-TW" altLang="en-US" sz="1100" dirty="0">
                <a:solidFill>
                  <a:schemeClr val="tx1">
                    <a:alpha val="62000"/>
                  </a:schemeClr>
                </a:solidFill>
              </a:rPr>
              <a:t>ConfluentServerAuthorizer</a:t>
            </a:r>
            <a:endParaRPr lang="en-US" sz="11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zh-TW" altLang="en-US" sz="1050" dirty="0">
                <a:solidFill>
                  <a:schemeClr val="tx1">
                    <a:alpha val="62000"/>
                  </a:schemeClr>
                </a:solidFill>
              </a:rPr>
              <a:t>Kafka 埠不要求 client 憑證(MDS 才要求)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 flipV="1">
            <a:off x="2651760" y="2011680"/>
            <a:ext cx="457200" cy="137160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3108960" y="1417320"/>
            <a:ext cx="8531352" cy="1188720"/>
          </a:xfrm>
          <a:prstGeom prst="roundRect">
            <a:avLst>
              <a:gd name="adj" fmla="val 5400"/>
            </a:avLst>
          </a:prstGeom>
          <a:solidFill>
            <a:schemeClr val="accent3">
              <a:alpha val="1200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46120" y="1691640"/>
            <a:ext cx="640080" cy="640080"/>
          </a:xfrm>
          <a:prstGeom prst="roundRect">
            <a:avLst>
              <a:gd name="adj" fmla="val 45000"/>
            </a:avLst>
          </a:prstGeom>
          <a:solidFill>
            <a:schemeClr val="accent3">
              <a:alpha val="1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6938" y="1832458"/>
            <a:ext cx="358445" cy="35844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069080" y="152704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chemeClr val="accent3"/>
                </a:solidFill>
              </a:rPr>
              <a:t>INTERNAL 9092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069080" y="201168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SASL_SSL · SCRAM-SHA-512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8229600" y="152704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TW" altLang="en-US" sz="1200" dirty="0">
                <a:solidFill>
                  <a:schemeClr val="tx1">
                    <a:alpha val="62000"/>
                  </a:schemeClr>
                </a:solidFill>
              </a:rPr>
              <a:t>broker ↔ broker</a:t>
            </a:r>
            <a:endParaRPr lang="en-US" sz="1200" dirty="0"/>
          </a:p>
          <a:p>
            <a:pPr algn="r" indent="0" marL="0">
              <a:buNone/>
            </a:pPr>
            <a:r>
              <a:rPr lang="zh-TW" altLang="en-US" sz="1200" dirty="0">
                <a:solidFill>
                  <a:schemeClr val="tx1">
                    <a:alpha val="62000"/>
                  </a:schemeClr>
                </a:solidFill>
              </a:rPr>
              <a:t>controller → broker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 flipV="1">
            <a:off x="2651760" y="3383280"/>
            <a:ext cx="45720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3108960" y="2788920"/>
            <a:ext cx="8531352" cy="1188720"/>
          </a:xfrm>
          <a:prstGeom prst="roundRect">
            <a:avLst>
              <a:gd name="adj" fmla="val 54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246120" y="3063240"/>
            <a:ext cx="640080" cy="640080"/>
          </a:xfrm>
          <a:prstGeom prst="roundRect">
            <a:avLst>
              <a:gd name="adj" fmla="val 45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938" y="3204058"/>
            <a:ext cx="358445" cy="35844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069080" y="289864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chemeClr val="accent1"/>
                </a:solidFill>
              </a:rPr>
              <a:t>CLIENT 9094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4069080" y="338328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SASL_SSL · PLAIN+LDAP / SCRAM / OAUTHBEARER(帶 MDS token)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8229600" y="289864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TW" altLang="en-US" sz="1200" dirty="0">
                <a:solidFill>
                  <a:schemeClr val="tx1">
                    <a:alpha val="62000"/>
                  </a:schemeClr>
                </a:solidFill>
              </a:rPr>
              <a:t>人 · 服務 · token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2651760" y="3383280"/>
            <a:ext cx="457200" cy="137160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3" name="Shape 18"/>
          <p:cNvSpPr/>
          <p:nvPr/>
        </p:nvSpPr>
        <p:spPr>
          <a:xfrm>
            <a:off x="3108960" y="4160520"/>
            <a:ext cx="8531352" cy="1188720"/>
          </a:xfrm>
          <a:prstGeom prst="roundRect">
            <a:avLst>
              <a:gd name="adj" fmla="val 5400"/>
            </a:avLst>
          </a:prstGeom>
          <a:solidFill>
            <a:schemeClr val="accent5">
              <a:alpha val="1200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3246120" y="4434840"/>
            <a:ext cx="640080" cy="640080"/>
          </a:xfrm>
          <a:prstGeom prst="roundRect">
            <a:avLst>
              <a:gd name="adj" fmla="val 45000"/>
            </a:avLst>
          </a:prstGeom>
          <a:solidFill>
            <a:schemeClr val="accent5">
              <a:alpha val="15000"/>
            </a:schemeClr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6938" y="4575658"/>
            <a:ext cx="358445" cy="358445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4069080" y="427024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chemeClr val="accent5"/>
                </a:solidFill>
              </a:rPr>
              <a:t>MDS 8091</a:t>
            </a:r>
            <a:endParaRPr lang="en-US" sz="1700" dirty="0"/>
          </a:p>
        </p:txBody>
      </p:sp>
      <p:sp>
        <p:nvSpPr>
          <p:cNvPr id="27" name="Text 21"/>
          <p:cNvSpPr txBox="1"/>
          <p:nvPr/>
        </p:nvSpPr>
        <p:spPr>
          <a:xfrm>
            <a:off x="4069080" y="475488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HTTPS · Basic(LDAP)/ Bearer / client 憑證(REQUESTED)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8229600" y="427024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TW" altLang="en-US" sz="1200" dirty="0">
                <a:solidFill>
                  <a:schemeClr val="tx1">
                    <a:alpha val="62000"/>
                  </a:schemeClr>
                </a:solidFill>
              </a:rPr>
              <a:t>C3 · REST Proxy · 管理 API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548640" y="5577840"/>
            <a:ext cx="7589520" cy="548640"/>
          </a:xfrm>
          <a:prstGeom prst="roundRect">
            <a:avLst>
              <a:gd name="adj" fmla="val 45000"/>
            </a:avLst>
          </a:prstGeom>
          <a:solidFill>
            <a:schemeClr val="accent6">
              <a:alpha val="12000"/>
            </a:schemeClr>
          </a:solidFill>
          <a:ln w="15875">
            <a:solidFill>
              <a:schemeClr val="accent6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accent6"/>
                </a:solidFill>
              </a:rPr>
              <a:t>內部通道不走 AD、不走 mTLS(AD 不含服務帳號、憑證不另發)→ 身分由帳號提供:INTERNAL 用 SCRAM、CONTROLLER 用 PLAIN;LDAP callback 只掛 CLIENT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8275320" y="5577840"/>
            <a:ext cx="3364992" cy="548640"/>
          </a:xfrm>
          <a:prstGeom prst="roundRect">
            <a:avLst>
              <a:gd name="adj" fmla="val 45000"/>
            </a:avLst>
          </a:prstGeom>
          <a:solidFill>
            <a:schemeClr val="accent6">
              <a:alpha val="12000"/>
            </a:schemeClr>
          </a:solidFill>
          <a:ln w="15875">
            <a:solidFill>
              <a:schemeClr val="accent6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chemeClr val="accent6"/>
                </a:solidFill>
              </a:rPr>
              <a:t>防火牆:9092 只開給 broker / controller 節點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tx2"/>
                </a:solidFill>
              </a:rPr>
              <a:t>MDS:RBAC 的中樞(內嵌於 broker)</a:t>
            </a:r>
            <a:endParaRPr lang="zh-TW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514600" cy="1920240"/>
          </a:xfrm>
          <a:prstGeom prst="roundRect">
            <a:avLst>
              <a:gd name="adj" fmla="val 7200"/>
            </a:avLst>
          </a:prstGeom>
          <a:solidFill>
            <a:schemeClr val="tx2">
              <a:alpha val="12000"/>
            </a:schemeClr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31620" y="155448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tx2">
              <a:alpha val="15000"/>
            </a:schemeClr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2321" y="167518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21792" y="2194560"/>
            <a:ext cx="2368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tx2"/>
                </a:solidFill>
              </a:rPr>
              <a:t>管理者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6060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chemeClr val="tx1">
                    <a:alpha val="62000"/>
                  </a:schemeClr>
                </a:solidFill>
              </a:rPr>
              <a:t>在 C3 或 API 指派 role binding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383280" y="1417320"/>
            <a:ext cx="2514600" cy="1920240"/>
          </a:xfrm>
          <a:prstGeom prst="roundRect">
            <a:avLst>
              <a:gd name="adj" fmla="val 7200"/>
            </a:avLst>
          </a:prstGeom>
          <a:solidFill>
            <a:schemeClr val="accent5">
              <a:alpha val="1200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366260" y="155448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5">
              <a:alpha val="15000"/>
            </a:schemeClr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6961" y="167518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56432" y="2194560"/>
            <a:ext cx="2368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5"/>
                </a:solidFill>
              </a:rPr>
              <a:t>MDS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3474720" y="26060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chemeClr val="tx1">
                    <a:alpha val="62000"/>
                  </a:schemeClr>
                </a:solidFill>
              </a:rPr>
              <a:t>認證:Basic(AD)· MDS token(Bearer)· client 憑證(mTLS)</a:t>
            </a:r>
            <a:endParaRPr lang="en-US" sz="1150" dirty="0"/>
          </a:p>
          <a:p>
            <a:pPr algn="ctr" indent="0" marL="0">
              <a:buNone/>
            </a:pPr>
            <a:r>
              <a:rPr lang="zh-TW" altLang="en-US" sz="1150" dirty="0">
                <a:solidFill>
                  <a:schemeClr val="tx1">
                    <a:alpha val="62000"/>
                  </a:schemeClr>
                </a:solidFill>
              </a:rPr>
              <a:t>換 token · 管理 RBAC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217920" y="1417320"/>
            <a:ext cx="2514600" cy="1920240"/>
          </a:xfrm>
          <a:prstGeom prst="roundRect">
            <a:avLst>
              <a:gd name="adj" fmla="val 7200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200900" y="155448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1601" y="167518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91072" y="2194560"/>
            <a:ext cx="2368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2"/>
                </a:solidFill>
              </a:rPr>
              <a:t>RBAC topic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6309360" y="26060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chemeClr val="tx1">
                    <a:alpha val="62000"/>
                  </a:schemeClr>
                </a:solidFill>
              </a:rPr>
              <a:t>role binding 與使用者→群組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9052560" y="1417320"/>
            <a:ext cx="2514600" cy="1920240"/>
          </a:xfrm>
          <a:prstGeom prst="roundRect">
            <a:avLst>
              <a:gd name="adj" fmla="val 7200"/>
            </a:avLst>
          </a:prstGeom>
          <a:solidFill>
            <a:schemeClr val="accent3">
              <a:alpha val="1200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10035540" y="155448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3">
              <a:alpha val="1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6241" y="1675181"/>
            <a:ext cx="307238" cy="30723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125712" y="2194560"/>
            <a:ext cx="2368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3"/>
                </a:solidFill>
              </a:rPr>
              <a:t>每台 broker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9144000" y="26060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chemeClr val="tx1">
                    <a:alpha val="62000"/>
                  </a:schemeClr>
                </a:solidFill>
              </a:rPr>
              <a:t>讀取並 cache,本地授權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3063240" y="2377440"/>
            <a:ext cx="32004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5897880" y="2377440"/>
            <a:ext cx="32004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5" name="Shape 19"/>
          <p:cNvSpPr/>
          <p:nvPr/>
        </p:nvSpPr>
        <p:spPr>
          <a:xfrm>
            <a:off x="8732520" y="2377440"/>
            <a:ext cx="32004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6" name="Shape 20"/>
          <p:cNvSpPr/>
          <p:nvPr/>
        </p:nvSpPr>
        <p:spPr>
          <a:xfrm>
            <a:off x="3383280" y="3657600"/>
            <a:ext cx="2514600" cy="2011680"/>
          </a:xfrm>
          <a:prstGeom prst="roundRect">
            <a:avLst>
              <a:gd name="adj" fmla="val 72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366260" y="379476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6961" y="3915461"/>
            <a:ext cx="307238" cy="307238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3456432" y="4434840"/>
            <a:ext cx="2368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1"/>
                </a:solidFill>
              </a:rPr>
              <a:t>AD(LDAP)</a:t>
            </a:r>
            <a:endParaRPr lang="en-US" sz="1400" dirty="0"/>
          </a:p>
        </p:txBody>
      </p:sp>
      <p:sp>
        <p:nvSpPr>
          <p:cNvPr id="30" name="Text 23"/>
          <p:cNvSpPr txBox="1"/>
          <p:nvPr/>
        </p:nvSpPr>
        <p:spPr>
          <a:xfrm>
            <a:off x="3474720" y="48463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chemeClr val="tx1">
                    <a:alpha val="62000"/>
                  </a:schemeClr>
                </a:solidFill>
              </a:rPr>
              <a:t>唯讀 bind 帳號:搜尋使用者、定期查群組</a:t>
            </a:r>
            <a:endParaRPr lang="en-US" sz="1150" dirty="0"/>
          </a:p>
          <a:p>
            <a:pPr algn="ctr" indent="0" marL="0">
              <a:buNone/>
            </a:pPr>
            <a:r>
              <a:rPr lang="zh-TW" altLang="en-US" sz="1150" dirty="0">
                <a:solidFill>
                  <a:schemeClr val="tx1">
                    <a:alpha val="62000"/>
                  </a:schemeClr>
                </a:solidFill>
              </a:rPr>
              <a:t>驗密碼:用使用者自己的 DN + 密碼 simple bind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4636008" y="3337560"/>
            <a:ext cx="0" cy="32004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2" name="Text 25"/>
          <p:cNvSpPr txBox="1"/>
          <p:nvPr/>
        </p:nvSpPr>
        <p:spPr>
          <a:xfrm>
            <a:off x="4709160" y="33649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chemeClr val="accent1"/>
                </a:solidFill>
              </a:rPr>
              <a:t>查詢 / bind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6217920" y="3657600"/>
            <a:ext cx="5422392" cy="2011680"/>
          </a:xfrm>
          <a:prstGeom prst="roundRect">
            <a:avLst>
              <a:gd name="adj" fmla="val 9000"/>
            </a:avLst>
          </a:prstGeom>
          <a:solidFill>
            <a:schemeClr val="accent5">
              <a:alpha val="1200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3749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chemeClr val="accent5"/>
                </a:solidFill>
              </a:rPr>
              <a:t>重點</a:t>
            </a:r>
            <a:endParaRPr lang="en-US" sz="1500" dirty="0"/>
          </a:p>
        </p:txBody>
      </p:sp>
      <p:sp>
        <p:nvSpPr>
          <p:cNvPr id="35" name="Text 28"/>
          <p:cNvSpPr txBox="1"/>
          <p:nvPr/>
        </p:nvSpPr>
        <p:spPr>
          <a:xfrm>
            <a:off x="6400800" y="4114800"/>
            <a:ext cx="5074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050" dirty="0">
                <a:solidFill>
                  <a:schemeClr val="tx1"/>
                </a:solidFill>
              </a:rPr>
              <a:t>•  群組異動在 AD 做,Kafka 端零變更;由一台 broker 擔任 writer 向 AD 查群組(預設 60 秒;demo 5 秒),寫入 RBAC topic,其他 broker 讀取後更新快取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050" dirty="0">
                <a:solidFill>
                  <a:schemeClr val="tx1"/>
                </a:solidFill>
              </a:rPr>
              <a:t>•  人:Basic(AD 帳密)經 MDS 向 AD 驗證;各 broker 都連 AD,需匯入 AD 的 LDAPS CA root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050" dirty="0">
                <a:solidFill>
                  <a:schemeClr val="tx1"/>
                </a:solidFill>
              </a:rPr>
              <a:t>•  機器 / 平台元件:client 憑證(mTLS)→ CN 對映成主體 → 向 MDS 換 token;憑證主體只能綁 User:(不支援群組)</a:t>
            </a:r>
            <a:endParaRPr lang="en-US" sz="1050" dirty="0"/>
          </a:p>
          <a:p>
            <a:pPr algn="l" indent="0" marL="0">
              <a:buNone/>
            </a:pPr>
            <a:r>
              <a:rPr lang="zh-TW" altLang="en-US" sz="1050" dirty="0">
                <a:solidFill>
                  <a:schemeClr val="tx1"/>
                </a:solidFill>
              </a:rPr>
              <a:t>•  token:JWT,壽命可設(demo 設 1 小時);元件自動重新換;刪除 AD 帳號後,舊 token 到期前仍有效(實測)</a:t>
            </a:r>
            <a:endParaRPr lang="en-US" sz="1050" dirty="0"/>
          </a:p>
        </p:txBody>
      </p:sp>
      <p:sp>
        <p:nvSpPr>
          <p:cNvPr id="36" name="Shape 29"/>
          <p:cNvSpPr/>
          <p:nvPr/>
        </p:nvSpPr>
        <p:spPr>
          <a:xfrm>
            <a:off x="548640" y="3657600"/>
            <a:ext cx="2514600" cy="2011680"/>
          </a:xfrm>
          <a:prstGeom prst="roundRect">
            <a:avLst>
              <a:gd name="adj" fmla="val 9000"/>
            </a:avLst>
          </a:prstGeom>
          <a:solidFill>
            <a:schemeClr val="accent6">
              <a:alpha val="12000"/>
            </a:schemeClr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1417320" y="379476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6">
              <a:alpha val="15000"/>
            </a:schemeClr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38021" y="3915461"/>
            <a:ext cx="307238" cy="307238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640080" y="443484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250" b="1" dirty="0">
                <a:solidFill>
                  <a:schemeClr val="accent6"/>
                </a:solidFill>
              </a:rPr>
              <a:t>需要 AD 唯讀查詢帳號</a:t>
            </a:r>
            <a:endParaRPr lang="en-US" sz="125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chemeClr val="tx1">
                    <a:alpha val="62000"/>
                  </a:schemeClr>
                </a:solidFill>
              </a:rPr>
              <a:t>bind DN;不要用真人帳號;建議 LDAPS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tx2"/>
                </a:solidFill>
              </a:rPr>
              <a:t>AD 群組 → role:依職責分層授權</a:t>
            </a:r>
            <a:endParaRPr lang="zh-TW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623560" y="13716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tx2"/>
                </a:solidFill>
              </a:rPr>
              <a:t>讀資料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132320" y="13716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tx2"/>
                </a:solidFill>
              </a:rPr>
              <a:t>寫資料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641080" y="13716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tx2"/>
                </a:solidFill>
              </a:rPr>
              <a:t>管 topic(建/刪)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149840" y="13716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tx2"/>
                </a:solidFill>
              </a:rPr>
              <a:t>改授權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0927080" cy="566928"/>
          </a:xfrm>
          <a:prstGeom prst="roundRect">
            <a:avLst>
              <a:gd name="adj" fmla="val 10800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91109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chemeClr val="accent2"/>
                </a:solidFill>
              </a:rPr>
              <a:t>kafka-developers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834640" y="1911096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chemeClr val="tx1">
                    <a:alpha val="62000"/>
                  </a:schemeClr>
                </a:solidFill>
              </a:rPr>
              <a:t>DeveloperRead / Write(orders. 前綴)</a:t>
            </a:r>
            <a:endParaRPr lang="en-US" sz="10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0488" y="1975104"/>
            <a:ext cx="365760" cy="365760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9248" y="1975104"/>
            <a:ext cx="365760" cy="365760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8008" y="1975104"/>
            <a:ext cx="365760" cy="365760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6768" y="1975104"/>
            <a:ext cx="365760" cy="36576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548640" y="2532888"/>
            <a:ext cx="10927080" cy="566928"/>
          </a:xfrm>
          <a:prstGeom prst="roundRect">
            <a:avLst>
              <a:gd name="adj" fmla="val 108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5" name="Text 9"/>
          <p:cNvSpPr txBox="1"/>
          <p:nvPr/>
        </p:nvSpPr>
        <p:spPr>
          <a:xfrm>
            <a:off x="731520" y="256946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chemeClr val="accent1"/>
                </a:solidFill>
              </a:rPr>
              <a:t>kafka-readonly</a:t>
            </a:r>
            <a:endParaRPr lang="en-US" sz="1300" dirty="0"/>
          </a:p>
        </p:txBody>
      </p:sp>
      <p:sp>
        <p:nvSpPr>
          <p:cNvPr id="16" name="Text 10"/>
          <p:cNvSpPr txBox="1"/>
          <p:nvPr/>
        </p:nvSpPr>
        <p:spPr>
          <a:xfrm>
            <a:off x="2834640" y="256946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chemeClr val="tx1">
                    <a:alpha val="62000"/>
                  </a:schemeClr>
                </a:solidFill>
              </a:rPr>
              <a:t>DeveloperRead</a:t>
            </a:r>
            <a:endParaRPr lang="en-US" sz="10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0488" y="2633472"/>
            <a:ext cx="365760" cy="365760"/>
          </a:xfrm>
          <a:prstGeom prst="rect">
            <a:avLst/>
          </a:prstGeom>
        </p:spPr>
      </p:pic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9248" y="2633472"/>
            <a:ext cx="365760" cy="365760"/>
          </a:xfrm>
          <a:prstGeom prst="rect">
            <a:avLst/>
          </a:prstGeom>
        </p:spPr>
      </p:pic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08008" y="2633472"/>
            <a:ext cx="365760" cy="365760"/>
          </a:xfrm>
          <a:prstGeom prst="rect">
            <a:avLst/>
          </a:prstGeom>
        </p:spPr>
      </p:pic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16768" y="2633472"/>
            <a:ext cx="365760" cy="365760"/>
          </a:xfrm>
          <a:prstGeom prst="rect">
            <a:avLst/>
          </a:prstGeom>
        </p:spPr>
      </p:pic>
      <p:sp>
        <p:nvSpPr>
          <p:cNvPr id="21" name="Shape 11"/>
          <p:cNvSpPr/>
          <p:nvPr/>
        </p:nvSpPr>
        <p:spPr>
          <a:xfrm>
            <a:off x="548640" y="3191256"/>
            <a:ext cx="10927080" cy="566928"/>
          </a:xfrm>
          <a:prstGeom prst="roundRect">
            <a:avLst>
              <a:gd name="adj" fmla="val 10800"/>
            </a:avLst>
          </a:prstGeom>
          <a:solidFill>
            <a:schemeClr val="accent3">
              <a:alpha val="1200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22" name="Text 12"/>
          <p:cNvSpPr txBox="1"/>
          <p:nvPr/>
        </p:nvSpPr>
        <p:spPr>
          <a:xfrm>
            <a:off x="731520" y="32278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chemeClr val="accent3"/>
                </a:solidFill>
              </a:rPr>
              <a:t>kafka-ops</a:t>
            </a:r>
            <a:endParaRPr lang="en-US" sz="1300" dirty="0"/>
          </a:p>
        </p:txBody>
      </p:sp>
      <p:sp>
        <p:nvSpPr>
          <p:cNvPr id="23" name="Text 13"/>
          <p:cNvSpPr txBox="1"/>
          <p:nvPr/>
        </p:nvSpPr>
        <p:spPr>
          <a:xfrm>
            <a:off x="2834640" y="322783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chemeClr val="tx1">
                    <a:alpha val="62000"/>
                  </a:schemeClr>
                </a:solidFill>
              </a:rPr>
              <a:t>Operator + DeveloperManage(infra. 前綴)</a:t>
            </a:r>
            <a:endParaRPr lang="en-US" sz="105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90488" y="3291840"/>
            <a:ext cx="365760" cy="365760"/>
          </a:xfrm>
          <a:prstGeom prst="rect">
            <a:avLst/>
          </a:prstGeom>
        </p:spPr>
      </p:pic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99248" y="3291840"/>
            <a:ext cx="365760" cy="365760"/>
          </a:xfrm>
          <a:prstGeom prst="rect">
            <a:avLst/>
          </a:prstGeom>
        </p:spPr>
      </p:pic>
      <p:pic>
        <p:nvPicPr>
          <p:cNvPr id="2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08008" y="3291840"/>
            <a:ext cx="365760" cy="365760"/>
          </a:xfrm>
          <a:prstGeom prst="rect">
            <a:avLst/>
          </a:prstGeom>
        </p:spPr>
      </p:pic>
      <p:pic>
        <p:nvPicPr>
          <p:cNvPr id="2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716768" y="3291840"/>
            <a:ext cx="365760" cy="365760"/>
          </a:xfrm>
          <a:prstGeom prst="rect">
            <a:avLst/>
          </a:prstGeom>
        </p:spPr>
      </p:pic>
      <p:sp>
        <p:nvSpPr>
          <p:cNvPr id="28" name="Shape 14"/>
          <p:cNvSpPr/>
          <p:nvPr/>
        </p:nvSpPr>
        <p:spPr>
          <a:xfrm>
            <a:off x="548640" y="3849624"/>
            <a:ext cx="10927080" cy="566928"/>
          </a:xfrm>
          <a:prstGeom prst="roundRect">
            <a:avLst>
              <a:gd name="adj" fmla="val 10800"/>
            </a:avLst>
          </a:prstGeom>
          <a:solidFill>
            <a:schemeClr val="accent5">
              <a:alpha val="1200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29" name="Text 15"/>
          <p:cNvSpPr txBox="1"/>
          <p:nvPr/>
        </p:nvSpPr>
        <p:spPr>
          <a:xfrm>
            <a:off x="731520" y="3886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chemeClr val="accent5"/>
                </a:solidFill>
              </a:rPr>
              <a:t>kafka-rbac-admins</a:t>
            </a:r>
            <a:endParaRPr lang="en-US" sz="1300" dirty="0"/>
          </a:p>
        </p:txBody>
      </p:sp>
      <p:sp>
        <p:nvSpPr>
          <p:cNvPr id="30" name="Text 16"/>
          <p:cNvSpPr txBox="1"/>
          <p:nvPr/>
        </p:nvSpPr>
        <p:spPr>
          <a:xfrm>
            <a:off x="2834640" y="38862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chemeClr val="tx1">
                    <a:alpha val="62000"/>
                  </a:schemeClr>
                </a:solidFill>
              </a:rPr>
              <a:t>UserAdmin</a:t>
            </a:r>
            <a:endParaRPr lang="en-US" sz="1050" dirty="0"/>
          </a:p>
        </p:txBody>
      </p:sp>
      <p:pic>
        <p:nvPicPr>
          <p:cNvPr id="3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90488" y="3950208"/>
            <a:ext cx="365760" cy="365760"/>
          </a:xfrm>
          <a:prstGeom prst="rect">
            <a:avLst/>
          </a:prstGeom>
        </p:spPr>
      </p:pic>
      <p:pic>
        <p:nvPicPr>
          <p:cNvPr id="3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9248" y="3950208"/>
            <a:ext cx="365760" cy="365760"/>
          </a:xfrm>
          <a:prstGeom prst="rect">
            <a:avLst/>
          </a:prstGeom>
        </p:spPr>
      </p:pic>
      <p:pic>
        <p:nvPicPr>
          <p:cNvPr id="3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08008" y="3950208"/>
            <a:ext cx="365760" cy="365760"/>
          </a:xfrm>
          <a:prstGeom prst="rect">
            <a:avLst/>
          </a:prstGeom>
        </p:spPr>
      </p:pic>
      <p:pic>
        <p:nvPicPr>
          <p:cNvPr id="34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716768" y="3950208"/>
            <a:ext cx="365760" cy="365760"/>
          </a:xfrm>
          <a:prstGeom prst="rect">
            <a:avLst/>
          </a:prstGeom>
        </p:spPr>
      </p:pic>
      <p:sp>
        <p:nvSpPr>
          <p:cNvPr id="35" name="Shape 17"/>
          <p:cNvSpPr/>
          <p:nvPr/>
        </p:nvSpPr>
        <p:spPr>
          <a:xfrm>
            <a:off x="548640" y="4507992"/>
            <a:ext cx="10927080" cy="566928"/>
          </a:xfrm>
          <a:prstGeom prst="roundRect">
            <a:avLst>
              <a:gd name="adj" fmla="val 10800"/>
            </a:avLst>
          </a:prstGeom>
          <a:solidFill>
            <a:schemeClr val="accent6">
              <a:alpha val="12000"/>
            </a:schemeClr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36" name="Text 18"/>
          <p:cNvSpPr txBox="1"/>
          <p:nvPr/>
        </p:nvSpPr>
        <p:spPr>
          <a:xfrm>
            <a:off x="731520" y="45445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chemeClr val="accent6"/>
                </a:solidFill>
              </a:rPr>
              <a:t>kafka-admins</a:t>
            </a:r>
            <a:endParaRPr lang="en-US" sz="1300" dirty="0"/>
          </a:p>
        </p:txBody>
      </p:sp>
      <p:sp>
        <p:nvSpPr>
          <p:cNvPr id="37" name="Text 19"/>
          <p:cNvSpPr txBox="1"/>
          <p:nvPr/>
        </p:nvSpPr>
        <p:spPr>
          <a:xfrm>
            <a:off x="2834640" y="454456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chemeClr val="tx1">
                    <a:alpha val="62000"/>
                  </a:schemeClr>
                </a:solidFill>
              </a:rPr>
              <a:t>SystemAdmin(break-glass)</a:t>
            </a:r>
            <a:endParaRPr lang="en-US" sz="1050" dirty="0"/>
          </a:p>
        </p:txBody>
      </p:sp>
      <p:pic>
        <p:nvPicPr>
          <p:cNvPr id="3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190488" y="4608576"/>
            <a:ext cx="365760" cy="365760"/>
          </a:xfrm>
          <a:prstGeom prst="rect">
            <a:avLst/>
          </a:prstGeom>
        </p:spPr>
      </p:pic>
      <p:pic>
        <p:nvPicPr>
          <p:cNvPr id="3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99248" y="4608576"/>
            <a:ext cx="365760" cy="365760"/>
          </a:xfrm>
          <a:prstGeom prst="rect">
            <a:avLst/>
          </a:prstGeom>
        </p:spPr>
      </p:pic>
      <p:pic>
        <p:nvPicPr>
          <p:cNvPr id="4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208008" y="4608576"/>
            <a:ext cx="365760" cy="365760"/>
          </a:xfrm>
          <a:prstGeom prst="rect">
            <a:avLst/>
          </a:prstGeom>
        </p:spPr>
      </p:pic>
      <p:pic>
        <p:nvPicPr>
          <p:cNvPr id="4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716768" y="4608576"/>
            <a:ext cx="365760" cy="365760"/>
          </a:xfrm>
          <a:prstGeom prst="rect">
            <a:avLst/>
          </a:prstGeom>
        </p:spPr>
      </p:pic>
      <p:sp>
        <p:nvSpPr>
          <p:cNvPr id="42" name="Shape 20"/>
          <p:cNvSpPr/>
          <p:nvPr/>
        </p:nvSpPr>
        <p:spPr>
          <a:xfrm>
            <a:off x="2971800" y="5440680"/>
            <a:ext cx="36576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43" name="Text 21"/>
          <p:cNvSpPr/>
          <p:nvPr/>
        </p:nvSpPr>
        <p:spPr>
          <a:xfrm>
            <a:off x="548640" y="5166360"/>
            <a:ext cx="2423160" cy="548640"/>
          </a:xfrm>
          <a:prstGeom prst="roundRect">
            <a:avLst>
              <a:gd name="adj" fmla="val 36000"/>
            </a:avLst>
          </a:prstGeom>
          <a:solidFill>
            <a:schemeClr val="accent1">
              <a:alpha val="15000"/>
            </a:schemeClr>
          </a:solidFill>
          <a:ln w="19050">
            <a:solidFill>
              <a:schemeClr val="accent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1"/>
                </a:solidFill>
              </a:rPr>
              <a:t>AD 加入群組</a:t>
            </a:r>
            <a:endParaRPr lang="en-US" sz="1400" dirty="0"/>
          </a:p>
        </p:txBody>
      </p:sp>
      <p:sp>
        <p:nvSpPr>
          <p:cNvPr id="44" name="Shape 22"/>
          <p:cNvSpPr/>
          <p:nvPr/>
        </p:nvSpPr>
        <p:spPr>
          <a:xfrm>
            <a:off x="5760720" y="5440680"/>
            <a:ext cx="36576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45" name="Text 23"/>
          <p:cNvSpPr/>
          <p:nvPr/>
        </p:nvSpPr>
        <p:spPr>
          <a:xfrm>
            <a:off x="3337560" y="5166360"/>
            <a:ext cx="2423160" cy="548640"/>
          </a:xfrm>
          <a:prstGeom prst="roundRect">
            <a:avLst>
              <a:gd name="adj" fmla="val 36000"/>
            </a:avLst>
          </a:prstGeom>
          <a:solidFill>
            <a:schemeClr val="accent1">
              <a:alpha val="15000"/>
            </a:schemeClr>
          </a:solidFill>
          <a:ln w="19050">
            <a:solidFill>
              <a:schemeClr val="accent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1"/>
                </a:solidFill>
              </a:rPr>
              <a:t>做事</a:t>
            </a:r>
            <a:endParaRPr lang="en-US" sz="1400" dirty="0"/>
          </a:p>
        </p:txBody>
      </p:sp>
      <p:sp>
        <p:nvSpPr>
          <p:cNvPr id="46" name="Shape 24"/>
          <p:cNvSpPr/>
          <p:nvPr/>
        </p:nvSpPr>
        <p:spPr>
          <a:xfrm>
            <a:off x="8549640" y="5440680"/>
            <a:ext cx="36576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47" name="Text 25"/>
          <p:cNvSpPr/>
          <p:nvPr/>
        </p:nvSpPr>
        <p:spPr>
          <a:xfrm>
            <a:off x="6126480" y="5166360"/>
            <a:ext cx="2423160" cy="548640"/>
          </a:xfrm>
          <a:prstGeom prst="roundRect">
            <a:avLst>
              <a:gd name="adj" fmla="val 36000"/>
            </a:avLst>
          </a:prstGeom>
          <a:solidFill>
            <a:schemeClr val="accent1">
              <a:alpha val="15000"/>
            </a:schemeClr>
          </a:solidFill>
          <a:ln w="19050">
            <a:solidFill>
              <a:schemeClr val="accent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1"/>
                </a:solidFill>
              </a:rPr>
              <a:t>AD 移出群組</a:t>
            </a:r>
            <a:endParaRPr lang="en-US" sz="1400" dirty="0"/>
          </a:p>
        </p:txBody>
      </p:sp>
      <p:sp>
        <p:nvSpPr>
          <p:cNvPr id="48" name="Text 26"/>
          <p:cNvSpPr/>
          <p:nvPr/>
        </p:nvSpPr>
        <p:spPr>
          <a:xfrm>
            <a:off x="8915400" y="5166360"/>
            <a:ext cx="2423160" cy="548640"/>
          </a:xfrm>
          <a:prstGeom prst="roundRect">
            <a:avLst>
              <a:gd name="adj" fmla="val 36000"/>
            </a:avLst>
          </a:prstGeom>
          <a:solidFill>
            <a:schemeClr val="tx2"/>
          </a:solidFill>
          <a:ln w="19050">
            <a:solidFill>
              <a:schemeClr val="tx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audit 全程留痕</a:t>
            </a:r>
            <a:endParaRPr lang="en-US" sz="1400" dirty="0"/>
          </a:p>
        </p:txBody>
      </p:sp>
      <p:sp>
        <p:nvSpPr>
          <p:cNvPr id="49" name="Text 27"/>
          <p:cNvSpPr txBox="1"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chemeClr val="tx1">
                    <a:alpha val="62000"/>
                  </a:schemeClr>
                </a:solidFill>
              </a:rPr>
              <a:t>臨時提權:依單據加進 kafka-ops / kafka-rbac-admins,做完移出;移出後最長約 60 秒(預設刷新)才收回,Kafka 端零變更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tx2"/>
                </a:solidFill>
              </a:rPr>
              <a:t>Confluent 內建角色與 scope</a:t>
            </a:r>
            <a:endParaRPr lang="zh-TW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1325880"/>
            <a:ext cx="5669280" cy="2651760"/>
          </a:xfrm>
          <a:prstGeom prst="roundRect">
            <a:avLst>
              <a:gd name="adj" fmla="val 2700"/>
            </a:avLst>
          </a:prstGeom>
          <a:solidFill>
            <a:schemeClr val="accent5">
              <a:alpha val="12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chemeClr val="accent5"/>
                </a:solidFill>
              </a:rPr>
              <a:t>叢集範圍(Cluster scope):綁在整個叢集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1719072"/>
            <a:ext cx="1691640" cy="310896"/>
          </a:xfrm>
          <a:prstGeom prst="roundRect">
            <a:avLst>
              <a:gd name="adj" fmla="val 45000"/>
            </a:avLst>
          </a:prstGeom>
          <a:solidFill>
            <a:schemeClr val="accent5">
              <a:alpha val="12000"/>
            </a:schemeClr>
          </a:solidFill>
          <a:ln w="15875">
            <a:solidFill>
              <a:schemeClr val="accent5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accent5"/>
                </a:solidFill>
              </a:rPr>
              <a:t>SystemAdmin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737360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chemeClr val="tx1"/>
                </a:solidFill>
              </a:rPr>
              <a:t>全部權限(含改授權);break-glass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1691640" cy="310896"/>
          </a:xfrm>
          <a:prstGeom prst="roundRect">
            <a:avLst>
              <a:gd name="adj" fmla="val 45000"/>
            </a:avLst>
          </a:prstGeom>
          <a:solidFill>
            <a:schemeClr val="accent5">
              <a:alpha val="12000"/>
            </a:schemeClr>
          </a:solidFill>
          <a:ln w="15875">
            <a:solidFill>
              <a:schemeClr val="accent5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accent5"/>
                </a:solidFill>
              </a:rPr>
              <a:t>UserAdmin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331720" y="2121408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chemeClr val="tx1"/>
                </a:solidFill>
              </a:rPr>
              <a:t>管理授權(role binding),不碰資料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487168"/>
            <a:ext cx="1691640" cy="310896"/>
          </a:xfrm>
          <a:prstGeom prst="roundRect">
            <a:avLst>
              <a:gd name="adj" fmla="val 45000"/>
            </a:avLst>
          </a:prstGeom>
          <a:solidFill>
            <a:schemeClr val="accent5">
              <a:alpha val="12000"/>
            </a:schemeClr>
          </a:solidFill>
          <a:ln w="15875">
            <a:solidFill>
              <a:schemeClr val="accent5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accent5"/>
                </a:solidFill>
              </a:rPr>
              <a:t>ClusterAdmin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331720" y="2505456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chemeClr val="tx1"/>
                </a:solidFill>
              </a:rPr>
              <a:t>叢集與 topic 設定,不能讀寫資料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871216"/>
            <a:ext cx="1691640" cy="310896"/>
          </a:xfrm>
          <a:prstGeom prst="roundRect">
            <a:avLst>
              <a:gd name="adj" fmla="val 45000"/>
            </a:avLst>
          </a:prstGeom>
          <a:solidFill>
            <a:schemeClr val="accent5">
              <a:alpha val="12000"/>
            </a:schemeClr>
          </a:solidFill>
          <a:ln w="15875">
            <a:solidFill>
              <a:schemeClr val="accent5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accent5"/>
                </a:solidFill>
              </a:rPr>
              <a:t>Operator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89504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chemeClr val="tx1"/>
                </a:solidFill>
              </a:rPr>
              <a:t>營運與監控,不能建 topic、不能讀寫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255264"/>
            <a:ext cx="1691640" cy="310896"/>
          </a:xfrm>
          <a:prstGeom prst="roundRect">
            <a:avLst>
              <a:gd name="adj" fmla="val 45000"/>
            </a:avLst>
          </a:prstGeom>
          <a:solidFill>
            <a:schemeClr val="accent5">
              <a:alpha val="12000"/>
            </a:schemeClr>
          </a:solidFill>
          <a:ln w="15875">
            <a:solidFill>
              <a:schemeClr val="accent5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accent5"/>
                </a:solidFill>
              </a:rPr>
              <a:t>SecurityAdmin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331720" y="327355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chemeClr val="tx1"/>
                </a:solidFill>
              </a:rPr>
              <a:t>只檢視授權設定,不能改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639312"/>
            <a:ext cx="1691640" cy="310896"/>
          </a:xfrm>
          <a:prstGeom prst="roundRect">
            <a:avLst>
              <a:gd name="adj" fmla="val 45000"/>
            </a:avLst>
          </a:prstGeom>
          <a:solidFill>
            <a:schemeClr val="accent5">
              <a:alpha val="12000"/>
            </a:schemeClr>
          </a:solidFill>
          <a:ln w="15875">
            <a:solidFill>
              <a:schemeClr val="accent5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accent5"/>
                </a:solidFill>
              </a:rPr>
              <a:t>AuditAdmin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331720" y="3657600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chemeClr val="tx1"/>
                </a:solidFill>
              </a:rPr>
              <a:t>管理稽核(audit)設定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4069080"/>
            <a:ext cx="5669280" cy="1965960"/>
          </a:xfrm>
          <a:prstGeom prst="roundRect">
            <a:avLst>
              <a:gd name="adj" fmla="val 2700"/>
            </a:avLst>
          </a:prstGeom>
          <a:solidFill>
            <a:schemeClr val="accent2">
              <a:alpha val="12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4114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chemeClr val="accent2"/>
                </a:solidFill>
              </a:rPr>
              <a:t>資源範圍(Resource scope):綁在指定資源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4462272"/>
            <a:ext cx="1691640" cy="310896"/>
          </a:xfrm>
          <a:prstGeom prst="roundRect">
            <a:avLst>
              <a:gd name="adj" fmla="val 45000"/>
            </a:avLst>
          </a:prstGeom>
          <a:solidFill>
            <a:schemeClr val="accent2">
              <a:alpha val="12000"/>
            </a:schemeClr>
          </a:solidFill>
          <a:ln w="15875">
            <a:solidFill>
              <a:schemeClr val="accent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accent2"/>
                </a:solidFill>
              </a:rPr>
              <a:t>ResourceOwner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2331720" y="4480560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chemeClr val="tx1"/>
                </a:solidFill>
              </a:rPr>
              <a:t>對該資源全權(含授權該資源)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846320"/>
            <a:ext cx="1691640" cy="310896"/>
          </a:xfrm>
          <a:prstGeom prst="roundRect">
            <a:avLst>
              <a:gd name="adj" fmla="val 45000"/>
            </a:avLst>
          </a:prstGeom>
          <a:solidFill>
            <a:schemeClr val="accent2">
              <a:alpha val="12000"/>
            </a:schemeClr>
          </a:solidFill>
          <a:ln w="15875">
            <a:solidFill>
              <a:schemeClr val="accent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accent2"/>
                </a:solidFill>
              </a:rPr>
              <a:t>DeveloperRead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331720" y="4864608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chemeClr val="tx1"/>
                </a:solidFill>
              </a:rPr>
              <a:t>讀 topic、加入 consumer group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5230368"/>
            <a:ext cx="1691640" cy="310896"/>
          </a:xfrm>
          <a:prstGeom prst="roundRect">
            <a:avLst>
              <a:gd name="adj" fmla="val 45000"/>
            </a:avLst>
          </a:prstGeom>
          <a:solidFill>
            <a:schemeClr val="accent2">
              <a:alpha val="12000"/>
            </a:schemeClr>
          </a:solidFill>
          <a:ln w="15875">
            <a:solidFill>
              <a:schemeClr val="accent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accent2"/>
                </a:solidFill>
              </a:rPr>
              <a:t>DeveloperWrite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248656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chemeClr val="tx1"/>
                </a:solidFill>
              </a:rPr>
              <a:t>寫 topic(含 idempotent 寫入)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5614416"/>
            <a:ext cx="1691640" cy="310896"/>
          </a:xfrm>
          <a:prstGeom prst="roundRect">
            <a:avLst>
              <a:gd name="adj" fmla="val 45000"/>
            </a:avLst>
          </a:prstGeom>
          <a:solidFill>
            <a:schemeClr val="accent2">
              <a:alpha val="12000"/>
            </a:schemeClr>
          </a:solidFill>
          <a:ln w="15875">
            <a:solidFill>
              <a:schemeClr val="accent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accent2"/>
                </a:solidFill>
              </a:rPr>
              <a:t>DeveloperManage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2331720" y="5632704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chemeClr val="tx1"/>
                </a:solidFill>
              </a:rPr>
              <a:t>管理資源(建 / 刪 topic),不能改設定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09360" y="1325880"/>
            <a:ext cx="5330952" cy="4709160"/>
          </a:xfrm>
          <a:prstGeom prst="roundRect">
            <a:avLst>
              <a:gd name="adj" fmla="val 2700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46520" y="13716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chemeClr val="accent1"/>
                </a:solidFill>
              </a:rPr>
              <a:t>scope 圖:role binding 綁在哪一層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492240" y="1737360"/>
            <a:ext cx="4965192" cy="3657600"/>
          </a:xfrm>
          <a:prstGeom prst="roundRect">
            <a:avLst>
              <a:gd name="adj" fmla="val 3600"/>
            </a:avLst>
          </a:prstGeom>
          <a:solidFill>
            <a:schemeClr val="accent3">
              <a:alpha val="12000"/>
            </a:schemeClr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629400" y="17830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chemeClr val="accent3"/>
                </a:solidFill>
              </a:rPr>
              <a:t>① Kafka 叢集(scope = 叢集 ID)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675120" y="2103120"/>
            <a:ext cx="4599432" cy="502920"/>
          </a:xfrm>
          <a:prstGeom prst="roundRect">
            <a:avLst>
              <a:gd name="adj" fmla="val 18000"/>
            </a:avLst>
          </a:prstGeom>
          <a:solidFill>
            <a:schemeClr val="accent5">
              <a:alpha val="15000"/>
            </a:schemeClr>
          </a:solidFill>
          <a:ln w="12700">
            <a:solidFill>
              <a:schemeClr val="accent5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chemeClr val="accent5"/>
                </a:solidFill>
              </a:rPr>
              <a:t>叢集範圍角色綁這層 → 整個叢集都適用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6629400" y="26974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chemeClr val="accent2"/>
                </a:solidFill>
              </a:rPr>
              <a:t>② 叢集裡的資源 + 比對方式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675120" y="3017520"/>
            <a:ext cx="2249424" cy="566928"/>
          </a:xfrm>
          <a:prstGeom prst="roundRect">
            <a:avLst>
              <a:gd name="adj" fmla="val 13500"/>
            </a:avLst>
          </a:prstGeom>
          <a:solidFill>
            <a:schemeClr val="accent2">
              <a:alpha val="12000"/>
            </a:schemeClr>
          </a:solidFill>
          <a:ln w="12700">
            <a:solidFill>
              <a:schemeClr val="accent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chemeClr val="accent2"/>
                </a:solidFill>
              </a:rPr>
              <a:t>Topic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chemeClr val="tx1"/>
                </a:solidFill>
              </a:rPr>
              <a:t>orders.  (PREFIXED)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025128" y="3017520"/>
            <a:ext cx="2249424" cy="566928"/>
          </a:xfrm>
          <a:prstGeom prst="roundRect">
            <a:avLst>
              <a:gd name="adj" fmla="val 13500"/>
            </a:avLst>
          </a:prstGeom>
          <a:solidFill>
            <a:schemeClr val="accent2">
              <a:alpha val="12000"/>
            </a:schemeClr>
          </a:solidFill>
          <a:ln w="12700">
            <a:solidFill>
              <a:schemeClr val="accent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chemeClr val="accent2"/>
                </a:solidFill>
              </a:rPr>
              <a:t>Topic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chemeClr val="tx1"/>
                </a:solidFill>
              </a:rPr>
              <a:t>infra.  (PREFIXED)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675120" y="3703320"/>
            <a:ext cx="2249424" cy="566928"/>
          </a:xfrm>
          <a:prstGeom prst="roundRect">
            <a:avLst>
              <a:gd name="adj" fmla="val 13500"/>
            </a:avLst>
          </a:prstGeom>
          <a:solidFill>
            <a:schemeClr val="accent2">
              <a:alpha val="12000"/>
            </a:schemeClr>
          </a:solidFill>
          <a:ln w="12700">
            <a:solidFill>
              <a:schemeClr val="accent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chemeClr val="accent2"/>
                </a:solidFill>
              </a:rPr>
              <a:t>Group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chemeClr val="tx1"/>
                </a:solidFill>
              </a:rPr>
              <a:t>demo-  (PREFIXED)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025128" y="3703320"/>
            <a:ext cx="2249424" cy="566928"/>
          </a:xfrm>
          <a:prstGeom prst="roundRect">
            <a:avLst>
              <a:gd name="adj" fmla="val 13500"/>
            </a:avLst>
          </a:prstGeom>
          <a:solidFill>
            <a:schemeClr val="accent2">
              <a:alpha val="12000"/>
            </a:schemeClr>
          </a:solidFill>
          <a:ln w="12700">
            <a:solidFill>
              <a:schemeClr val="accent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chemeClr val="accent2"/>
                </a:solidFill>
              </a:rPr>
              <a:t>Topic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chemeClr val="tx1"/>
                </a:solidFill>
              </a:rPr>
              <a:t>orders.events  (LITERAL)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6629400" y="44348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資源範圍角色綁「資源類型 + 名稱 + 比對方式」</a:t>
            </a:r>
            <a:endParaRPr lang="en-US" sz="1100" dirty="0"/>
          </a:p>
          <a:p>
            <a:pPr algn="l" indent="0" marL="0">
              <a:buNone/>
            </a:pPr>
            <a:r>
              <a:rPr lang="zh-TW" altLang="en-US" sz="1050" dirty="0">
                <a:solidFill>
                  <a:schemeClr val="tx1">
                    <a:alpha val="62000"/>
                  </a:schemeClr>
                </a:solidFill>
              </a:rPr>
              <a:t>LITERAL = 名稱完全相同;PREFIXED = 名稱開頭相同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6446520" y="54406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chemeClr val="tx1">
                    <a:alpha val="62000"/>
                  </a:schemeClr>
                </a:solidFill>
              </a:rPr>
              <a:t>本專案的例子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46520" y="5669280"/>
            <a:ext cx="2103120" cy="310896"/>
          </a:xfrm>
          <a:prstGeom prst="roundRect">
            <a:avLst>
              <a:gd name="adj" fmla="val 45000"/>
            </a:avLst>
          </a:prstGeom>
          <a:solidFill>
            <a:schemeClr val="accent5">
              <a:alpha val="12000"/>
            </a:schemeClr>
          </a:solidFill>
          <a:ln w="15875">
            <a:solidFill>
              <a:schemeClr val="accent5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chemeClr val="accent5"/>
                </a:solidFill>
              </a:rPr>
              <a:t>ops → Operator @ 叢集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641080" y="5669280"/>
            <a:ext cx="2834640" cy="310896"/>
          </a:xfrm>
          <a:prstGeom prst="roundRect">
            <a:avLst>
              <a:gd name="adj" fmla="val 45000"/>
            </a:avLst>
          </a:prstGeom>
          <a:solidFill>
            <a:schemeClr val="accent2">
              <a:alpha val="12000"/>
            </a:schemeClr>
          </a:solidFill>
          <a:ln w="15875">
            <a:solidFill>
              <a:schemeClr val="accent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chemeClr val="accent2"/>
                </a:solidFill>
              </a:rPr>
              <a:t>ops → DeveloperManage @ infra.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tx2"/>
                </a:solidFill>
              </a:rPr>
              <a:t>服務帳號:SCRAM,不放 AD</a:t>
            </a:r>
            <a:endParaRPr lang="zh-TW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011680" cy="1920240"/>
          </a:xfrm>
          <a:prstGeom prst="roundRect">
            <a:avLst>
              <a:gd name="adj" fmla="val 7200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572768"/>
            <a:ext cx="384048" cy="384048"/>
          </a:xfrm>
          <a:prstGeom prst="roundRect">
            <a:avLst>
              <a:gd name="adj" fmla="val 45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299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2"/>
                </a:solidFill>
              </a:rPr>
              <a:t>建立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5146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chemeClr val="tx1">
                    <a:alpha val="62000"/>
                  </a:schemeClr>
                </a:solidFill>
              </a:rPr>
              <a:t>kafka-configs 在 Kafka 內建立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2423160"/>
            <a:ext cx="256032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16352" y="1463040"/>
            <a:ext cx="2011680" cy="1920240"/>
          </a:xfrm>
          <a:prstGeom prst="roundRect">
            <a:avLst>
              <a:gd name="adj" fmla="val 7200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0" y="1572768"/>
            <a:ext cx="384048" cy="384048"/>
          </a:xfrm>
          <a:prstGeom prst="roundRect">
            <a:avLst>
              <a:gd name="adj" fmla="val 45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07792" y="20299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2"/>
                </a:solidFill>
              </a:rPr>
              <a:t>保管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907792" y="25146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chemeClr val="tx1">
                    <a:alpha val="62000"/>
                  </a:schemeClr>
                </a:solidFill>
              </a:rPr>
              <a:t>密碼放密碼庫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28032" y="2423160"/>
            <a:ext cx="256032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084064" y="1463040"/>
            <a:ext cx="2011680" cy="1920240"/>
          </a:xfrm>
          <a:prstGeom prst="roundRect">
            <a:avLst>
              <a:gd name="adj" fmla="val 7200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93792" y="1572768"/>
            <a:ext cx="384048" cy="384048"/>
          </a:xfrm>
          <a:prstGeom prst="roundRect">
            <a:avLst>
              <a:gd name="adj" fmla="val 45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175504" y="20299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2"/>
                </a:solidFill>
              </a:rPr>
              <a:t>授權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175504" y="25146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chemeClr val="tx1">
                    <a:alpha val="62000"/>
                  </a:schemeClr>
                </a:solidFill>
              </a:rPr>
              <a:t>RBAC 綁 User:svc-x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chemeClr val="tx1">
                    <a:alpha val="62000"/>
                  </a:schemeClr>
                </a:solidFill>
              </a:rPr>
              <a:t>前綴最小權限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095744" y="2423160"/>
            <a:ext cx="256032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351776" y="1463040"/>
            <a:ext cx="2011680" cy="1920240"/>
          </a:xfrm>
          <a:prstGeom prst="roundRect">
            <a:avLst>
              <a:gd name="adj" fmla="val 7200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61504" y="1572768"/>
            <a:ext cx="384048" cy="384048"/>
          </a:xfrm>
          <a:prstGeom prst="roundRect">
            <a:avLst>
              <a:gd name="adj" fmla="val 45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443216" y="20299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2"/>
                </a:solidFill>
              </a:rPr>
              <a:t>使用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443216" y="25146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chemeClr val="tx1">
                    <a:alpha val="62000"/>
                  </a:schemeClr>
                </a:solidFill>
              </a:rPr>
              <a:t>client 設定檔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chemeClr val="tx1">
                    <a:alpha val="62000"/>
                  </a:schemeClr>
                </a:solidFill>
              </a:rPr>
              <a:t>權限 600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363456" y="2423160"/>
            <a:ext cx="256032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619488" y="1463040"/>
            <a:ext cx="2011680" cy="1920240"/>
          </a:xfrm>
          <a:prstGeom prst="roundRect">
            <a:avLst>
              <a:gd name="adj" fmla="val 7200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29216" y="1572768"/>
            <a:ext cx="384048" cy="384048"/>
          </a:xfrm>
          <a:prstGeom prst="roundRect">
            <a:avLst>
              <a:gd name="adj" fmla="val 45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710928" y="20299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2"/>
                </a:solidFill>
              </a:rPr>
              <a:t>輪替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710928" y="25146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chemeClr val="tx1">
                    <a:alpha val="62000"/>
                  </a:schemeClr>
                </a:solidFill>
              </a:rPr>
              <a:t>同帳號改密碼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chemeClr val="tx1">
                    <a:alpha val="62000"/>
                  </a:schemeClr>
                </a:solidFill>
              </a:rPr>
              <a:t>→ client 換新密碼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3566160"/>
            <a:ext cx="3520440" cy="1097280"/>
          </a:xfrm>
          <a:prstGeom prst="roundRect">
            <a:avLst>
              <a:gd name="adj" fmla="val 9000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" y="3749040"/>
            <a:ext cx="640080" cy="640080"/>
          </a:xfrm>
          <a:prstGeom prst="roundRect">
            <a:avLst>
              <a:gd name="adj" fmla="val 45000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338" y="3889858"/>
            <a:ext cx="358445" cy="358445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1508760" y="36576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帳密存在 Kafka(KRaft)內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chemeClr val="tx1">
                    <a:alpha val="62000"/>
                  </a:schemeClr>
                </a:solidFill>
              </a:rPr>
              <a:t>不在 AD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4251960" y="3566160"/>
            <a:ext cx="3520440" cy="1097280"/>
          </a:xfrm>
          <a:prstGeom prst="roundRect">
            <a:avLst>
              <a:gd name="adj" fmla="val 9000"/>
            </a:avLst>
          </a:prstGeom>
          <a:solidFill>
            <a:schemeClr val="accent6">
              <a:alpha val="12000"/>
            </a:schemeClr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434840" y="3749040"/>
            <a:ext cx="640080" cy="640080"/>
          </a:xfrm>
          <a:prstGeom prst="roundRect">
            <a:avLst>
              <a:gd name="adj" fmla="val 45000"/>
            </a:avLst>
          </a:prstGeom>
          <a:solidFill>
            <a:schemeClr val="accent6">
              <a:alpha val="15000"/>
            </a:schemeClr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5658" y="3889858"/>
            <a:ext cx="358445" cy="358445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5212080" y="36576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300" b="1" dirty="0">
                <a:solidFill>
                  <a:schemeClr val="accent6"/>
                </a:solidFill>
              </a:rPr>
              <a:t>密碼不會自動到期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chemeClr val="tx1">
                    <a:alpha val="62000"/>
                  </a:schemeClr>
                </a:solidFill>
              </a:rPr>
              <a:t>要有輪替流程與提醒</a:t>
            </a:r>
            <a:endParaRPr lang="en-US" sz="1300" dirty="0"/>
          </a:p>
        </p:txBody>
      </p:sp>
      <p:sp>
        <p:nvSpPr>
          <p:cNvPr id="35" name="Shape 31"/>
          <p:cNvSpPr/>
          <p:nvPr/>
        </p:nvSpPr>
        <p:spPr>
          <a:xfrm>
            <a:off x="7955280" y="3566160"/>
            <a:ext cx="3685032" cy="1097280"/>
          </a:xfrm>
          <a:prstGeom prst="roundRect">
            <a:avLst>
              <a:gd name="adj" fmla="val 90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8138160" y="3749040"/>
            <a:ext cx="640080" cy="640080"/>
          </a:xfrm>
          <a:prstGeom prst="roundRect">
            <a:avLst>
              <a:gd name="adj" fmla="val 45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8978" y="3889858"/>
            <a:ext cx="358445" cy="358445"/>
          </a:xfrm>
          <a:prstGeom prst="rect">
            <a:avLst/>
          </a:prstGeom>
        </p:spPr>
      </p:pic>
      <p:sp>
        <p:nvSpPr>
          <p:cNvPr id="38" name="Text 33"/>
          <p:cNvSpPr txBox="1"/>
          <p:nvPr/>
        </p:nvSpPr>
        <p:spPr>
          <a:xfrm>
            <a:off x="8915400" y="365760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官方:SCRAM 搭配 TLS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chemeClr val="tx1">
                    <a:alpha val="62000"/>
                  </a:schemeClr>
                </a:solidFill>
              </a:rPr>
              <a:t>KRaft 放在私有網路</a:t>
            </a:r>
            <a:endParaRPr lang="en-US" sz="1300" dirty="0"/>
          </a:p>
        </p:txBody>
      </p:sp>
      <p:sp>
        <p:nvSpPr>
          <p:cNvPr id="39" name="Text 34"/>
          <p:cNvSpPr/>
          <p:nvPr/>
        </p:nvSpPr>
        <p:spPr>
          <a:xfrm>
            <a:off x="548640" y="4846320"/>
            <a:ext cx="2514600" cy="384048"/>
          </a:xfrm>
          <a:prstGeom prst="roundRect">
            <a:avLst>
              <a:gd name="adj" fmla="val 45000"/>
            </a:avLst>
          </a:prstGeom>
          <a:solidFill>
            <a:schemeClr val="accent2">
              <a:alpha val="12000"/>
            </a:schemeClr>
          </a:solidFill>
          <a:ln w="15875">
            <a:solidFill>
              <a:schemeClr val="accent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2"/>
                </a:solidFill>
              </a:rPr>
              <a:t>① Kafka 端改密碼</a:t>
            </a:r>
            <a:endParaRPr lang="en-US" sz="1200" dirty="0"/>
          </a:p>
        </p:txBody>
      </p:sp>
      <p:sp>
        <p:nvSpPr>
          <p:cNvPr id="40" name="Shape 35"/>
          <p:cNvSpPr/>
          <p:nvPr/>
        </p:nvSpPr>
        <p:spPr>
          <a:xfrm>
            <a:off x="3063240" y="5038344"/>
            <a:ext cx="347472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41" name="Text 36"/>
          <p:cNvSpPr/>
          <p:nvPr/>
        </p:nvSpPr>
        <p:spPr>
          <a:xfrm>
            <a:off x="3410712" y="4846320"/>
            <a:ext cx="2514600" cy="384048"/>
          </a:xfrm>
          <a:prstGeom prst="roundRect">
            <a:avLst>
              <a:gd name="adj" fmla="val 45000"/>
            </a:avLst>
          </a:prstGeom>
          <a:solidFill>
            <a:schemeClr val="accent2">
              <a:alpha val="12000"/>
            </a:schemeClr>
          </a:solidFill>
          <a:ln w="15875">
            <a:solidFill>
              <a:schemeClr val="accent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2"/>
                </a:solidFill>
              </a:rPr>
              <a:t>② client 換新密碼並重啟</a:t>
            </a:r>
            <a:endParaRPr lang="en-US" sz="1200" dirty="0"/>
          </a:p>
        </p:txBody>
      </p:sp>
      <p:sp>
        <p:nvSpPr>
          <p:cNvPr id="42" name="Shape 37"/>
          <p:cNvSpPr/>
          <p:nvPr/>
        </p:nvSpPr>
        <p:spPr>
          <a:xfrm>
            <a:off x="5925312" y="5038344"/>
            <a:ext cx="347472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43" name="Text 38"/>
          <p:cNvSpPr/>
          <p:nvPr/>
        </p:nvSpPr>
        <p:spPr>
          <a:xfrm>
            <a:off x="6272784" y="4846320"/>
            <a:ext cx="2514600" cy="384048"/>
          </a:xfrm>
          <a:prstGeom prst="roundRect">
            <a:avLst>
              <a:gd name="adj" fmla="val 45000"/>
            </a:avLst>
          </a:prstGeom>
          <a:solidFill>
            <a:schemeClr val="accent2">
              <a:alpha val="12000"/>
            </a:schemeClr>
          </a:solidFill>
          <a:ln w="15875">
            <a:solidFill>
              <a:schemeClr val="accent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2"/>
                </a:solidFill>
              </a:rPr>
              <a:t>③ 驗證新密碼可用</a:t>
            </a:r>
            <a:endParaRPr lang="en-US" sz="1200" dirty="0"/>
          </a:p>
        </p:txBody>
      </p:sp>
      <p:sp>
        <p:nvSpPr>
          <p:cNvPr id="44" name="Shape 39"/>
          <p:cNvSpPr/>
          <p:nvPr/>
        </p:nvSpPr>
        <p:spPr>
          <a:xfrm>
            <a:off x="8787384" y="5038344"/>
            <a:ext cx="347472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45" name="Text 40"/>
          <p:cNvSpPr/>
          <p:nvPr/>
        </p:nvSpPr>
        <p:spPr>
          <a:xfrm>
            <a:off x="9134856" y="4846320"/>
            <a:ext cx="2514600" cy="384048"/>
          </a:xfrm>
          <a:prstGeom prst="roundRect">
            <a:avLst>
              <a:gd name="adj" fmla="val 45000"/>
            </a:avLst>
          </a:prstGeom>
          <a:solidFill>
            <a:schemeClr val="accent2">
              <a:alpha val="12000"/>
            </a:schemeClr>
          </a:solidFill>
          <a:ln w="15875">
            <a:solidFill>
              <a:schemeClr val="accent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2"/>
                </a:solidFill>
              </a:rPr>
              <a:t>④ 驗證舊密碼已失效</a:t>
            </a:r>
            <a:endParaRPr lang="en-US" sz="1200" dirty="0"/>
          </a:p>
        </p:txBody>
      </p:sp>
      <p:sp>
        <p:nvSpPr>
          <p:cNvPr id="46" name="Text 41"/>
          <p:cNvSpPr/>
          <p:nvPr/>
        </p:nvSpPr>
        <p:spPr>
          <a:xfrm>
            <a:off x="548640" y="5440680"/>
            <a:ext cx="11091672" cy="822960"/>
          </a:xfrm>
          <a:prstGeom prst="roundRect">
            <a:avLst>
              <a:gd name="adj" fmla="val 9000"/>
            </a:avLst>
          </a:prstGeom>
          <a:solidFill>
            <a:schemeClr val="tx2"/>
          </a:solidFill>
          <a:ln w="19050">
            <a:solidFill>
              <a:schemeClr val="tx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chemeClr val="bg1"/>
                </a:solidFill>
              </a:rPr>
              <a:t>同帳號改密碼 = 取代:舊密碼對新連線立即失效(實測)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150" dirty="0">
                <a:solidFill>
                  <a:schemeClr val="bg1"/>
                </a:solidFill>
              </a:rPr>
              <a:t>已連線的 client 不受影響;改完立刻換 client,換好之前重新連線的會失敗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tx2"/>
                </a:solidFill>
              </a:rPr>
              <a:t>特例:不能有失敗窗口的服務</a:t>
            </a:r>
            <a:endParaRPr lang="zh-TW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chemeClr val="accent1"/>
                </a:solidFill>
              </a:rPr>
              <a:t>上一頁的做法,會有一段失敗窗口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2926080" cy="914400"/>
          </a:xfrm>
          <a:prstGeom prst="roundRect">
            <a:avLst>
              <a:gd name="adj" fmla="val 7200"/>
            </a:avLst>
          </a:prstGeom>
          <a:solidFill>
            <a:schemeClr val="accent3">
              <a:alpha val="12000"/>
            </a:schemeClr>
          </a:solidFill>
          <a:ln w="19050">
            <a:solidFill>
              <a:schemeClr val="accent3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400" b="1" dirty="0">
                <a:solidFill>
                  <a:schemeClr val="accent3"/>
                </a:solidFill>
              </a:rPr>
              <a:t>Kafka 端改密碼</a:t>
            </a:r>
            <a:endParaRPr lang="en-US" sz="14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chemeClr val="tx1">
                    <a:alpha val="62000"/>
                  </a:schemeClr>
                </a:solidFill>
              </a:rPr>
              <a:t>舊密碼對新連線立即失效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474720" y="2240280"/>
            <a:ext cx="36576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3840480" y="1783080"/>
            <a:ext cx="4572000" cy="914400"/>
          </a:xfrm>
          <a:prstGeom prst="roundRect">
            <a:avLst>
              <a:gd name="adj" fmla="val 7200"/>
            </a:avLst>
          </a:prstGeom>
          <a:solidFill>
            <a:schemeClr val="accent6">
              <a:alpha val="12000"/>
            </a:schemeClr>
          </a:solidFill>
          <a:ln w="19050">
            <a:solidFill>
              <a:schemeClr val="accent6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400" b="1" dirty="0">
                <a:solidFill>
                  <a:schemeClr val="accent6"/>
                </a:solidFill>
              </a:rPr>
              <a:t>失敗窗口</a:t>
            </a:r>
            <a:endParaRPr lang="en-US" sz="1400" dirty="0"/>
          </a:p>
          <a:p>
            <a:pPr algn="ctr" indent="0" marL="0">
              <a:buNone/>
            </a:pPr>
            <a:r>
              <a:rPr lang="zh-TW" altLang="en-US" sz="1150" dirty="0">
                <a:solidFill>
                  <a:schemeClr val="tx1"/>
                </a:solidFill>
              </a:rPr>
              <a:t>client 還沒換新密碼、就重新連線 → 失敗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412480" y="2240280"/>
            <a:ext cx="36576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8778240" y="1783080"/>
            <a:ext cx="2862072" cy="914400"/>
          </a:xfrm>
          <a:prstGeom prst="roundRect">
            <a:avLst>
              <a:gd name="adj" fmla="val 7200"/>
            </a:avLst>
          </a:prstGeom>
          <a:solidFill>
            <a:schemeClr val="accent3">
              <a:alpha val="12000"/>
            </a:schemeClr>
          </a:solidFill>
          <a:ln w="19050">
            <a:solidFill>
              <a:schemeClr val="accent3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3"/>
                </a:solidFill>
              </a:rPr>
              <a:t>client 換好新密碼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0175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chemeClr val="accent2"/>
                </a:solidFill>
              </a:rPr>
              <a:t>不能承受窗口的服務:改用新帳號並行(新舊同時有效)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474720"/>
            <a:ext cx="2514600" cy="384048"/>
          </a:xfrm>
          <a:prstGeom prst="roundRect">
            <a:avLst>
              <a:gd name="adj" fmla="val 45000"/>
            </a:avLst>
          </a:prstGeom>
          <a:solidFill>
            <a:schemeClr val="accent2">
              <a:alpha val="12000"/>
            </a:schemeClr>
          </a:solidFill>
          <a:ln w="15875">
            <a:solidFill>
              <a:schemeClr val="accent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2"/>
                </a:solidFill>
              </a:rPr>
              <a:t>① 建新帳號 svc-x-v2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063240" y="3666744"/>
            <a:ext cx="347472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3410712" y="3474720"/>
            <a:ext cx="2514600" cy="384048"/>
          </a:xfrm>
          <a:prstGeom prst="roundRect">
            <a:avLst>
              <a:gd name="adj" fmla="val 45000"/>
            </a:avLst>
          </a:prstGeom>
          <a:solidFill>
            <a:schemeClr val="accent2">
              <a:alpha val="12000"/>
            </a:schemeClr>
          </a:solidFill>
          <a:ln w="15875">
            <a:solidFill>
              <a:schemeClr val="accent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2"/>
                </a:solidFill>
              </a:rPr>
              <a:t>② 重綁相同 role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25312" y="3666744"/>
            <a:ext cx="347472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6272784" y="3474720"/>
            <a:ext cx="2514600" cy="384048"/>
          </a:xfrm>
          <a:prstGeom prst="roundRect">
            <a:avLst>
              <a:gd name="adj" fmla="val 45000"/>
            </a:avLst>
          </a:prstGeom>
          <a:solidFill>
            <a:schemeClr val="accent2">
              <a:alpha val="12000"/>
            </a:schemeClr>
          </a:solidFill>
          <a:ln w="15875">
            <a:solidFill>
              <a:schemeClr val="accent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2"/>
                </a:solidFill>
              </a:rPr>
              <a:t>③ client 改帳號與密碼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787384" y="3666744"/>
            <a:ext cx="347472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9134856" y="3474720"/>
            <a:ext cx="2514600" cy="384048"/>
          </a:xfrm>
          <a:prstGeom prst="roundRect">
            <a:avLst>
              <a:gd name="adj" fmla="val 45000"/>
            </a:avLst>
          </a:prstGeom>
          <a:solidFill>
            <a:schemeClr val="accent2">
              <a:alpha val="12000"/>
            </a:schemeClr>
          </a:solidFill>
          <a:ln w="15875">
            <a:solidFill>
              <a:schemeClr val="accent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2"/>
                </a:solidFill>
              </a:rPr>
              <a:t>④ 刪舊帳號與舊 binding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9319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chemeClr val="tx1">
                    <a:alpha val="62000"/>
                  </a:schemeClr>
                </a:solidFill>
              </a:rPr>
              <a:t>舊帳號仍可使用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410712" y="39319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chemeClr val="tx1">
                    <a:alpha val="62000"/>
                  </a:schemeClr>
                </a:solidFill>
              </a:rPr>
              <a:t>RBAC 綁的是帳號名稱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272784" y="39319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chemeClr val="tx1">
                    <a:alpha val="62000"/>
                  </a:schemeClr>
                </a:solidFill>
              </a:rPr>
              <a:t>逐步切換,新舊並存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9134856" y="39319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chemeClr val="tx1">
                    <a:alpha val="62000"/>
                  </a:schemeClr>
                </a:solidFill>
              </a:rPr>
              <a:t>全部切完才刪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526280"/>
            <a:ext cx="5440680" cy="384048"/>
          </a:xfrm>
          <a:prstGeom prst="roundRect">
            <a:avLst>
              <a:gd name="adj" fmla="val 45000"/>
            </a:avLst>
          </a:prstGeom>
          <a:solidFill>
            <a:schemeClr val="accent6">
              <a:alpha val="12000"/>
            </a:schemeClr>
          </a:solidFill>
          <a:ln w="15875">
            <a:solidFill>
              <a:schemeClr val="accent6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6"/>
                </a:solidFill>
              </a:rPr>
              <a:t>代價:每次輪替,client 都要改帳號名稱並重啟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99632" y="4526280"/>
            <a:ext cx="5440680" cy="384048"/>
          </a:xfrm>
          <a:prstGeom prst="roundRect">
            <a:avLst>
              <a:gd name="adj" fmla="val 45000"/>
            </a:avLst>
          </a:prstGeom>
          <a:solidFill>
            <a:schemeClr val="accent6">
              <a:alpha val="12000"/>
            </a:schemeClr>
          </a:solidFill>
          <a:ln w="15875">
            <a:solidFill>
              <a:schemeClr val="accent6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6"/>
                </a:solidFill>
              </a:rPr>
              <a:t>代價:新帳號的 role binding 要重綁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5349240"/>
            <a:ext cx="11091672" cy="640080"/>
          </a:xfrm>
          <a:prstGeom prst="roundRect">
            <a:avLst>
              <a:gd name="adj" fmla="val 9000"/>
            </a:avLst>
          </a:prstGeom>
          <a:solidFill>
            <a:schemeClr val="tx2"/>
          </a:solidFill>
          <a:ln w="19050">
            <a:solidFill>
              <a:schemeClr val="tx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只有不能承受失敗窗口的服務才用;日常輪替仍用同帳號改密碼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tx2"/>
                </a:solidFill>
              </a:rPr>
              <a:t>REST Proxy:legacy app 的入口</a:t>
            </a:r>
            <a:endParaRPr lang="zh-TW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chemeClr val="accent1"/>
                </a:solidFill>
              </a:rPr>
              <a:t>人(Postman · 手動測試)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0" y="1627632"/>
            <a:ext cx="2103120" cy="566928"/>
          </a:xfrm>
          <a:prstGeom prst="roundRect">
            <a:avLst>
              <a:gd name="adj" fmla="val 9000"/>
            </a:avLst>
          </a:prstGeom>
          <a:solidFill>
            <a:schemeClr val="accent5">
              <a:alpha val="1200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0" y="1700784"/>
            <a:ext cx="420624" cy="420624"/>
          </a:xfrm>
          <a:prstGeom prst="roundRect">
            <a:avLst>
              <a:gd name="adj" fmla="val 45000"/>
            </a:avLst>
          </a:prstGeom>
          <a:solidFill>
            <a:schemeClr val="accent5">
              <a:alpha val="15000"/>
            </a:schemeClr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1577" y="1793321"/>
            <a:ext cx="235549" cy="23554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251960" y="1700784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chemeClr val="tx1"/>
                </a:solidFill>
              </a:rPr>
              <a:t>MDS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 flipV="1">
            <a:off x="4343400" y="2194560"/>
            <a:ext cx="0" cy="18288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5029200" y="2194560"/>
            <a:ext cx="0" cy="18288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0" name="Text 7"/>
          <p:cNvSpPr txBox="1"/>
          <p:nvPr/>
        </p:nvSpPr>
        <p:spPr>
          <a:xfrm>
            <a:off x="5852160" y="155448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chemeClr val="accent5"/>
                </a:solidFill>
              </a:rPr>
              <a:t>① REST Proxy 把 Basic 帳密轉給 MDS(/authenticate)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chemeClr val="accent5"/>
                </a:solidFill>
              </a:rPr>
              <a:t>② MDS 向 AD 驗證,回 token(不經 /impersonate)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" y="2377440"/>
            <a:ext cx="1828800" cy="731520"/>
          </a:xfrm>
          <a:prstGeom prst="roundRect">
            <a:avLst>
              <a:gd name="adj" fmla="val 90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0080" y="2496312"/>
            <a:ext cx="475488" cy="475488"/>
          </a:xfrm>
          <a:prstGeom prst="roundRect">
            <a:avLst>
              <a:gd name="adj" fmla="val 45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687" y="2600919"/>
            <a:ext cx="266273" cy="266273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188720" y="2496312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人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3657600" y="2377440"/>
            <a:ext cx="2103120" cy="731520"/>
          </a:xfrm>
          <a:prstGeom prst="roundRect">
            <a:avLst>
              <a:gd name="adj" fmla="val 90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749040" y="2496312"/>
            <a:ext cx="475488" cy="475488"/>
          </a:xfrm>
          <a:prstGeom prst="roundRect">
            <a:avLst>
              <a:gd name="adj" fmla="val 45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3647" y="2600919"/>
            <a:ext cx="266273" cy="266273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297680" y="2496312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REST Proxy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949440" y="2377440"/>
            <a:ext cx="1828800" cy="731520"/>
          </a:xfrm>
          <a:prstGeom prst="roundRect">
            <a:avLst>
              <a:gd name="adj" fmla="val 90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040880" y="2496312"/>
            <a:ext cx="475488" cy="475488"/>
          </a:xfrm>
          <a:prstGeom prst="roundRect">
            <a:avLst>
              <a:gd name="adj" fmla="val 45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5487" y="2600919"/>
            <a:ext cx="266273" cy="26627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589520" y="2496312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broker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2377440" y="2743200"/>
            <a:ext cx="1280160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5760720" y="2743200"/>
            <a:ext cx="1188720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5" name="Text 19"/>
          <p:cNvSpPr txBox="1"/>
          <p:nvPr/>
        </p:nvSpPr>
        <p:spPr>
          <a:xfrm>
            <a:off x="1554480" y="3154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chemeClr val="accent1"/>
                </a:solidFill>
              </a:rPr>
              <a:t>Basic(AD 帳密)</a:t>
            </a:r>
            <a:endParaRPr lang="en-US" sz="1000" dirty="0"/>
          </a:p>
        </p:txBody>
      </p:sp>
      <p:sp>
        <p:nvSpPr>
          <p:cNvPr id="26" name="Text 20"/>
          <p:cNvSpPr txBox="1"/>
          <p:nvPr/>
        </p:nvSpPr>
        <p:spPr>
          <a:xfrm>
            <a:off x="5532120" y="3154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chemeClr val="accent1"/>
                </a:solidFill>
              </a:rPr>
              <a:t>OAUTHBEARER(帶 token)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8915400" y="24688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chemeClr val="accent1"/>
                </a:solidFill>
              </a:rPr>
              <a:t>broker 用 MDS 公鑰驗章,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chemeClr val="accent1"/>
                </a:solidFill>
              </a:rPr>
              <a:t>主體 = token 的 sub</a:t>
            </a:r>
            <a:endParaRPr lang="en-US" sz="1000" dirty="0"/>
          </a:p>
        </p:txBody>
      </p:sp>
      <p:sp>
        <p:nvSpPr>
          <p:cNvPr id="28" name="Text 22"/>
          <p:cNvSpPr txBox="1"/>
          <p:nvPr/>
        </p:nvSpPr>
        <p:spPr>
          <a:xfrm>
            <a:off x="548640" y="34747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chemeClr val="accent2"/>
                </a:solidFill>
              </a:rPr>
              <a:t>機器(legacy app)</a:t>
            </a:r>
            <a:endParaRPr lang="en-US" sz="1400" dirty="0"/>
          </a:p>
        </p:txBody>
      </p:sp>
      <p:sp>
        <p:nvSpPr>
          <p:cNvPr id="29" name="Shape 23"/>
          <p:cNvSpPr/>
          <p:nvPr/>
        </p:nvSpPr>
        <p:spPr>
          <a:xfrm>
            <a:off x="3657600" y="3822192"/>
            <a:ext cx="2103120" cy="566928"/>
          </a:xfrm>
          <a:prstGeom prst="roundRect">
            <a:avLst>
              <a:gd name="adj" fmla="val 9000"/>
            </a:avLst>
          </a:prstGeom>
          <a:solidFill>
            <a:schemeClr val="accent5">
              <a:alpha val="1200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3749040" y="3895344"/>
            <a:ext cx="420624" cy="420624"/>
          </a:xfrm>
          <a:prstGeom prst="roundRect">
            <a:avLst>
              <a:gd name="adj" fmla="val 45000"/>
            </a:avLst>
          </a:prstGeom>
          <a:solidFill>
            <a:schemeClr val="accent5">
              <a:alpha val="15000"/>
            </a:schemeClr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1577" y="3987881"/>
            <a:ext cx="235549" cy="235549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4251960" y="3895344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chemeClr val="tx1"/>
                </a:solidFill>
              </a:rPr>
              <a:t>MDS</a:t>
            </a:r>
            <a:endParaRPr lang="en-US" sz="1400" dirty="0"/>
          </a:p>
        </p:txBody>
      </p:sp>
      <p:sp>
        <p:nvSpPr>
          <p:cNvPr id="33" name="Shape 26"/>
          <p:cNvSpPr/>
          <p:nvPr/>
        </p:nvSpPr>
        <p:spPr>
          <a:xfrm flipV="1">
            <a:off x="4343400" y="4389120"/>
            <a:ext cx="0" cy="18288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4" name="Shape 27"/>
          <p:cNvSpPr/>
          <p:nvPr/>
        </p:nvSpPr>
        <p:spPr>
          <a:xfrm>
            <a:off x="5029200" y="4389120"/>
            <a:ext cx="0" cy="18288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5" name="Text 28"/>
          <p:cNvSpPr txBox="1"/>
          <p:nvPr/>
        </p:nvSpPr>
        <p:spPr>
          <a:xfrm>
            <a:off x="5852160" y="374904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chemeClr val="accent5"/>
                </a:solidFill>
              </a:rPr>
              <a:t>② REST Proxy 用自己的 client 憑證(CN=restproxy)向 MDS 認證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chemeClr val="accent5"/>
                </a:solidFill>
              </a:rPr>
              <a:t>③ POST /impersonate:代為申請 legacy app 的 token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chemeClr val="accent5"/>
                </a:solidFill>
              </a:rPr>
              <a:t>④ MDS 回 token(sub = app,cp_proxy = restproxy)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548640" y="4572000"/>
            <a:ext cx="1828800" cy="731520"/>
          </a:xfrm>
          <a:prstGeom prst="roundRect">
            <a:avLst>
              <a:gd name="adj" fmla="val 9000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640080" y="4690872"/>
            <a:ext cx="475488" cy="475488"/>
          </a:xfrm>
          <a:prstGeom prst="roundRect">
            <a:avLst>
              <a:gd name="adj" fmla="val 45000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687" y="4795479"/>
            <a:ext cx="266273" cy="266273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1188720" y="4690872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legacy app</a:t>
            </a:r>
            <a:endParaRPr lang="en-US" sz="1300" dirty="0"/>
          </a:p>
        </p:txBody>
      </p:sp>
      <p:sp>
        <p:nvSpPr>
          <p:cNvPr id="40" name="Shape 32"/>
          <p:cNvSpPr/>
          <p:nvPr/>
        </p:nvSpPr>
        <p:spPr>
          <a:xfrm>
            <a:off x="3657600" y="4572000"/>
            <a:ext cx="2103120" cy="731520"/>
          </a:xfrm>
          <a:prstGeom prst="roundRect">
            <a:avLst>
              <a:gd name="adj" fmla="val 9000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3749040" y="4690872"/>
            <a:ext cx="475488" cy="475488"/>
          </a:xfrm>
          <a:prstGeom prst="roundRect">
            <a:avLst>
              <a:gd name="adj" fmla="val 45000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53647" y="4795479"/>
            <a:ext cx="266273" cy="266273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4297680" y="4690872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REST Proxy</a:t>
            </a:r>
            <a:endParaRPr lang="en-US" sz="1300" dirty="0"/>
          </a:p>
        </p:txBody>
      </p:sp>
      <p:sp>
        <p:nvSpPr>
          <p:cNvPr id="44" name="Shape 35"/>
          <p:cNvSpPr/>
          <p:nvPr/>
        </p:nvSpPr>
        <p:spPr>
          <a:xfrm>
            <a:off x="6949440" y="4572000"/>
            <a:ext cx="1828800" cy="731520"/>
          </a:xfrm>
          <a:prstGeom prst="roundRect">
            <a:avLst>
              <a:gd name="adj" fmla="val 9000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45" name="Shape 36"/>
          <p:cNvSpPr/>
          <p:nvPr/>
        </p:nvSpPr>
        <p:spPr>
          <a:xfrm>
            <a:off x="7040880" y="4690872"/>
            <a:ext cx="475488" cy="475488"/>
          </a:xfrm>
          <a:prstGeom prst="roundRect">
            <a:avLst>
              <a:gd name="adj" fmla="val 45000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45487" y="4795479"/>
            <a:ext cx="266273" cy="266273"/>
          </a:xfrm>
          <a:prstGeom prst="rect">
            <a:avLst/>
          </a:prstGeom>
        </p:spPr>
      </p:pic>
      <p:sp>
        <p:nvSpPr>
          <p:cNvPr id="47" name="Text 37"/>
          <p:cNvSpPr txBox="1"/>
          <p:nvPr/>
        </p:nvSpPr>
        <p:spPr>
          <a:xfrm>
            <a:off x="7589520" y="4690872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broker</a:t>
            </a:r>
            <a:endParaRPr lang="en-US" sz="1300" dirty="0"/>
          </a:p>
        </p:txBody>
      </p:sp>
      <p:sp>
        <p:nvSpPr>
          <p:cNvPr id="48" name="Shape 38"/>
          <p:cNvSpPr/>
          <p:nvPr/>
        </p:nvSpPr>
        <p:spPr>
          <a:xfrm>
            <a:off x="2377440" y="4937760"/>
            <a:ext cx="1280160" cy="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49" name="Shape 39"/>
          <p:cNvSpPr/>
          <p:nvPr/>
        </p:nvSpPr>
        <p:spPr>
          <a:xfrm>
            <a:off x="5760720" y="4937760"/>
            <a:ext cx="1188720" cy="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50" name="Text 40"/>
          <p:cNvSpPr txBox="1"/>
          <p:nvPr/>
        </p:nvSpPr>
        <p:spPr>
          <a:xfrm>
            <a:off x="1554480" y="5349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chemeClr val="accent2"/>
                </a:solidFill>
              </a:rPr>
              <a:t>① client 憑證(CN)→ 對映成主體</a:t>
            </a:r>
            <a:endParaRPr lang="en-US" sz="1000" dirty="0"/>
          </a:p>
        </p:txBody>
      </p:sp>
      <p:sp>
        <p:nvSpPr>
          <p:cNvPr id="51" name="Text 41"/>
          <p:cNvSpPr txBox="1"/>
          <p:nvPr/>
        </p:nvSpPr>
        <p:spPr>
          <a:xfrm>
            <a:off x="5532120" y="5349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chemeClr val="accent2"/>
                </a:solidFill>
              </a:rPr>
              <a:t>⑤ OAUTHBEARER(帶 token)</a:t>
            </a:r>
            <a:endParaRPr lang="en-US" sz="1000" dirty="0"/>
          </a:p>
        </p:txBody>
      </p:sp>
      <p:sp>
        <p:nvSpPr>
          <p:cNvPr id="52" name="Text 42"/>
          <p:cNvSpPr txBox="1"/>
          <p:nvPr/>
        </p:nvSpPr>
        <p:spPr>
          <a:xfrm>
            <a:off x="8915400" y="4663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chemeClr val="accent2"/>
                </a:solidFill>
              </a:rPr>
              <a:t>broker 用 MDS 公鑰驗章,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chemeClr val="accent2"/>
                </a:solidFill>
              </a:rPr>
              <a:t>主體 = token 的 sub</a:t>
            </a:r>
            <a:endParaRPr lang="en-US" sz="1000" dirty="0"/>
          </a:p>
        </p:txBody>
      </p:sp>
      <p:sp>
        <p:nvSpPr>
          <p:cNvPr id="53" name="Text 43"/>
          <p:cNvSpPr/>
          <p:nvPr/>
        </p:nvSpPr>
        <p:spPr>
          <a:xfrm>
            <a:off x="548640" y="5715000"/>
            <a:ext cx="11091672" cy="347472"/>
          </a:xfrm>
          <a:prstGeom prst="roundRect">
            <a:avLst>
              <a:gd name="adj" fmla="val 45000"/>
            </a:avLst>
          </a:prstGeom>
          <a:solidFill>
            <a:schemeClr val="accent3">
              <a:alpha val="12000"/>
            </a:schemeClr>
          </a:solidFill>
          <a:ln w="15875">
            <a:solidFill>
              <a:schemeClr val="accent3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accent3"/>
                </a:solidFill>
              </a:rPr>
              <a:t>REST Proxy 端 ssl.client.authentication=REQUESTED:人沒有憑證、機器有憑證,兩者並存 · 憑證身分只能綁 User:</a:t>
            </a:r>
            <a:endParaRPr lang="en-US" sz="1100" dirty="0"/>
          </a:p>
        </p:txBody>
      </p:sp>
      <p:sp>
        <p:nvSpPr>
          <p:cNvPr id="54" name="Text 44"/>
          <p:cNvSpPr/>
          <p:nvPr/>
        </p:nvSpPr>
        <p:spPr>
          <a:xfrm>
            <a:off x="548640" y="6089904"/>
            <a:ext cx="11091672" cy="347472"/>
          </a:xfrm>
          <a:prstGeom prst="roundRect">
            <a:avLst>
              <a:gd name="adj" fmla="val 45000"/>
            </a:avLst>
          </a:prstGeom>
          <a:solidFill>
            <a:schemeClr val="accent6">
              <a:alpha val="12000"/>
            </a:schemeClr>
          </a:solidFill>
          <a:ln w="15875">
            <a:solidFill>
              <a:schemeClr val="accent6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accent6"/>
                </a:solidFill>
              </a:rPr>
              <a:t>⚠ restproxy 憑證可代人 → 特權身分逐一以 User: 列入 protected.users;混入 Group: 整份失效(實測)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tx2"/>
                </a:solidFill>
              </a:rPr>
              <a:t>Control Center:人用本人身分</a:t>
            </a:r>
            <a:endParaRPr lang="zh-TW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011680" cy="1828800"/>
          </a:xfrm>
          <a:prstGeom prst="roundRect">
            <a:avLst>
              <a:gd name="adj" fmla="val 72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527048"/>
            <a:ext cx="384048" cy="384048"/>
          </a:xfrm>
          <a:prstGeom prst="roundRect">
            <a:avLst>
              <a:gd name="adj" fmla="val 45000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842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1"/>
                </a:solidFill>
              </a:rPr>
              <a:t>Basic 登入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688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chemeClr val="tx1">
                    <a:alpha val="62000"/>
                  </a:schemeClr>
                </a:solidFill>
              </a:rPr>
              <a:t>瀏覽器送 AD 帳密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2331720"/>
            <a:ext cx="25603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16352" y="1417320"/>
            <a:ext cx="2011680" cy="1828800"/>
          </a:xfrm>
          <a:prstGeom prst="roundRect">
            <a:avLst>
              <a:gd name="adj" fmla="val 72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0" y="1527048"/>
            <a:ext cx="384048" cy="384048"/>
          </a:xfrm>
          <a:prstGeom prst="roundRect">
            <a:avLst>
              <a:gd name="adj" fmla="val 45000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07792" y="19842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1"/>
                </a:solidFill>
              </a:rPr>
              <a:t>C3 轉給 MDS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907792" y="24688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chemeClr val="tx1">
                    <a:alpha val="62000"/>
                  </a:schemeClr>
                </a:solidFill>
              </a:rPr>
              <a:t>MDS 向 AD 驗證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28032" y="2331720"/>
            <a:ext cx="25603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084064" y="1417320"/>
            <a:ext cx="2011680" cy="1828800"/>
          </a:xfrm>
          <a:prstGeom prst="roundRect">
            <a:avLst>
              <a:gd name="adj" fmla="val 72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93792" y="1527048"/>
            <a:ext cx="384048" cy="384048"/>
          </a:xfrm>
          <a:prstGeom prst="roundRect">
            <a:avLst>
              <a:gd name="adj" fmla="val 45000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175504" y="19842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1"/>
                </a:solidFill>
              </a:rPr>
              <a:t>回 token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175504" y="24688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chemeClr val="tx1">
                    <a:alpha val="62000"/>
                  </a:schemeClr>
                </a:solidFill>
              </a:rPr>
              <a:t>JWT 壽命可設(demo 1 小時)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chemeClr val="tx1">
                    <a:alpha val="62000"/>
                  </a:schemeClr>
                </a:solidFill>
              </a:rPr>
              <a:t>C3 登入上限預設 6 小時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095744" y="2331720"/>
            <a:ext cx="25603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351776" y="1417320"/>
            <a:ext cx="2011680" cy="1828800"/>
          </a:xfrm>
          <a:prstGeom prst="roundRect">
            <a:avLst>
              <a:gd name="adj" fmla="val 72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61504" y="1527048"/>
            <a:ext cx="384048" cy="384048"/>
          </a:xfrm>
          <a:prstGeom prst="roundRect">
            <a:avLst>
              <a:gd name="adj" fmla="val 45000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443216" y="19842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1"/>
                </a:solidFill>
              </a:rPr>
              <a:t>之後帶 Bearer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443216" y="24688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chemeClr val="tx1">
                    <a:alpha val="62000"/>
                  </a:schemeClr>
                </a:solidFill>
              </a:rPr>
              <a:t>另有 HttpOnly cookie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chemeClr val="tx1">
                    <a:alpha val="62000"/>
                  </a:schemeClr>
                </a:solidFill>
              </a:rPr>
              <a:t>優先看 Bearer(實測)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363456" y="2331720"/>
            <a:ext cx="25603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619488" y="1417320"/>
            <a:ext cx="2011680" cy="1828800"/>
          </a:xfrm>
          <a:prstGeom prst="roundRect">
            <a:avLst>
              <a:gd name="adj" fmla="val 72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29216" y="1527048"/>
            <a:ext cx="384048" cy="384048"/>
          </a:xfrm>
          <a:prstGeom prst="roundRect">
            <a:avLst>
              <a:gd name="adj" fmla="val 45000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710928" y="19842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1"/>
                </a:solidFill>
              </a:rPr>
              <a:t>驗證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710928" y="24688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chemeClr val="tx1">
                    <a:alpha val="62000"/>
                  </a:schemeClr>
                </a:solidFill>
              </a:rPr>
              <a:t>C3 自己的 API: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chemeClr val="tx1">
                    <a:alpha val="62000"/>
                  </a:schemeClr>
                </a:solidFill>
              </a:rPr>
              <a:t>本地驗章(實測)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chemeClr val="tx1">
                    <a:alpha val="62000"/>
                  </a:schemeClr>
                </a:solidFill>
              </a:rPr>
              <a:t>轉給 MDS 的請求: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chemeClr val="tx1">
                    <a:alpha val="62000"/>
                  </a:schemeClr>
                </a:solidFill>
              </a:rPr>
              <a:t>由 MDS 驗證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3520440"/>
            <a:ext cx="5440680" cy="1371600"/>
          </a:xfrm>
          <a:prstGeom prst="roundRect">
            <a:avLst>
              <a:gd name="adj" fmla="val 90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" y="3657600"/>
            <a:ext cx="640080" cy="640080"/>
          </a:xfrm>
          <a:prstGeom prst="roundRect">
            <a:avLst>
              <a:gd name="adj" fmla="val 45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338" y="3798418"/>
            <a:ext cx="358445" cy="358445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1508760" y="361188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500" b="1" dirty="0">
                <a:solidFill>
                  <a:schemeClr val="accent1"/>
                </a:solidFill>
              </a:rPr>
              <a:t>使用者操作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zh-TW" altLang="en-US" sz="1250" dirty="0">
                <a:solidFill>
                  <a:schemeClr val="tx1"/>
                </a:solidFill>
              </a:rPr>
              <a:t>C3 帶「使用者本人」的 token 連 broker</a:t>
            </a:r>
            <a:endParaRPr lang="en-US" sz="1500" dirty="0"/>
          </a:p>
          <a:p>
            <a:pPr algn="l" indent="0" marL="0">
              <a:buNone/>
            </a:pPr>
            <a:r>
              <a:rPr lang="zh-TW" altLang="en-US" sz="1150" dirty="0">
                <a:solidFill>
                  <a:schemeClr val="tx1">
                    <a:alpha val="62000"/>
                  </a:schemeClr>
                </a:solidFill>
              </a:rPr>
              <a:t>audit 主體 = User:gary / ming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6199632" y="3520440"/>
            <a:ext cx="5440680" cy="1371600"/>
          </a:xfrm>
          <a:prstGeom prst="roundRect">
            <a:avLst>
              <a:gd name="adj" fmla="val 9000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382512" y="3657600"/>
            <a:ext cx="640080" cy="640080"/>
          </a:xfrm>
          <a:prstGeom prst="roundRect">
            <a:avLst>
              <a:gd name="adj" fmla="val 45000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3330" y="3798418"/>
            <a:ext cx="358445" cy="358445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7159752" y="361188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500" b="1" dirty="0">
                <a:solidFill>
                  <a:schemeClr val="accent2"/>
                </a:solidFill>
              </a:rPr>
              <a:t>C3 背景工作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zh-TW" altLang="en-US" sz="1250" dirty="0">
                <a:solidFill>
                  <a:schemeClr val="tx1"/>
                </a:solidFill>
              </a:rPr>
              <a:t>c3 憑證向 MDS 換 token = User:c3</a:t>
            </a:r>
            <a:endParaRPr lang="en-US" sz="1500" dirty="0"/>
          </a:p>
          <a:p>
            <a:pPr algn="l" indent="0" marL="0">
              <a:buNone/>
            </a:pPr>
            <a:r>
              <a:rPr lang="zh-TW" altLang="en-US" sz="1150" dirty="0">
                <a:solidFill>
                  <a:schemeClr val="tx1">
                    <a:alpha val="62000"/>
                  </a:schemeClr>
                </a:solidFill>
              </a:rPr>
              <a:t>官方要求 SystemAdmin</a:t>
            </a:r>
            <a:endParaRPr lang="en-US" sz="1500" dirty="0"/>
          </a:p>
        </p:txBody>
      </p:sp>
      <p:sp>
        <p:nvSpPr>
          <p:cNvPr id="35" name="Text 31"/>
          <p:cNvSpPr/>
          <p:nvPr/>
        </p:nvSpPr>
        <p:spPr>
          <a:xfrm>
            <a:off x="548640" y="5257800"/>
            <a:ext cx="5440680" cy="384048"/>
          </a:xfrm>
          <a:prstGeom prst="roundRect">
            <a:avLst>
              <a:gd name="adj" fmla="val 45000"/>
            </a:avLst>
          </a:prstGeom>
          <a:solidFill>
            <a:schemeClr val="accent3">
              <a:alpha val="12000"/>
            </a:schemeClr>
          </a:solidFill>
          <a:ln w="15875">
            <a:solidFill>
              <a:schemeClr val="accent3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3"/>
                </a:solidFill>
              </a:rPr>
              <a:t>RBAC 下 C3 連 Kafka 只支援 OAUTHBEARER(官方)</a:t>
            </a:r>
            <a:endParaRPr lang="en-US" sz="1200" dirty="0"/>
          </a:p>
        </p:txBody>
      </p:sp>
      <p:sp>
        <p:nvSpPr>
          <p:cNvPr id="36" name="Text 32"/>
          <p:cNvSpPr/>
          <p:nvPr/>
        </p:nvSpPr>
        <p:spPr>
          <a:xfrm>
            <a:off x="6199632" y="5257800"/>
            <a:ext cx="5440680" cy="384048"/>
          </a:xfrm>
          <a:prstGeom prst="roundRect">
            <a:avLst>
              <a:gd name="adj" fmla="val 45000"/>
            </a:avLst>
          </a:prstGeom>
          <a:solidFill>
            <a:schemeClr val="accent6">
              <a:alpha val="12000"/>
            </a:schemeClr>
          </a:solidFill>
          <a:ln w="15875">
            <a:solidFill>
              <a:schemeClr val="accent6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6"/>
                </a:solidFill>
              </a:rPr>
              <a:t>c3 憑證 = 管理員:拿掉權限 C3 會退出(實測)</a:t>
            </a:r>
            <a:endParaRPr lang="en-US" sz="1200" dirty="0"/>
          </a:p>
        </p:txBody>
      </p:sp>
      <p:sp>
        <p:nvSpPr>
          <p:cNvPr id="37" name="Text 33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chemeClr val="tx1">
                    <a:alpha val="62000"/>
                  </a:schemeClr>
                </a:solidFill>
              </a:rPr>
              <a:t>「使用者操作帶使用者身分」是本專案實測;官方未明說 C3 以誰的身分查詢 Kafka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tx2"/>
                </a:solidFill>
              </a:rPr>
              <a:t>C3 周邊:Prometheus · Alertmanager</a:t>
            </a:r>
            <a:endParaRPr lang="zh-TW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743200" cy="1691640"/>
          </a:xfrm>
          <a:prstGeom prst="roundRect">
            <a:avLst>
              <a:gd name="adj" fmla="val 7200"/>
            </a:avLst>
          </a:prstGeom>
          <a:solidFill>
            <a:schemeClr val="accent3">
              <a:alpha val="1200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150876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3">
              <a:alpha val="1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6621" y="162946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21792" y="2148840"/>
            <a:ext cx="2596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3"/>
                </a:solidFill>
              </a:rPr>
              <a:t>broker 1 / 2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60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chemeClr val="tx1">
                    <a:alpha val="62000"/>
                  </a:schemeClr>
                </a:solidFill>
              </a:rPr>
              <a:t>telemetry exporter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54880" y="1371600"/>
            <a:ext cx="2743200" cy="1691640"/>
          </a:xfrm>
          <a:prstGeom prst="roundRect">
            <a:avLst>
              <a:gd name="adj" fmla="val 7200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852160" y="150876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2861" y="162946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828032" y="2148840"/>
            <a:ext cx="2596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2"/>
                </a:solidFill>
              </a:rPr>
              <a:t>Prometheus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4846320" y="2560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chemeClr val="tx1">
                    <a:alpha val="62000"/>
                  </a:schemeClr>
                </a:solidFill>
              </a:rPr>
              <a:t>指標 · 9090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897112" y="1371600"/>
            <a:ext cx="2743200" cy="1691640"/>
          </a:xfrm>
          <a:prstGeom prst="roundRect">
            <a:avLst>
              <a:gd name="adj" fmla="val 7200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994392" y="150876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5093" y="162946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970264" y="2148840"/>
            <a:ext cx="2596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2"/>
                </a:solidFill>
              </a:rPr>
              <a:t>Alertmanager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8988552" y="2560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chemeClr val="tx1">
                    <a:alpha val="62000"/>
                  </a:schemeClr>
                </a:solidFill>
              </a:rPr>
              <a:t>告警 · 靜音 · 9093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754880" y="3611880"/>
            <a:ext cx="2743200" cy="1371600"/>
          </a:xfrm>
          <a:prstGeom prst="roundRect">
            <a:avLst>
              <a:gd name="adj" fmla="val 72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852160" y="374904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2861" y="3869741"/>
            <a:ext cx="307238" cy="30723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4828032" y="4389120"/>
            <a:ext cx="2596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1"/>
                </a:solidFill>
              </a:rPr>
              <a:t>Control Center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4846320" y="4800600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chemeClr val="tx1">
                    <a:alpha val="62000"/>
                  </a:schemeClr>
                </a:solidFill>
              </a:rPr>
              <a:t>next-gen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3291840" y="2194560"/>
            <a:ext cx="1463040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4" name="Text 18"/>
          <p:cNvSpPr txBox="1"/>
          <p:nvPr/>
        </p:nvSpPr>
        <p:spPr>
          <a:xfrm>
            <a:off x="3337560" y="1691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3"/>
                </a:solidFill>
              </a:rPr>
              <a:t>① 推指標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3337560" y="2286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dirty="0">
                <a:solidFill>
                  <a:schemeClr val="tx1">
                    <a:alpha val="62000"/>
                  </a:schemeClr>
                </a:solidFill>
              </a:rPr>
              <a:t>HTTPS + Basic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7498080" y="2194560"/>
            <a:ext cx="1399032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7" name="Text 21"/>
          <p:cNvSpPr txBox="1"/>
          <p:nvPr/>
        </p:nvSpPr>
        <p:spPr>
          <a:xfrm>
            <a:off x="7543800" y="16916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2"/>
                </a:solidFill>
              </a:rPr>
              <a:t>② 送告警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7543800" y="22860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dirty="0">
                <a:solidFill>
                  <a:schemeClr val="tx1">
                    <a:alpha val="62000"/>
                  </a:schemeClr>
                </a:solidFill>
              </a:rPr>
              <a:t>HTTPS + Basic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 flipV="1">
            <a:off x="6126480" y="3063240"/>
            <a:ext cx="0" cy="54864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0" name="Text 24"/>
          <p:cNvSpPr txBox="1"/>
          <p:nvPr/>
        </p:nvSpPr>
        <p:spPr>
          <a:xfrm>
            <a:off x="6217920" y="3154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chemeClr val="accent1"/>
                </a:solidFill>
              </a:rPr>
              <a:t>③ 查指標 · 重載規則</a:t>
            </a:r>
            <a:endParaRPr lang="en-US" sz="1200" dirty="0"/>
          </a:p>
        </p:txBody>
      </p:sp>
      <p:sp>
        <p:nvSpPr>
          <p:cNvPr id="31" name="Text 25"/>
          <p:cNvSpPr txBox="1"/>
          <p:nvPr/>
        </p:nvSpPr>
        <p:spPr>
          <a:xfrm>
            <a:off x="6217920" y="33832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dirty="0">
                <a:solidFill>
                  <a:schemeClr val="tx1">
                    <a:alpha val="62000"/>
                  </a:schemeClr>
                </a:solidFill>
              </a:rPr>
              <a:t>HTTPS + Basic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 flipV="1">
            <a:off x="7498080" y="3063240"/>
            <a:ext cx="2743200" cy="109728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3" name="Text 27"/>
          <p:cNvSpPr txBox="1"/>
          <p:nvPr/>
        </p:nvSpPr>
        <p:spPr>
          <a:xfrm>
            <a:off x="8732520" y="3886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chemeClr val="accent1"/>
                </a:solidFill>
              </a:rPr>
              <a:t>④ 狀態 · 重載設定</a:t>
            </a:r>
            <a:endParaRPr lang="en-US" sz="1200" dirty="0"/>
          </a:p>
        </p:txBody>
      </p:sp>
      <p:sp>
        <p:nvSpPr>
          <p:cNvPr id="34" name="Text 28"/>
          <p:cNvSpPr txBox="1"/>
          <p:nvPr/>
        </p:nvSpPr>
        <p:spPr>
          <a:xfrm>
            <a:off x="8732520" y="41148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dirty="0">
                <a:solidFill>
                  <a:schemeClr val="tx1">
                    <a:alpha val="62000"/>
                  </a:schemeClr>
                </a:solidFill>
              </a:rPr>
              <a:t>HTTPS + Basic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548640" y="5166360"/>
            <a:ext cx="5440680" cy="384048"/>
          </a:xfrm>
          <a:prstGeom prst="roundRect">
            <a:avLst>
              <a:gd name="adj" fmla="val 45000"/>
            </a:avLst>
          </a:prstGeom>
          <a:solidFill>
            <a:schemeClr val="accent3">
              <a:alpha val="12000"/>
            </a:schemeClr>
          </a:solidFill>
          <a:ln w="15875">
            <a:solidFill>
              <a:schemeClr val="accent3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accent3"/>
                </a:solidFill>
              </a:rPr>
              <a:t>用 Basic 不用 mTLS:客戶希望憑證越少越好,不另發 client 憑證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6199632" y="5166360"/>
            <a:ext cx="5440680" cy="384048"/>
          </a:xfrm>
          <a:prstGeom prst="roundRect">
            <a:avLst>
              <a:gd name="adj" fmla="val 45000"/>
            </a:avLst>
          </a:prstGeom>
          <a:solidFill>
            <a:schemeClr val="accent6">
              <a:alpha val="12000"/>
            </a:schemeClr>
          </a:solidFill>
          <a:ln w="15875">
            <a:solidFill>
              <a:schemeClr val="accent6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accent6"/>
                </a:solidFill>
              </a:rPr>
              <a:t>SAN 要補 prometheus、alertmanager(實測:否則主機名稱驗證失敗)</a:t>
            </a:r>
            <a:endParaRPr lang="en-US" sz="1100" dirty="0"/>
          </a:p>
        </p:txBody>
      </p:sp>
      <p:sp>
        <p:nvSpPr>
          <p:cNvPr id="37" name="Text 31"/>
          <p:cNvSpPr/>
          <p:nvPr/>
        </p:nvSpPr>
        <p:spPr>
          <a:xfrm>
            <a:off x="548640" y="5669280"/>
            <a:ext cx="5440680" cy="384048"/>
          </a:xfrm>
          <a:prstGeom prst="roundRect">
            <a:avLst>
              <a:gd name="adj" fmla="val 45000"/>
            </a:avLst>
          </a:prstGeom>
          <a:solidFill>
            <a:schemeClr val="accent2">
              <a:alpha val="12000"/>
            </a:schemeClr>
          </a:solidFill>
          <a:ln w="15875">
            <a:solidFill>
              <a:schemeClr val="accent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accent2"/>
                </a:solidFill>
              </a:rPr>
              <a:t>Prometheus 的 alerting 要設 https + 帳密 + CA(官方頁未寫,實測必要)</a:t>
            </a:r>
            <a:endParaRPr lang="en-US" sz="1100" dirty="0"/>
          </a:p>
        </p:txBody>
      </p:sp>
      <p:sp>
        <p:nvSpPr>
          <p:cNvPr id="38" name="Text 32"/>
          <p:cNvSpPr/>
          <p:nvPr/>
        </p:nvSpPr>
        <p:spPr>
          <a:xfrm>
            <a:off x="6199632" y="5669280"/>
            <a:ext cx="5440680" cy="384048"/>
          </a:xfrm>
          <a:prstGeom prst="roundRect">
            <a:avLst>
              <a:gd name="adj" fmla="val 45000"/>
            </a:avLst>
          </a:prstGeom>
          <a:solidFill>
            <a:schemeClr val="accent6">
              <a:alpha val="12000"/>
            </a:schemeClr>
          </a:solidFill>
          <a:ln w="15875">
            <a:solidFill>
              <a:schemeClr val="accent6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accent6"/>
                </a:solidFill>
              </a:rPr>
              <a:t>C3 日誌會印出 Basic 標頭(Base64 即帳密)→ 日誌要保護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tx2"/>
                </a:solidFill>
              </a:rPr>
              <a:t>Audit log:誰被拒、誰改了授權</a:t>
            </a:r>
            <a:endParaRPr lang="zh-TW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20440" cy="2331720"/>
          </a:xfrm>
          <a:prstGeom prst="roundRect">
            <a:avLst>
              <a:gd name="adj" fmla="val 7200"/>
            </a:avLst>
          </a:prstGeom>
          <a:solidFill>
            <a:schemeClr val="accent5">
              <a:alpha val="1200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34540" y="155448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5">
              <a:alpha val="15000"/>
            </a:schemeClr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5241" y="167518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21792" y="2194560"/>
            <a:ext cx="3374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chemeClr val="accent5"/>
                </a:solidFill>
              </a:rPr>
              <a:t>官方預設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606040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chemeClr val="tx1">
                    <a:alpha val="62000"/>
                  </a:schemeClr>
                </a:solidFill>
              </a:rPr>
              <a:t>Management + Authorize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chemeClr val="tx1">
                    <a:alpha val="62000"/>
                  </a:schemeClr>
                </a:solidFill>
              </a:rPr>
              <a:t>含 allowed 與 denied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chemeClr val="tx1">
                    <a:alpha val="62000"/>
                  </a:schemeClr>
                </a:solidFill>
              </a:rPr>
              <a:t>→ confluent-audit-log-events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25112" y="1417320"/>
            <a:ext cx="3520440" cy="2331720"/>
          </a:xfrm>
          <a:prstGeom prst="roundRect">
            <a:avLst>
              <a:gd name="adj" fmla="val 7200"/>
            </a:avLst>
          </a:prstGeom>
          <a:solidFill>
            <a:schemeClr val="accent3">
              <a:alpha val="1200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811012" y="155448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3">
              <a:alpha val="1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1713" y="167518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398264" y="2194560"/>
            <a:ext cx="3374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chemeClr val="accent3"/>
                </a:solidFill>
              </a:rPr>
              <a:t>自訂 router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416552" y="2606040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chemeClr val="tx1">
                    <a:alpha val="62000"/>
                  </a:schemeClr>
                </a:solidFill>
              </a:rPr>
              <a:t>依 topic 前綴記錄 produce / consume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chemeClr val="tx1">
                    <a:alpha val="62000"/>
                  </a:schemeClr>
                </a:solidFill>
              </a:rPr>
              <a:t>/ describe 的「被拒」事件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chemeClr val="tx1">
                    <a:alpha val="62000"/>
                  </a:schemeClr>
                </a:solidFill>
              </a:rPr>
              <a:t>被允許的 consume 不記(避免洗版)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101584" y="1417320"/>
            <a:ext cx="3538728" cy="2331720"/>
          </a:xfrm>
          <a:prstGeom prst="roundRect">
            <a:avLst>
              <a:gd name="adj" fmla="val 7200"/>
            </a:avLst>
          </a:prstGeom>
          <a:solidFill>
            <a:schemeClr val="accent6">
              <a:alpha val="12000"/>
            </a:schemeClr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596628" y="155448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6">
              <a:alpha val="15000"/>
            </a:schemeClr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7329" y="167518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174736" y="2194560"/>
            <a:ext cx="3392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chemeClr val="accent6"/>
                </a:solidFill>
              </a:rPr>
              <a:t>查不到的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8193024" y="2606040"/>
            <a:ext cx="33558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chemeClr val="tx1">
                    <a:alpha val="62000"/>
                  </a:schemeClr>
                </a:solidFill>
              </a:rPr>
              <a:t>部分拒絕(例:缺 IdempotentWrite)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chemeClr val="tx1">
                    <a:alpha val="62000"/>
                  </a:schemeClr>
                </a:solidFill>
              </a:rPr>
              <a:t>REST Proxy 的 actingPrincipal 為空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069080" y="2560320"/>
            <a:ext cx="256032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7845552" y="2560320"/>
            <a:ext cx="256032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0" name="Text 15"/>
          <p:cNvSpPr/>
          <p:nvPr/>
        </p:nvSpPr>
        <p:spPr>
          <a:xfrm>
            <a:off x="548640" y="4069080"/>
            <a:ext cx="5486400" cy="384048"/>
          </a:xfrm>
          <a:prstGeom prst="roundRect">
            <a:avLst>
              <a:gd name="adj" fmla="val 45000"/>
            </a:avLst>
          </a:prstGeom>
          <a:solidFill>
            <a:schemeClr val="accent3">
              <a:alpha val="12000"/>
            </a:schemeClr>
          </a:solidFill>
          <a:ln w="15875">
            <a:solidFill>
              <a:schemeClr val="accent3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chemeClr val="accent3"/>
                </a:solidFill>
              </a:rPr>
              <a:t>能看到:誰被拒(需自訂 router)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6153912" y="4069080"/>
            <a:ext cx="5486400" cy="384048"/>
          </a:xfrm>
          <a:prstGeom prst="roundRect">
            <a:avLst>
              <a:gd name="adj" fmla="val 45000"/>
            </a:avLst>
          </a:prstGeom>
          <a:solidFill>
            <a:schemeClr val="accent3">
              <a:alpha val="12000"/>
            </a:schemeClr>
          </a:solidFill>
          <a:ln w="15875">
            <a:solidFill>
              <a:schemeClr val="accent3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chemeClr val="accent3"/>
                </a:solidFill>
              </a:rPr>
              <a:t>能看到:誰嘗試改授權(DENIED)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548640" y="4617720"/>
            <a:ext cx="11091672" cy="384048"/>
          </a:xfrm>
          <a:prstGeom prst="roundRect">
            <a:avLst>
              <a:gd name="adj" fmla="val 45000"/>
            </a:avLst>
          </a:prstGeom>
          <a:solidFill>
            <a:schemeClr val="accent1">
              <a:alpha val="12000"/>
            </a:schemeClr>
          </a:solidFill>
          <a:ln w="15875">
            <a:solidFill>
              <a:schemeClr val="accent1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chemeClr val="accent1"/>
                </a:solidFill>
              </a:rPr>
              <a:t>共用帳號 → audit 只剩一個名字;個人身分 → 看得到是誰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548640" y="5166360"/>
            <a:ext cx="11091672" cy="384048"/>
          </a:xfrm>
          <a:prstGeom prst="roundRect">
            <a:avLst>
              <a:gd name="adj" fmla="val 45000"/>
            </a:avLst>
          </a:prstGeom>
          <a:solidFill>
            <a:schemeClr val="accent6">
              <a:alpha val="12000"/>
            </a:schemeClr>
          </a:solidFill>
          <a:ln w="15875">
            <a:solidFill>
              <a:schemeClr val="accent6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chemeClr val="accent6"/>
                </a:solidFill>
              </a:rPr>
              <a:t>⚠ 不能假設所有拒絕都查得到:稽核需求要另外盤點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548640" y="5669280"/>
            <a:ext cx="11091672" cy="384048"/>
          </a:xfrm>
          <a:prstGeom prst="roundRect">
            <a:avLst>
              <a:gd name="adj" fmla="val 45000"/>
            </a:avLst>
          </a:prstGeom>
          <a:solidFill>
            <a:schemeClr val="accent3">
              <a:alpha val="12000"/>
            </a:schemeClr>
          </a:solidFill>
          <a:ln w="15875">
            <a:solidFill>
              <a:schemeClr val="accent3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3"/>
                </a:solidFill>
              </a:rPr>
              <a:t>官方建議:produce / consume 只對最敏感的 topic 開;audit 送到另一個叢集、依法遵保存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TW" altLang="en-US" sz="3800" b="1" dirty="0">
                <a:solidFill>
                  <a:schemeClr val="bg1"/>
                </a:solidFill>
              </a:rPr>
              <a:t>整合起來</a:t>
            </a:r>
            <a:endParaRPr lang="zh-TW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520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800" dirty="0">
                <a:solidFill>
                  <a:schemeClr val="bg2"/>
                </a:solidFill>
              </a:rPr>
              <a:t>全景 · 人與機器的完整路徑 · 要管理的憑證 · 導入步驟 · 風險</a:t>
            </a:r>
            <a:endParaRPr lang="zh-TW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tx2"/>
                </a:solidFill>
              </a:rPr>
              <a:t>全景整合圖</a:t>
            </a:r>
            <a:endParaRPr lang="zh-TW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2560320" cy="1965960"/>
          </a:xfrm>
          <a:prstGeom prst="roundRect">
            <a:avLst>
              <a:gd name="adj" fmla="val 90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463040"/>
            <a:ext cx="640080" cy="640080"/>
          </a:xfrm>
          <a:prstGeom prst="roundRect">
            <a:avLst>
              <a:gd name="adj" fmla="val 45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8" y="1603858"/>
            <a:ext cx="358445" cy="35844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4630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800" b="1" dirty="0">
                <a:solidFill>
                  <a:schemeClr val="accent1"/>
                </a:solidFill>
              </a:rPr>
              <a:t>人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2402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b="1" dirty="0">
                <a:solidFill>
                  <a:schemeClr val="tx1"/>
                </a:solidFill>
              </a:rPr>
              <a:t>gary · yujie · ming</a:t>
            </a:r>
            <a:endParaRPr lang="en-US" sz="120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chemeClr val="tx1">
                    <a:alpha val="62000"/>
                  </a:schemeClr>
                </a:solidFill>
              </a:rPr>
              <a:t>瀏覽器 · CLI · Postman</a:t>
            </a:r>
            <a:endParaRPr lang="en-US" sz="1200" dirty="0"/>
          </a:p>
          <a:p>
            <a:pPr algn="l" indent="0" marL="0">
              <a:buNone/>
            </a:pPr>
            <a:r>
              <a:rPr lang="zh-TW" altLang="en-US" sz="1100" b="1" dirty="0">
                <a:solidFill>
                  <a:schemeClr val="accent1"/>
                </a:solidFill>
              </a:rPr>
              <a:t>身分來自 AD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3566160"/>
            <a:ext cx="2560320" cy="2011680"/>
          </a:xfrm>
          <a:prstGeom prst="roundRect">
            <a:avLst>
              <a:gd name="adj" fmla="val 9000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94360" y="3703320"/>
            <a:ext cx="640080" cy="640080"/>
          </a:xfrm>
          <a:prstGeom prst="roundRect">
            <a:avLst>
              <a:gd name="adj" fmla="val 45000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8" y="3844138"/>
            <a:ext cx="358445" cy="35844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25880" y="37033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800" b="1" dirty="0">
                <a:solidFill>
                  <a:schemeClr val="accent2"/>
                </a:solidFill>
              </a:rPr>
              <a:t>機器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594360" y="448056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b="1" dirty="0">
                <a:solidFill>
                  <a:schemeClr val="tx1"/>
                </a:solidFill>
              </a:rPr>
              <a:t>應用(SCRAM)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b="1" dirty="0">
                <a:solidFill>
                  <a:schemeClr val="tx1"/>
                </a:solidFill>
              </a:rPr>
              <a:t>legacy app(client 憑證)</a:t>
            </a:r>
            <a:endParaRPr lang="en-US" sz="1200" dirty="0"/>
          </a:p>
          <a:p>
            <a:pPr algn="l" indent="0" marL="0">
              <a:buNone/>
            </a:pPr>
            <a:r>
              <a:rPr lang="zh-TW" altLang="en-US" sz="1050" b="1" dirty="0">
                <a:solidFill>
                  <a:schemeClr val="accent2"/>
                </a:solidFill>
              </a:rPr>
              <a:t>SCRAM 連 Kafka;憑證連 REST Proxy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611880" y="1325880"/>
            <a:ext cx="2331720" cy="4251960"/>
          </a:xfrm>
          <a:prstGeom prst="roundRect">
            <a:avLst>
              <a:gd name="adj" fmla="val 9000"/>
            </a:avLst>
          </a:prstGeom>
          <a:solidFill>
            <a:schemeClr val="accent4">
              <a:alpha val="12000"/>
            </a:schemeClr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611880" y="13898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accent4"/>
                </a:solidFill>
              </a:rPr>
              <a:t>入口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794760" y="1828800"/>
            <a:ext cx="1965960" cy="1143000"/>
          </a:xfrm>
          <a:prstGeom prst="roundRect">
            <a:avLst>
              <a:gd name="adj" fmla="val 7200"/>
            </a:avLst>
          </a:prstGeom>
          <a:solidFill>
            <a:schemeClr val="bg1"/>
          </a:solidFill>
          <a:ln w="19050">
            <a:solidFill>
              <a:schemeClr val="accent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Control Center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chemeClr val="tx1">
                    <a:alpha val="62000"/>
                  </a:schemeClr>
                </a:solidFill>
              </a:rPr>
              <a:t>人:Basic → token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794760" y="3154680"/>
            <a:ext cx="1965960" cy="1143000"/>
          </a:xfrm>
          <a:prstGeom prst="roundRect">
            <a:avLst>
              <a:gd name="adj" fmla="val 7200"/>
            </a:avLst>
          </a:prstGeom>
          <a:solidFill>
            <a:schemeClr val="bg1"/>
          </a:solidFill>
          <a:ln w="19050">
            <a:solidFill>
              <a:schemeClr val="accent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REST Proxy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chemeClr val="tx1">
                    <a:alpha val="62000"/>
                  </a:schemeClr>
                </a:solidFill>
              </a:rPr>
              <a:t>人:Basic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chemeClr val="tx1">
                    <a:alpha val="62000"/>
                  </a:schemeClr>
                </a:solidFill>
              </a:rPr>
              <a:t>legacy app:憑證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794760" y="4480560"/>
            <a:ext cx="1965960" cy="960120"/>
          </a:xfrm>
          <a:prstGeom prst="roundRect">
            <a:avLst>
              <a:gd name="adj" fmla="val 7200"/>
            </a:avLst>
          </a:prstGeom>
          <a:solidFill>
            <a:schemeClr val="bg1"/>
          </a:solidFill>
          <a:ln w="19050">
            <a:solidFill>
              <a:schemeClr val="accent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CLIENT 9094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chemeClr val="tx1">
                    <a:alpha val="62000"/>
                  </a:schemeClr>
                </a:solidFill>
              </a:rPr>
              <a:t>CLI:PLAIN+LDAP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chemeClr val="tx1">
                    <a:alpha val="62000"/>
                  </a:schemeClr>
                </a:solidFill>
              </a:rPr>
              <a:t>應用:SCRAM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3017520" y="2468880"/>
            <a:ext cx="594360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3017520" y="4572000"/>
            <a:ext cx="594360" cy="0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6492240" y="1325880"/>
            <a:ext cx="3566160" cy="4251960"/>
          </a:xfrm>
          <a:prstGeom prst="roundRect">
            <a:avLst>
              <a:gd name="adj" fmla="val 9000"/>
            </a:avLst>
          </a:prstGeom>
          <a:solidFill>
            <a:schemeClr val="accent3">
              <a:alpha val="1200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675120" y="13898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chemeClr val="accent3"/>
                </a:solidFill>
              </a:rPr>
              <a:t>Kafka 叢集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6675120" y="1828800"/>
            <a:ext cx="1508760" cy="1188720"/>
          </a:xfrm>
          <a:prstGeom prst="roundRect">
            <a:avLst>
              <a:gd name="adj" fmla="val 7200"/>
            </a:avLst>
          </a:prstGeom>
          <a:solidFill>
            <a:schemeClr val="bg1"/>
          </a:solidFill>
          <a:ln w="19050">
            <a:solidFill>
              <a:schemeClr val="accent5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broker 1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5"/>
                </a:solidFill>
              </a:rPr>
              <a:t>+ MDS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8275320" y="1828800"/>
            <a:ext cx="1600200" cy="1188720"/>
          </a:xfrm>
          <a:prstGeom prst="roundRect">
            <a:avLst>
              <a:gd name="adj" fmla="val 7200"/>
            </a:avLst>
          </a:prstGeom>
          <a:solidFill>
            <a:schemeClr val="bg1"/>
          </a:solidFill>
          <a:ln w="19050">
            <a:solidFill>
              <a:schemeClr val="accent5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broker 2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5"/>
                </a:solidFill>
              </a:rPr>
              <a:t>+ MDS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6675120" y="3246120"/>
            <a:ext cx="3200400" cy="731520"/>
          </a:xfrm>
          <a:prstGeom prst="roundRect">
            <a:avLst>
              <a:gd name="adj" fmla="val 7200"/>
            </a:avLst>
          </a:prstGeom>
          <a:solidFill>
            <a:schemeClr val="bg1"/>
          </a:solidFill>
          <a:ln w="19050">
            <a:solidFill>
              <a:schemeClr val="accent3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chemeClr val="tx1"/>
                </a:solidFill>
              </a:rPr>
              <a:t>controller(正式 3 個)</a:t>
            </a:r>
            <a:endParaRPr lang="en-US" sz="1250" dirty="0"/>
          </a:p>
        </p:txBody>
      </p:sp>
      <p:sp>
        <p:nvSpPr>
          <p:cNvPr id="25" name="Text 21"/>
          <p:cNvSpPr/>
          <p:nvPr/>
        </p:nvSpPr>
        <p:spPr>
          <a:xfrm>
            <a:off x="6675120" y="4206240"/>
            <a:ext cx="3200400" cy="1143000"/>
          </a:xfrm>
          <a:prstGeom prst="roundRect">
            <a:avLst>
              <a:gd name="adj" fmla="val 7200"/>
            </a:avLst>
          </a:prstGeom>
          <a:solidFill>
            <a:schemeClr val="bg1"/>
          </a:solidFill>
          <a:ln w="19050">
            <a:solidFill>
              <a:schemeClr val="accent5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chemeClr val="accent5"/>
                </a:solidFill>
              </a:rPr>
              <a:t>RBAC 授權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chemeClr val="tx1">
                    <a:alpha val="62000"/>
                  </a:schemeClr>
                </a:solidFill>
              </a:rPr>
              <a:t>topic:_confluent-metadata-auth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chemeClr val="tx1">
                    <a:alpha val="62000"/>
                  </a:schemeClr>
                </a:solidFill>
              </a:rPr>
              <a:t>broker 本地 cache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5943600" y="3429000"/>
            <a:ext cx="54864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7" name="Shape 23"/>
          <p:cNvSpPr/>
          <p:nvPr/>
        </p:nvSpPr>
        <p:spPr>
          <a:xfrm>
            <a:off x="10607040" y="1325880"/>
            <a:ext cx="1143000" cy="1737360"/>
          </a:xfrm>
          <a:prstGeom prst="roundRect">
            <a:avLst>
              <a:gd name="adj" fmla="val 90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10863072" y="1463040"/>
            <a:ext cx="640080" cy="640080"/>
          </a:xfrm>
          <a:prstGeom prst="roundRect">
            <a:avLst>
              <a:gd name="adj" fmla="val 45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3890" y="1603858"/>
            <a:ext cx="358445" cy="358445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10607040" y="224028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1"/>
                </a:solidFill>
              </a:rPr>
              <a:t>AD</a:t>
            </a:r>
            <a:endParaRPr lang="en-US" sz="14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chemeClr val="tx1">
                    <a:alpha val="62000"/>
                  </a:schemeClr>
                </a:solidFill>
              </a:rPr>
              <a:t>LDAP</a:t>
            </a:r>
            <a:endParaRPr lang="en-US" sz="1400" dirty="0"/>
          </a:p>
        </p:txBody>
      </p:sp>
      <p:sp>
        <p:nvSpPr>
          <p:cNvPr id="31" name="Shape 26"/>
          <p:cNvSpPr/>
          <p:nvPr/>
        </p:nvSpPr>
        <p:spPr>
          <a:xfrm>
            <a:off x="10058400" y="2194560"/>
            <a:ext cx="54864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2" name="Shape 27"/>
          <p:cNvSpPr/>
          <p:nvPr/>
        </p:nvSpPr>
        <p:spPr>
          <a:xfrm>
            <a:off x="10607040" y="3383280"/>
            <a:ext cx="1143000" cy="2194560"/>
          </a:xfrm>
          <a:prstGeom prst="roundRect">
            <a:avLst>
              <a:gd name="adj" fmla="val 9000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10863072" y="3520440"/>
            <a:ext cx="640080" cy="640080"/>
          </a:xfrm>
          <a:prstGeom prst="roundRect">
            <a:avLst>
              <a:gd name="adj" fmla="val 45000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3890" y="3661258"/>
            <a:ext cx="358445" cy="358445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10607040" y="4251960"/>
            <a:ext cx="1143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chemeClr val="accent2"/>
                </a:solidFill>
              </a:rPr>
              <a:t>Prometheus</a:t>
            </a:r>
            <a:endParaRPr lang="en-US" sz="1000" dirty="0"/>
          </a:p>
          <a:p>
            <a:pPr algn="ctr" indent="0" marL="0">
              <a:buNone/>
            </a:pPr>
            <a:r>
              <a:rPr lang="zh-TW" altLang="en-US" sz="1000" b="1" dirty="0">
                <a:solidFill>
                  <a:schemeClr val="accent2"/>
                </a:solidFill>
              </a:rPr>
              <a:t>Alertmanager</a:t>
            </a:r>
            <a:endParaRPr lang="en-US" sz="1000" dirty="0"/>
          </a:p>
          <a:p>
            <a:pPr algn="ctr" indent="0" marL="0">
              <a:buNone/>
            </a:pPr>
            <a:r>
              <a:rPr lang="zh-TW" altLang="en-US" sz="1000" dirty="0">
                <a:solidFill>
                  <a:schemeClr val="tx1">
                    <a:alpha val="62000"/>
                  </a:schemeClr>
                </a:solidFill>
              </a:rPr>
              <a:t>(C3 用)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457200" y="5806440"/>
            <a:ext cx="914400" cy="384048"/>
          </a:xfrm>
          <a:prstGeom prst="roundRect">
            <a:avLst>
              <a:gd name="adj" fmla="val 45000"/>
            </a:avLst>
          </a:prstGeom>
          <a:solidFill>
            <a:schemeClr val="accent1">
              <a:alpha val="12000"/>
            </a:schemeClr>
          </a:solidFill>
          <a:ln w="15875">
            <a:solidFill>
              <a:schemeClr val="accent1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accent1"/>
                </a:solidFill>
              </a:rPr>
              <a:t>人</a:t>
            </a:r>
            <a:endParaRPr lang="en-US" sz="1100" dirty="0"/>
          </a:p>
        </p:txBody>
      </p:sp>
      <p:sp>
        <p:nvSpPr>
          <p:cNvPr id="37" name="Text 31"/>
          <p:cNvSpPr/>
          <p:nvPr/>
        </p:nvSpPr>
        <p:spPr>
          <a:xfrm>
            <a:off x="1508760" y="5806440"/>
            <a:ext cx="1554480" cy="384048"/>
          </a:xfrm>
          <a:prstGeom prst="roundRect">
            <a:avLst>
              <a:gd name="adj" fmla="val 45000"/>
            </a:avLst>
          </a:prstGeom>
          <a:solidFill>
            <a:schemeClr val="accent2">
              <a:alpha val="12000"/>
            </a:schemeClr>
          </a:solidFill>
          <a:ln w="15875">
            <a:solidFill>
              <a:schemeClr val="accent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accent2"/>
                </a:solidFill>
              </a:rPr>
              <a:t>機器 / 服務</a:t>
            </a:r>
            <a:endParaRPr lang="en-US" sz="1100" dirty="0"/>
          </a:p>
        </p:txBody>
      </p:sp>
      <p:sp>
        <p:nvSpPr>
          <p:cNvPr id="38" name="Text 32"/>
          <p:cNvSpPr/>
          <p:nvPr/>
        </p:nvSpPr>
        <p:spPr>
          <a:xfrm>
            <a:off x="3200400" y="5806440"/>
            <a:ext cx="1463040" cy="384048"/>
          </a:xfrm>
          <a:prstGeom prst="roundRect">
            <a:avLst>
              <a:gd name="adj" fmla="val 45000"/>
            </a:avLst>
          </a:prstGeom>
          <a:solidFill>
            <a:schemeClr val="accent3">
              <a:alpha val="12000"/>
            </a:schemeClr>
          </a:solidFill>
          <a:ln w="15875">
            <a:solidFill>
              <a:schemeClr val="accent3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accent3"/>
                </a:solidFill>
              </a:rPr>
              <a:t>叢集 / 平台</a:t>
            </a:r>
            <a:endParaRPr lang="en-US" sz="1100" dirty="0"/>
          </a:p>
        </p:txBody>
      </p:sp>
      <p:sp>
        <p:nvSpPr>
          <p:cNvPr id="39" name="Text 33"/>
          <p:cNvSpPr/>
          <p:nvPr/>
        </p:nvSpPr>
        <p:spPr>
          <a:xfrm>
            <a:off x="4800600" y="5806440"/>
            <a:ext cx="1463040" cy="384048"/>
          </a:xfrm>
          <a:prstGeom prst="roundRect">
            <a:avLst>
              <a:gd name="adj" fmla="val 45000"/>
            </a:avLst>
          </a:prstGeom>
          <a:solidFill>
            <a:schemeClr val="accent5">
              <a:alpha val="12000"/>
            </a:schemeClr>
          </a:solidFill>
          <a:ln w="15875">
            <a:solidFill>
              <a:schemeClr val="accent5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accent5"/>
                </a:solidFill>
              </a:rPr>
              <a:t>MDS / RBAC</a:t>
            </a:r>
            <a:endParaRPr lang="en-US" sz="1100" dirty="0"/>
          </a:p>
        </p:txBody>
      </p:sp>
      <p:sp>
        <p:nvSpPr>
          <p:cNvPr id="40" name="Text 34"/>
          <p:cNvSpPr txBox="1"/>
          <p:nvPr/>
        </p:nvSpPr>
        <p:spPr>
          <a:xfrm>
            <a:off x="6583680" y="580644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TW" altLang="en-US" sz="1150" b="1" dirty="0">
                <a:solidFill>
                  <a:schemeClr val="tx2"/>
                </a:solidFill>
              </a:rPr>
              <a:t>授權集中在 MDS 的 RBAC;人綁 AD 群組,服務綁 User: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tx2"/>
                </a:solidFill>
              </a:rPr>
              <a:t>人的完整路徑</a:t>
            </a:r>
            <a:endParaRPr lang="zh-TW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1672" cy="1325880"/>
          </a:xfrm>
          <a:prstGeom prst="roundRect">
            <a:avLst>
              <a:gd name="adj" fmla="val 54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691640"/>
            <a:ext cx="731520" cy="731520"/>
          </a:xfrm>
          <a:prstGeom prst="roundRect">
            <a:avLst>
              <a:gd name="adj" fmla="val 45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734" y="1852574"/>
            <a:ext cx="409651" cy="40965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7373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chemeClr val="accent1"/>
                </a:solidFill>
              </a:rPr>
              <a:t>C3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chemeClr val="accent1"/>
                </a:solidFill>
              </a:rPr>
              <a:t>瀏覽器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108960" y="1645920"/>
            <a:ext cx="1828800" cy="86868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Basic 帳密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→ MDS(LDAP)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937760" y="2075688"/>
            <a:ext cx="32004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9" name="Text 6"/>
          <p:cNvSpPr/>
          <p:nvPr/>
        </p:nvSpPr>
        <p:spPr>
          <a:xfrm>
            <a:off x="5257800" y="1645920"/>
            <a:ext cx="1828800" cy="86868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token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(JWT,壽命可設)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086600" y="2075688"/>
            <a:ext cx="32004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1" name="Text 8"/>
          <p:cNvSpPr/>
          <p:nvPr/>
        </p:nvSpPr>
        <p:spPr>
          <a:xfrm>
            <a:off x="7406640" y="1645920"/>
            <a:ext cx="1828800" cy="86868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Bearer 帶本人身分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連 broker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9235440" y="2075688"/>
            <a:ext cx="32004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3" name="Text 10"/>
          <p:cNvSpPr/>
          <p:nvPr/>
        </p:nvSpPr>
        <p:spPr>
          <a:xfrm>
            <a:off x="9555480" y="1645920"/>
            <a:ext cx="1828800" cy="86868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(AD 群組)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2926080"/>
            <a:ext cx="11091672" cy="1325880"/>
          </a:xfrm>
          <a:prstGeom prst="roundRect">
            <a:avLst>
              <a:gd name="adj" fmla="val 54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85800" y="3200400"/>
            <a:ext cx="731520" cy="731520"/>
          </a:xfrm>
          <a:prstGeom prst="roundRect">
            <a:avLst>
              <a:gd name="adj" fmla="val 45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734" y="3361334"/>
            <a:ext cx="409651" cy="409651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554480" y="32461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chemeClr val="accent1"/>
                </a:solidFill>
              </a:rPr>
              <a:t>CLI 直連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chemeClr val="accent1"/>
                </a:solidFill>
              </a:rPr>
              <a:t>broker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3108960" y="3154680"/>
            <a:ext cx="1828800" cy="86868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SASL/PLAIN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帳密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937760" y="3584448"/>
            <a:ext cx="32004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0" name="Text 16"/>
          <p:cNvSpPr/>
          <p:nvPr/>
        </p:nvSpPr>
        <p:spPr>
          <a:xfrm>
            <a:off x="5257800" y="3154680"/>
            <a:ext cx="1828800" cy="86868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broker 轉 LDAP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驗證密碼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7086600" y="3584448"/>
            <a:ext cx="32004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2" name="Text 18"/>
          <p:cNvSpPr/>
          <p:nvPr/>
        </p:nvSpPr>
        <p:spPr>
          <a:xfrm>
            <a:off x="7406640" y="3154680"/>
            <a:ext cx="1828800" cy="86868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主體 = 本人帳號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9235440" y="3584448"/>
            <a:ext cx="32004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4" name="Text 20"/>
          <p:cNvSpPr/>
          <p:nvPr/>
        </p:nvSpPr>
        <p:spPr>
          <a:xfrm>
            <a:off x="9555480" y="3154680"/>
            <a:ext cx="1828800" cy="86868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(AD 群組)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548640" y="4434840"/>
            <a:ext cx="11091672" cy="1325880"/>
          </a:xfrm>
          <a:prstGeom prst="roundRect">
            <a:avLst>
              <a:gd name="adj" fmla="val 54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85800" y="4709160"/>
            <a:ext cx="731520" cy="731520"/>
          </a:xfrm>
          <a:prstGeom prst="roundRect">
            <a:avLst>
              <a:gd name="adj" fmla="val 45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34" y="4870094"/>
            <a:ext cx="409651" cy="409651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1554480" y="47548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chemeClr val="accent1"/>
                </a:solidFill>
              </a:rPr>
              <a:t>REST Proxy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chemeClr val="accent1"/>
                </a:solidFill>
              </a:rPr>
              <a:t>Postman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3108960" y="4663440"/>
            <a:ext cx="1828800" cy="86868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Basic 帳密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4937760" y="5093208"/>
            <a:ext cx="32004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1" name="Text 26"/>
          <p:cNvSpPr/>
          <p:nvPr/>
        </p:nvSpPr>
        <p:spPr>
          <a:xfrm>
            <a:off x="5257800" y="4663440"/>
            <a:ext cx="1828800" cy="86868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REST Proxy 轉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MDS 驗證 → token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7086600" y="5093208"/>
            <a:ext cx="32004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3" name="Text 28"/>
          <p:cNvSpPr/>
          <p:nvPr/>
        </p:nvSpPr>
        <p:spPr>
          <a:xfrm>
            <a:off x="7406640" y="4663440"/>
            <a:ext cx="1828800" cy="86868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OAUTHBEARER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連 broker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9235440" y="5093208"/>
            <a:ext cx="32004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5" name="Text 30"/>
          <p:cNvSpPr/>
          <p:nvPr/>
        </p:nvSpPr>
        <p:spPr>
          <a:xfrm>
            <a:off x="9555480" y="4663440"/>
            <a:ext cx="1828800" cy="86868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(AD 群組)</a:t>
            </a:r>
            <a:endParaRPr lang="en-US" sz="1100" dirty="0"/>
          </a:p>
        </p:txBody>
      </p:sp>
      <p:sp>
        <p:nvSpPr>
          <p:cNvPr id="36" name="Text 31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1"/>
                </a:solidFill>
              </a:rPr>
              <a:t>三條路徑最後都由 RBAC 依「AD 群組」授權並留 audit:人員異動只改 AD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tx2"/>
                </a:solidFill>
              </a:rPr>
              <a:t>機器的完整路徑</a:t>
            </a:r>
            <a:endParaRPr lang="zh-TW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1672" cy="1325880"/>
          </a:xfrm>
          <a:prstGeom prst="roundRect">
            <a:avLst>
              <a:gd name="adj" fmla="val 5400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691640"/>
            <a:ext cx="731520" cy="731520"/>
          </a:xfrm>
          <a:prstGeom prst="roundRect">
            <a:avLst>
              <a:gd name="adj" fmla="val 45000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734" y="1852574"/>
            <a:ext cx="409651" cy="40965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7373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chemeClr val="accent2"/>
                </a:solidFill>
              </a:rPr>
              <a:t>應用服務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chemeClr val="accent2"/>
                </a:solidFill>
              </a:rPr>
              <a:t>SCRAM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108960" y="1645920"/>
            <a:ext cx="1828800" cy="86868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SASL/SCRAM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帳號密碼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937760" y="2075688"/>
            <a:ext cx="320040" cy="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9" name="Text 6"/>
          <p:cNvSpPr/>
          <p:nvPr/>
        </p:nvSpPr>
        <p:spPr>
          <a:xfrm>
            <a:off x="5257800" y="1645920"/>
            <a:ext cx="1828800" cy="86868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broker 驗證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(帳密在 KRaft)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086600" y="2075688"/>
            <a:ext cx="320040" cy="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1" name="Text 8"/>
          <p:cNvSpPr/>
          <p:nvPr/>
        </p:nvSpPr>
        <p:spPr>
          <a:xfrm>
            <a:off x="7406640" y="1645920"/>
            <a:ext cx="1828800" cy="86868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主體 = svc-x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9235440" y="2075688"/>
            <a:ext cx="320040" cy="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3" name="Text 10"/>
          <p:cNvSpPr/>
          <p:nvPr/>
        </p:nvSpPr>
        <p:spPr>
          <a:xfrm>
            <a:off x="9555480" y="1645920"/>
            <a:ext cx="1828800" cy="86868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User:svc-x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2926080"/>
            <a:ext cx="11091672" cy="1325880"/>
          </a:xfrm>
          <a:prstGeom prst="roundRect">
            <a:avLst>
              <a:gd name="adj" fmla="val 5400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85800" y="3200400"/>
            <a:ext cx="731520" cy="731520"/>
          </a:xfrm>
          <a:prstGeom prst="roundRect">
            <a:avLst>
              <a:gd name="adj" fmla="val 45000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734" y="3361334"/>
            <a:ext cx="409651" cy="409651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554480" y="32461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chemeClr val="accent2"/>
                </a:solidFill>
              </a:rPr>
              <a:t>legacy app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chemeClr val="accent2"/>
                </a:solidFill>
              </a:rPr>
              <a:t>HTTP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3108960" y="3154680"/>
            <a:ext cx="1828800" cy="86868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client 憑證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(CN = 主體)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937760" y="3584448"/>
            <a:ext cx="320040" cy="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0" name="Text 16"/>
          <p:cNvSpPr/>
          <p:nvPr/>
        </p:nvSpPr>
        <p:spPr>
          <a:xfrm>
            <a:off x="5257800" y="3154680"/>
            <a:ext cx="1828800" cy="86868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REST Proxy 對映 DN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→ /impersonate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7086600" y="3584448"/>
            <a:ext cx="320040" cy="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2" name="Text 18"/>
          <p:cNvSpPr/>
          <p:nvPr/>
        </p:nvSpPr>
        <p:spPr>
          <a:xfrm>
            <a:off x="7406640" y="3154680"/>
            <a:ext cx="1828800" cy="86868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token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OAUTHBEARER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9235440" y="3584448"/>
            <a:ext cx="320040" cy="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4" name="Text 20"/>
          <p:cNvSpPr/>
          <p:nvPr/>
        </p:nvSpPr>
        <p:spPr>
          <a:xfrm>
            <a:off x="9555480" y="3154680"/>
            <a:ext cx="1828800" cy="86868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User:app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548640" y="4434840"/>
            <a:ext cx="11091672" cy="1325880"/>
          </a:xfrm>
          <a:prstGeom prst="roundRect">
            <a:avLst>
              <a:gd name="adj" fmla="val 5400"/>
            </a:avLst>
          </a:prstGeom>
          <a:solidFill>
            <a:schemeClr val="accent3">
              <a:alpha val="1200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85800" y="4709160"/>
            <a:ext cx="731520" cy="731520"/>
          </a:xfrm>
          <a:prstGeom prst="roundRect">
            <a:avLst>
              <a:gd name="adj" fmla="val 45000"/>
            </a:avLst>
          </a:prstGeom>
          <a:solidFill>
            <a:schemeClr val="accent3">
              <a:alpha val="1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34" y="4870094"/>
            <a:ext cx="409651" cy="409651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1554480" y="47548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chemeClr val="accent3"/>
                </a:solidFill>
              </a:rPr>
              <a:t>平台元件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chemeClr val="accent3"/>
                </a:solidFill>
              </a:rPr>
              <a:t>C3 · REST Proxy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3108960" y="4663440"/>
            <a:ext cx="1828800" cy="86868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12700">
            <a:solidFill>
              <a:schemeClr val="accent3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client 憑證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(CN=c3 / restproxy)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4937760" y="5093208"/>
            <a:ext cx="320040" cy="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31" name="Text 26"/>
          <p:cNvSpPr/>
          <p:nvPr/>
        </p:nvSpPr>
        <p:spPr>
          <a:xfrm>
            <a:off x="5257800" y="4663440"/>
            <a:ext cx="1828800" cy="86868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12700">
            <a:solidFill>
              <a:schemeClr val="accent3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MDS 換 token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7086600" y="5093208"/>
            <a:ext cx="320040" cy="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33" name="Text 28"/>
          <p:cNvSpPr/>
          <p:nvPr/>
        </p:nvSpPr>
        <p:spPr>
          <a:xfrm>
            <a:off x="7406640" y="4663440"/>
            <a:ext cx="1828800" cy="86868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12700">
            <a:solidFill>
              <a:schemeClr val="accent3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C3:SystemAdmin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REST Proxy:專屬 role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9235440" y="5093208"/>
            <a:ext cx="320040" cy="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35" name="Text 30"/>
          <p:cNvSpPr/>
          <p:nvPr/>
        </p:nvSpPr>
        <p:spPr>
          <a:xfrm>
            <a:off x="9555480" y="4663440"/>
            <a:ext cx="1828800" cy="86868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12700">
            <a:solidFill>
              <a:schemeClr val="accent3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protected.users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防被冒充</a:t>
            </a:r>
            <a:endParaRPr lang="en-US" sz="1100" dirty="0"/>
          </a:p>
        </p:txBody>
      </p:sp>
      <p:sp>
        <p:nvSpPr>
          <p:cNvPr id="36" name="Text 31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2"/>
                </a:solidFill>
              </a:rPr>
              <a:t>機器不進 AD:身分在 Kafka 內(SCRAM)或憑證(CN),RBAC 綁 User:,授權事件皆留 audit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tx2"/>
                </a:solidFill>
              </a:rPr>
              <a:t>要管理的憑證與帳號</a:t>
            </a:r>
            <a:endParaRPr lang="zh-TW" sz="28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91440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371600"/>
                <a:gridCol w="3566160"/>
                <a:gridCol w="3502152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chemeClr val="bg1"/>
                          </a:solidFill>
                        </a:rPr>
                        <a:t>項目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chemeClr val="bg1"/>
                          </a:solidFill>
                        </a:rPr>
                        <a:t>數量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chemeClr val="bg1"/>
                          </a:solidFill>
                        </a:rPr>
                        <a:t>存放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chemeClr val="bg1"/>
                          </a:solidFill>
                        </a:rPr>
                        <a:t>輪替 / 備註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chemeClr val="tx1"/>
                          </a:solidFill>
                        </a:rPr>
                        <a:t>server 憑證(共用)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chemeClr val="tx1"/>
                          </a:solidFill>
                        </a:rPr>
                        <a:t>1 組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chemeClr val="tx1"/>
                          </a:solidFill>
                        </a:rPr>
                        <a:t>所有節點 secrets 目錄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chemeClr val="tx1"/>
                          </a:solidFill>
                        </a:rPr>
                        <a:t>SAN 涵蓋全部;逐台換;換 CA 時 truststore 先信任新舊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chemeClr val="tx1"/>
                          </a:solidFill>
                        </a:rPr>
                        <a:t>平台 client 憑證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chemeClr val="tx1"/>
                          </a:solidFill>
                        </a:rPr>
                        <a:t>3(c3 · restproxy · bootstrap)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chemeClr val="tx1"/>
                          </a:solidFill>
                        </a:rPr>
                        <a:t>對應主機;bootstrap 離線保管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chemeClr val="tx1"/>
                          </a:solidFill>
                        </a:rPr>
                        <a:t>RBAC 綁 CN,CN 不變則不用重綁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chemeClr val="tx1"/>
                          </a:solidFill>
                        </a:rPr>
                        <a:t>legacy app client 憑證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chemeClr val="tx1"/>
                          </a:solidFill>
                        </a:rPr>
                        <a:t>每個 app 1 張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chemeClr val="tx1"/>
                          </a:solidFill>
                        </a:rPr>
                        <a:t>app 主機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chemeClr val="tx1"/>
                          </a:solidFill>
                        </a:rPr>
                        <a:t>可省:若客戶能建專用 AD 帳號,改 Basic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chemeClr val="tx1"/>
                          </a:solidFill>
                        </a:rPr>
                        <a:t>MDS token 簽章金鑰對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chemeClr val="tx1"/>
                          </a:solidFill>
                        </a:rPr>
                        <a:t>1 組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chemeClr val="tx1"/>
                          </a:solidFill>
                        </a:rPr>
                        <a:t>私鑰:MDS broker 與 controller;公鑰:broker · REST Proxy · C3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chemeClr val="tx1"/>
                          </a:solidFill>
                        </a:rPr>
                        <a:t>私鑰外洩 = 可偽造 token;輪替未驗證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chemeClr val="tx1"/>
                          </a:solidFill>
                        </a:rPr>
                        <a:t>SCRAM 服務帳號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chemeClr val="tx1"/>
                          </a:solidFill>
                        </a:rPr>
                        <a:t>每個服務 1 個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chemeClr val="tx1"/>
                          </a:solidFill>
                        </a:rPr>
                        <a:t>KRaft 內;密碼放密碼庫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chemeClr val="tx1"/>
                          </a:solidFill>
                        </a:rPr>
                        <a:t>密碼不自動到期 → 輪替流程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chemeClr val="tx1"/>
                          </a:solidFill>
                        </a:rPr>
                        <a:t>AD 唯讀帳號與 LDAPS 信任庫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chemeClr val="tx1"/>
                          </a:solidFill>
                        </a:rPr>
                        <a:t>各 1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chemeClr val="tx1"/>
                          </a:solidFill>
                        </a:rPr>
                        <a:t>broker 設定(權限 600)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chemeClr val="tx1"/>
                          </a:solidFill>
                        </a:rPr>
                        <a:t>只讀 user / group OU;建議 LDAPS;AD 憑證更換時更新信任庫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chemeClr val="tx1"/>
                          </a:solidFill>
                        </a:rPr>
                        <a:t>內部與 break-glass 帳號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chemeClr val="tx1"/>
                          </a:solidFill>
                        </a:rPr>
                        <a:t>KRaft + JAAS 設定檔;bootstrap 密碼封存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chemeClr val="tx1"/>
                          </a:solidFill>
                        </a:rPr>
                        <a:t>kafka-broker · kafka-controller · bootstrap(break-glass);輪替未驗證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chemeClr val="tx1"/>
                          </a:solidFill>
                        </a:rPr>
                        <a:t>AD 群組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chemeClr val="tx1"/>
                          </a:solidFill>
                        </a:rPr>
                        <a:t>AD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chemeClr val="tx1"/>
                          </a:solidFill>
                        </a:rPr>
                        <a:t>人員異動只改 AD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5852160"/>
            <a:ext cx="11091672" cy="384048"/>
          </a:xfrm>
          <a:prstGeom prst="roundRect">
            <a:avLst>
              <a:gd name="adj" fmla="val 45000"/>
            </a:avLst>
          </a:prstGeom>
          <a:solidFill>
            <a:schemeClr val="accent3">
              <a:alpha val="12000"/>
            </a:schemeClr>
          </a:solidFill>
          <a:ln w="15875">
            <a:solidFill>
              <a:schemeClr val="accent3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chemeClr val="accent3"/>
                </a:solidFill>
              </a:rPr>
              <a:t>最少化:1 server 憑證 + 2 長期 client 憑證 + 1 備用(bootstrap)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tx2"/>
                </a:solidFill>
              </a:rPr>
              <a:t>導入步驟(RHEL 9 手動部署)</a:t>
            </a:r>
            <a:endParaRPr lang="zh-TW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691640" cy="2651760"/>
          </a:xfrm>
          <a:prstGeom prst="roundRect">
            <a:avLst>
              <a:gd name="adj" fmla="val 72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554480"/>
            <a:ext cx="411480" cy="411480"/>
          </a:xfrm>
          <a:prstGeom prst="roundRect">
            <a:avLst>
              <a:gd name="adj" fmla="val 45000"/>
            </a:avLst>
          </a:prstGeom>
          <a:solidFill>
            <a:schemeClr val="tx2"/>
          </a:solidFill>
          <a:ln w="1905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97280" y="2103120"/>
            <a:ext cx="594360" cy="594360"/>
          </a:xfrm>
          <a:prstGeom prst="roundRect">
            <a:avLst>
              <a:gd name="adj" fmla="val 45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8039" y="223387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21792" y="2834640"/>
            <a:ext cx="1545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chemeClr val="tx1"/>
                </a:solidFill>
              </a:rPr>
              <a:t>憑證與 truststore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4290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chemeClr val="tx1">
                    <a:alpha val="62000"/>
                  </a:schemeClr>
                </a:solidFill>
              </a:rPr>
              <a:t>含 AD 的 LDAPS CA 與 MDS 金鑰對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240280" y="2743200"/>
            <a:ext cx="182880" cy="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423160" y="1463040"/>
            <a:ext cx="1691640" cy="2651760"/>
          </a:xfrm>
          <a:prstGeom prst="roundRect">
            <a:avLst>
              <a:gd name="adj" fmla="val 7200"/>
            </a:avLst>
          </a:prstGeom>
          <a:solidFill>
            <a:schemeClr val="accent3">
              <a:alpha val="1200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063240" y="1554480"/>
            <a:ext cx="411480" cy="411480"/>
          </a:xfrm>
          <a:prstGeom prst="roundRect">
            <a:avLst>
              <a:gd name="adj" fmla="val 45000"/>
            </a:avLst>
          </a:prstGeom>
          <a:solidFill>
            <a:schemeClr val="tx2"/>
          </a:solidFill>
          <a:ln w="1905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971800" y="2103120"/>
            <a:ext cx="594360" cy="594360"/>
          </a:xfrm>
          <a:prstGeom prst="roundRect">
            <a:avLst>
              <a:gd name="adj" fmla="val 45000"/>
            </a:avLst>
          </a:prstGeom>
          <a:solidFill>
            <a:schemeClr val="accent3">
              <a:alpha val="1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2559" y="2233879"/>
            <a:ext cx="332842" cy="33284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496312" y="2834640"/>
            <a:ext cx="1545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chemeClr val="tx1"/>
                </a:solidFill>
              </a:rPr>
              <a:t>controller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2514600" y="34290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chemeClr val="tx1">
                    <a:alpha val="62000"/>
                  </a:schemeClr>
                </a:solidFill>
              </a:rPr>
              <a:t>format + add-scram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114800" y="2743200"/>
            <a:ext cx="182880" cy="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4297680" y="1463040"/>
            <a:ext cx="1691640" cy="2651760"/>
          </a:xfrm>
          <a:prstGeom prst="roundRect">
            <a:avLst>
              <a:gd name="adj" fmla="val 72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937760" y="1554480"/>
            <a:ext cx="411480" cy="411480"/>
          </a:xfrm>
          <a:prstGeom prst="roundRect">
            <a:avLst>
              <a:gd name="adj" fmla="val 45000"/>
            </a:avLst>
          </a:prstGeom>
          <a:solidFill>
            <a:schemeClr val="tx2"/>
          </a:solidFill>
          <a:ln w="1905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4846320" y="2103120"/>
            <a:ext cx="594360" cy="594360"/>
          </a:xfrm>
          <a:prstGeom prst="roundRect">
            <a:avLst>
              <a:gd name="adj" fmla="val 45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7079" y="2233879"/>
            <a:ext cx="332842" cy="33284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4370832" y="2834640"/>
            <a:ext cx="1545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chemeClr val="tx1"/>
                </a:solidFill>
              </a:rPr>
              <a:t>broker + MDS + LDAP</a:t>
            </a:r>
            <a:endParaRPr lang="en-US" sz="1250" dirty="0"/>
          </a:p>
        </p:txBody>
      </p:sp>
      <p:sp>
        <p:nvSpPr>
          <p:cNvPr id="22" name="Text 17"/>
          <p:cNvSpPr txBox="1"/>
          <p:nvPr/>
        </p:nvSpPr>
        <p:spPr>
          <a:xfrm>
            <a:off x="4389120" y="34290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chemeClr val="tx1">
                    <a:alpha val="62000"/>
                  </a:schemeClr>
                </a:solidFill>
              </a:rPr>
              <a:t>三個入口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5989320" y="2743200"/>
            <a:ext cx="182880" cy="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4" name="Shape 19"/>
          <p:cNvSpPr/>
          <p:nvPr/>
        </p:nvSpPr>
        <p:spPr>
          <a:xfrm>
            <a:off x="6172200" y="1463040"/>
            <a:ext cx="1691640" cy="2651760"/>
          </a:xfrm>
          <a:prstGeom prst="roundRect">
            <a:avLst>
              <a:gd name="adj" fmla="val 7200"/>
            </a:avLst>
          </a:prstGeom>
          <a:solidFill>
            <a:schemeClr val="accent3">
              <a:alpha val="1200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812280" y="1554480"/>
            <a:ext cx="411480" cy="411480"/>
          </a:xfrm>
          <a:prstGeom prst="roundRect">
            <a:avLst>
              <a:gd name="adj" fmla="val 45000"/>
            </a:avLst>
          </a:prstGeom>
          <a:solidFill>
            <a:schemeClr val="tx2"/>
          </a:solidFill>
          <a:ln w="1905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6720840" y="2103120"/>
            <a:ext cx="594360" cy="594360"/>
          </a:xfrm>
          <a:prstGeom prst="roundRect">
            <a:avLst>
              <a:gd name="adj" fmla="val 45000"/>
            </a:avLst>
          </a:prstGeom>
          <a:solidFill>
            <a:schemeClr val="accent3">
              <a:alpha val="1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1599" y="2233879"/>
            <a:ext cx="332842" cy="332842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6245352" y="2834640"/>
            <a:ext cx="1545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chemeClr val="tx1"/>
                </a:solidFill>
              </a:rPr>
              <a:t>第一批 role binding</a:t>
            </a:r>
            <a:endParaRPr lang="en-US" sz="1250" dirty="0"/>
          </a:p>
        </p:txBody>
      </p:sp>
      <p:sp>
        <p:nvSpPr>
          <p:cNvPr id="29" name="Text 23"/>
          <p:cNvSpPr txBox="1"/>
          <p:nvPr/>
        </p:nvSpPr>
        <p:spPr>
          <a:xfrm>
            <a:off x="6263640" y="34290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chemeClr val="tx1">
                    <a:alpha val="62000"/>
                  </a:schemeClr>
                </a:solidFill>
              </a:rPr>
              <a:t>bootstrap → kafka-admins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7863840" y="2743200"/>
            <a:ext cx="182880" cy="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31" name="Shape 25"/>
          <p:cNvSpPr/>
          <p:nvPr/>
        </p:nvSpPr>
        <p:spPr>
          <a:xfrm>
            <a:off x="8046720" y="1463040"/>
            <a:ext cx="1691640" cy="2651760"/>
          </a:xfrm>
          <a:prstGeom prst="roundRect">
            <a:avLst>
              <a:gd name="adj" fmla="val 72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8686800" y="1554480"/>
            <a:ext cx="411480" cy="411480"/>
          </a:xfrm>
          <a:prstGeom prst="roundRect">
            <a:avLst>
              <a:gd name="adj" fmla="val 45000"/>
            </a:avLst>
          </a:prstGeom>
          <a:solidFill>
            <a:schemeClr val="tx2"/>
          </a:solidFill>
          <a:ln w="1905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33" name="Shape 27"/>
          <p:cNvSpPr/>
          <p:nvPr/>
        </p:nvSpPr>
        <p:spPr>
          <a:xfrm>
            <a:off x="8595360" y="2103120"/>
            <a:ext cx="594360" cy="594360"/>
          </a:xfrm>
          <a:prstGeom prst="roundRect">
            <a:avLst>
              <a:gd name="adj" fmla="val 45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6119" y="2233879"/>
            <a:ext cx="332842" cy="332842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8119872" y="2834640"/>
            <a:ext cx="1545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chemeClr val="tx1"/>
                </a:solidFill>
              </a:rPr>
              <a:t>REST Proxy · C3</a:t>
            </a:r>
            <a:endParaRPr lang="en-US" sz="1250" dirty="0"/>
          </a:p>
        </p:txBody>
      </p:sp>
      <p:sp>
        <p:nvSpPr>
          <p:cNvPr id="36" name="Text 29"/>
          <p:cNvSpPr txBox="1"/>
          <p:nvPr/>
        </p:nvSpPr>
        <p:spPr>
          <a:xfrm>
            <a:off x="8138160" y="34290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chemeClr val="tx1">
                    <a:alpha val="62000"/>
                  </a:schemeClr>
                </a:solidFill>
              </a:rPr>
              <a:t>含 Prometheus + Alertmanager</a:t>
            </a:r>
            <a:endParaRPr lang="en-US" sz="1050" dirty="0"/>
          </a:p>
        </p:txBody>
      </p:sp>
      <p:sp>
        <p:nvSpPr>
          <p:cNvPr id="37" name="Shape 30"/>
          <p:cNvSpPr/>
          <p:nvPr/>
        </p:nvSpPr>
        <p:spPr>
          <a:xfrm>
            <a:off x="9738360" y="2743200"/>
            <a:ext cx="182880" cy="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38" name="Shape 31"/>
          <p:cNvSpPr/>
          <p:nvPr/>
        </p:nvSpPr>
        <p:spPr>
          <a:xfrm>
            <a:off x="9921240" y="1463040"/>
            <a:ext cx="1691640" cy="2651760"/>
          </a:xfrm>
          <a:prstGeom prst="roundRect">
            <a:avLst>
              <a:gd name="adj" fmla="val 7200"/>
            </a:avLst>
          </a:prstGeom>
          <a:solidFill>
            <a:schemeClr val="accent3">
              <a:alpha val="1200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10561320" y="1554480"/>
            <a:ext cx="411480" cy="411480"/>
          </a:xfrm>
          <a:prstGeom prst="roundRect">
            <a:avLst>
              <a:gd name="adj" fmla="val 45000"/>
            </a:avLst>
          </a:prstGeom>
          <a:solidFill>
            <a:schemeClr val="tx2"/>
          </a:solidFill>
          <a:ln w="1905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40" name="Shape 33"/>
          <p:cNvSpPr/>
          <p:nvPr/>
        </p:nvSpPr>
        <p:spPr>
          <a:xfrm>
            <a:off x="10469880" y="2103120"/>
            <a:ext cx="594360" cy="594360"/>
          </a:xfrm>
          <a:prstGeom prst="roundRect">
            <a:avLst>
              <a:gd name="adj" fmla="val 45000"/>
            </a:avLst>
          </a:prstGeom>
          <a:solidFill>
            <a:schemeClr val="accent3">
              <a:alpha val="1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0639" y="2233879"/>
            <a:ext cx="332842" cy="332842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9994392" y="2834640"/>
            <a:ext cx="1545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chemeClr val="tx1"/>
                </a:solidFill>
              </a:rPr>
              <a:t>audit 與驗證</a:t>
            </a:r>
            <a:endParaRPr lang="en-US" sz="1250" dirty="0"/>
          </a:p>
        </p:txBody>
      </p:sp>
      <p:sp>
        <p:nvSpPr>
          <p:cNvPr id="43" name="Text 35"/>
          <p:cNvSpPr txBox="1"/>
          <p:nvPr/>
        </p:nvSpPr>
        <p:spPr>
          <a:xfrm>
            <a:off x="10012680" y="34290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chemeClr val="tx1">
                    <a:alpha val="62000"/>
                  </a:schemeClr>
                </a:solidFill>
              </a:rPr>
              <a:t>路由 + 逐項驗證</a:t>
            </a:r>
            <a:endParaRPr lang="en-US" sz="1050" dirty="0"/>
          </a:p>
        </p:txBody>
      </p:sp>
      <p:sp>
        <p:nvSpPr>
          <p:cNvPr id="44" name="Text 36"/>
          <p:cNvSpPr/>
          <p:nvPr/>
        </p:nvSpPr>
        <p:spPr>
          <a:xfrm>
            <a:off x="548640" y="4434840"/>
            <a:ext cx="11091672" cy="384048"/>
          </a:xfrm>
          <a:prstGeom prst="roundRect">
            <a:avLst>
              <a:gd name="adj" fmla="val 45000"/>
            </a:avLst>
          </a:prstGeom>
          <a:solidFill>
            <a:schemeClr val="accent6">
              <a:alpha val="12000"/>
            </a:schemeClr>
          </a:solidFill>
          <a:ln w="15875">
            <a:solidFill>
              <a:schemeClr val="accent6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chemeClr val="accent6"/>
                </a:solidFill>
              </a:rPr>
              <a:t>controller 要在 format 時預建 kafka-broker / kafka-controller 的 SCRAM 憑證,否則授權器起不來(實測)</a:t>
            </a:r>
            <a:endParaRPr lang="en-US" sz="1300" dirty="0"/>
          </a:p>
        </p:txBody>
      </p:sp>
      <p:sp>
        <p:nvSpPr>
          <p:cNvPr id="45" name="Text 37"/>
          <p:cNvSpPr/>
          <p:nvPr/>
        </p:nvSpPr>
        <p:spPr>
          <a:xfrm>
            <a:off x="548640" y="4983480"/>
            <a:ext cx="11091672" cy="384048"/>
          </a:xfrm>
          <a:prstGeom prst="roundRect">
            <a:avLst>
              <a:gd name="adj" fmla="val 45000"/>
            </a:avLst>
          </a:prstGeom>
          <a:solidFill>
            <a:schemeClr val="accent2">
              <a:alpha val="12000"/>
            </a:schemeClr>
          </a:solidFill>
          <a:ln w="15875">
            <a:solidFill>
              <a:schemeClr val="accent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2"/>
                </a:solidFill>
              </a:rPr>
              <a:t>改設定:systemctl 逐台滾動重啟;demo 曾因強殺 controller 留下空 snapshot 而遺失 SCRAM 憑證 → 停止逾時要足夠</a:t>
            </a:r>
            <a:endParaRPr lang="en-US" sz="1200" dirty="0"/>
          </a:p>
        </p:txBody>
      </p:sp>
      <p:sp>
        <p:nvSpPr>
          <p:cNvPr id="46" name="Text 38"/>
          <p:cNvSpPr txBox="1"/>
          <p:nvPr/>
        </p:nvSpPr>
        <p:spPr>
          <a:xfrm>
            <a:off x="548640" y="55778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chemeClr val="tx1">
                    <a:alpha val="62000"/>
                  </a:schemeClr>
                </a:solidFill>
              </a:rPr>
              <a:t>demo 的 14 個章節對應每一步的驗證;路徑與 systemd 單元需在 RHEL 實機核對(本專案未在 RHEL 實機驗證)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tx2"/>
                </a:solidFill>
              </a:rPr>
              <a:t>風險與對策</a:t>
            </a:r>
            <a:endParaRPr lang="zh-TW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20440" cy="2331720"/>
          </a:xfrm>
          <a:prstGeom prst="roundRect">
            <a:avLst>
              <a:gd name="adj" fmla="val 45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81328"/>
            <a:ext cx="502920" cy="502920"/>
          </a:xfrm>
          <a:prstGeom prst="roundRect">
            <a:avLst>
              <a:gd name="adj" fmla="val 45000"/>
            </a:avLst>
          </a:prstGeom>
          <a:solidFill>
            <a:schemeClr val="accent6">
              <a:alpha val="15000"/>
            </a:schemeClr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442" y="1591970"/>
            <a:ext cx="281635" cy="28163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48132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chemeClr val="tx1"/>
                </a:solidFill>
              </a:rPr>
              <a:t>c3 憑證 = 管理員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85800" y="2103120"/>
            <a:ext cx="3246120" cy="731520"/>
          </a:xfrm>
          <a:prstGeom prst="roundRect">
            <a:avLst>
              <a:gd name="adj" fmla="val 7200"/>
            </a:avLst>
          </a:prstGeom>
          <a:solidFill>
            <a:schemeClr val="accent6">
              <a:alpha val="12000"/>
            </a:schemeClr>
          </a:solidFill>
          <a:ln w="12700">
            <a:solidFill>
              <a:schemeClr val="accent6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chemeClr val="accent6"/>
                </a:solidFill>
              </a:rPr>
              <a:t>發現:能建立 / 刪除 role binding;拿掉權限 C3 會退出(實測)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85800" y="2907792"/>
            <a:ext cx="3246120" cy="685800"/>
          </a:xfrm>
          <a:prstGeom prst="roundRect">
            <a:avLst>
              <a:gd name="adj" fmla="val 7200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chemeClr val="accent3"/>
                </a:solidFill>
              </a:rPr>
              <a:t>對策:保護私鑰與檔案權限;列入保護清單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25112" y="1371600"/>
            <a:ext cx="3520440" cy="2331720"/>
          </a:xfrm>
          <a:prstGeom prst="roundRect">
            <a:avLst>
              <a:gd name="adj" fmla="val 45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62272" y="1481328"/>
            <a:ext cx="502920" cy="502920"/>
          </a:xfrm>
          <a:prstGeom prst="roundRect">
            <a:avLst>
              <a:gd name="adj" fmla="val 45000"/>
            </a:avLst>
          </a:prstGeom>
          <a:solidFill>
            <a:schemeClr val="accent6">
              <a:alpha val="15000"/>
            </a:schemeClr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914" y="1591970"/>
            <a:ext cx="281635" cy="28163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056632" y="148132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chemeClr val="tx1"/>
                </a:solidFill>
              </a:rPr>
              <a:t>restproxy 憑證可代人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462272" y="2103120"/>
            <a:ext cx="3246120" cy="731520"/>
          </a:xfrm>
          <a:prstGeom prst="roundRect">
            <a:avLst>
              <a:gd name="adj" fmla="val 7200"/>
            </a:avLst>
          </a:prstGeom>
          <a:solidFill>
            <a:schemeClr val="accent6">
              <a:alpha val="12000"/>
            </a:schemeClr>
          </a:solidFill>
          <a:ln w="12700">
            <a:solidFill>
              <a:schemeClr val="accent6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chemeClr val="accent6"/>
                </a:solidFill>
              </a:rPr>
              <a:t>發現:可代不在保護清單的使用者;混入 Group: 整份失效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4462272" y="2907792"/>
            <a:ext cx="3246120" cy="685800"/>
          </a:xfrm>
          <a:prstGeom prst="roundRect">
            <a:avLst>
              <a:gd name="adj" fmla="val 7200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chemeClr val="accent3"/>
                </a:solidFill>
              </a:rPr>
              <a:t>對策:特權身分逐一以 User: 列入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101584" y="1371600"/>
            <a:ext cx="3520440" cy="2331720"/>
          </a:xfrm>
          <a:prstGeom prst="roundRect">
            <a:avLst>
              <a:gd name="adj" fmla="val 45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238744" y="1481328"/>
            <a:ext cx="502920" cy="502920"/>
          </a:xfrm>
          <a:prstGeom prst="roundRect">
            <a:avLst>
              <a:gd name="adj" fmla="val 45000"/>
            </a:avLst>
          </a:prstGeom>
          <a:solidFill>
            <a:schemeClr val="accent6">
              <a:alpha val="15000"/>
            </a:schemeClr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9386" y="1591970"/>
            <a:ext cx="281635" cy="28163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833104" y="148132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chemeClr val="tx1"/>
                </a:solidFill>
              </a:rPr>
              <a:t>私鑰外洩(server · token)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238744" y="2103120"/>
            <a:ext cx="3246120" cy="731520"/>
          </a:xfrm>
          <a:prstGeom prst="roundRect">
            <a:avLst>
              <a:gd name="adj" fmla="val 7200"/>
            </a:avLst>
          </a:prstGeom>
          <a:solidFill>
            <a:schemeClr val="accent6">
              <a:alpha val="12000"/>
            </a:schemeClr>
          </a:solidFill>
          <a:ln w="12700">
            <a:solidFill>
              <a:schemeClr val="accent6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chemeClr val="accent6"/>
                </a:solidFill>
              </a:rPr>
              <a:t>發現:server 私鑰外洩 = 可偽裝伺服器;token 簽章私鑰外洩 = 可偽造任何人的 token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8238744" y="2907792"/>
            <a:ext cx="3246120" cy="685800"/>
          </a:xfrm>
          <a:prstGeom prst="roundRect">
            <a:avLst>
              <a:gd name="adj" fmla="val 7200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chemeClr val="accent3"/>
                </a:solidFill>
              </a:rPr>
              <a:t>對策:權限 600;最小化存放;輪替計畫;共用身分不綁 role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548640" y="3886200"/>
            <a:ext cx="3520440" cy="2331720"/>
          </a:xfrm>
          <a:prstGeom prst="roundRect">
            <a:avLst>
              <a:gd name="adj" fmla="val 45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85800" y="3995928"/>
            <a:ext cx="502920" cy="502920"/>
          </a:xfrm>
          <a:prstGeom prst="roundRect">
            <a:avLst>
              <a:gd name="adj" fmla="val 45000"/>
            </a:avLst>
          </a:prstGeom>
          <a:solidFill>
            <a:schemeClr val="accent6">
              <a:alpha val="15000"/>
            </a:schemeClr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442" y="4106570"/>
            <a:ext cx="281635" cy="28163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80160" y="399592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chemeClr val="tx1"/>
                </a:solidFill>
              </a:rPr>
              <a:t>SCRAM 密碼不到期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685800" y="4617720"/>
            <a:ext cx="3246120" cy="731520"/>
          </a:xfrm>
          <a:prstGeom prst="roundRect">
            <a:avLst>
              <a:gd name="adj" fmla="val 7200"/>
            </a:avLst>
          </a:prstGeom>
          <a:solidFill>
            <a:schemeClr val="accent6">
              <a:alpha val="12000"/>
            </a:schemeClr>
          </a:solidFill>
          <a:ln w="12700">
            <a:solidFill>
              <a:schemeClr val="accent6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chemeClr val="accent6"/>
                </a:solidFill>
              </a:rPr>
              <a:t>發現:長期不換 → 外洩風險累積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685800" y="5422392"/>
            <a:ext cx="3246120" cy="685800"/>
          </a:xfrm>
          <a:prstGeom prst="roundRect">
            <a:avLst>
              <a:gd name="adj" fmla="val 7200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chemeClr val="accent3"/>
                </a:solidFill>
              </a:rPr>
              <a:t>對策:密碼庫 + 輪替流程 + 提醒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4325112" y="3886200"/>
            <a:ext cx="3520440" cy="2331720"/>
          </a:xfrm>
          <a:prstGeom prst="roundRect">
            <a:avLst>
              <a:gd name="adj" fmla="val 45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4462272" y="3995928"/>
            <a:ext cx="502920" cy="502920"/>
          </a:xfrm>
          <a:prstGeom prst="roundRect">
            <a:avLst>
              <a:gd name="adj" fmla="val 45000"/>
            </a:avLst>
          </a:prstGeom>
          <a:solidFill>
            <a:schemeClr val="accent6">
              <a:alpha val="15000"/>
            </a:schemeClr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914" y="4106570"/>
            <a:ext cx="281635" cy="281635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5056632" y="399592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chemeClr val="tx1"/>
                </a:solidFill>
              </a:rPr>
              <a:t>監控元件預設未認證</a:t>
            </a:r>
            <a:endParaRPr lang="en-US" sz="1350" dirty="0"/>
          </a:p>
        </p:txBody>
      </p:sp>
      <p:sp>
        <p:nvSpPr>
          <p:cNvPr id="31" name="Text 24"/>
          <p:cNvSpPr/>
          <p:nvPr/>
        </p:nvSpPr>
        <p:spPr>
          <a:xfrm>
            <a:off x="4462272" y="4617720"/>
            <a:ext cx="3246120" cy="731520"/>
          </a:xfrm>
          <a:prstGeom prst="roundRect">
            <a:avLst>
              <a:gd name="adj" fmla="val 7200"/>
            </a:avLst>
          </a:prstGeom>
          <a:solidFill>
            <a:schemeClr val="accent6">
              <a:alpha val="12000"/>
            </a:schemeClr>
          </a:solidFill>
          <a:ln w="12700">
            <a:solidFill>
              <a:schemeClr val="accent6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chemeClr val="accent6"/>
                </a:solidFill>
              </a:rPr>
              <a:t>發現:Prometheus / Alertmanager 可無認證讀寫</a:t>
            </a:r>
            <a:endParaRPr lang="en-US" sz="1050" dirty="0"/>
          </a:p>
        </p:txBody>
      </p:sp>
      <p:sp>
        <p:nvSpPr>
          <p:cNvPr id="32" name="Text 25"/>
          <p:cNvSpPr/>
          <p:nvPr/>
        </p:nvSpPr>
        <p:spPr>
          <a:xfrm>
            <a:off x="4462272" y="5422392"/>
            <a:ext cx="3246120" cy="685800"/>
          </a:xfrm>
          <a:prstGeom prst="roundRect">
            <a:avLst>
              <a:gd name="adj" fmla="val 7200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chemeClr val="accent3"/>
                </a:solidFill>
              </a:rPr>
              <a:t>對策:啟用 TLS + Basic;未啟用時網路隔離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8101584" y="3886200"/>
            <a:ext cx="3520440" cy="2331720"/>
          </a:xfrm>
          <a:prstGeom prst="roundRect">
            <a:avLst>
              <a:gd name="adj" fmla="val 45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8238744" y="3995928"/>
            <a:ext cx="502920" cy="502920"/>
          </a:xfrm>
          <a:prstGeom prst="roundRect">
            <a:avLst>
              <a:gd name="adj" fmla="val 45000"/>
            </a:avLst>
          </a:prstGeom>
          <a:solidFill>
            <a:schemeClr val="accent6">
              <a:alpha val="15000"/>
            </a:schemeClr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9386" y="4106570"/>
            <a:ext cx="281635" cy="281635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8833104" y="399592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chemeClr val="tx1"/>
                </a:solidFill>
              </a:rPr>
              <a:t>audit 不是全記</a:t>
            </a:r>
            <a:endParaRPr lang="en-US" sz="1350" dirty="0"/>
          </a:p>
        </p:txBody>
      </p:sp>
      <p:sp>
        <p:nvSpPr>
          <p:cNvPr id="37" name="Text 29"/>
          <p:cNvSpPr/>
          <p:nvPr/>
        </p:nvSpPr>
        <p:spPr>
          <a:xfrm>
            <a:off x="8238744" y="4617720"/>
            <a:ext cx="3246120" cy="731520"/>
          </a:xfrm>
          <a:prstGeom prst="roundRect">
            <a:avLst>
              <a:gd name="adj" fmla="val 7200"/>
            </a:avLst>
          </a:prstGeom>
          <a:solidFill>
            <a:schemeClr val="accent6">
              <a:alpha val="12000"/>
            </a:schemeClr>
          </a:solidFill>
          <a:ln w="12700">
            <a:solidFill>
              <a:schemeClr val="accent6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chemeClr val="accent6"/>
                </a:solidFill>
              </a:rPr>
              <a:t>發現:部分拒絕查不到;成功的 consume 預設不記(避免洗版)</a:t>
            </a:r>
            <a:endParaRPr lang="en-US" sz="1050" dirty="0"/>
          </a:p>
        </p:txBody>
      </p:sp>
      <p:sp>
        <p:nvSpPr>
          <p:cNvPr id="38" name="Text 30"/>
          <p:cNvSpPr/>
          <p:nvPr/>
        </p:nvSpPr>
        <p:spPr>
          <a:xfrm>
            <a:off x="8238744" y="5422392"/>
            <a:ext cx="3246120" cy="685800"/>
          </a:xfrm>
          <a:prstGeom prst="roundRect">
            <a:avLst>
              <a:gd name="adj" fmla="val 7200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chemeClr val="accent3"/>
                </a:solidFill>
              </a:rPr>
              <a:t>對策:稽核需求另外盤點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tx2"/>
                </a:solidFill>
              </a:rPr>
              <a:t>風險與對策(續)</a:t>
            </a:r>
            <a:endParaRPr lang="zh-TW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20440" cy="2651760"/>
          </a:xfrm>
          <a:prstGeom prst="roundRect">
            <a:avLst>
              <a:gd name="adj" fmla="val 45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81328"/>
            <a:ext cx="502920" cy="502920"/>
          </a:xfrm>
          <a:prstGeom prst="roundRect">
            <a:avLst>
              <a:gd name="adj" fmla="val 45000"/>
            </a:avLst>
          </a:prstGeom>
          <a:solidFill>
            <a:schemeClr val="accent6">
              <a:alpha val="15000"/>
            </a:schemeClr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442" y="1591970"/>
            <a:ext cx="281635" cy="28163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48132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chemeClr val="tx1"/>
                </a:solidFill>
              </a:rPr>
              <a:t>Postman cookie 優先於 Basic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85800" y="2103120"/>
            <a:ext cx="3246120" cy="1051560"/>
          </a:xfrm>
          <a:prstGeom prst="roundRect">
            <a:avLst>
              <a:gd name="adj" fmla="val 7200"/>
            </a:avLst>
          </a:prstGeom>
          <a:solidFill>
            <a:schemeClr val="accent6">
              <a:alpha val="12000"/>
            </a:schemeClr>
          </a:solidFill>
          <a:ln w="12700">
            <a:solidFill>
              <a:schemeClr val="accent6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chemeClr val="accent6"/>
                </a:solidFill>
              </a:rPr>
              <a:t>發現:MDS 驗證後回 auth_token cookie,優先於 Basic:同一 session 換身分仍以前一人執行(實測:誤新增 role binding)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85800" y="3246120"/>
            <a:ext cx="3246120" cy="640080"/>
          </a:xfrm>
          <a:prstGeom prst="roundRect">
            <a:avLst>
              <a:gd name="adj" fmla="val 7200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chemeClr val="accent3"/>
                </a:solidFill>
              </a:rPr>
              <a:t>對策:換身分前清除 cookie;collection 層級 pre-request 清除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25112" y="1371600"/>
            <a:ext cx="3520440" cy="2651760"/>
          </a:xfrm>
          <a:prstGeom prst="roundRect">
            <a:avLst>
              <a:gd name="adj" fmla="val 45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62272" y="1481328"/>
            <a:ext cx="502920" cy="502920"/>
          </a:xfrm>
          <a:prstGeom prst="roundRect">
            <a:avLst>
              <a:gd name="adj" fmla="val 45000"/>
            </a:avLst>
          </a:prstGeom>
          <a:solidFill>
            <a:schemeClr val="accent6">
              <a:alpha val="15000"/>
            </a:schemeClr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914" y="1591970"/>
            <a:ext cx="281635" cy="28163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056632" y="148132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chemeClr val="tx1"/>
                </a:solidFill>
              </a:rPr>
              <a:t>移出群組後的延遲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462272" y="2103120"/>
            <a:ext cx="3246120" cy="1051560"/>
          </a:xfrm>
          <a:prstGeom prst="roundRect">
            <a:avLst>
              <a:gd name="adj" fmla="val 7200"/>
            </a:avLst>
          </a:prstGeom>
          <a:solidFill>
            <a:schemeClr val="accent6">
              <a:alpha val="12000"/>
            </a:schemeClr>
          </a:solidFill>
          <a:ln w="12700">
            <a:solidFill>
              <a:schemeClr val="accent6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chemeClr val="accent6"/>
                </a:solidFill>
              </a:rPr>
              <a:t>發現:移出群組最長約 60 秒收回;刪除 AD 帳號後,已簽發 token 到期前仍有效(實測)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4462272" y="3246120"/>
            <a:ext cx="3246120" cy="640080"/>
          </a:xfrm>
          <a:prstGeom prst="roundRect">
            <a:avLst>
              <a:gd name="adj" fmla="val 7200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chemeClr val="accent3"/>
                </a:solidFill>
              </a:rPr>
              <a:t>對策:預留刷新時間;離職:停用 AD 帳號,並視需要縮短 token 壽命(token.max.lifetime.ms)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101584" y="1371600"/>
            <a:ext cx="3520440" cy="2651760"/>
          </a:xfrm>
          <a:prstGeom prst="roundRect">
            <a:avLst>
              <a:gd name="adj" fmla="val 45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238744" y="1481328"/>
            <a:ext cx="502920" cy="502920"/>
          </a:xfrm>
          <a:prstGeom prst="roundRect">
            <a:avLst>
              <a:gd name="adj" fmla="val 45000"/>
            </a:avLst>
          </a:prstGeom>
          <a:solidFill>
            <a:schemeClr val="accent6">
              <a:alpha val="15000"/>
            </a:schemeClr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9386" y="1591970"/>
            <a:ext cx="281635" cy="28163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833104" y="148132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chemeClr val="tx1"/>
                </a:solidFill>
              </a:rPr>
              <a:t>多 controller 的機制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238744" y="2103120"/>
            <a:ext cx="3246120" cy="1051560"/>
          </a:xfrm>
          <a:prstGeom prst="roundRect">
            <a:avLst>
              <a:gd name="adj" fmla="val 7200"/>
            </a:avLst>
          </a:prstGeom>
          <a:solidFill>
            <a:schemeClr val="accent6">
              <a:alpha val="12000"/>
            </a:schemeClr>
          </a:solidFill>
          <a:ln w="12700">
            <a:solidFill>
              <a:schemeClr val="accent6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chemeClr val="accent6"/>
                </a:solidFill>
              </a:rPr>
              <a:t>發現:官方說明 controller listener 不支援 SCRAM,採 PLAIN;PLAIN 已實測(機制),未含 TLS / RBAC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8238744" y="3246120"/>
            <a:ext cx="3246120" cy="640080"/>
          </a:xfrm>
          <a:prstGeom prst="roundRect">
            <a:avLst>
              <a:gd name="adj" fmla="val 7200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chemeClr val="accent3"/>
                </a:solidFill>
              </a:rPr>
              <a:t>對策:導入前在實機以 TLS + RBAC 實測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548640" y="4389120"/>
            <a:ext cx="11091672" cy="384048"/>
          </a:xfrm>
          <a:prstGeom prst="roundRect">
            <a:avLst>
              <a:gd name="adj" fmla="val 45000"/>
            </a:avLst>
          </a:prstGeom>
          <a:solidFill>
            <a:schemeClr val="accent2">
              <a:alpha val="12000"/>
            </a:schemeClr>
          </a:solidFill>
          <a:ln w="15875">
            <a:solidFill>
              <a:schemeClr val="accent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2"/>
                </a:solidFill>
              </a:rPr>
              <a:t>前兩項是已實測的操作陷阱,第三項導入前須實機驗證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tx2"/>
                </a:solidFill>
              </a:rPr>
              <a:t>已驗證 vs 待驗證</a:t>
            </a:r>
            <a:endParaRPr lang="zh-TW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40680" cy="4023360"/>
          </a:xfrm>
          <a:prstGeom prst="roundRect">
            <a:avLst>
              <a:gd name="adj" fmla="val 9000"/>
            </a:avLst>
          </a:prstGeom>
          <a:solidFill>
            <a:schemeClr val="accent3">
              <a:alpha val="1200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08760"/>
            <a:ext cx="640080" cy="640080"/>
          </a:xfrm>
          <a:prstGeom prst="roundRect">
            <a:avLst>
              <a:gd name="adj" fmla="val 45000"/>
            </a:avLst>
          </a:prstGeom>
          <a:solidFill>
            <a:schemeClr val="accent3">
              <a:alpha val="1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338" y="1649578"/>
            <a:ext cx="358445" cy="35844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5544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chemeClr val="accent3"/>
                </a:solidFill>
              </a:rPr>
              <a:t>demo 已實跑驗證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33172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✔  AD 群組 RBAC:加入群組生效(demo 5 秒;預設 60 秒)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✔  AD 群組分層授權:唯讀 / 維運 / 授權管理(含臨時提權)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✔  服務帳號 SCRAM 與輪替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✔  人機並存:REST Proxy / legacy app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✔  C3 人與機器流程、風險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✔  audit 事件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✔  LDAPS 信任庫 · 3 controller PLAIN · SCRAM 並行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✔  憑證更換三情境與元件順序(單節點 + demo 全元件)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199632" y="1371600"/>
            <a:ext cx="5440680" cy="4023360"/>
          </a:xfrm>
          <a:prstGeom prst="roundRect">
            <a:avLst>
              <a:gd name="adj" fmla="val 9000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382512" y="1508760"/>
            <a:ext cx="640080" cy="640080"/>
          </a:xfrm>
          <a:prstGeom prst="roundRect">
            <a:avLst>
              <a:gd name="adj" fmla="val 45000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3330" y="1649578"/>
            <a:ext cx="358445" cy="35844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159752" y="15544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chemeClr val="accent2"/>
                </a:solidFill>
              </a:rPr>
              <a:t>待驗證 / 待確認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6428232" y="233172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?  真實 AD:巢狀群組、大小寫、UPN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?  多 controller 搭配 TLS + RBAC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?  RHEL 實機:systemd、firewalld、路徑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?  長駐 client 是否需重啟才重載信任庫;中繼 CA 的更換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?  Prometheus / Alertmanager 啟用 TLS + Basic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?  Java 21(demo 映像為 Java 25)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?  縮短 token 壽命對元件換 token 頻率的影響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?  MDS 金鑰對與內部帳號的輪替流程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48640" y="5623560"/>
            <a:ext cx="11091672" cy="384048"/>
          </a:xfrm>
          <a:prstGeom prst="roundRect">
            <a:avLst>
              <a:gd name="adj" fmla="val 45000"/>
            </a:avLst>
          </a:prstGeom>
          <a:solidFill>
            <a:schemeClr val="accent1">
              <a:alpha val="12000"/>
            </a:schemeClr>
          </a:solidFill>
          <a:ln w="15875">
            <a:solidFill>
              <a:schemeClr val="accent1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1"/>
                </a:solidFill>
              </a:rPr>
              <a:t>demo 使用 OpenLDAP 模擬 AD;商用功能(RBAC、audit、C3)需 license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tx2"/>
                </a:solidFill>
              </a:rPr>
              <a:t>導入前請客戶確認</a:t>
            </a:r>
            <a:endParaRPr lang="zh-TW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440680" cy="960120"/>
          </a:xfrm>
          <a:prstGeom prst="roundRect">
            <a:avLst>
              <a:gd name="adj" fmla="val 72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581912"/>
            <a:ext cx="457200" cy="457200"/>
          </a:xfrm>
          <a:prstGeom prst="roundRect">
            <a:avLst>
              <a:gd name="adj" fmla="val 45000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325880" y="1527048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6581" y="1647749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057400" y="137160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AD 唯讀查詢帳號(bind DN)與 LDAPS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172200" y="1325880"/>
            <a:ext cx="5440680" cy="960120"/>
          </a:xfrm>
          <a:prstGeom prst="roundRect">
            <a:avLst>
              <a:gd name="adj" fmla="val 7200"/>
            </a:avLst>
          </a:prstGeom>
          <a:solidFill>
            <a:schemeClr val="accent3">
              <a:alpha val="1200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09360" y="1581912"/>
            <a:ext cx="457200" cy="457200"/>
          </a:xfrm>
          <a:prstGeom prst="roundRect">
            <a:avLst>
              <a:gd name="adj" fmla="val 45000"/>
            </a:avLst>
          </a:prstGeom>
          <a:solidFill>
            <a:schemeClr val="accent3"/>
          </a:solidFill>
          <a:ln w="1905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949440" y="1527048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3">
              <a:alpha val="1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0141" y="164774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680960" y="137160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Kafka 憑證由誰簽發:有無 AD CS(內部 CA)與根憑證散佈方式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2423160"/>
            <a:ext cx="5440680" cy="960120"/>
          </a:xfrm>
          <a:prstGeom prst="roundRect">
            <a:avLst>
              <a:gd name="adj" fmla="val 7200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85800" y="2679192"/>
            <a:ext cx="457200" cy="457200"/>
          </a:xfrm>
          <a:prstGeom prst="roundRect">
            <a:avLst>
              <a:gd name="adj" fmla="val 45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1325880" y="2624328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6581" y="27450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2057400" y="246888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能否為 legacy app 建立專用 AD 帳號(非真人)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172200" y="2423160"/>
            <a:ext cx="5440680" cy="960120"/>
          </a:xfrm>
          <a:prstGeom prst="roundRect">
            <a:avLst>
              <a:gd name="adj" fmla="val 7200"/>
            </a:avLst>
          </a:prstGeom>
          <a:solidFill>
            <a:schemeClr val="accent5">
              <a:alpha val="1200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6309360" y="2679192"/>
            <a:ext cx="457200" cy="457200"/>
          </a:xfrm>
          <a:prstGeom prst="roundRect">
            <a:avLst>
              <a:gd name="adj" fmla="val 45000"/>
            </a:avLst>
          </a:prstGeom>
          <a:solidFill>
            <a:schemeClr val="accent5"/>
          </a:solidFill>
          <a:ln w="1905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6949440" y="2624328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5">
              <a:alpha val="15000"/>
            </a:schemeClr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0141" y="2745029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680960" y="246888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license 是否涵蓋 RBAC / audit / C3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548640" y="3520440"/>
            <a:ext cx="5440680" cy="960120"/>
          </a:xfrm>
          <a:prstGeom prst="roundRect">
            <a:avLst>
              <a:gd name="adj" fmla="val 72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685800" y="3776472"/>
            <a:ext cx="457200" cy="457200"/>
          </a:xfrm>
          <a:prstGeom prst="roundRect">
            <a:avLst>
              <a:gd name="adj" fmla="val 45000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25" name="Shape 19"/>
          <p:cNvSpPr/>
          <p:nvPr/>
        </p:nvSpPr>
        <p:spPr>
          <a:xfrm>
            <a:off x="1325880" y="3721608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6581" y="3842309"/>
            <a:ext cx="307238" cy="30723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2057400" y="356616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AD 群組是否巢狀、帳號大小寫與命名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6172200" y="3520440"/>
            <a:ext cx="5440680" cy="960120"/>
          </a:xfrm>
          <a:prstGeom prst="roundRect">
            <a:avLst>
              <a:gd name="adj" fmla="val 7200"/>
            </a:avLst>
          </a:prstGeom>
          <a:solidFill>
            <a:schemeClr val="accent3">
              <a:alpha val="1200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6309360" y="3776472"/>
            <a:ext cx="457200" cy="457200"/>
          </a:xfrm>
          <a:prstGeom prst="roundRect">
            <a:avLst>
              <a:gd name="adj" fmla="val 45000"/>
            </a:avLst>
          </a:prstGeom>
          <a:solidFill>
            <a:schemeClr val="accent3"/>
          </a:solidFill>
          <a:ln w="1905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bg1"/>
                </a:solidFill>
              </a:rPr>
              <a:t>6</a:t>
            </a:r>
            <a:endParaRPr lang="en-US" sz="1500" dirty="0"/>
          </a:p>
        </p:txBody>
      </p:sp>
      <p:sp>
        <p:nvSpPr>
          <p:cNvPr id="30" name="Shape 23"/>
          <p:cNvSpPr/>
          <p:nvPr/>
        </p:nvSpPr>
        <p:spPr>
          <a:xfrm>
            <a:off x="6949440" y="3721608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3">
              <a:alpha val="1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0141" y="3842309"/>
            <a:ext cx="307238" cy="307238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7680960" y="356616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Java 版本(建議 21)與 Prometheus / Alertmanager 部署</a:t>
            </a:r>
            <a:endParaRPr lang="en-US" sz="1300" dirty="0"/>
          </a:p>
        </p:txBody>
      </p:sp>
      <p:sp>
        <p:nvSpPr>
          <p:cNvPr id="33" name="Shape 25"/>
          <p:cNvSpPr/>
          <p:nvPr/>
        </p:nvSpPr>
        <p:spPr>
          <a:xfrm>
            <a:off x="548640" y="4617720"/>
            <a:ext cx="5440680" cy="960120"/>
          </a:xfrm>
          <a:prstGeom prst="roundRect">
            <a:avLst>
              <a:gd name="adj" fmla="val 72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685800" y="4873752"/>
            <a:ext cx="457200" cy="457200"/>
          </a:xfrm>
          <a:prstGeom prst="roundRect">
            <a:avLst>
              <a:gd name="adj" fmla="val 45000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bg1"/>
                </a:solidFill>
              </a:rPr>
              <a:t>7</a:t>
            </a:r>
            <a:endParaRPr lang="en-US" sz="1500" dirty="0"/>
          </a:p>
        </p:txBody>
      </p:sp>
      <p:sp>
        <p:nvSpPr>
          <p:cNvPr id="35" name="Shape 27"/>
          <p:cNvSpPr/>
          <p:nvPr/>
        </p:nvSpPr>
        <p:spPr>
          <a:xfrm>
            <a:off x="1325880" y="4818888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46581" y="4939589"/>
            <a:ext cx="307238" cy="307238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2057400" y="466344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AD 是否有多台 DC(高可用):LDAP 停擺超過 24 小時,授權器會失效</a:t>
            </a:r>
            <a:endParaRPr lang="en-US" sz="1300" dirty="0"/>
          </a:p>
        </p:txBody>
      </p:sp>
      <p:sp>
        <p:nvSpPr>
          <p:cNvPr id="38" name="Shape 29"/>
          <p:cNvSpPr/>
          <p:nvPr/>
        </p:nvSpPr>
        <p:spPr>
          <a:xfrm>
            <a:off x="6172200" y="4617720"/>
            <a:ext cx="5440680" cy="960120"/>
          </a:xfrm>
          <a:prstGeom prst="roundRect">
            <a:avLst>
              <a:gd name="adj" fmla="val 7200"/>
            </a:avLst>
          </a:prstGeom>
          <a:solidFill>
            <a:schemeClr val="accent3">
              <a:alpha val="1200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39" name="Text 30"/>
          <p:cNvSpPr/>
          <p:nvPr/>
        </p:nvSpPr>
        <p:spPr>
          <a:xfrm>
            <a:off x="6309360" y="4873752"/>
            <a:ext cx="457200" cy="457200"/>
          </a:xfrm>
          <a:prstGeom prst="roundRect">
            <a:avLst>
              <a:gd name="adj" fmla="val 45000"/>
            </a:avLst>
          </a:prstGeom>
          <a:solidFill>
            <a:schemeClr val="accent3"/>
          </a:solidFill>
          <a:ln w="1905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bg1"/>
                </a:solidFill>
              </a:rPr>
              <a:t>8</a:t>
            </a:r>
            <a:endParaRPr lang="en-US" sz="1500" dirty="0"/>
          </a:p>
        </p:txBody>
      </p:sp>
      <p:sp>
        <p:nvSpPr>
          <p:cNvPr id="40" name="Shape 31"/>
          <p:cNvSpPr/>
          <p:nvPr/>
        </p:nvSpPr>
        <p:spPr>
          <a:xfrm>
            <a:off x="6949440" y="4818888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3">
              <a:alpha val="1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70141" y="4939589"/>
            <a:ext cx="307238" cy="307238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7680960" y="466344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AD 的 LDAPS 憑證由誰簽發(根 CA、有無中繼 CA)</a:t>
            </a:r>
            <a:endParaRPr lang="en-US" sz="1300" dirty="0"/>
          </a:p>
        </p:txBody>
      </p:sp>
      <p:sp>
        <p:nvSpPr>
          <p:cNvPr id="43" name="Text 33"/>
          <p:cNvSpPr/>
          <p:nvPr/>
        </p:nvSpPr>
        <p:spPr>
          <a:xfrm>
            <a:off x="548640" y="5760720"/>
            <a:ext cx="11091672" cy="384048"/>
          </a:xfrm>
          <a:prstGeom prst="roundRect">
            <a:avLst>
              <a:gd name="adj" fmla="val 45000"/>
            </a:avLst>
          </a:prstGeom>
          <a:solidFill>
            <a:schemeClr val="accent3">
              <a:alpha val="12000"/>
            </a:schemeClr>
          </a:solidFill>
          <a:ln w="15875">
            <a:solidFill>
              <a:schemeClr val="accent3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chemeClr val="accent3"/>
                </a:solidFill>
              </a:rPr>
              <a:t>第 3 項若可行:legacy app 走 Basic,不需要 client 憑證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tx2"/>
                </a:solidFill>
              </a:rPr>
              <a:t>下一步</a:t>
            </a:r>
            <a:endParaRPr lang="zh-TW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3520440" cy="2194560"/>
          </a:xfrm>
          <a:prstGeom prst="roundRect">
            <a:avLst>
              <a:gd name="adj" fmla="val 72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34540" y="178308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5241" y="190378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21792" y="2423160"/>
            <a:ext cx="3374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chemeClr val="accent1"/>
                </a:solidFill>
              </a:rPr>
              <a:t>客戶確認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834640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chemeClr val="tx1">
                    <a:alpha val="62000"/>
                  </a:schemeClr>
                </a:solidFill>
              </a:rPr>
              <a:t>回覆前一頁的八件事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069080" y="2743200"/>
            <a:ext cx="256032" cy="0"/>
          </a:xfrm>
          <a:prstGeom prst="line">
            <a:avLst/>
          </a:prstGeom>
          <a:noFill/>
          <a:ln w="317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4325112" y="1645920"/>
            <a:ext cx="3520440" cy="2194560"/>
          </a:xfrm>
          <a:prstGeom prst="roundRect">
            <a:avLst>
              <a:gd name="adj" fmla="val 7200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11012" y="178308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1713" y="190378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398264" y="2423160"/>
            <a:ext cx="3374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chemeClr val="accent2"/>
                </a:solidFill>
              </a:rPr>
              <a:t>調整方案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416552" y="2834640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chemeClr val="tx1">
                    <a:alpha val="62000"/>
                  </a:schemeClr>
                </a:solidFill>
              </a:rPr>
              <a:t>依客戶回覆更新設計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845552" y="2743200"/>
            <a:ext cx="256032" cy="0"/>
          </a:xfrm>
          <a:prstGeom prst="line">
            <a:avLst/>
          </a:prstGeom>
          <a:noFill/>
          <a:ln w="317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8101584" y="1645920"/>
            <a:ext cx="3520440" cy="2194560"/>
          </a:xfrm>
          <a:prstGeom prst="roundRect">
            <a:avLst>
              <a:gd name="adj" fmla="val 7200"/>
            </a:avLst>
          </a:prstGeom>
          <a:solidFill>
            <a:schemeClr val="accent3">
              <a:alpha val="1200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587484" y="178308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3">
              <a:alpha val="1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8185" y="1903781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174736" y="2423160"/>
            <a:ext cx="3374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chemeClr val="accent3"/>
                </a:solidFill>
              </a:rPr>
              <a:t>RHEL 實機驗證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8193024" y="2834640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chemeClr val="tx1">
                    <a:alpha val="62000"/>
                  </a:schemeClr>
                </a:solidFill>
              </a:rPr>
              <a:t>補上目前未驗證的項目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48640" y="4297680"/>
            <a:ext cx="11091672" cy="384048"/>
          </a:xfrm>
          <a:prstGeom prst="roundRect">
            <a:avLst>
              <a:gd name="adj" fmla="val 45000"/>
            </a:avLst>
          </a:prstGeom>
          <a:solidFill>
            <a:schemeClr val="accent5">
              <a:alpha val="12000"/>
            </a:schemeClr>
          </a:solidFill>
          <a:ln w="15875">
            <a:solidFill>
              <a:schemeClr val="accent5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5"/>
                </a:solidFill>
              </a:rPr>
              <a:t>Demo 與 Word 手冊可作為每一步的實作與證據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fluent Security Draft">
  <a:themeElements>
    <a:clrScheme name="Confluent Security Draft">
      <a:dk1>
        <a:srgbClr val="1A1A1A"/>
      </a:dk1>
      <a:lt1>
        <a:srgbClr val="FFFFFF"/>
      </a:lt1>
      <a:dk2>
        <a:srgbClr val="0E2841"/>
      </a:dk2>
      <a:lt2>
        <a:srgbClr val="F2F4F7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7A4EAB"/>
      </a:accent5>
      <a:accent6>
        <a:srgbClr val="B3261E"/>
      </a:accent6>
      <a:hlink>
        <a:srgbClr val="156082"/>
      </a:hlink>
      <a:folHlink>
        <a:srgbClr val="7A4EAB"/>
      </a:folHlink>
    </a:clrScheme>
    <a:fontScheme name="Confluent Security Draft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Confluent Platform 安全解決方案(草稿)</dc:title>
  <dc:subject>PptxGenJS Presentation</dc:subject>
  <dc:creator/>
  <cp:lastModifiedBy/>
  <cp:revision>1</cp:revision>
  <dcterms:created xsi:type="dcterms:W3CDTF">2026-10-05T02:36:22Z</dcterms:created>
  <dcterms:modified xsi:type="dcterms:W3CDTF">2026-10-05T02:36:22Z</dcterms:modified>
</cp:coreProperties>
</file>