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DD98"/>
    <a:srgbClr val="FBD190"/>
    <a:srgbClr val="F7C3BF"/>
    <a:srgbClr val="E58813"/>
    <a:srgbClr val="215F9A"/>
    <a:srgbClr val="A0C6EA"/>
    <a:srgbClr val="FFFFFF"/>
    <a:srgbClr val="F0BFB5"/>
    <a:srgbClr val="309B39"/>
    <a:srgbClr val="4E95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78" autoAdjust="0"/>
    <p:restoredTop sz="90831" autoAdjust="0"/>
  </p:normalViewPr>
  <p:slideViewPr>
    <p:cSldViewPr snapToGrid="0">
      <p:cViewPr varScale="1">
        <p:scale>
          <a:sx n="102" d="100"/>
          <a:sy n="102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3348" y="6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李佳瑋(Verna Lee)" userId="e1c3b0e1-f32c-4f80-a53d-28435f812829" providerId="ADAL" clId="{98DFDF9A-BA9F-460C-9972-2EFD4D4006C5}"/>
    <pc:docChg chg="undo custSel modSld">
      <pc:chgData name="李佳瑋(Verna Lee)" userId="e1c3b0e1-f32c-4f80-a53d-28435f812829" providerId="ADAL" clId="{98DFDF9A-BA9F-460C-9972-2EFD4D4006C5}" dt="2026-07-09T02:00:46.557" v="31" actId="20577"/>
      <pc:docMkLst>
        <pc:docMk/>
      </pc:docMkLst>
      <pc:sldChg chg="modSp mod">
        <pc:chgData name="李佳瑋(Verna Lee)" userId="e1c3b0e1-f32c-4f80-a53d-28435f812829" providerId="ADAL" clId="{98DFDF9A-BA9F-460C-9972-2EFD4D4006C5}" dt="2026-07-09T02:00:46.557" v="31" actId="20577"/>
        <pc:sldMkLst>
          <pc:docMk/>
          <pc:sldMk cId="2405286114" sldId="2147479732"/>
        </pc:sldMkLst>
        <pc:spChg chg="mod">
          <ac:chgData name="李佳瑋(Verna Lee)" userId="e1c3b0e1-f32c-4f80-a53d-28435f812829" providerId="ADAL" clId="{98DFDF9A-BA9F-460C-9972-2EFD4D4006C5}" dt="2026-07-09T02:00:46.557" v="31" actId="20577"/>
          <ac:spMkLst>
            <pc:docMk/>
            <pc:sldMk cId="2405286114" sldId="2147479732"/>
            <ac:spMk id="7" creationId="{B7015A52-C78C-CF8D-BCE5-84E85316611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F220F292-CE53-EB57-05AF-5B0FA193F35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A59F771-CF13-F789-00D5-E17C2F60C9B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CFDE2-6473-4080-A831-20006FDCD7F5}" type="datetimeFigureOut">
              <a:rPr lang="zh-TW" altLang="en-US" smtClean="0"/>
              <a:t>2026/10/5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67AFBE0-C5E6-EC79-5695-0B034507F50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DB5B6BF-F741-592B-6177-C1F32AD83B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45ED1B-6EFA-4E36-AE60-E978C66F0D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10105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F6CD30-1523-45E2-9237-ECEAB48C50E8}" type="datetimeFigureOut">
              <a:rPr lang="zh-TW" altLang="en-US" smtClean="0"/>
              <a:t>2026/10/5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15F5AC-016A-4A80-A5C2-27F05F9D97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6288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結論版,只講做法與結果。出處、實測依據與限制在各頁備忘稿,完整版有逐項前提與驗證狀態。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核心主張:AD 管人,Kafka 管機器。人與服務用不同的身分來源,但授權都集中在 MDS 的 RBAC。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server 端共用一組 PK+憑證,SAN 要涵蓋所有組件對外連線的網域/IP;客戶內部 CA 簽發。client 只需 truststore。需要 client 憑證的是平台元件(c3、restproxy、bootstrap)與經 REST Proxy 的 legacy app。第 8 章實測:共用憑證當 client 身分,MDS 看到的主體都一樣。另外實測發現:MDS 設 REQUESTED 時會要求 client 憑證,C3 內部有一個用共用 keystore 的 HTTP 客戶端(查叢集 ID)會自動出示共用憑證,MDS 日誌的主體是 kafka.demo.local;所以這個身分一律不綁 role,且共用憑證不要收斂 EKU(收斂後這些呼叫會被拒)。AD 的 LDAPS CA root(信任庫放的是簽發 LDAPS 憑證的 CA 憑證,不是 AD 伺服器自己的憑證;若 LDAPS 憑證由中繼 CA 簽發且 AD 只送出自己的憑證、不附完整鏈,中繼 CA 也要匯入,此情況未實測):官方 MDS-LDAP 頁用 ldap.java.naming.security.protocol=SSL 與 ldap.ssl.truststore.*;實測 broker 不設信任庫時 PLAIN+LDAP 登入與群組同步都失敗(PKIX path building failed),加上後恢復;只有連 AD 的 JVM(broker 的 PLAIN+LDAP listener 與 MDS,同一批 broker,一份 ldap.ssl.truststore.* 設定即可)需要,controller、C3、REST Proxy 不連 AD。輪替(已在單節點實驗實測,見下一頁):CA 不變只換 server 憑證 → 只換 keystore;CA 根換新但金鑰不變 → truststore 新增新 root、舊的到期前移除;CA 換金鑰 → 先讓所有 truststore(server 與 client 兩邊)同時信任新舊 root,再用新 CA 重簽 server 憑證與 client 憑證(c3、restproxy、bootstrap、各 legacy app),確認後移除舊 root。有中繼 CA 時 keystore 要帶完整鏈。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前四格(藍)是 Confluent 的組件:Controller、Broker、REST Proxy、Control Center;後面(紫)是貫穿全案的安全機制,最後是整合與導入。MDS 是 Broker 內建的服務,不是獨立組件。 表格內容:controller 的 9093 用 SASL/PLAIN 靜態內部帳號;broker 的 INTERNAL 9092 用 SCRAM(kafka-broker、controller 連 broker 用 kafka-controller);CLIENT 9094 同時支援 PLAIN+LDAP、SCRAM、OAUTHBEARER;MDS 8091 接受 Basic(AD)、Bearer token 與 client 憑證(REQUESTED);REST Proxy 人走 Basic、legacy app 用 client 憑證經 /impersonate 換 token;C3 人用本人 AD 帳密換 token。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權限放在 Kafka(RBAC + AD 群組);維運選單/腳本只是操作介面,以操作者本人身分執行。DeveloperManage 不能改 topic 設定;要改設定需 ResourceOwner 或 ClusterAdmin(叢集範圍、無讀寫)。UserAdmin 理論上可替自己授權,人數最少、臨時提權、audit 必看。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服務身分用 SASL/SCRAM-SHA-512,不放 AD(AD 沒有服務帳號)。SCRAM 的缺點是密碼無自動到期,所以配套:密碼庫與輪替流程。輪替做法(同帳號直接改密碼):①新密碼先存入密碼庫,用 bootstrap 的 SCRAM 身分執行 kafka-configs --alter --add-config SCRAM-SHA-512=[password=新密碼] --entity-type users --entity-name 帳號;②立刻讓每個 client 換成新密碼並重啟或重新載入;③用新密碼設定檔連線,確認沒有 SaslAuthenticationException 且授權正常(帳號名稱不變,RBAC 綁定不用重綁);④用舊密碼確認已被拒;出問題時再執行一次 kafka-configs 把密碼改回舊的。實測:對同一帳號同一機制再設一次密碼會直接取代,舊密碼對新連線立即失效;已連線的 client 在 Kafka 端改密碼後不受影響(45 秒後仍送出訊息,無認證錯誤),因為密碼是在連線建立時驗證。風險:在 client 換新密碼之前,任何重新連線(應用重啟、broker 重啟、leader 轉移、閒置斷線)都會失敗,所以改完要立刻換 client;若設定了 connections.max.reauth.ms(定期重新認證),已連線的 client 也會在重新認證時失敗(demo 未設定,未實測)。kafka-configs 的密碼在指令列,可能留在 shell 歷史或被 ps 看到,導入時要留意。官方(SCRAM overview 頁):SCRAM 憑證儲存在 KRaft,適用於 KRaft 位於私有網路的環境;SCRAM 只應搭配 TLS 使用。該頁沒有說明 SCRAM 密碼輪替流程,本頁的做法是依實測與客戶條件(通常不改帳號名稱)選擇。需要完全沒有風險窗口的服務,可改用新帳號並行(ch09 實測,新帳號要重綁 role),細節見 SPIKE-FINDINGS。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REST Proxy 是中心:它向 MDS 要 token,再帶 token 以 OAUTHBEARER 連 broker(MDS 不呼叫 broker),broker 用 MDS 公鑰驗章、以 sub 為主體授權。機器五步:legacy app 出示 client 憑證 → REST Proxy 依對映規則得到主體 → REST Proxy 用自己的憑證(CN=restproxy)向 MDS 認證並呼叫 /impersonate → MDS 回 sub=app、cp_proxy=restproxy 的 token → REST Proxy 以 OAUTHBEARER 連 broker。人 Basic 進入,REST Proxy 把帳密轉給 MDS 驗證換 token(沒有 /impersonate);機器出示 client 憑證,REST Proxy 用 AuthenticationHandler 把 DN 對映成主體,再以 restproxy 自己的憑證呼叫 MDS /impersonate 取得該主體的 token。客戶前提:人沒有 client 憑證、機器需要憑證,兩者必須並存,所以設 REQUESTED(官方 AuthenticationHandler 範例是 REQUIRED、純 mTLS);人機並存的組合為本專案實測驗證。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登入時瀏覽器第一個呼叫帶 Basic(C3 代轉 MDS),之後都帶 Bearer;同時有 HttpOnly auth_token cookie,伺服器優先看 Bearer。C3 自己的 API(例如 /2.0/clusters/kafka)在本地用 MDS 公鑰驗章:偽造或沒有簽章的 token,C3 直接回 401,MDS 的請求日誌(io.confluent.rest-utils.requests)沒有任何對應請求;有效 token 才會再以使用者 token 呼叫 MDS 查可見範圍(lookup/.../visibility)。但經 C3 轉給 MDS 的路徑(/api/metadata/security/1.0/...,例如在 C3 改 role binding)C3 不先驗章:同樣的偽造 token 會被轉給 MDS,由 MDS 回 401(實測,2026-10-05)。所以在 C3 改 role binding 時,驗證 token 的是 MDS。登入 session 上限由 confluent.controlcenter.auth.bearer.token.max.lifetime.ms 控制(官方:預設 6 小時、上限 24 小時、須不小於 MDS 的 token 壽命)。C3 自己的背景工作用 c3 憑證換 token,拿掉 SystemAdmin 後 Streams/license 立即授權失敗,約 1 分鐘後容器退出(實測)。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逐項依據與驗證狀態見完整版第 27 頁(風險與對策)與第 29 頁(已驗證 vs 待驗證)。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完整版第 30 頁有八件事(另含 Java 版本與 Prometheus、Alertmanager 部署)。AD 群組巢狀、大小寫的實際行為尚未在真實 AD 驗證。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296315A3-9032-F201-BBE0-DCF1E284C8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sp>
        <p:nvSpPr>
          <p:cNvPr id="2" name="標題 22">
            <a:extLst>
              <a:ext uri="{FF2B5EF4-FFF2-40B4-BE49-F238E27FC236}">
                <a16:creationId xmlns:a16="http://schemas.microsoft.com/office/drawing/2014/main" id="{79256E4C-BBB3-F4EF-4575-2E9C1831D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4857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3" name="文字版面配置區 5">
            <a:extLst>
              <a:ext uri="{FF2B5EF4-FFF2-40B4-BE49-F238E27FC236}">
                <a16:creationId xmlns:a16="http://schemas.microsoft.com/office/drawing/2014/main" id="{A6E1F61F-101A-0690-91DE-D0570033B0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5276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pic>
        <p:nvPicPr>
          <p:cNvPr id="5" name="圖形 4">
            <a:extLst>
              <a:ext uri="{FF2B5EF4-FFF2-40B4-BE49-F238E27FC236}">
                <a16:creationId xmlns:a16="http://schemas.microsoft.com/office/drawing/2014/main" id="{D70598D0-A8AD-D246-77FD-6577B18E898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2668" y="450774"/>
            <a:ext cx="3857540" cy="495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473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大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33DF4201-5DEC-2FDC-1DF3-476EEFC04C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23"/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4" name="頁尾版面配置區 4">
            <a:extLst>
              <a:ext uri="{FF2B5EF4-FFF2-40B4-BE49-F238E27FC236}">
                <a16:creationId xmlns:a16="http://schemas.microsoft.com/office/drawing/2014/main" id="{87540F65-87CD-6C6D-7C2F-09D4A4A1E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9" name="投影片編號版面配置區 5">
            <a:extLst>
              <a:ext uri="{FF2B5EF4-FFF2-40B4-BE49-F238E27FC236}">
                <a16:creationId xmlns:a16="http://schemas.microsoft.com/office/drawing/2014/main" id="{5A55E343-F865-91E4-FA15-92BF8924B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E3E0B239-8BA9-5B22-4759-168A4206DD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29029" y="1574164"/>
            <a:ext cx="4491593" cy="412150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5" name="標題 22">
            <a:extLst>
              <a:ext uri="{FF2B5EF4-FFF2-40B4-BE49-F238E27FC236}">
                <a16:creationId xmlns:a16="http://schemas.microsoft.com/office/drawing/2014/main" id="{2DB15313-D7B9-05DF-1CAE-1059D2BCF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8391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扉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40F7A88E-D44F-2933-E9C4-14D87A5665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10" name="標題 22">
            <a:extLst>
              <a:ext uri="{FF2B5EF4-FFF2-40B4-BE49-F238E27FC236}">
                <a16:creationId xmlns:a16="http://schemas.microsoft.com/office/drawing/2014/main" id="{59FA8356-E8DD-76B4-5DAB-17A19E506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291" y="1558384"/>
            <a:ext cx="5359906" cy="913944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endParaRPr lang="zh-TW" altLang="en-US" dirty="0"/>
          </a:p>
        </p:txBody>
      </p:sp>
      <p:sp>
        <p:nvSpPr>
          <p:cNvPr id="6" name="頁尾版面配置區 4">
            <a:extLst>
              <a:ext uri="{FF2B5EF4-FFF2-40B4-BE49-F238E27FC236}">
                <a16:creationId xmlns:a16="http://schemas.microsoft.com/office/drawing/2014/main" id="{D2A5E82D-1701-8097-24BD-A40A303AC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C636A1CB-A47A-70E7-8341-AF4E6A2EB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14" name="文字版面配置區 5">
            <a:extLst>
              <a:ext uri="{FF2B5EF4-FFF2-40B4-BE49-F238E27FC236}">
                <a16:creationId xmlns:a16="http://schemas.microsoft.com/office/drawing/2014/main" id="{3D57D4E3-466B-F37C-94E9-4316C2EDD1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5665" y="2637655"/>
            <a:ext cx="4690533" cy="2467743"/>
          </a:xfrm>
        </p:spPr>
        <p:txBody>
          <a:bodyPr>
            <a:normAutofit/>
          </a:bodyPr>
          <a:lstStyle>
            <a:lvl1pPr marL="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8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  <a:endParaRPr lang="en-US" altLang="zh-TW" dirty="0"/>
          </a:p>
          <a:p>
            <a:pPr lvl="0"/>
            <a:endParaRPr lang="en-US" altLang="zh-TW" dirty="0"/>
          </a:p>
          <a:p>
            <a:pPr lvl="0"/>
            <a:endParaRPr lang="zh-TW" altLang="en-US" dirty="0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83A233EB-4F1C-C1BE-EE2F-E6DCBF9B727B}"/>
              </a:ext>
            </a:extLst>
          </p:cNvPr>
          <p:cNvCxnSpPr>
            <a:cxnSpLocks/>
          </p:cNvCxnSpPr>
          <p:nvPr userDrawn="1"/>
        </p:nvCxnSpPr>
        <p:spPr>
          <a:xfrm>
            <a:off x="1066291" y="2472330"/>
            <a:ext cx="5359906" cy="0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4700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22">
            <a:extLst>
              <a:ext uri="{FF2B5EF4-FFF2-40B4-BE49-F238E27FC236}">
                <a16:creationId xmlns:a16="http://schemas.microsoft.com/office/drawing/2014/main" id="{8DC90A93-214B-7E1A-1224-4B8404FA6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48AED433-A3D3-13A9-C64A-C1BCBD58F6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151745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7222"/>
            <a:ext cx="5427210" cy="495195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9DE40350-99D9-B04A-08E7-7D34B5E2219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59065" y="1437222"/>
            <a:ext cx="5427210" cy="495195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pic>
        <p:nvPicPr>
          <p:cNvPr id="10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B0E74920-CCE3-AD0A-81AD-5076A9113C6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3" name="頁尾版面配置區 4">
            <a:extLst>
              <a:ext uri="{FF2B5EF4-FFF2-40B4-BE49-F238E27FC236}">
                <a16:creationId xmlns:a16="http://schemas.microsoft.com/office/drawing/2014/main" id="{DCFB3551-A66B-5033-9475-EFCF4022B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A0D83EF-D797-A055-3F82-BAFFEC731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7" name="標題 22">
            <a:extLst>
              <a:ext uri="{FF2B5EF4-FFF2-40B4-BE49-F238E27FC236}">
                <a16:creationId xmlns:a16="http://schemas.microsoft.com/office/drawing/2014/main" id="{3FD9C074-B93F-02AC-0718-67BD93B28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8" name="文字版面配置區 5">
            <a:extLst>
              <a:ext uri="{FF2B5EF4-FFF2-40B4-BE49-F238E27FC236}">
                <a16:creationId xmlns:a16="http://schemas.microsoft.com/office/drawing/2014/main" id="{67DD077B-8E85-4451-9E7F-6B3782D4B7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724469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_無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4" name="標題 22">
            <a:extLst>
              <a:ext uri="{FF2B5EF4-FFF2-40B4-BE49-F238E27FC236}">
                <a16:creationId xmlns:a16="http://schemas.microsoft.com/office/drawing/2014/main" id="{AED04AC0-B8AA-CF4B-0B44-9B1DA2343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1089377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5" name="文字版面配置區 5">
            <a:extLst>
              <a:ext uri="{FF2B5EF4-FFF2-40B4-BE49-F238E27FC236}">
                <a16:creationId xmlns:a16="http://schemas.microsoft.com/office/drawing/2014/main" id="{AB0B1B1C-096C-F6D4-901F-F00A7C1836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1089378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55060235-ABDB-2658-8864-CBBC1F24A7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058061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3513CD57-DD09-17D5-B102-6F347923CE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5" name="圖形 4">
            <a:extLst>
              <a:ext uri="{FF2B5EF4-FFF2-40B4-BE49-F238E27FC236}">
                <a16:creationId xmlns:a16="http://schemas.microsoft.com/office/drawing/2014/main" id="{7D4709F3-40B3-06D6-AB2D-93898D13C1D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6" name="標題 22">
            <a:extLst>
              <a:ext uri="{FF2B5EF4-FFF2-40B4-BE49-F238E27FC236}">
                <a16:creationId xmlns:a16="http://schemas.microsoft.com/office/drawing/2014/main" id="{23D48F7A-3F1F-4329-1211-400E999EB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3841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7" name="文字版面配置區 5">
            <a:extLst>
              <a:ext uri="{FF2B5EF4-FFF2-40B4-BE49-F238E27FC236}">
                <a16:creationId xmlns:a16="http://schemas.microsoft.com/office/drawing/2014/main" id="{2631B874-6616-2955-7E7A-0E6987140A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4260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3877963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FDF5C43-AB60-0FED-FFB9-19495D002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1592139-8FC5-3643-4B0D-804E16658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8F6A111-24DC-635D-D015-EDEB19D48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60750B2-8042-7E5A-D4BA-2DC95B8C84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C41E099-1AA8-7B80-DD06-E354FBED5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06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0" indent="-18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400" b="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72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108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u"/>
        <a:defRPr sz="1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144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p"/>
        <a:defRPr sz="16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png"/><Relationship Id="rId5" Type="http://schemas.openxmlformats.org/officeDocument/2006/relationships/image" Target="../media/image13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5D9BE6-4BEC-7ECB-2700-52511025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Confluent 安全解決方案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67800F6-27CD-3259-1507-AA36A5B7EC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>
                <a:latin typeface="微軟正黑體"/>
                <a:ea typeface="微軟正黑體"/>
              </a:rPr>
              <a:t>結論版:每個元件怎麼做</a:t>
            </a:r>
          </a:p>
        </p:txBody>
      </p:sp>
      <p:sp>
        <p:nvSpPr>
          <p:cNvPr id="4" name="11065e24-a917-49a0-bfe5-7e414b48a62b"/>
          <p:cNvSpPr/>
          <p:nvPr/>
        </p:nvSpPr>
        <p:spPr>
          <a:xfrm>
            <a:off x="594360" y="434340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400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Confluent Platform 8.3 · RHEL 9 手動部署</a:t>
            </a:r>
            <a:endParaRPr lang="en-US" sz="1400" dirty="0"/>
          </a:p>
          <a:p>
            <a:pPr marL="0" indent="0">
              <a:buNone/>
            </a:pPr>
            <a:r>
              <a:rPr lang="zh-TW" altLang="en-US" sz="1400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範圍:Kafka · REST Proxy · Control Center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781418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人走 AD,服務走 SCRAM 或憑證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授權集中在 MDS 的 RBAC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2</a:t>
            </a:fld>
            <a:endParaRPr lang="zh-TW" altLang="en-US" sz="900"/>
          </a:p>
        </p:txBody>
      </p:sp>
      <p:sp>
        <p:nvSpPr>
          <p:cNvPr id="2" name="cf08d54f-5678-476c-a306-9c6dbb094045"/>
          <p:cNvSpPr/>
          <p:nvPr/>
        </p:nvSpPr>
        <p:spPr>
          <a:xfrm>
            <a:off x="548640" y="1727475"/>
            <a:ext cx="4297680" cy="3139440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3" name="e875a4e7-d7ee-493c-8cbc-72b41ef8913f"/>
          <p:cNvSpPr/>
          <p:nvPr/>
        </p:nvSpPr>
        <p:spPr>
          <a:xfrm>
            <a:off x="777240" y="189717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4" name="281226bc-a0ca-4cfb-ae56-85162d256bf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174" y="2046510"/>
            <a:ext cx="409651" cy="409651"/>
          </a:xfrm>
          <a:prstGeom prst="rect">
            <a:avLst/>
          </a:prstGeom>
        </p:spPr>
      </p:pic>
      <p:sp>
        <p:nvSpPr>
          <p:cNvPr id="5" name="c0a19ca0-1190-49b1-ab17-b2c2d4c17b22"/>
          <p:cNvSpPr/>
          <p:nvPr/>
        </p:nvSpPr>
        <p:spPr>
          <a:xfrm>
            <a:off x="1691640" y="1982024"/>
            <a:ext cx="301752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altLang="en-US" sz="2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</a:t>
            </a:r>
            <a:endParaRPr lang="en-US" sz="2400" dirty="0"/>
          </a:p>
        </p:txBody>
      </p:sp>
      <p:sp>
        <p:nvSpPr>
          <p:cNvPr id="25" name="9c5a1a85-f5e4-4d4d-aa4f-f5564e39671d"/>
          <p:cNvSpPr/>
          <p:nvPr/>
        </p:nvSpPr>
        <p:spPr>
          <a:xfrm>
            <a:off x="822960" y="2830521"/>
            <a:ext cx="3749040" cy="848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zh-TW" altLang="en-US" sz="16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帳密 + AD 群組</a:t>
            </a:r>
            <a:endParaRPr lang="en-US" sz="1600" dirty="0"/>
          </a:p>
          <a:p>
            <a:pPr marL="0" indent="0" algn="l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登入 C3 · 手動腳本 · Postman</a:t>
            </a:r>
            <a:endParaRPr lang="en-US" sz="1600" dirty="0"/>
          </a:p>
        </p:txBody>
      </p:sp>
      <p:sp>
        <p:nvSpPr>
          <p:cNvPr id="7" name="95e285c8-8d38-4bd7-ba6d-d1d619a36ee8"/>
          <p:cNvSpPr/>
          <p:nvPr/>
        </p:nvSpPr>
        <p:spPr>
          <a:xfrm>
            <a:off x="822960" y="4188117"/>
            <a:ext cx="3749040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授權跟著 AD 群組走</a:t>
            </a:r>
            <a:endParaRPr lang="en-US" sz="1200" dirty="0"/>
          </a:p>
        </p:txBody>
      </p:sp>
      <p:sp>
        <p:nvSpPr>
          <p:cNvPr id="26" name="ff35c509-d494-46ab-b5c0-0d5e0586c259"/>
          <p:cNvSpPr/>
          <p:nvPr/>
        </p:nvSpPr>
        <p:spPr>
          <a:xfrm>
            <a:off x="7342632" y="1727475"/>
            <a:ext cx="4297680" cy="3139440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9" name="cd1a28d9-273d-4fba-990c-8ffa3b9ff449"/>
          <p:cNvSpPr/>
          <p:nvPr/>
        </p:nvSpPr>
        <p:spPr>
          <a:xfrm>
            <a:off x="7571232" y="189717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0" name="03a96b26-7b93-4f1b-b16c-b5f7828a760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2166" y="2046510"/>
            <a:ext cx="409651" cy="409651"/>
          </a:xfrm>
          <a:prstGeom prst="rect">
            <a:avLst/>
          </a:prstGeom>
        </p:spPr>
      </p:pic>
      <p:sp>
        <p:nvSpPr>
          <p:cNvPr id="11" name="13b2f485-d6cd-40f8-8883-0eeb0e54e960"/>
          <p:cNvSpPr/>
          <p:nvPr/>
        </p:nvSpPr>
        <p:spPr>
          <a:xfrm>
            <a:off x="8485632" y="1982024"/>
            <a:ext cx="301752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altLang="en-US" sz="2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服務</a:t>
            </a:r>
            <a:endParaRPr lang="en-US" sz="2400" dirty="0"/>
          </a:p>
        </p:txBody>
      </p:sp>
      <p:sp>
        <p:nvSpPr>
          <p:cNvPr id="12" name="6ad9d5a3-b5af-454a-ac68-08cd4c92072a"/>
          <p:cNvSpPr/>
          <p:nvPr/>
        </p:nvSpPr>
        <p:spPr>
          <a:xfrm>
            <a:off x="7616952" y="2745671"/>
            <a:ext cx="3840480" cy="1357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zh-TW" altLang="en-US" sz="16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Kafka:SCRAM 帳密</a:t>
            </a:r>
            <a:endParaRPr lang="en-US" sz="1600" dirty="0"/>
          </a:p>
          <a:p>
            <a:pPr marL="0" indent="0" algn="l">
              <a:spcAft>
                <a:spcPts val="800"/>
              </a:spcAft>
              <a:buNone/>
            </a:pPr>
            <a:r>
              <a:rPr lang="zh-TW" altLang="en-US" sz="16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MDS / REST Proxy:client 憑證</a:t>
            </a:r>
            <a:endParaRPr lang="en-US" sz="1600" dirty="0"/>
          </a:p>
          <a:p>
            <a:pPr marL="0" indent="0" algn="l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 · 排程 · legacy app · 平台元件</a:t>
            </a:r>
            <a:endParaRPr lang="en-US" sz="1600" dirty="0"/>
          </a:p>
        </p:txBody>
      </p:sp>
      <p:sp>
        <p:nvSpPr>
          <p:cNvPr id="13" name="d2b9c48e-fd35-4af0-beea-00545cfdd485"/>
          <p:cNvSpPr/>
          <p:nvPr/>
        </p:nvSpPr>
        <p:spPr>
          <a:xfrm>
            <a:off x="7616952" y="4188117"/>
            <a:ext cx="374904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授權綁 User:服務名稱</a:t>
            </a:r>
            <a:endParaRPr lang="en-US" sz="1200" dirty="0"/>
          </a:p>
        </p:txBody>
      </p:sp>
      <p:sp>
        <p:nvSpPr>
          <p:cNvPr id="14" name="c308392e-8722-41d0-b93a-33a48d7cafb8"/>
          <p:cNvSpPr/>
          <p:nvPr/>
        </p:nvSpPr>
        <p:spPr>
          <a:xfrm>
            <a:off x="5120640" y="2363848"/>
            <a:ext cx="1947672" cy="1612145"/>
          </a:xfrm>
          <a:prstGeom prst="roundRect">
            <a:avLst>
              <a:gd name="adj" fmla="val 90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15" name="45c33f61-f06c-4a51-b133-4dd70387c4cc"/>
          <p:cNvSpPr/>
          <p:nvPr/>
        </p:nvSpPr>
        <p:spPr>
          <a:xfrm>
            <a:off x="5824728" y="2491122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16" name="f34ef007-1975-4c42-b317-ed2d837ae75b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5429" y="2603124"/>
            <a:ext cx="307238" cy="307238"/>
          </a:xfrm>
          <a:prstGeom prst="rect">
            <a:avLst/>
          </a:prstGeom>
        </p:spPr>
      </p:pic>
      <p:sp>
        <p:nvSpPr>
          <p:cNvPr id="17" name="4f020fe7-4279-4c43-860f-b19d39fa7101"/>
          <p:cNvSpPr/>
          <p:nvPr/>
        </p:nvSpPr>
        <p:spPr>
          <a:xfrm>
            <a:off x="5166360" y="3085070"/>
            <a:ext cx="1856232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· RBAC</a:t>
            </a:r>
            <a:endParaRPr lang="en-US" sz="1500" dirty="0"/>
          </a:p>
        </p:txBody>
      </p:sp>
      <p:sp>
        <p:nvSpPr>
          <p:cNvPr id="18" name="074c8cfb-1767-4a07-b1d4-b990830d6702"/>
          <p:cNvSpPr/>
          <p:nvPr/>
        </p:nvSpPr>
        <p:spPr>
          <a:xfrm>
            <a:off x="5212080" y="3466894"/>
            <a:ext cx="1764792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集中管理授權規則</a:t>
            </a:r>
            <a:endParaRPr lang="en-US" sz="1100" dirty="0"/>
          </a:p>
        </p:txBody>
      </p:sp>
      <p:sp>
        <p:nvSpPr>
          <p:cNvPr id="19" name="5c511606-e6e6-4e8e-96fd-a7b53a8843bb"/>
          <p:cNvSpPr/>
          <p:nvPr/>
        </p:nvSpPr>
        <p:spPr>
          <a:xfrm>
            <a:off x="4846320" y="3169920"/>
            <a:ext cx="274320" cy="0"/>
          </a:xfrm>
          <a:prstGeom prst="line">
            <a:avLst/>
          </a:prstGeom>
          <a:noFill/>
          <a:ln w="2857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0" name="757d022c-9e48-44f2-b67b-490636d6645b"/>
          <p:cNvSpPr/>
          <p:nvPr/>
        </p:nvSpPr>
        <p:spPr>
          <a:xfrm flipH="1">
            <a:off x="7068312" y="3169920"/>
            <a:ext cx="274320" cy="0"/>
          </a:xfrm>
          <a:prstGeom prst="line">
            <a:avLst/>
          </a:prstGeom>
          <a:noFill/>
          <a:ln w="2857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21" name="18a9f4a5-dd90-43d7-bec6-5da61dbc7d8b"/>
          <p:cNvSpPr/>
          <p:nvPr/>
        </p:nvSpPr>
        <p:spPr>
          <a:xfrm>
            <a:off x="548640" y="5121464"/>
            <a:ext cx="11091672" cy="593948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marL="0" indent="0" algn="ctr">
              <a:buNone/>
            </a:pPr>
            <a:r>
              <a:rPr lang="zh-TW" altLang="en-US" sz="17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怎麼分?有人在場、由人直接或間接操作 = 人;其餘(無人值守)= 服務</a:t>
            </a:r>
            <a:endParaRPr lang="en-US" sz="1700" dirty="0"/>
          </a:p>
        </p:txBody>
      </p:sp>
      <p:sp>
        <p:nvSpPr>
          <p:cNvPr id="22" name="dc1e3ff7-6372-4946-b4a9-395b759860b5"/>
          <p:cNvSpPr/>
          <p:nvPr/>
        </p:nvSpPr>
        <p:spPr>
          <a:xfrm>
            <a:off x="548640" y="5842686"/>
            <a:ext cx="11091672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腳本由手動轉成排程 → 必須改用服務身分,不借用人的帳號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共用一組憑證,只做加密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不承載權限;身分另外處理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sp>
        <p:nvSpPr>
          <p:cNvPr id="2" name="e1b24674-b9c2-40f9-b92d-b06abba744c0"/>
          <p:cNvSpPr/>
          <p:nvPr/>
        </p:nvSpPr>
        <p:spPr>
          <a:xfrm>
            <a:off x="731520" y="1897174"/>
            <a:ext cx="1188720" cy="1103046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22" name="e20ba91f-1d3c-4fae-bcbc-910e75c3f93c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038" y="2139844"/>
            <a:ext cx="665683" cy="665683"/>
          </a:xfrm>
          <a:prstGeom prst="rect">
            <a:avLst/>
          </a:prstGeom>
        </p:spPr>
      </p:pic>
      <p:sp>
        <p:nvSpPr>
          <p:cNvPr id="23" name="117e7979-16cd-4850-a6dd-5ced5834aedc"/>
          <p:cNvSpPr/>
          <p:nvPr/>
        </p:nvSpPr>
        <p:spPr>
          <a:xfrm>
            <a:off x="548640" y="3127495"/>
            <a:ext cx="155448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 組 PK + 憑證</a:t>
            </a:r>
            <a:endParaRPr lang="en-US" sz="1400" dirty="0"/>
          </a:p>
        </p:txBody>
      </p:sp>
      <p:sp>
        <p:nvSpPr>
          <p:cNvPr id="5" name="42800a27-5d96-4730-9ce0-b37195e1cbe5"/>
          <p:cNvSpPr/>
          <p:nvPr/>
        </p:nvSpPr>
        <p:spPr>
          <a:xfrm>
            <a:off x="502920" y="3594169"/>
            <a:ext cx="164592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SAN 涵蓋所有組件的網域 / IP</a:t>
            </a:r>
            <a:endParaRPr lang="en-US" sz="1050" dirty="0"/>
          </a:p>
        </p:txBody>
      </p:sp>
      <p:sp>
        <p:nvSpPr>
          <p:cNvPr id="24" name="b47efc65-1459-4db9-8be2-140c1f33138b"/>
          <p:cNvSpPr/>
          <p:nvPr/>
        </p:nvSpPr>
        <p:spPr>
          <a:xfrm flipV="1">
            <a:off x="2148840" y="1897174"/>
            <a:ext cx="868680" cy="551523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7" name="ffd018ec-ee87-4065-b143-d4e6091b040e"/>
          <p:cNvSpPr/>
          <p:nvPr/>
        </p:nvSpPr>
        <p:spPr>
          <a:xfrm>
            <a:off x="3017520" y="1727475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marL="0" indent="0" algn="ctr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</a:t>
            </a:r>
            <a:endParaRPr lang="en-US" sz="1200" dirty="0"/>
          </a:p>
        </p:txBody>
      </p:sp>
      <p:sp>
        <p:nvSpPr>
          <p:cNvPr id="25" name="be0123ec-3049-41b8-9c62-813aeeeb68bb"/>
          <p:cNvSpPr/>
          <p:nvPr/>
        </p:nvSpPr>
        <p:spPr>
          <a:xfrm flipV="1">
            <a:off x="2148840" y="2321423"/>
            <a:ext cx="868680" cy="127275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9" name="56c281f1-cb5c-40b5-a567-7be19844d889"/>
          <p:cNvSpPr/>
          <p:nvPr/>
        </p:nvSpPr>
        <p:spPr>
          <a:xfrm>
            <a:off x="3017520" y="2151723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marL="0" indent="0" algn="ctr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200" dirty="0"/>
          </a:p>
        </p:txBody>
      </p:sp>
      <p:sp>
        <p:nvSpPr>
          <p:cNvPr id="10" name="ea07613f-2983-4409-81a7-08e479dfc4e8"/>
          <p:cNvSpPr/>
          <p:nvPr/>
        </p:nvSpPr>
        <p:spPr>
          <a:xfrm>
            <a:off x="2148840" y="2448697"/>
            <a:ext cx="868680" cy="296974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1" name="0808914c-c2e5-4bf5-928a-00f6413ce587"/>
          <p:cNvSpPr/>
          <p:nvPr/>
        </p:nvSpPr>
        <p:spPr>
          <a:xfrm>
            <a:off x="3017520" y="2575972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marL="0" indent="0" algn="ctr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</a:t>
            </a:r>
            <a:endParaRPr lang="en-US" sz="1200" dirty="0"/>
          </a:p>
        </p:txBody>
      </p:sp>
      <p:sp>
        <p:nvSpPr>
          <p:cNvPr id="12" name="41022099-0456-47b7-a5fe-00636ae9dc99"/>
          <p:cNvSpPr/>
          <p:nvPr/>
        </p:nvSpPr>
        <p:spPr>
          <a:xfrm>
            <a:off x="2148840" y="2448697"/>
            <a:ext cx="868680" cy="721223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3" name="c7270a52-918e-4e06-9434-2c180b7cf1da"/>
          <p:cNvSpPr/>
          <p:nvPr/>
        </p:nvSpPr>
        <p:spPr>
          <a:xfrm>
            <a:off x="3017520" y="3000221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marL="0" indent="0" algn="ctr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200" dirty="0"/>
          </a:p>
        </p:txBody>
      </p:sp>
      <p:sp>
        <p:nvSpPr>
          <p:cNvPr id="14" name="7e4539df-6e9c-45f9-849f-8176da19af7e"/>
          <p:cNvSpPr/>
          <p:nvPr/>
        </p:nvSpPr>
        <p:spPr>
          <a:xfrm>
            <a:off x="2148840" y="2448697"/>
            <a:ext cx="868680" cy="1145471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5" name="2e765a69-243e-4a10-b355-e9f387b01f91"/>
          <p:cNvSpPr/>
          <p:nvPr/>
        </p:nvSpPr>
        <p:spPr>
          <a:xfrm>
            <a:off x="3017520" y="3424469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marL="0" indent="0" algn="ctr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</a:t>
            </a:r>
            <a:endParaRPr lang="en-US" sz="1200" dirty="0"/>
          </a:p>
        </p:txBody>
      </p:sp>
      <p:sp>
        <p:nvSpPr>
          <p:cNvPr id="16" name="2c249703-794a-4bae-83b5-e3b333cd3a83"/>
          <p:cNvSpPr/>
          <p:nvPr/>
        </p:nvSpPr>
        <p:spPr>
          <a:xfrm>
            <a:off x="3017520" y="3848718"/>
            <a:ext cx="18288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server 端啟動 TLS</a:t>
            </a:r>
            <a:endParaRPr lang="en-US" sz="1050" dirty="0"/>
          </a:p>
        </p:txBody>
      </p:sp>
      <p:sp>
        <p:nvSpPr>
          <p:cNvPr id="17" name="75382d3d-dc10-4dda-87a0-9ba2f59fd01b"/>
          <p:cNvSpPr/>
          <p:nvPr/>
        </p:nvSpPr>
        <p:spPr>
          <a:xfrm>
            <a:off x="6309360" y="1812324"/>
            <a:ext cx="5330952" cy="42424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2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只做傳輸加密,不承載權限</a:t>
            </a:r>
            <a:endParaRPr lang="en-US" sz="1250" dirty="0"/>
          </a:p>
        </p:txBody>
      </p:sp>
      <p:sp>
        <p:nvSpPr>
          <p:cNvPr id="18" name="f3ad00e4-db6a-48a3-a34b-e23ec43340b0"/>
          <p:cNvSpPr/>
          <p:nvPr/>
        </p:nvSpPr>
        <p:spPr>
          <a:xfrm>
            <a:off x="6309360" y="2363848"/>
            <a:ext cx="5330952" cy="42424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2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共用憑證的身分(CN)永遠不綁任何 role</a:t>
            </a:r>
            <a:endParaRPr lang="en-US" sz="1250" dirty="0"/>
          </a:p>
        </p:txBody>
      </p:sp>
      <p:sp>
        <p:nvSpPr>
          <p:cNvPr id="19" name="3d33e681-8af8-4cc8-a976-84c7353afebd"/>
          <p:cNvSpPr/>
          <p:nvPr/>
        </p:nvSpPr>
        <p:spPr>
          <a:xfrm>
            <a:off x="6309360" y="2915371"/>
            <a:ext cx="5330952" cy="42424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SAN 涵蓋所有元件的主機名稱</a:t>
            </a:r>
            <a:endParaRPr lang="en-US" sz="1200" dirty="0"/>
          </a:p>
        </p:txBody>
      </p:sp>
      <p:sp>
        <p:nvSpPr>
          <p:cNvPr id="20" name="fd74fba4-984d-40ec-988d-274755694a1d"/>
          <p:cNvSpPr/>
          <p:nvPr/>
        </p:nvSpPr>
        <p:spPr>
          <a:xfrm>
            <a:off x="6309360" y="3466894"/>
            <a:ext cx="5330952" cy="42424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2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平台元件另用 client 憑證換 token(c3、restproxy、bootstrap)</a:t>
            </a:r>
            <a:endParaRPr lang="en-US" sz="1200" dirty="0"/>
          </a:p>
        </p:txBody>
      </p:sp>
      <p:sp>
        <p:nvSpPr>
          <p:cNvPr id="21" name="af3eaa1a-4a06-49e2-9e4e-ac478274b751"/>
          <p:cNvSpPr/>
          <p:nvPr/>
        </p:nvSpPr>
        <p:spPr>
          <a:xfrm>
            <a:off x="548640" y="4654790"/>
            <a:ext cx="11091672" cy="593948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marL="0" indent="0" algn="ctr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AD 的 broker 另匯入 AD 的 LDAPS CA root,一份設定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每個元件各用什麼認證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認證、授權與傳輸加密一覽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5" name="baa2357c-ccfc-44b2-9044-c7bd157e6a0f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11091672" cy="3546717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61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03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元件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誰連進來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傳輸加密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60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controller(9093)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broker、controller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SASL/PLAIN 靜態內部帳號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super.users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TLS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60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broker(INTERNAL 9092)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broker、controller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SCRAM(kafka-broker、kafka-controller)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super.users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TLS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60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broker(CLIENT 9094)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人、服務、平台元件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 PLAIN+LDAP;服務 SCRAM;平台 OAUTHBEARER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RBAC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TLS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60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MDS(8091)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人、平台元件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Basic(AD)、Bearer、client 憑證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RBAC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TLS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60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人、legacy app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 Basic;legacy app 憑證換 token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依 token 主體走 RBAC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TLS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60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Control Center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本人 AD 帳密換 token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依本人的 RBAC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TLS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權限依 AD 群組分五層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人員異動只改 AD,Kafka 端零變更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5</a:t>
            </a:fld>
            <a:endParaRPr lang="zh-TW" altLang="en-US" sz="900"/>
          </a:p>
        </p:txBody>
      </p:sp>
      <p:sp>
        <p:nvSpPr>
          <p:cNvPr id="2" name="4a18fd22-8fd8-4837-9f4d-6ce98e23ab7f"/>
          <p:cNvSpPr/>
          <p:nvPr/>
        </p:nvSpPr>
        <p:spPr>
          <a:xfrm>
            <a:off x="5623560" y="1685050"/>
            <a:ext cx="150876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讀資料</a:t>
            </a:r>
            <a:endParaRPr lang="en-US" sz="1200" dirty="0"/>
          </a:p>
        </p:txBody>
      </p:sp>
      <p:sp>
        <p:nvSpPr>
          <p:cNvPr id="49" name="25603435-5532-4621-918d-6b3b94d9eb68"/>
          <p:cNvSpPr/>
          <p:nvPr/>
        </p:nvSpPr>
        <p:spPr>
          <a:xfrm>
            <a:off x="7132320" y="1685050"/>
            <a:ext cx="150876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寫資料</a:t>
            </a:r>
            <a:endParaRPr lang="en-US" sz="1200" dirty="0"/>
          </a:p>
        </p:txBody>
      </p:sp>
      <p:sp>
        <p:nvSpPr>
          <p:cNvPr id="50" name="3ad7ab46-a987-4637-974d-b77d57bb3b73"/>
          <p:cNvSpPr/>
          <p:nvPr/>
        </p:nvSpPr>
        <p:spPr>
          <a:xfrm>
            <a:off x="8641080" y="1685050"/>
            <a:ext cx="150876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 topic(建/刪)</a:t>
            </a:r>
            <a:endParaRPr lang="en-US" sz="1200" dirty="0"/>
          </a:p>
        </p:txBody>
      </p:sp>
      <p:sp>
        <p:nvSpPr>
          <p:cNvPr id="5" name="cf7eb6e6-9ddb-4578-82a2-f9673a8c74a9"/>
          <p:cNvSpPr/>
          <p:nvPr/>
        </p:nvSpPr>
        <p:spPr>
          <a:xfrm>
            <a:off x="10149840" y="1685050"/>
            <a:ext cx="150876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改授權</a:t>
            </a:r>
            <a:endParaRPr lang="en-US" sz="1200" dirty="0"/>
          </a:p>
        </p:txBody>
      </p:sp>
      <p:sp>
        <p:nvSpPr>
          <p:cNvPr id="51" name="5afe1f07-61d9-4105-82b9-0fa305f6b795"/>
          <p:cNvSpPr/>
          <p:nvPr/>
        </p:nvSpPr>
        <p:spPr>
          <a:xfrm>
            <a:off x="548640" y="2151723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7" name="3c2f158f-6cd4-47a2-98a1-26eb13940989"/>
          <p:cNvSpPr/>
          <p:nvPr/>
        </p:nvSpPr>
        <p:spPr>
          <a:xfrm>
            <a:off x="731520" y="2185663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3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kafka-developers</a:t>
            </a:r>
            <a:endParaRPr lang="en-US" sz="1300" dirty="0"/>
          </a:p>
        </p:txBody>
      </p:sp>
      <p:sp>
        <p:nvSpPr>
          <p:cNvPr id="52" name="8b767776-a1c6-49b6-83c0-efacc92084cf"/>
          <p:cNvSpPr/>
          <p:nvPr/>
        </p:nvSpPr>
        <p:spPr>
          <a:xfrm>
            <a:off x="2834640" y="2185663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DeveloperRead / Write(orders. 前綴)</a:t>
            </a:r>
            <a:endParaRPr lang="en-US" sz="1050" dirty="0"/>
          </a:p>
        </p:txBody>
      </p:sp>
      <p:pic>
        <p:nvPicPr>
          <p:cNvPr id="9" name="4651f5d8-dafc-4dc2-b46b-380ec73372b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88" y="2245058"/>
            <a:ext cx="365760" cy="365760"/>
          </a:xfrm>
          <a:prstGeom prst="rect">
            <a:avLst/>
          </a:prstGeom>
        </p:spPr>
      </p:pic>
      <p:pic>
        <p:nvPicPr>
          <p:cNvPr id="10" name="d7b759a6-d421-40f3-95d0-a8d8c51f3c4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9248" y="2245058"/>
            <a:ext cx="365760" cy="365760"/>
          </a:xfrm>
          <a:prstGeom prst="rect">
            <a:avLst/>
          </a:prstGeom>
        </p:spPr>
      </p:pic>
      <p:pic>
        <p:nvPicPr>
          <p:cNvPr id="11" name="03423ff7-51ce-47c7-aa50-e4f549a3f6bf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8008" y="2245058"/>
            <a:ext cx="365760" cy="365760"/>
          </a:xfrm>
          <a:prstGeom prst="rect">
            <a:avLst/>
          </a:prstGeom>
        </p:spPr>
      </p:pic>
      <p:pic>
        <p:nvPicPr>
          <p:cNvPr id="12" name="f6768011-5346-479a-b251-117e39b489ab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6768" y="2245058"/>
            <a:ext cx="365760" cy="365760"/>
          </a:xfrm>
          <a:prstGeom prst="rect">
            <a:avLst/>
          </a:prstGeom>
        </p:spPr>
      </p:pic>
      <p:sp>
        <p:nvSpPr>
          <p:cNvPr id="13" name="53a435dd-098e-4600-a40f-280659d67494"/>
          <p:cNvSpPr/>
          <p:nvPr/>
        </p:nvSpPr>
        <p:spPr>
          <a:xfrm>
            <a:off x="548640" y="2762641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4" name="1bd28608-580e-4673-8206-28758bb2a8a0"/>
          <p:cNvSpPr/>
          <p:nvPr/>
        </p:nvSpPr>
        <p:spPr>
          <a:xfrm>
            <a:off x="731520" y="2796581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3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kafka-readonly</a:t>
            </a:r>
            <a:endParaRPr lang="en-US" sz="1300" dirty="0"/>
          </a:p>
        </p:txBody>
      </p:sp>
      <p:sp>
        <p:nvSpPr>
          <p:cNvPr id="15" name="741325ac-08a8-4903-939a-627d91ad1f57"/>
          <p:cNvSpPr/>
          <p:nvPr/>
        </p:nvSpPr>
        <p:spPr>
          <a:xfrm>
            <a:off x="2834640" y="2796581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DeveloperRead</a:t>
            </a:r>
            <a:endParaRPr lang="en-US" sz="1050" dirty="0"/>
          </a:p>
        </p:txBody>
      </p:sp>
      <p:pic>
        <p:nvPicPr>
          <p:cNvPr id="16" name="b6a41f7b-da3e-4193-bba5-f7ded70680d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88" y="2855976"/>
            <a:ext cx="365760" cy="365760"/>
          </a:xfrm>
          <a:prstGeom prst="rect">
            <a:avLst/>
          </a:prstGeom>
        </p:spPr>
      </p:pic>
      <p:pic>
        <p:nvPicPr>
          <p:cNvPr id="17" name="1d162db5-2d92-43c1-abf2-56f559f0622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9248" y="2855976"/>
            <a:ext cx="365760" cy="365760"/>
          </a:xfrm>
          <a:prstGeom prst="rect">
            <a:avLst/>
          </a:prstGeom>
        </p:spPr>
      </p:pic>
      <p:pic>
        <p:nvPicPr>
          <p:cNvPr id="18" name="4485714e-3afc-4351-bc7a-510eeaf13dc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8008" y="2855976"/>
            <a:ext cx="365760" cy="365760"/>
          </a:xfrm>
          <a:prstGeom prst="rect">
            <a:avLst/>
          </a:prstGeom>
        </p:spPr>
      </p:pic>
      <p:pic>
        <p:nvPicPr>
          <p:cNvPr id="19" name="c9856351-e2b5-4f7e-9a85-74b83232bd6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6768" y="2855976"/>
            <a:ext cx="365760" cy="365760"/>
          </a:xfrm>
          <a:prstGeom prst="rect">
            <a:avLst/>
          </a:prstGeom>
        </p:spPr>
      </p:pic>
      <p:sp>
        <p:nvSpPr>
          <p:cNvPr id="20" name="54f9f5d8-8c70-4cc3-92c5-3ac92e29973e"/>
          <p:cNvSpPr/>
          <p:nvPr/>
        </p:nvSpPr>
        <p:spPr>
          <a:xfrm>
            <a:off x="548640" y="3373559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1" name="e924cddc-b478-4b31-812c-3af45588b217"/>
          <p:cNvSpPr/>
          <p:nvPr/>
        </p:nvSpPr>
        <p:spPr>
          <a:xfrm>
            <a:off x="731520" y="3407499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kafka-ops</a:t>
            </a:r>
            <a:endParaRPr lang="en-US" sz="1300" dirty="0"/>
          </a:p>
        </p:txBody>
      </p:sp>
      <p:sp>
        <p:nvSpPr>
          <p:cNvPr id="22" name="d714058f-4643-4869-aecb-7a9d5d476f3f"/>
          <p:cNvSpPr/>
          <p:nvPr/>
        </p:nvSpPr>
        <p:spPr>
          <a:xfrm>
            <a:off x="2834640" y="3407499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Operator + DeveloperManage(infra. 前綴)</a:t>
            </a:r>
            <a:endParaRPr lang="en-US" sz="1050" dirty="0"/>
          </a:p>
        </p:txBody>
      </p:sp>
      <p:pic>
        <p:nvPicPr>
          <p:cNvPr id="23" name="61e5628a-d5e5-4565-9e05-2bef38be737c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0488" y="3466894"/>
            <a:ext cx="365760" cy="365760"/>
          </a:xfrm>
          <a:prstGeom prst="rect">
            <a:avLst/>
          </a:prstGeom>
        </p:spPr>
      </p:pic>
      <p:pic>
        <p:nvPicPr>
          <p:cNvPr id="24" name="a4fd7f61-38c4-4eee-a6f2-fbaf09b43fec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9248" y="3466894"/>
            <a:ext cx="365760" cy="365760"/>
          </a:xfrm>
          <a:prstGeom prst="rect">
            <a:avLst/>
          </a:prstGeom>
        </p:spPr>
      </p:pic>
      <p:pic>
        <p:nvPicPr>
          <p:cNvPr id="25" name="04cbda3e-b6dc-4517-87ed-edaf2932f41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8008" y="3466894"/>
            <a:ext cx="365760" cy="365760"/>
          </a:xfrm>
          <a:prstGeom prst="rect">
            <a:avLst/>
          </a:prstGeom>
        </p:spPr>
      </p:pic>
      <p:pic>
        <p:nvPicPr>
          <p:cNvPr id="26" name="c23fb80b-e1dd-46d8-9d46-fed764225aa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6768" y="3466894"/>
            <a:ext cx="365760" cy="365760"/>
          </a:xfrm>
          <a:prstGeom prst="rect">
            <a:avLst/>
          </a:prstGeom>
        </p:spPr>
      </p:pic>
      <p:sp>
        <p:nvSpPr>
          <p:cNvPr id="27" name="2a02fc3e-7586-4e83-a8da-5898e72e74e7"/>
          <p:cNvSpPr/>
          <p:nvPr/>
        </p:nvSpPr>
        <p:spPr>
          <a:xfrm>
            <a:off x="548640" y="3984477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8" name="6a29e69e-c1cc-4528-bac3-1be04173e255"/>
          <p:cNvSpPr/>
          <p:nvPr/>
        </p:nvSpPr>
        <p:spPr>
          <a:xfrm>
            <a:off x="731520" y="4018417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3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kafka-rbac-admins</a:t>
            </a:r>
            <a:endParaRPr lang="en-US" sz="1300" dirty="0"/>
          </a:p>
        </p:txBody>
      </p:sp>
      <p:sp>
        <p:nvSpPr>
          <p:cNvPr id="29" name="595c8473-ca85-4690-989b-997d60216bb3"/>
          <p:cNvSpPr/>
          <p:nvPr/>
        </p:nvSpPr>
        <p:spPr>
          <a:xfrm>
            <a:off x="2834640" y="4018417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UserAdmin</a:t>
            </a:r>
            <a:endParaRPr lang="en-US" sz="1050" dirty="0"/>
          </a:p>
        </p:txBody>
      </p:sp>
      <p:pic>
        <p:nvPicPr>
          <p:cNvPr id="30" name="eaefda59-bc4d-4c49-be65-2956b98d3ce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0488" y="4077812"/>
            <a:ext cx="365760" cy="365760"/>
          </a:xfrm>
          <a:prstGeom prst="rect">
            <a:avLst/>
          </a:prstGeom>
        </p:spPr>
      </p:pic>
      <p:pic>
        <p:nvPicPr>
          <p:cNvPr id="31" name="4bd325f8-48d5-4a1b-ae03-f68885a6065a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9248" y="4077812"/>
            <a:ext cx="365760" cy="365760"/>
          </a:xfrm>
          <a:prstGeom prst="rect">
            <a:avLst/>
          </a:prstGeom>
        </p:spPr>
      </p:pic>
      <p:pic>
        <p:nvPicPr>
          <p:cNvPr id="32" name="31fa1353-e244-4552-a2dd-5f1ed8bf157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8008" y="4077812"/>
            <a:ext cx="365760" cy="365760"/>
          </a:xfrm>
          <a:prstGeom prst="rect">
            <a:avLst/>
          </a:prstGeom>
        </p:spPr>
      </p:pic>
      <p:pic>
        <p:nvPicPr>
          <p:cNvPr id="33" name="109d6628-82b6-4d05-8740-a12be2d9d46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4077812"/>
            <a:ext cx="365760" cy="365760"/>
          </a:xfrm>
          <a:prstGeom prst="rect">
            <a:avLst/>
          </a:prstGeom>
        </p:spPr>
      </p:pic>
      <p:sp>
        <p:nvSpPr>
          <p:cNvPr id="34" name="be29c5de-f2f0-4d9a-a32d-04bd1cfa0a1a"/>
          <p:cNvSpPr/>
          <p:nvPr/>
        </p:nvSpPr>
        <p:spPr>
          <a:xfrm>
            <a:off x="548640" y="4595395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35" name="fc53506f-5c6b-4fed-b5f6-0cac976b5e1c"/>
          <p:cNvSpPr/>
          <p:nvPr/>
        </p:nvSpPr>
        <p:spPr>
          <a:xfrm>
            <a:off x="731520" y="4629335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3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kafka-admins</a:t>
            </a:r>
            <a:endParaRPr lang="en-US" sz="1300" dirty="0"/>
          </a:p>
        </p:txBody>
      </p:sp>
      <p:sp>
        <p:nvSpPr>
          <p:cNvPr id="36" name="8fba0b50-dc38-4922-9bb8-ee45441c8da6"/>
          <p:cNvSpPr/>
          <p:nvPr/>
        </p:nvSpPr>
        <p:spPr>
          <a:xfrm>
            <a:off x="2834640" y="4629335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SystemAdmin(break-glass)</a:t>
            </a:r>
            <a:endParaRPr lang="en-US" sz="1050" dirty="0"/>
          </a:p>
        </p:txBody>
      </p:sp>
      <p:pic>
        <p:nvPicPr>
          <p:cNvPr id="37" name="090835ad-871f-4765-bb56-1c9a1624a20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88" y="4688730"/>
            <a:ext cx="365760" cy="365760"/>
          </a:xfrm>
          <a:prstGeom prst="rect">
            <a:avLst/>
          </a:prstGeom>
        </p:spPr>
      </p:pic>
      <p:pic>
        <p:nvPicPr>
          <p:cNvPr id="38" name="97f98dd1-4959-479b-8843-755dffbda8f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9248" y="4688730"/>
            <a:ext cx="365760" cy="365760"/>
          </a:xfrm>
          <a:prstGeom prst="rect">
            <a:avLst/>
          </a:prstGeom>
        </p:spPr>
      </p:pic>
      <p:pic>
        <p:nvPicPr>
          <p:cNvPr id="39" name="2997a5ce-8810-4729-8fa3-01a2069901ca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8008" y="4688730"/>
            <a:ext cx="365760" cy="365760"/>
          </a:xfrm>
          <a:prstGeom prst="rect">
            <a:avLst/>
          </a:prstGeom>
        </p:spPr>
      </p:pic>
      <p:pic>
        <p:nvPicPr>
          <p:cNvPr id="40" name="e02d03cd-7c8b-4767-8800-53fd1776c13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4688730"/>
            <a:ext cx="365760" cy="365760"/>
          </a:xfrm>
          <a:prstGeom prst="rect">
            <a:avLst/>
          </a:prstGeom>
        </p:spPr>
      </p:pic>
      <p:sp>
        <p:nvSpPr>
          <p:cNvPr id="41" name="ff0b2334-7772-4c3a-b160-af69cf574eb1"/>
          <p:cNvSpPr/>
          <p:nvPr/>
        </p:nvSpPr>
        <p:spPr>
          <a:xfrm>
            <a:off x="2971800" y="5460863"/>
            <a:ext cx="36576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42" name="c01d30e2-6bca-4b75-8a63-2fcfef50a421"/>
          <p:cNvSpPr/>
          <p:nvPr/>
        </p:nvSpPr>
        <p:spPr>
          <a:xfrm>
            <a:off x="548640" y="5206314"/>
            <a:ext cx="2423160" cy="509098"/>
          </a:xfrm>
          <a:prstGeom prst="roundRect">
            <a:avLst>
              <a:gd name="adj" fmla="val 36000"/>
            </a:avLst>
          </a:prstGeom>
          <a:solidFill>
            <a:srgbClr val="156082">
              <a:alpha val="15000"/>
            </a:srgbClr>
          </a:solidFill>
          <a:ln w="1905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marL="0" indent="0" algn="ctr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加入群組</a:t>
            </a:r>
            <a:endParaRPr lang="en-US" sz="1400" dirty="0"/>
          </a:p>
        </p:txBody>
      </p:sp>
      <p:sp>
        <p:nvSpPr>
          <p:cNvPr id="43" name="86b51cf6-8817-4a46-bf74-58e50d169cb3"/>
          <p:cNvSpPr/>
          <p:nvPr/>
        </p:nvSpPr>
        <p:spPr>
          <a:xfrm>
            <a:off x="5760720" y="5460863"/>
            <a:ext cx="36576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44" name="4fa9d64a-e0fe-40a5-8378-cbf8aa980f8e"/>
          <p:cNvSpPr/>
          <p:nvPr/>
        </p:nvSpPr>
        <p:spPr>
          <a:xfrm>
            <a:off x="3337560" y="5206314"/>
            <a:ext cx="2423160" cy="509098"/>
          </a:xfrm>
          <a:prstGeom prst="roundRect">
            <a:avLst>
              <a:gd name="adj" fmla="val 36000"/>
            </a:avLst>
          </a:prstGeom>
          <a:solidFill>
            <a:srgbClr val="156082">
              <a:alpha val="15000"/>
            </a:srgbClr>
          </a:solidFill>
          <a:ln w="1905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marL="0" indent="0" algn="ctr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做事</a:t>
            </a:r>
            <a:endParaRPr lang="en-US" sz="1400" dirty="0"/>
          </a:p>
        </p:txBody>
      </p:sp>
      <p:sp>
        <p:nvSpPr>
          <p:cNvPr id="45" name="2e7cabb5-ca21-442a-abd8-784bdb7a35ac"/>
          <p:cNvSpPr/>
          <p:nvPr/>
        </p:nvSpPr>
        <p:spPr>
          <a:xfrm>
            <a:off x="8549640" y="5460863"/>
            <a:ext cx="36576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46" name="4e54d9e6-42ce-42fd-a3f7-699c86d0410f"/>
          <p:cNvSpPr/>
          <p:nvPr/>
        </p:nvSpPr>
        <p:spPr>
          <a:xfrm>
            <a:off x="6126480" y="5206314"/>
            <a:ext cx="2423160" cy="509098"/>
          </a:xfrm>
          <a:prstGeom prst="roundRect">
            <a:avLst>
              <a:gd name="adj" fmla="val 36000"/>
            </a:avLst>
          </a:prstGeom>
          <a:solidFill>
            <a:srgbClr val="156082">
              <a:alpha val="15000"/>
            </a:srgbClr>
          </a:solidFill>
          <a:ln w="1905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marL="0" indent="0" algn="ctr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移出群組</a:t>
            </a:r>
            <a:endParaRPr lang="en-US" sz="1400" dirty="0"/>
          </a:p>
        </p:txBody>
      </p:sp>
      <p:sp>
        <p:nvSpPr>
          <p:cNvPr id="47" name="005355f8-a3cf-43e7-87b1-1407acb0a6ea"/>
          <p:cNvSpPr/>
          <p:nvPr/>
        </p:nvSpPr>
        <p:spPr>
          <a:xfrm>
            <a:off x="8915400" y="5206314"/>
            <a:ext cx="2423160" cy="509098"/>
          </a:xfrm>
          <a:prstGeom prst="roundRect">
            <a:avLst>
              <a:gd name="adj" fmla="val 36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marL="0" indent="0"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全程留痕</a:t>
            </a:r>
            <a:endParaRPr lang="en-US" sz="1400" dirty="0"/>
          </a:p>
        </p:txBody>
      </p:sp>
      <p:sp>
        <p:nvSpPr>
          <p:cNvPr id="48" name="07acd99d-0ab0-456b-a862-7b54dd97cdcd"/>
          <p:cNvSpPr/>
          <p:nvPr/>
        </p:nvSpPr>
        <p:spPr>
          <a:xfrm>
            <a:off x="548640" y="5842686"/>
            <a:ext cx="11091672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臨時提權:依單據加進 kafka-ops / kafka-rbac-admins,做完移出;移出後最長約 60 秒(預設刷新)才收回,Kafka 端零變更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服務帳號用 SCRAM,同帳號改密碼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帳密存在 Kafka 內,不放 AD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6</a:t>
            </a:fld>
            <a:endParaRPr lang="zh-TW" altLang="en-US" sz="900"/>
          </a:p>
        </p:txBody>
      </p:sp>
      <p:sp>
        <p:nvSpPr>
          <p:cNvPr id="2" name="01f6ec3b-a367-482e-a430-87e0946e7334"/>
          <p:cNvSpPr/>
          <p:nvPr/>
        </p:nvSpPr>
        <p:spPr>
          <a:xfrm>
            <a:off x="548640" y="1685050"/>
            <a:ext cx="3520440" cy="1612145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27" name="de844f83-a051-4eda-982d-d0a7326a6800"/>
          <p:cNvSpPr/>
          <p:nvPr/>
        </p:nvSpPr>
        <p:spPr>
          <a:xfrm>
            <a:off x="2034540" y="18123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28" name="0b7ed08a-b5f0-4add-8298-22bcbbdad05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241" y="1924326"/>
            <a:ext cx="307238" cy="307238"/>
          </a:xfrm>
          <a:prstGeom prst="rect">
            <a:avLst/>
          </a:prstGeom>
        </p:spPr>
      </p:pic>
      <p:sp>
        <p:nvSpPr>
          <p:cNvPr id="5" name="a653d0b3-4916-4a50-bbef-3203098dd040"/>
          <p:cNvSpPr/>
          <p:nvPr/>
        </p:nvSpPr>
        <p:spPr>
          <a:xfrm>
            <a:off x="621792" y="240627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5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帳密存在 Kafka 內</a:t>
            </a:r>
            <a:endParaRPr lang="en-US" sz="1500" dirty="0"/>
          </a:p>
        </p:txBody>
      </p:sp>
      <p:sp>
        <p:nvSpPr>
          <p:cNvPr id="29" name="35e2934f-c556-4ecb-a1fd-898ca3d519c5"/>
          <p:cNvSpPr/>
          <p:nvPr/>
        </p:nvSpPr>
        <p:spPr>
          <a:xfrm>
            <a:off x="640080" y="2788096"/>
            <a:ext cx="333756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不放 AD</a:t>
            </a:r>
            <a:endParaRPr lang="en-US" sz="1200" dirty="0"/>
          </a:p>
        </p:txBody>
      </p:sp>
      <p:sp>
        <p:nvSpPr>
          <p:cNvPr id="7" name="0fc2e08a-005e-4033-8642-237a7aa66f86"/>
          <p:cNvSpPr/>
          <p:nvPr/>
        </p:nvSpPr>
        <p:spPr>
          <a:xfrm>
            <a:off x="4325112" y="1685050"/>
            <a:ext cx="3520440" cy="1612145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30" name="456bc372-b54a-43e8-a489-fc886702e6e6"/>
          <p:cNvSpPr/>
          <p:nvPr/>
        </p:nvSpPr>
        <p:spPr>
          <a:xfrm>
            <a:off x="5811012" y="18123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9" name="027eab5c-154b-41f4-ab0a-eb537f20028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1713" y="1924326"/>
            <a:ext cx="307238" cy="307238"/>
          </a:xfrm>
          <a:prstGeom prst="rect">
            <a:avLst/>
          </a:prstGeom>
        </p:spPr>
      </p:pic>
      <p:sp>
        <p:nvSpPr>
          <p:cNvPr id="10" name="0b7f9797-0662-48f3-99f9-b11cf8630f6a"/>
          <p:cNvSpPr/>
          <p:nvPr/>
        </p:nvSpPr>
        <p:spPr>
          <a:xfrm>
            <a:off x="4398264" y="240627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5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密碼不會自動到期</a:t>
            </a:r>
            <a:endParaRPr lang="en-US" sz="1500" dirty="0"/>
          </a:p>
        </p:txBody>
      </p:sp>
      <p:sp>
        <p:nvSpPr>
          <p:cNvPr id="11" name="05f33637-3f41-4e8f-bbeb-edff9fdd76a8"/>
          <p:cNvSpPr/>
          <p:nvPr/>
        </p:nvSpPr>
        <p:spPr>
          <a:xfrm>
            <a:off x="4416552" y="2788096"/>
            <a:ext cx="333756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要有輪替流程</a:t>
            </a:r>
            <a:endParaRPr lang="en-US" sz="1200" dirty="0"/>
          </a:p>
        </p:txBody>
      </p:sp>
      <p:sp>
        <p:nvSpPr>
          <p:cNvPr id="12" name="85a7b172-181c-4560-b6e5-3f7cb25b3e99"/>
          <p:cNvSpPr/>
          <p:nvPr/>
        </p:nvSpPr>
        <p:spPr>
          <a:xfrm>
            <a:off x="8101584" y="1685050"/>
            <a:ext cx="3538728" cy="161214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3" name="5f7da0e6-d3e5-464a-9102-8c16a87a736a"/>
          <p:cNvSpPr/>
          <p:nvPr/>
        </p:nvSpPr>
        <p:spPr>
          <a:xfrm>
            <a:off x="9596628" y="18123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4" name="3ab53e64-b01d-49bf-a957-73b44821b28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7329" y="1924326"/>
            <a:ext cx="307238" cy="307238"/>
          </a:xfrm>
          <a:prstGeom prst="rect">
            <a:avLst/>
          </a:prstGeom>
        </p:spPr>
      </p:pic>
      <p:sp>
        <p:nvSpPr>
          <p:cNvPr id="15" name="7795970d-4420-4a6a-a44d-4d33a5531f6a"/>
          <p:cNvSpPr/>
          <p:nvPr/>
        </p:nvSpPr>
        <p:spPr>
          <a:xfrm>
            <a:off x="8174736" y="2406272"/>
            <a:ext cx="3392424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SCRAM 搭配 TLS</a:t>
            </a:r>
            <a:endParaRPr lang="en-US" sz="1500" dirty="0"/>
          </a:p>
        </p:txBody>
      </p:sp>
      <p:sp>
        <p:nvSpPr>
          <p:cNvPr id="16" name="5e9eaa8c-121d-4a15-9f8b-06887d8d92d7"/>
          <p:cNvSpPr/>
          <p:nvPr/>
        </p:nvSpPr>
        <p:spPr>
          <a:xfrm>
            <a:off x="8193024" y="2788096"/>
            <a:ext cx="3355848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KRaft 放在私有網路</a:t>
            </a:r>
            <a:endParaRPr lang="en-US" sz="1200" dirty="0"/>
          </a:p>
        </p:txBody>
      </p:sp>
      <p:sp>
        <p:nvSpPr>
          <p:cNvPr id="17" name="d9897abb-cc43-4131-a20d-d2e81f6e3de1"/>
          <p:cNvSpPr/>
          <p:nvPr/>
        </p:nvSpPr>
        <p:spPr>
          <a:xfrm>
            <a:off x="548640" y="3551744"/>
            <a:ext cx="11091672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輪替:同帳號改密碼</a:t>
            </a:r>
            <a:endParaRPr lang="en-US" sz="1400" dirty="0"/>
          </a:p>
        </p:txBody>
      </p:sp>
      <p:sp>
        <p:nvSpPr>
          <p:cNvPr id="18" name="047cc456-da16-448d-b3d7-ff6e9ba7f7ac"/>
          <p:cNvSpPr/>
          <p:nvPr/>
        </p:nvSpPr>
        <p:spPr>
          <a:xfrm>
            <a:off x="548640" y="3933568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Kafka 端改密碼</a:t>
            </a:r>
            <a:endParaRPr lang="en-US" sz="1200" dirty="0"/>
          </a:p>
        </p:txBody>
      </p:sp>
      <p:sp>
        <p:nvSpPr>
          <p:cNvPr id="19" name="63adfb6c-c01b-4da5-aa9e-db05ffe9677e"/>
          <p:cNvSpPr/>
          <p:nvPr/>
        </p:nvSpPr>
        <p:spPr>
          <a:xfrm>
            <a:off x="3063240" y="4111752"/>
            <a:ext cx="34747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20" name="29d99696-106b-4dd8-93b8-42dbd8699ee8"/>
          <p:cNvSpPr/>
          <p:nvPr/>
        </p:nvSpPr>
        <p:spPr>
          <a:xfrm>
            <a:off x="3410712" y="3933568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client 換新密碼並重啟</a:t>
            </a:r>
            <a:endParaRPr lang="en-US" sz="1200" dirty="0"/>
          </a:p>
        </p:txBody>
      </p:sp>
      <p:sp>
        <p:nvSpPr>
          <p:cNvPr id="21" name="7eef8164-c309-4a47-a80d-6cdbdfd6415e"/>
          <p:cNvSpPr/>
          <p:nvPr/>
        </p:nvSpPr>
        <p:spPr>
          <a:xfrm>
            <a:off x="5925312" y="4111752"/>
            <a:ext cx="34747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22" name="8ec46ee6-1d62-42ed-8473-62d2eba65a69"/>
          <p:cNvSpPr/>
          <p:nvPr/>
        </p:nvSpPr>
        <p:spPr>
          <a:xfrm>
            <a:off x="6272784" y="3933568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③ 驗證新密碼可用</a:t>
            </a:r>
            <a:endParaRPr lang="en-US" sz="1200" dirty="0"/>
          </a:p>
        </p:txBody>
      </p:sp>
      <p:sp>
        <p:nvSpPr>
          <p:cNvPr id="23" name="dc0974b6-aa5c-4572-ac40-400a75caccfd"/>
          <p:cNvSpPr/>
          <p:nvPr/>
        </p:nvSpPr>
        <p:spPr>
          <a:xfrm>
            <a:off x="8787384" y="4111752"/>
            <a:ext cx="34747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24" name="ddd1f8ee-807e-457b-b096-fd3db85bb3f9"/>
          <p:cNvSpPr/>
          <p:nvPr/>
        </p:nvSpPr>
        <p:spPr>
          <a:xfrm>
            <a:off x="9134856" y="3933568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④ 驗證舊密碼已失效</a:t>
            </a:r>
            <a:endParaRPr lang="en-US" sz="1200" dirty="0"/>
          </a:p>
        </p:txBody>
      </p:sp>
      <p:sp>
        <p:nvSpPr>
          <p:cNvPr id="25" name="a45bd456-3fda-46d8-8ff0-1339ae167aae"/>
          <p:cNvSpPr/>
          <p:nvPr/>
        </p:nvSpPr>
        <p:spPr>
          <a:xfrm>
            <a:off x="548640" y="4654790"/>
            <a:ext cx="11091672" cy="593948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marL="0" indent="0" algn="ctr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舊密碼對新連線立即失效;已連線的 client 不受影響,改完立刻換 client</a:t>
            </a:r>
            <a:endParaRPr lang="en-US" sz="1400" dirty="0"/>
          </a:p>
        </p:txBody>
      </p:sp>
      <p:sp>
        <p:nvSpPr>
          <p:cNvPr id="26" name="6b9fcbfa-b9f5-432f-9c50-39a6d8585071"/>
          <p:cNvSpPr/>
          <p:nvPr/>
        </p:nvSpPr>
        <p:spPr>
          <a:xfrm>
            <a:off x="548640" y="5460863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2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不能有失敗窗口的服務:改用新帳號並行(client 要改帳號、role 要重綁)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legacy app 用憑證換 token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經 REST Proxy,身分一路傳到 broker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7</a:t>
            </a:fld>
            <a:endParaRPr lang="zh-TW" altLang="en-US" sz="900"/>
          </a:p>
        </p:txBody>
      </p:sp>
      <p:sp>
        <p:nvSpPr>
          <p:cNvPr id="2" name="9936ca03-890f-4558-9bc6-432bdd0a2d06"/>
          <p:cNvSpPr/>
          <p:nvPr/>
        </p:nvSpPr>
        <p:spPr>
          <a:xfrm>
            <a:off x="548640" y="1854749"/>
            <a:ext cx="2240280" cy="1696995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28" name="fa67ce05-07bb-4170-b66a-8d59fe778654"/>
          <p:cNvSpPr/>
          <p:nvPr/>
        </p:nvSpPr>
        <p:spPr>
          <a:xfrm>
            <a:off x="1394460" y="19820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29" name="7f5a3d14-2fa4-467d-ada3-2fdac5d587f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5161" y="2094025"/>
            <a:ext cx="307238" cy="307238"/>
          </a:xfrm>
          <a:prstGeom prst="rect">
            <a:avLst/>
          </a:prstGeom>
        </p:spPr>
      </p:pic>
      <p:sp>
        <p:nvSpPr>
          <p:cNvPr id="5" name="2370ac06-ca36-4378-a2d3-f321cbfac02c"/>
          <p:cNvSpPr/>
          <p:nvPr/>
        </p:nvSpPr>
        <p:spPr>
          <a:xfrm>
            <a:off x="621792" y="2575972"/>
            <a:ext cx="209397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5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</a:t>
            </a:r>
            <a:endParaRPr lang="en-US" sz="1500" dirty="0"/>
          </a:p>
        </p:txBody>
      </p:sp>
      <p:sp>
        <p:nvSpPr>
          <p:cNvPr id="30" name="5c52e8b0-89d9-46b7-8289-fc4437f09e27"/>
          <p:cNvSpPr/>
          <p:nvPr/>
        </p:nvSpPr>
        <p:spPr>
          <a:xfrm>
            <a:off x="640080" y="2957796"/>
            <a:ext cx="2057400" cy="551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出示 client 憑證</a:t>
            </a:r>
            <a:endParaRPr lang="en-US" sz="1200" dirty="0"/>
          </a:p>
        </p:txBody>
      </p:sp>
      <p:sp>
        <p:nvSpPr>
          <p:cNvPr id="7" name="0daac5ef-7f77-4d07-a8cd-8a429350caec"/>
          <p:cNvSpPr/>
          <p:nvPr/>
        </p:nvSpPr>
        <p:spPr>
          <a:xfrm>
            <a:off x="2788920" y="2703246"/>
            <a:ext cx="6400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31" name="b75e8fe4-a9d7-45f6-9121-9c165a436732"/>
          <p:cNvSpPr/>
          <p:nvPr/>
        </p:nvSpPr>
        <p:spPr>
          <a:xfrm>
            <a:off x="3429000" y="1854749"/>
            <a:ext cx="2240280" cy="169699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9" name="866f996b-f173-4c0d-bdef-5fc7b3c5bc78"/>
          <p:cNvSpPr/>
          <p:nvPr/>
        </p:nvSpPr>
        <p:spPr>
          <a:xfrm>
            <a:off x="4274820" y="19820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0" name="c3a9c09f-189c-4786-98e2-ea12c4f1c3da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5521" y="2094025"/>
            <a:ext cx="307238" cy="307238"/>
          </a:xfrm>
          <a:prstGeom prst="rect">
            <a:avLst/>
          </a:prstGeom>
        </p:spPr>
      </p:pic>
      <p:sp>
        <p:nvSpPr>
          <p:cNvPr id="11" name="57d9c40a-ea3a-4baa-8062-fe254cad900e"/>
          <p:cNvSpPr/>
          <p:nvPr/>
        </p:nvSpPr>
        <p:spPr>
          <a:xfrm>
            <a:off x="3502152" y="2575972"/>
            <a:ext cx="209397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500" dirty="0"/>
          </a:p>
        </p:txBody>
      </p:sp>
      <p:sp>
        <p:nvSpPr>
          <p:cNvPr id="12" name="d55b2656-e6b6-41fd-bb7a-6450b4d172f5"/>
          <p:cNvSpPr/>
          <p:nvPr/>
        </p:nvSpPr>
        <p:spPr>
          <a:xfrm>
            <a:off x="3520440" y="2957796"/>
            <a:ext cx="2057400" cy="551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憑證 CN → 主體</a:t>
            </a:r>
            <a:endParaRPr lang="en-US" sz="1200" dirty="0"/>
          </a:p>
        </p:txBody>
      </p:sp>
      <p:sp>
        <p:nvSpPr>
          <p:cNvPr id="13" name="06ff1b38-90cc-4bf8-acc8-1a6ea3928ffe"/>
          <p:cNvSpPr/>
          <p:nvPr/>
        </p:nvSpPr>
        <p:spPr>
          <a:xfrm>
            <a:off x="5669280" y="2703246"/>
            <a:ext cx="6400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4" name="c88d5946-e615-4f7a-a6a5-0c6f43da5c62"/>
          <p:cNvSpPr/>
          <p:nvPr/>
        </p:nvSpPr>
        <p:spPr>
          <a:xfrm>
            <a:off x="6309360" y="1854749"/>
            <a:ext cx="2240280" cy="1696995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15" name="39e2dae5-d053-436b-b41b-ddd1315f3ecd"/>
          <p:cNvSpPr/>
          <p:nvPr/>
        </p:nvSpPr>
        <p:spPr>
          <a:xfrm>
            <a:off x="7155180" y="19820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16" name="34e1908b-c523-44e2-ba14-b86f1523377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5881" y="2094025"/>
            <a:ext cx="307238" cy="307238"/>
          </a:xfrm>
          <a:prstGeom prst="rect">
            <a:avLst/>
          </a:prstGeom>
        </p:spPr>
      </p:pic>
      <p:sp>
        <p:nvSpPr>
          <p:cNvPr id="17" name="73aca141-018d-44d9-a905-e1627300aed9"/>
          <p:cNvSpPr/>
          <p:nvPr/>
        </p:nvSpPr>
        <p:spPr>
          <a:xfrm>
            <a:off x="6382512" y="2575972"/>
            <a:ext cx="209397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</a:t>
            </a:r>
            <a:endParaRPr lang="en-US" sz="1500" dirty="0"/>
          </a:p>
        </p:txBody>
      </p:sp>
      <p:sp>
        <p:nvSpPr>
          <p:cNvPr id="18" name="a14cf98e-1340-4c62-adc0-2918f0e341a8"/>
          <p:cNvSpPr/>
          <p:nvPr/>
        </p:nvSpPr>
        <p:spPr>
          <a:xfrm>
            <a:off x="6400800" y="2957796"/>
            <a:ext cx="2057400" cy="551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代為申請 token</a:t>
            </a:r>
            <a:endParaRPr lang="en-US" sz="1200" dirty="0"/>
          </a:p>
        </p:txBody>
      </p:sp>
      <p:sp>
        <p:nvSpPr>
          <p:cNvPr id="19" name="c79cf35b-4318-4d81-9679-d018df165a6d"/>
          <p:cNvSpPr/>
          <p:nvPr/>
        </p:nvSpPr>
        <p:spPr>
          <a:xfrm>
            <a:off x="8549640" y="2703246"/>
            <a:ext cx="64008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0" name="0214020d-2c0c-4009-ad94-c74fa2787604"/>
          <p:cNvSpPr/>
          <p:nvPr/>
        </p:nvSpPr>
        <p:spPr>
          <a:xfrm>
            <a:off x="9189720" y="1854749"/>
            <a:ext cx="2240280" cy="1696995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1" name="b67f37cf-de28-4e60-828d-cff1f6ff556e"/>
          <p:cNvSpPr/>
          <p:nvPr/>
        </p:nvSpPr>
        <p:spPr>
          <a:xfrm>
            <a:off x="10035540" y="19820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22" name="9d41e166-22aa-4e43-a676-3e3ac72f831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56241" y="2094025"/>
            <a:ext cx="307238" cy="307238"/>
          </a:xfrm>
          <a:prstGeom prst="rect">
            <a:avLst/>
          </a:prstGeom>
        </p:spPr>
      </p:pic>
      <p:sp>
        <p:nvSpPr>
          <p:cNvPr id="23" name="3af996f8-b6d3-48ae-a983-2a571a0ec1b6"/>
          <p:cNvSpPr/>
          <p:nvPr/>
        </p:nvSpPr>
        <p:spPr>
          <a:xfrm>
            <a:off x="9262872" y="2575972"/>
            <a:ext cx="209397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5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500" dirty="0"/>
          </a:p>
        </p:txBody>
      </p:sp>
      <p:sp>
        <p:nvSpPr>
          <p:cNvPr id="24" name="18ca80b7-e20c-4ed6-a8cf-d90cc6556355"/>
          <p:cNvSpPr/>
          <p:nvPr/>
        </p:nvSpPr>
        <p:spPr>
          <a:xfrm>
            <a:off x="9281160" y="2957796"/>
            <a:ext cx="2057400" cy="551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驗章,依 token 授權</a:t>
            </a:r>
            <a:endParaRPr lang="en-US" sz="1200" dirty="0"/>
          </a:p>
        </p:txBody>
      </p:sp>
      <p:sp>
        <p:nvSpPr>
          <p:cNvPr id="25" name="a20abaea-7dc8-4bb9-843c-b3c6d3802bc2"/>
          <p:cNvSpPr/>
          <p:nvPr/>
        </p:nvSpPr>
        <p:spPr>
          <a:xfrm>
            <a:off x="548640" y="3975992"/>
            <a:ext cx="11091672" cy="42424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人走 Basic(AD 帳密)經 REST Proxy,不用憑證</a:t>
            </a:r>
            <a:endParaRPr lang="en-US" sz="1300" dirty="0"/>
          </a:p>
        </p:txBody>
      </p:sp>
      <p:sp>
        <p:nvSpPr>
          <p:cNvPr id="26" name="2c05fb40-2f44-428b-8e9a-1d739a4c86cf"/>
          <p:cNvSpPr/>
          <p:nvPr/>
        </p:nvSpPr>
        <p:spPr>
          <a:xfrm>
            <a:off x="548640" y="4527516"/>
            <a:ext cx="11091672" cy="42424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3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憑證身分只能綁 User:,不能綁群組</a:t>
            </a:r>
            <a:endParaRPr lang="en-US" sz="1300" dirty="0"/>
          </a:p>
        </p:txBody>
      </p:sp>
      <p:sp>
        <p:nvSpPr>
          <p:cNvPr id="27" name="94c8248f-2288-418a-baa4-0bd1c1479f14"/>
          <p:cNvSpPr/>
          <p:nvPr/>
        </p:nvSpPr>
        <p:spPr>
          <a:xfrm>
            <a:off x="548640" y="5079039"/>
            <a:ext cx="11091672" cy="42424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3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restproxy 憑證可代人:特權身分要列入保護清單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C3:人用本人身分,背景用憑證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兩種操作,兩種身分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8</a:t>
            </a:fld>
            <a:endParaRPr lang="zh-TW" altLang="en-US" sz="900"/>
          </a:p>
        </p:txBody>
      </p:sp>
      <p:sp>
        <p:nvSpPr>
          <p:cNvPr id="2" name="4d8c7413-5d55-45da-a755-c1dee11dbc71"/>
          <p:cNvSpPr/>
          <p:nvPr/>
        </p:nvSpPr>
        <p:spPr>
          <a:xfrm>
            <a:off x="548640" y="1769899"/>
            <a:ext cx="5440680" cy="2206093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4" name="16ddda41-8a68-4ef8-a734-846f1ef5e24e"/>
          <p:cNvSpPr/>
          <p:nvPr/>
        </p:nvSpPr>
        <p:spPr>
          <a:xfrm>
            <a:off x="777240" y="1939599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5" name="293382d8-0e90-4611-942c-078835b62da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174" y="2088934"/>
            <a:ext cx="409651" cy="409651"/>
          </a:xfrm>
          <a:prstGeom prst="rect">
            <a:avLst/>
          </a:prstGeom>
        </p:spPr>
      </p:pic>
      <p:sp>
        <p:nvSpPr>
          <p:cNvPr id="5" name="01560f07-450a-4222-9dee-9cc45eb2c68b"/>
          <p:cNvSpPr/>
          <p:nvPr/>
        </p:nvSpPr>
        <p:spPr>
          <a:xfrm>
            <a:off x="1691640" y="2024449"/>
            <a:ext cx="411480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altLang="en-US" sz="2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使用者操作</a:t>
            </a:r>
            <a:endParaRPr lang="en-US" sz="2000" dirty="0"/>
          </a:p>
        </p:txBody>
      </p:sp>
      <p:sp>
        <p:nvSpPr>
          <p:cNvPr id="16" name="7cce7c0f-aead-4ef8-a04d-7e06d93fe8fa"/>
          <p:cNvSpPr/>
          <p:nvPr/>
        </p:nvSpPr>
        <p:spPr>
          <a:xfrm>
            <a:off x="822960" y="2872946"/>
            <a:ext cx="4937760" cy="1103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zh-TW" altLang="en-US" sz="14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帳密登入,取得 token</a:t>
            </a:r>
            <a:endParaRPr lang="en-US" sz="1400" dirty="0"/>
          </a:p>
          <a:p>
            <a:pPr marL="0" indent="0" algn="l">
              <a:spcAft>
                <a:spcPts val="600"/>
              </a:spcAft>
              <a:buNone/>
            </a:pPr>
            <a:r>
              <a:rPr lang="zh-TW" altLang="en-US" sz="14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帶本人的 token 連 broker</a:t>
            </a:r>
            <a:endParaRPr lang="en-US" sz="1400" dirty="0"/>
          </a:p>
          <a:p>
            <a:pPr marL="0" indent="0" algn="l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授權依本人的權限</a:t>
            </a:r>
            <a:endParaRPr lang="en-US" sz="1400" dirty="0"/>
          </a:p>
        </p:txBody>
      </p:sp>
      <p:sp>
        <p:nvSpPr>
          <p:cNvPr id="7" name="5919c5c5-d4e1-46c9-b7e3-68406abff1b4"/>
          <p:cNvSpPr/>
          <p:nvPr/>
        </p:nvSpPr>
        <p:spPr>
          <a:xfrm>
            <a:off x="6199632" y="1769899"/>
            <a:ext cx="5440680" cy="2206093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7" name="51b0ab28-c5c7-447f-8933-0bbce6e0bad7"/>
          <p:cNvSpPr/>
          <p:nvPr/>
        </p:nvSpPr>
        <p:spPr>
          <a:xfrm>
            <a:off x="6428232" y="1939599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9" name="30725a52-88b4-4507-a9da-609597d0378b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9166" y="2088934"/>
            <a:ext cx="409651" cy="409651"/>
          </a:xfrm>
          <a:prstGeom prst="rect">
            <a:avLst/>
          </a:prstGeom>
        </p:spPr>
      </p:pic>
      <p:sp>
        <p:nvSpPr>
          <p:cNvPr id="10" name="d98fbbf8-55f4-4f77-b9ba-c7cf2af6b3a2"/>
          <p:cNvSpPr/>
          <p:nvPr/>
        </p:nvSpPr>
        <p:spPr>
          <a:xfrm>
            <a:off x="7342632" y="2024449"/>
            <a:ext cx="411480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altLang="en-US" sz="2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背景工作</a:t>
            </a:r>
            <a:endParaRPr lang="en-US" sz="2000" dirty="0"/>
          </a:p>
        </p:txBody>
      </p:sp>
      <p:sp>
        <p:nvSpPr>
          <p:cNvPr id="11" name="c7021e0a-48c2-4adb-a9f9-a9e72f4d49b4"/>
          <p:cNvSpPr/>
          <p:nvPr/>
        </p:nvSpPr>
        <p:spPr>
          <a:xfrm>
            <a:off x="6473952" y="2872946"/>
            <a:ext cx="4937760" cy="1103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zh-TW" altLang="en-US" sz="14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憑證向 MDS 換 token</a:t>
            </a:r>
            <a:endParaRPr lang="en-US" sz="1400" dirty="0"/>
          </a:p>
          <a:p>
            <a:pPr marL="0" indent="0" algn="l">
              <a:spcAft>
                <a:spcPts val="600"/>
              </a:spcAft>
              <a:buNone/>
            </a:pPr>
            <a:r>
              <a:rPr lang="zh-TW" altLang="en-US" sz="14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身分是 User:c3,需要 SystemAdmin</a:t>
            </a:r>
            <a:endParaRPr lang="en-US" sz="1400" dirty="0"/>
          </a:p>
          <a:p>
            <a:pPr marL="0" indent="0" algn="l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不依賴任何人的帳號</a:t>
            </a:r>
            <a:endParaRPr lang="en-US" sz="1400" dirty="0"/>
          </a:p>
        </p:txBody>
      </p:sp>
      <p:sp>
        <p:nvSpPr>
          <p:cNvPr id="12" name="326ca8b5-6ea5-4468-8c73-49b7eccca6d9"/>
          <p:cNvSpPr/>
          <p:nvPr/>
        </p:nvSpPr>
        <p:spPr>
          <a:xfrm>
            <a:off x="548640" y="4400241"/>
            <a:ext cx="544068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3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憑證等於管理員:私鑰要保護</a:t>
            </a:r>
            <a:endParaRPr lang="en-US" sz="1300" dirty="0"/>
          </a:p>
        </p:txBody>
      </p:sp>
      <p:sp>
        <p:nvSpPr>
          <p:cNvPr id="13" name="957a00d4-5dec-424d-9f31-80888a701ead"/>
          <p:cNvSpPr/>
          <p:nvPr/>
        </p:nvSpPr>
        <p:spPr>
          <a:xfrm>
            <a:off x="6199632" y="4400241"/>
            <a:ext cx="5440680" cy="466674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 下 C3 連 Kafka 只用 OAUTHBEARER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四個要留意的風險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影響與對策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9</a:t>
            </a:fld>
            <a:endParaRPr lang="zh-TW" altLang="en-US" sz="900"/>
          </a:p>
        </p:txBody>
      </p:sp>
      <p:graphicFrame>
        <p:nvGraphicFramePr>
          <p:cNvPr id="10" name="4efc3697-938d-4686-a53c-fbccbbe2c8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11091672" cy="2766101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50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03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風險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影響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對策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39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憑證等於管理員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外洩可改任何授權;拿掉權限 C3 會退出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保護私鑰與檔案權限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39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restproxy 憑證可代人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可代不在保護清單的使用者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特權身分逐一列入保護清單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39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私鑰外洩(server、token 簽章)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可偽裝伺服器、偽造任何人的 token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權限 600、最小化存放、輪替計畫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39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SCRAM 密碼不到期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外洩風險累積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密碼庫加輪替流程與提醒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導入前請客戶確認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六件需要客戶回覆的事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10</a:t>
            </a:fld>
            <a:endParaRPr lang="zh-TW" altLang="en-US" sz="900"/>
          </a:p>
        </p:txBody>
      </p:sp>
      <p:graphicFrame>
        <p:nvGraphicFramePr>
          <p:cNvPr id="11" name="24241d33-ea25-4eb5-bb8d-3635f80eff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11091672" cy="3546717"/>
        </p:xfrm>
        <a:graphic>
          <a:graphicData uri="http://schemas.openxmlformats.org/drawingml/2006/table">
            <a:tbl>
              <a:tblPr/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78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03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為什麼要問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沒確認的影響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60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唯讀查詢帳號與 LDAPS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人登入與群組同步都靠它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人無法登入、群組同步失敗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60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憑證與 AD 的 LDAPS 憑證由誰簽發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決定憑證怎麼簽發、信任庫放什麼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信任庫不全,連線失敗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60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能否為 legacy app 建立專用 AD 帳號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可改走 Basic,省掉每個 app 的憑證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每個 legacy app 都需要一張憑證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60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license 是否涵蓋 RBAC、audit、C3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這些是商用功能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功能無法啟用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60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是否有多台 DC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LDAP 停擺超過 24 小時,授權器會失效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單台 DC 故障會讓授權整體失效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60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群組是否巢狀、帳號大小寫與命名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影響群組與帳號的比對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權限可能對不上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23B847-2F0C-E166-A0B6-9842DD7EA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Q &amp; A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F8C39B6-7FEF-4D2B-AB5E-997A6F0145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Confluent Platform 安全解決方案</a:t>
            </a:r>
          </a:p>
        </p:txBody>
      </p:sp>
    </p:spTree>
    <p:extLst>
      <p:ext uri="{BB962C8B-B14F-4D97-AF65-F5344CB8AC3E}">
        <p14:creationId xmlns:p14="http://schemas.microsoft.com/office/powerpoint/2010/main" val="3079640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DAA4B3EF1C1EC54090190B80065697EC" ma:contentTypeVersion="12" ma:contentTypeDescription="建立新的文件。" ma:contentTypeScope="" ma:versionID="adf174d9c9c77815f1856062b94d0799">
  <xsd:schema xmlns:xsd="http://www.w3.org/2001/XMLSchema" xmlns:xs="http://www.w3.org/2001/XMLSchema" xmlns:p="http://schemas.microsoft.com/office/2006/metadata/properties" xmlns:ns2="87643090-462e-4483-8fee-104e11aaa7c6" xmlns:ns3="81fbc0a5-bf19-4add-b132-07e20741ab60" targetNamespace="http://schemas.microsoft.com/office/2006/metadata/properties" ma:root="true" ma:fieldsID="dc2c921a8025a671c896172cdcf0cd5b" ns2:_="" ns3:_="">
    <xsd:import namespace="87643090-462e-4483-8fee-104e11aaa7c6"/>
    <xsd:import namespace="81fbc0a5-bf19-4add-b132-07e20741ab6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643090-462e-4483-8fee-104e11aaa7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fbc0a5-bf19-4add-b132-07e20741ab6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共用對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共用詳細資料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6279918-8EC7-4ECB-A798-E15F186ABB7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8E66D0B-AA1B-4EED-A6EC-86D221198FF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7643090-462e-4483-8fee-104e11aaa7c6"/>
    <ds:schemaRef ds:uri="81fbc0a5-bf19-4add-b132-07e20741ab6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D6D8F05-3EF5-4272-8592-C532046A55FC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6644</TotalTime>
  <Words>3328</Words>
  <Application>Microsoft Office PowerPoint</Application>
  <PresentationFormat>寬螢幕</PresentationFormat>
  <Paragraphs>202</Paragraphs>
  <Slides>11</Slides>
  <Notes>10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7" baseType="lpstr">
      <vt:lpstr>微軟正黑體</vt:lpstr>
      <vt:lpstr>Aptos</vt:lpstr>
      <vt:lpstr>Arial</vt:lpstr>
      <vt:lpstr>Arial Black</vt:lpstr>
      <vt:lpstr>Wingdings</vt:lpstr>
      <vt:lpstr>Office 佈景主題</vt:lpstr>
      <vt:lpstr>Confluent 安全解決方案</vt:lpstr>
      <vt:lpstr>人走 AD,服務走 SCRAM 或憑證</vt:lpstr>
      <vt:lpstr>共用一組憑證,只做加密</vt:lpstr>
      <vt:lpstr>每個元件各用什麼認證</vt:lpstr>
      <vt:lpstr>權限依 AD 群組分五層</vt:lpstr>
      <vt:lpstr>服務帳號用 SCRAM,同帳號改密碼</vt:lpstr>
      <vt:lpstr>legacy app 用憑證換 token</vt:lpstr>
      <vt:lpstr>C3:人用本人身分,背景用憑證</vt:lpstr>
      <vt:lpstr>四個要留意的風險</vt:lpstr>
      <vt:lpstr>導入前請客戶確認</vt:lpstr>
      <vt:lpstr>Q &amp; 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洪瑀宣(Shally Hung)</dc:creator>
  <cp:lastModifiedBy>user</cp:lastModifiedBy>
  <cp:revision>93</cp:revision>
  <dcterms:created xsi:type="dcterms:W3CDTF">2025-04-18T08:33:56Z</dcterms:created>
  <dcterms:modified xsi:type="dcterms:W3CDTF">2026-10-05T04:54:37Z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1e43920-ae8e-42a0-9a5c-464554aa03b2_Enabled">
    <vt:lpwstr>true</vt:lpwstr>
  </property>
  <property fmtid="{D5CDD505-2E9C-101B-9397-08002B2CF9AE}" pid="3" name="MSIP_Label_01e43920-ae8e-42a0-9a5c-464554aa03b2_SetDate">
    <vt:lpwstr>2025-04-18T09:16:17Z</vt:lpwstr>
  </property>
  <property fmtid="{D5CDD505-2E9C-101B-9397-08002B2CF9AE}" pid="4" name="MSIP_Label_01e43920-ae8e-42a0-9a5c-464554aa03b2_Method">
    <vt:lpwstr>Standard</vt:lpwstr>
  </property>
  <property fmtid="{D5CDD505-2E9C-101B-9397-08002B2CF9AE}" pid="5" name="MSIP_Label_01e43920-ae8e-42a0-9a5c-464554aa03b2_Name">
    <vt:lpwstr>IISIGroup - 普通文件</vt:lpwstr>
  </property>
  <property fmtid="{D5CDD505-2E9C-101B-9397-08002B2CF9AE}" pid="6" name="MSIP_Label_01e43920-ae8e-42a0-9a5c-464554aa03b2_SiteId">
    <vt:lpwstr>54aa2fea-ecb3-4c71-80b3-de9a356e77c1</vt:lpwstr>
  </property>
  <property fmtid="{D5CDD505-2E9C-101B-9397-08002B2CF9AE}" pid="7" name="MSIP_Label_01e43920-ae8e-42a0-9a5c-464554aa03b2_ActionId">
    <vt:lpwstr>74a092f3-de5e-48a5-8d80-572223daa2ef</vt:lpwstr>
  </property>
  <property fmtid="{D5CDD505-2E9C-101B-9397-08002B2CF9AE}" pid="8" name="MSIP_Label_01e43920-ae8e-42a0-9a5c-464554aa03b2_ContentBits">
    <vt:lpwstr>0</vt:lpwstr>
  </property>
  <property fmtid="{D5CDD505-2E9C-101B-9397-08002B2CF9AE}" pid="9" name="MSIP_Label_01e43920-ae8e-42a0-9a5c-464554aa03b2_Tag">
    <vt:lpwstr>10, 3, 0, 1</vt:lpwstr>
  </property>
  <property fmtid="{D5CDD505-2E9C-101B-9397-08002B2CF9AE}" pid="10" name="ContentTypeId">
    <vt:lpwstr>0x010100DAA4B3EF1C1EC54090190B80065697EC</vt:lpwstr>
  </property>
</Properties>
</file>