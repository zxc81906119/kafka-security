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802c8c09-1453-bb0c-0250-5e7dac5373a2}">
          <p14:sldIdLst>
            <p14:sldId id="256"/>
          </p14:sldIdLst>
        </p14:section>
        <p14:section name="客戶前提與設計原則" id="{3512413a-09fd-c4c4-b424-9da4c9d880c4}">
          <p14:sldIdLst>
            <p14:sldId id="257"/>
            <p14:sldId id="258"/>
            <p14:sldId id="259"/>
            <p14:sldId id="260"/>
          </p14:sldIdLst>
        </p14:section>
        <p14:section name="逐一介紹組件" id="{7ef49a39-a60e-cc80-d9bb-b3b020e05b61}">
          <p14:sldIdLst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整合起來" id="{ea0f6a56-2136-1cfb-71d6-877a502a17fa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Live Demo" id="{5067b9e6-8b33-faf5-0f0d-7bd96bef1142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封面。這是第一版草稿,內容依客戶前提設計;之後會依回饋調整並套用公司模板。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六個前提:AD 只有 user/group(沒有服務帳號);希望全部共用一組 PK+憑證;RHEL 9 手動部署、尚無 Ansible;legacy app 只能 HTTP;權限要依 AD 群組 + RBAC 分層(不同職責不同權限,唯讀只是其中一層);範圍限於 Kafka、REST Proxy、C3。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核心主張:AD 管人,Kafka 管機器。人與服務用不同的身分來源,但授權都集中在 MDS 的 RBAC。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接下來依序介紹 8 個面向,最後是整合。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人用 SASL/PLAIN,broker 把帳密交給 LDAP(AD)驗證並取得群組;服務用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服務身分用 SASL/SCRAM-SHA-512,不放 AD(AD 沒有服務帳號)。SCRAM 的缺點是密碼無自動到期,所以配套:密碼庫、新帳號並行再停舊帳號的輪替流程(第 9 章實測)。並行做法:建立不同名稱的新帳號(kafka-configs --add-config SCRAM-SHA-512=[password=…],不會與舊帳號衝突)→ 對新主體綁相同 role(RBAC 綁的是主體名稱,新帳號必須重綁)→ 應用逐步切換 → 全部切完後刪舊帳號憑證與舊 binding。實測:對同一帳號同一機制再設一次密碼會直接取代,舊密碼立即失效,所以不能用來做平滑切換;同一帳號可同時有 SCRAM-SHA-256 與 SCRAM-SHA-512 兩個憑證,listener 兩機制都啟用時兩組密碼同時可登入(實測);動態更新 listener.name.client.sasl.enabled.mechanisms 被接受但沒有生效,需改設定檔並重啟 broker。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token。官方 AuthenticationHandler 範例是 REQUIRED(純 mTLS);人機並存用 REQUESTED 是本專案實測組合。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登入時瀏覽器第一個呼叫帶 Basic(C3 代轉 MDS),之後都帶 Bearer;同時有 HttpOnly auth_token cookie,伺服器優先看 Bearer。C3 看起來在本地用 MDS 公鑰驗章(實測推論:偽造 token 被擋時 MDS 沒有對應 401 紀錄),但仍會以使用者 token 呼叫 MDS 查可見範圍。登入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查不到,原因未明;c3 的事件在本 demo 為降噪而排除(實測不排除時 C3 每幾秒產生 ListOffsets/OffsetFetch,洗版審計 topic)。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broker(demo 實測 controller 也需 LDAP 設定)。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人的三條路徑:C3(Basic→token→Bearer)、CLI 直連 broker(SASL/PLAIN + LDAP callback)、REST Proxy(Basic 轉 MDS 換 token)。授權都依 AD 群組。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機器三條路徑:應用用 SCRAM 直連;legacy app 用 client 憑證經 REST Proxy;平台元件(C3、REST Proxy)用 client 憑證向 MDS 換 token。憑證身分只能綁 User:,不能綁群組。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憑證最少化:1 組 server 憑證 + c3、restproxy 兩張長期 client 憑證 + 1 張備用(bootstrap)。legacy app 的憑證可省,前提是客戶能建幾個一般 AD user 讓 app 走 Basic。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六個主要風險與對策。前兩項是平台元件憑證的風險(c3 憑證=管理員、restproxy 憑證可代人),都是實測發現。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1。現場指令:./demo.sh ch01。截圖為該章節實際執行輸出,非示意圖。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2。現場指令:./demo.sh ch03。截圖為該章節實際執行輸出,非示意圖。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3。現場指令:./demo.sh ch04。截圖為該章節實際執行輸出,非示意圖。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4。現場指令:./demo.sh ch07。截圖為該章節實際執行輸出,非示意圖。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5。現場指令:./demo.sh ch11。截圖為該章節實際執行輸出,非示意圖。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6。現場指令:./demo.sh ch12。截圖為該章節實際執行輸出,非示意圖。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7。現場指令:./demo.sh ch13。截圖為該章節實際執行輸出,非示意圖。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如實呈現:左邊是 demo 已實跑驗證的項目;右邊是尚未驗證或需在客戶環境確認的項目。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請客戶確認的八件事。第 3 項決定 legacy app 要不要 client 憑證;第 2 項決定憑證如何簽發與散佈;第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201168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657600"/>
            <a:ext cx="76809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>
                    <a:alpha val="50000"/>
                  </a:schemeClr>
                </a:solidFill>
              </a:rPr>
              <a:t>Confluent Platform 安全解決方案 · 草稿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slideLayout" Target="../slideLayouts/slideLayout4.xml"/><Relationship Id="rId2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image" Target="../media/image-16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image" Target="../media/image-37-5.png"/><Relationship Id="rId6" Type="http://schemas.openxmlformats.org/officeDocument/2006/relationships/image" Target="../media/image-37-6.png"/><Relationship Id="rId7" Type="http://schemas.openxmlformats.org/officeDocument/2006/relationships/image" Target="../media/image-37-7.png"/><Relationship Id="rId8" Type="http://schemas.openxmlformats.org/officeDocument/2006/relationships/image" Target="../media/image-37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20116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tx2"/>
                </a:solidFill>
              </a:rPr>
              <a:t>Confluent Platform 安全解決方案</a:t>
            </a:r>
            <a:endParaRPr lang="zh-TW" sz="3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6576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tx1"/>
                </a:solidFill>
              </a:rPr>
              <a:t>依客戶前提設計:AD 僅有 user / group · 共用單一 server 憑證 · RHEL 9 手動部署</a:t>
            </a:r>
            <a:endParaRPr lang="zh-TW" sz="1800" dirty="0"/>
          </a:p>
        </p:txBody>
      </p:sp>
      <p:sp>
        <p:nvSpPr>
          <p:cNvPr id="4" name="Shape 2"/>
          <p:cNvSpPr/>
          <p:nvPr/>
        </p:nvSpPr>
        <p:spPr>
          <a:xfrm>
            <a:off x="8778240" y="1463040"/>
            <a:ext cx="1371600" cy="137160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2" y="1764792"/>
            <a:ext cx="768096" cy="76809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332720" y="2286000"/>
            <a:ext cx="1097280" cy="10972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4122" y="2527402"/>
            <a:ext cx="614477" cy="61447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9052560" y="3200400"/>
            <a:ext cx="1097280" cy="109728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3962" y="3441802"/>
            <a:ext cx="614477" cy="614477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424160" y="3840480"/>
            <a:ext cx="914400" cy="91440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5328" y="4041648"/>
            <a:ext cx="512064" cy="51206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22960" y="5120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dirty="0">
                <a:solidFill>
                  <a:schemeClr val="tx1">
                    <a:alpha val="62000"/>
                  </a:schemeClr>
                </a:solidFill>
              </a:rPr>
              <a:t>範圍:Kafka(broker / controller / MDS)· REST Proxy · Control Center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草稿 v0.1 — 待調整後套用公司模板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bg1"/>
                </a:solidFill>
              </a:rPr>
              <a:t>客戶前提與設計原則</a:t>
            </a:r>
            <a:endParaRPr lang="zh-TW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bg2"/>
                </a:solidFill>
              </a:rPr>
              <a:t>先把限制說清楚,方案才站得住</a:t>
            </a:r>
            <a:endParaRPr lang="zh-TW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客戶前提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454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1"/>
                </a:solidFill>
              </a:rPr>
              <a:t>AD 只有人與群組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沒有服務帳號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25112" y="141732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11012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713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98264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2"/>
                </a:solidFill>
              </a:rPr>
              <a:t>共用 1 組 PK + 憑證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416552" y="2606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希望憑證管理最小化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01584" y="141732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87484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185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74736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3"/>
                </a:solidFill>
              </a:rPr>
              <a:t>RHEL 9 VM · 手動安裝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193024" y="260604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目前沒有 Ansible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034540" y="40233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241" y="414406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1792" y="46634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2"/>
                </a:solidFill>
              </a:rPr>
              <a:t>legacy app 只能 HTTP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50749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不能用 Kafka client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325112" y="388620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811012" y="40233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713" y="414406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398264" y="46634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1"/>
                </a:solidFill>
              </a:rPr>
              <a:t>依 AD 群組 + RBAC 分層授權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416552" y="50749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不同職責,不同權限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8101584" y="3886200"/>
            <a:ext cx="3520440" cy="224028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587484" y="40233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8185" y="414406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174736" y="46634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accent5"/>
                </a:solidFill>
              </a:rPr>
              <a:t>範圍</a:t>
            </a:r>
            <a:endParaRPr lang="en-US" sz="1700" dirty="0"/>
          </a:p>
        </p:txBody>
      </p:sp>
      <p:sp>
        <p:nvSpPr>
          <p:cNvPr id="32" name="Text 24"/>
          <p:cNvSpPr txBox="1"/>
          <p:nvPr/>
        </p:nvSpPr>
        <p:spPr>
          <a:xfrm>
            <a:off x="8193024" y="5074920"/>
            <a:ext cx="3337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Kafka · REST Proxy · C3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設計原則:兩個身分平面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4297680" cy="338328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0020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8174" y="176113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chemeClr val="accent1"/>
                </a:solidFill>
              </a:rPr>
              <a:t>人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登入 C3 · 手動腳本 · Postman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4069080"/>
            <a:ext cx="374904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授權跟著 AD 群組走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342632" y="1417320"/>
            <a:ext cx="4297680" cy="338328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71232" y="160020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2166" y="1761134"/>
            <a:ext cx="409651" cy="4096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85632" y="16916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chemeClr val="accent2"/>
                </a:solidFill>
              </a:rPr>
              <a:t>服務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7616952" y="251460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chemeClr val="tx1"/>
                </a:solidFill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616952" y="4069080"/>
            <a:ext cx="374904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授權綁 User:服務名稱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120640" y="2103120"/>
            <a:ext cx="1947672" cy="1737360"/>
          </a:xfrm>
          <a:prstGeom prst="roundRect">
            <a:avLst>
              <a:gd name="adj" fmla="val 90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824728" y="22402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5429" y="23609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166360" y="288036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MDS · RBAC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5212080" y="3291840"/>
            <a:ext cx="1764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集中授權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2971800"/>
            <a:ext cx="27432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 flipH="1">
            <a:off x="7068312" y="2971800"/>
            <a:ext cx="27432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17"/>
          <p:cNvSpPr/>
          <p:nvPr/>
        </p:nvSpPr>
        <p:spPr>
          <a:xfrm>
            <a:off x="548640" y="5074920"/>
            <a:ext cx="11091672" cy="64008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chemeClr val="bg1"/>
                </a:solidFill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腳本由手動轉成排程 → 必須改用服務身分,不借用人的帳號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方案總覽:逐一介紹每個組件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4540" y="1508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16294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488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TLS 與憑證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60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共用 1 組 server 憑證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5112" y="137160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11012" y="1508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713" y="16294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98264" y="21488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Controller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416552" y="2560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SASL/PLAIN · 內部帳號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01584" y="137160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87484" y="1508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185" y="162946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74736" y="214884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Broker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193024" y="25603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PLAIN+LDAP · SCRAM · token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06324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2034540" y="320040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5241" y="332110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21792" y="38404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MDS · RBAC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AD 群組 → role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325112" y="306324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811012" y="320040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1713" y="3321101"/>
            <a:ext cx="307238" cy="30723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398264" y="38404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2"/>
                </a:solidFill>
              </a:rPr>
              <a:t>服務帳號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4416552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SCRAM + 最小權限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101584" y="306324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9587484" y="320040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8185" y="3321101"/>
            <a:ext cx="307238" cy="30723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174736" y="384048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2"/>
                </a:solidFill>
              </a:rPr>
              <a:t>REST Proxy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8193024" y="42519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人 Basic · 機器憑證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548640" y="475488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2034540" y="489204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5241" y="5012741"/>
            <a:ext cx="307238" cy="30723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21792" y="55321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Control Center</a:t>
            </a:r>
            <a:endParaRPr lang="en-US" sz="1500" dirty="0"/>
          </a:p>
        </p:txBody>
      </p:sp>
      <p:sp>
        <p:nvSpPr>
          <p:cNvPr id="37" name="Text 28"/>
          <p:cNvSpPr txBox="1"/>
          <p:nvPr/>
        </p:nvSpPr>
        <p:spPr>
          <a:xfrm>
            <a:off x="640080" y="5943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人用本人身分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4325112" y="475488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5811012" y="489204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1713" y="5012741"/>
            <a:ext cx="307238" cy="30723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398264" y="55321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Audit log</a:t>
            </a:r>
            <a:endParaRPr lang="en-US" sz="1500" dirty="0"/>
          </a:p>
        </p:txBody>
      </p:sp>
      <p:sp>
        <p:nvSpPr>
          <p:cNvPr id="42" name="Text 32"/>
          <p:cNvSpPr txBox="1"/>
          <p:nvPr/>
        </p:nvSpPr>
        <p:spPr>
          <a:xfrm>
            <a:off x="4416552" y="5943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誰被拒、誰改授權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8101584" y="4754880"/>
            <a:ext cx="3520440" cy="15544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9587484" y="489204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8185" y="5012741"/>
            <a:ext cx="307238" cy="307238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8174736" y="553212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整合與導入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8193024" y="59436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全景 · 步驟 · 風險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bg1"/>
                </a:solidFill>
              </a:rPr>
              <a:t>逐一介紹組件</a:t>
            </a:r>
            <a:endParaRPr lang="zh-TW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bg2"/>
                </a:solidFill>
              </a:rPr>
              <a:t>每個組件:角色 · 怎麼認證 · 怎麼授權 · 要注意什麼</a:t>
            </a:r>
            <a:endParaRPr lang="zh-TW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TLS 與憑證:共用 1 組,只做加密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1188720" cy="118872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3038" y="1861718"/>
            <a:ext cx="665683" cy="66568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1 組 PK + 憑證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SAN 涵蓋所有組件的網域 / IP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 flipV="1">
            <a:off x="2148840" y="1600200"/>
            <a:ext cx="868680" cy="59436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Text 5"/>
          <p:cNvSpPr/>
          <p:nvPr/>
        </p:nvSpPr>
        <p:spPr>
          <a:xfrm>
            <a:off x="3017520" y="14173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 flipV="1">
            <a:off x="2148840" y="2057400"/>
            <a:ext cx="868680" cy="13716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3017520" y="18745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broker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148840" y="2194560"/>
            <a:ext cx="868680" cy="3200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3017520" y="23317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MDS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148840" y="2194560"/>
            <a:ext cx="868680" cy="7772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Text 11"/>
          <p:cNvSpPr/>
          <p:nvPr/>
        </p:nvSpPr>
        <p:spPr>
          <a:xfrm>
            <a:off x="3017520" y="27889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REST Proxy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48840" y="2194560"/>
            <a:ext cx="868680" cy="1234440"/>
          </a:xfrm>
          <a:prstGeom prst="line">
            <a:avLst/>
          </a:prstGeom>
          <a:noFill/>
          <a:ln w="190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6" name="Text 13"/>
          <p:cNvSpPr/>
          <p:nvPr/>
        </p:nvSpPr>
        <p:spPr>
          <a:xfrm>
            <a:off x="3017520" y="3246120"/>
            <a:ext cx="1828800" cy="365760"/>
          </a:xfrm>
          <a:prstGeom prst="roundRect">
            <a:avLst>
              <a:gd name="adj" fmla="val 45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C3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017520" y="3703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server 端啟動 TLS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8640" y="4114800"/>
            <a:ext cx="5486400" cy="146304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206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client 端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31520" y="4617720"/>
            <a:ext cx="512064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只需 truststore(匯入 CA root)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31520" y="5074920"/>
            <a:ext cx="512064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連 AD 的 broker / MDS:另匯入 AD 的 LDAPS CA root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0" y="1371600"/>
            <a:ext cx="5239512" cy="256032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58368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2"/>
                </a:solidFill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6583680" y="1965960"/>
            <a:ext cx="1371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c3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046720" y="1965960"/>
            <a:ext cx="155448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restproxy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692640" y="1965960"/>
            <a:ext cx="173736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bootstrap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583680" y="2450592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400800" y="4023360"/>
            <a:ext cx="5239512" cy="164592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40965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6"/>
                </a:solidFill>
              </a:rPr>
              <a:t>要請客戶簽認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0" y="448056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共用憑證只負責加密、不承載權限;身分另外處理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憑證更換:三種情境,順序不能錯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66160" cy="406908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602029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只換 server 憑證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CA 不變(例如到期更新)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2286000"/>
            <a:ext cx="3200400" cy="457200"/>
          </a:xfrm>
          <a:prstGeom prst="roundRect">
            <a:avLst>
              <a:gd name="adj" fmla="val 18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換 keystore(新憑證)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331720" y="2743200"/>
            <a:ext cx="0" cy="2743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Text 7"/>
          <p:cNvSpPr/>
          <p:nvPr/>
        </p:nvSpPr>
        <p:spPr>
          <a:xfrm>
            <a:off x="731520" y="3017520"/>
            <a:ext cx="3200400" cy="457200"/>
          </a:xfrm>
          <a:prstGeom prst="roundRect">
            <a:avLst>
              <a:gd name="adj" fmla="val 18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truststore 不動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331720" y="3474720"/>
            <a:ext cx="0" cy="274320"/>
          </a:xfrm>
          <a:prstGeom prst="line">
            <a:avLst/>
          </a:prstGeom>
          <a:noFill/>
          <a:ln w="25400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731520" y="3749040"/>
            <a:ext cx="3200400" cy="457200"/>
          </a:xfrm>
          <a:prstGeom prst="roundRect">
            <a:avLst>
              <a:gd name="adj" fmla="val 180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client 不用改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31520" y="4526280"/>
            <a:ext cx="3200400" cy="457200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311396" y="1371600"/>
            <a:ext cx="3566160" cy="406908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448556" y="148132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9257" y="1602029"/>
            <a:ext cx="307238" cy="307238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134356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CA 根換新、金鑰不變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134356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同一把金鑰重新簽發根憑證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494276" y="2286000"/>
            <a:ext cx="3200400" cy="457200"/>
          </a:xfrm>
          <a:prstGeom prst="roundRect">
            <a:avLst>
              <a:gd name="adj" fmla="val 18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信任庫換成新根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099048" y="274320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Text 17"/>
          <p:cNvSpPr/>
          <p:nvPr/>
        </p:nvSpPr>
        <p:spPr>
          <a:xfrm>
            <a:off x="4494276" y="3017520"/>
            <a:ext cx="3200400" cy="457200"/>
          </a:xfrm>
          <a:prstGeom prst="roundRect">
            <a:avLst>
              <a:gd name="adj" fmla="val 18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舊的 server / client 憑證照常通過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099048" y="3474720"/>
            <a:ext cx="0" cy="2743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Text 19"/>
          <p:cNvSpPr/>
          <p:nvPr/>
        </p:nvSpPr>
        <p:spPr>
          <a:xfrm>
            <a:off x="4494276" y="3749040"/>
            <a:ext cx="3200400" cy="457200"/>
          </a:xfrm>
          <a:prstGeom prst="roundRect">
            <a:avLst>
              <a:gd name="adj" fmla="val 180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1"/>
                </a:solidFill>
              </a:rPr>
              <a:t>不用重簽任何憑證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4494276" y="4526280"/>
            <a:ext cx="3200400" cy="457200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1"/>
                </a:solidFill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074152" y="1371600"/>
            <a:ext cx="3566160" cy="406908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11312" y="148132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2013" y="1602029"/>
            <a:ext cx="307238" cy="30723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8897112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CA 換金鑰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8897112" y="1828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257032" y="2286000"/>
            <a:ext cx="329184" cy="329184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Text 26"/>
          <p:cNvSpPr txBox="1"/>
          <p:nvPr/>
        </p:nvSpPr>
        <p:spPr>
          <a:xfrm>
            <a:off x="8668512" y="2240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8257032" y="2834640"/>
            <a:ext cx="329184" cy="329184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33" name="Text 28"/>
          <p:cNvSpPr txBox="1"/>
          <p:nvPr/>
        </p:nvSpPr>
        <p:spPr>
          <a:xfrm>
            <a:off x="8668512" y="27889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換 server 憑證(新 CA 簽發)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257032" y="3383280"/>
            <a:ext cx="329184" cy="329184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8668512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8257032" y="3931920"/>
            <a:ext cx="329184" cy="329184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2"/>
          <p:cNvSpPr txBox="1"/>
          <p:nvPr/>
        </p:nvSpPr>
        <p:spPr>
          <a:xfrm>
            <a:off x="8668512" y="38862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全部確認後,才移除舊根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8257032" y="4407408"/>
            <a:ext cx="3200400" cy="420624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6"/>
                </a:solidFill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8257032" y="4901184"/>
            <a:ext cx="3200400" cy="420624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6"/>
                </a:solidFill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548640" y="5623560"/>
            <a:ext cx="11091672" cy="59436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官方建議:先更新所有信任庫、再換憑證、逐個元件 rolling restart,每個就緒再做下一個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元件更換順序:先信任、後出示、最後移除</a:t>
            </a:r>
            <a:endParaRPr lang="zh-TW" sz="2800" dirty="0"/>
          </a:p>
        </p:txBody>
      </p:sp>
      <p:sp>
        <p:nvSpPr>
          <p:cNvPr id="3" name="Text 1"/>
          <p:cNvSpPr/>
          <p:nvPr/>
        </p:nvSpPr>
        <p:spPr>
          <a:xfrm>
            <a:off x="3017520" y="13258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① 信任庫:新舊並存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175504" y="13258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② 換 server 憑證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33488" y="13258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③ 重簽 client 憑證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91472" y="13258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bg1"/>
                </a:solidFill>
              </a:rPr>
              <a:t>④ 移除舊根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2377440" cy="566928"/>
          </a:xfrm>
          <a:prstGeom prst="roundRect">
            <a:avLst>
              <a:gd name="adj" fmla="val 108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121408"/>
            <a:ext cx="347472" cy="34747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97280" y="20116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controller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017520" y="20116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3"/>
                </a:solidFill>
              </a:rPr>
              <a:t>重啟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175504" y="20116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3"/>
                </a:solidFill>
              </a:rPr>
              <a:t>重啟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7333488" y="201168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不用動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9491472" y="2011680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3"/>
                </a:solidFill>
              </a:rPr>
              <a:t>重啟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2688336"/>
            <a:ext cx="2377440" cy="566928"/>
          </a:xfrm>
          <a:prstGeom prst="roundRect">
            <a:avLst>
              <a:gd name="adj" fmla="val 108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798064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1097280" y="268833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broker(含 MDS)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017520" y="2688336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逐台重啟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175504" y="2688336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逐台重啟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333488" y="268833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不用動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9491472" y="2688336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逐台重啟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48640" y="3364992"/>
            <a:ext cx="2377440" cy="566928"/>
          </a:xfrm>
          <a:prstGeom prst="roundRect">
            <a:avLst>
              <a:gd name="adj" fmla="val 108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474720"/>
            <a:ext cx="347472" cy="347472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97280" y="33649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REST Proxy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017520" y="3364992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2"/>
                </a:solidFill>
              </a:rPr>
              <a:t>重啟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5175504" y="3364992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2"/>
                </a:solidFill>
              </a:rPr>
              <a:t>重啟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7333488" y="3364992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2"/>
                </a:solidFill>
              </a:rPr>
              <a:t>重啟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9491472" y="3364992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2"/>
                </a:solidFill>
              </a:rPr>
              <a:t>重啟</a:t>
            </a:r>
            <a:endParaRPr lang="en-US" sz="1150" dirty="0"/>
          </a:p>
        </p:txBody>
      </p:sp>
      <p:sp>
        <p:nvSpPr>
          <p:cNvPr id="28" name="Shape 23"/>
          <p:cNvSpPr/>
          <p:nvPr/>
        </p:nvSpPr>
        <p:spPr>
          <a:xfrm>
            <a:off x="548640" y="4041648"/>
            <a:ext cx="2377440" cy="566928"/>
          </a:xfrm>
          <a:prstGeom prst="roundRect">
            <a:avLst>
              <a:gd name="adj" fmla="val 108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151376"/>
            <a:ext cx="347472" cy="347472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1097280" y="40416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</a:rPr>
              <a:t>Control Center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3017520" y="4041648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5"/>
                </a:solidFill>
              </a:rPr>
              <a:t>重啟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5175504" y="4041648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5"/>
                </a:solidFill>
              </a:rPr>
              <a:t>重啟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7333488" y="4041648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5"/>
                </a:solidFill>
              </a:rPr>
              <a:t>重啟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9491472" y="4041648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5"/>
                </a:solidFill>
              </a:rPr>
              <a:t>重啟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48640" y="4718304"/>
            <a:ext cx="2377440" cy="566928"/>
          </a:xfrm>
          <a:prstGeom prst="roundRect">
            <a:avLst>
              <a:gd name="adj" fmla="val 10800"/>
            </a:avLst>
          </a:prstGeom>
          <a:solidFill>
            <a:schemeClr val="tx2">
              <a:alpha val="12000"/>
            </a:schemeClr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828032"/>
            <a:ext cx="347472" cy="347472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1097280" y="471830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應用 / CLI(client)</a:t>
            </a:r>
            <a:endParaRPr lang="en-US" sz="1200" dirty="0"/>
          </a:p>
        </p:txBody>
      </p:sp>
      <p:sp>
        <p:nvSpPr>
          <p:cNvPr id="38" name="Text 31"/>
          <p:cNvSpPr/>
          <p:nvPr/>
        </p:nvSpPr>
        <p:spPr>
          <a:xfrm>
            <a:off x="3017520" y="4718304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>
              <a:alpha val="12000"/>
            </a:schemeClr>
          </a:solidFill>
          <a:ln w="12700">
            <a:solidFill>
              <a:schemeClr val="tx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2"/>
                </a:solidFill>
              </a:rPr>
              <a:t>信任庫加新根</a:t>
            </a:r>
            <a:endParaRPr lang="en-US" sz="1150" dirty="0"/>
          </a:p>
        </p:txBody>
      </p:sp>
      <p:sp>
        <p:nvSpPr>
          <p:cNvPr id="39" name="Text 32"/>
          <p:cNvSpPr txBox="1"/>
          <p:nvPr/>
        </p:nvSpPr>
        <p:spPr>
          <a:xfrm>
            <a:off x="5175504" y="471830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不用動</a:t>
            </a:r>
            <a:endParaRPr lang="en-US" sz="1150" dirty="0"/>
          </a:p>
        </p:txBody>
      </p:sp>
      <p:sp>
        <p:nvSpPr>
          <p:cNvPr id="40" name="Text 33"/>
          <p:cNvSpPr/>
          <p:nvPr/>
        </p:nvSpPr>
        <p:spPr>
          <a:xfrm>
            <a:off x="7333488" y="4718304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>
              <a:alpha val="12000"/>
            </a:schemeClr>
          </a:solidFill>
          <a:ln w="12700">
            <a:solidFill>
              <a:schemeClr val="tx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2"/>
                </a:solidFill>
              </a:rPr>
              <a:t>legacy app 換新憑證</a:t>
            </a:r>
            <a:endParaRPr lang="en-US" sz="1150" dirty="0"/>
          </a:p>
        </p:txBody>
      </p:sp>
      <p:sp>
        <p:nvSpPr>
          <p:cNvPr id="41" name="Text 34"/>
          <p:cNvSpPr/>
          <p:nvPr/>
        </p:nvSpPr>
        <p:spPr>
          <a:xfrm>
            <a:off x="9491472" y="4718304"/>
            <a:ext cx="2057400" cy="566928"/>
          </a:xfrm>
          <a:prstGeom prst="roundRect">
            <a:avLst>
              <a:gd name="adj" fmla="val 13500"/>
            </a:avLst>
          </a:prstGeom>
          <a:solidFill>
            <a:schemeClr val="tx2">
              <a:alpha val="12000"/>
            </a:schemeClr>
          </a:solidFill>
          <a:ln w="12700">
            <a:solidFill>
              <a:schemeClr val="tx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tx2"/>
                </a:solidFill>
              </a:rPr>
              <a:t>信任庫移除舊根</a:t>
            </a:r>
            <a:endParaRPr lang="en-US" sz="1150" dirty="0"/>
          </a:p>
        </p:txBody>
      </p:sp>
      <p:sp>
        <p:nvSpPr>
          <p:cNvPr id="42" name="Text 35"/>
          <p:cNvSpPr/>
          <p:nvPr/>
        </p:nvSpPr>
        <p:spPr>
          <a:xfrm>
            <a:off x="548640" y="5440680"/>
            <a:ext cx="5440680" cy="777240"/>
          </a:xfrm>
          <a:prstGeom prst="roundRect">
            <a:avLst>
              <a:gd name="adj" fmla="val 54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chemeClr val="accent3"/>
                </a:solidFill>
              </a:rPr>
              <a:t>每階段:controller → broker(一次一台)→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chemeClr val="accent3"/>
                </a:solidFill>
              </a:rPr>
              <a:t>官方:信任庫先於憑證、每階段全部元件做完;元件順序參考升級順序</a:t>
            </a:r>
            <a:endParaRPr lang="en-US" sz="1150" dirty="0"/>
          </a:p>
        </p:txBody>
      </p:sp>
      <p:sp>
        <p:nvSpPr>
          <p:cNvPr id="43" name="Text 36"/>
          <p:cNvSpPr/>
          <p:nvPr/>
        </p:nvSpPr>
        <p:spPr>
          <a:xfrm>
            <a:off x="6199632" y="5440680"/>
            <a:ext cx="5440680" cy="777240"/>
          </a:xfrm>
          <a:prstGeom prst="roundRect">
            <a:avLst>
              <a:gd name="adj" fmla="val 54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chemeClr val="accent6"/>
                </a:solidFill>
              </a:rPr>
              <a:t>只換檔沒重啟,6 個埠仍出示舊憑證(實測)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chemeClr val="accent6"/>
                </a:solidFill>
              </a:rPr>
              <a:t>controller 與 broker 沒有 client 憑證 → ③ 階段不用重啟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Controller(KRaft)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554480" cy="118872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226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controller 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0" y="1463040"/>
            <a:ext cx="1554480" cy="118872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78892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621" y="167518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860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controller 2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023360" y="1463040"/>
            <a:ext cx="1554480" cy="118872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52628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981" y="167518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2336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controller 3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2"/>
                </a:solidFill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943600" y="1463040"/>
            <a:ext cx="5696712" cy="219456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6126480" y="1554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CONTROLLER 9093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126480" y="2011680"/>
            <a:ext cx="155448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SASL_SSL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772400" y="2011680"/>
            <a:ext cx="173736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SASL/PLAIN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9601200" y="2011680"/>
            <a:ext cx="182880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靜態內部帳號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6126480" y="25603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3429000"/>
            <a:ext cx="5029200" cy="1005840"/>
          </a:xfrm>
          <a:prstGeom prst="roundRect">
            <a:avLst>
              <a:gd name="adj" fmla="val 5400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731520" y="3520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ConfluentServerAuthorizer + super.users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548640" y="4663440"/>
            <a:ext cx="5029200" cy="91440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5800" y="475488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8" y="4895698"/>
            <a:ext cx="358445" cy="35844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463040" y="475488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6"/>
                </a:solidFill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5943600" y="3794760"/>
            <a:ext cx="5696712" cy="182880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080760" y="393192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1578" y="4072738"/>
            <a:ext cx="358445" cy="358445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6903720" y="3858768"/>
            <a:ext cx="4572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2" name="Text 25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controller 只認內部帳號;人與服務都不直接連它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Broker:三個 listener,各管一件事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103120" cy="393192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1097280" cy="10972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962" y="1841602"/>
            <a:ext cx="614477" cy="61447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8346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chemeClr val="accent1"/>
                </a:solidFill>
              </a:rPr>
              <a:t>broker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337560"/>
            <a:ext cx="1920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Kafka listener:ssl.client.auth = none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 flipV="1">
            <a:off x="2651760" y="2011680"/>
            <a:ext cx="457200" cy="137160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108960" y="1417320"/>
            <a:ext cx="8531352" cy="1188720"/>
          </a:xfrm>
          <a:prstGeom prst="roundRect">
            <a:avLst>
              <a:gd name="adj" fmla="val 54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46120" y="16916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6938" y="1832458"/>
            <a:ext cx="358445" cy="35844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69080" y="15270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3"/>
                </a:solidFill>
              </a:rPr>
              <a:t>INTERNAL 9092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069080" y="20116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SASL_SSL · SCRAM-SHA-512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0" y="15270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controller → broker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 flipV="1">
            <a:off x="2651760" y="3383280"/>
            <a:ext cx="4572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108960" y="2788920"/>
            <a:ext cx="8531352" cy="1188720"/>
          </a:xfrm>
          <a:prstGeom prst="roundRect">
            <a:avLst>
              <a:gd name="adj" fmla="val 54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3246120" y="30632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6938" y="3204058"/>
            <a:ext cx="358445" cy="35844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069080" y="28986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1"/>
                </a:solidFill>
              </a:rPr>
              <a:t>CLIENT 9094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069080" y="33832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0" y="28986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人 · 服務 · token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2651760" y="3383280"/>
            <a:ext cx="457200" cy="1371600"/>
          </a:xfrm>
          <a:prstGeom prst="line">
            <a:avLst/>
          </a:prstGeom>
          <a:noFill/>
          <a:ln w="2222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3108960" y="4160520"/>
            <a:ext cx="8531352" cy="1188720"/>
          </a:xfrm>
          <a:prstGeom prst="roundRect">
            <a:avLst>
              <a:gd name="adj" fmla="val 54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3246120" y="44348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938" y="4575658"/>
            <a:ext cx="358445" cy="35844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069080" y="4270248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5"/>
                </a:solidFill>
              </a:rPr>
              <a:t>MDS 8091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4069080" y="47548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8229600" y="42702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C3 · REST Proxy · 管理 API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48640" y="5577840"/>
            <a:ext cx="7589520" cy="548640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6"/>
                </a:solidFill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8275320" y="5577840"/>
            <a:ext cx="3364992" cy="548640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6"/>
                </a:solidFill>
              </a:rPr>
              <a:t>防火牆:9092 只開給 broker / controller 節點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MDS:RBAC 的中樞(內嵌於 broker)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514600" cy="1920240"/>
          </a:xfrm>
          <a:prstGeom prst="roundRect">
            <a:avLst>
              <a:gd name="adj" fmla="val 7200"/>
            </a:avLst>
          </a:prstGeom>
          <a:solidFill>
            <a:schemeClr val="tx2">
              <a:alpha val="12000"/>
            </a:schemeClr>
          </a:solidFill>
          <a:ln w="19050">
            <a:solidFill>
              <a:schemeClr val="tx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3162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tx2">
              <a:alpha val="15000"/>
            </a:schemeClr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232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945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tx2"/>
                </a:solidFill>
              </a:rPr>
              <a:t>管理者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在 C3 或 API 指派 role binding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83280" y="1417320"/>
            <a:ext cx="2514600" cy="192024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6626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961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56432" y="21945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5"/>
                </a:solidFill>
              </a:rPr>
              <a:t>MDS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換 token · 管理 RBAC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217920" y="1417320"/>
            <a:ext cx="251460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20090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601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91072" y="21945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RBAC topic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role binding 與使用者→群組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9052560" y="1417320"/>
            <a:ext cx="2514600" cy="192024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1003554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6241" y="1675181"/>
            <a:ext cx="307238" cy="30723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125712" y="219456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每台 broker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9144000" y="26060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讀取並 cache,本地授權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3063240" y="2377440"/>
            <a:ext cx="32004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897880" y="2377440"/>
            <a:ext cx="32004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8732520" y="2377440"/>
            <a:ext cx="32004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3383280" y="3657600"/>
            <a:ext cx="2514600" cy="201168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366260" y="3794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6961" y="3915461"/>
            <a:ext cx="307238" cy="307238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3456432" y="4434840"/>
            <a:ext cx="2368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AD(LDAP)</a:t>
            </a:r>
            <a:endParaRPr lang="en-US" sz="1400" dirty="0"/>
          </a:p>
        </p:txBody>
      </p:sp>
      <p:sp>
        <p:nvSpPr>
          <p:cNvPr id="30" name="Text 23"/>
          <p:cNvSpPr txBox="1"/>
          <p:nvPr/>
        </p:nvSpPr>
        <p:spPr>
          <a:xfrm>
            <a:off x="3474720" y="48463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4636008" y="3337560"/>
            <a:ext cx="0" cy="32004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Text 25"/>
          <p:cNvSpPr txBox="1"/>
          <p:nvPr/>
        </p:nvSpPr>
        <p:spPr>
          <a:xfrm>
            <a:off x="4709160" y="336499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查詢 / bind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217920" y="3657600"/>
            <a:ext cx="5422392" cy="2011680"/>
          </a:xfrm>
          <a:prstGeom prst="roundRect">
            <a:avLst>
              <a:gd name="adj" fmla="val 90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3749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5"/>
                </a:solidFill>
              </a:rPr>
              <a:t>重點</a:t>
            </a:r>
            <a:endParaRPr lang="en-US" sz="1500" dirty="0"/>
          </a:p>
        </p:txBody>
      </p:sp>
      <p:sp>
        <p:nvSpPr>
          <p:cNvPr id="35" name="Text 28"/>
          <p:cNvSpPr txBox="1"/>
          <p:nvPr/>
        </p:nvSpPr>
        <p:spPr>
          <a:xfrm>
            <a:off x="6400800" y="4114800"/>
            <a:ext cx="5074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b="1" dirty="0">
                <a:solidFill>
                  <a:schemeClr val="tx1"/>
                </a:solidFill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548640" y="3657600"/>
            <a:ext cx="2514600" cy="201168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417320" y="379476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8021" y="3915461"/>
            <a:ext cx="307238" cy="307238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40080" y="4434840"/>
            <a:ext cx="2331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chemeClr val="accent6"/>
                </a:solidFill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bind DN;不要用真人帳號;建議 LDAPS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AD 群組 → role:依職責分層授權</a:t>
            </a:r>
            <a:endParaRPr lang="zh-TW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2356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讀資料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13232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寫資料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4108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管 topic(建/刪)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137160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tx2"/>
                </a:solidFill>
              </a:rPr>
              <a:t>改授權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911096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2"/>
                </a:solidFill>
              </a:rPr>
              <a:t>kafka-developers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834640" y="191109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DeveloperRead / Write(orders. 前綴)</a:t>
            </a:r>
            <a:endParaRPr lang="en-US" sz="105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0488" y="1975104"/>
            <a:ext cx="365760" cy="36576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975104"/>
            <a:ext cx="365760" cy="365760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1975104"/>
            <a:ext cx="365760" cy="365760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975104"/>
            <a:ext cx="365760" cy="36576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48640" y="2532888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31520" y="256946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1"/>
                </a:solidFill>
              </a:rPr>
              <a:t>kafka-readonly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2834640" y="256946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DeveloperRead</a:t>
            </a:r>
            <a:endParaRPr lang="en-US" sz="10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0488" y="2633472"/>
            <a:ext cx="365760" cy="365760"/>
          </a:xfrm>
          <a:prstGeom prst="rect">
            <a:avLst/>
          </a:prstGeom>
        </p:spPr>
      </p:pic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9248" y="2633472"/>
            <a:ext cx="365760" cy="365760"/>
          </a:xfrm>
          <a:prstGeom prst="rect">
            <a:avLst/>
          </a:prstGeom>
        </p:spPr>
      </p:pic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8008" y="2633472"/>
            <a:ext cx="365760" cy="365760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16768" y="2633472"/>
            <a:ext cx="365760" cy="36576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548640" y="3191256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2" name="Text 12"/>
          <p:cNvSpPr txBox="1"/>
          <p:nvPr/>
        </p:nvSpPr>
        <p:spPr>
          <a:xfrm>
            <a:off x="731520" y="322783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kafka-ops</a:t>
            </a:r>
            <a:endParaRPr lang="en-US" sz="1300" dirty="0"/>
          </a:p>
        </p:txBody>
      </p:sp>
      <p:sp>
        <p:nvSpPr>
          <p:cNvPr id="23" name="Text 13"/>
          <p:cNvSpPr txBox="1"/>
          <p:nvPr/>
        </p:nvSpPr>
        <p:spPr>
          <a:xfrm>
            <a:off x="2834640" y="32278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0488" y="3291840"/>
            <a:ext cx="365760" cy="365760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99248" y="3291840"/>
            <a:ext cx="365760" cy="365760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08008" y="3291840"/>
            <a:ext cx="365760" cy="365760"/>
          </a:xfrm>
          <a:prstGeom prst="rect">
            <a:avLst/>
          </a:prstGeom>
        </p:spPr>
      </p:pic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16768" y="3291840"/>
            <a:ext cx="365760" cy="365760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548640" y="3849624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29" name="Text 15"/>
          <p:cNvSpPr txBox="1"/>
          <p:nvPr/>
        </p:nvSpPr>
        <p:spPr>
          <a:xfrm>
            <a:off x="731520" y="3886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5"/>
                </a:solidFill>
              </a:rPr>
              <a:t>kafka-rbac-admins</a:t>
            </a:r>
            <a:endParaRPr lang="en-US" sz="1300" dirty="0"/>
          </a:p>
        </p:txBody>
      </p:sp>
      <p:sp>
        <p:nvSpPr>
          <p:cNvPr id="30" name="Text 16"/>
          <p:cNvSpPr txBox="1"/>
          <p:nvPr/>
        </p:nvSpPr>
        <p:spPr>
          <a:xfrm>
            <a:off x="2834640" y="38862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UserAdmin</a:t>
            </a:r>
            <a:endParaRPr lang="en-US" sz="1050" dirty="0"/>
          </a:p>
        </p:txBody>
      </p:sp>
      <p:pic>
        <p:nvPicPr>
          <p:cNvPr id="3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90488" y="3950208"/>
            <a:ext cx="365760" cy="365760"/>
          </a:xfrm>
          <a:prstGeom prst="rect">
            <a:avLst/>
          </a:prstGeom>
        </p:spPr>
      </p:pic>
      <p:pic>
        <p:nvPicPr>
          <p:cNvPr id="3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99248" y="3950208"/>
            <a:ext cx="365760" cy="365760"/>
          </a:xfrm>
          <a:prstGeom prst="rect">
            <a:avLst/>
          </a:prstGeom>
        </p:spPr>
      </p:pic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08008" y="3950208"/>
            <a:ext cx="365760" cy="365760"/>
          </a:xfrm>
          <a:prstGeom prst="rect">
            <a:avLst/>
          </a:prstGeom>
        </p:spPr>
      </p:pic>
      <p:pic>
        <p:nvPicPr>
          <p:cNvPr id="3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716768" y="3950208"/>
            <a:ext cx="365760" cy="365760"/>
          </a:xfrm>
          <a:prstGeom prst="rect">
            <a:avLst/>
          </a:prstGeom>
        </p:spPr>
      </p:pic>
      <p:sp>
        <p:nvSpPr>
          <p:cNvPr id="35" name="Shape 17"/>
          <p:cNvSpPr/>
          <p:nvPr/>
        </p:nvSpPr>
        <p:spPr>
          <a:xfrm>
            <a:off x="548640" y="4507992"/>
            <a:ext cx="10927080" cy="566928"/>
          </a:xfrm>
          <a:prstGeom prst="roundRect">
            <a:avLst>
              <a:gd name="adj" fmla="val 108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6" name="Text 18"/>
          <p:cNvSpPr txBox="1"/>
          <p:nvPr/>
        </p:nvSpPr>
        <p:spPr>
          <a:xfrm>
            <a:off x="731520" y="45445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kafka-admins</a:t>
            </a:r>
            <a:endParaRPr lang="en-US" sz="1300" dirty="0"/>
          </a:p>
        </p:txBody>
      </p:sp>
      <p:sp>
        <p:nvSpPr>
          <p:cNvPr id="37" name="Text 19"/>
          <p:cNvSpPr txBox="1"/>
          <p:nvPr/>
        </p:nvSpPr>
        <p:spPr>
          <a:xfrm>
            <a:off x="2834640" y="454456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SystemAdmin(break-glass)</a:t>
            </a:r>
            <a:endParaRPr lang="en-US" sz="1050" dirty="0"/>
          </a:p>
        </p:txBody>
      </p:sp>
      <p:pic>
        <p:nvPicPr>
          <p:cNvPr id="3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190488" y="4608576"/>
            <a:ext cx="365760" cy="365760"/>
          </a:xfrm>
          <a:prstGeom prst="rect">
            <a:avLst/>
          </a:prstGeom>
        </p:spPr>
      </p:pic>
      <p:pic>
        <p:nvPicPr>
          <p:cNvPr id="3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699248" y="4608576"/>
            <a:ext cx="365760" cy="365760"/>
          </a:xfrm>
          <a:prstGeom prst="rect">
            <a:avLst/>
          </a:prstGeom>
        </p:spPr>
      </p:pic>
      <p:pic>
        <p:nvPicPr>
          <p:cNvPr id="4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208008" y="4608576"/>
            <a:ext cx="365760" cy="365760"/>
          </a:xfrm>
          <a:prstGeom prst="rect">
            <a:avLst/>
          </a:prstGeom>
        </p:spPr>
      </p:pic>
      <p:pic>
        <p:nvPicPr>
          <p:cNvPr id="4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716768" y="4608576"/>
            <a:ext cx="365760" cy="365760"/>
          </a:xfrm>
          <a:prstGeom prst="rect">
            <a:avLst/>
          </a:prstGeom>
        </p:spPr>
      </p:pic>
      <p:sp>
        <p:nvSpPr>
          <p:cNvPr id="42" name="Shape 20"/>
          <p:cNvSpPr/>
          <p:nvPr/>
        </p:nvSpPr>
        <p:spPr>
          <a:xfrm>
            <a:off x="2971800" y="5440680"/>
            <a:ext cx="3657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3" name="Text 21"/>
          <p:cNvSpPr/>
          <p:nvPr/>
        </p:nvSpPr>
        <p:spPr>
          <a:xfrm>
            <a:off x="548640" y="5166360"/>
            <a:ext cx="2423160" cy="548640"/>
          </a:xfrm>
          <a:prstGeom prst="roundRect">
            <a:avLst>
              <a:gd name="adj" fmla="val 36000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AD 加入群組</a:t>
            </a:r>
            <a:endParaRPr lang="en-US" sz="1400" dirty="0"/>
          </a:p>
        </p:txBody>
      </p:sp>
      <p:sp>
        <p:nvSpPr>
          <p:cNvPr id="44" name="Shape 22"/>
          <p:cNvSpPr/>
          <p:nvPr/>
        </p:nvSpPr>
        <p:spPr>
          <a:xfrm>
            <a:off x="5760720" y="5440680"/>
            <a:ext cx="3657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5" name="Text 23"/>
          <p:cNvSpPr/>
          <p:nvPr/>
        </p:nvSpPr>
        <p:spPr>
          <a:xfrm>
            <a:off x="3337560" y="5166360"/>
            <a:ext cx="2423160" cy="548640"/>
          </a:xfrm>
          <a:prstGeom prst="roundRect">
            <a:avLst>
              <a:gd name="adj" fmla="val 36000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做事</a:t>
            </a:r>
            <a:endParaRPr lang="en-US" sz="1400" dirty="0"/>
          </a:p>
        </p:txBody>
      </p:sp>
      <p:sp>
        <p:nvSpPr>
          <p:cNvPr id="46" name="Shape 24"/>
          <p:cNvSpPr/>
          <p:nvPr/>
        </p:nvSpPr>
        <p:spPr>
          <a:xfrm>
            <a:off x="8549640" y="5440680"/>
            <a:ext cx="3657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47" name="Text 25"/>
          <p:cNvSpPr/>
          <p:nvPr/>
        </p:nvSpPr>
        <p:spPr>
          <a:xfrm>
            <a:off x="6126480" y="5166360"/>
            <a:ext cx="2423160" cy="548640"/>
          </a:xfrm>
          <a:prstGeom prst="roundRect">
            <a:avLst>
              <a:gd name="adj" fmla="val 36000"/>
            </a:avLst>
          </a:prstGeom>
          <a:solidFill>
            <a:schemeClr val="accent1">
              <a:alpha val="15000"/>
            </a:schemeClr>
          </a:solidFill>
          <a:ln w="1905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AD 移出群組</a:t>
            </a:r>
            <a:endParaRPr lang="en-US" sz="1400" dirty="0"/>
          </a:p>
        </p:txBody>
      </p:sp>
      <p:sp>
        <p:nvSpPr>
          <p:cNvPr id="48" name="Text 26"/>
          <p:cNvSpPr/>
          <p:nvPr/>
        </p:nvSpPr>
        <p:spPr>
          <a:xfrm>
            <a:off x="8915400" y="5166360"/>
            <a:ext cx="2423160" cy="548640"/>
          </a:xfrm>
          <a:prstGeom prst="roundRect">
            <a:avLst>
              <a:gd name="adj" fmla="val 36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audit 留痕</a:t>
            </a:r>
            <a:endParaRPr lang="en-US" sz="1400" dirty="0"/>
          </a:p>
        </p:txBody>
      </p:sp>
      <p:sp>
        <p:nvSpPr>
          <p:cNvPr id="49" name="Text 27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Confluent 內建角色與 scope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1325880"/>
            <a:ext cx="5669280" cy="2651760"/>
          </a:xfrm>
          <a:prstGeom prst="roundRect">
            <a:avLst>
              <a:gd name="adj" fmla="val 27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5"/>
                </a:solidFill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719072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SystemAdmin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73736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全部權限(含改授權);break-glass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UserAdmin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21214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管理授權(role binding),不碰資料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ClusterAdmin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5054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叢集與 topic 設定,不能讀寫資料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871216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Operator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28895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55264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SecurityAdmin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331720" y="3273552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只檢視授權設定,不能改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639312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AuditAdmin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365760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管理稽核(audit)設定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4069080"/>
            <a:ext cx="5669280" cy="1965960"/>
          </a:xfrm>
          <a:prstGeom prst="roundRect">
            <a:avLst>
              <a:gd name="adj" fmla="val 27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41148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2"/>
                </a:solidFill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462272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ResourceOwner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2331720" y="4480560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對該資源全權(含授權該資源)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846320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DeveloperRead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31720" y="486460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讀 topic、加入 consumer group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230368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DeveloperWrite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331720" y="5248656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寫 topic(含 idempotent 寫入)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5614416"/>
            <a:ext cx="1691640" cy="310896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DeveloperManage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331720" y="5632704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chemeClr val="tx1"/>
                </a:solidFill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309360" y="1325880"/>
            <a:ext cx="5330952" cy="4709160"/>
          </a:xfrm>
          <a:prstGeom prst="roundRect">
            <a:avLst>
              <a:gd name="adj" fmla="val 2700"/>
            </a:avLst>
          </a:prstGeom>
          <a:solidFill>
            <a:schemeClr val="bg1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13716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scope 圖:role binding 綁在哪一層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1737360"/>
            <a:ext cx="4965192" cy="3657600"/>
          </a:xfrm>
          <a:prstGeom prst="roundRect">
            <a:avLst>
              <a:gd name="adj" fmla="val 36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2940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① Kafka 叢集(scope = 叢集 ID)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5120" y="2103120"/>
            <a:ext cx="4599432" cy="502920"/>
          </a:xfrm>
          <a:prstGeom prst="roundRect">
            <a:avLst>
              <a:gd name="adj" fmla="val 18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5"/>
                </a:solidFill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② 叢集裡的資源 + 比對方式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75120" y="3017520"/>
            <a:ext cx="2249424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2"/>
                </a:solidFill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orders.  (PREFIXED)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025128" y="3017520"/>
            <a:ext cx="2249424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2"/>
                </a:solidFill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infra.  (PREFIXED)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75120" y="3703320"/>
            <a:ext cx="2249424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2"/>
                </a:solidFill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demo-  (PREFIXED)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9025128" y="3703320"/>
            <a:ext cx="2249424" cy="566928"/>
          </a:xfrm>
          <a:prstGeom prst="roundRect">
            <a:avLst>
              <a:gd name="adj" fmla="val 135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chemeClr val="accent2"/>
                </a:solidFill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/>
                </a:solidFill>
              </a:rPr>
              <a:t>orders.events  (LITERAL)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629400" y="4434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446520" y="54406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本專案的例子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46520" y="5669280"/>
            <a:ext cx="2103120" cy="310896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ops → Operator @ 叢集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41080" y="5669280"/>
            <a:ext cx="2834640" cy="310896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ops → DeveloperManage @ infra.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服務帳號:SCRAM,不放 AD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建立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kafka-configs 在 Kafka 內建立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42316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16352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授權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前綴最小權限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8032" y="242316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84064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使用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權限 600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95744" y="242316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51776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43216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輪替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43216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新帳號並行 → 切換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→ 停舊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63456" y="2423160"/>
            <a:ext cx="25603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19488" y="1463040"/>
            <a:ext cx="2011680" cy="192024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9216" y="157276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710928" y="20299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保管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710928" y="2514600"/>
            <a:ext cx="1828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密碼放密碼庫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566160"/>
            <a:ext cx="3520440" cy="109728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7490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3889858"/>
            <a:ext cx="358445" cy="35844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508760" y="3657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不在 AD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251960" y="3566160"/>
            <a:ext cx="3520440" cy="109728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434840" y="37490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5658" y="3889858"/>
            <a:ext cx="358445" cy="358445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5212080" y="3657600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要有輪替流程與提醒</a:t>
            </a:r>
            <a:endParaRPr lang="en-US" sz="1300" dirty="0"/>
          </a:p>
        </p:txBody>
      </p:sp>
      <p:sp>
        <p:nvSpPr>
          <p:cNvPr id="35" name="Shape 31"/>
          <p:cNvSpPr/>
          <p:nvPr/>
        </p:nvSpPr>
        <p:spPr>
          <a:xfrm>
            <a:off x="7955280" y="3566160"/>
            <a:ext cx="3685032" cy="109728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8138160" y="37490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8978" y="3889858"/>
            <a:ext cx="358445" cy="358445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8915400" y="36576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不走 AD 登入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AD 沒有服務帳號</a:t>
            </a:r>
            <a:endParaRPr lang="en-US" sz="1300" dirty="0"/>
          </a:p>
        </p:txBody>
      </p:sp>
      <p:sp>
        <p:nvSpPr>
          <p:cNvPr id="39" name="Text 34"/>
          <p:cNvSpPr/>
          <p:nvPr/>
        </p:nvSpPr>
        <p:spPr>
          <a:xfrm>
            <a:off x="548640" y="4846320"/>
            <a:ext cx="2514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① 建新帳號 svc-x-v2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3063240" y="5038344"/>
            <a:ext cx="34747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1" name="Text 36"/>
          <p:cNvSpPr/>
          <p:nvPr/>
        </p:nvSpPr>
        <p:spPr>
          <a:xfrm>
            <a:off x="3410712" y="4846320"/>
            <a:ext cx="2514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② 重綁相同 role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5925312" y="5038344"/>
            <a:ext cx="34747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3" name="Text 38"/>
          <p:cNvSpPr/>
          <p:nvPr/>
        </p:nvSpPr>
        <p:spPr>
          <a:xfrm>
            <a:off x="6272784" y="4846320"/>
            <a:ext cx="2514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③ 應用逐步切換</a:t>
            </a:r>
            <a:endParaRPr lang="en-US" sz="1200" dirty="0"/>
          </a:p>
        </p:txBody>
      </p:sp>
      <p:sp>
        <p:nvSpPr>
          <p:cNvPr id="44" name="Shape 39"/>
          <p:cNvSpPr/>
          <p:nvPr/>
        </p:nvSpPr>
        <p:spPr>
          <a:xfrm>
            <a:off x="8787384" y="5038344"/>
            <a:ext cx="347472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5" name="Text 40"/>
          <p:cNvSpPr/>
          <p:nvPr/>
        </p:nvSpPr>
        <p:spPr>
          <a:xfrm>
            <a:off x="9134856" y="4846320"/>
            <a:ext cx="251460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④ 刪舊帳號與舊 binding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548640" y="5440680"/>
            <a:ext cx="11091672" cy="822960"/>
          </a:xfrm>
          <a:prstGeom prst="roundRect">
            <a:avLst>
              <a:gd name="adj" fmla="val 9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bg1"/>
                </a:solidFill>
              </a:rPr>
              <a:t>同帳號重設密碼 = 取代:舊密碼立即失效(實測)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chemeClr val="bg1"/>
                </a:solidFill>
              </a:rPr>
              <a:t>不想換帳號名:同帳號可有 SHA-256 + SHA-512 兩組密碼並行(實測可行;需在 broker 設定檔啟用兩機制並重啟)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REST Proxy:legacy app 的入口</a:t>
            </a:r>
            <a:endParaRPr lang="zh-TW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人(Postman · 手動測試)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0" y="1627632"/>
            <a:ext cx="2103120" cy="566928"/>
          </a:xfrm>
          <a:prstGeom prst="roundRect">
            <a:avLst>
              <a:gd name="adj" fmla="val 90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49040" y="1700784"/>
            <a:ext cx="420624" cy="420624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1577" y="1793321"/>
            <a:ext cx="235549" cy="23554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251960" y="170078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MDS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 flipV="1">
            <a:off x="4343400" y="2194560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029200" y="2194560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Text 7"/>
          <p:cNvSpPr txBox="1"/>
          <p:nvPr/>
        </p:nvSpPr>
        <p:spPr>
          <a:xfrm>
            <a:off x="5852160" y="15544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48640" y="2377440"/>
            <a:ext cx="1828800" cy="73152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49631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687" y="2600919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249631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人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657600" y="2377440"/>
            <a:ext cx="2103120" cy="73152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749040" y="249631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3647" y="2600919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97680" y="249631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REST Proxy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949440" y="2377440"/>
            <a:ext cx="1828800" cy="73152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040880" y="249631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5487" y="2600919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589520" y="249631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broker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2377440" y="2743200"/>
            <a:ext cx="128016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5760720" y="2743200"/>
            <a:ext cx="1188720" cy="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5" name="Text 19"/>
          <p:cNvSpPr txBox="1"/>
          <p:nvPr/>
        </p:nvSpPr>
        <p:spPr>
          <a:xfrm>
            <a:off x="155448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Basic(AD 帳密)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5532120" y="3154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OAUTHBEARER(帶 token)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8915400" y="2468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1"/>
                </a:solidFill>
              </a:rPr>
              <a:t>主體 = token 的 sub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347472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機器(legacy app)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3657600" y="3822192"/>
            <a:ext cx="2103120" cy="566928"/>
          </a:xfrm>
          <a:prstGeom prst="roundRect">
            <a:avLst>
              <a:gd name="adj" fmla="val 90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749040" y="3895344"/>
            <a:ext cx="420624" cy="420624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1577" y="3987881"/>
            <a:ext cx="235549" cy="235549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4251960" y="389534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tx1"/>
                </a:solidFill>
              </a:rPr>
              <a:t>MDS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 flipV="1">
            <a:off x="4343400" y="4389120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5029200" y="4389120"/>
            <a:ext cx="0" cy="18288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5" name="Text 28"/>
          <p:cNvSpPr txBox="1"/>
          <p:nvPr/>
        </p:nvSpPr>
        <p:spPr>
          <a:xfrm>
            <a:off x="5852160" y="3749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5"/>
                </a:solidFill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548640" y="4572000"/>
            <a:ext cx="1828800" cy="73152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40080" y="469087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4687" y="4795479"/>
            <a:ext cx="266273" cy="266273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1188720" y="469087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legacy app</a:t>
            </a:r>
            <a:endParaRPr lang="en-US" sz="1300" dirty="0"/>
          </a:p>
        </p:txBody>
      </p:sp>
      <p:sp>
        <p:nvSpPr>
          <p:cNvPr id="40" name="Shape 32"/>
          <p:cNvSpPr/>
          <p:nvPr/>
        </p:nvSpPr>
        <p:spPr>
          <a:xfrm>
            <a:off x="3657600" y="4572000"/>
            <a:ext cx="2103120" cy="73152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3749040" y="469087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53647" y="4795479"/>
            <a:ext cx="266273" cy="266273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4297680" y="46908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REST Proxy</a:t>
            </a:r>
            <a:endParaRPr lang="en-US" sz="1300" dirty="0"/>
          </a:p>
        </p:txBody>
      </p:sp>
      <p:sp>
        <p:nvSpPr>
          <p:cNvPr id="44" name="Shape 35"/>
          <p:cNvSpPr/>
          <p:nvPr/>
        </p:nvSpPr>
        <p:spPr>
          <a:xfrm>
            <a:off x="6949440" y="4572000"/>
            <a:ext cx="1828800" cy="73152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7040880" y="4690872"/>
            <a:ext cx="475488" cy="475488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45487" y="4795479"/>
            <a:ext cx="266273" cy="266273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7589520" y="4690872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broker</a:t>
            </a:r>
            <a:endParaRPr lang="en-US" sz="1300" dirty="0"/>
          </a:p>
        </p:txBody>
      </p:sp>
      <p:sp>
        <p:nvSpPr>
          <p:cNvPr id="48" name="Shape 38"/>
          <p:cNvSpPr/>
          <p:nvPr/>
        </p:nvSpPr>
        <p:spPr>
          <a:xfrm>
            <a:off x="2377440" y="4937760"/>
            <a:ext cx="128016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49" name="Shape 39"/>
          <p:cNvSpPr/>
          <p:nvPr/>
        </p:nvSpPr>
        <p:spPr>
          <a:xfrm>
            <a:off x="5760720" y="4937760"/>
            <a:ext cx="1188720" cy="0"/>
          </a:xfrm>
          <a:prstGeom prst="line">
            <a:avLst/>
          </a:prstGeom>
          <a:noFill/>
          <a:ln w="2857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50" name="Text 40"/>
          <p:cNvSpPr txBox="1"/>
          <p:nvPr/>
        </p:nvSpPr>
        <p:spPr>
          <a:xfrm>
            <a:off x="1554480" y="5349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① client 憑證(CN)→ 對映成主體</a:t>
            </a:r>
            <a:endParaRPr lang="en-US" sz="1000" dirty="0"/>
          </a:p>
        </p:txBody>
      </p:sp>
      <p:sp>
        <p:nvSpPr>
          <p:cNvPr id="51" name="Text 41"/>
          <p:cNvSpPr txBox="1"/>
          <p:nvPr/>
        </p:nvSpPr>
        <p:spPr>
          <a:xfrm>
            <a:off x="5532120" y="53492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⑤ OAUTHBEARER(帶 token)</a:t>
            </a:r>
            <a:endParaRPr lang="en-US" sz="1000" dirty="0"/>
          </a:p>
        </p:txBody>
      </p:sp>
      <p:sp>
        <p:nvSpPr>
          <p:cNvPr id="52" name="Text 42"/>
          <p:cNvSpPr txBox="1"/>
          <p:nvPr/>
        </p:nvSpPr>
        <p:spPr>
          <a:xfrm>
            <a:off x="8915400" y="466344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主體 = token 的 sub</a:t>
            </a:r>
            <a:endParaRPr lang="en-US" sz="1000" dirty="0"/>
          </a:p>
        </p:txBody>
      </p:sp>
      <p:sp>
        <p:nvSpPr>
          <p:cNvPr id="53" name="Text 43"/>
          <p:cNvSpPr/>
          <p:nvPr/>
        </p:nvSpPr>
        <p:spPr>
          <a:xfrm>
            <a:off x="548640" y="5715000"/>
            <a:ext cx="11091672" cy="347472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4" name="Text 44"/>
          <p:cNvSpPr/>
          <p:nvPr/>
        </p:nvSpPr>
        <p:spPr>
          <a:xfrm>
            <a:off x="548640" y="6089904"/>
            <a:ext cx="11091672" cy="347472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6"/>
                </a:solidFill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Control Center:人用本人身分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Basic 登入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瀏覽器送 AD 帳密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33172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16352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907792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C3 轉給 MDS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907792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MDS 向 AD 驗證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28032" y="233172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084064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93792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75504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回 token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175504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JWT 壽命可設(demo 1 小時),會續期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C3 登入上限預設 6 小時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95744" y="233172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51776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61504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43216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之後帶 Bearer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443216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優先看 Bearer(實測)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363456" y="2331720"/>
            <a:ext cx="256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619488" y="1417320"/>
            <a:ext cx="2011680" cy="182880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29216" y="1527048"/>
            <a:ext cx="384048" cy="384048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9710928" y="1984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驗章 + 查範圍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710928" y="24688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再向 MDS 查權限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3520440"/>
            <a:ext cx="5440680" cy="137160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365760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3798418"/>
            <a:ext cx="358445" cy="35844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508760" y="36118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chemeClr val="accent1"/>
                </a:solidFill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audit 主體 = User:gary / ming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6199632" y="3520440"/>
            <a:ext cx="5440680" cy="137160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82512" y="365760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3798418"/>
            <a:ext cx="358445" cy="358445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7159752" y="36118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chemeClr val="accent2"/>
                </a:solidFill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chemeClr val="tx1"/>
                </a:solidFill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官方要求 SystemAdmin</a:t>
            </a:r>
            <a:endParaRPr lang="en-US" sz="1500" dirty="0"/>
          </a:p>
        </p:txBody>
      </p:sp>
      <p:sp>
        <p:nvSpPr>
          <p:cNvPr id="35" name="Text 31"/>
          <p:cNvSpPr/>
          <p:nvPr/>
        </p:nvSpPr>
        <p:spPr>
          <a:xfrm>
            <a:off x="548640" y="5257800"/>
            <a:ext cx="544068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199632" y="5257800"/>
            <a:ext cx="5440680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6"/>
                </a:solidFill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7" name="Text 33"/>
          <p:cNvSpPr txBox="1"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C3 周邊:Prometheus · Alertmanager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743200" cy="210312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662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9456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Control Center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next-gen 2.x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06240" y="1417320"/>
            <a:ext cx="2743200" cy="210312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0352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221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79392" y="219456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Prometheus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2606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指標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7863840" y="1417320"/>
            <a:ext cx="2743200" cy="210312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96112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821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936992" y="2194560"/>
            <a:ext cx="25968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Alertmanager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955280" y="26060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告警 · 靜音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3291840" y="246888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6949440" y="2468880"/>
            <a:ext cx="9144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548640" y="3794760"/>
            <a:ext cx="5486400" cy="1600200"/>
          </a:xfrm>
          <a:prstGeom prst="roundRect">
            <a:avLst>
              <a:gd name="adj" fmla="val 90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31520" y="393192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338" y="4072738"/>
            <a:ext cx="358445" cy="35844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508760" y="38862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chemeClr val="accent6"/>
                </a:solidFill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199632" y="3794760"/>
            <a:ext cx="5440680" cy="160020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82512" y="393192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3330" y="4072738"/>
            <a:ext cx="358445" cy="35844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159752" y="3886200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官方支援 TLS + HTTP Basic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chemeClr val="tx1"/>
                </a:solidFill>
              </a:rPr>
              <a:t>正式環境應啟用;客戶不想管憑證 → 共用 server 憑證做 TLS + Basic 帳密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548640" y="5623560"/>
            <a:ext cx="749808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1"/>
                </a:solidFill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8229600" y="5623560"/>
            <a:ext cx="3410712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chemeClr val="accent2"/>
                </a:solidFill>
              </a:rPr>
              <a:t>啟用後的實測:尚未做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Audit log:誰被拒、誰改了授權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233172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4540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16751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accent5"/>
                </a:solidFill>
              </a:rPr>
              <a:t>官方預設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→ confluent-audit-log-events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25112" y="1417320"/>
            <a:ext cx="3520440" cy="233172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11012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713" y="167518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398264" y="21945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accent3"/>
                </a:solidFill>
              </a:rPr>
              <a:t>自訂 router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416552" y="260604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被允許的 consume 不記(避免洗版)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01584" y="1417320"/>
            <a:ext cx="3538728" cy="23317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596628" y="15544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7329" y="1675181"/>
            <a:ext cx="307238" cy="30723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174736" y="2194560"/>
            <a:ext cx="3392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chemeClr val="accent6"/>
                </a:solidFill>
              </a:rPr>
              <a:t>查不到的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8193024" y="2606040"/>
            <a:ext cx="33558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chemeClr val="tx1">
                    <a:alpha val="62000"/>
                  </a:schemeClr>
                </a:solidFill>
              </a:rPr>
              <a:t>REST Proxy 的 actingPrincipal 為空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069080" y="2560320"/>
            <a:ext cx="25603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845552" y="2560320"/>
            <a:ext cx="25603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0" name="Text 15"/>
          <p:cNvSpPr/>
          <p:nvPr/>
        </p:nvSpPr>
        <p:spPr>
          <a:xfrm>
            <a:off x="548640" y="4069080"/>
            <a:ext cx="548640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accent3"/>
                </a:solidFill>
              </a:rPr>
              <a:t>能看到:誰被拒(需自訂 router)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153912" y="4069080"/>
            <a:ext cx="548640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accent3"/>
                </a:solidFill>
              </a:rPr>
              <a:t>能看到:誰嘗試改授權(DENIED)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548640" y="461772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accent1"/>
                </a:solidFill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48640" y="516636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548640" y="566928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bg1"/>
                </a:solidFill>
              </a:rPr>
              <a:t>整合起來</a:t>
            </a:r>
            <a:endParaRPr lang="zh-TW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bg2"/>
                </a:solidFill>
              </a:rPr>
              <a:t>全景 · 人與機器的完整路徑 · 要管理的憑證 · 導入步驟 · 風險</a:t>
            </a:r>
            <a:endParaRPr lang="zh-TW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全景整合圖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2560320" cy="196596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630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60385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630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人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2402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身分來自 AD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566160"/>
            <a:ext cx="2560320" cy="201168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370332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178" y="384413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37033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chemeClr val="accent2"/>
                </a:solidFill>
              </a:rPr>
              <a:t>機器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594360" y="4480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chemeClr val="tx1"/>
                </a:solidFill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2"/>
                </a:solidFill>
              </a:rPr>
              <a:t>SCRAM 連 Kafka;憑證連 REST Proxy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611880" y="1325880"/>
            <a:ext cx="2331720" cy="4251960"/>
          </a:xfrm>
          <a:prstGeom prst="roundRect">
            <a:avLst>
              <a:gd name="adj" fmla="val 9000"/>
            </a:avLst>
          </a:prstGeom>
          <a:solidFill>
            <a:schemeClr val="accent4">
              <a:alpha val="12000"/>
            </a:schemeClr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611880" y="13898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accent4"/>
                </a:solidFill>
              </a:rPr>
              <a:t>入口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794760" y="1828800"/>
            <a:ext cx="1965960" cy="1143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人:Basic → token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794760" y="3154680"/>
            <a:ext cx="1965960" cy="1143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legacy app:憑證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794760" y="4480560"/>
            <a:ext cx="1965960" cy="9601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應用:SCRAM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017520" y="2468880"/>
            <a:ext cx="59436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3017520" y="4572000"/>
            <a:ext cx="594360" cy="0"/>
          </a:xfrm>
          <a:prstGeom prst="line">
            <a:avLst/>
          </a:prstGeom>
          <a:noFill/>
          <a:ln w="3810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Shape 16"/>
          <p:cNvSpPr/>
          <p:nvPr/>
        </p:nvSpPr>
        <p:spPr>
          <a:xfrm>
            <a:off x="6492240" y="1325880"/>
            <a:ext cx="3566160" cy="425196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675120" y="138988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chemeClr val="accent3"/>
                </a:solidFill>
              </a:rPr>
              <a:t>Kafka 叢集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6675120" y="1828800"/>
            <a:ext cx="1508760" cy="11887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</a:rPr>
              <a:t>+ MDS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275320" y="1828800"/>
            <a:ext cx="1600200" cy="11887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</a:rPr>
              <a:t>+ MDS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6675120" y="3246120"/>
            <a:ext cx="3200400" cy="73152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controller(正式 3 個)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6675120" y="4206240"/>
            <a:ext cx="3200400" cy="1143000"/>
          </a:xfrm>
          <a:prstGeom prst="roundRect">
            <a:avLst>
              <a:gd name="adj" fmla="val 7200"/>
            </a:avLst>
          </a:prstGeom>
          <a:solidFill>
            <a:schemeClr val="bg1"/>
          </a:solidFill>
          <a:ln w="19050">
            <a:solidFill>
              <a:schemeClr val="accent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chemeClr val="accent5"/>
                </a:solidFill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broker 本地 cache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943600" y="3429000"/>
            <a:ext cx="54864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10607040" y="1325880"/>
            <a:ext cx="1143000" cy="1737360"/>
          </a:xfrm>
          <a:prstGeom prst="roundRect">
            <a:avLst>
              <a:gd name="adj" fmla="val 90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10863072" y="14630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03890" y="1603858"/>
            <a:ext cx="358445" cy="35844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0607040" y="2240280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chemeClr val="tx1">
                    <a:alpha val="62000"/>
                  </a:schemeClr>
                </a:solidFill>
              </a:rPr>
              <a:t>LDAP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10058400" y="219456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10607040" y="3383280"/>
            <a:ext cx="1143000" cy="219456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0863072" y="352044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3890" y="3661258"/>
            <a:ext cx="358445" cy="35844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0607040" y="4251960"/>
            <a:ext cx="1143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chemeClr val="accent2"/>
                </a:solidFill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chemeClr val="tx1">
                    <a:alpha val="62000"/>
                  </a:schemeClr>
                </a:solidFill>
              </a:rPr>
              <a:t>(C3 用)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457200" y="5806440"/>
            <a:ext cx="914400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1"/>
                </a:solidFill>
              </a:rPr>
              <a:t>人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1508760" y="5806440"/>
            <a:ext cx="1554480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2"/>
                </a:solidFill>
              </a:rPr>
              <a:t>機器 / 服務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3200400" y="5806440"/>
            <a:ext cx="1463040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3"/>
                </a:solidFill>
              </a:rPr>
              <a:t>叢集 / 平台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4800600" y="5806440"/>
            <a:ext cx="1463040" cy="384048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accent5"/>
                </a:solidFill>
              </a:rPr>
              <a:t>MDS / RBAC</a:t>
            </a:r>
            <a:endParaRPr lang="en-US" sz="1100" dirty="0"/>
          </a:p>
        </p:txBody>
      </p:sp>
      <p:sp>
        <p:nvSpPr>
          <p:cNvPr id="40" name="Text 34"/>
          <p:cNvSpPr txBox="1"/>
          <p:nvPr/>
        </p:nvSpPr>
        <p:spPr>
          <a:xfrm>
            <a:off x="6583680" y="58064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chemeClr val="tx2"/>
                </a:solidFill>
              </a:rPr>
              <a:t>授權集中在 MDS 的 RBAC;人綁 AD 群組,服務綁 User: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人的完整路徑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8525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瀏覽器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0896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→ MDS(LDAP)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37760" y="207568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525780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(JWT,壽命可設)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207568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740664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連 broker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235440" y="207568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955548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(AD 群組)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92608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20040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" y="3361334"/>
            <a:ext cx="409651" cy="4096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554480" y="3246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broker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10896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帳密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37760" y="358444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Text 16"/>
          <p:cNvSpPr/>
          <p:nvPr/>
        </p:nvSpPr>
        <p:spPr>
          <a:xfrm>
            <a:off x="525780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驗證並取群組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086600" y="358444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Text 18"/>
          <p:cNvSpPr/>
          <p:nvPr/>
        </p:nvSpPr>
        <p:spPr>
          <a:xfrm>
            <a:off x="740664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(AD 群組)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235440" y="358444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955548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audit 留痕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" y="443484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85800" y="470916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4870094"/>
            <a:ext cx="409651" cy="40965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55448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Postman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310896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Basic 帳密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937760" y="509320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Text 26"/>
          <p:cNvSpPr/>
          <p:nvPr/>
        </p:nvSpPr>
        <p:spPr>
          <a:xfrm>
            <a:off x="525780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MDS 驗證 → token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086600" y="509320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3" name="Text 28"/>
          <p:cNvSpPr/>
          <p:nvPr/>
        </p:nvSpPr>
        <p:spPr>
          <a:xfrm>
            <a:off x="740664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連 broker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9235440" y="5093208"/>
            <a:ext cx="3200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5" name="Text 30"/>
          <p:cNvSpPr/>
          <p:nvPr/>
        </p:nvSpPr>
        <p:spPr>
          <a:xfrm>
            <a:off x="955548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(AD 群組)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1"/>
                </a:solidFill>
              </a:rPr>
              <a:t>三條路徑最後都由 RBAC 依「AD 群組」授權:人員異動只改 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機器的完整路徑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69164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6734" y="1852574"/>
            <a:ext cx="409651" cy="40965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73736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SCRAM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10896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帳號密碼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937760" y="207568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9" name="Text 6"/>
          <p:cNvSpPr/>
          <p:nvPr/>
        </p:nvSpPr>
        <p:spPr>
          <a:xfrm>
            <a:off x="525780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(帳密在 KRaft)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086600" y="207568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1" name="Text 8"/>
          <p:cNvSpPr/>
          <p:nvPr/>
        </p:nvSpPr>
        <p:spPr>
          <a:xfrm>
            <a:off x="740664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User:svc-x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235440" y="207568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Text 10"/>
          <p:cNvSpPr/>
          <p:nvPr/>
        </p:nvSpPr>
        <p:spPr>
          <a:xfrm>
            <a:off x="9555480" y="164592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audit 留痕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292608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5800" y="320040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34" y="3361334"/>
            <a:ext cx="409651" cy="409651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554480" y="32461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HTTP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10896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(CN = 主體)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937760" y="358444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Text 16"/>
          <p:cNvSpPr/>
          <p:nvPr/>
        </p:nvSpPr>
        <p:spPr>
          <a:xfrm>
            <a:off x="525780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→ /impersonate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086600" y="358444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2" name="Text 18"/>
          <p:cNvSpPr/>
          <p:nvPr/>
        </p:nvSpPr>
        <p:spPr>
          <a:xfrm>
            <a:off x="740664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OAUTHBEARER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9235440" y="3584448"/>
            <a:ext cx="320040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4" name="Text 20"/>
          <p:cNvSpPr/>
          <p:nvPr/>
        </p:nvSpPr>
        <p:spPr>
          <a:xfrm>
            <a:off x="9555480" y="315468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User:app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" y="4434840"/>
            <a:ext cx="11091672" cy="1325880"/>
          </a:xfrm>
          <a:prstGeom prst="roundRect">
            <a:avLst>
              <a:gd name="adj" fmla="val 54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85800" y="4709160"/>
            <a:ext cx="731520" cy="73152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" y="4870094"/>
            <a:ext cx="409651" cy="409651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1554480" y="475488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chemeClr val="accent3"/>
                </a:solidFill>
              </a:rPr>
              <a:t>C3 · REST Proxy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310896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(CN=c3 / restproxy)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937760" y="5093208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1" name="Text 26"/>
          <p:cNvSpPr/>
          <p:nvPr/>
        </p:nvSpPr>
        <p:spPr>
          <a:xfrm>
            <a:off x="525780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MDS 換 token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7086600" y="5093208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3" name="Text 28"/>
          <p:cNvSpPr/>
          <p:nvPr/>
        </p:nvSpPr>
        <p:spPr>
          <a:xfrm>
            <a:off x="740664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或專屬 role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9235440" y="5093208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35" name="Text 30"/>
          <p:cNvSpPr/>
          <p:nvPr/>
        </p:nvSpPr>
        <p:spPr>
          <a:xfrm>
            <a:off x="9555480" y="4663440"/>
            <a:ext cx="1828800" cy="868680"/>
          </a:xfrm>
          <a:prstGeom prst="roundRect">
            <a:avLst>
              <a:gd name="adj" fmla="val 9000"/>
            </a:avLst>
          </a:prstGeom>
          <a:solidFill>
            <a:schemeClr val="bg1"/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chemeClr val="tx1"/>
                </a:solidFill>
              </a:rPr>
              <a:t>防被冒充</a:t>
            </a:r>
            <a:endParaRPr lang="en-US" sz="1100" dirty="0"/>
          </a:p>
        </p:txBody>
      </p:sp>
      <p:sp>
        <p:nvSpPr>
          <p:cNvPr id="36" name="Text 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機器不進 AD:身分在 Kafka 內(SCRAM)或憑證(CN),RBAC 綁 User: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要管理的憑證與帳號</a:t>
            </a:r>
            <a:endParaRPr lang="zh-TW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9144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bg1"/>
                          </a:solidFill>
                        </a:rPr>
                        <a:t>項目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bg1"/>
                          </a:solidFill>
                        </a:rPr>
                        <a:t>數量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bg1"/>
                          </a:solidFill>
                        </a:rPr>
                        <a:t>存放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bg1"/>
                          </a:solidFill>
                        </a:rPr>
                        <a:t>輪替 / 備註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server 憑證(共用)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1 組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所有節點 secrets 目錄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SAN 涵蓋全部;逐台換;換 CA 時 truststore 先信任新舊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平台 client 憑證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3(c3 · restproxy · bootstrap)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對應主機;bootstrap 離線保管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RBAC 綁 CN,CN 不變則不用重綁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legacy app client 憑證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每個 app 1 張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app 主機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可省:若客戶能建一般 AD user,改 Basic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SCRAM 服務帳號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每個服務 1 個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KRaft 內;密碼放密碼庫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密碼不自動到期 → 輪替流程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AD 唯讀查詢帳號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broker 設定(權限 600)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只讀 user / group OU;建議 LDAPS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bootstrap SCRAM 帳號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KRaft 內;密碼封存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與 bootstrap 憑證同名的 super user;break-glass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chemeClr val="tx1"/>
                          </a:solidFill>
                        </a:rPr>
                        <a:t>AD 群組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alpha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AD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chemeClr val="tx1"/>
                          </a:solidFill>
                        </a:rPr>
                        <a:t>人員異動只改 AD</a:t>
                      </a:r>
                      <a:endParaRPr lang="zh-TW" sz="11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585216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最少化:1 server 憑證 + 2 長期 client 憑證 + 1 備用(bootstrap)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導入步驟(RHEL 9 手動部署)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39" y="223387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179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憑證與 truststore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含 AD 的 LDAPS CA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4028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42316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6324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97180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2559" y="2233879"/>
            <a:ext cx="332842" cy="33284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9631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controller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251460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format + add-scram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11480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429768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93776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84632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079" y="223387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37083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broker + MDS + LDAP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438912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三個 listener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98932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17220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81228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672084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599" y="2233879"/>
            <a:ext cx="332842" cy="33284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24535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第一批 role binding</a:t>
            </a:r>
            <a:endParaRPr lang="en-US" sz="1250" dirty="0"/>
          </a:p>
        </p:txBody>
      </p:sp>
      <p:sp>
        <p:nvSpPr>
          <p:cNvPr id="29" name="Text 23"/>
          <p:cNvSpPr txBox="1"/>
          <p:nvPr/>
        </p:nvSpPr>
        <p:spPr>
          <a:xfrm>
            <a:off x="626364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bootstrap → kafka-admins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86384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1" name="Shape 25"/>
          <p:cNvSpPr/>
          <p:nvPr/>
        </p:nvSpPr>
        <p:spPr>
          <a:xfrm>
            <a:off x="804672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868680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859536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6119" y="2233879"/>
            <a:ext cx="332842" cy="332842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811987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REST Proxy · C3 · 監控</a:t>
            </a:r>
            <a:endParaRPr lang="en-US" sz="1250" dirty="0"/>
          </a:p>
        </p:txBody>
      </p:sp>
      <p:sp>
        <p:nvSpPr>
          <p:cNvPr id="36" name="Text 29"/>
          <p:cNvSpPr txBox="1"/>
          <p:nvPr/>
        </p:nvSpPr>
        <p:spPr>
          <a:xfrm>
            <a:off x="813816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Prometheus + Alertmanager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738360" y="2743200"/>
            <a:ext cx="182880" cy="0"/>
          </a:xfrm>
          <a:prstGeom prst="line">
            <a:avLst/>
          </a:prstGeom>
          <a:noFill/>
          <a:ln w="222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38" name="Shape 31"/>
          <p:cNvSpPr/>
          <p:nvPr/>
        </p:nvSpPr>
        <p:spPr>
          <a:xfrm>
            <a:off x="9921240" y="1463040"/>
            <a:ext cx="1691640" cy="26517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10561320" y="1554480"/>
            <a:ext cx="411480" cy="411480"/>
          </a:xfrm>
          <a:prstGeom prst="roundRect">
            <a:avLst>
              <a:gd name="adj" fmla="val 450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bg1"/>
                </a:solidFill>
              </a:rPr>
              <a:t>6</a:t>
            </a:r>
            <a:endParaRPr lang="en-US" sz="1400" dirty="0"/>
          </a:p>
        </p:txBody>
      </p:sp>
      <p:sp>
        <p:nvSpPr>
          <p:cNvPr id="40" name="Shape 33"/>
          <p:cNvSpPr/>
          <p:nvPr/>
        </p:nvSpPr>
        <p:spPr>
          <a:xfrm>
            <a:off x="10469880" y="2103120"/>
            <a:ext cx="594360" cy="59436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00639" y="2233879"/>
            <a:ext cx="332842" cy="33284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994392" y="2834640"/>
            <a:ext cx="1545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chemeClr val="tx1"/>
                </a:solidFill>
              </a:rPr>
              <a:t>audit 與驗證</a:t>
            </a:r>
            <a:endParaRPr lang="en-US" sz="1250" dirty="0"/>
          </a:p>
        </p:txBody>
      </p:sp>
      <p:sp>
        <p:nvSpPr>
          <p:cNvPr id="43" name="Text 35"/>
          <p:cNvSpPr txBox="1"/>
          <p:nvPr/>
        </p:nvSpPr>
        <p:spPr>
          <a:xfrm>
            <a:off x="10012680" y="342900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chemeClr val="tx1">
                    <a:alpha val="62000"/>
                  </a:schemeClr>
                </a:solidFill>
              </a:rPr>
              <a:t>路由 + 逐項驗證</a:t>
            </a:r>
            <a:endParaRPr lang="en-US" sz="1050" dirty="0"/>
          </a:p>
        </p:txBody>
      </p:sp>
      <p:sp>
        <p:nvSpPr>
          <p:cNvPr id="44" name="Text 36"/>
          <p:cNvSpPr/>
          <p:nvPr/>
        </p:nvSpPr>
        <p:spPr>
          <a:xfrm>
            <a:off x="548640" y="443484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6">
              <a:alpha val="12000"/>
            </a:schemeClr>
          </a:solidFill>
          <a:ln w="15875">
            <a:solidFill>
              <a:schemeClr val="accent6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6"/>
                </a:solidFill>
              </a:rPr>
              <a:t>順序錯誤需重新 format:controller 要在 broker 啟動前預建 SCRAM 憑證</a:t>
            </a:r>
            <a:endParaRPr lang="en-US" sz="1300" dirty="0"/>
          </a:p>
        </p:txBody>
      </p:sp>
      <p:sp>
        <p:nvSpPr>
          <p:cNvPr id="45" name="Text 37"/>
          <p:cNvSpPr/>
          <p:nvPr/>
        </p:nvSpPr>
        <p:spPr>
          <a:xfrm>
            <a:off x="548640" y="498348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6" name="Text 38"/>
          <p:cNvSpPr txBox="1"/>
          <p:nvPr/>
        </p:nvSpPr>
        <p:spPr>
          <a:xfrm>
            <a:off x="548640" y="55778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chemeClr val="tx1">
                    <a:alpha val="62000"/>
                  </a:schemeClr>
                </a:solidFill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風險與對策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591970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c3 憑證 = 管理員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29077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3716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914" y="159197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56632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restproxy 憑證可代人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62272" y="21031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462272" y="29077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對策:特權身分逐一以 User: 列入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13716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38744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386" y="1591970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33104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共用 server 私鑰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38744" y="21031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發現:外洩 = 可偽裝伺服器,也能以共用身分向 MDS 認證(無權限)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238744" y="29077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對策:權限 600;最小化存放;輪替計畫;該身分不綁 role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548640" y="38862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85800" y="39959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442" y="410657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80160" y="39959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SCRAM 密碼不到期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85800" y="46177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85800" y="54223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對策:密碼庫 + 輪替流程 + 提醒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4325112" y="38862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4462272" y="39959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914" y="4106570"/>
            <a:ext cx="281635" cy="28163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056632" y="39959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監控元件預設未認證</a:t>
            </a:r>
            <a:endParaRPr lang="en-US" sz="1350" dirty="0"/>
          </a:p>
        </p:txBody>
      </p:sp>
      <p:sp>
        <p:nvSpPr>
          <p:cNvPr id="31" name="Text 24"/>
          <p:cNvSpPr/>
          <p:nvPr/>
        </p:nvSpPr>
        <p:spPr>
          <a:xfrm>
            <a:off x="4462272" y="46177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2" name="Text 25"/>
          <p:cNvSpPr/>
          <p:nvPr/>
        </p:nvSpPr>
        <p:spPr>
          <a:xfrm>
            <a:off x="4462272" y="54223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8101584" y="3886200"/>
            <a:ext cx="3520440" cy="233172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8238744" y="39959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9386" y="4106570"/>
            <a:ext cx="281635" cy="28163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8833104" y="39959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audit 不是全記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8238744" y="4617720"/>
            <a:ext cx="3246120" cy="73152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8238744" y="5422392"/>
            <a:ext cx="3246120" cy="68580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對策:稽核需求另外盤點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風險與對策(續)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520440" cy="265176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442" y="1591970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Postman cookie 優先於 Basic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2103120"/>
            <a:ext cx="3246120" cy="105156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85800" y="3246120"/>
            <a:ext cx="3246120" cy="6400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25112" y="1371600"/>
            <a:ext cx="3520440" cy="265176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62272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914" y="1591970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56632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移出群組後的延遲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462272" y="2103120"/>
            <a:ext cx="3246120" cy="105156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4462272" y="3246120"/>
            <a:ext cx="3246120" cy="6400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101584" y="1371600"/>
            <a:ext cx="3520440" cy="2651760"/>
          </a:xfrm>
          <a:prstGeom prst="roundRect">
            <a:avLst>
              <a:gd name="adj" fmla="val 45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38744" y="1481328"/>
            <a:ext cx="502920" cy="502920"/>
          </a:xfrm>
          <a:prstGeom prst="roundRect">
            <a:avLst>
              <a:gd name="adj" fmla="val 45000"/>
            </a:avLst>
          </a:prstGeom>
          <a:solidFill>
            <a:schemeClr val="accent6">
              <a:alpha val="15000"/>
            </a:schemeClr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9386" y="1591970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833104" y="148132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chemeClr val="tx1"/>
                </a:solidFill>
              </a:rPr>
              <a:t>多 controller 的機制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38744" y="2103120"/>
            <a:ext cx="3246120" cy="1051560"/>
          </a:xfrm>
          <a:prstGeom prst="roundRect">
            <a:avLst>
              <a:gd name="adj" fmla="val 7200"/>
            </a:avLst>
          </a:prstGeom>
          <a:solidFill>
            <a:schemeClr val="accent6">
              <a:alpha val="12000"/>
            </a:schemeClr>
          </a:solidFill>
          <a:ln w="12700">
            <a:solidFill>
              <a:schemeClr val="accent6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6"/>
                </a:solidFill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238744" y="3246120"/>
            <a:ext cx="3246120" cy="64008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chemeClr val="accent3"/>
                </a:solidFill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548640" y="438912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2"/>
                </a:solidFill>
              </a:rPr>
              <a:t>這三項是這份方案目前最需要補驗證的地方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zh-TW" altLang="en-US" sz="3800" b="1" dirty="0">
                <a:solidFill>
                  <a:schemeClr val="bg1"/>
                </a:solidFill>
              </a:rPr>
              <a:t>Live Demo</a:t>
            </a:r>
            <a:endParaRPr lang="zh-TW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800" dirty="0">
                <a:solidFill>
                  <a:schemeClr val="bg2"/>
                </a:solidFill>
              </a:rPr>
              <a:t>七個情境,直接下指令看結果(每頁左:指令與預期,右:實際畫面)</a:t>
            </a:r>
            <a:endParaRPr lang="zh-TW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Demo 1:沒有身分就進不來</a:t>
            </a:r>
            <a:endParaRPr lang="zh-TW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2103120" cy="347472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./demo.sh ch01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88920" y="1280160"/>
            <a:ext cx="2194560" cy="347472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yujie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指令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4572000" cy="1234440"/>
          </a:xfrm>
          <a:prstGeom prst="roundRect">
            <a:avLst>
              <a:gd name="adj" fmla="val 4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$ kafka-topics --bootstrap-server broker1:9094 --command-config yujie.properties --list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預期結果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4572000" cy="1325880"/>
          </a:xfrm>
          <a:prstGeom prst="roundRect">
            <a:avLst>
              <a:gd name="adj" fmla="val 4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AD 帳密正確 → 認證成功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但尚未授權 → 看得到的 topic:0 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572000" cy="8229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證明:預設全拒絕;認證成功不等於有權限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28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實際執行畫面(demo 證據)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2103120"/>
            <a:ext cx="6199632" cy="4069080"/>
          </a:xfrm>
          <a:prstGeom prst="roundRect">
            <a:avLst>
              <a:gd name="adj" fmla="val 18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mage 0" descr="C:\Users\user\IdeaProjects\untitled6\deck\demo-shots\ch01-04-valid-no-pe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286000"/>
            <a:ext cx="6016752" cy="9838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Demo 2:AD 群組決定權限</a:t>
            </a:r>
            <a:endParaRPr lang="zh-TW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2103120" cy="347472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./demo.sh ch03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88920" y="1280160"/>
            <a:ext cx="2194560" cy="347472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ming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指令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4572000" cy="1234440"/>
          </a:xfrm>
          <a:prstGeom prst="roundRect">
            <a:avLst>
              <a:gd name="adj" fmla="val 4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$ echo hi | kafka-console-producer --command-config ming.properties --topic orders.events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預期結果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4572000" cy="1325880"/>
          </a:xfrm>
          <a:prstGeom prst="roundRect">
            <a:avLst>
              <a:gd name="adj" fmla="val 4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不在群組:TOPIC_AUTHORIZATION_FAILED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加入 AD 群組後約 4 秒:寫入成功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572000" cy="8229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證明:授權跟著群組走,Kafka 端零變更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28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實際執行畫面(demo 證據)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2103120"/>
            <a:ext cx="6199632" cy="4069080"/>
          </a:xfrm>
          <a:prstGeom prst="roundRect">
            <a:avLst>
              <a:gd name="adj" fmla="val 18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mage 0" descr="C:\Users\user\IdeaProjects\untitled6\deck\demo-shots\ch03-05-ming-den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286000"/>
            <a:ext cx="6016752" cy="186194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Demo 3:依群組分層:唯讀只是一層</a:t>
            </a:r>
            <a:endParaRPr lang="zh-TW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2103120" cy="347472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./demo.sh ch04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88920" y="1280160"/>
            <a:ext cx="2194560" cy="347472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ming(唯讀群組)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指令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4572000" cy="1234440"/>
          </a:xfrm>
          <a:prstGeom prst="roundRect">
            <a:avLst>
              <a:gd name="adj" fmla="val 4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$ echo oops | kafka-console-producer --command-config ming.properties --topic orders.events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預期結果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4572000" cy="1325880"/>
          </a:xfrm>
          <a:prstGeom prst="roundRect">
            <a:avLst>
              <a:gd name="adj" fmla="val 4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寫入被拒:Cluster authorization failed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讀取仍可成功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572000" cy="8229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證明:同一個 AD,不同群組 = 不同權限層級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28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實際執行畫面(demo 證據)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2103120"/>
            <a:ext cx="6199632" cy="4069080"/>
          </a:xfrm>
          <a:prstGeom prst="roundRect">
            <a:avLst>
              <a:gd name="adj" fmla="val 18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mage 0" descr="C:\Users\user\IdeaProjects\untitled6\deck\demo-shots\ch04-05-ming-wr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286000"/>
            <a:ext cx="6016752" cy="16911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Demo 4:服務帳號:最小權限</a:t>
            </a:r>
            <a:endParaRPr lang="zh-TW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2103120" cy="347472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./demo.sh ch07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88920" y="1280160"/>
            <a:ext cx="2194560" cy="347472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svc-orders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指令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4572000" cy="1234440"/>
          </a:xfrm>
          <a:prstGeom prst="roundRect">
            <a:avLst>
              <a:gd name="adj" fmla="val 4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$ echo x | kafka-console-producer --command-config svc-orders.properties --topic payments.events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預期結果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4572000" cy="1325880"/>
          </a:xfrm>
          <a:prstGeom prst="roundRect">
            <a:avLst>
              <a:gd name="adj" fmla="val 4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orders. 可寫入;payments.* → 被拒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572000" cy="82296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證明:服務走 SCRAM + RBAC,只拿到需要的範圍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28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實際執行畫面(demo 證據)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2103120"/>
            <a:ext cx="6199632" cy="4069080"/>
          </a:xfrm>
          <a:prstGeom prst="roundRect">
            <a:avLst>
              <a:gd name="adj" fmla="val 18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mage 0" descr="C:\Users\user\IdeaProjects\untitled6\deck\demo-shots\ch07-05-svc-den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286000"/>
            <a:ext cx="6016752" cy="204081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Demo 5:維運分權:能管不能讀</a:t>
            </a:r>
            <a:endParaRPr lang="zh-TW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2103120" cy="347472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</a:rPr>
              <a:t>./demo.sh ch11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88920" y="1280160"/>
            <a:ext cx="2194560" cy="347472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yujie(kafka-ops)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指令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4572000" cy="1234440"/>
          </a:xfrm>
          <a:prstGeom prst="roundRect">
            <a:avLst>
              <a:gd name="adj" fmla="val 4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$ kafka-console-consumer --command-config yujie.properties --topic infra.ops-demo --from-beginning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預期結果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4572000" cy="1325880"/>
          </a:xfrm>
          <a:prstGeom prst="roundRect">
            <a:avLst>
              <a:gd name="adj" fmla="val 4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維運可建立 / 管理 topic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但讀取資料 → 被拒,處理 0 筆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572000" cy="82296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2700">
            <a:solidFill>
              <a:schemeClr val="accent5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5"/>
                </a:solidFill>
              </a:rPr>
              <a:t>證明:管理權與資料權分離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28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實際執行畫面(demo 證據)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2103120"/>
            <a:ext cx="6199632" cy="4069080"/>
          </a:xfrm>
          <a:prstGeom prst="roundRect">
            <a:avLst>
              <a:gd name="adj" fmla="val 18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mage 0" descr="C:\Users\user\IdeaProjects\untitled6\deck\demo-shots\ch11-07-ops-nore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286000"/>
            <a:ext cx="6016752" cy="31059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Demo 6:legacy app:憑證與 REST Proxy</a:t>
            </a:r>
            <a:endParaRPr lang="zh-TW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2103120" cy="347472"/>
          </a:xfrm>
          <a:prstGeom prst="roundRect">
            <a:avLst>
              <a:gd name="adj" fmla="val 45000"/>
            </a:avLst>
          </a:prstGeom>
          <a:solidFill>
            <a:schemeClr val="accent2">
              <a:alpha val="12000"/>
            </a:schemeClr>
          </a:solidFill>
          <a:ln w="15875">
            <a:solidFill>
              <a:schemeClr val="accent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./demo.sh ch12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88920" y="1280160"/>
            <a:ext cx="2194560" cy="347472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legacy-orders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指令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4572000" cy="1234440"/>
          </a:xfrm>
          <a:prstGeom prst="roundRect">
            <a:avLst>
              <a:gd name="adj" fmla="val 4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$ curl --cert client-legacy-orders.pem -X POST https://restproxy:8086/topics/orders.events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預期結果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4572000" cy="1325880"/>
          </a:xfrm>
          <a:prstGeom prst="roundRect">
            <a:avLst>
              <a:gd name="adj" fmla="val 4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授權後 HTTP 200,回傳 offset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偽造憑證:TLS 握手即被拒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572000" cy="82296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2700">
            <a:solidFill>
              <a:schemeClr val="accent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2"/>
                </a:solidFill>
              </a:rPr>
              <a:t>證明:REST Proxy 以憑證辨識機器,自簽憑證進不來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28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實際執行畫面(demo 證據)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2103120"/>
            <a:ext cx="6199632" cy="4069080"/>
          </a:xfrm>
          <a:prstGeom prst="roundRect">
            <a:avLst>
              <a:gd name="adj" fmla="val 18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mage 0" descr="C:\Users\user\IdeaProjects\untitled6\deck\demo-shots\ch12-04-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286000"/>
            <a:ext cx="6016752" cy="13334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Demo 7:C3 實際用誰的身分</a:t>
            </a:r>
            <a:endParaRPr lang="zh-TW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2103120" cy="347472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./demo.sh ch13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88920" y="1280160"/>
            <a:ext cx="2194560" cy="347472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操作員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828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指令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4572000" cy="1234440"/>
          </a:xfrm>
          <a:prstGeom prst="roundRect">
            <a:avLst>
              <a:gd name="adj" fmla="val 4500"/>
            </a:avLst>
          </a:prstGeom>
          <a:solidFill>
            <a:schemeClr val="tx2"/>
          </a:solidFill>
          <a:ln w="19050">
            <a:solidFill>
              <a:schemeClr val="tx2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bg1"/>
                </a:solidFill>
              </a:rPr>
              <a:t>$ docker logs broker | grep "User Principal: ming"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預期結果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840480"/>
            <a:ext cx="4572000" cy="1325880"/>
          </a:xfrm>
          <a:prstGeom prst="roundRect">
            <a:avLst>
              <a:gd name="adj" fmla="val 45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MDS 日誌的呼叫主體是 ming 本人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不是 c3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4572000" cy="8229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2700">
            <a:solidFill>
              <a:schemeClr val="accent3"/>
            </a:solidFill>
          </a:ln>
        </p:spPr>
        <p:txBody>
          <a:bodyPr wrap="square" lIns="137160" tIns="137160" rIns="137160" bIns="13716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chemeClr val="accent3"/>
                </a:solidFill>
              </a:rPr>
              <a:t>證明:人操作 C3 時,身分一路帶到 MDS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182880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chemeClr val="tx1">
                    <a:alpha val="62000"/>
                  </a:schemeClr>
                </a:solidFill>
              </a:rPr>
              <a:t>實際執行畫面(demo 證據)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40680" y="2103120"/>
            <a:ext cx="6199632" cy="4069080"/>
          </a:xfrm>
          <a:prstGeom prst="roundRect">
            <a:avLst>
              <a:gd name="adj" fmla="val 1800"/>
            </a:avLst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2" name="Image 0" descr="C:\Users\user\IdeaProjects\untitled6\deck\demo-shots\ch13-02-mds-as-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2286000"/>
            <a:ext cx="6016752" cy="169119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已驗證 vs 待驗證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4023360"/>
          </a:xfrm>
          <a:prstGeom prst="roundRect">
            <a:avLst>
              <a:gd name="adj" fmla="val 90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50876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649578"/>
            <a:ext cx="358445" cy="35844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554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3"/>
                </a:solidFill>
              </a:rPr>
              <a:t>demo 已實跑驗證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331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AD 群組 RBAC:加入群組數秒生效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99632" y="1371600"/>
            <a:ext cx="5440680" cy="4023360"/>
          </a:xfrm>
          <a:prstGeom prst="roundRect">
            <a:avLst>
              <a:gd name="adj" fmla="val 90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382512" y="1508760"/>
            <a:ext cx="640080" cy="64008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3330" y="1649578"/>
            <a:ext cx="358445" cy="35844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159752" y="15544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chemeClr val="accent2"/>
                </a:solidFill>
              </a:rPr>
              <a:t>待驗證 / 待確認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28232" y="2331720"/>
            <a:ext cx="50292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chemeClr val="tx1"/>
                </a:solidFill>
              </a:rPr>
              <a:t>?  縮短 token 壽命對元件換 token 頻率的影響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562356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1">
              <a:alpha val="12000"/>
            </a:schemeClr>
          </a:solidFill>
          <a:ln w="15875">
            <a:solidFill>
              <a:schemeClr val="accent1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chemeClr val="accent1"/>
                </a:solidFill>
              </a:rPr>
              <a:t>demo 使用 OpenLDAP 模擬 AD;商用功能(RBAC、audit、C3)需 license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導入前請客戶確認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58191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325880" y="152704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6581" y="1647749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1371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AD 唯讀查詢帳號(bind DN)與 LDAPS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172200" y="132588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09360" y="158191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949440" y="152704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141" y="164774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80960" y="137160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有無 AD CS(內部 CA)與根憑證散佈方式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242316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85800" y="267919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2"/>
          </a:solidFill>
          <a:ln w="19050">
            <a:solidFill>
              <a:schemeClr val="accent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1325880" y="262432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581" y="27450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057400" y="24688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能否建幾個一般 AD user 給 legacy app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172200" y="242316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5">
              <a:alpha val="12000"/>
            </a:schemeClr>
          </a:solidFill>
          <a:ln w="19050">
            <a:solidFill>
              <a:schemeClr val="accent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6309360" y="267919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5"/>
          </a:solidFill>
          <a:ln w="19050">
            <a:solidFill>
              <a:schemeClr val="accent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949440" y="262432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5">
              <a:alpha val="15000"/>
            </a:schemeClr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141" y="2745029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680960" y="246888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license 是否涵蓋 RBAC / audit / C3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548640" y="352044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85800" y="377647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1325880" y="372160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6581" y="3842309"/>
            <a:ext cx="307238" cy="30723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057400" y="3566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172200" y="352044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309360" y="377647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6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6949440" y="372160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0141" y="3842309"/>
            <a:ext cx="307238" cy="30723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680960" y="356616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548640" y="461772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85800" y="487375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1"/>
          </a:solidFill>
          <a:ln w="19050">
            <a:solidFill>
              <a:schemeClr val="accent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7</a:t>
            </a:r>
            <a:endParaRPr lang="en-US" sz="1500" dirty="0"/>
          </a:p>
        </p:txBody>
      </p:sp>
      <p:sp>
        <p:nvSpPr>
          <p:cNvPr id="35" name="Shape 27"/>
          <p:cNvSpPr/>
          <p:nvPr/>
        </p:nvSpPr>
        <p:spPr>
          <a:xfrm>
            <a:off x="1325880" y="481888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46581" y="4939589"/>
            <a:ext cx="307238" cy="30723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2057400" y="4663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6172200" y="4617720"/>
            <a:ext cx="5440680" cy="96012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6309360" y="4873752"/>
            <a:ext cx="457200" cy="457200"/>
          </a:xfrm>
          <a:prstGeom prst="roundRect">
            <a:avLst>
              <a:gd name="adj" fmla="val 45000"/>
            </a:avLst>
          </a:prstGeom>
          <a:solidFill>
            <a:schemeClr val="accent3"/>
          </a:solidFill>
          <a:ln w="19050">
            <a:solidFill>
              <a:schemeClr val="accent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chemeClr val="bg1"/>
                </a:solidFill>
              </a:rPr>
              <a:t>8</a:t>
            </a:r>
            <a:endParaRPr lang="en-US" sz="1500" dirty="0"/>
          </a:p>
        </p:txBody>
      </p:sp>
      <p:sp>
        <p:nvSpPr>
          <p:cNvPr id="40" name="Shape 31"/>
          <p:cNvSpPr/>
          <p:nvPr/>
        </p:nvSpPr>
        <p:spPr>
          <a:xfrm>
            <a:off x="6949440" y="4818888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0141" y="4939589"/>
            <a:ext cx="307238" cy="307238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7680960" y="4663440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chemeClr val="tx1"/>
                </a:solidFill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548640" y="576072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3">
              <a:alpha val="12000"/>
            </a:schemeClr>
          </a:solidFill>
          <a:ln w="15875">
            <a:solidFill>
              <a:schemeClr val="accent3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chemeClr val="accent3"/>
                </a:solidFill>
              </a:rPr>
              <a:t>第 3 項若可行:legacy app 走 Basic,不需要 client 憑證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7432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TW" altLang="en-US" sz="2800" b="1" dirty="0">
                <a:solidFill>
                  <a:schemeClr val="tx2"/>
                </a:solidFill>
              </a:rPr>
              <a:t>下一步</a:t>
            </a:r>
            <a:endParaRPr lang="zh-TW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20440" cy="2194560"/>
          </a:xfrm>
          <a:prstGeom prst="roundRect">
            <a:avLst>
              <a:gd name="adj" fmla="val 7200"/>
            </a:avLst>
          </a:prstGeom>
          <a:solidFill>
            <a:schemeClr val="accent1">
              <a:alpha val="12000"/>
            </a:schemeClr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34540" y="17830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1">
              <a:alpha val="1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5241" y="190378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4231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1"/>
                </a:solidFill>
              </a:rPr>
              <a:t>客戶確認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回覆前一頁的八件事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069080" y="2743200"/>
            <a:ext cx="256032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4325112" y="1645920"/>
            <a:ext cx="3520440" cy="2194560"/>
          </a:xfrm>
          <a:prstGeom prst="roundRect">
            <a:avLst>
              <a:gd name="adj" fmla="val 7200"/>
            </a:avLst>
          </a:prstGeom>
          <a:solidFill>
            <a:schemeClr val="accent2">
              <a:alpha val="12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11012" y="17830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2">
              <a:alpha val="15000"/>
            </a:schemeClr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1713" y="1903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98264" y="24231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2"/>
                </a:solidFill>
              </a:rPr>
              <a:t>調整方案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416552" y="2834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依客戶回覆更新設計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845552" y="2743200"/>
            <a:ext cx="256032" cy="0"/>
          </a:xfrm>
          <a:prstGeom prst="line">
            <a:avLst/>
          </a:prstGeom>
          <a:noFill/>
          <a:ln w="317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8101584" y="1645920"/>
            <a:ext cx="3520440" cy="2194560"/>
          </a:xfrm>
          <a:prstGeom prst="roundRect">
            <a:avLst>
              <a:gd name="adj" fmla="val 7200"/>
            </a:avLst>
          </a:prstGeom>
          <a:solidFill>
            <a:schemeClr val="accent3">
              <a:alpha val="12000"/>
            </a:schemeClr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587484" y="1783080"/>
            <a:ext cx="548640" cy="548640"/>
          </a:xfrm>
          <a:prstGeom prst="roundRect">
            <a:avLst>
              <a:gd name="adj" fmla="val 45000"/>
            </a:avLst>
          </a:prstGeom>
          <a:solidFill>
            <a:schemeClr val="accent3">
              <a:alpha val="15000"/>
            </a:schemeClr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185" y="19037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74736" y="2423160"/>
            <a:ext cx="3374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chemeClr val="accent3"/>
                </a:solidFill>
              </a:rPr>
              <a:t>RHEL 實機驗證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8193024" y="2834640"/>
            <a:ext cx="3337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chemeClr val="tx1">
                    <a:alpha val="62000"/>
                  </a:schemeClr>
                </a:solidFill>
              </a:rPr>
              <a:t>補上目前未驗證的項目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" y="4297680"/>
            <a:ext cx="11091672" cy="384048"/>
          </a:xfrm>
          <a:prstGeom prst="roundRect">
            <a:avLst>
              <a:gd name="adj" fmla="val 45000"/>
            </a:avLst>
          </a:prstGeom>
          <a:solidFill>
            <a:schemeClr val="accent5">
              <a:alpha val="12000"/>
            </a:schemeClr>
          </a:solidFill>
          <a:ln w="15875">
            <a:solidFill>
              <a:schemeClr val="accent5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chemeClr val="accent5"/>
                </a:solidFill>
              </a:rPr>
              <a:t>Demo 與 Word 手冊可作為每一步的實作與證據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nfluent Security Draft">
  <a:themeElements>
    <a:clrScheme name="Confluent Security Draft">
      <a:dk1>
        <a:srgbClr val="1A1A1A"/>
      </a:dk1>
      <a:lt1>
        <a:srgbClr val="FFFFFF"/>
      </a:lt1>
      <a:dk2>
        <a:srgbClr val="0E2841"/>
      </a:dk2>
      <a:lt2>
        <a:srgbClr val="F2F4F7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7A4EAB"/>
      </a:accent5>
      <a:accent6>
        <a:srgbClr val="B3261E"/>
      </a:accent6>
      <a:hlink>
        <a:srgbClr val="156082"/>
      </a:hlink>
      <a:folHlink>
        <a:srgbClr val="7A4EAB"/>
      </a:folHlink>
    </a:clrScheme>
    <a:fontScheme name="Confluent Security Draf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Confluent Platform 安全解決方案(草稿)</dc:title>
  <dc:subject>PptxGenJS Presentation</dc:subject>
  <dc:creator/>
  <cp:lastModifiedBy/>
  <cp:revision>1</cp:revision>
  <dcterms:created xsi:type="dcterms:W3CDTF">2026-10-04T10:44:43Z</dcterms:created>
  <dcterms:modified xsi:type="dcterms:W3CDTF">2026-10-04T10:44:43Z</dcterms:modified>
</cp:coreProperties>
</file>