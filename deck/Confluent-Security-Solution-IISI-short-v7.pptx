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方案摘要版:只講做法與結論。出處、實測依據與限制在各頁備忘稿;完整版有逐項前提與驗證狀態。本版不含監控(Prometheus、Alertmanager)與 audit。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全景:人有三個入口,都用 AD 帳密:瀏覽器登入 Control Center、腳本或 Postman 經 REST Proxy、CLI 直連 broker 的 9094。服務用 SCRAM 帳密直連 broker。legacy app 只能 HTTP,出示 client 憑證給 REST Proxy。Control Center 與 REST Proxy 向 MDS 取得 token(人是本人的 token;legacy app 由 REST Proxy 代為申請),再帶 token 連 broker。MDS 內嵌在 broker,負責簽發 token 與管理 RBAC;各 broker 讀取 RBAC 資料後在本地授權。人的密碼由 AD 驗證(LDAPS),群組由 MDS 定期向 AD 同步。controller 只收內部帳號,人與服務都不直接連它。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六個設計決策與依據。①AD 只有 user 與 group,沒有服務帳號,所以人用 AD,服務帳號放在 Kafka(SCRAM)。②客戶希望憑證越少越好,所以 server 端共用一組憑證,只做加密;client 憑證只發給需要向 MDS 證明身分的平台元件(c3、restproxy、bootstrap)與 legacy app。③legacy app 只能 HTTP,所以經 REST Proxy,出示 client 憑證,由 REST Proxy 代為向 MDS 申請 token。④權限依職責分層,用 AD 群組綁 role。⑤官方 SCRAM overview 頁說明 controller listener 不支援 SCRAM,所以連 controller 的 9093 用 PLAIN 靜態帳號,連 broker 的 9092 用 SCRAM;內部通道不走 AD(AD 沒有服務帳號,且 AD 異常不應牽連叢集),也不另發 client 憑證。⑥RHEL 9 手動安裝、沒有 Ansible,所以流程要標準化。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四種身分。①人:AD 帳密。直連 broker 的 9094 時用 SASL/PLAIN,由 broker 轉 AD 驗密碼;經 Control Center、REST Proxy 或直接呼叫 MDS 時用 Basic,由 MDS 向 AD 驗證並簽發 token。登入只驗密碼;群組由 MDS 定期向 AD 同步,授權時依帳號名稱查群組,RBAC 綁 Group:。②服務:SCRAM 帳密存在 Kafka(KRaft),由 broker 驗證,RBAC 綁 User:。③平台元件(c3、restproxy)用 client 憑證向 MDS 換 token;legacy app 出示憑證給 REST Proxy,由 REST Proxy 依 CN 對映成主體並代為向 MDS 申請 token;憑證身分只能綁 User:,不能綁群組。④內部元件:連 broker 的 9092 用 SCRAM(kafka-broker、kafka-controller),連 controller 的 9093 用 PLAIN 靜態帳號,broker 與 controller 都是;授權用 super.users;這兩個埠用防火牆限制只給節點之間連線。 人的三條路徑:人的三條路徑:C3(Basic→token→Bearer)、CLI 直連 broker(SASL/PLAIN + LDAP callback)、REST Proxy(Basic 轉 MDS 換 token)。授權都依 AD 群組。 腳本與 Postman:REST Proxy 與 MDS 都接受 Basic(AD 帳密),也接受 Bearer;Control Center 自己的 API 只收 Bearer(官方),實測用 Basic 回 401、帶 MDS 簽發的 token 回 200,所以腳本要先用 AD 帳密向 MDS 的 /security/1.0/authenticate 換 token。腳本的帳密建議放環境變數或密碼庫,不寫進腳本檔。腳本由手動改成排程後,要改用服務身分,不借用人的帳號。token 到期後要重新取得,長時間執行的腳本要處理;token 壽命的實際影響尚未實測。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六類要保管的祕密。最後一欄標示輪替流程是否已在 demo 實測。①共用 server 憑證:依官方 CFK 憑證文件的順序,先更新所有信任庫、再換憑證、每個元件就緒才做下一個;元件順序 controller、broker、REST Proxy、C3(參考升級文件);換檔不重啟時各埠仍出示舊憑證(實測)。②client 憑證:RBAC 綁的是 CN,CN 不變就不用重綁。legacy app 的憑證可省,前提是客戶能為它建專用 AD 帳號改走 Basic。③SCRAM 服務帳號:同帳號改密碼,舊密碼對新連線立即失效,已連線的不受影響(實測);官方 SCRAM 文件沒有輪替流程。④MDS token 簽章金鑰對:私鑰在 MDS 所在的 broker 與 controller,公鑰在 broker、REST Proxy、C3;輪替流程未驗證。⑤內部帳號 kafka-broker、kafka-controller:SCRAM 存在 Kafka,PLAIN 靜態帳號在設定檔;輪替流程未驗證。⑥AD 查詢帳號:只讀 user 與 group,建議 LDAPS;輪替流程未驗證。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逐項依據與驗證狀態見完整版的「風險與對策」與「已驗證 vs 待驗證」兩頁。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完整版的同名頁有八件事(另含 Java 版本與 Prometheus、Alertmanager 部署)。LDAP 停擺 24 小時是官方 ldap.retry.timeout.ms 的預設值。AD 群組巢狀、大小寫的實際行為尚未在真實 AD 驗證。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下一步:先請客戶回覆前一頁的六件事,依回覆調整方案,再到 RHEL 實機驗證。目前的驗證是在 docker demo(以 OpenLDAP 模擬 AD)完成;尚未驗證的主要項目:真實 AD 的巢狀群組與大小寫行為、多台 controller 搭配 TLS 與 RBAC 的滾動重啟、RHEL 實機的 systemd 與防火牆、MDS 金鑰對與內部帳號及 AD 查詢帳號的輪替流程。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18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23.png"/><Relationship Id="rId4-created" Type="http://schemas.openxmlformats.org/officeDocument/2006/relationships/image" Target="../media/media21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方案摘要:認證、授權、加密與維運</a:t>
            </a:r>
          </a:p>
        </p:txBody>
      </p:sp>
      <p:sp>
        <p:nvSpPr>
          <p:cNvPr id="2" name="fdc394a2-d33a-4bb1-9ef5-668dd5943981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方案全景:誰用什麼進來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五條進入路徑,授權集中在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4ccbeb8-3043-416e-9777-82d6ec21db63"/>
          <p:cNvSpPr/>
          <p:nvPr/>
        </p:nvSpPr>
        <p:spPr>
          <a:xfrm>
            <a:off x="548640" y="1685050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de6bb76-3262-444e-8fff-09506d15e0aa"/>
          <p:cNvSpPr/>
          <p:nvPr/>
        </p:nvSpPr>
        <p:spPr>
          <a:xfrm>
            <a:off x="658368" y="1803839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e45d452-e240-4b65-8891-4fe1f185eb6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62975" y="1900907"/>
            <a:ext cx="266273" cy="266273"/>
          </a:xfrm>
          <a:prstGeom prst="rect">
            <a:avLst/>
          </a:prstGeom>
        </p:spPr>
      </p:pic>
      <p:sp>
        <p:nvSpPr>
          <p:cNvPr id="5" name="993dbb50-f3ba-410e-b3cc-cea0b3d7cf1c"/>
          <p:cNvSpPr/>
          <p:nvPr/>
        </p:nvSpPr>
        <p:spPr>
          <a:xfrm>
            <a:off x="1243584" y="1685050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瀏覽器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Control Center</a:t>
            </a:r>
            <a:endParaRPr lang="en-US" sz="1300" dirty="0"/>
          </a:p>
        </p:txBody>
      </p:sp>
      <p:sp>
        <p:nvSpPr>
          <p:cNvPr id="6" name="2d6e9ed7-7063-4910-9bb2-21816226a1eb"/>
          <p:cNvSpPr/>
          <p:nvPr/>
        </p:nvSpPr>
        <p:spPr>
          <a:xfrm>
            <a:off x="2834640" y="171899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7" name="31daae64-361e-4f14-8d8b-c5636bf73e8d"/>
          <p:cNvSpPr/>
          <p:nvPr/>
        </p:nvSpPr>
        <p:spPr>
          <a:xfrm>
            <a:off x="2834640" y="2066874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228bbc4b-1274-4fcf-b6ed-00e82be64646"/>
          <p:cNvSpPr/>
          <p:nvPr/>
        </p:nvSpPr>
        <p:spPr>
          <a:xfrm>
            <a:off x="4297680" y="1769899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50" dirty="0"/>
          </a:p>
        </p:txBody>
      </p:sp>
      <p:sp>
        <p:nvSpPr>
          <p:cNvPr id="9" name="e7f24542-5a52-4303-b83d-c012f9ccc6fc"/>
          <p:cNvSpPr/>
          <p:nvPr/>
        </p:nvSpPr>
        <p:spPr>
          <a:xfrm>
            <a:off x="6217920" y="2066874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5350e5ba-1cb8-4837-a477-f1e72b6906bc"/>
          <p:cNvSpPr/>
          <p:nvPr/>
        </p:nvSpPr>
        <p:spPr>
          <a:xfrm>
            <a:off x="6217920" y="171899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本人的 token</a:t>
            </a:r>
            <a:endParaRPr lang="en-US" sz="1050" dirty="0"/>
          </a:p>
        </p:txBody>
      </p:sp>
      <p:sp>
        <p:nvSpPr>
          <p:cNvPr id="11" name="db3fe897-cf02-4f57-87a6-f5b7535cef5c"/>
          <p:cNvSpPr/>
          <p:nvPr/>
        </p:nvSpPr>
        <p:spPr>
          <a:xfrm>
            <a:off x="548640" y="2465667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2" name="5c2d7576-2e35-4ed8-9cfb-0584f23d6d06"/>
          <p:cNvSpPr/>
          <p:nvPr/>
        </p:nvSpPr>
        <p:spPr>
          <a:xfrm>
            <a:off x="658368" y="2584457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3" name="d1a20678-cab8-48b6-8b05-d39b69367ff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2975" y="2681525"/>
            <a:ext cx="266273" cy="266273"/>
          </a:xfrm>
          <a:prstGeom prst="rect">
            <a:avLst/>
          </a:prstGeom>
        </p:spPr>
      </p:pic>
      <p:sp>
        <p:nvSpPr>
          <p:cNvPr id="14" name="9a04039b-c497-4232-ba27-79465b07cf7f"/>
          <p:cNvSpPr/>
          <p:nvPr/>
        </p:nvSpPr>
        <p:spPr>
          <a:xfrm>
            <a:off x="1243584" y="2465667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腳本、Postman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呼叫 REST API</a:t>
            </a:r>
            <a:endParaRPr lang="en-US" sz="1300" dirty="0"/>
          </a:p>
        </p:txBody>
      </p:sp>
      <p:sp>
        <p:nvSpPr>
          <p:cNvPr id="15" name="43162c91-68be-40ca-914e-5d104ed2c125"/>
          <p:cNvSpPr/>
          <p:nvPr/>
        </p:nvSpPr>
        <p:spPr>
          <a:xfrm>
            <a:off x="2834640" y="2499607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16" name="5c602bd8-df21-4e3e-a28c-e618279b6986"/>
          <p:cNvSpPr/>
          <p:nvPr/>
        </p:nvSpPr>
        <p:spPr>
          <a:xfrm>
            <a:off x="2834640" y="2847491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e14401d2-0667-4f25-a07a-85f8044d6ec7"/>
          <p:cNvSpPr/>
          <p:nvPr/>
        </p:nvSpPr>
        <p:spPr>
          <a:xfrm>
            <a:off x="4297680" y="2550517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50" dirty="0"/>
          </a:p>
        </p:txBody>
      </p:sp>
      <p:sp>
        <p:nvSpPr>
          <p:cNvPr id="18" name="162d2482-13e9-432d-a456-e7a12869b00f"/>
          <p:cNvSpPr/>
          <p:nvPr/>
        </p:nvSpPr>
        <p:spPr>
          <a:xfrm>
            <a:off x="6217920" y="2847491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e11c13d0-09fa-4ee3-bdc5-49336447d6e6"/>
          <p:cNvSpPr/>
          <p:nvPr/>
        </p:nvSpPr>
        <p:spPr>
          <a:xfrm>
            <a:off x="6217920" y="2499607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本人的 token</a:t>
            </a:r>
            <a:endParaRPr lang="en-US" sz="1050" dirty="0"/>
          </a:p>
        </p:txBody>
      </p:sp>
      <p:sp>
        <p:nvSpPr>
          <p:cNvPr id="20" name="60bfcb62-906b-45cb-80fa-fc0cfe569a7b"/>
          <p:cNvSpPr/>
          <p:nvPr/>
        </p:nvSpPr>
        <p:spPr>
          <a:xfrm>
            <a:off x="548640" y="3246285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1" name="10f6e7bf-1066-4c90-aee9-70d77634a477"/>
          <p:cNvSpPr/>
          <p:nvPr/>
        </p:nvSpPr>
        <p:spPr>
          <a:xfrm>
            <a:off x="658368" y="3365074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2" name="4fc7ebcd-13b5-411e-b268-9e18771025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62975" y="3462142"/>
            <a:ext cx="266273" cy="266273"/>
          </a:xfrm>
          <a:prstGeom prst="rect">
            <a:avLst/>
          </a:prstGeom>
        </p:spPr>
      </p:pic>
      <p:sp>
        <p:nvSpPr>
          <p:cNvPr id="23" name="991bf1eb-6763-46c0-8757-302d670d9b17"/>
          <p:cNvSpPr/>
          <p:nvPr/>
        </p:nvSpPr>
        <p:spPr>
          <a:xfrm>
            <a:off x="1243584" y="3246285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CLI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指令工具</a:t>
            </a:r>
            <a:endParaRPr lang="en-US" sz="1300" dirty="0"/>
          </a:p>
        </p:txBody>
      </p:sp>
      <p:sp>
        <p:nvSpPr>
          <p:cNvPr id="24" name="66656214-4d86-436b-be21-1dab6be5a290"/>
          <p:cNvSpPr/>
          <p:nvPr/>
        </p:nvSpPr>
        <p:spPr>
          <a:xfrm>
            <a:off x="2834640" y="3280225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25" name="80547952-a0d7-4489-a344-3ec5996aeb7e"/>
          <p:cNvSpPr/>
          <p:nvPr/>
        </p:nvSpPr>
        <p:spPr>
          <a:xfrm>
            <a:off x="2834640" y="3628109"/>
            <a:ext cx="4846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6" name="bc4b45f3-9561-4cc1-acfb-492f3ac720ac"/>
          <p:cNvSpPr/>
          <p:nvPr/>
        </p:nvSpPr>
        <p:spPr>
          <a:xfrm>
            <a:off x="548640" y="4026902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18a6b668-8c8a-4e8c-b27c-fb0ef80ae8bf"/>
          <p:cNvSpPr/>
          <p:nvPr/>
        </p:nvSpPr>
        <p:spPr>
          <a:xfrm>
            <a:off x="658368" y="4145692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28ab513a-1443-4594-95e7-6b88501fade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62975" y="4242760"/>
            <a:ext cx="266273" cy="266273"/>
          </a:xfrm>
          <a:prstGeom prst="rect">
            <a:avLst/>
          </a:prstGeom>
        </p:spPr>
      </p:pic>
      <p:sp>
        <p:nvSpPr>
          <p:cNvPr id="29" name="a75d7e26-4d52-4475-b970-889806a22c06"/>
          <p:cNvSpPr/>
          <p:nvPr/>
        </p:nvSpPr>
        <p:spPr>
          <a:xfrm>
            <a:off x="1243584" y="4026902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</a:t>
            </a:r>
            <a:endParaRPr lang="en-US" sz="1300" dirty="0"/>
          </a:p>
        </p:txBody>
      </p:sp>
      <p:sp>
        <p:nvSpPr>
          <p:cNvPr id="30" name="93ac6a28-d2b9-46e1-a9a5-dbc19086e73b"/>
          <p:cNvSpPr/>
          <p:nvPr/>
        </p:nvSpPr>
        <p:spPr>
          <a:xfrm>
            <a:off x="2834640" y="4060842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帳密</a:t>
            </a:r>
            <a:endParaRPr lang="en-US" sz="1050" dirty="0"/>
          </a:p>
        </p:txBody>
      </p:sp>
      <p:sp>
        <p:nvSpPr>
          <p:cNvPr id="31" name="a3f1f826-dc22-4620-8be3-2515bdf05a48"/>
          <p:cNvSpPr/>
          <p:nvPr/>
        </p:nvSpPr>
        <p:spPr>
          <a:xfrm>
            <a:off x="2834640" y="4408726"/>
            <a:ext cx="4846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32" name="eebc8842-df1e-4bbe-88ca-a8053fa12bc7"/>
          <p:cNvSpPr/>
          <p:nvPr/>
        </p:nvSpPr>
        <p:spPr>
          <a:xfrm>
            <a:off x="548640" y="4807520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3" name="56492e85-e935-49c0-8fd2-dde80155da57"/>
          <p:cNvSpPr/>
          <p:nvPr/>
        </p:nvSpPr>
        <p:spPr>
          <a:xfrm>
            <a:off x="658368" y="4926309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4" name="e744e792-1b81-4b67-8508-01a5aa8ea75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762975" y="5023377"/>
            <a:ext cx="266273" cy="266273"/>
          </a:xfrm>
          <a:prstGeom prst="rect">
            <a:avLst/>
          </a:prstGeom>
        </p:spPr>
      </p:pic>
      <p:sp>
        <p:nvSpPr>
          <p:cNvPr id="35" name="1c6dac08-8325-40a4-bc9c-244121562765"/>
          <p:cNvSpPr/>
          <p:nvPr/>
        </p:nvSpPr>
        <p:spPr>
          <a:xfrm>
            <a:off x="1243584" y="4807520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 HTTP</a:t>
            </a:r>
            <a:endParaRPr lang="en-US" sz="1300" dirty="0"/>
          </a:p>
        </p:txBody>
      </p:sp>
      <p:sp>
        <p:nvSpPr>
          <p:cNvPr id="36" name="3b695093-37f0-4cbc-a75b-b770124583a2"/>
          <p:cNvSpPr/>
          <p:nvPr/>
        </p:nvSpPr>
        <p:spPr>
          <a:xfrm>
            <a:off x="2834640" y="484146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050" dirty="0"/>
          </a:p>
        </p:txBody>
      </p:sp>
      <p:sp>
        <p:nvSpPr>
          <p:cNvPr id="37" name="39e07fb8-3073-4668-95ee-c5dce1ee1d70"/>
          <p:cNvSpPr/>
          <p:nvPr/>
        </p:nvSpPr>
        <p:spPr>
          <a:xfrm>
            <a:off x="2834640" y="5189344"/>
            <a:ext cx="14630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38" name="41248286-4abe-43cc-983a-0503677979ab"/>
          <p:cNvSpPr/>
          <p:nvPr/>
        </p:nvSpPr>
        <p:spPr>
          <a:xfrm>
            <a:off x="4297680" y="4892370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50" dirty="0"/>
          </a:p>
        </p:txBody>
      </p:sp>
      <p:sp>
        <p:nvSpPr>
          <p:cNvPr id="39" name="4438226a-0da0-4584-8457-74805f4038cf"/>
          <p:cNvSpPr/>
          <p:nvPr/>
        </p:nvSpPr>
        <p:spPr>
          <a:xfrm>
            <a:off x="6217920" y="5189344"/>
            <a:ext cx="14630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76ba0a95-6410-4895-96e9-3aaf3326a04f"/>
          <p:cNvSpPr/>
          <p:nvPr/>
        </p:nvSpPr>
        <p:spPr>
          <a:xfrm>
            <a:off x="6217920" y="484146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app 的 token</a:t>
            </a:r>
            <a:endParaRPr lang="en-US" sz="1050" dirty="0"/>
          </a:p>
        </p:txBody>
      </p:sp>
      <p:sp>
        <p:nvSpPr>
          <p:cNvPr id="41" name="1dc005a1-452b-4e73-9b17-ecf247f3fd15"/>
          <p:cNvSpPr/>
          <p:nvPr/>
        </p:nvSpPr>
        <p:spPr>
          <a:xfrm>
            <a:off x="7680960" y="1685050"/>
            <a:ext cx="2514600" cy="3801268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2" name="d423fc97-ca2a-47bb-a72f-4b560ba8b577"/>
          <p:cNvSpPr/>
          <p:nvPr/>
        </p:nvSpPr>
        <p:spPr>
          <a:xfrm>
            <a:off x="7680960" y="1735960"/>
            <a:ext cx="25146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400" dirty="0"/>
          </a:p>
        </p:txBody>
      </p:sp>
      <p:sp>
        <p:nvSpPr>
          <p:cNvPr id="43" name="7d5af09b-9ace-4355-9305-fcd0be00f804"/>
          <p:cNvSpPr/>
          <p:nvPr/>
        </p:nvSpPr>
        <p:spPr>
          <a:xfrm>
            <a:off x="7863840" y="2109298"/>
            <a:ext cx="2148840" cy="848497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驗證身分 · 本地授權</a:t>
            </a:r>
            <a:endParaRPr lang="en-US" sz="1300" dirty="0"/>
          </a:p>
        </p:txBody>
      </p:sp>
      <p:sp>
        <p:nvSpPr>
          <p:cNvPr id="44" name="dc5ea6eb-9567-410b-824c-e3dcda3b514a"/>
          <p:cNvSpPr/>
          <p:nvPr/>
        </p:nvSpPr>
        <p:spPr>
          <a:xfrm>
            <a:off x="7863840" y="3127495"/>
            <a:ext cx="214884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簽發 token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</a:t>
            </a:r>
            <a:endParaRPr lang="en-US" sz="1300" dirty="0"/>
          </a:p>
        </p:txBody>
      </p:sp>
      <p:sp>
        <p:nvSpPr>
          <p:cNvPr id="45" name="dce27b04-a80b-4329-88ee-cf21e76cd57a"/>
          <p:cNvSpPr/>
          <p:nvPr/>
        </p:nvSpPr>
        <p:spPr>
          <a:xfrm>
            <a:off x="7863840" y="4400241"/>
            <a:ext cx="214884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只收內部帳號</a:t>
            </a:r>
            <a:endParaRPr lang="en-US" sz="1300" dirty="0"/>
          </a:p>
        </p:txBody>
      </p:sp>
      <p:sp>
        <p:nvSpPr>
          <p:cNvPr id="46" name="bcf31ca8-717d-4a8b-ba3d-dae057790d99"/>
          <p:cNvSpPr/>
          <p:nvPr/>
        </p:nvSpPr>
        <p:spPr>
          <a:xfrm>
            <a:off x="10195560" y="3169920"/>
            <a:ext cx="41148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47" name="08ff792c-32c0-4d1f-82b4-adda043c084e"/>
          <p:cNvSpPr/>
          <p:nvPr/>
        </p:nvSpPr>
        <p:spPr>
          <a:xfrm>
            <a:off x="10607040" y="2109298"/>
            <a:ext cx="1033272" cy="212124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8" name="a37e8ea5-61c9-4bde-b625-768b9d2a3d24"/>
          <p:cNvSpPr/>
          <p:nvPr/>
        </p:nvSpPr>
        <p:spPr>
          <a:xfrm>
            <a:off x="10872216" y="2236573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9" name="5f6a34c0-8bc8-4c59-8135-1a7feae5c86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982858" y="2339241"/>
            <a:ext cx="281635" cy="281635"/>
          </a:xfrm>
          <a:prstGeom prst="rect">
            <a:avLst/>
          </a:prstGeom>
        </p:spPr>
      </p:pic>
      <p:sp>
        <p:nvSpPr>
          <p:cNvPr id="50" name="47e4c38b-4288-49f0-86ad-485f89af8f1c"/>
          <p:cNvSpPr/>
          <p:nvPr/>
        </p:nvSpPr>
        <p:spPr>
          <a:xfrm>
            <a:off x="10607040" y="2830521"/>
            <a:ext cx="1033272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人與群組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LDAPS</a:t>
            </a:r>
            <a:endParaRPr lang="en-US" sz="1400" dirty="0"/>
          </a:p>
        </p:txBody>
      </p:sp>
      <p:sp>
        <p:nvSpPr>
          <p:cNvPr id="51" name="10171606-3dc4-425d-a482-2d4b7723653c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認證來源有三種(AD 帳密、SCRAM、client 憑證);授權只在一處:MDS 的 RBAC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設計決策:前提決定做法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每個選擇都對應一個客戶前提或官方限制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fc572e3c-f1f9-4e67-bdf7-cdf48de07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846320"/>
                <a:gridCol w="28620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前提或限制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方案的選擇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只有人與群組,沒有服務帳號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帳密;服務用 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憑證越少越好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端共用一組憑證;client 憑證只給平台元件與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只能 HTTP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Proxy,用 client 憑證換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不同職責要有不同權限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群組綁 role;人員異動只改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 listener 不支援 SCRAM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 用 SCRAM;連 controller 用 PLAIN 靜態帳號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 SCRAM overview 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手動安裝,沒有 Ansible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手動流程標準化;改設定時逐台滾動重啟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認證:四種身分,各有來源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出示什麼、從哪裡進、誰驗證、授權綁什麼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79cc4244-37e7-48c5-be62-c0236a8bae2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3108960"/>
                <a:gridCol w="2286000"/>
                <a:gridCol w="158191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出示什麼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從哪裡進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誰驗證身分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授權綁什麼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人(瀏覽器、CLI、腳本)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Center、REST Proxy、MDS、broker 9094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AD(由 broker 或 MDS 轉驗)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Group:AD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服務(應用、排程)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9094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broker(帳密存在 Kafka)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User:服務帳號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平台元件、legacy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憑證,換成 MDS 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MDS、REST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或 REST Proxy(CN 對映成主體)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內部元件(broker、controller)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9092 用 SCRAM;controller 9093 用 PLAIN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被連的那一方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143a9c3-59a5-46aa-85d0-13f45bdd3c6a"/>
          <p:cNvSpPr/>
          <p:nvPr/>
        </p:nvSpPr>
        <p:spPr>
          <a:xfrm>
            <a:off x="548640" y="5163889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腳本呼叫 Control Center 的 API:只收 Bearer,先用 AD 帳密向 MDS 換 token</a:t>
            </a:r>
            <a:endParaRPr lang="en-US" sz="1250" dirty="0"/>
          </a:p>
        </p:txBody>
      </p:sp>
      <p:sp>
        <p:nvSpPr>
          <p:cNvPr id="4" name="e295b952-e79d-4398-92e1-07c0e9050dd7"/>
          <p:cNvSpPr/>
          <p:nvPr/>
        </p:nvSpPr>
        <p:spPr>
          <a:xfrm>
            <a:off x="548640" y="5672987"/>
            <a:ext cx="11091672" cy="50909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前三種由 broker 依 MDS 的 RBAC 授權;內部帳號列為 super.users,只開放節點之間連線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51f918ab-7212-48a2-9104-19559dc11f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59352"/>
                <a:gridCol w="1188720"/>
                <a:gridCol w="1188720"/>
                <a:gridCol w="1188720"/>
                <a:gridCol w="1188720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DeveloperRead、DeveloperWrite(orders. 前綴)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Operator、DeveloperManage(infra. 前綴)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SystemAdmin(緊急用)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7be4b4a-67d3-484f-ac67-0337d43bbdd7"/>
          <p:cNvSpPr/>
          <p:nvPr/>
        </p:nvSpPr>
        <p:spPr>
          <a:xfrm>
            <a:off x="548640" y="499418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人員異動只改 AD:加入群組即生效,移出群組即收回(預設最長約 60 秒)</a:t>
            </a:r>
            <a:endParaRPr lang="en-US" sz="1250" dirty="0"/>
          </a:p>
        </p:txBody>
      </p:sp>
      <p:sp>
        <p:nvSpPr>
          <p:cNvPr id="4" name="eebe1fca-9c87-4838-bb48-258431acd6aa"/>
          <p:cNvSpPr/>
          <p:nvPr/>
        </p:nvSpPr>
        <p:spPr>
          <a:xfrm>
            <a:off x="548640" y="5545712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臨時提權:依單據加入 kafka-ops 或 kafka-rbac-admins,做完移出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加密:共用一組憑證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只做傳輸加密,不承載權限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d5cc590-1bd9-415c-84a0-4c0a84f11c96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1502b725-13fe-4177-af0b-357221817f1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017239c7-0118-4b46-999d-b8191a246a66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cb350ccd-c8dd-423b-898c-8e4cdf5e9233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cbc6e4ba-055f-4264-95aa-76b443eb2308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9ebbdbdc-6f8d-42a8-81c8-86eecc469f57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e6a4fc08-3da1-446c-a4d7-33db13680816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c9407484-55d3-460a-997c-c816d08200a3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a1dbb8ee-9394-44b4-b753-f392618893d0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0fc9876b-11d1-42b5-bcb6-bef197a7b8fc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59bc1a0c-ed7f-46d8-8f78-37540a9c2e28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0059cbba-eb20-4655-a964-4ca0c03b7072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59fa01ad-9a8b-479c-846e-92c12d080f09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def723ec-00c2-4289-9544-5e36d2891a35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1da916e9-e0f4-43a5-8f10-afbdbc169925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a6dc6379-6c69-42db-bfe2-01384578d0f9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17b4ecd6-f1b5-4dfd-bbff-5fe3bd74ce2a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5923dee4-28c3-43e6-9fd1-38b49319f5e1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涵蓋所有元件的主機名稱</a:t>
            </a:r>
            <a:endParaRPr lang="en-US" sz="1200" dirty="0"/>
          </a:p>
        </p:txBody>
      </p:sp>
      <p:sp>
        <p:nvSpPr>
          <p:cNvPr id="20" name="06682ad5-1b23-4cff-bea6-17cbbf1477cf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bbb465ba-6c0f-4662-924a-05e913a62b91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a472380-7a9d-4f0f-8f13-a78297d91c81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1a25aff-f40a-4f3b-b6da-996791a814d8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96dec7ea-5081-432d-91cd-02d8aa96dfc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237fdfd9-25b0-495d-ba19-b70981c16942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82b98347-6583-4f47-bf23-02c246014942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76964476-7f5e-40de-b72b-7089e9220f7a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ea2b4686-26dd-43c6-93c8-d47613e1bb1e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07c1b071-fb32-4ada-a8fd-d7d9b5667e1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b5e13c1b-40f7-47b7-afd9-cf3cbfa3106a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7242153c-4360-436b-8193-714ff639ca55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e802891b-243e-48e2-ba65-e962e0615b40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1f4af9b-0255-4697-8a31-d70c8f51f243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ef01d9af-35e7-4922-a1b4-74c76343f5b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30e7babf-e125-4374-a0fc-84abb5305919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09934d88-4a0e-4060-89d3-af78b9e55b5b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781cd0af-cbde-46a7-bbae-4909df5d4205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e0b57c08-544a-4624-858e-f01be58e25e7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342feb50-9210-4b09-8c50-847000ca8bef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9a16474e-e310-412d-b2a1-f151cbb95d38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d2bf4693-5f5c-44e1-9af3-b882f380e568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a74a1edf-9ffd-478a-8182-592c54edae70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2d6d6578-3544-4c97-a59b-776b5a53b1f8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5942aa42-2aa6-49a0-95b6-711eef0a5a85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f61e6eab-1693-4cf6-9621-e3d40c03c89a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cc78eb99-039f-41eb-ae62-9ed2d709dce5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04f65e3-bd2a-4830-bcbd-4bc4a266a283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1d835d8-4509-4c70-bcdd-646905abdd98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53095f39-5fe9-4756-88e7-0c5856d3ac4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0280ba4b-52ed-43e0-804d-ecca2f0910db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6" name="101a0f7a-510e-4674-aa35-c795c5229eff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21ef8781-b152-42d0-b270-c86f637d3762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eae11580-15f3-455b-a526-a826a4ba0ccf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6568929b-c2da-4fca-9ce2-f593d718d5d6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cc147d98-dca5-480f-8000-228cbde9605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38b0c139-a681-49a7-a8d0-8c79db882891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4bb69c21-db77-4c0a-be8d-a3e3717f8ee9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775e7d8d-bc5b-4260-994d-6c7de08d9582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bd3952c7-5a1a-444e-9566-eaed25d12e86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38b83785-0461-4a35-a7bd-57314f778484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cb1776a4-a5aa-4dc3-b55f-9dc2d19dfe8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af0857a7-7f9e-4382-96f0-c8909adcf96a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9178a084-82f9-4344-a3ee-4332e9d89a2c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2acced5d-7c45-4e69-8cb2-f17b286c2de2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37153a3e-db93-4874-a5b5-c232578f0e76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b7764345-d16c-4273-89f7-d77d9a7bd1f1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03dabb5d-2d4e-4e91-994f-3a9ccc3d713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813e5c1e-ad94-4e3f-be62-268520656af3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9381296a-820d-4c46-bf15-3f8975571121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3df62b57-96bb-4afe-a835-410bc396ecb5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d238fad9-75e5-4283-a338-72a3919639a4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e17632f6-a708-461e-9a26-a0598745c9ea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Center:兩種身分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人用本人身分,背景工作用憑證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aa0aa807-0a6a-4f58-af2e-aefa5c4d735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使用者操作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背景工作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怎麼取得身分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帳密登入,MDS 簽發本人的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憑證向 MDS 換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身分是誰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使用者本人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需要的權限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AD 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怎麼連 Kafka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帶本人的 token(OAUTHBEARER)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c3 的 token(OAUTHBEARER)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要留意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登入有時間上限(預設 6 小時),到期重新登入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憑證等於管理員,私鑰要保護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維運:要保管的六類祕密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放在哪、怎麼輪替、驗證到哪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e3a514e4-b0f6-43c3-a223-2645638f9b4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3566160"/>
                <a:gridCol w="17647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祕密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輪替方式與要留意的事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憑證與私鑰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各元件主機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先更新信任庫,再換憑證,逐元件重啟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CN 不變,換憑證不用重綁權限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內;密碼放密碼庫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同帳號改密碼,client 換新密碼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私鑰在 broker 與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外洩可偽造任何人的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kafka-broker、kafka-controller,只給節點之間使用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設定檔,權限 600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只讀人與群組;不用真人帳號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待驗證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8f695a6a-d382-4b10-9af6-03c293df39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49216f3c-9c38-4b1d-ba02-f91a20798e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 與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三個階段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37775f4-d9e8-4da4-b410-d478a1ec1113"/>
          <p:cNvSpPr/>
          <p:nvPr/>
        </p:nvSpPr>
        <p:spPr>
          <a:xfrm>
            <a:off x="548640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96b070b-4405-41b6-bd35-c50ca4c92370"/>
          <p:cNvSpPr/>
          <p:nvPr/>
        </p:nvSpPr>
        <p:spPr>
          <a:xfrm>
            <a:off x="2034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5797de0-e7e8-4873-815e-6639197ee03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094025"/>
            <a:ext cx="307238" cy="307238"/>
          </a:xfrm>
          <a:prstGeom prst="rect">
            <a:avLst/>
          </a:prstGeom>
        </p:spPr>
      </p:pic>
      <p:sp>
        <p:nvSpPr>
          <p:cNvPr id="5" name="d885412b-7a37-4a4a-883d-5d372ff9e81f"/>
          <p:cNvSpPr/>
          <p:nvPr/>
        </p:nvSpPr>
        <p:spPr>
          <a:xfrm>
            <a:off x="621792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01b26491-1bc4-400a-842f-91dab3c64c04"/>
          <p:cNvSpPr/>
          <p:nvPr/>
        </p:nvSpPr>
        <p:spPr>
          <a:xfrm>
            <a:off x="640080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回覆前一頁的六件事</a:t>
            </a:r>
            <a:endParaRPr lang="en-US" sz="1300" dirty="0"/>
          </a:p>
        </p:txBody>
      </p:sp>
      <p:sp>
        <p:nvSpPr>
          <p:cNvPr id="7" name="bb092c48-d2a8-4a03-892f-c1fbfbbcbbac"/>
          <p:cNvSpPr/>
          <p:nvPr/>
        </p:nvSpPr>
        <p:spPr>
          <a:xfrm>
            <a:off x="4069080" y="2830521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60cfb0d4-70da-4236-a51e-da45913a4e1e"/>
          <p:cNvSpPr/>
          <p:nvPr/>
        </p:nvSpPr>
        <p:spPr>
          <a:xfrm>
            <a:off x="4325112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19e9a31-abc0-496b-aa96-79bf40736860"/>
          <p:cNvSpPr/>
          <p:nvPr/>
        </p:nvSpPr>
        <p:spPr>
          <a:xfrm>
            <a:off x="5811012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0813c5ad-0e54-4fff-8b40-ac5c642317a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094025"/>
            <a:ext cx="307238" cy="307238"/>
          </a:xfrm>
          <a:prstGeom prst="rect">
            <a:avLst/>
          </a:prstGeom>
        </p:spPr>
      </p:pic>
      <p:sp>
        <p:nvSpPr>
          <p:cNvPr id="11" name="d655b74f-fad8-4612-8096-4c8efcbb858d"/>
          <p:cNvSpPr/>
          <p:nvPr/>
        </p:nvSpPr>
        <p:spPr>
          <a:xfrm>
            <a:off x="4398264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68aa478a-322a-42a4-82b2-f3da10636670"/>
          <p:cNvSpPr/>
          <p:nvPr/>
        </p:nvSpPr>
        <p:spPr>
          <a:xfrm>
            <a:off x="4416552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32768a3d-5e57-47a1-839e-fdf41e85c942"/>
          <p:cNvSpPr/>
          <p:nvPr/>
        </p:nvSpPr>
        <p:spPr>
          <a:xfrm>
            <a:off x="7845552" y="2830521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b567803b-e2ae-41f9-879b-8da6aeb81890"/>
          <p:cNvSpPr/>
          <p:nvPr/>
        </p:nvSpPr>
        <p:spPr>
          <a:xfrm>
            <a:off x="8101584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59cf98ff-1571-4f68-9b16-3dbc512c44bc"/>
          <p:cNvSpPr/>
          <p:nvPr/>
        </p:nvSpPr>
        <p:spPr>
          <a:xfrm>
            <a:off x="9587484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3f2d2988-06a5-444d-a106-84fc077ab8d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094025"/>
            <a:ext cx="307238" cy="307238"/>
          </a:xfrm>
          <a:prstGeom prst="rect">
            <a:avLst/>
          </a:prstGeom>
        </p:spPr>
      </p:pic>
      <p:sp>
        <p:nvSpPr>
          <p:cNvPr id="17" name="0a290cae-ff11-4a19-bdcf-7887a985ce89"/>
          <p:cNvSpPr/>
          <p:nvPr/>
        </p:nvSpPr>
        <p:spPr>
          <a:xfrm>
            <a:off x="8174736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c58809f3-a952-45ed-830e-77acf1df2f2b"/>
          <p:cNvSpPr/>
          <p:nvPr/>
        </p:nvSpPr>
        <p:spPr>
          <a:xfrm>
            <a:off x="8193024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補上尚未驗證的項目</a:t>
            </a:r>
            <a:endParaRPr lang="en-US" sz="1300" dirty="0"/>
          </a:p>
        </p:txBody>
      </p:sp>
      <p:sp>
        <p:nvSpPr>
          <p:cNvPr id="19" name="11a26110-181e-4f4e-9c03-85e90e9ed0e3"/>
          <p:cNvSpPr/>
          <p:nvPr/>
        </p:nvSpPr>
        <p:spPr>
          <a:xfrm>
            <a:off x="548640" y="4145692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尚未驗證,實機階段要補的項目</a:t>
            </a:r>
            <a:endParaRPr lang="en-US" sz="1400" dirty="0"/>
          </a:p>
        </p:txBody>
      </p:sp>
      <p:sp>
        <p:nvSpPr>
          <p:cNvPr id="20" name="4c664015-8e03-4300-80c0-7bece5ecf970"/>
          <p:cNvSpPr/>
          <p:nvPr/>
        </p:nvSpPr>
        <p:spPr>
          <a:xfrm>
            <a:off x="548640" y="4527516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真實 AD 的行為(巢狀群組、大小寫)</a:t>
            </a:r>
            <a:endParaRPr lang="en-US" sz="1250" dirty="0"/>
          </a:p>
        </p:txBody>
      </p:sp>
      <p:sp>
        <p:nvSpPr>
          <p:cNvPr id="21" name="9d2debe2-e89e-440d-af22-5548baf88b5a"/>
          <p:cNvSpPr/>
          <p:nvPr/>
        </p:nvSpPr>
        <p:spPr>
          <a:xfrm>
            <a:off x="6199632" y="4527516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多台 controller 搭配 TLS 與 RBAC</a:t>
            </a:r>
            <a:endParaRPr lang="en-US" sz="1250" dirty="0"/>
          </a:p>
        </p:txBody>
      </p:sp>
      <p:sp>
        <p:nvSpPr>
          <p:cNvPr id="22" name="51474bf0-1297-4131-a191-aa7565bc090e"/>
          <p:cNvSpPr/>
          <p:nvPr/>
        </p:nvSpPr>
        <p:spPr>
          <a:xfrm>
            <a:off x="548640" y="5053584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實機(systemd、防火牆、路徑)</a:t>
            </a:r>
            <a:endParaRPr lang="en-US" sz="1250" dirty="0"/>
          </a:p>
        </p:txBody>
      </p:sp>
      <p:sp>
        <p:nvSpPr>
          <p:cNvPr id="23" name="c8be7ffc-6558-4a33-a481-7eea67e1e04e"/>
          <p:cNvSpPr/>
          <p:nvPr/>
        </p:nvSpPr>
        <p:spPr>
          <a:xfrm>
            <a:off x="6199632" y="5053584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金鑰、內部帳號、AD 查詢帳號的輪替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