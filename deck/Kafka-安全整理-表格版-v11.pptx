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共用一組設定。補充(原大綱沒列):C3、REST Proxy、bootstrap 與經 REST Proxy 的 legacy app 另外各有一張 client 憑證,用來向 MDS 或 REST Proxy 證明身分(見認證與元件交互各頁);共用的 server 憑證只做加密,它的 CN 不綁任何 role。AD 的 LDAPS 憑證若由中繼 CA 簽發而 AD 只送出自己的憑證(不附中繼 CA),實測(2026-10-05,demo 的 broker2 連到一個只送葉憑證的 LDAPS 端點):信任庫只放 root CA 時,MDS 的 Basic 登入與 Kafka 的 PLAIN 加 LDAP 登入都失敗,broker 日誌是 PKIX path building failed;信任庫放 root CA 加中繼 CA,或只放中繼 CA,兩種登入都成功。AD 若會送出完整鏈,則只放 root CA 即可(主 demo 先前的 LDAPS 實驗)。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Proxy→MDS。補充(原大綱沒列,已併入表格最後一列與後兩欄):外部 client 連進來時也需要信任同一張 root CA:人的 CLI 與服務連 broker;瀏覽器連 C3;腳本與 legacy app 連 REST Proxy;bootstrap 與腳本直接呼叫 MDS。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token。補充:元件處理自己的工作時帶元件自己的 token;人經 C3 或 REST Proxy 操作時帶本人的 token;legacy app 經 REST Proxy 時帶代表該 app 的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群組與 role 對應的建議做法。設計原則:①人不寫資料(讀取群組只讀,維運群組連資料都讀不到),寫資料只由服務帳號做(SCRAM,綁 User:,只綁自己的 topic);②讀取群組依系統切 topic 前綴,避免跨系統讀取,前提是客戶有 topic 命名規範(尚未確認);③建 topic 與改授權分成兩個群組,平時是空的,依變更單臨時加入、做完移出(臨時加入與移出的流程在 demo 第 11 章實測過);④資安與稽核另設群組;⑤SystemAdmin 只在緊急時使用。建 topic 的角色選 ClusterAdmin:可建、刪、改 topic 與設定,不能讀寫資料;代價是範圍為整個叢集,不能限定前綴(DeveloperManage 可限定前綴,但不能改設定)。官方依據(Confluent Platform 文件):RBAC overview 頁:"As a best practice, grant each user the minimum role required to complete their tasks.";role binding 建議上限 1000(soft limit);群組綁定的使用者 ID 大小寫要與 AD 紀錄一致。Predefined roles 頁:建議把 SystemAdmin 限制在每個叢集一到兩人,用於初始設定或正式環境的緊急狀況;UserAdmin:"Users granted this role should be extremely trustworthy because they can grant roles to themselves and others.",並可用 audit log 監看;ClusterAdmin:"This role cannot read or write Kafka topic data because it does not have Read or Write operations on Topic.";DeveloperManage 可建立或刪除 topic,但不能改設定。官方沒有提供群組怎麼切的範本;本頁的切法是依上述原則與職責分離的要求所做的設計。SecurityAdmin 與 AuditAdmin 的權限實測(2026-10-05,暫時綁給一個沒有其他角色的 AD 帳號,測完解除):SecurityAdmin 可以查詢 role binding(查誰有某個角色、查某人的角色),不能新增或指派 role binding(403),不能讀 audit 設定(403);AuditAdmin 可以讀取與更新 audit 設定(GET 與 PUT 皆 200),不能查詢 role binding(403);兩者都不能讀 topic 資料、不能建立 topic。依系統切群組會讓 role binding 變多,要留意 1000 筆的建議上限。不同環境(例如測試與正式)建議各用一套群組。讀資料需要兩個綁定:Topic 的 DeveloperRead,以及 consumer group(資源類型 Group)的 DeveloperRead;只綁 Topic 時 consumer 無法加入 group。Topic 的名稱與 consumer group 的名稱是兩套各自獨立的名稱,前綴不一定相同,要分開綁定、分開規範;另外資源類型 Group 指 consumer group,與主體的 Group:(AD 群組)不同。demo 的做法是 Topic 與 Group 各綁一筆前綴(例如 Topic orders. 與 Group demo-)。只寫資料的服務只需要 Topic 的 DeveloperWrite。使用交易(transaction)的 producer 另需要 TransactionalId 資源的 DeveloperWrite(實測,2026-10-05):只有 Topic 的 DeveloperWrite 時,交易寫入出現 TransactionalIdAuthorizationException;加綁 TransactionalId 的 DeveloperWrite 後成功;解除後再次被拒。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 更正與補充:官方 Predefined roles 頁除了這十個角色,另列有 KsqlAdmin(本方案範圍沒有 ksqlDB,未列入);十個是 demo 的 MDS 實際回傳的數量。SecurityAdmin 依官方原文是 Enables management of platform-wide security initiatives(設定加密、audit log 追蹤等安全功能);demo 實測到的是:可以查詢 role binding,不能新增或指派,也不能讀 audit 設定(audit 設定要 AuditAdmin)。右側資源名稱(orders.、infra.、demo-)是範例。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 legacy app 連 REST Proxy 的步驟見後兩頁。補充(原大綱沒列):人用腳本或 Postman 經 REST Proxy 時用 Basic(AD 帳號密碼),REST Proxy 把帳密轉給 MDS 驗證並取得本人的 token,不經 impersonate。用詞:原大綱的「服務 → REST Proxy」在這裡改稱 legacy app(只能 HTTP、用憑證的服務),以便和認證頁用 SCRAM 直連 broker 的「服務」區分。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Bearer。補充(demo 實測,2026-10-05):轉給 MDS 的路徑,C3 不先驗 token;帶偽造的 token 時 MDS 回 401。完全不帶 token 時,C3 內部的 HTTP 客戶端會向 MDS 出示共用的 server 憑證,MDS 把請求認成 User:kafka.demo.local;這個身分沒有任何 role,所以查詢授權資料回 403,只有不需要權限的角色清單回 200。因此共用憑證的身分不可以綁任何 role。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交互。補充(原大綱沒列,已併入第 3 步):REST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準備事項依前面各頁整理。共用的 server 憑證:SAN 要涵蓋 broker、controller、MDS、C3、REST Proxy 對外的網域或 IP。client 憑證:C3、REST Proxy、bootstrap 與每個 legacy app 各一張,憑證的 CN 經對映後就是 RBAC 綁定的主體,所以 CN 的命名要先定。MDS 的 token 簽章金鑰對:私鑰用來簽發 token,公鑰給 broker、REST Proxy、C3 驗證;輪替流程未在 demo 驗證。內部帳號:連 broker 用的 SCRAM 帳號要在初始化(format)叢集時預先建立,否則授權器起不來(demo 實測);連 controller 用的 PLAIN 帳號寫在 JAAS 設定。服務帳號:每個服務一個 SCRAM 帳號,SCRAM 密碼不會自動到期。bootstrap 是 super user,不受授權檢查,官方建議只給少數人。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唯讀查詢帳號:broker 驗證人的密碼時先用它搜尋使用者,MDS 也用它定期查群組。使用者與群組的位置(搜尋的起點)要由 AD 管理員提供;官方說明群組綁定的使用者 ID 大小寫要與 AD 紀錄一致。AD 群組:依「AD 群組對應 RBAC role」頁建立,讀取群組依系統各一個,建 topic、改授權、緊急用的群組平時保持空的。命名規範:topic 與 consumer group 是兩套各自獨立的名稱,要分別定前綴,才能用前綴綁定;沒有規範時只能逐一綁定,role binding 數量會變多(官方建議上限 1000 筆)。防火牆(補充,前面各頁沒有列):元件之間的九條連線見「哪些連線要設信任庫」頁,另外要開 broker 連 AD(LDAPS),以及人、服務、legacy app 連到 broker、C3、REST Proxy;controller 的埠與 broker 的內部埠只開給叢集節點。實際的埠號依部署設定,本頁不列。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端共用一組憑證;要證明身分的元件另有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e6deb50f-50dd-490d-b7ae-bea717ff5da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566841"/>
              </p:ext>
            </p:extLst>
          </p:nvPr>
        </p:nvGraphicFramePr>
        <p:xfrm>
          <a:off x="548640" y="1685050"/>
          <a:ext cx="11091672" cy="317338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root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root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時才需要;AD 只送出自己的憑證時,要匯入中繼 CA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各自的私鑰與憑證;憑證的 CN 就是身分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Proxy、bootstrap、各 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或 REST Proxy 證明身分;共用的 server 憑證不當身分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23a236e3-4cc2-482a-9d7c-fba6e4284c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7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0E284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外部 client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7b9e4374-f44b-4dc6-8418-e31dead5ed9d"/>
          <p:cNvSpPr/>
          <p:nvPr/>
        </p:nvSpPr>
        <p:spPr>
          <a:xfrm>
            <a:off x="548640" y="5291163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標「需要」的每一條連線,client 端都匯入同一張 root CA 憑證</a:t>
            </a:r>
            <a:endParaRPr lang="en-US" sz="1250" dirty="0"/>
          </a:p>
        </p:txBody>
      </p:sp>
      <p:sp>
        <p:nvSpPr>
          <p:cNvPr id="7" name="b2ef946b-641e-4adf-8cac-ed34db2a716c"/>
          <p:cNvSpPr/>
          <p:nvPr/>
        </p:nvSpPr>
        <p:spPr>
          <a:xfrm>
            <a:off x="548640" y="57578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外部 client:人的 CLI 與瀏覽器、服務、legacy app、bootstrap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0d10a414-b041-4d48-8971-118e496e195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MDS token:元件自己的(用 client 憑證換),或代人、代 legacy app 取得的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465ddc99-a7a7-465e-ac5d-57e216bcf394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2a70521a-fafe-47f3-a4a8-d866a04b37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topic 的資料讀進本地快取;用已認證的使用者查出所屬群組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建議做法:人不寫資料,高權限群組平時是空的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c4106263-eff6-4c91-b8cc-6ccb9590fcb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716415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Topic:&lt;topic 前綴&gt;;Group(consumer group):&lt;group 前綴&gt;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檢視授權設定;管理 audit 設定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Topic:自己的 topic;讀取時另加 Group:自己的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a9039c53-692c-4a94-88bb-12b2a0765d9b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名稱與前綴是範例;topic 與 consumer group 各有自己的名稱,命名規範要請客戶確認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本方案用到的內建角色,依「綁在叢集」或「綁在資源」分兩類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sp>
        <p:nvSpPr>
          <p:cNvPr id="2" name="24e6164b-b1f6-400d-ac29-2cbf387ffc00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a8c93810-fc44-4023-a0f0-c104fb184354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1" name="54387e0c-1b93-49a2-84cd-22ec56a0547f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053e62d3-3d0f-4a5d-bc40-596a681824fa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42" name="e400b726-bed7-423a-b289-58bd25938267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86eeaa6c-bade-4259-a1ba-494cfab916ac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43" name="c9d8652a-cccd-4a46-8b05-0b959870bc48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09850a4f-f1be-4d77-84c2-9c1a0a33471d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556e285f-5f49-4ec6-9c46-07da780df07e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b90c4eb7-4baa-49f6-8ba5-1ff045306a8b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c82993a0-ab02-4875-bb8a-ec2d6236e468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e0309c12-7a7a-46b6-99ec-21b7b6974ea3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可檢視授權設定,不能改</a:t>
            </a:r>
            <a:endParaRPr lang="en-US" sz="1100" dirty="0"/>
          </a:p>
        </p:txBody>
      </p:sp>
      <p:sp>
        <p:nvSpPr>
          <p:cNvPr id="14" name="65b3976f-5d28-44d8-b1e9-8cc507e19208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2d4e8dcf-0a31-466e-8b68-23b83eb7163a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dcbe50c7-e063-4aad-ae61-2713bd691aff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213ac45b-f070-48bc-bf63-47dc037b4501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35832a7f-f34e-40c2-b6d6-4e3b8ab46d98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a9996283-e849-4d1d-9a57-78ee081d86e4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d2cd3ca8-3bce-4a33-a4fc-34de285aab3c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9ffc93c0-957d-422b-b84d-42733ac1c576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48fda40d-7253-4023-b54e-16717d04b194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e89550c6-6c4d-4ee2-a65f-f24f867579cc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e4843ec8-9eea-4064-82db-37b921c15d31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669e8c94-61c4-4c69-ac27-3f8232f7fd64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34050833-2bd7-44d7-9903-2f8661510fc2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bc757be5-73a6-481a-8036-737724981ccb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d0aab727-6fd3-4ef0-8626-6505db074c14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e3833ed1-fc39-4a3d-b2c7-48f8432679eb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d4eb8140-0f3c-4522-b7a1-3114a9143a12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94c0772a-2aa6-407f-ba58-774051bbbce2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比對方式(名稱為範例)</a:t>
            </a:r>
            <a:endParaRPr lang="en-US" sz="1200" dirty="0"/>
          </a:p>
        </p:txBody>
      </p:sp>
      <p:sp>
        <p:nvSpPr>
          <p:cNvPr id="32" name="760bebf9-8505-4c25-8383-90cca6c0f9ba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120c113c-52c7-4b26-845b-b0b2be625e55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5852e420-6a25-45c1-a827-746f995258ea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0a7232ea-6f03-477c-be6a-a87020384280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1feb4cbb-fe46-4a6c-84ad-c883f9e7766e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ce691046-aac2-464f-9473-1a5cb2b9c1c5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對應上一頁的例子</a:t>
            </a:r>
            <a:endParaRPr lang="en-US" sz="1100" dirty="0"/>
          </a:p>
        </p:txBody>
      </p:sp>
      <p:sp>
        <p:nvSpPr>
          <p:cNvPr id="38" name="43e5360b-7006-4c82-a25d-f4e5d9fe201a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 → Operator @ 叢集</a:t>
            </a:r>
            <a:endParaRPr lang="en-US" sz="1000" dirty="0"/>
          </a:p>
        </p:txBody>
      </p:sp>
      <p:sp>
        <p:nvSpPr>
          <p:cNvPr id="39" name="bfd27abc-8937-4905-9aae-f1e837f4c1e7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讀取群組 → DeveloperRead @ 前綴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graphicFrame>
        <p:nvGraphicFramePr>
          <p:cNvPr id="2" name="0cf27dad-c9c8-4f86-bc59-688a777fba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29749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帳號密碼)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token,帶去與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 legacy app 的 token(見「legacy app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9" name="522eb882-5d85-4c27-a6a0-981fcb5210a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47761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回給瀏覽器(回應內容與 cookie 都有)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時,用 Bearer 標頭帶這個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53adf58d-74b5-4bcf-9f9c-403b470cf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11091672" cy="157820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只能 HTTP 的服務;憑證的 CN 就是它的帳號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0" name="a0219792-0088-4086-9324-df954a43cd3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2974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取出憑證的 CN,當作這個 app 的帳號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 client 憑證向 MDS 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 app 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準備事項(一):憑證、金鑰與帳號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依前面各頁整理:導入前要先備妥的東西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11</a:t>
            </a:fld>
            <a:endParaRPr lang="zh-TW" altLang="en-US" sz="900"/>
          </a:p>
        </p:txBody>
      </p:sp>
      <p:graphicFrame>
        <p:nvGraphicFramePr>
          <p:cNvPr id="11" name="7bd40f56-8f8c-4670-a1a7-337406cfe4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352720"/>
              </p:ext>
            </p:extLst>
          </p:nvPr>
        </p:nvGraphicFramePr>
        <p:xfrm>
          <a:off x="548640" y="1685050"/>
          <a:ext cx="11091672" cy="4191573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 server 私鑰與憑證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要列出所有元件的主機名稱或 IP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放進各元件與外部 client 的信任庫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憑證:c3、restproxy、bootstrap、各 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 CN 就是身分,命名要先定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 LDAPS 用的 </a:t>
                      </a:r>
                      <a:r>
                        <a:rPr lang="en-US" altLang="zh-TW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root </a:t>
                      </a: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傳輸加密(連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有中繼 CA 時一併提供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簽發 token 用的金鑰對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私鑰外洩可偽造任何人的 token,要限制存放位置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 kafka-broker、kafka-controller 的密碼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認證(叢集內部)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200" dirty="0"/>
                        <a:t>SCRAM </a:t>
                      </a:r>
                      <a:r>
                        <a:rPr lang="zh-TW" altLang="en-US" sz="1200" dirty="0"/>
                        <a:t>帳號在初始化叢集時建立</a:t>
                      </a:r>
                      <a:r>
                        <a:rPr lang="en-US" altLang="zh-TW" sz="1200" dirty="0"/>
                        <a:t>;controller </a:t>
                      </a:r>
                      <a:r>
                        <a:rPr lang="zh-TW" altLang="en-US" sz="1200" dirty="0"/>
                        <a:t>的 </a:t>
                      </a:r>
                      <a:r>
                        <a:rPr lang="en-US" altLang="zh-TW" sz="1200" dirty="0"/>
                        <a:t>JAAS </a:t>
                      </a:r>
                      <a:r>
                        <a:rPr lang="zh-TW" altLang="en-US" sz="1200" dirty="0"/>
                        <a:t>設定另放同名的 </a:t>
                      </a:r>
                      <a:r>
                        <a:rPr lang="en-US" altLang="zh-TW" sz="1200" dirty="0"/>
                        <a:t>PLAIN </a:t>
                      </a:r>
                      <a:r>
                        <a:rPr lang="zh-TW" altLang="en-US" sz="1200" dirty="0"/>
                        <a:t>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每個服務一個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密碼放密碼庫;密碼不會自動到期,要有輪替流程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bootstrap(super user)的憑證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不受授權限制;用完離線保管,指定保管人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準備事項(二):AD、命名規範與流程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 AD 管理員、應用團隊與維運一起確認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12</a:t>
            </a:fld>
            <a:endParaRPr lang="zh-TW" altLang="en-US" sz="900"/>
          </a:p>
        </p:txBody>
      </p:sp>
      <p:graphicFrame>
        <p:nvGraphicFramePr>
          <p:cNvPr id="12" name="d7a99729-7d5c-476f-b252-7f56f4eaf58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95399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只讀使用者與群組;不用真人帳號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使用者與群組在 AD 的位置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用來設定搜尋範圍;帳號大小寫要與 AD 一致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依「AD 群組對應 RBAC role」頁;高權限群組先保持空的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兩套名稱各自定前綴;沒有規範就無法依前綴授權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服務與 legacy app 的清單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列出各自要讀寫的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臨時加入高權限群組的變更流程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依變更單加入,做完移出;緊急用的群組指定一到兩人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元件之間的九條連線、broker 連 AD、外部 client 連入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6652</TotalTime>
  <Words>5121</Words>
  <Application>Microsoft Office PowerPoint</Application>
  <PresentationFormat>寬螢幕</PresentationFormat>
  <Paragraphs>347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傳輸加密:要準備的憑證與信任庫</vt:lpstr>
      <vt:lpstr>傳輸加密:哪些連線要設信任庫</vt:lpstr>
      <vt:lpstr>認證:誰連誰,用什麼機制</vt:lpstr>
      <vt:lpstr>授權:MDS 管 RBAC,broker 判斷</vt:lpstr>
      <vt:lpstr>授權:AD 群組對應 RBAC role</vt:lpstr>
      <vt:lpstr>Confluent 內建 RBAC 角色與 scope</vt:lpstr>
      <vt:lpstr>與 Kafka 元件交互:總覽</vt:lpstr>
      <vt:lpstr>人 → C3:登入與之後的請求</vt:lpstr>
      <vt:lpstr>legacy app → REST Proxy:憑證換 token</vt:lpstr>
      <vt:lpstr>準備事項(一):憑證、金鑰與帳號</vt:lpstr>
      <vt:lpstr>準備事項(二):AD、命名規範與流程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97</cp:revision>
  <dcterms:created xsi:type="dcterms:W3CDTF">2025-04-18T08:33:56Z</dcterms:created>
  <dcterms:modified xsi:type="dcterms:W3CDTF">2026-10-05T08:32:06Z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