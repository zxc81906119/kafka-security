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15"/>
    <p:sldId id="260" r:id="rId4"/>
    <p:sldId id="266" r:id="rId16"/>
    <p:sldId id="261" r:id="rId5"/>
    <p:sldId id="267" r:id="rId17"/>
    <p:sldId id="258" r:id="rId6"/>
    <p:sldId id="268" r:id="rId18"/>
    <p:sldId id="257" r:id="rId7"/>
    <p:sldId id="269" r:id="rId19"/>
    <p:sldId id="262" r:id="rId8"/>
    <p:sldId id="270" r:id="rId20"/>
    <p:sldId id="263" r:id="rId9"/>
    <p:sldId id="271" r:id="rId21"/>
    <p:sldId id="272" r:id="rId22"/>
    <p:sldId id="264" r:id="rId10"/>
    <p:sldId id="273" r:id="rId23"/>
    <p:sldId id="274" r:id="rId24"/>
    <p:sldId id="275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30ED12-2354-6C76-A193-F815A5A10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6A55D75-2DAB-614C-8ED0-8EA627086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F17ABF-88BE-55B4-0FB7-38FEC35D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F21F28-6B93-37B5-7A2A-BEEC20EE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A9CC27-41C3-B1ED-E6C5-7126503B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86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7410F6-7D5B-8C2A-63EC-2F13A4C17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3FC0EE-BE10-DE3B-040F-D08C089EF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354D1A-3A2E-66D8-2251-534C4164C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D3EF8F-DDD2-EC0F-6B91-686F67ED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C12DD4-C20E-0C6E-6D7E-6FF567C3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642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E125F-F680-C9D1-FCA9-46EC1ACB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71CE73-3326-7FB4-AF7F-D4773EC60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F6E664-ED5F-F4C1-1BB5-5F585EEA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E9DECC-11DA-66EC-DAF8-B0D0E43C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741B2F-E429-647C-E4DE-14E5F3DF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8621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7BD80D-E704-5799-61A3-A74CB202C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C06BF3-BD4D-9E03-81B9-C249DC5D3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05A7786-CCB2-0E5C-E689-869D15BE2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0EE7AC-8827-CBCB-70C2-2C278BD00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ADD870-2024-CCA7-AB24-37A1C4AFE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F45F56-DC23-C2BB-099D-77D1AC21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17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A21279-6255-3EBC-CE45-5ADC9740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AAB8E4-3D8A-661F-ABA4-75E948B05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3FD6C4-9540-D7D0-0DC1-A6678776A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47B09A-E7C4-3A4F-2697-E843A228CF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226EFCC-47DA-88B2-4619-6832CB08D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16CE2D-4D67-A0D6-A4BE-49ABB89F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0F59935-ECF0-5759-6812-D865C0C8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371AC79-A4FE-DFE5-AA79-C6D0B6D0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8103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9616D1-8228-259C-E964-CD5E1086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02D864F-CA04-8699-B33B-AA15A276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988B88C-771A-06D5-BD1B-334AD759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CF93D0-B15B-1345-D939-B832A523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15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56A085F-7D47-4102-AC57-943D85A2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192A3B0-F125-F5CF-24BB-E7897C81B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5C2D56-FF5C-4B91-BF35-10985B0E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7680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CA5533-B0A1-F76D-10D5-BE0B6D9C0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29AC08-7082-7A13-B891-9D2E52EA2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38207A6-1979-6CB1-5832-EB075EFEB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91FB91-C246-04A0-D9F8-31565DC3C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071DDA-33E7-E197-A8BC-14B275F7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611E0E-7591-1C12-80BB-14BF7CE8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076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0F580-85D6-B7C6-9C68-FA61FEDA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E68551F-AF87-AD24-690A-D19937A75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F780754-CD71-F79B-A482-0F270BABD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676052-736D-DAFF-9A8C-5B737C26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F6A137-DE40-9A2D-C37D-C43589FB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15326B-AA0B-BFC4-1BFC-D12FEC9D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698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472C99-2549-C8D6-E801-0FE9DEAD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47504F-839D-487D-4233-5230EDB6D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FDE99D-C966-57BA-60FC-117C274C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0E597D-5095-0B06-0148-0C4FC6B7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57EC2B-DCBA-40A7-A85F-FE64C992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654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E06EE4E-A1B2-F466-33F0-C7D48A999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ACC49A3-45B2-B496-4DE7-7ECD42E83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CA6731-1271-5E87-38CA-ED153712D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FE23D2-B1A1-2F98-C51D-F6AB92D85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257F8D-61C6-2D68-551B-D9E53156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02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595C154-7B81-68C0-E7D7-85A76E8E7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8133442-5DDF-69A9-6724-54FBCF11E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659271-F2EC-C592-80D8-86E4422D7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28FE5-39EB-4FA8-8DA5-AAA37B1A372A}" type="datetimeFigureOut">
              <a:rPr lang="zh-TW" altLang="en-US" smtClean="0"/>
              <a:t>2026/10/3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B1241B-8BB9-DD5A-E085-00801BFF6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B4F0A2-EF74-5872-01CA-06B924CA9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D2E7F-BB74-4126-A57F-FB6C218D12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78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A4049-2D4E-E064-B6CD-62421EF51C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Kafka </a:t>
            </a:r>
            <a:r>
              <a:rPr lang="zh-TW" altLang="en-US" dirty="0"/>
              <a:t>安全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3CD261-029F-2074-0C3A-05219FB756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/>
              <a:t>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472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EEDC8F-3E0A-ADDD-6A86-286A1AE8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每個 </a:t>
            </a:r>
            <a:r>
              <a:rPr lang="en-US" altLang="zh-TW" dirty="0"/>
              <a:t>KAFKA </a:t>
            </a:r>
            <a:r>
              <a:rPr lang="zh-TW" altLang="en-US" dirty="0"/>
              <a:t>組件 </a:t>
            </a:r>
            <a:r>
              <a:rPr lang="en-US" altLang="zh-TW" dirty="0"/>
              <a:t>3 </a:t>
            </a:r>
            <a:r>
              <a:rPr lang="zh-TW" altLang="en-US" dirty="0"/>
              <a:t>基本安全機制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0BF3C8-DDFE-D4DB-5CB4-CC1D6DBFA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傳輸加密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啟用 </a:t>
            </a:r>
            <a:r>
              <a:rPr lang="en-US" altLang="zh-TW" dirty="0"/>
              <a:t>TLS</a:t>
            </a:r>
            <a:r>
              <a:rPr lang="zh-TW" altLang="en-US" dirty="0"/>
              <a:t> 驗證</a:t>
            </a:r>
            <a:r>
              <a:rPr lang="en-US" altLang="zh-TW" dirty="0"/>
              <a:t> </a:t>
            </a:r>
          </a:p>
          <a:p>
            <a:r>
              <a:rPr lang="zh-TW" altLang="en-US" dirty="0"/>
              <a:t>身分認證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MTLS(</a:t>
            </a:r>
            <a:r>
              <a:rPr lang="zh-TW" altLang="en-US" dirty="0"/>
              <a:t>所有 </a:t>
            </a:r>
            <a:r>
              <a:rPr lang="en-US" altLang="zh-TW" dirty="0"/>
              <a:t>KAFKA </a:t>
            </a:r>
            <a:r>
              <a:rPr lang="zh-TW" altLang="en-US" dirty="0"/>
              <a:t>組件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BASIC_AUTH(</a:t>
            </a:r>
            <a:r>
              <a:rPr lang="zh-TW" altLang="en-US" dirty="0"/>
              <a:t>其他 </a:t>
            </a:r>
            <a:r>
              <a:rPr lang="en-US" altLang="zh-TW" dirty="0"/>
              <a:t>KAFKA </a:t>
            </a:r>
            <a:r>
              <a:rPr lang="zh-TW" altLang="en-US" dirty="0"/>
              <a:t>組件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OAUTHBEARER(</a:t>
            </a:r>
            <a:r>
              <a:rPr lang="zh-TW" altLang="en-US" dirty="0"/>
              <a:t>其他 </a:t>
            </a:r>
            <a:r>
              <a:rPr lang="en-US" altLang="zh-TW" dirty="0"/>
              <a:t>KAFKA </a:t>
            </a:r>
            <a:r>
              <a:rPr lang="zh-TW" altLang="en-US" dirty="0"/>
              <a:t>組件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SASL/PLAIN(BROKER , CONTROLLER)</a:t>
            </a:r>
          </a:p>
          <a:p>
            <a:pPr lvl="1"/>
            <a:r>
              <a:rPr lang="en-US" altLang="zh-TW" dirty="0"/>
              <a:t>SASL/SCRAM(BROKER , CONTROLLER)</a:t>
            </a:r>
          </a:p>
          <a:p>
            <a:pPr lvl="1"/>
            <a:r>
              <a:rPr lang="en-US" altLang="zh-TW" dirty="0"/>
              <a:t>SASL/OAUTHBEARER(BROKER,CONTROLLER)</a:t>
            </a:r>
          </a:p>
          <a:p>
            <a:r>
              <a:rPr lang="zh-TW" altLang="en-US" dirty="0"/>
              <a:t>權限控管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ACL(PRINCIPAL -&gt; RESOURCE + OP)</a:t>
            </a:r>
          </a:p>
          <a:p>
            <a:pPr lvl="2"/>
            <a:r>
              <a:rPr lang="en-US" altLang="zh-TW" dirty="0"/>
              <a:t>RESOURCE = RESOURCE TYPE + RESOURCE NAME EXPRESSION</a:t>
            </a:r>
          </a:p>
          <a:p>
            <a:pPr lvl="1"/>
            <a:r>
              <a:rPr lang="en-US" altLang="zh-TW" dirty="0"/>
              <a:t>RBAC(PRINCIPAL -&gt; ROLE + )</a:t>
            </a:r>
          </a:p>
        </p:txBody>
      </p:sp>
    </p:spTree>
    <p:extLst>
      <p:ext uri="{BB962C8B-B14F-4D97-AF65-F5344CB8AC3E}">
        <p14:creationId xmlns:p14="http://schemas.microsoft.com/office/powerpoint/2010/main" val="2270329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DD7595-1B97-EDF2-6941-60EDBC120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客戶先決條件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C2B809-31D5-3382-4F61-BA39C3F90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簡化 </a:t>
            </a:r>
            <a:r>
              <a:rPr lang="en-US" altLang="zh-TW" dirty="0"/>
              <a:t>TLS </a:t>
            </a:r>
            <a:r>
              <a:rPr lang="zh-TW" altLang="en-US" dirty="0"/>
              <a:t>憑證管理方式</a:t>
            </a:r>
            <a:endParaRPr lang="en-US" altLang="zh-TW" dirty="0"/>
          </a:p>
          <a:p>
            <a:pPr lvl="1"/>
            <a:r>
              <a:rPr lang="en-US" altLang="zh-TW" dirty="0"/>
              <a:t>KAFKA</a:t>
            </a:r>
            <a:r>
              <a:rPr lang="zh-TW" altLang="en-US" dirty="0"/>
              <a:t> 生態系相關服務使用相同一組 </a:t>
            </a:r>
            <a:r>
              <a:rPr lang="en-US" altLang="zh-TW" dirty="0"/>
              <a:t>PRIVATE KEY </a:t>
            </a:r>
            <a:r>
              <a:rPr lang="zh-TW" altLang="en-US" dirty="0"/>
              <a:t>與憑證</a:t>
            </a:r>
            <a:endParaRPr lang="en-US" altLang="zh-TW" dirty="0"/>
          </a:p>
          <a:p>
            <a:pPr lvl="1"/>
            <a:r>
              <a:rPr lang="zh-TW" altLang="en-US" dirty="0">
                <a:highlight>
                  <a:srgbClr val="FFFF00"/>
                </a:highlight>
              </a:rPr>
              <a:t>給各組件啟動 </a:t>
            </a:r>
            <a:r>
              <a:rPr lang="en-US" altLang="zh-TW" dirty="0">
                <a:highlight>
                  <a:srgbClr val="FFFF00"/>
                </a:highlight>
              </a:rPr>
              <a:t>SSL </a:t>
            </a:r>
            <a:r>
              <a:rPr lang="zh-TW" altLang="en-US" dirty="0">
                <a:highlight>
                  <a:srgbClr val="FFFF00"/>
                </a:highlight>
              </a:rPr>
              <a:t>加密層用</a:t>
            </a:r>
            <a:r>
              <a:rPr lang="en-US" altLang="zh-TW" dirty="0">
                <a:highlight>
                  <a:srgbClr val="FFFF00"/>
                </a:highlight>
              </a:rPr>
              <a:t>?</a:t>
            </a:r>
          </a:p>
          <a:p>
            <a:r>
              <a:rPr lang="en-US" altLang="zh-TW" dirty="0"/>
              <a:t>AD </a:t>
            </a:r>
            <a:r>
              <a:rPr lang="zh-TW" altLang="en-US" dirty="0"/>
              <a:t>只放實際 </a:t>
            </a:r>
            <a:r>
              <a:rPr lang="en-US" altLang="zh-TW" dirty="0"/>
              <a:t>USER ,</a:t>
            </a:r>
            <a:r>
              <a:rPr lang="zh-TW" altLang="en-US" dirty="0"/>
              <a:t> 並存在 </a:t>
            </a:r>
            <a:r>
              <a:rPr lang="en-US" altLang="zh-TW" dirty="0"/>
              <a:t>USER GROUP , </a:t>
            </a:r>
            <a:r>
              <a:rPr lang="zh-TW" altLang="en-US" dirty="0"/>
              <a:t>沒有服務帳號存在</a:t>
            </a:r>
            <a:endParaRPr lang="en-US" altLang="zh-TW" dirty="0"/>
          </a:p>
          <a:p>
            <a:pPr lvl="1"/>
            <a:r>
              <a:rPr lang="en-US" altLang="zh-TW" dirty="0"/>
              <a:t>USER </a:t>
            </a:r>
            <a:r>
              <a:rPr lang="zh-TW" altLang="en-US" dirty="0"/>
              <a:t>走 </a:t>
            </a:r>
            <a:r>
              <a:rPr lang="en-US" altLang="zh-TW" dirty="0"/>
              <a:t>AD , </a:t>
            </a:r>
            <a:r>
              <a:rPr lang="zh-TW" altLang="en-US" dirty="0">
                <a:highlight>
                  <a:srgbClr val="FFFF00"/>
                </a:highlight>
              </a:rPr>
              <a:t>服務另外想辦法</a:t>
            </a:r>
            <a:endParaRPr lang="en-US" altLang="zh-TW" dirty="0">
              <a:highlight>
                <a:srgbClr val="FFFF00"/>
              </a:highlight>
            </a:endParaRP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01817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1603F5-C728-0D4E-35BE-D43E7324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highlight>
                  <a:srgbClr val="FFFF00"/>
                </a:highlight>
              </a:rPr>
              <a:t>USER </a:t>
            </a:r>
            <a:r>
              <a:rPr lang="zh-TW" altLang="en-US" dirty="0">
                <a:highlight>
                  <a:srgbClr val="FFFF00"/>
                </a:highlight>
              </a:rPr>
              <a:t>與服務區分方式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DF8845-DAED-BFFC-8859-8A483AA90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accent1"/>
                </a:solidFill>
              </a:rPr>
              <a:t>由 </a:t>
            </a:r>
            <a:r>
              <a:rPr lang="en-US" altLang="zh-TW" dirty="0">
                <a:solidFill>
                  <a:schemeClr val="accent1"/>
                </a:solidFill>
              </a:rPr>
              <a:t>USER</a:t>
            </a:r>
            <a:r>
              <a:rPr lang="zh-TW" altLang="en-US" dirty="0">
                <a:solidFill>
                  <a:schemeClr val="accent1"/>
                </a:solidFill>
              </a:rPr>
              <a:t> </a:t>
            </a:r>
            <a:r>
              <a:rPr lang="zh-TW" altLang="en-US" dirty="0"/>
              <a:t>直接或間接</a:t>
            </a:r>
            <a:r>
              <a:rPr lang="zh-TW" altLang="en-US" dirty="0">
                <a:solidFill>
                  <a:schemeClr val="accent1"/>
                </a:solidFill>
              </a:rPr>
              <a:t>操作</a:t>
            </a:r>
            <a:r>
              <a:rPr lang="zh-TW" altLang="en-US" dirty="0"/>
              <a:t>就是 </a:t>
            </a:r>
            <a:r>
              <a:rPr lang="en-US" altLang="zh-TW" dirty="0"/>
              <a:t>USER</a:t>
            </a:r>
          </a:p>
          <a:p>
            <a:r>
              <a:rPr lang="zh-TW" altLang="en-US" dirty="0"/>
              <a:t>其他即服務</a:t>
            </a:r>
          </a:p>
        </p:txBody>
      </p:sp>
    </p:spTree>
    <p:extLst>
      <p:ext uri="{BB962C8B-B14F-4D97-AF65-F5344CB8AC3E}">
        <p14:creationId xmlns:p14="http://schemas.microsoft.com/office/powerpoint/2010/main" val="415010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72B41-8ACE-06C3-7126-0482241D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TLS </a:t>
            </a:r>
            <a:r>
              <a:rPr lang="zh-TW" altLang="en-US" dirty="0"/>
              <a:t>傳輸加密 </a:t>
            </a:r>
            <a:r>
              <a:rPr lang="en-US" altLang="zh-TW" dirty="0"/>
              <a:t>(SERVER</a:t>
            </a:r>
            <a:r>
              <a:rPr lang="zh-TW" altLang="en-US" dirty="0"/>
              <a:t> 端共用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2F48E5-9CF4-43BB-F1F5-0FE116128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產 </a:t>
            </a:r>
            <a:r>
              <a:rPr lang="en-US" altLang="zh-TW" dirty="0"/>
              <a:t>PK + CSR (</a:t>
            </a:r>
            <a:r>
              <a:rPr lang="zh-TW" altLang="en-US" dirty="0"/>
              <a:t>和 </a:t>
            </a:r>
            <a:r>
              <a:rPr lang="en-US" altLang="zh-TW" dirty="0"/>
              <a:t>PUBK)</a:t>
            </a:r>
          </a:p>
          <a:p>
            <a:pPr lvl="1"/>
            <a:r>
              <a:rPr lang="en-US" altLang="zh-TW" dirty="0"/>
              <a:t>DN </a:t>
            </a:r>
            <a:r>
              <a:rPr lang="zh-TW" altLang="en-US" dirty="0"/>
              <a:t>由客戶決定 </a:t>
            </a:r>
            <a:r>
              <a:rPr lang="en-US" altLang="zh-TW" dirty="0"/>
              <a:t>(</a:t>
            </a:r>
            <a:r>
              <a:rPr lang="zh-TW" altLang="en-US" dirty="0"/>
              <a:t>不使用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SAN </a:t>
            </a:r>
            <a:r>
              <a:rPr lang="zh-TW" altLang="en-US" dirty="0"/>
              <a:t>必須包含 </a:t>
            </a:r>
            <a:r>
              <a:rPr lang="en-US" altLang="zh-TW" dirty="0"/>
              <a:t>KAFKA </a:t>
            </a:r>
            <a:r>
              <a:rPr lang="zh-TW" altLang="en-US" dirty="0"/>
              <a:t>各組件對外連線之所有 </a:t>
            </a:r>
            <a:r>
              <a:rPr lang="en-US" altLang="zh-TW" dirty="0"/>
              <a:t>DOMAIN or IP</a:t>
            </a:r>
          </a:p>
          <a:p>
            <a:r>
              <a:rPr lang="zh-TW" altLang="en-US" dirty="0"/>
              <a:t>由客戶內部 </a:t>
            </a:r>
            <a:r>
              <a:rPr lang="en-US" altLang="zh-TW" dirty="0"/>
              <a:t>CA</a:t>
            </a:r>
            <a:r>
              <a:rPr lang="zh-TW" altLang="en-US" dirty="0"/>
              <a:t> 簽發 </a:t>
            </a:r>
            <a:r>
              <a:rPr lang="en-US" altLang="zh-TW" dirty="0"/>
              <a:t>CERT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由 </a:t>
            </a:r>
            <a:r>
              <a:rPr lang="en-US" altLang="zh-TW" dirty="0"/>
              <a:t>CSR </a:t>
            </a:r>
            <a:r>
              <a:rPr lang="zh-TW" altLang="en-US" dirty="0"/>
              <a:t>衍伸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>
                <a:highlight>
                  <a:srgbClr val="FFFF00"/>
                </a:highlight>
              </a:rPr>
              <a:t>客戶內部 </a:t>
            </a:r>
            <a:r>
              <a:rPr lang="en-US" altLang="zh-TW" dirty="0">
                <a:highlight>
                  <a:srgbClr val="FFFF00"/>
                </a:highlight>
              </a:rPr>
              <a:t>CA </a:t>
            </a:r>
            <a:r>
              <a:rPr lang="zh-TW" altLang="en-US" dirty="0">
                <a:highlight>
                  <a:srgbClr val="FFFF00"/>
                </a:highlight>
              </a:rPr>
              <a:t>簽發所有 </a:t>
            </a:r>
            <a:r>
              <a:rPr lang="en-US" altLang="zh-TW" dirty="0">
                <a:highlight>
                  <a:srgbClr val="FFFF00"/>
                </a:highlight>
              </a:rPr>
              <a:t>SERVER </a:t>
            </a:r>
            <a:r>
              <a:rPr lang="zh-TW" altLang="en-US" dirty="0">
                <a:highlight>
                  <a:srgbClr val="FFFF00"/>
                </a:highlight>
              </a:rPr>
              <a:t>與 </a:t>
            </a:r>
            <a:r>
              <a:rPr lang="en-US" altLang="zh-TW" dirty="0">
                <a:highlight>
                  <a:srgbClr val="FFFF00"/>
                </a:highlight>
              </a:rPr>
              <a:t>CLIENT </a:t>
            </a:r>
            <a:r>
              <a:rPr lang="zh-TW" altLang="en-US" dirty="0">
                <a:highlight>
                  <a:srgbClr val="FFFF00"/>
                </a:highlight>
              </a:rPr>
              <a:t>憑證</a:t>
            </a:r>
            <a:r>
              <a:rPr lang="en-US" altLang="zh-TW" dirty="0">
                <a:highlight>
                  <a:srgbClr val="FFFF00"/>
                </a:highlight>
              </a:rPr>
              <a:t>?</a:t>
            </a:r>
          </a:p>
          <a:p>
            <a:r>
              <a:rPr lang="en-US" altLang="zh-TW" dirty="0"/>
              <a:t>KAFKA </a:t>
            </a:r>
            <a:r>
              <a:rPr lang="zh-TW" altLang="en-US" dirty="0"/>
              <a:t>各組件設定 </a:t>
            </a:r>
            <a:r>
              <a:rPr lang="en-US" altLang="zh-TW" dirty="0"/>
              <a:t>KEYSTORE</a:t>
            </a:r>
            <a:r>
              <a:rPr lang="zh-TW" altLang="en-US" dirty="0"/>
              <a:t> </a:t>
            </a:r>
            <a:r>
              <a:rPr lang="en-US" altLang="zh-TW" dirty="0"/>
              <a:t>(P12)</a:t>
            </a:r>
            <a:r>
              <a:rPr lang="zh-TW" altLang="en-US" dirty="0"/>
              <a:t> 含一組 </a:t>
            </a:r>
            <a:r>
              <a:rPr lang="en-US" altLang="zh-TW" dirty="0"/>
              <a:t>PK + CERT</a:t>
            </a:r>
            <a:r>
              <a:rPr lang="zh-TW" altLang="en-US" dirty="0"/>
              <a:t> </a:t>
            </a:r>
            <a:r>
              <a:rPr lang="en-US" altLang="zh-TW" dirty="0"/>
              <a:t>(CERT </a:t>
            </a:r>
            <a:r>
              <a:rPr lang="zh-TW" altLang="en-US" dirty="0"/>
              <a:t>包含 </a:t>
            </a:r>
            <a:r>
              <a:rPr lang="en-US" altLang="zh-TW" dirty="0"/>
              <a:t>SERVER </a:t>
            </a:r>
            <a:r>
              <a:rPr lang="zh-TW" altLang="en-US" dirty="0"/>
              <a:t>與中繼 </a:t>
            </a:r>
            <a:r>
              <a:rPr lang="en-US" altLang="zh-TW" dirty="0"/>
              <a:t>CA </a:t>
            </a:r>
            <a:r>
              <a:rPr lang="zh-TW" altLang="en-US" dirty="0"/>
              <a:t>憑證鏈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當然 </a:t>
            </a:r>
            <a:r>
              <a:rPr lang="en-US" altLang="zh-TW" dirty="0"/>
              <a:t>CLIENT </a:t>
            </a:r>
            <a:r>
              <a:rPr lang="zh-TW" altLang="en-US" dirty="0"/>
              <a:t>也要是相同作法</a:t>
            </a:r>
            <a:endParaRPr lang="en-US" altLang="zh-TW" dirty="0"/>
          </a:p>
          <a:p>
            <a:r>
              <a:rPr lang="en-US" altLang="zh-TW" dirty="0"/>
              <a:t>KAFKA </a:t>
            </a:r>
            <a:r>
              <a:rPr lang="zh-TW" altLang="en-US" dirty="0"/>
              <a:t>各組件設定 </a:t>
            </a:r>
            <a:r>
              <a:rPr lang="en-US" altLang="zh-TW" dirty="0"/>
              <a:t>TRUSTSTORE (</a:t>
            </a:r>
            <a:r>
              <a:rPr lang="zh-TW" altLang="en-US" dirty="0"/>
              <a:t>匯入 </a:t>
            </a:r>
            <a:r>
              <a:rPr lang="en-US" altLang="zh-TW" dirty="0"/>
              <a:t>CA ROOT </a:t>
            </a:r>
            <a:r>
              <a:rPr lang="zh-TW" altLang="en-US" dirty="0"/>
              <a:t>憑證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BROKER &lt;-&gt; BROKER , BROKER -&gt; CONTROLLER , CONTROLLER &lt;-&gt; CONTROLLER</a:t>
            </a:r>
          </a:p>
          <a:p>
            <a:pPr lvl="1"/>
            <a:r>
              <a:rPr lang="zh-TW" altLang="en-US" dirty="0"/>
              <a:t>各 </a:t>
            </a:r>
            <a:r>
              <a:rPr lang="en-US" altLang="zh-TW" dirty="0"/>
              <a:t>KAFKA </a:t>
            </a:r>
            <a:r>
              <a:rPr lang="zh-TW" altLang="en-US" dirty="0"/>
              <a:t>組件 </a:t>
            </a:r>
            <a:r>
              <a:rPr lang="en-US" altLang="zh-TW" dirty="0"/>
              <a:t>MTLS</a:t>
            </a:r>
          </a:p>
          <a:p>
            <a:pPr lvl="1"/>
            <a:r>
              <a:rPr lang="zh-TW" altLang="en-US" dirty="0"/>
              <a:t>某些 </a:t>
            </a:r>
            <a:r>
              <a:rPr lang="en-US" altLang="zh-TW" dirty="0"/>
              <a:t>KAFKA </a:t>
            </a:r>
            <a:r>
              <a:rPr lang="zh-TW" altLang="en-US" dirty="0"/>
              <a:t>組件內部 </a:t>
            </a:r>
            <a:r>
              <a:rPr lang="en-US" altLang="zh-TW" dirty="0"/>
              <a:t>FORWARD </a:t>
            </a:r>
            <a:r>
              <a:rPr lang="zh-TW" altLang="en-US" dirty="0"/>
              <a:t>用</a:t>
            </a:r>
            <a:endParaRPr lang="en-US" altLang="zh-TW" dirty="0"/>
          </a:p>
          <a:p>
            <a:pPr lvl="1"/>
            <a:r>
              <a:rPr lang="zh-TW" altLang="en-US" dirty="0"/>
              <a:t>信任 </a:t>
            </a:r>
            <a:r>
              <a:rPr lang="en-US" altLang="zh-TW" dirty="0"/>
              <a:t>AD (LDAPS) </a:t>
            </a:r>
          </a:p>
          <a:p>
            <a:pPr lvl="1"/>
            <a:r>
              <a:rPr lang="zh-TW" altLang="en-US" dirty="0"/>
              <a:t>若串接之 </a:t>
            </a:r>
            <a:r>
              <a:rPr lang="en-US" altLang="zh-TW" dirty="0"/>
              <a:t>CLIENT </a:t>
            </a:r>
            <a:r>
              <a:rPr lang="zh-TW" altLang="en-US" dirty="0"/>
              <a:t>非相同 </a:t>
            </a:r>
            <a:r>
              <a:rPr lang="en-US" altLang="zh-TW" dirty="0"/>
              <a:t>CA ROOT , </a:t>
            </a:r>
            <a:r>
              <a:rPr lang="zh-TW" altLang="en-US" dirty="0"/>
              <a:t>需要匯入 </a:t>
            </a:r>
            <a:r>
              <a:rPr lang="en-US" altLang="zh-TW" dirty="0"/>
              <a:t>CLIENT </a:t>
            </a:r>
            <a:r>
              <a:rPr lang="zh-TW" altLang="en-US" dirty="0"/>
              <a:t>之 </a:t>
            </a:r>
            <a:r>
              <a:rPr lang="en-US" altLang="zh-TW" dirty="0"/>
              <a:t>CA ROOT </a:t>
            </a:r>
            <a:r>
              <a:rPr lang="zh-TW" altLang="en-US" dirty="0"/>
              <a:t>憑證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2752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D3D534-7A65-A129-60CA-BA5A989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Kafka kraft mode </a:t>
            </a:r>
            <a:r>
              <a:rPr lang="zh-TW" altLang="en-US" dirty="0"/>
              <a:t>本體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658988-4CE3-BDE1-D8D6-3F1D15DD1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Kafka controller </a:t>
            </a:r>
          </a:p>
          <a:p>
            <a:r>
              <a:rPr lang="en-US" altLang="zh-TW" dirty="0"/>
              <a:t>Kafka broker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481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7E4155-6116-8B04-E4AB-AB9A9DB6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身分認證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14E13C-CDCB-8C9C-827B-62F2A1F0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MTLS : </a:t>
            </a:r>
            <a:r>
              <a:rPr lang="zh-TW" altLang="en-US" dirty="0"/>
              <a:t>為簡化憑證管理相關議題 </a:t>
            </a:r>
            <a:r>
              <a:rPr lang="en-US" altLang="zh-TW" dirty="0"/>
              <a:t>, </a:t>
            </a:r>
            <a:r>
              <a:rPr lang="zh-TW" altLang="en-US" dirty="0"/>
              <a:t>不建議使用</a:t>
            </a:r>
            <a:endParaRPr lang="en-US" altLang="zh-TW" dirty="0"/>
          </a:p>
          <a:p>
            <a:r>
              <a:rPr lang="en-US" altLang="zh-TW" dirty="0"/>
              <a:t>SASL/PLAIN:</a:t>
            </a:r>
            <a:r>
              <a:rPr lang="zh-TW" altLang="en-US" dirty="0"/>
              <a:t> </a:t>
            </a:r>
            <a:r>
              <a:rPr lang="en-US" altLang="zh-TW" dirty="0"/>
              <a:t>USER </a:t>
            </a:r>
            <a:r>
              <a:rPr lang="zh-TW" altLang="en-US" dirty="0"/>
              <a:t>走 </a:t>
            </a:r>
            <a:r>
              <a:rPr lang="en-US" altLang="zh-TW" dirty="0"/>
              <a:t>AD , </a:t>
            </a:r>
            <a:r>
              <a:rPr lang="zh-TW" altLang="en-US" dirty="0"/>
              <a:t>可取出 </a:t>
            </a:r>
            <a:r>
              <a:rPr lang="en-US" altLang="zh-TW" dirty="0"/>
              <a:t>USER GROUP</a:t>
            </a:r>
            <a:r>
              <a:rPr lang="zh-TW" altLang="en-US" dirty="0"/>
              <a:t> 做後續權控</a:t>
            </a:r>
            <a:endParaRPr lang="en-US" altLang="zh-TW" dirty="0"/>
          </a:p>
          <a:p>
            <a:r>
              <a:rPr lang="en-US" altLang="zh-TW" dirty="0"/>
              <a:t>SASL/SCRAM: </a:t>
            </a:r>
            <a:r>
              <a:rPr lang="zh-TW" altLang="en-US" dirty="0"/>
              <a:t>服務走 </a:t>
            </a:r>
            <a:r>
              <a:rPr lang="en-US" altLang="zh-TW" dirty="0"/>
              <a:t>KAFKA </a:t>
            </a:r>
            <a:r>
              <a:rPr lang="zh-TW" altLang="en-US" dirty="0"/>
              <a:t>靜態帳密管理 </a:t>
            </a:r>
            <a:r>
              <a:rPr lang="en-US" altLang="zh-TW" dirty="0"/>
              <a:t>(</a:t>
            </a:r>
            <a:r>
              <a:rPr lang="zh-TW" altLang="en-US" dirty="0"/>
              <a:t>服務帳號放入 </a:t>
            </a:r>
            <a:r>
              <a:rPr lang="en-US" altLang="zh-TW" dirty="0"/>
              <a:t>KAFKA KRAFT </a:t>
            </a:r>
            <a:r>
              <a:rPr lang="zh-TW" altLang="en-US" dirty="0"/>
              <a:t>中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427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2AA798-FFFE-B011-C3D5-65A8CD0C6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權限控管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774E57-0D2A-7955-72CC-DF916A927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MDS </a:t>
            </a:r>
            <a:r>
              <a:rPr lang="zh-TW" altLang="en-US" dirty="0"/>
              <a:t>是內嵌於 </a:t>
            </a:r>
            <a:r>
              <a:rPr lang="en-US" altLang="zh-TW" dirty="0"/>
              <a:t>BROKER </a:t>
            </a:r>
            <a:r>
              <a:rPr lang="zh-TW" altLang="en-US" dirty="0"/>
              <a:t>之 </a:t>
            </a:r>
            <a:r>
              <a:rPr lang="en-US" altLang="zh-TW" dirty="0"/>
              <a:t>HTTP </a:t>
            </a:r>
            <a:r>
              <a:rPr lang="zh-TW" altLang="en-US" dirty="0"/>
              <a:t>服務</a:t>
            </a:r>
            <a:endParaRPr lang="en-US" altLang="zh-TW" dirty="0"/>
          </a:p>
          <a:p>
            <a:pPr lvl="1"/>
            <a:r>
              <a:rPr lang="zh-TW" altLang="en-US" dirty="0"/>
              <a:t>換 </a:t>
            </a:r>
            <a:r>
              <a:rPr lang="en-US" altLang="zh-TW" dirty="0"/>
              <a:t>MDS TOKEN</a:t>
            </a:r>
          </a:p>
          <a:p>
            <a:pPr lvl="1"/>
            <a:r>
              <a:rPr lang="zh-TW" altLang="en-US" dirty="0"/>
              <a:t>管理 </a:t>
            </a:r>
            <a:r>
              <a:rPr lang="en-US" altLang="zh-TW" dirty="0"/>
              <a:t>RBAC </a:t>
            </a:r>
            <a:r>
              <a:rPr lang="zh-TW" altLang="en-US" dirty="0"/>
              <a:t>資訊</a:t>
            </a:r>
            <a:endParaRPr lang="en-US" altLang="zh-TW" dirty="0"/>
          </a:p>
          <a:p>
            <a:r>
              <a:rPr lang="en-US" altLang="zh-TW" dirty="0"/>
              <a:t>MDS </a:t>
            </a:r>
            <a:r>
              <a:rPr lang="zh-TW" altLang="en-US" dirty="0"/>
              <a:t>在異動 </a:t>
            </a:r>
            <a:r>
              <a:rPr lang="en-US" altLang="zh-TW" dirty="0"/>
              <a:t>RBAC </a:t>
            </a:r>
            <a:r>
              <a:rPr lang="zh-TW" altLang="en-US" dirty="0"/>
              <a:t>時 </a:t>
            </a:r>
            <a:r>
              <a:rPr lang="en-US" altLang="zh-TW" dirty="0"/>
              <a:t>, </a:t>
            </a:r>
            <a:r>
              <a:rPr lang="zh-TW" altLang="en-US" dirty="0"/>
              <a:t>會將最新的 </a:t>
            </a:r>
            <a:r>
              <a:rPr lang="en-US" altLang="zh-TW" dirty="0"/>
              <a:t>RBAC </a:t>
            </a:r>
            <a:r>
              <a:rPr lang="zh-TW" altLang="en-US" dirty="0"/>
              <a:t>資訊寫入一個 </a:t>
            </a:r>
            <a:r>
              <a:rPr lang="en-US" altLang="zh-TW" dirty="0"/>
              <a:t>TOPIC </a:t>
            </a:r>
            <a:r>
              <a:rPr lang="zh-TW" altLang="en-US" dirty="0"/>
              <a:t>中</a:t>
            </a:r>
            <a:endParaRPr lang="en-US" altLang="zh-TW" dirty="0"/>
          </a:p>
          <a:p>
            <a:r>
              <a:rPr lang="en-US" altLang="zh-TW" dirty="0"/>
              <a:t>BROKER </a:t>
            </a:r>
            <a:r>
              <a:rPr lang="zh-TW" altLang="en-US" dirty="0"/>
              <a:t>會吃該 </a:t>
            </a:r>
            <a:r>
              <a:rPr lang="en-US" altLang="zh-TW" dirty="0"/>
              <a:t>TOPIC </a:t>
            </a:r>
            <a:r>
              <a:rPr lang="zh-TW" altLang="en-US" dirty="0"/>
              <a:t>的資訊 </a:t>
            </a:r>
            <a:r>
              <a:rPr lang="en-US" altLang="zh-TW" dirty="0"/>
              <a:t>CACHE </a:t>
            </a:r>
            <a:r>
              <a:rPr lang="zh-TW" altLang="en-US" dirty="0"/>
              <a:t>在本地進行 </a:t>
            </a:r>
            <a:r>
              <a:rPr lang="en-US" altLang="zh-TW" dirty="0"/>
              <a:t>RBAC </a:t>
            </a:r>
            <a:r>
              <a:rPr lang="zh-TW" altLang="en-US" dirty="0"/>
              <a:t>權控</a:t>
            </a:r>
            <a:endParaRPr lang="en-US" altLang="zh-TW" dirty="0"/>
          </a:p>
          <a:p>
            <a:r>
              <a:rPr lang="en-US" altLang="zh-TW" dirty="0"/>
              <a:t>MDS </a:t>
            </a:r>
            <a:r>
              <a:rPr lang="zh-TW" altLang="en-US" dirty="0"/>
              <a:t>提供了許多內建的 </a:t>
            </a:r>
            <a:r>
              <a:rPr lang="en-US" altLang="zh-TW" dirty="0"/>
              <a:t>ROLE , </a:t>
            </a:r>
            <a:r>
              <a:rPr lang="zh-TW" altLang="en-US" dirty="0"/>
              <a:t>根據 </a:t>
            </a:r>
            <a:r>
              <a:rPr lang="en-US" altLang="zh-TW" dirty="0"/>
              <a:t>CLUSTER OR CLUSTER </a:t>
            </a:r>
            <a:r>
              <a:rPr lang="zh-TW" altLang="en-US" dirty="0"/>
              <a:t>中的 </a:t>
            </a:r>
            <a:r>
              <a:rPr lang="en-US" altLang="zh-TW" dirty="0"/>
              <a:t>RESOURCE </a:t>
            </a:r>
            <a:r>
              <a:rPr lang="zh-TW" altLang="en-US" dirty="0"/>
              <a:t>進行授權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12045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周邊組件:人與機器各走哪條路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sp>
        <p:nvSpPr>
          <p:cNvPr id="4" name="文字方塊 4"/>
          <p:cNvSpPr txBox="1"/>
          <p:nvPr/>
        </p:nvSpPr>
        <p:spPr>
          <a:xfrm>
            <a:off x="841248" y="1508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56082"/>
                </a:solidFill>
              </a:rPr>
              <a:t>人(Postman · 手動測試)</a:t>
            </a:r>
          </a:p>
        </p:txBody>
      </p:sp>
      <p:sp>
        <p:nvSpPr>
          <p:cNvPr id="5" name="文字方塊 5"/>
          <p:cNvSpPr/>
          <p:nvPr/>
        </p:nvSpPr>
        <p:spPr>
          <a:xfrm>
            <a:off x="3931920" y="1837944"/>
            <a:ext cx="2103120" cy="548640"/>
          </a:xfrm>
          <a:prstGeom prst="roundRect">
            <a:avLst>
              <a:gd name="adj" fmla="val 6000"/>
            </a:avLst>
          </a:prstGeom>
          <a:solidFill>
            <a:srgbClr val="DCEBF2"/>
          </a:solidFill>
          <a:ln w="15875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MDS</a:t>
            </a:r>
          </a:p>
        </p:txBody>
      </p:sp>
      <p:cxnSp>
        <p:nvCxnSpPr>
          <p:cNvPr id="6" name="箭頭 6"/>
          <p:cNvCxnSpPr/>
          <p:nvPr/>
        </p:nvCxnSpPr>
        <p:spPr>
          <a:xfrm flipV="1">
            <a:off x="4617720" y="2386584"/>
            <a:ext cx="0" cy="173736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cxnSp>
        <p:nvCxnSpPr>
          <p:cNvPr id="7" name="箭頭 7"/>
          <p:cNvCxnSpPr/>
          <p:nvPr/>
        </p:nvCxnSpPr>
        <p:spPr>
          <a:xfrm>
            <a:off x="5303520" y="2386584"/>
            <a:ext cx="0" cy="173736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sp>
        <p:nvSpPr>
          <p:cNvPr id="8" name="文字方塊 8"/>
          <p:cNvSpPr txBox="1"/>
          <p:nvPr/>
        </p:nvSpPr>
        <p:spPr>
          <a:xfrm>
            <a:off x="6126480" y="173736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000" b="1" dirty="0">
                <a:solidFill>
                  <a:srgbClr val="156082"/>
                </a:solidFill>
              </a:rPr>
              <a:t>① REST Proxy 把 Basic 帳密轉給 MDS(/authenticate)</a:t>
            </a:r>
          </a:p>
          <a:p>
            <a:pPr algn="l"/>
            <a:r>
              <a:rPr lang="zh-TW" altLang="en-US" sz="1000" b="1" dirty="0">
                <a:solidFill>
                  <a:srgbClr val="156082"/>
                </a:solidFill>
              </a:rPr>
              <a:t>② MDS 向 AD 驗證,回 token(不經 /impersonate)</a:t>
            </a:r>
          </a:p>
        </p:txBody>
      </p:sp>
      <p:sp>
        <p:nvSpPr>
          <p:cNvPr id="9" name="文字方塊 9"/>
          <p:cNvSpPr/>
          <p:nvPr/>
        </p:nvSpPr>
        <p:spPr>
          <a:xfrm>
            <a:off x="841248" y="256032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DCEBF2"/>
          </a:solidFill>
          <a:ln w="22225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人</a:t>
            </a:r>
          </a:p>
        </p:txBody>
      </p:sp>
      <p:sp>
        <p:nvSpPr>
          <p:cNvPr id="10" name="文字方塊 10"/>
          <p:cNvSpPr/>
          <p:nvPr/>
        </p:nvSpPr>
        <p:spPr>
          <a:xfrm>
            <a:off x="3931920" y="2560320"/>
            <a:ext cx="2103120" cy="731520"/>
          </a:xfrm>
          <a:prstGeom prst="roundRect">
            <a:avLst>
              <a:gd name="adj" fmla="val 6000"/>
            </a:avLst>
          </a:prstGeom>
          <a:solidFill>
            <a:srgbClr val="DCEBF2"/>
          </a:solidFill>
          <a:ln w="22225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REST Proxy</a:t>
            </a:r>
          </a:p>
        </p:txBody>
      </p:sp>
      <p:sp>
        <p:nvSpPr>
          <p:cNvPr id="11" name="文字方塊 11"/>
          <p:cNvSpPr/>
          <p:nvPr/>
        </p:nvSpPr>
        <p:spPr>
          <a:xfrm>
            <a:off x="7315200" y="256032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DCEBF2"/>
          </a:solidFill>
          <a:ln w="22225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broker</a:t>
            </a:r>
          </a:p>
        </p:txBody>
      </p:sp>
      <p:cxnSp>
        <p:nvCxnSpPr>
          <p:cNvPr id="12" name="箭頭 12"/>
          <p:cNvCxnSpPr/>
          <p:nvPr/>
        </p:nvCxnSpPr>
        <p:spPr>
          <a:xfrm>
            <a:off x="2670048" y="2926080"/>
            <a:ext cx="1261872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cxnSp>
        <p:nvCxnSpPr>
          <p:cNvPr id="13" name="箭頭 13"/>
          <p:cNvCxnSpPr/>
          <p:nvPr/>
        </p:nvCxnSpPr>
        <p:spPr>
          <a:xfrm>
            <a:off x="6035040" y="2926080"/>
            <a:ext cx="128016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sp>
        <p:nvSpPr>
          <p:cNvPr id="14" name="文字方塊 14"/>
          <p:cNvSpPr txBox="1"/>
          <p:nvPr/>
        </p:nvSpPr>
        <p:spPr>
          <a:xfrm>
            <a:off x="1828800" y="33375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000" b="1" dirty="0">
                <a:solidFill>
                  <a:srgbClr val="156082"/>
                </a:solidFill>
              </a:rPr>
              <a:t>Basic(AD 帳密)</a:t>
            </a:r>
          </a:p>
        </p:txBody>
      </p:sp>
      <p:sp>
        <p:nvSpPr>
          <p:cNvPr id="15" name="文字方塊 15"/>
          <p:cNvSpPr txBox="1"/>
          <p:nvPr/>
        </p:nvSpPr>
        <p:spPr>
          <a:xfrm>
            <a:off x="5806440" y="33375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000" b="1" dirty="0">
                <a:solidFill>
                  <a:srgbClr val="156082"/>
                </a:solidFill>
              </a:rPr>
              <a:t>OAUTHBEARER(帶 token)</a:t>
            </a:r>
          </a:p>
        </p:txBody>
      </p:sp>
      <p:sp>
        <p:nvSpPr>
          <p:cNvPr id="16" name="文字方塊 16"/>
          <p:cNvSpPr txBox="1"/>
          <p:nvPr/>
        </p:nvSpPr>
        <p:spPr>
          <a:xfrm>
            <a:off x="9235440" y="26517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000" b="1" dirty="0">
                <a:solidFill>
                  <a:srgbClr val="156082"/>
                </a:solidFill>
              </a:rPr>
              <a:t>broker 用 MDS 公鑰驗章,</a:t>
            </a:r>
          </a:p>
          <a:p>
            <a:pPr algn="l"/>
            <a:r>
              <a:rPr lang="zh-TW" altLang="en-US" sz="1000" b="1" dirty="0">
                <a:solidFill>
                  <a:srgbClr val="156082"/>
                </a:solidFill>
              </a:rPr>
              <a:t>主體 = token 的 sub</a:t>
            </a:r>
          </a:p>
        </p:txBody>
      </p:sp>
      <p:sp>
        <p:nvSpPr>
          <p:cNvPr id="17" name="文字方塊 17"/>
          <p:cNvSpPr txBox="1"/>
          <p:nvPr/>
        </p:nvSpPr>
        <p:spPr>
          <a:xfrm>
            <a:off x="841248" y="37033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E97132"/>
                </a:solidFill>
              </a:rPr>
              <a:t>機器(legacy app)</a:t>
            </a:r>
          </a:p>
        </p:txBody>
      </p:sp>
      <p:sp>
        <p:nvSpPr>
          <p:cNvPr id="18" name="文字方塊 18"/>
          <p:cNvSpPr/>
          <p:nvPr/>
        </p:nvSpPr>
        <p:spPr>
          <a:xfrm>
            <a:off x="3931920" y="4032504"/>
            <a:ext cx="2103120" cy="548640"/>
          </a:xfrm>
          <a:prstGeom prst="roundRect">
            <a:avLst>
              <a:gd name="adj" fmla="val 6000"/>
            </a:avLst>
          </a:prstGeom>
          <a:solidFill>
            <a:srgbClr val="DCEBF2"/>
          </a:solidFill>
          <a:ln w="15875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MDS</a:t>
            </a:r>
          </a:p>
        </p:txBody>
      </p:sp>
      <p:cxnSp>
        <p:nvCxnSpPr>
          <p:cNvPr id="19" name="箭頭 19"/>
          <p:cNvCxnSpPr/>
          <p:nvPr/>
        </p:nvCxnSpPr>
        <p:spPr>
          <a:xfrm flipV="1">
            <a:off x="4617720" y="4581144"/>
            <a:ext cx="0" cy="173736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cxnSp>
        <p:nvCxnSpPr>
          <p:cNvPr id="20" name="箭頭 20"/>
          <p:cNvCxnSpPr/>
          <p:nvPr/>
        </p:nvCxnSpPr>
        <p:spPr>
          <a:xfrm>
            <a:off x="5303520" y="4581144"/>
            <a:ext cx="0" cy="173736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sp>
        <p:nvSpPr>
          <p:cNvPr id="21" name="文字方塊 21"/>
          <p:cNvSpPr txBox="1"/>
          <p:nvPr/>
        </p:nvSpPr>
        <p:spPr>
          <a:xfrm>
            <a:off x="6126480" y="393192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000" b="1" dirty="0">
                <a:solidFill>
                  <a:srgbClr val="156082"/>
                </a:solidFill>
              </a:rPr>
              <a:t>② REST Proxy 用自己的 client 憑證向 MDS 認證</a:t>
            </a:r>
          </a:p>
          <a:p>
            <a:pPr algn="l"/>
            <a:r>
              <a:rPr lang="zh-TW" altLang="en-US" sz="1000" b="1" dirty="0">
                <a:solidFill>
                  <a:srgbClr val="156082"/>
                </a:solidFill>
              </a:rPr>
              <a:t>③ POST /impersonate:代為申請 legacy app 的 token</a:t>
            </a:r>
          </a:p>
          <a:p>
            <a:pPr algn="l"/>
            <a:r>
              <a:rPr lang="zh-TW" altLang="en-US" sz="1000" b="1" dirty="0">
                <a:solidFill>
                  <a:srgbClr val="156082"/>
                </a:solidFill>
              </a:rPr>
              <a:t>④ MDS 回 token(sub = app,cp_proxy = restproxy)</a:t>
            </a:r>
          </a:p>
        </p:txBody>
      </p:sp>
      <p:sp>
        <p:nvSpPr>
          <p:cNvPr id="22" name="文字方塊 22"/>
          <p:cNvSpPr/>
          <p:nvPr/>
        </p:nvSpPr>
        <p:spPr>
          <a:xfrm>
            <a:off x="841248" y="475488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22225">
            <a:solidFill>
              <a:srgbClr val="E9713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legacy app</a:t>
            </a:r>
          </a:p>
        </p:txBody>
      </p:sp>
      <p:sp>
        <p:nvSpPr>
          <p:cNvPr id="23" name="文字方塊 23"/>
          <p:cNvSpPr/>
          <p:nvPr/>
        </p:nvSpPr>
        <p:spPr>
          <a:xfrm>
            <a:off x="3931920" y="4754880"/>
            <a:ext cx="2103120" cy="7315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22225">
            <a:solidFill>
              <a:srgbClr val="E9713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REST Proxy</a:t>
            </a:r>
          </a:p>
        </p:txBody>
      </p:sp>
      <p:sp>
        <p:nvSpPr>
          <p:cNvPr id="24" name="文字方塊 24"/>
          <p:cNvSpPr/>
          <p:nvPr/>
        </p:nvSpPr>
        <p:spPr>
          <a:xfrm>
            <a:off x="7315200" y="475488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22225">
            <a:solidFill>
              <a:srgbClr val="E9713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broker</a:t>
            </a:r>
          </a:p>
        </p:txBody>
      </p:sp>
      <p:cxnSp>
        <p:nvCxnSpPr>
          <p:cNvPr id="25" name="箭頭 25"/>
          <p:cNvCxnSpPr/>
          <p:nvPr/>
        </p:nvCxnSpPr>
        <p:spPr>
          <a:xfrm>
            <a:off x="2670048" y="5120640"/>
            <a:ext cx="1261872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cxnSp>
        <p:nvCxnSpPr>
          <p:cNvPr id="26" name="箭頭 26"/>
          <p:cNvCxnSpPr/>
          <p:nvPr/>
        </p:nvCxnSpPr>
        <p:spPr>
          <a:xfrm>
            <a:off x="6035040" y="5120640"/>
            <a:ext cx="128016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sp>
        <p:nvSpPr>
          <p:cNvPr id="27" name="文字方塊 27"/>
          <p:cNvSpPr txBox="1"/>
          <p:nvPr/>
        </p:nvSpPr>
        <p:spPr>
          <a:xfrm>
            <a:off x="1828800" y="55321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000" b="1" dirty="0">
                <a:solidFill>
                  <a:srgbClr val="E97132"/>
                </a:solidFill>
              </a:rPr>
              <a:t>① client 憑證(CN)→ 對映成主體</a:t>
            </a:r>
          </a:p>
        </p:txBody>
      </p:sp>
      <p:sp>
        <p:nvSpPr>
          <p:cNvPr id="28" name="文字方塊 28"/>
          <p:cNvSpPr txBox="1"/>
          <p:nvPr/>
        </p:nvSpPr>
        <p:spPr>
          <a:xfrm>
            <a:off x="5806440" y="55321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000" b="1" dirty="0">
                <a:solidFill>
                  <a:srgbClr val="E97132"/>
                </a:solidFill>
              </a:rPr>
              <a:t>⑤ OAUTHBEARER(帶 token)</a:t>
            </a:r>
          </a:p>
        </p:txBody>
      </p:sp>
      <p:sp>
        <p:nvSpPr>
          <p:cNvPr id="29" name="文字方塊 29"/>
          <p:cNvSpPr txBox="1"/>
          <p:nvPr/>
        </p:nvSpPr>
        <p:spPr>
          <a:xfrm>
            <a:off x="9235440" y="48463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000" b="1" dirty="0">
                <a:solidFill>
                  <a:srgbClr val="E97132"/>
                </a:solidFill>
              </a:rPr>
              <a:t>broker 用 MDS 公鑰驗章,</a:t>
            </a:r>
          </a:p>
          <a:p>
            <a:pPr algn="l"/>
            <a:r>
              <a:rPr lang="zh-TW" altLang="en-US" sz="1000" b="1" dirty="0">
                <a:solidFill>
                  <a:srgbClr val="E97132"/>
                </a:solidFill>
              </a:rPr>
              <a:t>主體 = token 的 sub</a:t>
            </a:r>
          </a:p>
        </p:txBody>
      </p:sp>
      <p:sp>
        <p:nvSpPr>
          <p:cNvPr id="30" name="文字方塊 30"/>
          <p:cNvSpPr/>
          <p:nvPr/>
        </p:nvSpPr>
        <p:spPr>
          <a:xfrm>
            <a:off x="841248" y="5989320"/>
            <a:ext cx="10515600" cy="384048"/>
          </a:xfrm>
          <a:prstGeom prst="roundRect">
            <a:avLst>
              <a:gd name="adj" fmla="val 30000"/>
            </a:avLst>
          </a:prstGeom>
          <a:solidFill>
            <a:srgbClr val="DCEBF2"/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156082"/>
                </a:solidFill>
              </a:rPr>
              <a:t>C3 自己:c3 憑證 → MDS 換 token(SystemAdmin)→ 連 Kafka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各組件的三個機制對照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841248" y="1645920"/>
          <a:ext cx="10515600" cy="3986784"/>
        </p:xfrm>
        <a:graphic>
          <a:graphicData uri="http://schemas.openxmlformats.org/drawingml/2006/table">
            <a:tbl>
              <a:tblPr firstRow="1"/>
              <a:tblGrid>
                <a:gridCol w="1600200"/>
                <a:gridCol w="1600200"/>
                <a:gridCol w="4892040"/>
                <a:gridCol w="2423160"/>
              </a:tblGrid>
              <a:tr h="420624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FFFFFF"/>
                          </a:solidFill>
                        </a:rPr>
                        <a:t>組件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FFFFFF"/>
                          </a:solidFill>
                        </a:rPr>
                        <a:t>傳輸加密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FFFFFF"/>
                          </a:solidFill>
                        </a:rPr>
                        <a:t>身分認證(本方案採用)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FFFFFF"/>
                          </a:solidFill>
                        </a:rPr>
                        <a:t>授權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560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broker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TLS(共用 server 憑證)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人:SASL/PLAIN → LDAP(AD)  ・  服務:SASL/SCRAM  ・  token:OAUTHBEARER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RBAC(MDS)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controller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TLS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SASL/PLAIN(內部靜態帳號);controller 間不支援 SCRAM(官方文件不一致);多 controller 間 PLAIN 未實測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ConfluentServerAuthorizer + super.users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MDS(內嵌於 broker)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HTTPS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Basic → LDAP 驗證  ・  Bearer token  ・  client 憑證(mTLS)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發 token、管理 RBAC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REST Proxy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HTTPS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人:Basic(經 MDS)  ・  機器:client 憑證(AuthenticationHandler)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以使用者 token 連 broker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Control Center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HTTPS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人:Basic → MDS 換 token,之後 Bearer  ・  C3 自己:client 憑證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依登入者的 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字方塊 5"/>
          <p:cNvSpPr txBox="1"/>
          <p:nvPr/>
        </p:nvSpPr>
        <p:spPr>
          <a:xfrm>
            <a:off x="841248" y="5989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100" b="0" dirty="0">
                <a:solidFill>
                  <a:srgbClr val="595959"/>
                </a:solidFill>
              </a:rPr>
              <a:t>官方:RBAC 下 C3 連 Kafka 只支援 OAUTHBEARER;SCRAM overview 頁說 controller 間不支援 SCRAM(KRaft security 頁寫法不同,官方文件不一致)。其餘為本專案 demo 的設定。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客戶環境:一張圖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sp>
        <p:nvSpPr>
          <p:cNvPr id="4" name="圖形 4"/>
          <p:cNvSpPr/>
          <p:nvPr/>
        </p:nvSpPr>
        <p:spPr>
          <a:xfrm>
            <a:off x="841248" y="169164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5" name="文字方塊 5"/>
          <p:cNvSpPr txBox="1"/>
          <p:nvPr/>
        </p:nvSpPr>
        <p:spPr>
          <a:xfrm>
            <a:off x="841248" y="18288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2200" b="1" dirty="0">
                <a:solidFill>
                  <a:srgbClr val="0E2841"/>
                </a:solidFill>
              </a:rPr>
              <a:t>AD 目錄</a:t>
            </a:r>
          </a:p>
        </p:txBody>
      </p:sp>
      <p:sp>
        <p:nvSpPr>
          <p:cNvPr id="6" name="文字方塊 6"/>
          <p:cNvSpPr/>
          <p:nvPr/>
        </p:nvSpPr>
        <p:spPr>
          <a:xfrm>
            <a:off x="1188720" y="2514600"/>
            <a:ext cx="11430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156082"/>
                </a:solidFill>
              </a:rPr>
              <a:t>user</a:t>
            </a:r>
          </a:p>
        </p:txBody>
      </p:sp>
      <p:sp>
        <p:nvSpPr>
          <p:cNvPr id="7" name="文字方塊 7"/>
          <p:cNvSpPr/>
          <p:nvPr/>
        </p:nvSpPr>
        <p:spPr>
          <a:xfrm>
            <a:off x="2651760" y="2514600"/>
            <a:ext cx="11430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156082"/>
                </a:solidFill>
              </a:rPr>
              <a:t>group</a:t>
            </a:r>
          </a:p>
        </p:txBody>
      </p:sp>
      <p:sp>
        <p:nvSpPr>
          <p:cNvPr id="8" name="文字方塊 8"/>
          <p:cNvSpPr/>
          <p:nvPr/>
        </p:nvSpPr>
        <p:spPr>
          <a:xfrm>
            <a:off x="1188720" y="3246120"/>
            <a:ext cx="2606040" cy="384048"/>
          </a:xfrm>
          <a:prstGeom prst="roundRect">
            <a:avLst>
              <a:gd name="adj" fmla="val 30000"/>
            </a:avLst>
          </a:prstGeom>
          <a:solidFill>
            <a:srgbClr val="F8DADA"/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B3261E"/>
                </a:solidFill>
              </a:rPr>
              <a:t>✗ 沒有服務帳號</a:t>
            </a:r>
          </a:p>
        </p:txBody>
      </p:sp>
      <p:sp>
        <p:nvSpPr>
          <p:cNvPr id="9" name="文字方塊 9"/>
          <p:cNvSpPr txBox="1"/>
          <p:nvPr/>
        </p:nvSpPr>
        <p:spPr>
          <a:xfrm>
            <a:off x="841248" y="39319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300" b="0" dirty="0">
                <a:solidFill>
                  <a:srgbClr val="595959"/>
                </a:solidFill>
              </a:rPr>
              <a:t>只放實際的人與使用者群組</a:t>
            </a:r>
          </a:p>
        </p:txBody>
      </p:sp>
      <p:sp>
        <p:nvSpPr>
          <p:cNvPr id="10" name="圖形 10"/>
          <p:cNvSpPr/>
          <p:nvPr/>
        </p:nvSpPr>
        <p:spPr>
          <a:xfrm>
            <a:off x="4453128" y="169164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E9713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1" name="文字方塊 11"/>
          <p:cNvSpPr txBox="1"/>
          <p:nvPr/>
        </p:nvSpPr>
        <p:spPr>
          <a:xfrm>
            <a:off x="4453128" y="18288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2200" b="1" dirty="0">
                <a:solidFill>
                  <a:srgbClr val="0E2841"/>
                </a:solidFill>
              </a:rPr>
              <a:t>1 組 PK + 憑證</a:t>
            </a:r>
          </a:p>
        </p:txBody>
      </p:sp>
      <p:sp>
        <p:nvSpPr>
          <p:cNvPr id="12" name="文字方塊 12"/>
          <p:cNvSpPr txBox="1"/>
          <p:nvPr/>
        </p:nvSpPr>
        <p:spPr>
          <a:xfrm>
            <a:off x="4453128" y="246888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9A4A1E"/>
                </a:solidFill>
              </a:rPr>
              <a:t>Kafka 生態系各組件共用</a:t>
            </a:r>
          </a:p>
        </p:txBody>
      </p:sp>
      <p:sp>
        <p:nvSpPr>
          <p:cNvPr id="13" name="文字方塊 13"/>
          <p:cNvSpPr/>
          <p:nvPr/>
        </p:nvSpPr>
        <p:spPr>
          <a:xfrm>
            <a:off x="4754880" y="3200400"/>
            <a:ext cx="269748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9A4A1E"/>
                </a:solidFill>
              </a:rPr>
              <a:t>SAN 涵蓋所有組件的網域 / IP</a:t>
            </a:r>
          </a:p>
        </p:txBody>
      </p:sp>
      <p:sp>
        <p:nvSpPr>
          <p:cNvPr id="14" name="文字方塊 14"/>
          <p:cNvSpPr txBox="1"/>
          <p:nvPr/>
        </p:nvSpPr>
        <p:spPr>
          <a:xfrm>
            <a:off x="4453128" y="39319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300" b="0" dirty="0">
                <a:solidFill>
                  <a:srgbClr val="595959"/>
                </a:solidFill>
              </a:rPr>
              <a:t>用來啟動 SSL 加密層(server 端)</a:t>
            </a:r>
          </a:p>
        </p:txBody>
      </p:sp>
      <p:sp>
        <p:nvSpPr>
          <p:cNvPr id="15" name="圖形 15"/>
          <p:cNvSpPr/>
          <p:nvPr/>
        </p:nvSpPr>
        <p:spPr>
          <a:xfrm>
            <a:off x="8065008" y="169164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DCEBDD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6" name="文字方塊 16"/>
          <p:cNvSpPr txBox="1"/>
          <p:nvPr/>
        </p:nvSpPr>
        <p:spPr>
          <a:xfrm>
            <a:off x="8065008" y="18288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2200" b="1" dirty="0">
                <a:solidFill>
                  <a:srgbClr val="0E2841"/>
                </a:solidFill>
              </a:rPr>
              <a:t>Kafka 生態系</a:t>
            </a:r>
          </a:p>
        </p:txBody>
      </p:sp>
      <p:sp>
        <p:nvSpPr>
          <p:cNvPr id="17" name="文字方塊 17"/>
          <p:cNvSpPr/>
          <p:nvPr/>
        </p:nvSpPr>
        <p:spPr>
          <a:xfrm>
            <a:off x="8366760" y="2514600"/>
            <a:ext cx="269748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14551C"/>
                </a:solidFill>
              </a:rPr>
              <a:t>broker / controller</a:t>
            </a:r>
          </a:p>
        </p:txBody>
      </p:sp>
      <p:sp>
        <p:nvSpPr>
          <p:cNvPr id="18" name="文字方塊 18"/>
          <p:cNvSpPr/>
          <p:nvPr/>
        </p:nvSpPr>
        <p:spPr>
          <a:xfrm>
            <a:off x="8366760" y="3017520"/>
            <a:ext cx="269748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14551C"/>
                </a:solidFill>
              </a:rPr>
              <a:t>MDS(內嵌於 broker)</a:t>
            </a:r>
          </a:p>
        </p:txBody>
      </p:sp>
      <p:sp>
        <p:nvSpPr>
          <p:cNvPr id="19" name="文字方塊 19"/>
          <p:cNvSpPr/>
          <p:nvPr/>
        </p:nvSpPr>
        <p:spPr>
          <a:xfrm>
            <a:off x="8366760" y="3520440"/>
            <a:ext cx="1280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14551C"/>
                </a:solidFill>
              </a:rPr>
              <a:t>REST Proxy</a:t>
            </a:r>
          </a:p>
        </p:txBody>
      </p:sp>
      <p:sp>
        <p:nvSpPr>
          <p:cNvPr id="20" name="文字方塊 20"/>
          <p:cNvSpPr/>
          <p:nvPr/>
        </p:nvSpPr>
        <p:spPr>
          <a:xfrm>
            <a:off x="9784080" y="3520440"/>
            <a:ext cx="1280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14551C"/>
                </a:solidFill>
              </a:rPr>
              <a:t>C3</a:t>
            </a:r>
          </a:p>
        </p:txBody>
      </p:sp>
      <p:sp>
        <p:nvSpPr>
          <p:cNvPr id="21" name="文字方塊 21"/>
          <p:cNvSpPr/>
          <p:nvPr/>
        </p:nvSpPr>
        <p:spPr>
          <a:xfrm>
            <a:off x="841248" y="4937760"/>
            <a:ext cx="10515600" cy="512064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19050">
            <a:solidFill>
              <a:srgbClr val="BFBFBF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500" b="1" dirty="0">
                <a:solidFill>
                  <a:srgbClr val="0E2841"/>
                </a:solidFill>
              </a:rPr>
              <a:t>共用憑證只負責「加密」;不拿來當 client 身分(共用 = 同一個 principal)</a:t>
            </a:r>
          </a:p>
        </p:txBody>
      </p:sp>
      <p:sp>
        <p:nvSpPr>
          <p:cNvPr id="22" name="文字方塊 22"/>
          <p:cNvSpPr/>
          <p:nvPr/>
        </p:nvSpPr>
        <p:spPr>
          <a:xfrm>
            <a:off x="841248" y="5623560"/>
            <a:ext cx="10515600" cy="512064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500" b="1" dirty="0">
                <a:solidFill>
                  <a:srgbClr val="FFFFFF"/>
                </a:solidFill>
              </a:rPr>
              <a:t>人 → AD(帳密 + 群組)  ・  服務 → 另外想辦法:連 Kafka 用 SCRAM,連 MDS / REST Proxy 用各自的 client 憑證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怎麼分「人」與「服務」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sp>
        <p:nvSpPr>
          <p:cNvPr id="4" name="圖形 4"/>
          <p:cNvSpPr/>
          <p:nvPr/>
        </p:nvSpPr>
        <p:spPr>
          <a:xfrm>
            <a:off x="841248" y="169164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5" name="文字方塊 5"/>
          <p:cNvSpPr/>
          <p:nvPr/>
        </p:nvSpPr>
        <p:spPr>
          <a:xfrm>
            <a:off x="841248" y="1691640"/>
            <a:ext cx="5120640" cy="64008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2200" b="1" dirty="0">
                <a:solidFill>
                  <a:srgbClr val="FFFFFF"/>
                </a:solidFill>
              </a:rPr>
              <a:t>人(USER)</a:t>
            </a:r>
          </a:p>
        </p:txBody>
      </p:sp>
      <p:sp>
        <p:nvSpPr>
          <p:cNvPr id="6" name="文字方塊 6"/>
          <p:cNvSpPr txBox="1"/>
          <p:nvPr/>
        </p:nvSpPr>
        <p:spPr>
          <a:xfrm>
            <a:off x="1097280" y="24688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500" b="1" dirty="0">
                <a:solidFill>
                  <a:srgbClr val="156082"/>
                </a:solidFill>
              </a:rPr>
              <a:t>有人在場:由人直接或間接操作</a:t>
            </a:r>
          </a:p>
        </p:txBody>
      </p:sp>
      <p:sp>
        <p:nvSpPr>
          <p:cNvPr id="7" name="文字方塊 7"/>
          <p:cNvSpPr txBox="1"/>
          <p:nvPr/>
        </p:nvSpPr>
        <p:spPr>
          <a:xfrm>
            <a:off x="1097280" y="2880360"/>
            <a:ext cx="466344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TW" altLang="en-US" sz="1500" b="0" dirty="0">
                <a:solidFill>
                  <a:srgbClr val="0E2841"/>
                </a:solidFill>
              </a:rPr>
              <a:t>•  登入 C3</a:t>
            </a:r>
          </a:p>
          <a:p>
            <a:pPr algn="l">
              <a:spcAft>
                <a:spcPts val="600"/>
              </a:spcAft>
            </a:pPr>
            <a:r>
              <a:rPr lang="zh-TW" altLang="en-US" sz="1500" b="0" dirty="0">
                <a:solidFill>
                  <a:srgbClr val="0E2841"/>
                </a:solidFill>
              </a:rPr>
              <a:t>•  手動跑腳本 / CLI</a:t>
            </a:r>
          </a:p>
          <a:p>
            <a:pPr algn="l">
              <a:spcAft>
                <a:spcPts val="600"/>
              </a:spcAft>
            </a:pPr>
            <a:r>
              <a:rPr lang="zh-TW" altLang="en-US" sz="1500" b="0" dirty="0">
                <a:solidFill>
                  <a:srgbClr val="0E2841"/>
                </a:solidFill>
              </a:rPr>
              <a:t>•  Postman 手動測試、GUI 工具</a:t>
            </a:r>
          </a:p>
          <a:p>
            <a:pPr algn="l"/>
            <a:r>
              <a:rPr lang="zh-TW" altLang="en-US" sz="1500" b="1" dirty="0">
                <a:solidFill>
                  <a:srgbClr val="156082"/>
                </a:solidFill>
              </a:rPr>
              <a:t>→ 用「本人」的 AD 身分</a:t>
            </a:r>
          </a:p>
        </p:txBody>
      </p:sp>
      <p:sp>
        <p:nvSpPr>
          <p:cNvPr id="8" name="圖形 8"/>
          <p:cNvSpPr/>
          <p:nvPr/>
        </p:nvSpPr>
        <p:spPr>
          <a:xfrm>
            <a:off x="6236208" y="169164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9713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9" name="文字方塊 9"/>
          <p:cNvSpPr/>
          <p:nvPr/>
        </p:nvSpPr>
        <p:spPr>
          <a:xfrm>
            <a:off x="6236208" y="1691640"/>
            <a:ext cx="5120640" cy="640080"/>
          </a:xfrm>
          <a:prstGeom prst="roundRect">
            <a:avLst>
              <a:gd name="adj" fmla="val 6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2200" b="1" dirty="0">
                <a:solidFill>
                  <a:srgbClr val="FFFFFF"/>
                </a:solidFill>
              </a:rPr>
              <a:t>服務</a:t>
            </a:r>
          </a:p>
        </p:txBody>
      </p:sp>
      <p:sp>
        <p:nvSpPr>
          <p:cNvPr id="10" name="文字方塊 10"/>
          <p:cNvSpPr txBox="1"/>
          <p:nvPr/>
        </p:nvSpPr>
        <p:spPr>
          <a:xfrm>
            <a:off x="6492240" y="24688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500" b="1" dirty="0">
                <a:solidFill>
                  <a:srgbClr val="9A4A1E"/>
                </a:solidFill>
              </a:rPr>
              <a:t>無人值守:其他都是服務</a:t>
            </a:r>
          </a:p>
        </p:txBody>
      </p:sp>
      <p:sp>
        <p:nvSpPr>
          <p:cNvPr id="11" name="文字方塊 11"/>
          <p:cNvSpPr txBox="1"/>
          <p:nvPr/>
        </p:nvSpPr>
        <p:spPr>
          <a:xfrm>
            <a:off x="6492240" y="2880360"/>
            <a:ext cx="466344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TW" altLang="en-US" sz="1500" b="0" dirty="0">
                <a:solidFill>
                  <a:srgbClr val="0E2841"/>
                </a:solidFill>
              </a:rPr>
              <a:t>•  長駐應用、legacy app</a:t>
            </a:r>
          </a:p>
          <a:p>
            <a:pPr algn="l">
              <a:spcAft>
                <a:spcPts val="600"/>
              </a:spcAft>
            </a:pPr>
            <a:r>
              <a:rPr lang="zh-TW" altLang="en-US" sz="1500" b="0" dirty="0">
                <a:solidFill>
                  <a:srgbClr val="0E2841"/>
                </a:solidFill>
              </a:rPr>
              <a:t>•  排程、CI、newman</a:t>
            </a:r>
          </a:p>
          <a:p>
            <a:pPr algn="l">
              <a:spcAft>
                <a:spcPts val="600"/>
              </a:spcAft>
            </a:pPr>
            <a:r>
              <a:rPr lang="zh-TW" altLang="en-US" sz="1500" b="0" dirty="0">
                <a:solidFill>
                  <a:srgbClr val="0E2841"/>
                </a:solidFill>
              </a:rPr>
              <a:t>•  C3 / REST Proxy 的背景程序</a:t>
            </a:r>
          </a:p>
          <a:p>
            <a:pPr algn="l"/>
            <a:r>
              <a:rPr lang="zh-TW" altLang="en-US" sz="1400" b="1" dirty="0">
                <a:solidFill>
                  <a:srgbClr val="9A4A1E"/>
                </a:solidFill>
              </a:rPr>
              <a:t>→ 連 Kafka:SCRAM;連 MDS / REST Proxy:client 憑證</a:t>
            </a:r>
          </a:p>
        </p:txBody>
      </p:sp>
      <p:sp>
        <p:nvSpPr>
          <p:cNvPr id="12" name="文字方塊 12"/>
          <p:cNvSpPr/>
          <p:nvPr/>
        </p:nvSpPr>
        <p:spPr>
          <a:xfrm>
            <a:off x="841248" y="5212080"/>
            <a:ext cx="10515600" cy="384048"/>
          </a:xfrm>
          <a:prstGeom prst="roundRect">
            <a:avLst>
              <a:gd name="adj" fmla="val 30000"/>
            </a:avLst>
          </a:prstGeom>
          <a:solidFill>
            <a:srgbClr val="F8DADA"/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B3261E"/>
                </a:solidFill>
              </a:rPr>
              <a:t>腳本由手動轉成排程 → 必須改用服務身分,不可借用人的帳號</a:t>
            </a:r>
          </a:p>
        </p:txBody>
      </p:sp>
      <p:sp>
        <p:nvSpPr>
          <p:cNvPr id="13" name="文字方塊 13"/>
          <p:cNvSpPr/>
          <p:nvPr/>
        </p:nvSpPr>
        <p:spPr>
          <a:xfrm>
            <a:off x="841248" y="5715000"/>
            <a:ext cx="10515600" cy="384048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禁止維運共用同一個 AD 帳號;人跑腳本不要寫死密碼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憑證怎麼來、怎麼用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sp>
        <p:nvSpPr>
          <p:cNvPr id="4" name="圖形 4"/>
          <p:cNvSpPr/>
          <p:nvPr/>
        </p:nvSpPr>
        <p:spPr>
          <a:xfrm>
            <a:off x="841248" y="1645920"/>
            <a:ext cx="1783080" cy="17830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5" name="文字方塊 5"/>
          <p:cNvSpPr/>
          <p:nvPr/>
        </p:nvSpPr>
        <p:spPr>
          <a:xfrm>
            <a:off x="950976" y="17556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文字方塊 6"/>
          <p:cNvSpPr txBox="1"/>
          <p:nvPr/>
        </p:nvSpPr>
        <p:spPr>
          <a:xfrm>
            <a:off x="932688" y="224028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產 PK + CSR</a:t>
            </a:r>
          </a:p>
        </p:txBody>
      </p:sp>
      <p:sp>
        <p:nvSpPr>
          <p:cNvPr id="7" name="文字方塊 7"/>
          <p:cNvSpPr txBox="1"/>
          <p:nvPr/>
        </p:nvSpPr>
        <p:spPr>
          <a:xfrm>
            <a:off x="932688" y="274320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DN 由客戶決定(不使用)</a:t>
            </a:r>
          </a:p>
        </p:txBody>
      </p:sp>
      <p:sp>
        <p:nvSpPr>
          <p:cNvPr id="8" name="圖形 8"/>
          <p:cNvSpPr/>
          <p:nvPr/>
        </p:nvSpPr>
        <p:spPr>
          <a:xfrm>
            <a:off x="2898648" y="1645920"/>
            <a:ext cx="1783080" cy="17830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9" name="文字方塊 9"/>
          <p:cNvSpPr/>
          <p:nvPr/>
        </p:nvSpPr>
        <p:spPr>
          <a:xfrm>
            <a:off x="3008376" y="17556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文字方塊 10"/>
          <p:cNvSpPr txBox="1"/>
          <p:nvPr/>
        </p:nvSpPr>
        <p:spPr>
          <a:xfrm>
            <a:off x="2990088" y="224028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SAN</a:t>
            </a:r>
          </a:p>
        </p:txBody>
      </p:sp>
      <p:sp>
        <p:nvSpPr>
          <p:cNvPr id="11" name="文字方塊 11"/>
          <p:cNvSpPr txBox="1"/>
          <p:nvPr/>
        </p:nvSpPr>
        <p:spPr>
          <a:xfrm>
            <a:off x="2990088" y="274320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含各組件對外連線的所有網域 / IP</a:t>
            </a:r>
          </a:p>
        </p:txBody>
      </p:sp>
      <p:sp>
        <p:nvSpPr>
          <p:cNvPr id="12" name="圖形 12"/>
          <p:cNvSpPr/>
          <p:nvPr/>
        </p:nvSpPr>
        <p:spPr>
          <a:xfrm>
            <a:off x="4956048" y="1645920"/>
            <a:ext cx="1783080" cy="17830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3" name="文字方塊 13"/>
          <p:cNvSpPr/>
          <p:nvPr/>
        </p:nvSpPr>
        <p:spPr>
          <a:xfrm>
            <a:off x="5065776" y="17556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文字方塊 14"/>
          <p:cNvSpPr txBox="1"/>
          <p:nvPr/>
        </p:nvSpPr>
        <p:spPr>
          <a:xfrm>
            <a:off x="5047488" y="224028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客戶內部 CA 簽發</a:t>
            </a:r>
          </a:p>
        </p:txBody>
      </p:sp>
      <p:sp>
        <p:nvSpPr>
          <p:cNvPr id="15" name="文字方塊 15"/>
          <p:cNvSpPr txBox="1"/>
          <p:nvPr/>
        </p:nvSpPr>
        <p:spPr>
          <a:xfrm>
            <a:off x="5047488" y="274320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由 CSR 衍生出 CERT</a:t>
            </a:r>
          </a:p>
        </p:txBody>
      </p:sp>
      <p:sp>
        <p:nvSpPr>
          <p:cNvPr id="16" name="圖形 16"/>
          <p:cNvSpPr/>
          <p:nvPr/>
        </p:nvSpPr>
        <p:spPr>
          <a:xfrm>
            <a:off x="7013448" y="1645920"/>
            <a:ext cx="1783080" cy="17830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7" name="文字方塊 17"/>
          <p:cNvSpPr/>
          <p:nvPr/>
        </p:nvSpPr>
        <p:spPr>
          <a:xfrm>
            <a:off x="7123176" y="17556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文字方塊 18"/>
          <p:cNvSpPr txBox="1"/>
          <p:nvPr/>
        </p:nvSpPr>
        <p:spPr>
          <a:xfrm>
            <a:off x="7104888" y="224028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keystore(P12)</a:t>
            </a:r>
          </a:p>
        </p:txBody>
      </p:sp>
      <p:sp>
        <p:nvSpPr>
          <p:cNvPr id="19" name="文字方塊 19"/>
          <p:cNvSpPr txBox="1"/>
          <p:nvPr/>
        </p:nvSpPr>
        <p:spPr>
          <a:xfrm>
            <a:off x="7104888" y="274320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PK + CERT + 中繼 CA 鏈</a:t>
            </a:r>
          </a:p>
        </p:txBody>
      </p:sp>
      <p:sp>
        <p:nvSpPr>
          <p:cNvPr id="20" name="圖形 20"/>
          <p:cNvSpPr/>
          <p:nvPr/>
        </p:nvSpPr>
        <p:spPr>
          <a:xfrm>
            <a:off x="9070848" y="1645920"/>
            <a:ext cx="2286000" cy="17830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21" name="文字方塊 21"/>
          <p:cNvSpPr/>
          <p:nvPr/>
        </p:nvSpPr>
        <p:spPr>
          <a:xfrm>
            <a:off x="9180576" y="17556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文字方塊 22"/>
          <p:cNvSpPr txBox="1"/>
          <p:nvPr/>
        </p:nvSpPr>
        <p:spPr>
          <a:xfrm>
            <a:off x="9162288" y="2240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truststore</a:t>
            </a:r>
          </a:p>
        </p:txBody>
      </p:sp>
      <p:sp>
        <p:nvSpPr>
          <p:cNvPr id="23" name="文字方塊 23"/>
          <p:cNvSpPr txBox="1"/>
          <p:nvPr/>
        </p:nvSpPr>
        <p:spPr>
          <a:xfrm>
            <a:off x="9162288" y="27432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匯入 CA root;AD 的 LDAPS CA 也要匯入</a:t>
            </a:r>
          </a:p>
        </p:txBody>
      </p:sp>
      <p:cxnSp>
        <p:nvCxnSpPr>
          <p:cNvPr id="24" name="箭頭 24"/>
          <p:cNvCxnSpPr/>
          <p:nvPr/>
        </p:nvCxnSpPr>
        <p:spPr>
          <a:xfrm>
            <a:off x="2624328" y="2542032"/>
            <a:ext cx="274320" cy="0"/>
          </a:xfrm>
          <a:prstGeom prst="line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cxnSp>
        <p:nvCxnSpPr>
          <p:cNvPr id="25" name="箭頭 25"/>
          <p:cNvCxnSpPr/>
          <p:nvPr/>
        </p:nvCxnSpPr>
        <p:spPr>
          <a:xfrm>
            <a:off x="4681728" y="2542032"/>
            <a:ext cx="274320" cy="0"/>
          </a:xfrm>
          <a:prstGeom prst="line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cxnSp>
        <p:nvCxnSpPr>
          <p:cNvPr id="26" name="箭頭 26"/>
          <p:cNvCxnSpPr/>
          <p:nvPr/>
        </p:nvCxnSpPr>
        <p:spPr>
          <a:xfrm>
            <a:off x="6739128" y="2542032"/>
            <a:ext cx="274320" cy="0"/>
          </a:xfrm>
          <a:prstGeom prst="line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cxnSp>
        <p:nvCxnSpPr>
          <p:cNvPr id="27" name="箭頭 27"/>
          <p:cNvCxnSpPr/>
          <p:nvPr/>
        </p:nvCxnSpPr>
        <p:spPr>
          <a:xfrm>
            <a:off x="8796528" y="2542032"/>
            <a:ext cx="274320" cy="0"/>
          </a:xfrm>
          <a:prstGeom prst="line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sp>
        <p:nvSpPr>
          <p:cNvPr id="28" name="圖形 28"/>
          <p:cNvSpPr/>
          <p:nvPr/>
        </p:nvSpPr>
        <p:spPr>
          <a:xfrm>
            <a:off x="841248" y="3657600"/>
            <a:ext cx="338328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29" name="文字方塊 29"/>
          <p:cNvSpPr/>
          <p:nvPr/>
        </p:nvSpPr>
        <p:spPr>
          <a:xfrm>
            <a:off x="841248" y="3657600"/>
            <a:ext cx="3383280" cy="566928"/>
          </a:xfrm>
          <a:prstGeom prst="roundRect">
            <a:avLst>
              <a:gd name="adj" fmla="val 30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300" b="1" dirty="0">
                <a:solidFill>
                  <a:srgbClr val="156082"/>
                </a:solidFill>
              </a:rPr>
              <a:t>CA 要簽 server 與 client 憑證?</a:t>
            </a:r>
          </a:p>
        </p:txBody>
      </p:sp>
      <p:sp>
        <p:nvSpPr>
          <p:cNvPr id="30" name="文字方塊 30"/>
          <p:cNvSpPr txBox="1"/>
          <p:nvPr/>
        </p:nvSpPr>
        <p:spPr>
          <a:xfrm>
            <a:off x="978408" y="43434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server:1 張共用。client:平台元件 c3、restproxy、bootstrap,加上每個經 REST Proxy 的 legacy app 各 1 張。</a:t>
            </a:r>
          </a:p>
        </p:txBody>
      </p:sp>
      <p:sp>
        <p:nvSpPr>
          <p:cNvPr id="31" name="圖形 31"/>
          <p:cNvSpPr/>
          <p:nvPr/>
        </p:nvSpPr>
        <p:spPr>
          <a:xfrm>
            <a:off x="4407408" y="3657600"/>
            <a:ext cx="338328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32" name="文字方塊 32"/>
          <p:cNvSpPr/>
          <p:nvPr/>
        </p:nvSpPr>
        <p:spPr>
          <a:xfrm>
            <a:off x="4407408" y="3657600"/>
            <a:ext cx="3383280" cy="566928"/>
          </a:xfrm>
          <a:prstGeom prst="roundRect">
            <a:avLst>
              <a:gd name="adj" fmla="val 3000"/>
            </a:avLst>
          </a:prstGeom>
          <a:solidFill>
            <a:srgbClr val="FBE5D6"/>
          </a:solidFill>
          <a:ln w="19050">
            <a:solidFill>
              <a:srgbClr val="E9713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300" b="1" dirty="0">
                <a:solidFill>
                  <a:srgbClr val="E97132"/>
                </a:solidFill>
              </a:rPr>
              <a:t>broker / controller 之間用 mTLS?</a:t>
            </a:r>
          </a:p>
        </p:txBody>
      </p:sp>
      <p:sp>
        <p:nvSpPr>
          <p:cNvPr id="33" name="文字方塊 33"/>
          <p:cNvSpPr txBox="1"/>
          <p:nvPr/>
        </p:nvSpPr>
        <p:spPr>
          <a:xfrm>
            <a:off x="4544568" y="43434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本方案:SASL over TLS(controller 間 PLAIN、broker 間 SCRAM)。共用憑證做 mTLS 只會得到同一個 principal;客戶日後有專用內部憑證才改 mTLS。</a:t>
            </a:r>
          </a:p>
          <a:p>
            <a:pPr algn="l"/>
            <a:r>
              <a:rPr lang="zh-TW" altLang="en-US" sz="1200" b="1" dirty="0">
                <a:solidFill>
                  <a:srgbClr val="B3261E"/>
                </a:solidFill>
              </a:rPr>
              <a:t>⚠ 與原稿不同,待確認;多 controller 間 PLAIN 未實測</a:t>
            </a:r>
          </a:p>
        </p:txBody>
      </p:sp>
      <p:sp>
        <p:nvSpPr>
          <p:cNvPr id="34" name="圖形 34"/>
          <p:cNvSpPr/>
          <p:nvPr/>
        </p:nvSpPr>
        <p:spPr>
          <a:xfrm>
            <a:off x="7973568" y="3657600"/>
            <a:ext cx="338328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35" name="文字方塊 35"/>
          <p:cNvSpPr/>
          <p:nvPr/>
        </p:nvSpPr>
        <p:spPr>
          <a:xfrm>
            <a:off x="7973568" y="3657600"/>
            <a:ext cx="3383280" cy="566928"/>
          </a:xfrm>
          <a:prstGeom prst="roundRect">
            <a:avLst>
              <a:gd name="adj" fmla="val 3000"/>
            </a:avLst>
          </a:prstGeom>
          <a:solidFill>
            <a:srgbClr val="DCEBDD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/>
            <a:r>
              <a:rPr lang="zh-TW" altLang="en-US" sz="1300" b="1" dirty="0">
                <a:solidFill>
                  <a:srgbClr val="196B24"/>
                </a:solidFill>
              </a:rPr>
              <a:t>串接的 client 來自不同 CA root?</a:t>
            </a:r>
          </a:p>
        </p:txBody>
      </p:sp>
      <p:sp>
        <p:nvSpPr>
          <p:cNvPr id="36" name="文字方塊 36"/>
          <p:cNvSpPr txBox="1"/>
          <p:nvPr/>
        </p:nvSpPr>
        <p:spPr>
          <a:xfrm>
            <a:off x="8110728" y="43434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把該 client 的 CA root 匯入 truststore 即可。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KRaft 本體:controller 與 broker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sp>
        <p:nvSpPr>
          <p:cNvPr id="4" name="圖形 4"/>
          <p:cNvSpPr/>
          <p:nvPr/>
        </p:nvSpPr>
        <p:spPr>
          <a:xfrm>
            <a:off x="841248" y="1920240"/>
            <a:ext cx="2651760" cy="1691640"/>
          </a:xfrm>
          <a:prstGeom prst="roundRect">
            <a:avLst>
              <a:gd name="adj" fmla="val 6000"/>
            </a:avLst>
          </a:prstGeom>
          <a:solidFill>
            <a:srgbClr val="DCEBDD"/>
          </a:solidFill>
          <a:ln w="25400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5" name="文字方塊 5"/>
          <p:cNvSpPr txBox="1"/>
          <p:nvPr/>
        </p:nvSpPr>
        <p:spPr>
          <a:xfrm>
            <a:off x="841248" y="20116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0E2841"/>
                </a:solidFill>
              </a:rPr>
              <a:t>controller</a:t>
            </a:r>
          </a:p>
        </p:txBody>
      </p:sp>
      <p:sp>
        <p:nvSpPr>
          <p:cNvPr id="6" name="文字方塊 6"/>
          <p:cNvSpPr txBox="1"/>
          <p:nvPr/>
        </p:nvSpPr>
        <p:spPr>
          <a:xfrm>
            <a:off x="841248" y="251460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1200" b="0" dirty="0">
                <a:solidFill>
                  <a:srgbClr val="595959"/>
                </a:solidFill>
              </a:rPr>
              <a:t>正式環境 3 個(demo 1 個)</a:t>
            </a:r>
          </a:p>
          <a:p>
            <a:pPr algn="ctr"/>
            <a:r>
              <a:rPr lang="zh-TW" altLang="en-US" sz="1100" b="1" dirty="0">
                <a:solidFill>
                  <a:srgbClr val="14551C"/>
                </a:solidFill>
              </a:rPr>
              <a:t>CONTROLLER 埠 · SASL_SSL · PLAIN</a:t>
            </a:r>
          </a:p>
        </p:txBody>
      </p:sp>
      <p:sp>
        <p:nvSpPr>
          <p:cNvPr id="7" name="圖形 7"/>
          <p:cNvSpPr/>
          <p:nvPr/>
        </p:nvSpPr>
        <p:spPr>
          <a:xfrm>
            <a:off x="4297680" y="1783080"/>
            <a:ext cx="3657600" cy="1600200"/>
          </a:xfrm>
          <a:prstGeom prst="roundRect">
            <a:avLst>
              <a:gd name="adj" fmla="val 6000"/>
            </a:avLst>
          </a:prstGeom>
          <a:solidFill>
            <a:srgbClr val="DCEBF2"/>
          </a:solidFill>
          <a:ln w="2540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8" name="圖形 8"/>
          <p:cNvSpPr/>
          <p:nvPr/>
        </p:nvSpPr>
        <p:spPr>
          <a:xfrm>
            <a:off x="4297680" y="3611880"/>
            <a:ext cx="3657600" cy="1600200"/>
          </a:xfrm>
          <a:prstGeom prst="roundRect">
            <a:avLst>
              <a:gd name="adj" fmla="val 6000"/>
            </a:avLst>
          </a:prstGeom>
          <a:solidFill>
            <a:srgbClr val="DCEBF2"/>
          </a:solidFill>
          <a:ln w="2540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9" name="文字方塊 9"/>
          <p:cNvSpPr txBox="1"/>
          <p:nvPr/>
        </p:nvSpPr>
        <p:spPr>
          <a:xfrm>
            <a:off x="4297680" y="1856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800" b="1" dirty="0">
                <a:solidFill>
                  <a:srgbClr val="0E2841"/>
                </a:solidFill>
              </a:rPr>
              <a:t>broker 1</a:t>
            </a:r>
          </a:p>
        </p:txBody>
      </p:sp>
      <p:sp>
        <p:nvSpPr>
          <p:cNvPr id="10" name="文字方塊 10"/>
          <p:cNvSpPr txBox="1"/>
          <p:nvPr/>
        </p:nvSpPr>
        <p:spPr>
          <a:xfrm>
            <a:off x="4434840" y="2286000"/>
            <a:ext cx="33832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zh-TW" altLang="en-US" sz="1100" b="0" dirty="0">
                <a:solidFill>
                  <a:srgbClr val="0E2841"/>
                </a:solidFill>
              </a:rPr>
              <a:t>INTERNAL 9092 · SCRAM</a:t>
            </a:r>
          </a:p>
          <a:p>
            <a:pPr algn="l">
              <a:spcAft>
                <a:spcPts val="300"/>
              </a:spcAft>
            </a:pPr>
            <a:r>
              <a:rPr lang="zh-TW" altLang="en-US" sz="1100" b="0" dirty="0">
                <a:solidFill>
                  <a:srgbClr val="0E2841"/>
                </a:solidFill>
              </a:rPr>
              <a:t>CLIENT 9094 · PLAIN+LDAP / SCRAM / OAUTHBEARER</a:t>
            </a:r>
          </a:p>
          <a:p>
            <a:pPr algn="l"/>
            <a:r>
              <a:rPr lang="zh-TW" altLang="en-US" sz="1100" b="0" dirty="0">
                <a:solidFill>
                  <a:srgbClr val="0E2841"/>
                </a:solidFill>
              </a:rPr>
              <a:t>MDS 8091 · HTTPS</a:t>
            </a:r>
          </a:p>
        </p:txBody>
      </p:sp>
      <p:sp>
        <p:nvSpPr>
          <p:cNvPr id="11" name="文字方塊 11"/>
          <p:cNvSpPr txBox="1"/>
          <p:nvPr/>
        </p:nvSpPr>
        <p:spPr>
          <a:xfrm>
            <a:off x="4297680" y="36850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800" b="1" dirty="0">
                <a:solidFill>
                  <a:srgbClr val="0E2841"/>
                </a:solidFill>
              </a:rPr>
              <a:t>broker 2</a:t>
            </a:r>
          </a:p>
        </p:txBody>
      </p:sp>
      <p:sp>
        <p:nvSpPr>
          <p:cNvPr id="12" name="文字方塊 12"/>
          <p:cNvSpPr txBox="1"/>
          <p:nvPr/>
        </p:nvSpPr>
        <p:spPr>
          <a:xfrm>
            <a:off x="4434840" y="4114800"/>
            <a:ext cx="33832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zh-TW" altLang="en-US" sz="1100" b="0" dirty="0">
                <a:solidFill>
                  <a:srgbClr val="0E2841"/>
                </a:solidFill>
              </a:rPr>
              <a:t>INTERNAL 9092 · SCRAM</a:t>
            </a:r>
          </a:p>
          <a:p>
            <a:pPr algn="l">
              <a:spcAft>
                <a:spcPts val="300"/>
              </a:spcAft>
            </a:pPr>
            <a:r>
              <a:rPr lang="zh-TW" altLang="en-US" sz="1100" b="0" dirty="0">
                <a:solidFill>
                  <a:srgbClr val="0E2841"/>
                </a:solidFill>
              </a:rPr>
              <a:t>CLIENT 9094 · PLAIN+LDAP / SCRAM / OAUTHBEARER</a:t>
            </a:r>
          </a:p>
          <a:p>
            <a:pPr algn="l"/>
            <a:r>
              <a:rPr lang="zh-TW" altLang="en-US" sz="1100" b="0" dirty="0">
                <a:solidFill>
                  <a:srgbClr val="0E2841"/>
                </a:solidFill>
              </a:rPr>
              <a:t>MDS 8091 · HTTPS</a:t>
            </a:r>
          </a:p>
        </p:txBody>
      </p:sp>
      <p:sp>
        <p:nvSpPr>
          <p:cNvPr id="13" name="圖形 13"/>
          <p:cNvSpPr/>
          <p:nvPr/>
        </p:nvSpPr>
        <p:spPr>
          <a:xfrm>
            <a:off x="8686800" y="1828800"/>
            <a:ext cx="2670048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FBFBF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4" name="文字方塊 14"/>
          <p:cNvSpPr txBox="1"/>
          <p:nvPr/>
        </p:nvSpPr>
        <p:spPr>
          <a:xfrm>
            <a:off x="8686800" y="1920240"/>
            <a:ext cx="267004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600" b="1" dirty="0">
                <a:solidFill>
                  <a:srgbClr val="0E2841"/>
                </a:solidFill>
              </a:rPr>
              <a:t>連線的 client</a:t>
            </a:r>
          </a:p>
        </p:txBody>
      </p:sp>
      <p:sp>
        <p:nvSpPr>
          <p:cNvPr id="15" name="文字方塊 15"/>
          <p:cNvSpPr/>
          <p:nvPr/>
        </p:nvSpPr>
        <p:spPr>
          <a:xfrm>
            <a:off x="8869680" y="2514600"/>
            <a:ext cx="2304288" cy="384048"/>
          </a:xfrm>
          <a:prstGeom prst="roundRect">
            <a:avLst>
              <a:gd name="adj" fmla="val 30000"/>
            </a:avLst>
          </a:prstGeom>
          <a:solidFill>
            <a:srgbClr val="DCEBF2"/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156082"/>
                </a:solidFill>
              </a:rPr>
              <a:t>人:PLAIN + AD</a:t>
            </a:r>
          </a:p>
        </p:txBody>
      </p:sp>
      <p:sp>
        <p:nvSpPr>
          <p:cNvPr id="16" name="文字方塊 16"/>
          <p:cNvSpPr/>
          <p:nvPr/>
        </p:nvSpPr>
        <p:spPr>
          <a:xfrm>
            <a:off x="8869680" y="3108960"/>
            <a:ext cx="2304288" cy="384048"/>
          </a:xfrm>
          <a:prstGeom prst="roundRect">
            <a:avLst>
              <a:gd name="adj" fmla="val 30000"/>
            </a:avLst>
          </a:prstGeom>
          <a:solidFill>
            <a:srgbClr val="FBE5D6"/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9A4A1E"/>
                </a:solidFill>
              </a:rPr>
              <a:t>服務:SCRAM</a:t>
            </a:r>
          </a:p>
        </p:txBody>
      </p:sp>
      <p:sp>
        <p:nvSpPr>
          <p:cNvPr id="17" name="文字方塊 17"/>
          <p:cNvSpPr/>
          <p:nvPr/>
        </p:nvSpPr>
        <p:spPr>
          <a:xfrm>
            <a:off x="8869680" y="3703320"/>
            <a:ext cx="2304288" cy="384048"/>
          </a:xfrm>
          <a:prstGeom prst="roundRect">
            <a:avLst>
              <a:gd name="adj" fmla="val 30000"/>
            </a:avLst>
          </a:prstGeom>
          <a:solidFill>
            <a:srgbClr val="DCEBDD"/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14551C"/>
                </a:solidFill>
              </a:rPr>
              <a:t>平台:OAUTHBEARER</a:t>
            </a:r>
          </a:p>
        </p:txBody>
      </p:sp>
      <p:cxnSp>
        <p:nvCxnSpPr>
          <p:cNvPr id="18" name="箭頭 18"/>
          <p:cNvCxnSpPr/>
          <p:nvPr/>
        </p:nvCxnSpPr>
        <p:spPr>
          <a:xfrm flipH="1">
            <a:off x="7955280" y="4480560"/>
            <a:ext cx="731520" cy="0"/>
          </a:xfrm>
          <a:prstGeom prst="line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cxnSp>
        <p:nvCxnSpPr>
          <p:cNvPr id="19" name="箭頭 19"/>
          <p:cNvCxnSpPr/>
          <p:nvPr/>
        </p:nvCxnSpPr>
        <p:spPr>
          <a:xfrm flipH="1">
            <a:off x="7955280" y="2606040"/>
            <a:ext cx="731520" cy="0"/>
          </a:xfrm>
          <a:prstGeom prst="line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cxnSp>
        <p:nvCxnSpPr>
          <p:cNvPr id="20" name="箭頭 20"/>
          <p:cNvCxnSpPr/>
          <p:nvPr/>
        </p:nvCxnSpPr>
        <p:spPr>
          <a:xfrm flipH="1">
            <a:off x="3493008" y="2606040"/>
            <a:ext cx="804672" cy="0"/>
          </a:xfrm>
          <a:prstGeom prst="line">
            <a:avLst/>
          </a:prstGeom>
          <a:ln w="28575">
            <a:solidFill>
              <a:srgbClr val="196B24"/>
            </a:solidFill>
            <a:tailEnd type="triangle" w="med" len="med"/>
          </a:ln>
        </p:spPr>
      </p:cxnSp>
      <p:cxnSp>
        <p:nvCxnSpPr>
          <p:cNvPr id="21" name="箭頭 21"/>
          <p:cNvCxnSpPr/>
          <p:nvPr/>
        </p:nvCxnSpPr>
        <p:spPr>
          <a:xfrm flipH="1" flipV="1">
            <a:off x="3154680" y="3611880"/>
            <a:ext cx="1143000" cy="777240"/>
          </a:xfrm>
          <a:prstGeom prst="line">
            <a:avLst/>
          </a:prstGeom>
          <a:ln w="28575">
            <a:solidFill>
              <a:srgbClr val="196B24"/>
            </a:solidFill>
            <a:tailEnd type="triangle" w="med" len="med"/>
          </a:ln>
        </p:spPr>
      </p:cxnSp>
      <p:sp>
        <p:nvSpPr>
          <p:cNvPr id="22" name="文字方塊 22"/>
          <p:cNvSpPr txBox="1"/>
          <p:nvPr/>
        </p:nvSpPr>
        <p:spPr>
          <a:xfrm>
            <a:off x="3520440" y="22402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000" b="1" dirty="0">
                <a:solidFill>
                  <a:srgbClr val="14551C"/>
                </a:solidFill>
              </a:rPr>
              <a:t>PLAIN</a:t>
            </a:r>
          </a:p>
        </p:txBody>
      </p:sp>
      <p:cxnSp>
        <p:nvCxnSpPr>
          <p:cNvPr id="23" name="箭頭 23"/>
          <p:cNvCxnSpPr/>
          <p:nvPr/>
        </p:nvCxnSpPr>
        <p:spPr>
          <a:xfrm>
            <a:off x="6126480" y="3383280"/>
            <a:ext cx="0" cy="228600"/>
          </a:xfrm>
          <a:prstGeom prst="line">
            <a:avLst/>
          </a:prstGeom>
          <a:ln w="31750">
            <a:solidFill>
              <a:srgbClr val="E97132"/>
            </a:solidFill>
            <a:tailEnd type="triangle" w="med" len="med"/>
          </a:ln>
        </p:spPr>
      </p:cxnSp>
      <p:sp>
        <p:nvSpPr>
          <p:cNvPr id="24" name="文字方塊 24"/>
          <p:cNvSpPr txBox="1"/>
          <p:nvPr/>
        </p:nvSpPr>
        <p:spPr>
          <a:xfrm>
            <a:off x="6217920" y="33832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000" b="1" dirty="0">
                <a:solidFill>
                  <a:srgbClr val="9A4A1E"/>
                </a:solidFill>
              </a:rPr>
              <a:t>SCRAM</a:t>
            </a:r>
          </a:p>
        </p:txBody>
      </p:sp>
      <p:sp>
        <p:nvSpPr>
          <p:cNvPr id="25" name="文字方塊 25"/>
          <p:cNvSpPr/>
          <p:nvPr/>
        </p:nvSpPr>
        <p:spPr>
          <a:xfrm>
            <a:off x="841248" y="5440680"/>
            <a:ext cx="7132320" cy="384048"/>
          </a:xfrm>
          <a:prstGeom prst="roundRect">
            <a:avLst>
              <a:gd name="adj" fmla="val 30000"/>
            </a:avLst>
          </a:prstGeom>
          <a:solidFill>
            <a:srgbClr val="F8DADA"/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300" b="1" dirty="0">
                <a:solidFill>
                  <a:srgbClr val="B3261E"/>
                </a:solidFill>
              </a:rPr>
              <a:t>防火牆:9092 / 9093 只開給 broker / controller 節點</a:t>
            </a:r>
          </a:p>
        </p:txBody>
      </p:sp>
      <p:sp>
        <p:nvSpPr>
          <p:cNvPr id="26" name="文字方塊 26"/>
          <p:cNvSpPr/>
          <p:nvPr/>
        </p:nvSpPr>
        <p:spPr>
          <a:xfrm>
            <a:off x="8183880" y="5440680"/>
            <a:ext cx="3172968" cy="384048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595959"/>
                </a:solidFill>
              </a:rPr>
              <a:t>埠號為 demo 設定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身分認證:三種機制怎麼選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sp>
        <p:nvSpPr>
          <p:cNvPr id="4" name="圖形 4"/>
          <p:cNvSpPr/>
          <p:nvPr/>
        </p:nvSpPr>
        <p:spPr>
          <a:xfrm>
            <a:off x="841248" y="1691640"/>
            <a:ext cx="338328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5" name="圖形 5"/>
          <p:cNvSpPr/>
          <p:nvPr/>
        </p:nvSpPr>
        <p:spPr>
          <a:xfrm>
            <a:off x="841248" y="1691640"/>
            <a:ext cx="3383280" cy="822960"/>
          </a:xfrm>
          <a:prstGeom prst="roundRect">
            <a:avLst>
              <a:gd name="adj" fmla="val 24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6" name="文字方塊 6"/>
          <p:cNvSpPr txBox="1"/>
          <p:nvPr/>
        </p:nvSpPr>
        <p:spPr>
          <a:xfrm>
            <a:off x="841248" y="17373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SASL/PLAIN</a:t>
            </a:r>
          </a:p>
        </p:txBody>
      </p:sp>
      <p:sp>
        <p:nvSpPr>
          <p:cNvPr id="7" name="文字方塊 7"/>
          <p:cNvSpPr txBox="1"/>
          <p:nvPr/>
        </p:nvSpPr>
        <p:spPr>
          <a:xfrm>
            <a:off x="841248" y="21945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300" b="0" dirty="0">
                <a:solidFill>
                  <a:srgbClr val="FFFFFF"/>
                </a:solidFill>
              </a:rPr>
              <a:t>給「人」用</a:t>
            </a:r>
          </a:p>
        </p:txBody>
      </p:sp>
      <p:sp>
        <p:nvSpPr>
          <p:cNvPr id="8" name="文字方塊 8"/>
          <p:cNvSpPr/>
          <p:nvPr/>
        </p:nvSpPr>
        <p:spPr>
          <a:xfrm>
            <a:off x="978408" y="2697480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DCEBF2"/>
          </a:solidFill>
          <a:ln w="12700">
            <a:solidFill>
              <a:srgbClr val="156082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156082"/>
                </a:solidFill>
              </a:rPr>
              <a:t>帳密</a:t>
            </a:r>
          </a:p>
        </p:txBody>
      </p:sp>
      <p:sp>
        <p:nvSpPr>
          <p:cNvPr id="9" name="文字方塊 9"/>
          <p:cNvSpPr txBox="1"/>
          <p:nvPr/>
        </p:nvSpPr>
        <p:spPr>
          <a:xfrm>
            <a:off x="978408" y="30632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broker 轉給 AD(LDAP)驗證</a:t>
            </a:r>
          </a:p>
        </p:txBody>
      </p:sp>
      <p:sp>
        <p:nvSpPr>
          <p:cNvPr id="10" name="文字方塊 10"/>
          <p:cNvSpPr/>
          <p:nvPr/>
        </p:nvSpPr>
        <p:spPr>
          <a:xfrm>
            <a:off x="978408" y="3721608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DCEBF2"/>
          </a:solidFill>
          <a:ln w="12700">
            <a:solidFill>
              <a:srgbClr val="156082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156082"/>
                </a:solidFill>
              </a:rPr>
              <a:t>群組</a:t>
            </a:r>
          </a:p>
        </p:txBody>
      </p:sp>
      <p:sp>
        <p:nvSpPr>
          <p:cNvPr id="11" name="文字方塊 11"/>
          <p:cNvSpPr txBox="1"/>
          <p:nvPr/>
        </p:nvSpPr>
        <p:spPr>
          <a:xfrm>
            <a:off x="978408" y="408736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可取得 AD 群組,做後續授權</a:t>
            </a:r>
          </a:p>
        </p:txBody>
      </p:sp>
      <p:sp>
        <p:nvSpPr>
          <p:cNvPr id="12" name="文字方塊 12"/>
          <p:cNvSpPr/>
          <p:nvPr/>
        </p:nvSpPr>
        <p:spPr>
          <a:xfrm>
            <a:off x="978408" y="4745736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DCEBF2"/>
          </a:solidFill>
          <a:ln w="12700">
            <a:solidFill>
              <a:srgbClr val="156082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156082"/>
                </a:solidFill>
              </a:rPr>
              <a:t>注意</a:t>
            </a:r>
          </a:p>
        </p:txBody>
      </p:sp>
      <p:sp>
        <p:nvSpPr>
          <p:cNvPr id="13" name="文字方塊 13"/>
          <p:cNvSpPr txBox="1"/>
          <p:nvPr/>
        </p:nvSpPr>
        <p:spPr>
          <a:xfrm>
            <a:off x="978408" y="5111496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一定要 TLS;AD 密碼到期 / 鎖定會影響腳本</a:t>
            </a:r>
          </a:p>
        </p:txBody>
      </p:sp>
      <p:sp>
        <p:nvSpPr>
          <p:cNvPr id="14" name="圖形 14"/>
          <p:cNvSpPr/>
          <p:nvPr/>
        </p:nvSpPr>
        <p:spPr>
          <a:xfrm>
            <a:off x="4407408" y="1691640"/>
            <a:ext cx="338328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5" name="圖形 15"/>
          <p:cNvSpPr/>
          <p:nvPr/>
        </p:nvSpPr>
        <p:spPr>
          <a:xfrm>
            <a:off x="4407408" y="1691640"/>
            <a:ext cx="3383280" cy="822960"/>
          </a:xfrm>
          <a:prstGeom prst="roundRect">
            <a:avLst>
              <a:gd name="adj" fmla="val 24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6" name="文字方塊 16"/>
          <p:cNvSpPr txBox="1"/>
          <p:nvPr/>
        </p:nvSpPr>
        <p:spPr>
          <a:xfrm>
            <a:off x="4407408" y="17373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SASL/SCRAM</a:t>
            </a:r>
          </a:p>
        </p:txBody>
      </p:sp>
      <p:sp>
        <p:nvSpPr>
          <p:cNvPr id="17" name="文字方塊 17"/>
          <p:cNvSpPr txBox="1"/>
          <p:nvPr/>
        </p:nvSpPr>
        <p:spPr>
          <a:xfrm>
            <a:off x="4407408" y="21945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300" b="0" dirty="0">
                <a:solidFill>
                  <a:srgbClr val="FFFFFF"/>
                </a:solidFill>
              </a:rPr>
              <a:t>給「服務」用</a:t>
            </a:r>
          </a:p>
        </p:txBody>
      </p:sp>
      <p:sp>
        <p:nvSpPr>
          <p:cNvPr id="18" name="文字方塊 18"/>
          <p:cNvSpPr/>
          <p:nvPr/>
        </p:nvSpPr>
        <p:spPr>
          <a:xfrm>
            <a:off x="4544568" y="2697480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DCEBDD"/>
          </a:solidFill>
          <a:ln w="12700">
            <a:solidFill>
              <a:srgbClr val="196B24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196B24"/>
                </a:solidFill>
              </a:rPr>
              <a:t>帳密</a:t>
            </a:r>
          </a:p>
        </p:txBody>
      </p:sp>
      <p:sp>
        <p:nvSpPr>
          <p:cNvPr id="19" name="文字方塊 19"/>
          <p:cNvSpPr txBox="1"/>
          <p:nvPr/>
        </p:nvSpPr>
        <p:spPr>
          <a:xfrm>
            <a:off x="4544568" y="30632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存在 Kafka(KRaft)內,不在 AD</a:t>
            </a:r>
          </a:p>
        </p:txBody>
      </p:sp>
      <p:sp>
        <p:nvSpPr>
          <p:cNvPr id="20" name="文字方塊 20"/>
          <p:cNvSpPr/>
          <p:nvPr/>
        </p:nvSpPr>
        <p:spPr>
          <a:xfrm>
            <a:off x="4544568" y="3721608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DCEBDD"/>
          </a:solidFill>
          <a:ln w="12700">
            <a:solidFill>
              <a:srgbClr val="196B24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196B24"/>
                </a:solidFill>
              </a:rPr>
              <a:t>授權</a:t>
            </a:r>
          </a:p>
        </p:txBody>
      </p:sp>
      <p:sp>
        <p:nvSpPr>
          <p:cNvPr id="21" name="文字方塊 21"/>
          <p:cNvSpPr txBox="1"/>
          <p:nvPr/>
        </p:nvSpPr>
        <p:spPr>
          <a:xfrm>
            <a:off x="4544568" y="408736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綁 User:svc-xxx,最小權限</a:t>
            </a:r>
          </a:p>
        </p:txBody>
      </p:sp>
      <p:sp>
        <p:nvSpPr>
          <p:cNvPr id="22" name="文字方塊 22"/>
          <p:cNvSpPr/>
          <p:nvPr/>
        </p:nvSpPr>
        <p:spPr>
          <a:xfrm>
            <a:off x="4544568" y="4745736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DCEBDD"/>
          </a:solidFill>
          <a:ln w="12700">
            <a:solidFill>
              <a:srgbClr val="196B24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196B24"/>
                </a:solidFill>
              </a:rPr>
              <a:t>注意</a:t>
            </a:r>
          </a:p>
        </p:txBody>
      </p:sp>
      <p:sp>
        <p:nvSpPr>
          <p:cNvPr id="23" name="文字方塊 23"/>
          <p:cNvSpPr txBox="1"/>
          <p:nvPr/>
        </p:nvSpPr>
        <p:spPr>
          <a:xfrm>
            <a:off x="4544568" y="5111496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密碼不會自動到期 → 要有輪替流程</a:t>
            </a:r>
          </a:p>
        </p:txBody>
      </p:sp>
      <p:sp>
        <p:nvSpPr>
          <p:cNvPr id="24" name="圖形 24"/>
          <p:cNvSpPr/>
          <p:nvPr/>
        </p:nvSpPr>
        <p:spPr>
          <a:xfrm>
            <a:off x="7973568" y="1691640"/>
            <a:ext cx="338328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B3261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25" name="圖形 25"/>
          <p:cNvSpPr/>
          <p:nvPr/>
        </p:nvSpPr>
        <p:spPr>
          <a:xfrm>
            <a:off x="7973568" y="1691640"/>
            <a:ext cx="3383280" cy="822960"/>
          </a:xfrm>
          <a:prstGeom prst="roundRect">
            <a:avLst>
              <a:gd name="adj" fmla="val 24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26" name="文字方塊 26"/>
          <p:cNvSpPr txBox="1"/>
          <p:nvPr/>
        </p:nvSpPr>
        <p:spPr>
          <a:xfrm>
            <a:off x="7973568" y="17373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mTLS</a:t>
            </a:r>
          </a:p>
        </p:txBody>
      </p:sp>
      <p:sp>
        <p:nvSpPr>
          <p:cNvPr id="27" name="文字方塊 27"/>
          <p:cNvSpPr txBox="1"/>
          <p:nvPr/>
        </p:nvSpPr>
        <p:spPr>
          <a:xfrm>
            <a:off x="7973568" y="21945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300" b="0" dirty="0">
                <a:solidFill>
                  <a:srgbClr val="FFFFFF"/>
                </a:solidFill>
              </a:rPr>
              <a:t>Kafka 資料埠:不建議</a:t>
            </a:r>
          </a:p>
        </p:txBody>
      </p:sp>
      <p:sp>
        <p:nvSpPr>
          <p:cNvPr id="28" name="文字方塊 28"/>
          <p:cNvSpPr/>
          <p:nvPr/>
        </p:nvSpPr>
        <p:spPr>
          <a:xfrm>
            <a:off x="8110728" y="2697480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F8DADA"/>
          </a:solidFill>
          <a:ln w="12700">
            <a:solidFill>
              <a:srgbClr val="B3261E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B3261E"/>
                </a:solidFill>
              </a:rPr>
              <a:t>身分</a:t>
            </a:r>
          </a:p>
        </p:txBody>
      </p:sp>
      <p:sp>
        <p:nvSpPr>
          <p:cNvPr id="29" name="文字方塊 29"/>
          <p:cNvSpPr txBox="1"/>
          <p:nvPr/>
        </p:nvSpPr>
        <p:spPr>
          <a:xfrm>
            <a:off x="8110728" y="30632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每個身分一張憑證</a:t>
            </a:r>
          </a:p>
        </p:txBody>
      </p:sp>
      <p:sp>
        <p:nvSpPr>
          <p:cNvPr id="30" name="文字方塊 30"/>
          <p:cNvSpPr/>
          <p:nvPr/>
        </p:nvSpPr>
        <p:spPr>
          <a:xfrm>
            <a:off x="8110728" y="3721608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F8DADA"/>
          </a:solidFill>
          <a:ln w="12700">
            <a:solidFill>
              <a:srgbClr val="B3261E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B3261E"/>
                </a:solidFill>
              </a:rPr>
              <a:t>共用</a:t>
            </a:r>
          </a:p>
        </p:txBody>
      </p:sp>
      <p:sp>
        <p:nvSpPr>
          <p:cNvPr id="31" name="文字方塊 31"/>
          <p:cNvSpPr txBox="1"/>
          <p:nvPr/>
        </p:nvSpPr>
        <p:spPr>
          <a:xfrm>
            <a:off x="8110728" y="408736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共用憑證 = 同一個 principal(實測)</a:t>
            </a:r>
          </a:p>
        </p:txBody>
      </p:sp>
      <p:sp>
        <p:nvSpPr>
          <p:cNvPr id="32" name="文字方塊 32"/>
          <p:cNvSpPr/>
          <p:nvPr/>
        </p:nvSpPr>
        <p:spPr>
          <a:xfrm>
            <a:off x="8110728" y="4745736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F8DADA"/>
          </a:solidFill>
          <a:ln w="12700">
            <a:solidFill>
              <a:srgbClr val="B3261E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B3261E"/>
                </a:solidFill>
              </a:rPr>
              <a:t>注意</a:t>
            </a:r>
          </a:p>
        </p:txBody>
      </p:sp>
      <p:sp>
        <p:nvSpPr>
          <p:cNvPr id="33" name="文字方塊 33"/>
          <p:cNvSpPr txBox="1"/>
          <p:nvPr/>
        </p:nvSpPr>
        <p:spPr>
          <a:xfrm>
            <a:off x="8110728" y="5111496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200" b="0" dirty="0">
                <a:solidFill>
                  <a:srgbClr val="0E2841"/>
                </a:solidFill>
              </a:rPr>
              <a:t>憑證身分不支援群組;MDS / REST Proxy 仍用憑證身分(只能綁 User:)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RBAC 怎麼運作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sp>
        <p:nvSpPr>
          <p:cNvPr id="4" name="圖形 4"/>
          <p:cNvSpPr/>
          <p:nvPr/>
        </p:nvSpPr>
        <p:spPr>
          <a:xfrm>
            <a:off x="841248" y="1737360"/>
            <a:ext cx="2194560" cy="1554480"/>
          </a:xfrm>
          <a:prstGeom prst="roundRect">
            <a:avLst>
              <a:gd name="adj" fmla="val 4800"/>
            </a:avLst>
          </a:prstGeom>
          <a:solidFill>
            <a:srgbClr val="F2F2F2"/>
          </a:solidFill>
          <a:ln w="22225">
            <a:solidFill>
              <a:srgbClr val="0E2841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5" name="文字方塊 5"/>
          <p:cNvSpPr txBox="1"/>
          <p:nvPr/>
        </p:nvSpPr>
        <p:spPr>
          <a:xfrm>
            <a:off x="914400" y="1847088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500" b="1" dirty="0">
                <a:solidFill>
                  <a:srgbClr val="0E2841"/>
                </a:solidFill>
              </a:rPr>
              <a:t>管理者</a:t>
            </a:r>
          </a:p>
        </p:txBody>
      </p:sp>
      <p:sp>
        <p:nvSpPr>
          <p:cNvPr id="6" name="文字方塊 6"/>
          <p:cNvSpPr txBox="1"/>
          <p:nvPr/>
        </p:nvSpPr>
        <p:spPr>
          <a:xfrm>
            <a:off x="932688" y="2359152"/>
            <a:ext cx="2011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在 C3 或 MDS API 指派 role binding</a:t>
            </a:r>
          </a:p>
        </p:txBody>
      </p:sp>
      <p:sp>
        <p:nvSpPr>
          <p:cNvPr id="7" name="圖形 7"/>
          <p:cNvSpPr/>
          <p:nvPr/>
        </p:nvSpPr>
        <p:spPr>
          <a:xfrm>
            <a:off x="3447288" y="1737360"/>
            <a:ext cx="2560320" cy="15544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22225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8" name="文字方塊 8"/>
          <p:cNvSpPr txBox="1"/>
          <p:nvPr/>
        </p:nvSpPr>
        <p:spPr>
          <a:xfrm>
            <a:off x="3520440" y="1847088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500" b="1" dirty="0">
                <a:solidFill>
                  <a:srgbClr val="156082"/>
                </a:solidFill>
              </a:rPr>
              <a:t>MDS</a:t>
            </a:r>
          </a:p>
        </p:txBody>
      </p:sp>
      <p:sp>
        <p:nvSpPr>
          <p:cNvPr id="9" name="文字方塊 9"/>
          <p:cNvSpPr txBox="1"/>
          <p:nvPr/>
        </p:nvSpPr>
        <p:spPr>
          <a:xfrm>
            <a:off x="3538728" y="2359152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內嵌於 broker 的 HTTP 服務:換 token、管理 RBAC</a:t>
            </a:r>
          </a:p>
        </p:txBody>
      </p:sp>
      <p:sp>
        <p:nvSpPr>
          <p:cNvPr id="10" name="圖形 10"/>
          <p:cNvSpPr/>
          <p:nvPr/>
        </p:nvSpPr>
        <p:spPr>
          <a:xfrm>
            <a:off x="6419088" y="1737360"/>
            <a:ext cx="2377440" cy="1554480"/>
          </a:xfrm>
          <a:prstGeom prst="roundRect">
            <a:avLst>
              <a:gd name="adj" fmla="val 4800"/>
            </a:avLst>
          </a:prstGeom>
          <a:solidFill>
            <a:srgbClr val="FBE5D6"/>
          </a:solidFill>
          <a:ln w="22225">
            <a:solidFill>
              <a:srgbClr val="E9713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1" name="文字方塊 11"/>
          <p:cNvSpPr txBox="1"/>
          <p:nvPr/>
        </p:nvSpPr>
        <p:spPr>
          <a:xfrm>
            <a:off x="6492240" y="1847088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500" b="1" dirty="0">
                <a:solidFill>
                  <a:srgbClr val="E97132"/>
                </a:solidFill>
              </a:rPr>
              <a:t>RBAC topic</a:t>
            </a:r>
          </a:p>
        </p:txBody>
      </p:sp>
      <p:sp>
        <p:nvSpPr>
          <p:cNvPr id="12" name="文字方塊 12"/>
          <p:cNvSpPr txBox="1"/>
          <p:nvPr/>
        </p:nvSpPr>
        <p:spPr>
          <a:xfrm>
            <a:off x="6510528" y="2359152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異動時把最新的 RBAC 資訊寫入這個 topic</a:t>
            </a:r>
          </a:p>
        </p:txBody>
      </p:sp>
      <p:sp>
        <p:nvSpPr>
          <p:cNvPr id="13" name="圖形 13"/>
          <p:cNvSpPr/>
          <p:nvPr/>
        </p:nvSpPr>
        <p:spPr>
          <a:xfrm>
            <a:off x="9208008" y="1737360"/>
            <a:ext cx="2148840" cy="1554480"/>
          </a:xfrm>
          <a:prstGeom prst="roundRect">
            <a:avLst>
              <a:gd name="adj" fmla="val 4800"/>
            </a:avLst>
          </a:prstGeom>
          <a:solidFill>
            <a:srgbClr val="DCEBDD"/>
          </a:solidFill>
          <a:ln w="22225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4" name="文字方塊 14"/>
          <p:cNvSpPr txBox="1"/>
          <p:nvPr/>
        </p:nvSpPr>
        <p:spPr>
          <a:xfrm>
            <a:off x="9281160" y="1847088"/>
            <a:ext cx="20025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500" b="1" dirty="0">
                <a:solidFill>
                  <a:srgbClr val="196B24"/>
                </a:solidFill>
              </a:rPr>
              <a:t>每台 broker</a:t>
            </a:r>
          </a:p>
        </p:txBody>
      </p:sp>
      <p:sp>
        <p:nvSpPr>
          <p:cNvPr id="15" name="文字方塊 15"/>
          <p:cNvSpPr txBox="1"/>
          <p:nvPr/>
        </p:nvSpPr>
        <p:spPr>
          <a:xfrm>
            <a:off x="9299448" y="2359152"/>
            <a:ext cx="19659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讀取並 cache 在本地,在本地做授權</a:t>
            </a:r>
          </a:p>
        </p:txBody>
      </p:sp>
      <p:cxnSp>
        <p:nvCxnSpPr>
          <p:cNvPr id="16" name="箭頭 16"/>
          <p:cNvCxnSpPr/>
          <p:nvPr/>
        </p:nvCxnSpPr>
        <p:spPr>
          <a:xfrm>
            <a:off x="3035808" y="2514600"/>
            <a:ext cx="41148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cxnSp>
        <p:nvCxnSpPr>
          <p:cNvPr id="17" name="箭頭 17"/>
          <p:cNvCxnSpPr/>
          <p:nvPr/>
        </p:nvCxnSpPr>
        <p:spPr>
          <a:xfrm>
            <a:off x="6007608" y="2514600"/>
            <a:ext cx="41148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cxnSp>
        <p:nvCxnSpPr>
          <p:cNvPr id="18" name="箭頭 18"/>
          <p:cNvCxnSpPr/>
          <p:nvPr/>
        </p:nvCxnSpPr>
        <p:spPr>
          <a:xfrm>
            <a:off x="8796528" y="2514600"/>
            <a:ext cx="41148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sp>
        <p:nvSpPr>
          <p:cNvPr id="19" name="圖形 19"/>
          <p:cNvSpPr/>
          <p:nvPr/>
        </p:nvSpPr>
        <p:spPr>
          <a:xfrm>
            <a:off x="3447288" y="3794760"/>
            <a:ext cx="2560320" cy="1417320"/>
          </a:xfrm>
          <a:prstGeom prst="roundRect">
            <a:avLst>
              <a:gd name="adj" fmla="val 4800"/>
            </a:avLst>
          </a:prstGeom>
          <a:solidFill>
            <a:srgbClr val="F8DADA"/>
          </a:solidFill>
          <a:ln w="22225">
            <a:solidFill>
              <a:srgbClr val="B3261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20" name="文字方塊 20"/>
          <p:cNvSpPr txBox="1"/>
          <p:nvPr/>
        </p:nvSpPr>
        <p:spPr>
          <a:xfrm>
            <a:off x="3520440" y="3904488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500" b="1" dirty="0">
                <a:solidFill>
                  <a:srgbClr val="B3261E"/>
                </a:solidFill>
              </a:rPr>
              <a:t>AD(LDAP)</a:t>
            </a:r>
          </a:p>
        </p:txBody>
      </p:sp>
      <p:sp>
        <p:nvSpPr>
          <p:cNvPr id="21" name="文字方塊 21"/>
          <p:cNvSpPr txBox="1"/>
          <p:nvPr/>
        </p:nvSpPr>
        <p:spPr>
          <a:xfrm>
            <a:off x="3538728" y="4416552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群組同步由 MDS writer broker 負責;預設每 60 秒重讀</a:t>
            </a:r>
          </a:p>
        </p:txBody>
      </p:sp>
      <p:cxnSp>
        <p:nvCxnSpPr>
          <p:cNvPr id="22" name="箭頭 22"/>
          <p:cNvCxnSpPr/>
          <p:nvPr/>
        </p:nvCxnSpPr>
        <p:spPr>
          <a:xfrm>
            <a:off x="4727448" y="3291840"/>
            <a:ext cx="0" cy="502920"/>
          </a:xfrm>
          <a:prstGeom prst="line">
            <a:avLst/>
          </a:prstGeom>
          <a:ln w="31750">
            <a:solidFill>
              <a:srgbClr val="B3261E"/>
            </a:solidFill>
            <a:tailEnd type="triangle" w="med" len="med"/>
          </a:ln>
        </p:spPr>
      </p:cxnSp>
      <p:sp>
        <p:nvSpPr>
          <p:cNvPr id="23" name="文字方塊 23"/>
          <p:cNvSpPr txBox="1"/>
          <p:nvPr/>
        </p:nvSpPr>
        <p:spPr>
          <a:xfrm>
            <a:off x="4800600" y="3364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000" b="1" dirty="0">
                <a:solidFill>
                  <a:srgbClr val="B3261E"/>
                </a:solidFill>
              </a:rPr>
              <a:t>查詢 / bind</a:t>
            </a:r>
          </a:p>
        </p:txBody>
      </p:sp>
      <p:sp>
        <p:nvSpPr>
          <p:cNvPr id="24" name="圖形 24"/>
          <p:cNvSpPr/>
          <p:nvPr/>
        </p:nvSpPr>
        <p:spPr>
          <a:xfrm>
            <a:off x="6419088" y="3794760"/>
            <a:ext cx="4937760" cy="1417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BFBFBF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25" name="文字方塊 25"/>
          <p:cNvSpPr txBox="1"/>
          <p:nvPr/>
        </p:nvSpPr>
        <p:spPr>
          <a:xfrm>
            <a:off x="6583680" y="3886200"/>
            <a:ext cx="4617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zh-TW" altLang="en-US" sz="1400" b="1" dirty="0">
                <a:solidFill>
                  <a:srgbClr val="0E2841"/>
                </a:solidFill>
              </a:rPr>
              <a:t>client 來請求時</a:t>
            </a:r>
          </a:p>
          <a:p>
            <a:pPr algn="l"/>
            <a:r>
              <a:rPr lang="zh-TW" altLang="en-US" sz="1200" b="0" dirty="0">
                <a:solidFill>
                  <a:srgbClr val="595959"/>
                </a:solidFill>
              </a:rPr>
              <a:t>broker 依本地的 role binding + 使用者所屬群組判斷;群組異動在 AD 做,Kafka 端不用動</a:t>
            </a:r>
          </a:p>
        </p:txBody>
      </p:sp>
      <p:sp>
        <p:nvSpPr>
          <p:cNvPr id="26" name="文字方塊 26"/>
          <p:cNvSpPr/>
          <p:nvPr/>
        </p:nvSpPr>
        <p:spPr>
          <a:xfrm>
            <a:off x="841248" y="5577840"/>
            <a:ext cx="10515600" cy="384048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ACL:principal → 資源 + 操作   ・   RBAC:principal → role + 範圍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預設 role 的邊界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841248" y="1645920"/>
          <a:ext cx="10515600" cy="3995928"/>
        </p:xfrm>
        <a:graphic>
          <a:graphicData uri="http://schemas.openxmlformats.org/drawingml/2006/table">
            <a:tbl>
              <a:tblPr firstRow="1"/>
              <a:tblGrid>
                <a:gridCol w="2103120"/>
                <a:gridCol w="4206240"/>
                <a:gridCol w="4206240"/>
              </a:tblGrid>
              <a:tr h="411480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FFFFFF"/>
                          </a:solidFill>
                        </a:rPr>
                        <a:t>可以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FFFFFF"/>
                          </a:solidFill>
                        </a:rPr>
                        <a:t>不可以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560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DeveloperRead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讀 topic / consumer group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寫、建 topic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DeveloperWrite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寫資料(含叢集層級 IdempotentWrite)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讀資料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DeveloperManage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建 / 刪 topic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改 topic 設定、讀寫資料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Operator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看 topic 清單、監控與告警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建 topic、讀資料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ClusterAdmin(叢集範圍)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建 / 刪 / 改 topic 與設定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讀寫資料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UserAdmin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管理 role binding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建 topic、讀資料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0E2841"/>
                          </a:solidFill>
                        </a:rPr>
                        <a:t>ResourceOwner / SystemAdmin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資源擁有者(含讀寫)/ 全權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0E2841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字方塊 5"/>
          <p:cNvSpPr txBox="1"/>
          <p:nvPr/>
        </p:nvSpPr>
        <p:spPr>
          <a:xfrm>
            <a:off x="841248" y="5989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100" b="0" dirty="0">
                <a:solidFill>
                  <a:srgbClr val="595959"/>
                </a:solidFill>
              </a:rPr>
              <a:t>以上為查詢 MDS roles API 的結果;改 topic 設定要 ResourceOwner 或 ClusterAdmin,DeveloperManage 不行。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Control Center 登入與授權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sp>
        <p:nvSpPr>
          <p:cNvPr id="4" name="圖形 4"/>
          <p:cNvSpPr/>
          <p:nvPr/>
        </p:nvSpPr>
        <p:spPr>
          <a:xfrm>
            <a:off x="841248" y="1645920"/>
            <a:ext cx="1783080" cy="17830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5" name="文字方塊 5"/>
          <p:cNvSpPr/>
          <p:nvPr/>
        </p:nvSpPr>
        <p:spPr>
          <a:xfrm>
            <a:off x="950976" y="17556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文字方塊 6"/>
          <p:cNvSpPr txBox="1"/>
          <p:nvPr/>
        </p:nvSpPr>
        <p:spPr>
          <a:xfrm>
            <a:off x="932688" y="224028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Basic 登入</a:t>
            </a:r>
          </a:p>
        </p:txBody>
      </p:sp>
      <p:sp>
        <p:nvSpPr>
          <p:cNvPr id="7" name="文字方塊 7"/>
          <p:cNvSpPr txBox="1"/>
          <p:nvPr/>
        </p:nvSpPr>
        <p:spPr>
          <a:xfrm>
            <a:off x="932688" y="274320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瀏覽器送 AD 帳密</a:t>
            </a:r>
          </a:p>
        </p:txBody>
      </p:sp>
      <p:sp>
        <p:nvSpPr>
          <p:cNvPr id="8" name="圖形 8"/>
          <p:cNvSpPr/>
          <p:nvPr/>
        </p:nvSpPr>
        <p:spPr>
          <a:xfrm>
            <a:off x="2898648" y="1645920"/>
            <a:ext cx="1783080" cy="17830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9" name="文字方塊 9"/>
          <p:cNvSpPr/>
          <p:nvPr/>
        </p:nvSpPr>
        <p:spPr>
          <a:xfrm>
            <a:off x="3008376" y="17556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文字方塊 10"/>
          <p:cNvSpPr txBox="1"/>
          <p:nvPr/>
        </p:nvSpPr>
        <p:spPr>
          <a:xfrm>
            <a:off x="2990088" y="224028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C3 轉給 MDS</a:t>
            </a:r>
          </a:p>
        </p:txBody>
      </p:sp>
      <p:sp>
        <p:nvSpPr>
          <p:cNvPr id="11" name="文字方塊 11"/>
          <p:cNvSpPr txBox="1"/>
          <p:nvPr/>
        </p:nvSpPr>
        <p:spPr>
          <a:xfrm>
            <a:off x="2990088" y="274320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MDS 向 AD 驗證</a:t>
            </a:r>
          </a:p>
        </p:txBody>
      </p:sp>
      <p:sp>
        <p:nvSpPr>
          <p:cNvPr id="12" name="圖形 12"/>
          <p:cNvSpPr/>
          <p:nvPr/>
        </p:nvSpPr>
        <p:spPr>
          <a:xfrm>
            <a:off x="4956048" y="1645920"/>
            <a:ext cx="1783080" cy="17830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3" name="文字方塊 13"/>
          <p:cNvSpPr/>
          <p:nvPr/>
        </p:nvSpPr>
        <p:spPr>
          <a:xfrm>
            <a:off x="5065776" y="17556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文字方塊 14"/>
          <p:cNvSpPr txBox="1"/>
          <p:nvPr/>
        </p:nvSpPr>
        <p:spPr>
          <a:xfrm>
            <a:off x="5047488" y="224028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回 token</a:t>
            </a:r>
          </a:p>
        </p:txBody>
      </p:sp>
      <p:sp>
        <p:nvSpPr>
          <p:cNvPr id="15" name="文字方塊 15"/>
          <p:cNvSpPr txBox="1"/>
          <p:nvPr/>
        </p:nvSpPr>
        <p:spPr>
          <a:xfrm>
            <a:off x="5047488" y="274320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JWT 1 小時,會續期;登入上限預設 6 小時</a:t>
            </a:r>
          </a:p>
        </p:txBody>
      </p:sp>
      <p:sp>
        <p:nvSpPr>
          <p:cNvPr id="16" name="圖形 16"/>
          <p:cNvSpPr/>
          <p:nvPr/>
        </p:nvSpPr>
        <p:spPr>
          <a:xfrm>
            <a:off x="7013448" y="1645920"/>
            <a:ext cx="1783080" cy="17830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7" name="文字方塊 17"/>
          <p:cNvSpPr/>
          <p:nvPr/>
        </p:nvSpPr>
        <p:spPr>
          <a:xfrm>
            <a:off x="7123176" y="17556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文字方塊 18"/>
          <p:cNvSpPr txBox="1"/>
          <p:nvPr/>
        </p:nvSpPr>
        <p:spPr>
          <a:xfrm>
            <a:off x="7104888" y="224028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之後帶 Bearer</a:t>
            </a:r>
          </a:p>
        </p:txBody>
      </p:sp>
      <p:sp>
        <p:nvSpPr>
          <p:cNvPr id="19" name="文字方塊 19"/>
          <p:cNvSpPr txBox="1"/>
          <p:nvPr/>
        </p:nvSpPr>
        <p:spPr>
          <a:xfrm>
            <a:off x="7104888" y="274320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同時有 HttpOnly cookie;優先看 Bearer</a:t>
            </a:r>
          </a:p>
        </p:txBody>
      </p:sp>
      <p:sp>
        <p:nvSpPr>
          <p:cNvPr id="20" name="圖形 20"/>
          <p:cNvSpPr/>
          <p:nvPr/>
        </p:nvSpPr>
        <p:spPr>
          <a:xfrm>
            <a:off x="9070848" y="1645920"/>
            <a:ext cx="2286000" cy="1783080"/>
          </a:xfrm>
          <a:prstGeom prst="roundRect">
            <a:avLst>
              <a:gd name="adj" fmla="val 4800"/>
            </a:avLst>
          </a:prstGeom>
          <a:solidFill>
            <a:srgbClr val="DCEBF2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21" name="文字方塊 21"/>
          <p:cNvSpPr/>
          <p:nvPr/>
        </p:nvSpPr>
        <p:spPr>
          <a:xfrm>
            <a:off x="9180576" y="17556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文字方塊 22"/>
          <p:cNvSpPr txBox="1"/>
          <p:nvPr/>
        </p:nvSpPr>
        <p:spPr>
          <a:xfrm>
            <a:off x="9162288" y="2240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400" b="1" dirty="0">
                <a:solidFill>
                  <a:srgbClr val="0E2841"/>
                </a:solidFill>
              </a:rPr>
              <a:t>C3 驗章 + 查可見範圍</a:t>
            </a:r>
          </a:p>
        </p:txBody>
      </p:sp>
      <p:sp>
        <p:nvSpPr>
          <p:cNvPr id="23" name="文字方塊 23"/>
          <p:cNvSpPr txBox="1"/>
          <p:nvPr/>
        </p:nvSpPr>
        <p:spPr>
          <a:xfrm>
            <a:off x="9162288" y="27432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TW" altLang="en-US" sz="1100" b="0" dirty="0">
                <a:solidFill>
                  <a:srgbClr val="595959"/>
                </a:solidFill>
              </a:rPr>
              <a:t>本地驗章(實測推論),再向 MDS 查權限</a:t>
            </a:r>
          </a:p>
        </p:txBody>
      </p:sp>
      <p:cxnSp>
        <p:nvCxnSpPr>
          <p:cNvPr id="24" name="箭頭 24"/>
          <p:cNvCxnSpPr/>
          <p:nvPr/>
        </p:nvCxnSpPr>
        <p:spPr>
          <a:xfrm>
            <a:off x="2624328" y="2542032"/>
            <a:ext cx="274320" cy="0"/>
          </a:xfrm>
          <a:prstGeom prst="line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cxnSp>
        <p:nvCxnSpPr>
          <p:cNvPr id="25" name="箭頭 25"/>
          <p:cNvCxnSpPr/>
          <p:nvPr/>
        </p:nvCxnSpPr>
        <p:spPr>
          <a:xfrm>
            <a:off x="4681728" y="2542032"/>
            <a:ext cx="274320" cy="0"/>
          </a:xfrm>
          <a:prstGeom prst="line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cxnSp>
        <p:nvCxnSpPr>
          <p:cNvPr id="26" name="箭頭 26"/>
          <p:cNvCxnSpPr/>
          <p:nvPr/>
        </p:nvCxnSpPr>
        <p:spPr>
          <a:xfrm>
            <a:off x="6739128" y="2542032"/>
            <a:ext cx="274320" cy="0"/>
          </a:xfrm>
          <a:prstGeom prst="line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cxnSp>
        <p:nvCxnSpPr>
          <p:cNvPr id="27" name="箭頭 27"/>
          <p:cNvCxnSpPr/>
          <p:nvPr/>
        </p:nvCxnSpPr>
        <p:spPr>
          <a:xfrm>
            <a:off x="8796528" y="2542032"/>
            <a:ext cx="274320" cy="0"/>
          </a:xfrm>
          <a:prstGeom prst="line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sp>
        <p:nvSpPr>
          <p:cNvPr id="28" name="圖形 28"/>
          <p:cNvSpPr/>
          <p:nvPr/>
        </p:nvSpPr>
        <p:spPr>
          <a:xfrm>
            <a:off x="841248" y="3749040"/>
            <a:ext cx="5120640" cy="1463040"/>
          </a:xfrm>
          <a:prstGeom prst="roundRect">
            <a:avLst>
              <a:gd name="adj" fmla="val 6000"/>
            </a:avLst>
          </a:prstGeom>
          <a:solidFill>
            <a:srgbClr val="DCEBF2"/>
          </a:solidFill>
          <a:ln w="22225">
            <a:solidFill>
              <a:srgbClr val="15608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29" name="文字方塊 29"/>
          <p:cNvSpPr txBox="1"/>
          <p:nvPr/>
        </p:nvSpPr>
        <p:spPr>
          <a:xfrm>
            <a:off x="1005840" y="3840480"/>
            <a:ext cx="48006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TW" altLang="en-US" sz="1700" b="1" dirty="0">
                <a:solidFill>
                  <a:srgbClr val="156082"/>
                </a:solidFill>
              </a:rPr>
              <a:t>使用者操作</a:t>
            </a:r>
          </a:p>
          <a:p>
            <a:pPr algn="l">
              <a:spcAft>
                <a:spcPts val="400"/>
              </a:spcAft>
            </a:pPr>
            <a:r>
              <a:rPr lang="zh-TW" altLang="en-US" sz="1400" b="0" dirty="0">
                <a:solidFill>
                  <a:srgbClr val="0E2841"/>
                </a:solidFill>
              </a:rPr>
              <a:t>C3 帶「使用者本人」的 token 連 broker</a:t>
            </a:r>
          </a:p>
          <a:p>
            <a:pPr algn="l"/>
            <a:r>
              <a:rPr lang="zh-TW" altLang="en-US" sz="1200" b="0" dirty="0">
                <a:solidFill>
                  <a:srgbClr val="595959"/>
                </a:solidFill>
              </a:rPr>
              <a:t>audit 的主體是 User:gary / User:ming</a:t>
            </a:r>
          </a:p>
        </p:txBody>
      </p:sp>
      <p:sp>
        <p:nvSpPr>
          <p:cNvPr id="30" name="圖形 30"/>
          <p:cNvSpPr/>
          <p:nvPr/>
        </p:nvSpPr>
        <p:spPr>
          <a:xfrm>
            <a:off x="6236208" y="3749040"/>
            <a:ext cx="5120640" cy="146304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22225">
            <a:solidFill>
              <a:srgbClr val="E97132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31" name="文字方塊 31"/>
          <p:cNvSpPr txBox="1"/>
          <p:nvPr/>
        </p:nvSpPr>
        <p:spPr>
          <a:xfrm>
            <a:off x="6400800" y="3840480"/>
            <a:ext cx="48006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TW" altLang="en-US" sz="1700" b="1" dirty="0">
                <a:solidFill>
                  <a:srgbClr val="9A4A1E"/>
                </a:solidFill>
              </a:rPr>
              <a:t>C3 背景工作</a:t>
            </a:r>
          </a:p>
          <a:p>
            <a:pPr algn="l">
              <a:spcAft>
                <a:spcPts val="400"/>
              </a:spcAft>
            </a:pPr>
            <a:r>
              <a:rPr lang="zh-TW" altLang="en-US" sz="1400" b="0" dirty="0">
                <a:solidFill>
                  <a:srgbClr val="0E2841"/>
                </a:solidFill>
              </a:rPr>
              <a:t>c3 憑證向 MDS 換 token,身分是 User:c3</a:t>
            </a:r>
          </a:p>
          <a:p>
            <a:pPr algn="l"/>
            <a:r>
              <a:rPr lang="zh-TW" altLang="en-US" sz="1200" b="0" dirty="0">
                <a:solidFill>
                  <a:srgbClr val="595959"/>
                </a:solidFill>
              </a:rPr>
              <a:t>官方要求必須是 SystemAdmin</a:t>
            </a:r>
          </a:p>
        </p:txBody>
      </p:sp>
      <p:sp>
        <p:nvSpPr>
          <p:cNvPr id="32" name="文字方塊 32"/>
          <p:cNvSpPr/>
          <p:nvPr/>
        </p:nvSpPr>
        <p:spPr>
          <a:xfrm>
            <a:off x="841248" y="5760720"/>
            <a:ext cx="10515600" cy="384048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200" b="0" dirty="0">
                <a:solidFill>
                  <a:srgbClr val="595959"/>
                </a:solidFill>
              </a:rPr>
              <a:t>以上為本專案實測;官方未明說 C3 以誰的身分查詢 Kafka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已知風險與對策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sp>
        <p:nvSpPr>
          <p:cNvPr id="4" name="圖形 4"/>
          <p:cNvSpPr/>
          <p:nvPr/>
        </p:nvSpPr>
        <p:spPr>
          <a:xfrm>
            <a:off x="841248" y="1645920"/>
            <a:ext cx="512064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BFBFBF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5" name="文字方塊 5"/>
          <p:cNvSpPr txBox="1"/>
          <p:nvPr/>
        </p:nvSpPr>
        <p:spPr>
          <a:xfrm>
            <a:off x="1024128" y="17373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600" b="1" dirty="0">
                <a:solidFill>
                  <a:srgbClr val="0E2841"/>
                </a:solidFill>
              </a:rPr>
              <a:t>c3 憑證 = 管理員</a:t>
            </a:r>
          </a:p>
        </p:txBody>
      </p:sp>
      <p:sp>
        <p:nvSpPr>
          <p:cNvPr id="6" name="文字方塊 6"/>
          <p:cNvSpPr/>
          <p:nvPr/>
        </p:nvSpPr>
        <p:spPr>
          <a:xfrm>
            <a:off x="1024128" y="2176272"/>
            <a:ext cx="4754880" cy="777240"/>
          </a:xfrm>
          <a:prstGeom prst="roundRect">
            <a:avLst>
              <a:gd name="adj" fmla="val 4800"/>
            </a:avLst>
          </a:prstGeom>
          <a:solidFill>
            <a:srgbClr val="F8DADA"/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lang="zh-TW" altLang="en-US" sz="1150" b="1" dirty="0">
                <a:solidFill>
                  <a:srgbClr val="B3261E"/>
                </a:solidFill>
              </a:rPr>
              <a:t>發現:能建立 / 刪除 role binding;拿掉它的權限 C3 會退出(實測)</a:t>
            </a:r>
          </a:p>
        </p:txBody>
      </p:sp>
      <p:sp>
        <p:nvSpPr>
          <p:cNvPr id="7" name="文字方塊 7"/>
          <p:cNvSpPr/>
          <p:nvPr/>
        </p:nvSpPr>
        <p:spPr>
          <a:xfrm>
            <a:off x="1024128" y="3035808"/>
            <a:ext cx="4754880" cy="731520"/>
          </a:xfrm>
          <a:prstGeom prst="roundRect">
            <a:avLst>
              <a:gd name="adj" fmla="val 4800"/>
            </a:avLst>
          </a:prstGeom>
          <a:solidFill>
            <a:srgbClr val="DCEBDD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lang="zh-TW" altLang="en-US" sz="1150" b="1" dirty="0">
                <a:solidFill>
                  <a:srgbClr val="14551C"/>
                </a:solidFill>
              </a:rPr>
              <a:t>對策:保護私鑰與檔案權限;列入受保護清單</a:t>
            </a:r>
          </a:p>
        </p:txBody>
      </p:sp>
      <p:sp>
        <p:nvSpPr>
          <p:cNvPr id="8" name="圖形 8"/>
          <p:cNvSpPr/>
          <p:nvPr/>
        </p:nvSpPr>
        <p:spPr>
          <a:xfrm>
            <a:off x="6236208" y="1645920"/>
            <a:ext cx="512064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BFBFBF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9" name="文字方塊 9"/>
          <p:cNvSpPr txBox="1"/>
          <p:nvPr/>
        </p:nvSpPr>
        <p:spPr>
          <a:xfrm>
            <a:off x="6419088" y="17373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600" b="1" dirty="0">
                <a:solidFill>
                  <a:srgbClr val="0E2841"/>
                </a:solidFill>
              </a:rPr>
              <a:t>REST Proxy 憑證可代人</a:t>
            </a:r>
          </a:p>
        </p:txBody>
      </p:sp>
      <p:sp>
        <p:nvSpPr>
          <p:cNvPr id="10" name="文字方塊 10"/>
          <p:cNvSpPr/>
          <p:nvPr/>
        </p:nvSpPr>
        <p:spPr>
          <a:xfrm>
            <a:off x="6419088" y="2176272"/>
            <a:ext cx="4754880" cy="777240"/>
          </a:xfrm>
          <a:prstGeom prst="roundRect">
            <a:avLst>
              <a:gd name="adj" fmla="val 4800"/>
            </a:avLst>
          </a:prstGeom>
          <a:solidFill>
            <a:srgbClr val="F8DADA"/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lang="zh-TW" altLang="en-US" sz="1150" b="1" dirty="0">
                <a:solidFill>
                  <a:srgbClr val="B3261E"/>
                </a:solidFill>
              </a:rPr>
              <a:t>發現:可代任何不在保護清單的使用者;清單混入 Group: 會整份失效(實測)</a:t>
            </a:r>
          </a:p>
        </p:txBody>
      </p:sp>
      <p:sp>
        <p:nvSpPr>
          <p:cNvPr id="11" name="文字方塊 11"/>
          <p:cNvSpPr/>
          <p:nvPr/>
        </p:nvSpPr>
        <p:spPr>
          <a:xfrm>
            <a:off x="6419088" y="3035808"/>
            <a:ext cx="4754880" cy="731520"/>
          </a:xfrm>
          <a:prstGeom prst="roundRect">
            <a:avLst>
              <a:gd name="adj" fmla="val 4800"/>
            </a:avLst>
          </a:prstGeom>
          <a:solidFill>
            <a:srgbClr val="DCEBDD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lang="zh-TW" altLang="en-US" sz="1150" b="1" dirty="0">
                <a:solidFill>
                  <a:srgbClr val="14551C"/>
                </a:solidFill>
              </a:rPr>
              <a:t>對策:特權身分逐一以 User: 列入</a:t>
            </a:r>
          </a:p>
        </p:txBody>
      </p:sp>
      <p:sp>
        <p:nvSpPr>
          <p:cNvPr id="12" name="圖形 12"/>
          <p:cNvSpPr/>
          <p:nvPr/>
        </p:nvSpPr>
        <p:spPr>
          <a:xfrm>
            <a:off x="841248" y="4023360"/>
            <a:ext cx="512064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BFBFBF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3" name="文字方塊 13"/>
          <p:cNvSpPr txBox="1"/>
          <p:nvPr/>
        </p:nvSpPr>
        <p:spPr>
          <a:xfrm>
            <a:off x="1024128" y="4114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600" b="1" dirty="0">
                <a:solidFill>
                  <a:srgbClr val="0E2841"/>
                </a:solidFill>
              </a:rPr>
              <a:t>Prometheus / Alertmanager</a:t>
            </a:r>
          </a:p>
        </p:txBody>
      </p:sp>
      <p:sp>
        <p:nvSpPr>
          <p:cNvPr id="14" name="文字方塊 14"/>
          <p:cNvSpPr/>
          <p:nvPr/>
        </p:nvSpPr>
        <p:spPr>
          <a:xfrm>
            <a:off x="1024128" y="4553712"/>
            <a:ext cx="4754880" cy="777240"/>
          </a:xfrm>
          <a:prstGeom prst="roundRect">
            <a:avLst>
              <a:gd name="adj" fmla="val 4800"/>
            </a:avLst>
          </a:prstGeom>
          <a:solidFill>
            <a:srgbClr val="F8DADA"/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lang="zh-TW" altLang="en-US" sz="1150" b="1" dirty="0">
                <a:solidFill>
                  <a:srgbClr val="B3261E"/>
                </a:solidFill>
              </a:rPr>
              <a:t>發現:demo 未啟用認證,Alertmanager 可無認證寫入靜音</a:t>
            </a:r>
          </a:p>
        </p:txBody>
      </p:sp>
      <p:sp>
        <p:nvSpPr>
          <p:cNvPr id="15" name="文字方塊 15"/>
          <p:cNvSpPr/>
          <p:nvPr/>
        </p:nvSpPr>
        <p:spPr>
          <a:xfrm>
            <a:off x="1024128" y="5413248"/>
            <a:ext cx="4754880" cy="731520"/>
          </a:xfrm>
          <a:prstGeom prst="roundRect">
            <a:avLst>
              <a:gd name="adj" fmla="val 4800"/>
            </a:avLst>
          </a:prstGeom>
          <a:solidFill>
            <a:srgbClr val="DCEBDD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lang="zh-TW" altLang="en-US" sz="1150" b="1" dirty="0">
                <a:solidFill>
                  <a:srgbClr val="14551C"/>
                </a:solidFill>
              </a:rPr>
              <a:t>對策:官方支援 TLS + Basic;未啟用時以網路隔離</a:t>
            </a:r>
          </a:p>
        </p:txBody>
      </p:sp>
      <p:sp>
        <p:nvSpPr>
          <p:cNvPr id="16" name="圖形 16"/>
          <p:cNvSpPr/>
          <p:nvPr/>
        </p:nvSpPr>
        <p:spPr>
          <a:xfrm>
            <a:off x="6236208" y="4023360"/>
            <a:ext cx="512064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BFBFBF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zh-TW"/>
          </a:p>
        </p:txBody>
      </p:sp>
      <p:sp>
        <p:nvSpPr>
          <p:cNvPr id="17" name="文字方塊 17"/>
          <p:cNvSpPr txBox="1"/>
          <p:nvPr/>
        </p:nvSpPr>
        <p:spPr>
          <a:xfrm>
            <a:off x="6419088" y="4114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TW" altLang="en-US" sz="1600" b="1" dirty="0">
                <a:solidFill>
                  <a:srgbClr val="0E2841"/>
                </a:solidFill>
              </a:rPr>
              <a:t>broker 內建 Admin REST</a:t>
            </a:r>
          </a:p>
        </p:txBody>
      </p:sp>
      <p:sp>
        <p:nvSpPr>
          <p:cNvPr id="18" name="文字方塊 18"/>
          <p:cNvSpPr/>
          <p:nvPr/>
        </p:nvSpPr>
        <p:spPr>
          <a:xfrm>
            <a:off x="6419088" y="4553712"/>
            <a:ext cx="4754880" cy="777240"/>
          </a:xfrm>
          <a:prstGeom prst="roundRect">
            <a:avLst>
              <a:gd name="adj" fmla="val 4800"/>
            </a:avLst>
          </a:prstGeom>
          <a:solidFill>
            <a:srgbClr val="F8DADA"/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lang="zh-TW" altLang="en-US" sz="1150" b="1" dirty="0">
                <a:solidFill>
                  <a:srgbClr val="B3261E"/>
                </a:solidFill>
              </a:rPr>
              <a:t>發現:未設安全擴充時匿名可進入(本 demo 實測);曾使 broker OOM</a:t>
            </a:r>
          </a:p>
        </p:txBody>
      </p:sp>
      <p:sp>
        <p:nvSpPr>
          <p:cNvPr id="19" name="文字方塊 19"/>
          <p:cNvSpPr/>
          <p:nvPr/>
        </p:nvSpPr>
        <p:spPr>
          <a:xfrm>
            <a:off x="6419088" y="5413248"/>
            <a:ext cx="4754880" cy="731520"/>
          </a:xfrm>
          <a:prstGeom prst="roundRect">
            <a:avLst>
              <a:gd name="adj" fmla="val 4800"/>
            </a:avLst>
          </a:prstGeom>
          <a:solidFill>
            <a:srgbClr val="DCEBDD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lang="zh-TW" altLang="en-US" sz="1150" b="1" dirty="0">
                <a:solidFill>
                  <a:srgbClr val="14551C"/>
                </a:solidFill>
              </a:rPr>
              <a:t>對策:依官方 kafka.rest. 設定後,匿名回 401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導入前請客戶確認</a:t>
            </a:r>
          </a:p>
        </p:txBody>
      </p:sp>
      <p:sp>
        <p:nvSpPr>
          <p:cNvPr id="3" name="文字方塊 3"/>
          <p:cNvSpPr/>
          <p:nvPr/>
        </p:nvSpPr>
        <p:spPr>
          <a:xfrm>
            <a:off x="10378440" y="128016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TW" altLang="en-US" sz="1100" b="1" dirty="0">
                <a:solidFill>
                  <a:srgbClr val="FFFFFF"/>
                </a:solidFill>
              </a:rPr>
              <a:t>補充內容</a:t>
            </a:r>
          </a:p>
        </p:txBody>
      </p:sp>
      <p:sp>
        <p:nvSpPr>
          <p:cNvPr id="4" name="文字方塊 4"/>
          <p:cNvSpPr/>
          <p:nvPr/>
        </p:nvSpPr>
        <p:spPr>
          <a:xfrm>
            <a:off x="841248" y="1828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文字方塊 5"/>
          <p:cNvSpPr/>
          <p:nvPr/>
        </p:nvSpPr>
        <p:spPr>
          <a:xfrm>
            <a:off x="1435608" y="1691640"/>
            <a:ext cx="4434840" cy="731520"/>
          </a:xfrm>
          <a:prstGeom prst="roundRect">
            <a:avLst>
              <a:gd name="adj" fmla="val 12000"/>
            </a:avLst>
          </a:prstGeom>
          <a:solidFill>
            <a:srgbClr val="DCEBF2"/>
          </a:solidFill>
          <a:ln w="15875">
            <a:solidFill>
              <a:srgbClr val="156082"/>
            </a:solidFill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/>
            <a:r>
              <a:rPr lang="zh-TW" altLang="en-US" sz="1300" b="1" dirty="0">
                <a:solidFill>
                  <a:srgbClr val="0E2841"/>
                </a:solidFill>
              </a:rPr>
              <a:t>AD 唯讀查詢帳號(bind DN)與 LDAPS</a:t>
            </a:r>
          </a:p>
        </p:txBody>
      </p:sp>
      <p:sp>
        <p:nvSpPr>
          <p:cNvPr id="6" name="文字方塊 6"/>
          <p:cNvSpPr/>
          <p:nvPr/>
        </p:nvSpPr>
        <p:spPr>
          <a:xfrm>
            <a:off x="841248" y="28346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文字方塊 7"/>
          <p:cNvSpPr/>
          <p:nvPr/>
        </p:nvSpPr>
        <p:spPr>
          <a:xfrm>
            <a:off x="1435608" y="2697480"/>
            <a:ext cx="4434840" cy="731520"/>
          </a:xfrm>
          <a:prstGeom prst="roundRect">
            <a:avLst>
              <a:gd name="adj" fmla="val 12000"/>
            </a:avLst>
          </a:prstGeom>
          <a:solidFill>
            <a:srgbClr val="DCEBF2"/>
          </a:solidFill>
          <a:ln w="15875">
            <a:solidFill>
              <a:srgbClr val="156082"/>
            </a:solidFill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/>
            <a:r>
              <a:rPr lang="zh-TW" altLang="en-US" sz="1300" b="1" dirty="0">
                <a:solidFill>
                  <a:srgbClr val="0E2841"/>
                </a:solidFill>
              </a:rPr>
              <a:t>有無 AD CS(內部 CA)與根憑證散佈方式</a:t>
            </a:r>
          </a:p>
        </p:txBody>
      </p:sp>
      <p:sp>
        <p:nvSpPr>
          <p:cNvPr id="8" name="文字方塊 8"/>
          <p:cNvSpPr/>
          <p:nvPr/>
        </p:nvSpPr>
        <p:spPr>
          <a:xfrm>
            <a:off x="841248" y="38404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文字方塊 9"/>
          <p:cNvSpPr/>
          <p:nvPr/>
        </p:nvSpPr>
        <p:spPr>
          <a:xfrm>
            <a:off x="1435608" y="3703320"/>
            <a:ext cx="4434840" cy="731520"/>
          </a:xfrm>
          <a:prstGeom prst="roundRect">
            <a:avLst>
              <a:gd name="adj" fmla="val 12000"/>
            </a:avLst>
          </a:prstGeom>
          <a:solidFill>
            <a:srgbClr val="DCEBF2"/>
          </a:solidFill>
          <a:ln w="15875">
            <a:solidFill>
              <a:srgbClr val="156082"/>
            </a:solidFill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/>
            <a:r>
              <a:rPr lang="zh-TW" altLang="en-US" sz="1300" b="1" dirty="0">
                <a:solidFill>
                  <a:srgbClr val="0E2841"/>
                </a:solidFill>
              </a:rPr>
              <a:t>能否建幾個一般 AD user 給 legacy app</a:t>
            </a:r>
          </a:p>
        </p:txBody>
      </p:sp>
      <p:sp>
        <p:nvSpPr>
          <p:cNvPr id="10" name="文字方塊 10"/>
          <p:cNvSpPr/>
          <p:nvPr/>
        </p:nvSpPr>
        <p:spPr>
          <a:xfrm>
            <a:off x="6236208" y="1828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文字方塊 11"/>
          <p:cNvSpPr/>
          <p:nvPr/>
        </p:nvSpPr>
        <p:spPr>
          <a:xfrm>
            <a:off x="6830568" y="1691640"/>
            <a:ext cx="4434840" cy="731520"/>
          </a:xfrm>
          <a:prstGeom prst="roundRect">
            <a:avLst>
              <a:gd name="adj" fmla="val 12000"/>
            </a:avLst>
          </a:prstGeom>
          <a:solidFill>
            <a:srgbClr val="DCEBF2"/>
          </a:solidFill>
          <a:ln w="15875">
            <a:solidFill>
              <a:srgbClr val="156082"/>
            </a:solidFill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/>
            <a:r>
              <a:rPr lang="zh-TW" altLang="en-US" sz="1300" b="1" dirty="0">
                <a:solidFill>
                  <a:srgbClr val="0E2841"/>
                </a:solidFill>
              </a:rPr>
              <a:t>license 是否涵蓋 RBAC / audit / C3</a:t>
            </a:r>
          </a:p>
        </p:txBody>
      </p:sp>
      <p:sp>
        <p:nvSpPr>
          <p:cNvPr id="12" name="文字方塊 12"/>
          <p:cNvSpPr/>
          <p:nvPr/>
        </p:nvSpPr>
        <p:spPr>
          <a:xfrm>
            <a:off x="6236208" y="28346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文字方塊 13"/>
          <p:cNvSpPr/>
          <p:nvPr/>
        </p:nvSpPr>
        <p:spPr>
          <a:xfrm>
            <a:off x="6830568" y="2697480"/>
            <a:ext cx="4434840" cy="731520"/>
          </a:xfrm>
          <a:prstGeom prst="roundRect">
            <a:avLst>
              <a:gd name="adj" fmla="val 12000"/>
            </a:avLst>
          </a:prstGeom>
          <a:solidFill>
            <a:srgbClr val="DCEBF2"/>
          </a:solidFill>
          <a:ln w="15875">
            <a:solidFill>
              <a:srgbClr val="156082"/>
            </a:solidFill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/>
            <a:r>
              <a:rPr lang="zh-TW" altLang="en-US" sz="1300" b="1" dirty="0">
                <a:solidFill>
                  <a:srgbClr val="0E2841"/>
                </a:solidFill>
              </a:rPr>
              <a:t>AD 群組是否巢狀、帳號大小寫與命名</a:t>
            </a:r>
          </a:p>
        </p:txBody>
      </p:sp>
      <p:sp>
        <p:nvSpPr>
          <p:cNvPr id="14" name="文字方塊 14"/>
          <p:cNvSpPr/>
          <p:nvPr/>
        </p:nvSpPr>
        <p:spPr>
          <a:xfrm>
            <a:off x="6236208" y="38404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TW" altLang="en-US" sz="16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文字方塊 15"/>
          <p:cNvSpPr/>
          <p:nvPr/>
        </p:nvSpPr>
        <p:spPr>
          <a:xfrm>
            <a:off x="6830568" y="3703320"/>
            <a:ext cx="4434840" cy="731520"/>
          </a:xfrm>
          <a:prstGeom prst="roundRect">
            <a:avLst>
              <a:gd name="adj" fmla="val 12000"/>
            </a:avLst>
          </a:prstGeom>
          <a:solidFill>
            <a:srgbClr val="DCEBF2"/>
          </a:solidFill>
          <a:ln w="15875">
            <a:solidFill>
              <a:srgbClr val="156082"/>
            </a:solidFill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/>
            <a:r>
              <a:rPr lang="zh-TW" altLang="en-US" sz="1300" b="1" dirty="0">
                <a:solidFill>
                  <a:srgbClr val="0E2841"/>
                </a:solidFill>
              </a:rPr>
              <a:t>Java 版本(建議 21)、Prometheus / Alertmanager 部署</a:t>
            </a:r>
          </a:p>
        </p:txBody>
      </p:sp>
      <p:sp>
        <p:nvSpPr>
          <p:cNvPr id="16" name="文字方塊 16"/>
          <p:cNvSpPr/>
          <p:nvPr/>
        </p:nvSpPr>
        <p:spPr>
          <a:xfrm>
            <a:off x="841248" y="4937760"/>
            <a:ext cx="10515600" cy="384048"/>
          </a:xfrm>
          <a:prstGeom prst="roundRect">
            <a:avLst>
              <a:gd name="adj" fmla="val 30000"/>
            </a:avLst>
          </a:prstGeom>
          <a:solidFill>
            <a:srgbClr val="DCEBDD"/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300" b="1" dirty="0">
                <a:solidFill>
                  <a:srgbClr val="14551C"/>
                </a:solidFill>
              </a:rPr>
              <a:t>第 3 項若可行:legacy app 走 Basic,不需要 client 憑證</a:t>
            </a:r>
          </a:p>
        </p:txBody>
      </p:sp>
      <p:sp>
        <p:nvSpPr>
          <p:cNvPr id="17" name="文字方塊 17"/>
          <p:cNvSpPr/>
          <p:nvPr/>
        </p:nvSpPr>
        <p:spPr>
          <a:xfrm>
            <a:off x="841248" y="5486400"/>
            <a:ext cx="10515600" cy="384048"/>
          </a:xfrm>
          <a:prstGeom prst="roundRect">
            <a:avLst>
              <a:gd name="adj" fmla="val 30000"/>
            </a:avLst>
          </a:prstGeom>
          <a:solidFill>
            <a:srgbClr val="F8DADA"/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zh-TW" altLang="en-US" sz="1300" b="1" dirty="0">
                <a:solidFill>
                  <a:srgbClr val="B3261E"/>
                </a:solidFill>
              </a:rPr>
              <a:t>尚未實測:多 controller、真實 AD 環境、Prometheus Basic 認證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428</Words>
  <Application>Microsoft Office PowerPoint</Application>
  <PresentationFormat>寬螢幕</PresentationFormat>
  <Paragraphs>53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Kafka 安全</vt:lpstr>
      <vt:lpstr>每個 KAKFA 組件 3 基本安全機制</vt:lpstr>
      <vt:lpstr>客戶先決條件</vt:lpstr>
      <vt:lpstr>USER 與服務區分方式</vt:lpstr>
      <vt:lpstr>TLS 傳輸加密 (SERVER 端共用)</vt:lpstr>
      <vt:lpstr>Kafka kraft mode 本體</vt:lpstr>
      <vt:lpstr>身分認證</vt:lpstr>
      <vt:lpstr>權限控管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207</cp:revision>
  <dcterms:created xsi:type="dcterms:W3CDTF">2026-10-03T12:51:02Z</dcterms:created>
  <dcterms:modified xsi:type="dcterms:W3CDTF">2026-10-03T14:08:49Z</dcterms:modified>
</cp:coreProperties>
</file>