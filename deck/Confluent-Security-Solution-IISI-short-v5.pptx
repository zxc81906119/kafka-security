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結論版,只講做法與結果。出處、實測依據與限制在各頁備忘稿,完整版有逐項前提與驗證狀態。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 本頁依入口分三種:人用瀏覽器或 CLI、人用腳本或 Postman、服務用程式。實測(demo):MDS 用 Basic 或 Bearer 都可,無認證 401;REST Proxy 用 Basic 或 Bearer 都可,無認證與錯密碼 401,只開 https;C3 自己的 API 用 Basic 回 401、Bearer 回 200、偽造 token 401,所以腳本要先向 MDS 用 AD 帳密換 token 再帶 Bearer;broker 9094 走 Kafka 協定,人用 CLI 或 Kafka client。「服務未開放」是本方案的設計,服務的 SCRAM 帳密只用於 broker。token 壽命與長時間腳本的重換尚未實測。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平台元件與 legacy app 不用 AD 帳密:各自出示 client 憑證,MDS 或 REST Proxy 依 CN 對映成 User: 主體,再由 MDS 簽發 token(restproxy 代 app 申請時走 /impersonate),帶 token 連 broker,由 broker 驗章並依 RBAC 授權。MDS 設 ssl.client.authentication=REQUESTED。bootstrap 對 MDS 直接出示憑證呼叫 REST API,不換 token(官方文件沒有明確建議,本方案依客戶條件選直接 mTLS),對 Kafka 另用 SCRAM 帳號。legacy app 與 C3 的流程見後面各頁。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連 broker 的 INTERNAL 9092 用 SCRAM(kafka-broker;controller 連 broker 用 kafka-controller),format 時用 SCRAM_BOOTSTRAP 預建;連 controller 的 9093 用 PLAIN 靜態帳號,broker 與 controller 都是,官方 SCRAM overview 寫 controller listener 不支援 SCRAM。授權用 super.users。broker 驗人登入時只驗密碼:先用查詢帳號搜尋使用者 DN,再用使用者本人的 DN 與密碼 simple bind;MDS 的 writer 定期向 AD 查詢群組並寫進 RBAC topic。LDAPS 信任庫只需放在連 AD 的 JVM。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祕密清冊:每一類祕密放哪、做什麼、外洩影響與輪替方式。共用憑證輪替依官方 CFK 文件順序:先更新信任庫、再換憑證、每個元件就緒才下一個;順序為 controller、broker、REST Proxy、C3。SCRAM 輪替採同帳號改密碼(官方 Kafka 與 Confluent SCRAM 文件沒有輪替流程,見 SCRAM 頁)。MDS 金鑰對、controller PLAIN 帳號與 AD 查詢帳號的輪替尚未實測;官方 CFK 對內部帳號與 MDS 的 LDAP bind 帳號用新舊並行。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逐項依據與驗證狀態見完整版第 27 頁(風險與對策)與第 29 頁(已驗證 vs 待驗證)。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完整版第 30 頁有八件事(另含 Java 版本與 Prometheus、Alertmanager 部署)。AD 群組巢狀、大小寫的實際行為尚未在真實 AD 驗證。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2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13.png"/><Relationship Id="rId4-created" Type="http://schemas.openxmlformats.org/officeDocument/2006/relationships/image" Target="../media/media14.png"/><Relationship Id="rId5-created" Type="http://schemas.openxmlformats.org/officeDocument/2006/relationships/image" Target="../media/media1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4.png"/><Relationship Id="rId9-created" Type="http://schemas.openxmlformats.org/officeDocument/2006/relationships/image" Target="../media/media14.png"/><Relationship Id="rId10-created" Type="http://schemas.openxmlformats.org/officeDocument/2006/relationships/image" Target="../media/media14.png"/><Relationship Id="rId11-created" Type="http://schemas.openxmlformats.org/officeDocument/2006/relationships/image" Target="../media/media14.png"/><Relationship Id="rId12-created" Type="http://schemas.openxmlformats.org/officeDocument/2006/relationships/image" Target="../media/media13.png"/><Relationship Id="rId13-created" Type="http://schemas.openxmlformats.org/officeDocument/2006/relationships/image" Target="../media/media14.png"/><Relationship Id="rId14-created" Type="http://schemas.openxmlformats.org/officeDocument/2006/relationships/image" Target="../media/media14.png"/><Relationship Id="rId15-created" Type="http://schemas.openxmlformats.org/officeDocument/2006/relationships/image" Target="../media/media14.png"/><Relationship Id="rId16-created" Type="http://schemas.openxmlformats.org/officeDocument/2006/relationships/image" Target="../media/media14.png"/><Relationship Id="rId17-created" Type="http://schemas.openxmlformats.org/officeDocument/2006/relationships/image" Target="../media/media13.png"/><Relationship Id="rId18-created" Type="http://schemas.openxmlformats.org/officeDocument/2006/relationships/image" Target="../media/media13.png"/><Relationship Id="rId19-created" Type="http://schemas.openxmlformats.org/officeDocument/2006/relationships/image" Target="../media/media13.png"/><Relationship Id="rId20-created" Type="http://schemas.openxmlformats.org/officeDocument/2006/relationships/image" Target="../media/media13.png"/><Relationship Id="rId21-created" Type="http://schemas.openxmlformats.org/officeDocument/2006/relationships/image" Target="../media/media13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20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結論版:每個元件怎麼做</a:t>
            </a:r>
          </a:p>
        </p:txBody>
      </p:sp>
      <p:sp>
        <p:nvSpPr>
          <p:cNvPr id="2" name="9f264e60-bb53-4c05-842d-d159c5246350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e9088a2-a53e-4dcf-8859-f5e8485a9800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c1d4183-939d-42e6-8956-70b5dd4f1ada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ae6c78d-00cc-4750-8979-a4966dec74c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46b3a56a-a581-414a-9673-1e77113b25ee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51650644-5a66-4093-b0c5-5c0edf93d83c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b4ee29c0-49b4-4581-a5c7-6a332296a187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4ee5efc8-d03d-4d27-9170-19a978dd33fc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ee5c55f9-bdde-4a94-a4a5-70c97a216498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3382380a-7054-46df-8a39-804a7908bc7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c7528fea-87b5-4e3d-ac5c-5f6970c921bb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73464538-453c-4ac2-8766-e148ee14f340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140f604e-13a2-4d4e-9463-fa13bfc25088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3acdd364-b12f-49db-98fe-527fc34408a3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7a662aaa-7d06-46bc-9eee-55ed645e5c28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bb0bb77c-0dad-4208-a4a7-69691e75169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373e72aa-176c-468e-9645-d3f00641d24d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51457cf5-028e-47f8-b3f4-3bd709fa3362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2e9f8fc5-e70f-479e-a189-c2ba1a79287e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3559725a-9d78-443b-ab09-e054e0e1cf03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a52b2bf4-efe2-456f-ba0b-2797dd983172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9dcaa51c-52c0-4dce-adaf-b1d69d8b086b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共用一組憑證,只做加密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不承載權限;身分另外處理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0c5bd32-daaa-41c5-9e3f-42cfb86a32e7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a93da162-cfa9-4923-b8b4-9678a0c60ca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abd41542-db12-40c7-a251-ce543f38bae7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62767ea8-7571-4c0a-8f96-4b2b98da04c8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b50ad74e-9f0a-4e09-bcd5-1b8275c38c37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a7ca86b0-70d7-4cb5-aa12-952d9057c287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969c4aa0-5e41-42eb-88f9-3dbd10afab4c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243abf8a-b11d-462e-b9cd-99c52e0be702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39e0b6bc-bb18-4273-8a2d-0f80795f9fcc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4c9ceab7-2c83-46a3-9edd-132fe37c93f6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1de98708-7d56-463a-b9e3-13ae40255d41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821d9744-d13f-48ae-ac68-d019ae18a381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25879498-09cd-4c08-8549-6efd37682001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e7db3a48-575d-43de-9f32-568662919236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fefa4df5-bbb4-4bf2-bded-8e7534e90733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6087ea0a-7a46-4d27-80fe-1de3b45bada0"/>
          <p:cNvSpPr/>
          <p:nvPr/>
        </p:nvSpPr>
        <p:spPr>
          <a:xfrm>
            <a:off x="6309360" y="181232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只做傳輸加密,不承載權限</a:t>
            </a:r>
            <a:endParaRPr lang="en-US" sz="1250" dirty="0"/>
          </a:p>
        </p:txBody>
      </p:sp>
      <p:sp>
        <p:nvSpPr>
          <p:cNvPr id="18" name="968454d7-4cb6-4198-b8ed-f54126266606"/>
          <p:cNvSpPr/>
          <p:nvPr/>
        </p:nvSpPr>
        <p:spPr>
          <a:xfrm>
            <a:off x="6309360" y="2363848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共用憑證的身分(CN)永遠不綁任何 role</a:t>
            </a:r>
            <a:endParaRPr lang="en-US" sz="1250" dirty="0"/>
          </a:p>
        </p:txBody>
      </p:sp>
      <p:sp>
        <p:nvSpPr>
          <p:cNvPr id="19" name="e9c9aac2-4cac-4bda-a319-0cc564c42d8a"/>
          <p:cNvSpPr/>
          <p:nvPr/>
        </p:nvSpPr>
        <p:spPr>
          <a:xfrm>
            <a:off x="6309360" y="2915371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涵蓋所有元件的主機名稱</a:t>
            </a:r>
            <a:endParaRPr lang="en-US" sz="1200" dirty="0"/>
          </a:p>
        </p:txBody>
      </p:sp>
      <p:sp>
        <p:nvSpPr>
          <p:cNvPr id="20" name="09a92f52-1b8c-4b22-ae20-19f3e7db977b"/>
          <p:cNvSpPr/>
          <p:nvPr/>
        </p:nvSpPr>
        <p:spPr>
          <a:xfrm>
            <a:off x="6309360" y="346689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平台元件另用 client 憑證換 token(c3、restproxy、bootstrap)</a:t>
            </a:r>
            <a:endParaRPr lang="en-US" sz="1200" dirty="0"/>
          </a:p>
        </p:txBody>
      </p:sp>
      <p:sp>
        <p:nvSpPr>
          <p:cNvPr id="21" name="2379e958-b95b-42dd-858e-0c85995e5c53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另匯入 AD 的 LDAPS CA root,一份設定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誰從哪裡進來:各元件的入口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人用瀏覽器或 CLI、人用腳本或 Postman、服務用程式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85d91027-e00c-4fc9-89cf-ac2423806ed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834640"/>
                <a:gridCol w="2103120"/>
                <a:gridCol w="17647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人(瀏覽器、CLI)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人(腳本、Postman)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服務(程式)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誰判斷授權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780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broker(9094)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 用 AD 帳密(PLAIN),broker 轉 AD 驗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不適用,走 Kafka 協定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帳密,broker 驗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broker(RBAC)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0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MDS(8091)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不直接使用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帳密),或先換 token 再用 Bearer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未開放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MDS(RBAC)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80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不直接使用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帳密),轉 MDS 換 token;Bearer 也可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用 client 憑證(見下一頁)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broker(依 token 主體)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0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瀏覽器輸入 AD 帳密,換本人 token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不收 Basic;先向 MDS 換 token,再用 Bearer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未開放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MDS(依本人)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b3f0542e-7954-46f7-a206-013db841b7bb"/>
          <p:cNvSpPr/>
          <p:nvPr/>
        </p:nvSpPr>
        <p:spPr>
          <a:xfrm>
            <a:off x="548640" y="5376013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所有入口都走 TLS;腳本的帳密放環境變數或密碼庫,不寫進檔案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平台元件與 legacy app 怎麼連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憑證換 token,RBAC 綁 User:CN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3e8ce8e3-7d7a-4a53-92e5-587972bb1a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2377440"/>
                <a:gridCol w="2103120"/>
                <a:gridCol w="2130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出示什麼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主體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誰判斷授權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→ MDS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→ 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發的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驗章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User:c3(背景)或本人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→ MDS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User:restproxy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→ 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發的 token(代 app 申請)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驗章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User:app 的 CN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Proxy(CN 對映)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User:app 的 CN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→ MDS、broker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憑證;SCRAM 帳密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MDS;broker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User:bootstrap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MDS;broker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efb02637-abf1-4d53-956c-3be40023fe6f"/>
          <p:cNvSpPr/>
          <p:nvPr/>
        </p:nvSpPr>
        <p:spPr>
          <a:xfrm>
            <a:off x="548640" y="5503288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憑證身分只能綁 User:,不能綁群組;c3 憑證等於管理員,restproxy 憑證可代人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基礎設施之間怎麼連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帳密類:內部互連與 AD 查詢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289e8948-ae98-447f-ab0f-1c98cca231d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194560"/>
                <a:gridCol w="1920240"/>
                <a:gridCol w="18562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出示什麼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主體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誰判斷授權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→ broker(9092)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SCRAM(kafka-broker、kafka-controller)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被連的 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User:kafka-*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→ controller(9093)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PLAIN 靜態內部帳號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User:kafka-*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→ AD(驗人登入)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查詢帳號搜尋 DN,再用使用者本人 DN 與密碼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AD(LDAPS)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無,只驗密碼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→ AD(群組同步)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查詢帳號帳密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AD(LDAPS)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7da9eb5b-3767-491d-baf3-b46bed8a269a"/>
          <p:cNvSpPr/>
          <p:nvPr/>
        </p:nvSpPr>
        <p:spPr>
          <a:xfrm>
            <a:off x="548640" y="516388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的 9093 不支援 SCRAM,所以用 PLAIN;不走 AD、不走 mTLS</a:t>
            </a:r>
            <a:endParaRPr lang="en-US" sz="1250" dirty="0"/>
          </a:p>
        </p:txBody>
      </p:sp>
      <p:sp>
        <p:nvSpPr>
          <p:cNvPr id="4" name="7879d29e-b010-4780-9dac-8adc7e87bb43"/>
          <p:cNvSpPr/>
          <p:nvPr/>
        </p:nvSpPr>
        <p:spPr>
          <a:xfrm>
            <a:off x="548640" y="5715412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才需要 LDAPS 信任庫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系統裡有哪些祕密,怎麼管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憑證、金鑰與帳密的清冊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4ac8343b-e02e-4f2d-a664-52f7dc3f65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2377440"/>
                <a:gridCol w="2194560"/>
                <a:gridCol w="18562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祕密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放哪裡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外洩影響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憑證與私鑰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各元件主機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加密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先更新信任庫,再換憑證,逐元件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憑證(c3、restproxy、bootstrap、legacy app)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各元件主機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換 token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等於管理員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換憑證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簽發與驗證 token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可偽造任何人的 token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待驗證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帳密(服務、kafka-*)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Kafka(KRaft)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認證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該帳號權限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同帳號改密碼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 的 PLAIN 靜態帳號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 9093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可連 controller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待驗證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查詢帳號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驗人、同步群組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可查 AD 全部使用者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待驗證(官方 CFK:新舊並行)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7e17a38-ba91-4e07-aaea-a5c1f41593c0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4b12b378-f587-49b9-984b-a5f7f21488de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9f0c6927-fa57-408e-bf27-7fd1d22c8711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ed70983e-74b6-4ef3-b673-3226d2cbf6b8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9037592d-8253-4ef2-ba78-6027d465d77a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b045f80f-6bb7-4343-b233-233ae124f5e3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8ed98c44-ae6e-48b0-b48c-b2c1bbf53ee6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583b6f65-c299-4666-acc6-62bf38f0a9e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8cc53939-f8ca-47d5-afcb-3fe20194486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bc4e2e83-3673-4b71-a3eb-036f003fed6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21fb9a7e-6fe3-460a-b2af-a34dd78e46a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6e7f8bc2-4cfe-49d3-b05c-8c897510df29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8ec84918-eb11-4f38-94b7-49c9187578d2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ecd68ea9-439c-4540-a0e5-22187bd4242b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a8339ca4-147f-4afe-93c2-8cc79595fbf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0e44990e-5861-4e8d-85da-b20bf6bb4af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9610e951-3d09-4132-accc-9e3404a0c3f4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129e216c-0c69-46f3-b5eb-7c9ce000f13c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ab8ea724-57f3-4d4f-837a-f68b0797638d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41c0a445-ff84-4fac-abdc-f1ab9bb7eb22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1c684e24-69a8-47b7-ac2c-7800725a5c06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637a4cca-e7a8-44c7-bc72-a0fa91f61334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dc2cb557-928b-4ca9-be13-65e9d6eb18e6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a0f5df25-5d17-4689-93a3-ee64acc9313e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117d8c98-4992-4c2a-b1b8-41e2a2a26707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4fe9f80a-2c85-47e0-9478-7685e23af21b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97a1d933-e37f-4743-b908-7b6b2a1d147f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aee06571-75fb-4212-b159-a0d023e8f1b5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7efe7055-56f1-4107-b09e-3c48ee2d5beb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35fa4731-3931-4f02-9d04-b3da222c0d77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cacdf318-20eb-47c3-926a-602c82ecc804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13909e9a-639c-46da-89a5-8f442cab7324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f81caf15-3d5a-426f-bb81-0fa742dda3c8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8a67fe8f-bdac-475b-85ec-6ca87f0e0236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7a552bf2-ba0d-4b01-9ce2-2a083e33ce34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116a6f8e-c5eb-4679-bf58-19ca327c1e1a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98af7392-2620-43f0-8d3e-cfb20cc7fa54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bbae1c93-11d8-4538-a373-251775f17417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ac5aed3e-3ce4-463f-b989-cd7b04a27354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49be2c11-2144-4fd1-8023-909c1c164aa5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db1068fa-1058-4db6-94bb-22d98617f655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498deab5-e724-4d39-8b0e-dd239b494a9a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0b8819a1-8649-4c8f-a829-5eca5d42b32e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61506847-6102-487c-9b2e-54c368189d95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2d603f96-d6fe-4891-9438-f1a65788c1e5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248d3469-0493-4927-9e1d-b5e4028c4526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7be333b0-2281-4bad-b791-79c45328dbd1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0a4cac3-5b85-44fa-ae76-bae6e3814f44"/>
          <p:cNvSpPr/>
          <p:nvPr/>
        </p:nvSpPr>
        <p:spPr>
          <a:xfrm>
            <a:off x="548640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b3a3c5c3-979b-4523-89d3-55a37334e8b1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5e855fe2-71be-432e-8528-383dac68aa1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0d9f25ca-1859-4796-b0c0-b5c5f3b05b4c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 內</a:t>
            </a:r>
            <a:endParaRPr lang="en-US" sz="1500" dirty="0"/>
          </a:p>
        </p:txBody>
      </p:sp>
      <p:sp>
        <p:nvSpPr>
          <p:cNvPr id="6" name="f78907cb-20ca-4de3-b6b9-bd0f292043fc"/>
          <p:cNvSpPr/>
          <p:nvPr/>
        </p:nvSpPr>
        <p:spPr>
          <a:xfrm>
            <a:off x="640080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不放 AD</a:t>
            </a:r>
            <a:endParaRPr lang="en-US" sz="1200" dirty="0"/>
          </a:p>
        </p:txBody>
      </p:sp>
      <p:sp>
        <p:nvSpPr>
          <p:cNvPr id="7" name="0b08a839-d245-4a8e-8358-8c2ce6d554de"/>
          <p:cNvSpPr/>
          <p:nvPr/>
        </p:nvSpPr>
        <p:spPr>
          <a:xfrm>
            <a:off x="4325112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8" name="d117ed52-207d-4177-963b-9367d4d9174c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9" name="ed3b1b2f-f91c-4761-84b7-7d94ad47dc1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312827f3-fd17-45b9-8b10-206545c28bf0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500" dirty="0"/>
          </a:p>
        </p:txBody>
      </p:sp>
      <p:sp>
        <p:nvSpPr>
          <p:cNvPr id="11" name="b491a41e-c835-4643-8e24-337367936c6a"/>
          <p:cNvSpPr/>
          <p:nvPr/>
        </p:nvSpPr>
        <p:spPr>
          <a:xfrm>
            <a:off x="4416552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</a:t>
            </a:r>
            <a:endParaRPr lang="en-US" sz="1200" dirty="0"/>
          </a:p>
        </p:txBody>
      </p:sp>
      <p:sp>
        <p:nvSpPr>
          <p:cNvPr id="12" name="fd105b86-1f0b-438e-b881-b63af37d7747"/>
          <p:cNvSpPr/>
          <p:nvPr/>
        </p:nvSpPr>
        <p:spPr>
          <a:xfrm>
            <a:off x="8101584" y="1685050"/>
            <a:ext cx="3538728" cy="16121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f8c0ab89-e0b4-4bd6-8873-edb73dfa235f"/>
          <p:cNvSpPr/>
          <p:nvPr/>
        </p:nvSpPr>
        <p:spPr>
          <a:xfrm>
            <a:off x="9596628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eb6eca9a-cee3-4304-b097-9c61f93d4ec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24326"/>
            <a:ext cx="307238" cy="307238"/>
          </a:xfrm>
          <a:prstGeom prst="rect">
            <a:avLst/>
          </a:prstGeom>
        </p:spPr>
      </p:pic>
      <p:sp>
        <p:nvSpPr>
          <p:cNvPr id="15" name="37687d56-e2a4-432a-822a-62d8aae18a57"/>
          <p:cNvSpPr/>
          <p:nvPr/>
        </p:nvSpPr>
        <p:spPr>
          <a:xfrm>
            <a:off x="8174736" y="2406272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搭配 TLS</a:t>
            </a:r>
            <a:endParaRPr lang="en-US" sz="1500" dirty="0"/>
          </a:p>
        </p:txBody>
      </p:sp>
      <p:sp>
        <p:nvSpPr>
          <p:cNvPr id="16" name="bdf2b423-f0cb-4bf4-9f0e-85feba54f887"/>
          <p:cNvSpPr/>
          <p:nvPr/>
        </p:nvSpPr>
        <p:spPr>
          <a:xfrm>
            <a:off x="8193024" y="2788096"/>
            <a:ext cx="3355848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200" dirty="0"/>
          </a:p>
        </p:txBody>
      </p:sp>
      <p:sp>
        <p:nvSpPr>
          <p:cNvPr id="17" name="ad7d7cf8-dfdc-4323-bf4f-a4660738c6f0"/>
          <p:cNvSpPr/>
          <p:nvPr/>
        </p:nvSpPr>
        <p:spPr>
          <a:xfrm>
            <a:off x="548640" y="3551744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輪替:同帳號改密碼</a:t>
            </a:r>
            <a:endParaRPr lang="en-US" sz="1400" dirty="0"/>
          </a:p>
        </p:txBody>
      </p:sp>
      <p:sp>
        <p:nvSpPr>
          <p:cNvPr id="18" name="1ebe5c7c-169b-45c2-998a-67c6d7299549"/>
          <p:cNvSpPr/>
          <p:nvPr/>
        </p:nvSpPr>
        <p:spPr>
          <a:xfrm>
            <a:off x="548640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19" name="6b024f7d-7811-4c6b-b9e5-3b0862f254aa"/>
          <p:cNvSpPr/>
          <p:nvPr/>
        </p:nvSpPr>
        <p:spPr>
          <a:xfrm>
            <a:off x="3063240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0" name="aedb2752-07f9-4adb-9037-a16577a20163"/>
          <p:cNvSpPr/>
          <p:nvPr/>
        </p:nvSpPr>
        <p:spPr>
          <a:xfrm>
            <a:off x="3410712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21" name="8991abd2-a51c-40ac-bafc-dc2fb622a100"/>
          <p:cNvSpPr/>
          <p:nvPr/>
        </p:nvSpPr>
        <p:spPr>
          <a:xfrm>
            <a:off x="5925312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ea70999d-4815-4cd3-92aa-992b0647bb63"/>
          <p:cNvSpPr/>
          <p:nvPr/>
        </p:nvSpPr>
        <p:spPr>
          <a:xfrm>
            <a:off x="6272784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23" name="0d88b89d-007d-4f44-855e-a334b8689588"/>
          <p:cNvSpPr/>
          <p:nvPr/>
        </p:nvSpPr>
        <p:spPr>
          <a:xfrm>
            <a:off x="8787384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4" name="f1035c2a-03d0-486d-b58b-f221733e02b3"/>
          <p:cNvSpPr/>
          <p:nvPr/>
        </p:nvSpPr>
        <p:spPr>
          <a:xfrm>
            <a:off x="9134856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25" name="88535d24-6e39-4a7d-b7c9-66557bf14628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舊密碼對新連線立即失效;已連線的 client 不受影響,改完立刻換 client</a:t>
            </a:r>
            <a:endParaRPr lang="en-US" sz="1400" dirty="0"/>
          </a:p>
        </p:txBody>
      </p:sp>
      <p:sp>
        <p:nvSpPr>
          <p:cNvPr id="26" name="bb81bf80-5136-4188-9a78-286dd9e06004"/>
          <p:cNvSpPr/>
          <p:nvPr/>
        </p:nvSpPr>
        <p:spPr>
          <a:xfrm>
            <a:off x="548640" y="5460863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不能有失敗窗口的服務:改用新帳號並行(client 要改帳號、role 要重綁)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a0ea20e-6205-4cf7-85c4-55014390aa31"/>
          <p:cNvSpPr/>
          <p:nvPr/>
        </p:nvSpPr>
        <p:spPr>
          <a:xfrm>
            <a:off x="54864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652e61eb-3315-4661-9d77-a5e3d22a4427"/>
          <p:cNvSpPr/>
          <p:nvPr/>
        </p:nvSpPr>
        <p:spPr>
          <a:xfrm>
            <a:off x="139446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cd973e18-1824-4ccb-a0e4-bb67f6e458c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515161" y="2094025"/>
            <a:ext cx="307238" cy="307238"/>
          </a:xfrm>
          <a:prstGeom prst="rect">
            <a:avLst/>
          </a:prstGeom>
        </p:spPr>
      </p:pic>
      <p:sp>
        <p:nvSpPr>
          <p:cNvPr id="5" name="c3526a86-0ded-4eab-83db-b8adc11a021c"/>
          <p:cNvSpPr/>
          <p:nvPr/>
        </p:nvSpPr>
        <p:spPr>
          <a:xfrm>
            <a:off x="62179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500" dirty="0"/>
          </a:p>
        </p:txBody>
      </p:sp>
      <p:sp>
        <p:nvSpPr>
          <p:cNvPr id="6" name="e4cd0019-8b48-476c-9bf2-a98aa1a658de"/>
          <p:cNvSpPr/>
          <p:nvPr/>
        </p:nvSpPr>
        <p:spPr>
          <a:xfrm>
            <a:off x="64008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出示 client 憑證</a:t>
            </a:r>
            <a:endParaRPr lang="en-US" sz="1200" dirty="0"/>
          </a:p>
        </p:txBody>
      </p:sp>
      <p:sp>
        <p:nvSpPr>
          <p:cNvPr id="7" name="06e6bddd-a098-4267-bc1e-44e073eb0b39"/>
          <p:cNvSpPr/>
          <p:nvPr/>
        </p:nvSpPr>
        <p:spPr>
          <a:xfrm>
            <a:off x="278892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c451a209-a67a-4dbb-baf7-e45173137bfc"/>
          <p:cNvSpPr/>
          <p:nvPr/>
        </p:nvSpPr>
        <p:spPr>
          <a:xfrm>
            <a:off x="342900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9" name="001b6718-8460-4e6c-aaf1-0208344432dc"/>
          <p:cNvSpPr/>
          <p:nvPr/>
        </p:nvSpPr>
        <p:spPr>
          <a:xfrm>
            <a:off x="427482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0" name="7c1b4d72-5707-48a1-846c-5e7c0846b5d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395521" y="2094025"/>
            <a:ext cx="307238" cy="307238"/>
          </a:xfrm>
          <a:prstGeom prst="rect">
            <a:avLst/>
          </a:prstGeom>
        </p:spPr>
      </p:pic>
      <p:sp>
        <p:nvSpPr>
          <p:cNvPr id="11" name="6ad97e77-f06f-4849-8f81-116881c4f7a8"/>
          <p:cNvSpPr/>
          <p:nvPr/>
        </p:nvSpPr>
        <p:spPr>
          <a:xfrm>
            <a:off x="350215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2" name="5b3a8cec-edbf-422c-afbc-6e5f2e4a0b5f"/>
          <p:cNvSpPr/>
          <p:nvPr/>
        </p:nvSpPr>
        <p:spPr>
          <a:xfrm>
            <a:off x="352044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 CN → 主體</a:t>
            </a:r>
            <a:endParaRPr lang="en-US" sz="1200" dirty="0"/>
          </a:p>
        </p:txBody>
      </p:sp>
      <p:sp>
        <p:nvSpPr>
          <p:cNvPr id="13" name="9fbf5b50-312e-4f6b-9a25-31f80a748c10"/>
          <p:cNvSpPr/>
          <p:nvPr/>
        </p:nvSpPr>
        <p:spPr>
          <a:xfrm>
            <a:off x="566928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a6f24a69-0bc1-4a92-8b7d-35fede73e4ae"/>
          <p:cNvSpPr/>
          <p:nvPr/>
        </p:nvSpPr>
        <p:spPr>
          <a:xfrm>
            <a:off x="630936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e72839d3-6587-4a47-a46a-d1870ee328e0"/>
          <p:cNvSpPr/>
          <p:nvPr/>
        </p:nvSpPr>
        <p:spPr>
          <a:xfrm>
            <a:off x="715518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d7200edf-1bd4-48b5-9ccc-b9781c04bc1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275881" y="2094025"/>
            <a:ext cx="307238" cy="307238"/>
          </a:xfrm>
          <a:prstGeom prst="rect">
            <a:avLst/>
          </a:prstGeom>
        </p:spPr>
      </p:pic>
      <p:sp>
        <p:nvSpPr>
          <p:cNvPr id="17" name="753c83aa-62eb-40ed-ab10-f58390643808"/>
          <p:cNvSpPr/>
          <p:nvPr/>
        </p:nvSpPr>
        <p:spPr>
          <a:xfrm>
            <a:off x="638251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500" dirty="0"/>
          </a:p>
        </p:txBody>
      </p:sp>
      <p:sp>
        <p:nvSpPr>
          <p:cNvPr id="18" name="adf60ef8-aa3d-4f4b-bd8a-ebeaa994049e"/>
          <p:cNvSpPr/>
          <p:nvPr/>
        </p:nvSpPr>
        <p:spPr>
          <a:xfrm>
            <a:off x="640080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代為申請 token</a:t>
            </a:r>
            <a:endParaRPr lang="en-US" sz="1200" dirty="0"/>
          </a:p>
        </p:txBody>
      </p:sp>
      <p:sp>
        <p:nvSpPr>
          <p:cNvPr id="19" name="31cc0dec-2c74-4ed7-abe7-fcdf71cdf209"/>
          <p:cNvSpPr/>
          <p:nvPr/>
        </p:nvSpPr>
        <p:spPr>
          <a:xfrm>
            <a:off x="854964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2cb1ee17-56ca-4273-9eed-026f196f4821"/>
          <p:cNvSpPr/>
          <p:nvPr/>
        </p:nvSpPr>
        <p:spPr>
          <a:xfrm>
            <a:off x="918972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0701b943-cf1a-403b-8d6c-c11c379143ec"/>
          <p:cNvSpPr/>
          <p:nvPr/>
        </p:nvSpPr>
        <p:spPr>
          <a:xfrm>
            <a:off x="1003554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2" name="fc2836b2-b316-4ea8-9d3e-81c55d7934c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2094025"/>
            <a:ext cx="307238" cy="307238"/>
          </a:xfrm>
          <a:prstGeom prst="rect">
            <a:avLst/>
          </a:prstGeom>
        </p:spPr>
      </p:pic>
      <p:sp>
        <p:nvSpPr>
          <p:cNvPr id="23" name="d1372aee-8136-4cc7-be0e-c40f61a5afc6"/>
          <p:cNvSpPr/>
          <p:nvPr/>
        </p:nvSpPr>
        <p:spPr>
          <a:xfrm>
            <a:off x="926287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24" name="b5251360-44ff-4d59-9b67-484963197b0d"/>
          <p:cNvSpPr/>
          <p:nvPr/>
        </p:nvSpPr>
        <p:spPr>
          <a:xfrm>
            <a:off x="928116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驗章,依 token 授權</a:t>
            </a:r>
            <a:endParaRPr lang="en-US" sz="1200" dirty="0"/>
          </a:p>
        </p:txBody>
      </p:sp>
      <p:sp>
        <p:nvSpPr>
          <p:cNvPr id="25" name="2b71da1c-cbfd-4def-b87c-a4dbfb6cd170"/>
          <p:cNvSpPr/>
          <p:nvPr/>
        </p:nvSpPr>
        <p:spPr>
          <a:xfrm>
            <a:off x="548640" y="3975992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人走 Basic(AD 帳密)經 REST Proxy,不用憑證</a:t>
            </a:r>
            <a:endParaRPr lang="en-US" sz="1300" dirty="0"/>
          </a:p>
        </p:txBody>
      </p:sp>
      <p:sp>
        <p:nvSpPr>
          <p:cNvPr id="26" name="59610ecc-4791-41ff-917c-ee1b3fa9c56d"/>
          <p:cNvSpPr/>
          <p:nvPr/>
        </p:nvSpPr>
        <p:spPr>
          <a:xfrm>
            <a:off x="548640" y="4527516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憑證身分只能綁 User:,不能綁群組</a:t>
            </a:r>
            <a:endParaRPr lang="en-US" sz="1300" dirty="0"/>
          </a:p>
        </p:txBody>
      </p:sp>
      <p:sp>
        <p:nvSpPr>
          <p:cNvPr id="27" name="bc8a7f7d-2118-48f1-b1fd-3b0e3dc9b82a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憑證可代人:特權身分要列入保護清單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兩種操作,兩種身分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fe674ef-2ae5-4592-bf3f-4dc9dfbca1fd"/>
          <p:cNvSpPr/>
          <p:nvPr/>
        </p:nvSpPr>
        <p:spPr>
          <a:xfrm>
            <a:off x="548640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b7c0965-f0bd-4191-bff8-d8c8bc11f47a"/>
          <p:cNvSpPr/>
          <p:nvPr/>
        </p:nvSpPr>
        <p:spPr>
          <a:xfrm>
            <a:off x="777240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4ece7e20-8473-472a-b2dc-49119557535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88934"/>
            <a:ext cx="409651" cy="409651"/>
          </a:xfrm>
          <a:prstGeom prst="rect">
            <a:avLst/>
          </a:prstGeom>
        </p:spPr>
      </p:pic>
      <p:sp>
        <p:nvSpPr>
          <p:cNvPr id="5" name="a8ef2687-2911-47b5-add1-ec7ed49be2f1"/>
          <p:cNvSpPr/>
          <p:nvPr/>
        </p:nvSpPr>
        <p:spPr>
          <a:xfrm>
            <a:off x="1691640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2000" dirty="0"/>
          </a:p>
        </p:txBody>
      </p:sp>
      <p:sp>
        <p:nvSpPr>
          <p:cNvPr id="6" name="c028e0ac-c1a8-4d71-8a93-99e7fa12702e"/>
          <p:cNvSpPr/>
          <p:nvPr/>
        </p:nvSpPr>
        <p:spPr>
          <a:xfrm>
            <a:off x="822960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帳密登入,取得 token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帶本人的 token 連 broker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授權依本人的權限</a:t>
            </a:r>
            <a:endParaRPr lang="en-US" sz="1400" dirty="0"/>
          </a:p>
        </p:txBody>
      </p:sp>
      <p:sp>
        <p:nvSpPr>
          <p:cNvPr id="7" name="407a883f-b31c-40c8-b36d-da2cf7025928"/>
          <p:cNvSpPr/>
          <p:nvPr/>
        </p:nvSpPr>
        <p:spPr>
          <a:xfrm>
            <a:off x="6199632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e6faca2a-0d70-4df7-b9f2-cbfde684740d"/>
          <p:cNvSpPr/>
          <p:nvPr/>
        </p:nvSpPr>
        <p:spPr>
          <a:xfrm>
            <a:off x="6428232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f6ca8f5-02b9-4702-a3dd-39caef426f6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9166" y="2088934"/>
            <a:ext cx="409651" cy="409651"/>
          </a:xfrm>
          <a:prstGeom prst="rect">
            <a:avLst/>
          </a:prstGeom>
        </p:spPr>
      </p:pic>
      <p:sp>
        <p:nvSpPr>
          <p:cNvPr id="10" name="420eea19-701b-40da-ad2c-36518af4582f"/>
          <p:cNvSpPr/>
          <p:nvPr/>
        </p:nvSpPr>
        <p:spPr>
          <a:xfrm>
            <a:off x="7342632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2000" dirty="0"/>
          </a:p>
        </p:txBody>
      </p:sp>
      <p:sp>
        <p:nvSpPr>
          <p:cNvPr id="11" name="6cf6bbb9-8eca-4fce-8a7b-63bebc0958da"/>
          <p:cNvSpPr/>
          <p:nvPr/>
        </p:nvSpPr>
        <p:spPr>
          <a:xfrm>
            <a:off x="6473952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身分是 User:c3,需要 SystemAdmin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不依賴任何人的帳號</a:t>
            </a:r>
            <a:endParaRPr lang="en-US" sz="1400" dirty="0"/>
          </a:p>
        </p:txBody>
      </p:sp>
      <p:sp>
        <p:nvSpPr>
          <p:cNvPr id="12" name="51e2a7cd-459b-40b7-a965-3ea1e4ef2442"/>
          <p:cNvSpPr/>
          <p:nvPr/>
        </p:nvSpPr>
        <p:spPr>
          <a:xfrm>
            <a:off x="548640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憑證等於管理員:私鑰要保護</a:t>
            </a:r>
            <a:endParaRPr lang="en-US" sz="1300" dirty="0"/>
          </a:p>
        </p:txBody>
      </p:sp>
      <p:sp>
        <p:nvSpPr>
          <p:cNvPr id="13" name="ac0a6603-be97-4b66-bd49-66fbdb299bfa"/>
          <p:cNvSpPr/>
          <p:nvPr/>
        </p:nvSpPr>
        <p:spPr>
          <a:xfrm>
            <a:off x="6199632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只用 OAUTHBEARER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b5812175-8a51-43bf-9fcb-e72e310599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850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10c6d055-08e9-4b23-88c4-c6d289c4afb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278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RBAC、audit、C3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