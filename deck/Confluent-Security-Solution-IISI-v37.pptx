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  <p:sldId r:id="rId48-created" id="285"/>
    <p:sldId r:id="rId49-created" id="286"/>
    <p:sldId r:id="rId50-created" id="287"/>
    <p:sldId r:id="rId51-created" id="288"/>
    <p:sldId r:id="rId52-created" id="289"/>
    <p:sldId r:id="rId53-created" id="290"/>
    <p:sldId r:id="rId54-created" id="291"/>
    <p:sldId r:id="rId55-created" id="292"/>
    <p:sldId r:id="rId56-created" id="293"/>
    <p:sldId r:id="rId57-created" id="29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Relationship Id="rId48-created" Type="http://schemas.openxmlformats.org/officeDocument/2006/relationships/slide" Target="slides/slide37.xml"/><Relationship Id="rId49-created" Type="http://schemas.openxmlformats.org/officeDocument/2006/relationships/slide" Target="slides/slide38.xml"/><Relationship Id="rId50-created" Type="http://schemas.openxmlformats.org/officeDocument/2006/relationships/slide" Target="slides/slide39.xml"/><Relationship Id="rId51-created" Type="http://schemas.openxmlformats.org/officeDocument/2006/relationships/slide" Target="slides/slide40.xml"/><Relationship Id="rId52-created" Type="http://schemas.openxmlformats.org/officeDocument/2006/relationships/slide" Target="slides/slide41.xml"/><Relationship Id="rId53-created" Type="http://schemas.openxmlformats.org/officeDocument/2006/relationships/slide" Target="slides/slide42.xml"/><Relationship Id="rId54-created" Type="http://schemas.openxmlformats.org/officeDocument/2006/relationships/slide" Target="slides/slide43.xml"/><Relationship Id="rId55-created" Type="http://schemas.openxmlformats.org/officeDocument/2006/relationships/slide" Target="slides/slide44.xml"/><Relationship Id="rId56-created" Type="http://schemas.openxmlformats.org/officeDocument/2006/relationships/slide" Target="slides/slide45.xml"/><Relationship Id="rId57-created" Type="http://schemas.openxmlformats.org/officeDocument/2006/relationships/slide" Target="slides/slide4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封面。這是第一版草稿,內容依客戶前提設計;之後會依回饋調整並套用公司模板。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六個前提:AD 只有 user/group(沒有服務帳號);希望全部共用一組 PK+憑證;RHEL 9 手動部署、尚無 Ansible;legacy app 只能 HTTP;權限要依 AD 群組 + RBAC 分層(不同職責不同權限,唯讀只是其中一層);範圍限於 Kafka、REST Proxy、C3。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憑證更換實驗(demo/spike/cert-rotation,單節點 Kafka、SSL listener 要求 client 憑證,可動態換 keystore/truststore):T1 只換 server 憑證(同 CA、新金鑰):用 kafka-configs 動態更新 listener.name.ssl.ssl.keystore.location,不重啟,client 設定完全不動仍通過(動態更新只涵蓋 Kafka listener;在 demo 實測 MDS 8091 埠不會跟著換,broker 仍要重啟,REST Proxy、C3 本來就要重啟,所以本方案以 rolling restart 為主,動態更新價值有限)。T4 根憑證用同一把金鑰重新簽發:client 信任庫只放新根、server 信任庫換成新根,舊的 server 與 client 憑證都照常通過。T2 CA 換金鑰且順序錯(先換 server 憑證、client 信任庫仍是舊根):client 出現 PKIX path building failed;還原後恢復。T3 正確順序:①server 與 client 信任庫先放新舊兩個根(舊 client 憑證與新舊 server 憑證都通過)→②換 server 憑證→③重簽 client 憑證(新 CA)→④移除舊根:新 client 憑證通過,尚未重簽的舊 client 憑證被拒。未驗證:長駐 client 是否需要重啟才會重新載入信任庫(以每次新啟動的 client 模擬);有中繼 CA 的情況。MDS / REST Proxy / C3 換憑證需要重啟:已在 demo 全元件演練實測(換檔不重啟,各埠仍出示舊憑證),見下一頁;這些元件有沒有不重啟的動態重載方式未驗證。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在實際 demo 環境(demo/spike/cert-rotation/rotate-demo.sh,log 為 rotate-demo.log)用「新根 CA2(新金鑰)」演練整套更換:階段 1:信任庫換成 {CA1,CA2},controller、broker1、broker2、REST Proxy、C3 全部重啟。階段 2:server 憑證換成 CA2 簽發;檔案換好、尚未重啟時,controller 9093、broker 9094 與 MDS 8091、REST Proxy 8086、C3 9022 仍出示舊憑證;依序重啟後全部變成新簽發者;過程中包含 controller 與 broker1 已換、broker2 還沒換的混合狀態,Kafka 人員登入、MDS 登入、REST Proxy(人與 legacy 憑證)、C3 網頁皆正常。階段 3:client 憑證(c3、restproxy、bootstrap、legacy-orders)用新根重簽,CN 不變所以 RBAC 不用重綁;REST Proxy、C3 重啟(換了檔案要重啟才載入;其實舊憑證在移除舊根前仍有效,階段 3 就重啟是為了在移除舊根之前先驗證新憑證,出問題還能回頭);controller 與 broker 沒有 client 憑證所以不用;legacy app 與 bootstrap 是直接讀檔,換檔即生效;新舊根並存期間,舊 CA 簽發的 legacy 憑證仍被接受。階段 4:信任庫只留新根,全部重啟;舊 CA 簽發的 legacy 憑證被拒(TLS 握手失敗),仍只信任舊根的 client 連不上新憑證。順序的依據:Confluent for Kubernetes 憑證管理文件的 CA 輪替流程是「步驟為主」:先更新所有元件的信任庫、確認每個元件都有新舊兩個 CA,再更新憑證;每個元件 rollout 完成才繼續。不是「一個元件做完全部步驟再換下一個」(那樣會在其他元件還沒信任新根時就出示新憑證)。也不是「一個步驟同時重啟全部」:每個步驟內逐個元件、逐台 rolling。該文件沒有規定元件之間的順序;本頁的 controller → broker(一次一台)→ REST Proxy → C3 是參考官方升級文件的順序(KRaft controller 先、broker 次之、Control Center 最後),不是憑證輪替文件的明文規定。注意:本頁以「重啟」載入為準,這也是官方的建議做法:Confluent for Kubernetes 憑證管理文件寫「Always renew truststores for all components before renewing certificates」、驗證每個元件信任庫都有新舊兩個 CA、「Wait for each component’s rollout to complete before proceeding」、先在非正式環境演練。動態載入是選項:官方 dynamic config 頁說 Kafka 的 keystore / truststore 可用 listener 前綴動態更新、只影響新連線(inter-broker listener 要求新 keystore 被該 listener 信任庫信任);CFK 文件的動態憑證載入只涵蓋 Kafka 與 Kafka REST、且只到個別 listener。Kafka 的 listener keystore / truststore 可用 kafka-configs 動態更新、不用重啟 JVM(單節點實驗實測),這不是 rolling restart;但 demo 全元件演練沒有使用動態更新,MDS 埠(Jetty)、REST Proxy、C3 是否能不重啟載入新憑證未驗證。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官方:SCRAM overview 頁說 KRaft controller 之間不支援 SCRAM、broker→controller 可用;但 KRaft security 頁的寫法不同,官方文件間不一致,實測 3 個 controller 用 SCRAM-SHA-512:互相認證失敗(Invalid user credentials)、選不出 leader,與 SCRAM overview 頁一致(推測原因:SCRAM 憑證存放在 metadata log,quorum 還沒形成就無法驗證,此為推測)。主 demo 僅 1 個 controller;另以獨立實驗(spike/multi-controller:3 controller + 1 broker,SASL_PLAINTEXT)驗證 PLAIN:三個 voter 組成 quorum,停掉 leader 後重新選舉、重啟後回到 follower 無 lag,未驗證搭配 TLS / RBAC。另:官方 MDS 設定頁說 RBAC 下 controller 應設 confluent.metadata.server.kraft.controller.enabled=true,且只有 MDS writer broker 連 LDAP;本專案原以為 controller 需要 ldap.*,重建環境後重測已推翻:無 LDAP 的 controller 仍能依群組授權(ch11 通過),現採官方設定。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人用 SASL/PLAIN,broker 把帳密交給 LDAP(AD)驗證並取得群組;服務用 SCRAM;平台元件用 OAUTHBEARER(MDS token)。INTERNAL 埠的使用者:broker 間用 kafka-broker;controller 連 broker(讀 RBAC 資料、audit 匯出)用 kafka-controller,皆為 SCRAM 與 super user。LDAP callback 不用在 inter-broker:客戶 AD 沒有服務帳號,官方也不建議 PLAIN + LDAP。INTERNAL 埠只是另一個 SASL 埠,任何有效 SCRAM 帳號都能「認證」進去(授權仍生效),所以必須用防火牆限制。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官方:MDS 在異動 RBAC 時把最新資訊寫入 topic,broker 讀取後 cache 在本地授權;群組同步只有 MDS writer broker 週期性向 LDAP 取(實測:LDAP 日誌同一時間只有 writer 查詢,broker2 重啟後 writer 換成 broker1;writer 把使用者→群組寫進 _confluent-metadata-auth,內容含 RoleBinding、User(群組對照)、Status(writerBrokerId),其他 broker 消費該 topic 更新本地快取;leader 在非 writer 的 partition 上,加入群組 3 秒內生效、移出約 6 秒)。注意:使用者認證(MDS 以使用者帳密 bind、CLIENT 埠 PLAIN+LDAP callback)由各 broker 自己連 AD,所以 AD 防火牆來源要涵蓋所有 broker(controller 不需要 LDAP 設定,實測)。客戶前提:需要 AD 唯讀查詢帳號(bind DN,只讀 user/group OU,建議 LDAPS);使用者密碼由 simple bind 以使用者自己的 DN 驗證。token:平台元件(C3、REST Proxy 自己的工作)由 client 函式庫重新換 token,不需人工;人用 C3 登入有 6 小時上限,到期重新登入;實測從 AD 刪除使用者後,已簽發 token 仍可呼叫 MDS(200),Basic 重新登入回 401,離職流程要考慮最長一個 token 壽命的空窗(demo 設 1 小時;設定 confluent.metadata.server.token.max.lifetime.ms)。writer 是什麼:MDS 內嵌在多台 broker,但同一時間只有一台 broker 擔任 writer(RBAC topic 的 Status 記錄會寫 writerBrokerId 與 generationId;實測 broker2 重啟後 writer 由 broker2 換成 broker1)。實測 LDAP 日誌:群組搜尋只由 writer 發出,結果寫進 RBAC topic,其他 broker 消費該 topic 更新快取。writer 的挑選方式與角色綁定寫入是否一律經過 writer,未驗證。人登入的 LDAP 流程(實測,PLAIN+LDAP 與 MDS Basic 皆相同):先用唯讀 bind 帳號搜尋使用者取得完整 DN,再用使用者自己的 DN 與密碼做一次 simple bind,成功即密碼正確,然後斷線。MDS 的 Bearer 是 MDS 自己簽發的 token(JWT),不是外部 OAuth2 token;Kafka 的 OAUTHBEARER 只是攜帶這個 token 的機制名稱。機器 / 平台元件以 client 憑證向 MDS 認證(MDS 設 REQUESTED,所以人 Basic 與機器憑證可並存),憑證 CN 經對映規則成為主體,只能用 User: 綁 role(官方 mTLS RBAC 頁:憑證主體不支援群組授權);REST Proxy 另可用自己的憑證代機器呼叫 /impersonate 申請 token(需列入 impersonation super users)。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的缺點是密碼無自動到期,所以配套:密碼庫、新帳號並行再停舊帳號的輪替流程(第 9 章實測)。並行做法:建立不同名稱的新帳號(kafka-configs --add-config SCRAM-SHA-512=[password=…],不會與舊帳號衝突)→ 對新主體綁相同 role(RBAC 綁的是主體名稱,新帳號必須重綁)→ 應用逐步切換 → 全部切完後刪舊帳號憑證與舊 binding。實測:對同一帳號同一機制再設一次密碼會直接取代,舊密碼立即失效,所以不能用來做平滑切換;同一帳號可同時有 SCRAM-SHA-256 與 SCRAM-SHA-512 兩個憑證,listener 兩機制都啟用時兩組密碼同時可登入(實測);動態更新 listener.name.client.sasl.enabled.mechanisms 被接受但沒有生效,需改設定檔並重啟 broker。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token。官方 AuthenticationHandler 範例是 REQUIRED(純 mTLS);人機並存用 REQUESTED 是本專案實測組合。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看起來在本地用 MDS 公鑰驗章(實測推論:偽造 token 被擋時 MDS 沒有對應 401 紀錄),但仍會以使用者 token 呼叫 MDS 查可見範圍。登入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C3 next-gen 需要 Prometheus 與 Alertmanager 另外部署。官方支援 C3 與它們之間的 TLS + HTTP Basic(7.5 以後)與 mTLS。本 demo 沒啟用,所以實測看到無認證;啟用後的設定與效果尚未實測。沒有 Schema Registry 時,C3 預設連 localhost:8081,把 schema.registry.enable 設為 false 可關閉該連線。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查不到,原因未明;c3 的事件在本 demo 為降噪而排除(實測不排除時 C3 每幾秒產生 ListOffsets/OffsetFetch,洗版審計 topic)。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全景:人經 C3、REST Proxy 或 CLI 進入;機器經 SCRAM 直連或 client 憑證經 REST Proxy;所有身分的授權由 MDS 的 RBAC 集中判斷,broker 本地 cache。群組同步由 MDS writer broker 負責;使用者認證(MDS Basic、CLIENT 埠 PLAIN+LDAP)由各 broker 連 AD,AD 防火牆來源要涵蓋所有 broker(demo 實測 controller 也需 LDAP 設定)。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人的三條路徑:C3(Basic→token→Bearer)、CLI 直連 broker(SASL/PLAIN + LDAP callback)、REST Proxy(Basic 轉 MDS 換 token)。授權都依 AD 群組。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機器三條路徑:應用用 SCRAM 直連;legacy app 用 client 憑證經 REST Proxy;平台元件(C3、REST Proxy)用 client 憑證向 MDS 換 token。憑證身分只能綁 User:,不能綁群組。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憑證最少化:1 組 server 憑證 + c3、restproxy 兩張長期 client 憑證 + 1 張備用(bootstrap)。legacy app 的憑證可省,前提是客戶能建幾個一般 AD user 讓 app 走 Basic。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順序:憑證與 truststore → controller(kafka-storage format --add-scram,須在 broker 啟動前)→ broker + MDS + LDAP → 以 bootstrap 憑證建立第一批 role binding(管理權交給 AD 群組 kafka-admins)→ REST Proxy、C3、Prometheus/Alertmanager → audit 路由與驗證。實測教訓:改共用設定時 docker 連動重建 controller,逾時強殺留下空 KRaft snapshot,controller 重啟後遺失 SCRAM 憑證,broker 無法啟動。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六個主要風險與對策。前兩項是平台元件憑證的風險(c3 憑證=管理員、restproxy 憑證可代人),都是實測發現。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Postman cookie 陷阱(SPIKE 實測):MDS 驗證成功後回 auth_token cookie,cookie 優先於 Basic;同一 Postman session 換身分仍以前一人執行,實測 yujie 曾以 gary 身分新增 role binding。群組移出延遲:ldap.refresh.interval.ms 官方預設 60000;已簽發 token:實測刪除 AD 帳號後,舊 token 到期前仍可呼叫 MDS,Basic 重新登入回 401;token 路徑下授權是否依現在群組未測。多 controller:官方 SCRAM overview 與 KRaft security 頁說法不一致;3 個 controller 間 SASL/PLAIN 已用獨立實驗驗證(機制)。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1。現場指令:./demo.sh ch01。截圖為該章節實際執行輸出,非示意圖。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2。現場指令:./demo.sh ch03。截圖為該章節實際執行輸出,非示意圖。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3。現場指令:./demo.sh ch04。截圖為該章節實際執行輸出,非示意圖。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4。現場指令:./demo.sh ch07。截圖為該章節實際執行輸出,非示意圖。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5。現場指令:./demo.sh ch11。截圖為該章節實際執行輸出,非示意圖。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6。現場指令:./demo.sh ch12。截圖為該章節實際執行輸出,非示意圖。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Live Demo 7。現場指令:./demo.sh ch13。截圖為該章節實際執行輸出,非示意圖。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如實呈現:左邊是 demo 已實跑驗證的項目;右邊是尚未驗證或需在客戶環境確認的項目。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請客戶確認的八件事。第 3 項決定 legacy app 要不要 client 憑證;第 2 項決定憑證如何簽發與散佈;第 7 項:官方 ldap.retry.timeout.ms 預設 24 小時,LDAP 持續失敗超過這段時間授權器會被標為失敗,所以 AD 要有多台 DC;第 8 項:LDAPS 的 CA 要匯入 broker 的信任庫,若由中繼 CA 簽發且 AD 不附完整鏈,中繼 CA 也要匯入。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17.png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8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21.png"/><Relationship Id="rId6-created" Type="http://schemas.openxmlformats.org/officeDocument/2006/relationships/image" Target="../media/media22.png"/><Relationship Id="rId7-created" Type="http://schemas.openxmlformats.org/officeDocument/2006/relationships/image" Target="../media/media17.png"/><Relationship Id="rId8-created" Type="http://schemas.openxmlformats.org/officeDocument/2006/relationships/image" Target="../media/media23.png"/><Relationship Id="rId9-created" Type="http://schemas.openxmlformats.org/officeDocument/2006/relationships/image" Target="../media/media24.png"/><Relationship Id="rId10-created" Type="http://schemas.openxmlformats.org/officeDocument/2006/relationships/image" Target="../media/media25.png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6.png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7.png"/><Relationship Id="rId3-created" Type="http://schemas.openxmlformats.org/officeDocument/2006/relationships/image" Target="../media/media28.png"/><Relationship Id="rId4-created" Type="http://schemas.openxmlformats.org/officeDocument/2006/relationships/image" Target="../media/media10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30.png"/><Relationship Id="rId5-created" Type="http://schemas.openxmlformats.org/officeDocument/2006/relationships/image" Target="../media/media31.png"/><Relationship Id="rId6-created" Type="http://schemas.openxmlformats.org/officeDocument/2006/relationships/image" Target="../media/media32.png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29.png"/><Relationship Id="rId5-created" Type="http://schemas.openxmlformats.org/officeDocument/2006/relationships/image" Target="../media/media33.png"/><Relationship Id="rId6-created" Type="http://schemas.openxmlformats.org/officeDocument/2006/relationships/image" Target="../media/media34.png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9.png"/><Relationship Id="rId3-created" Type="http://schemas.openxmlformats.org/officeDocument/2006/relationships/image" Target="../media/media35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17.png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6.png"/><Relationship Id="rId3-created" Type="http://schemas.openxmlformats.org/officeDocument/2006/relationships/image" Target="../media/media17.png"/><Relationship Id="rId4-created" Type="http://schemas.openxmlformats.org/officeDocument/2006/relationships/image" Target="../media/media37.png"/><Relationship Id="rId5-created" Type="http://schemas.openxmlformats.org/officeDocument/2006/relationships/image" Target="../media/media11.png"/><Relationship Id="rId6-created" Type="http://schemas.openxmlformats.org/officeDocument/2006/relationships/image" Target="../media/media9.png"/><Relationship Id="rId7-created" Type="http://schemas.openxmlformats.org/officeDocument/2006/relationships/image" Target="../media/media38.png"/><Relationship Id="rIdNotes1" Type="http://schemas.openxmlformats.org/officeDocument/2006/relationships/notesSlide" Target="../notesSlides/notesSlide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39.png"/><Relationship Id="rId4-created" Type="http://schemas.openxmlformats.org/officeDocument/2006/relationships/image" Target="../media/media40.png"/><Relationship Id="rId5-created" Type="http://schemas.openxmlformats.org/officeDocument/2006/relationships/image" Target="../media/media40.png"/><Relationship Id="rId6-created" Type="http://schemas.openxmlformats.org/officeDocument/2006/relationships/image" Target="../media/media39.png"/><Relationship Id="rId7-created" Type="http://schemas.openxmlformats.org/officeDocument/2006/relationships/image" Target="../media/media40.png"/><Relationship Id="rId8-created" Type="http://schemas.openxmlformats.org/officeDocument/2006/relationships/image" Target="../media/media40.png"/><Relationship Id="rId9-created" Type="http://schemas.openxmlformats.org/officeDocument/2006/relationships/image" Target="../media/media40.png"/><Relationship Id="rId10-created" Type="http://schemas.openxmlformats.org/officeDocument/2006/relationships/image" Target="../media/media40.png"/><Relationship Id="rId11-created" Type="http://schemas.openxmlformats.org/officeDocument/2006/relationships/image" Target="../media/media40.png"/><Relationship Id="rId12-created" Type="http://schemas.openxmlformats.org/officeDocument/2006/relationships/image" Target="../media/media39.png"/><Relationship Id="rId13-created" Type="http://schemas.openxmlformats.org/officeDocument/2006/relationships/image" Target="../media/media40.png"/><Relationship Id="rId14-created" Type="http://schemas.openxmlformats.org/officeDocument/2006/relationships/image" Target="../media/media40.png"/><Relationship Id="rId15-created" Type="http://schemas.openxmlformats.org/officeDocument/2006/relationships/image" Target="../media/media40.png"/><Relationship Id="rId16-created" Type="http://schemas.openxmlformats.org/officeDocument/2006/relationships/image" Target="../media/media40.png"/><Relationship Id="rId17-created" Type="http://schemas.openxmlformats.org/officeDocument/2006/relationships/image" Target="../media/media39.png"/><Relationship Id="rId18-created" Type="http://schemas.openxmlformats.org/officeDocument/2006/relationships/image" Target="../media/media39.png"/><Relationship Id="rId19-created" Type="http://schemas.openxmlformats.org/officeDocument/2006/relationships/image" Target="../media/media39.png"/><Relationship Id="rId20-created" Type="http://schemas.openxmlformats.org/officeDocument/2006/relationships/image" Target="../media/media39.png"/><Relationship Id="rId21-created" Type="http://schemas.openxmlformats.org/officeDocument/2006/relationships/image" Target="../media/media39.png"/><Relationship Id="rIdNotes1" Type="http://schemas.openxmlformats.org/officeDocument/2006/relationships/notesSlide" Target="../notesSlides/notesSlide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1.png"/><Relationship Id="rId3-created" Type="http://schemas.openxmlformats.org/officeDocument/2006/relationships/image" Target="../media/media38.png"/><Relationship Id="rId4-created" Type="http://schemas.openxmlformats.org/officeDocument/2006/relationships/image" Target="../media/media42.png"/><Relationship Id="rIdNotes1" Type="http://schemas.openxmlformats.org/officeDocument/2006/relationships/notesSlide" Target="../notesSlides/notesSlide15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7.png"/><Relationship Id="rId3-created" Type="http://schemas.openxmlformats.org/officeDocument/2006/relationships/image" Target="../media/media15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19.png"/><Relationship Id="rId6-created" Type="http://schemas.openxmlformats.org/officeDocument/2006/relationships/image" Target="../media/media17.png"/><Relationship Id="rId7-created" Type="http://schemas.openxmlformats.org/officeDocument/2006/relationships/image" Target="../media/media12.png"/><Relationship Id="rId8-created" Type="http://schemas.openxmlformats.org/officeDocument/2006/relationships/image" Target="../media/media30.png"/><Relationship Id="rId9-created" Type="http://schemas.openxmlformats.org/officeDocument/2006/relationships/image" Target="../media/media43.png"/><Relationship Id="rIdNotes1" Type="http://schemas.openxmlformats.org/officeDocument/2006/relationships/notesSlide" Target="../notesSlides/notesSlide16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Notes1" Type="http://schemas.openxmlformats.org/officeDocument/2006/relationships/notesSlide" Target="../notesSlides/notesSlide1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4.png"/><Relationship Id="rId4-created" Type="http://schemas.openxmlformats.org/officeDocument/2006/relationships/image" Target="../media/media45.png"/><Relationship Id="rId5-created" Type="http://schemas.openxmlformats.org/officeDocument/2006/relationships/image" Target="../media/media38.png"/><Relationship Id="rId6-created" Type="http://schemas.openxmlformats.org/officeDocument/2006/relationships/image" Target="../media/media46.png"/><Relationship Id="rIdNotes1" Type="http://schemas.openxmlformats.org/officeDocument/2006/relationships/notesSlide" Target="../notesSlides/notesSlide18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4.png"/><Relationship Id="rId3-created" Type="http://schemas.openxmlformats.org/officeDocument/2006/relationships/image" Target="../media/media47.png"/><Relationship Id="rId4-created" Type="http://schemas.openxmlformats.org/officeDocument/2006/relationships/image" Target="../media/media38.png"/><Relationship Id="rIdNotes1" Type="http://schemas.openxmlformats.org/officeDocument/2006/relationships/notesSlide" Target="../notesSlides/notesSlide19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44.png"/><Relationship Id="rIdNotes1" Type="http://schemas.openxmlformats.org/officeDocument/2006/relationships/notesSlide" Target="../notesSlides/notesSlide2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8.png"/><Relationship Id="rId4-created" Type="http://schemas.openxmlformats.org/officeDocument/2006/relationships/image" Target="../media/media20.png"/><Relationship Id="rIdNotes1" Type="http://schemas.openxmlformats.org/officeDocument/2006/relationships/notesSlide" Target="../notesSlides/notesSlide2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6.png"/><Relationship Id="rId3-created" Type="http://schemas.openxmlformats.org/officeDocument/2006/relationships/image" Target="../media/media12.png"/><Relationship Id="rId4-created" Type="http://schemas.openxmlformats.org/officeDocument/2006/relationships/image" Target="../media/media35.png"/><Relationship Id="rIdNotes1" Type="http://schemas.openxmlformats.org/officeDocument/2006/relationships/notesSlide" Target="../notesSlides/notesSlide2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19.png"/><Relationship Id="rId5-created" Type="http://schemas.openxmlformats.org/officeDocument/2006/relationships/image" Target="../media/media50.png"/><Relationship Id="rId6-created" Type="http://schemas.openxmlformats.org/officeDocument/2006/relationships/image" Target="../media/media21.png"/><Relationship Id="rId7-created" Type="http://schemas.openxmlformats.org/officeDocument/2006/relationships/image" Target="../media/media51.png"/><Relationship Id="rIdNotes1" Type="http://schemas.openxmlformats.org/officeDocument/2006/relationships/notesSlide" Target="../notesSlides/notesSlide2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2.png"/><Relationship Id="rId3-created" Type="http://schemas.openxmlformats.org/officeDocument/2006/relationships/image" Target="../media/media53.png"/><Relationship Id="rId4-created" Type="http://schemas.openxmlformats.org/officeDocument/2006/relationships/image" Target="../media/media54.png"/><Relationship Id="rId5-created" Type="http://schemas.openxmlformats.org/officeDocument/2006/relationships/image" Target="../media/media55.png"/><Relationship Id="rId6-created" Type="http://schemas.openxmlformats.org/officeDocument/2006/relationships/image" Target="../media/media56.png"/><Relationship Id="rId7-created" Type="http://schemas.openxmlformats.org/officeDocument/2006/relationships/image" Target="../media/media57.png"/><Relationship Id="rIdNotes1" Type="http://schemas.openxmlformats.org/officeDocument/2006/relationships/notesSlide" Target="../notesSlides/notesSlide26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8.png"/><Relationship Id="rId3-created" Type="http://schemas.openxmlformats.org/officeDocument/2006/relationships/image" Target="../media/media59.png"/><Relationship Id="rId4-created" Type="http://schemas.openxmlformats.org/officeDocument/2006/relationships/image" Target="../media/media60.png"/><Relationship Id="rIdNotes1" Type="http://schemas.openxmlformats.org/officeDocument/2006/relationships/notesSlide" Target="../notesSlides/notesSlide27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1.png"/><Relationship Id="rIdNotes1" Type="http://schemas.openxmlformats.org/officeDocument/2006/relationships/notesSlide" Target="../notesSlides/notesSlide29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2.png"/><Relationship Id="rIdNotes1" Type="http://schemas.openxmlformats.org/officeDocument/2006/relationships/notesSlide" Target="../notesSlides/notesSlide30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3.png"/><Relationship Id="rIdNotes1" Type="http://schemas.openxmlformats.org/officeDocument/2006/relationships/notesSlide" Target="../notesSlides/notesSlide31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4.png"/><Relationship Id="rIdNotes1" Type="http://schemas.openxmlformats.org/officeDocument/2006/relationships/notesSlide" Target="../notesSlides/notesSlide32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5.png"/><Relationship Id="rIdNotes1" Type="http://schemas.openxmlformats.org/officeDocument/2006/relationships/notesSlide" Target="../notesSlides/notesSlide33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6.png"/><Relationship Id="rIdNotes1" Type="http://schemas.openxmlformats.org/officeDocument/2006/relationships/notesSlide" Target="../notesSlides/notesSlide34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7.png"/><Relationship Id="rIdNotes1" Type="http://schemas.openxmlformats.org/officeDocument/2006/relationships/notesSlide" Target="../notesSlides/notesSlide35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68.png"/><Relationship Id="rIdNotes1" Type="http://schemas.openxmlformats.org/officeDocument/2006/relationships/notesSlide" Target="../notesSlides/notesSlide36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9.png"/><Relationship Id="rId3-created" Type="http://schemas.openxmlformats.org/officeDocument/2006/relationships/image" Target="../media/media70.png"/><Relationship Id="rId4-created" Type="http://schemas.openxmlformats.org/officeDocument/2006/relationships/image" Target="../media/media12.png"/><Relationship Id="rId5-created" Type="http://schemas.openxmlformats.org/officeDocument/2006/relationships/image" Target="../media/media71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72.png"/><Relationship Id="rId8-created" Type="http://schemas.openxmlformats.org/officeDocument/2006/relationships/image" Target="../media/media19.png"/><Relationship Id="rId9-created" Type="http://schemas.openxmlformats.org/officeDocument/2006/relationships/image" Target="../media/media73.png"/><Relationship Id="rIdNotes1" Type="http://schemas.openxmlformats.org/officeDocument/2006/relationships/notesSlide" Target="../notesSlides/notesSlide37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74.png"/><Relationship Id="rId3-created" Type="http://schemas.openxmlformats.org/officeDocument/2006/relationships/image" Target="../media/media75.png"/><Relationship Id="rId4-created" Type="http://schemas.openxmlformats.org/officeDocument/2006/relationships/image" Target="../media/media11.png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依客戶前提設計:AD 僅有 user / group</a:t>
            </a:r>
          </a:p>
        </p:txBody>
      </p:sp>
      <p:sp>
        <p:nvSpPr>
          <p:cNvPr id="2" name="38f19937-d482-4e6b-96f8-3c1f05340c77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客戶前提與設計原則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先把限制說清楚,方案才站得住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六個前提決定了方案的形狀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aefcff6-5af2-4cb8-9155-6a2a541b50ba"/>
          <p:cNvSpPr/>
          <p:nvPr/>
        </p:nvSpPr>
        <p:spPr>
          <a:xfrm>
            <a:off x="548640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98dc391c-d8b5-4be6-b5c9-4e5c1f117062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c23ae498-b0c2-4396-8832-d4456e2bfe7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19ac426c-ba99-4ad6-9698-0e220e3bc5ed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只有人與群組</a:t>
            </a:r>
            <a:endParaRPr lang="en-US" sz="1700" dirty="0"/>
          </a:p>
        </p:txBody>
      </p:sp>
      <p:sp>
        <p:nvSpPr>
          <p:cNvPr id="6" name="1870ea90-26da-42ca-bdaa-bc5eef9fbbd7"/>
          <p:cNvSpPr/>
          <p:nvPr/>
        </p:nvSpPr>
        <p:spPr>
          <a:xfrm>
            <a:off x="640080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沒有服務帳號</a:t>
            </a:r>
            <a:endParaRPr lang="en-US" sz="1300" dirty="0"/>
          </a:p>
        </p:txBody>
      </p:sp>
      <p:sp>
        <p:nvSpPr>
          <p:cNvPr id="7" name="1cde0fcb-a9c8-43de-8d1c-bb6d7184c652"/>
          <p:cNvSpPr/>
          <p:nvPr/>
        </p:nvSpPr>
        <p:spPr>
          <a:xfrm>
            <a:off x="4325112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cd332b2b-4cd1-4183-8be9-cd1d89e06523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d8d2f3c4-9470-4512-9af1-bd609fe912d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fb236e45-c5c1-416a-abde-73a53a394f49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PK + 憑證</a:t>
            </a:r>
            <a:endParaRPr lang="en-US" sz="1700" dirty="0"/>
          </a:p>
        </p:txBody>
      </p:sp>
      <p:sp>
        <p:nvSpPr>
          <p:cNvPr id="11" name="b9cf61bd-329d-4f46-a667-dc83bba60883"/>
          <p:cNvSpPr/>
          <p:nvPr/>
        </p:nvSpPr>
        <p:spPr>
          <a:xfrm>
            <a:off x="4416552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希望憑證管理最小化</a:t>
            </a:r>
            <a:endParaRPr lang="en-US" sz="1300" dirty="0"/>
          </a:p>
        </p:txBody>
      </p:sp>
      <p:sp>
        <p:nvSpPr>
          <p:cNvPr id="12" name="68aa4798-7cc9-4aaa-b3b6-5fb360e6c8f4"/>
          <p:cNvSpPr/>
          <p:nvPr/>
        </p:nvSpPr>
        <p:spPr>
          <a:xfrm>
            <a:off x="8101584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3" name="8a22f881-82e1-41ea-982e-c27917c9f3ac"/>
          <p:cNvSpPr/>
          <p:nvPr/>
        </p:nvSpPr>
        <p:spPr>
          <a:xfrm>
            <a:off x="9587484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4" name="d6952b44-d651-42b4-965c-39513c0f620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66751"/>
            <a:ext cx="307238" cy="307238"/>
          </a:xfrm>
          <a:prstGeom prst="rect">
            <a:avLst/>
          </a:prstGeom>
        </p:spPr>
      </p:pic>
      <p:sp>
        <p:nvSpPr>
          <p:cNvPr id="15" name="2c3a5c85-d228-4711-8f03-318dc919c31c"/>
          <p:cNvSpPr/>
          <p:nvPr/>
        </p:nvSpPr>
        <p:spPr>
          <a:xfrm>
            <a:off x="8174736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9 VM · 手動安裝</a:t>
            </a:r>
            <a:endParaRPr lang="en-US" sz="1700" dirty="0"/>
          </a:p>
        </p:txBody>
      </p:sp>
      <p:sp>
        <p:nvSpPr>
          <p:cNvPr id="16" name="9d563b9e-b426-4dbc-8125-4ad389988d79"/>
          <p:cNvSpPr/>
          <p:nvPr/>
        </p:nvSpPr>
        <p:spPr>
          <a:xfrm>
            <a:off x="8193024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目前沒有 Ansible</a:t>
            </a:r>
            <a:endParaRPr lang="en-US" sz="1300" dirty="0"/>
          </a:p>
        </p:txBody>
      </p:sp>
      <p:sp>
        <p:nvSpPr>
          <p:cNvPr id="17" name="78d8c5f6-8a9d-4777-8aa5-dc28df0a3f1f"/>
          <p:cNvSpPr/>
          <p:nvPr/>
        </p:nvSpPr>
        <p:spPr>
          <a:xfrm>
            <a:off x="548640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37bd0464-2652-492d-b7be-651231c23ec3"/>
          <p:cNvSpPr/>
          <p:nvPr/>
        </p:nvSpPr>
        <p:spPr>
          <a:xfrm>
            <a:off x="2034540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9" name="797a9a12-dd95-427d-bcb8-a0f2cff1cf22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4257694"/>
            <a:ext cx="307238" cy="307238"/>
          </a:xfrm>
          <a:prstGeom prst="rect">
            <a:avLst/>
          </a:prstGeom>
        </p:spPr>
      </p:pic>
      <p:sp>
        <p:nvSpPr>
          <p:cNvPr id="20" name="1a1316d4-fe7c-4f2a-a314-2f27ceae736c"/>
          <p:cNvSpPr/>
          <p:nvPr/>
        </p:nvSpPr>
        <p:spPr>
          <a:xfrm>
            <a:off x="621792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只能 HTTP</a:t>
            </a:r>
            <a:endParaRPr lang="en-US" sz="1700" dirty="0"/>
          </a:p>
        </p:txBody>
      </p:sp>
      <p:sp>
        <p:nvSpPr>
          <p:cNvPr id="21" name="6f342a84-8796-47a3-b31a-a26bebd77b95"/>
          <p:cNvSpPr/>
          <p:nvPr/>
        </p:nvSpPr>
        <p:spPr>
          <a:xfrm>
            <a:off x="640080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不能用 Kafka client</a:t>
            </a:r>
            <a:endParaRPr lang="en-US" sz="1300" dirty="0"/>
          </a:p>
        </p:txBody>
      </p:sp>
      <p:sp>
        <p:nvSpPr>
          <p:cNvPr id="22" name="f0ba8608-3c08-4560-a89b-e080575993c7"/>
          <p:cNvSpPr/>
          <p:nvPr/>
        </p:nvSpPr>
        <p:spPr>
          <a:xfrm>
            <a:off x="4325112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cb964b91-0a42-4c9c-8267-35358fcb5d93"/>
          <p:cNvSpPr/>
          <p:nvPr/>
        </p:nvSpPr>
        <p:spPr>
          <a:xfrm>
            <a:off x="5811012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4" name="611248d8-2d9f-4c61-8377-e45feb2feefd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4257694"/>
            <a:ext cx="307238" cy="307238"/>
          </a:xfrm>
          <a:prstGeom prst="rect">
            <a:avLst/>
          </a:prstGeom>
        </p:spPr>
      </p:pic>
      <p:sp>
        <p:nvSpPr>
          <p:cNvPr id="25" name="66ccd3c6-fe7a-4a6a-9b46-2fb70e53b7cb"/>
          <p:cNvSpPr/>
          <p:nvPr/>
        </p:nvSpPr>
        <p:spPr>
          <a:xfrm>
            <a:off x="4398264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AD 群組 + RBAC 分層授權</a:t>
            </a:r>
            <a:endParaRPr lang="en-US" sz="1700" dirty="0"/>
          </a:p>
        </p:txBody>
      </p:sp>
      <p:sp>
        <p:nvSpPr>
          <p:cNvPr id="26" name="da24507c-315b-4cdc-b864-3df062a1f381"/>
          <p:cNvSpPr/>
          <p:nvPr/>
        </p:nvSpPr>
        <p:spPr>
          <a:xfrm>
            <a:off x="4416552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不同職責,不同權限</a:t>
            </a:r>
            <a:endParaRPr lang="en-US" sz="1300" dirty="0"/>
          </a:p>
        </p:txBody>
      </p:sp>
      <p:sp>
        <p:nvSpPr>
          <p:cNvPr id="27" name="8a20cca8-87ce-4e24-a9a2-88408f2f2ee3"/>
          <p:cNvSpPr/>
          <p:nvPr/>
        </p:nvSpPr>
        <p:spPr>
          <a:xfrm>
            <a:off x="8101584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e7d56ffb-65cd-432d-a53d-d68b2ba74d8d"/>
          <p:cNvSpPr/>
          <p:nvPr/>
        </p:nvSpPr>
        <p:spPr>
          <a:xfrm>
            <a:off x="9587484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df6f46b8-ff49-46ad-9631-9b5069fcd917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4257694"/>
            <a:ext cx="307238" cy="307238"/>
          </a:xfrm>
          <a:prstGeom prst="rect">
            <a:avLst/>
          </a:prstGeom>
        </p:spPr>
      </p:pic>
      <p:sp>
        <p:nvSpPr>
          <p:cNvPr id="30" name="6904715b-cdb3-4fc0-b39c-4d38757f541d"/>
          <p:cNvSpPr/>
          <p:nvPr/>
        </p:nvSpPr>
        <p:spPr>
          <a:xfrm>
            <a:off x="8174736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</a:t>
            </a:r>
            <a:endParaRPr lang="en-US" sz="1700" dirty="0"/>
          </a:p>
        </p:txBody>
      </p:sp>
      <p:sp>
        <p:nvSpPr>
          <p:cNvPr id="31" name="7c54ea48-4834-4aeb-a5b0-3b881b36d487"/>
          <p:cNvSpPr/>
          <p:nvPr/>
        </p:nvSpPr>
        <p:spPr>
          <a:xfrm>
            <a:off x="8193024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· REST Proxy · C3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設計原則:兩個身分平面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人走 AD,機器走 Kafka 內的服務帳號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1fda5ab-1b29-4b3d-91a0-573a2b23885a"/>
          <p:cNvSpPr/>
          <p:nvPr/>
        </p:nvSpPr>
        <p:spPr>
          <a:xfrm>
            <a:off x="548640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b3b9572a-b759-46e2-a3a6-71c2f48f9552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16a41135-4377-4c83-a905-2bb629e9ccb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faaf81d1-17ee-4a75-a774-610a16cf9cf0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6" name="b572250f-0b42-4749-9125-b7da1bad3cb6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e802bb6f-1e7d-4053-ad86-a14eb1a63040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8" name="0595cba6-14ad-405b-ac94-498d8be734f8"/>
          <p:cNvSpPr/>
          <p:nvPr/>
        </p:nvSpPr>
        <p:spPr>
          <a:xfrm>
            <a:off x="7342632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0f7cbe34-3646-42d4-8382-a8d13e1c0a13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d700bad8-4314-4aae-b539-5d9f8dedf9c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60c46230-43be-4a83-a504-5d7b6d368301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9dabba54-476b-4413-877a-5734fdade3c3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b2af0c69-6a82-444f-89c0-35e82eed9eb4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0427078e-9289-4d4a-8837-5b027ddb69be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430a8e87-a293-41f0-9ac8-21143783dd2a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049455e0-a36e-4914-b7c9-1385009aca6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e26d5f59-ab78-4a00-9c13-1cf697b3e4e5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d6ff240b-7dbb-420c-bf26-14d2dc92e1f7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集中授權</a:t>
            </a:r>
            <a:endParaRPr lang="en-US" sz="1100" dirty="0"/>
          </a:p>
        </p:txBody>
      </p:sp>
      <p:sp>
        <p:nvSpPr>
          <p:cNvPr id="19" name="b68af904-35fe-4746-b05a-2afdb89ac71c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1fba5fd8-b4eb-4296-943f-163d1af55cc5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0cb3739b-023e-4dd7-83a2-e2ac0ad075f0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0f072bb5-1380-4704-9167-9accecc5b137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方案總覽:組件與安全機制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各組件怎麼認證、授權,以及貫穿全案的機制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0665e25-60d2-493e-b2d0-13d2c8fd6bc1"/>
          <p:cNvSpPr/>
          <p:nvPr/>
        </p:nvSpPr>
        <p:spPr>
          <a:xfrm>
            <a:off x="548640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bcf745d0-33e0-4849-a0fa-128201cb5d33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b0e1c97f-6342-4d41-ab37-5ac028ab087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9284d173-1f9f-48d9-9218-34520f88c00d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6" name="54c714fe-bf13-476f-b492-cbdaf49a8966"/>
          <p:cNvSpPr/>
          <p:nvPr/>
        </p:nvSpPr>
        <p:spPr>
          <a:xfrm>
            <a:off x="640080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 · 內部帳號</a:t>
            </a:r>
            <a:endParaRPr lang="en-US" sz="1200" dirty="0"/>
          </a:p>
        </p:txBody>
      </p:sp>
      <p:sp>
        <p:nvSpPr>
          <p:cNvPr id="7" name="90d16e44-af5f-43ef-a3eb-835bc03a80ba"/>
          <p:cNvSpPr/>
          <p:nvPr/>
        </p:nvSpPr>
        <p:spPr>
          <a:xfrm>
            <a:off x="4325112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68388cd6-ee2f-4f93-b24c-d99a308386c8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c32d29ae-513d-4963-8197-703173c1f6c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f9798cd4-f36d-446c-a339-fb7dbf63898a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11" name="a6400d6a-9923-479f-91a5-c0a83921cf01"/>
          <p:cNvSpPr/>
          <p:nvPr/>
        </p:nvSpPr>
        <p:spPr>
          <a:xfrm>
            <a:off x="4416552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PLAIN+LDAP · SCRAM · token</a:t>
            </a:r>
            <a:endParaRPr lang="en-US" sz="1200" dirty="0"/>
          </a:p>
        </p:txBody>
      </p:sp>
      <p:sp>
        <p:nvSpPr>
          <p:cNvPr id="12" name="e20a7173-818b-41ac-a63e-5cd8346bc780"/>
          <p:cNvSpPr/>
          <p:nvPr/>
        </p:nvSpPr>
        <p:spPr>
          <a:xfrm>
            <a:off x="8101584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da1a26f2-6a42-4015-9646-ffc6f469e507"/>
          <p:cNvSpPr/>
          <p:nvPr/>
        </p:nvSpPr>
        <p:spPr>
          <a:xfrm>
            <a:off x="9587484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fb1ff54b-f192-44fd-a1e5-201b7829561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24326"/>
            <a:ext cx="307238" cy="307238"/>
          </a:xfrm>
          <a:prstGeom prst="rect">
            <a:avLst/>
          </a:prstGeom>
        </p:spPr>
      </p:pic>
      <p:sp>
        <p:nvSpPr>
          <p:cNvPr id="15" name="4f371e72-aeb9-447d-b89b-4f056db66a24"/>
          <p:cNvSpPr/>
          <p:nvPr/>
        </p:nvSpPr>
        <p:spPr>
          <a:xfrm>
            <a:off x="8174736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6" name="53c068e0-7307-44d9-b8dc-9166f3ca15e1"/>
          <p:cNvSpPr/>
          <p:nvPr/>
        </p:nvSpPr>
        <p:spPr>
          <a:xfrm>
            <a:off x="8193024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Basic · 機器憑證</a:t>
            </a:r>
            <a:endParaRPr lang="en-US" sz="1200" dirty="0"/>
          </a:p>
        </p:txBody>
      </p:sp>
      <p:sp>
        <p:nvSpPr>
          <p:cNvPr id="17" name="d8e832ba-8250-45a0-8c49-023c7e02d4e5"/>
          <p:cNvSpPr/>
          <p:nvPr/>
        </p:nvSpPr>
        <p:spPr>
          <a:xfrm>
            <a:off x="548640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df71aa03-2455-48a7-a9e3-524a621ba4ce"/>
          <p:cNvSpPr/>
          <p:nvPr/>
        </p:nvSpPr>
        <p:spPr>
          <a:xfrm>
            <a:off x="2034540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fc779626-02f9-4a3b-b10a-646b6ac9c8c0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3494046"/>
            <a:ext cx="307238" cy="307238"/>
          </a:xfrm>
          <a:prstGeom prst="rect">
            <a:avLst/>
          </a:prstGeom>
        </p:spPr>
      </p:pic>
      <p:sp>
        <p:nvSpPr>
          <p:cNvPr id="20" name="3fe2a625-6291-4b88-8b3f-87ec53087b18"/>
          <p:cNvSpPr/>
          <p:nvPr/>
        </p:nvSpPr>
        <p:spPr>
          <a:xfrm>
            <a:off x="621792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500" dirty="0"/>
          </a:p>
        </p:txBody>
      </p:sp>
      <p:sp>
        <p:nvSpPr>
          <p:cNvPr id="21" name="bfad54d9-45c9-4e22-b918-c322c178d48f"/>
          <p:cNvSpPr/>
          <p:nvPr/>
        </p:nvSpPr>
        <p:spPr>
          <a:xfrm>
            <a:off x="640080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人用本人身分</a:t>
            </a:r>
            <a:endParaRPr lang="en-US" sz="1200" dirty="0"/>
          </a:p>
        </p:txBody>
      </p:sp>
      <p:sp>
        <p:nvSpPr>
          <p:cNvPr id="22" name="9b5a9f11-cec5-46b3-b765-4c372a29de55"/>
          <p:cNvSpPr/>
          <p:nvPr/>
        </p:nvSpPr>
        <p:spPr>
          <a:xfrm>
            <a:off x="4325112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758d5d02-5a48-492e-a6d3-5a44fab75812"/>
          <p:cNvSpPr/>
          <p:nvPr/>
        </p:nvSpPr>
        <p:spPr>
          <a:xfrm>
            <a:off x="5811012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17cba14a-de40-4bbe-9d1d-8cc6659bceec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3494046"/>
            <a:ext cx="307238" cy="307238"/>
          </a:xfrm>
          <a:prstGeom prst="rect">
            <a:avLst/>
          </a:prstGeom>
        </p:spPr>
      </p:pic>
      <p:sp>
        <p:nvSpPr>
          <p:cNvPr id="25" name="92941a37-51c0-418c-873e-b49f24b25316"/>
          <p:cNvSpPr/>
          <p:nvPr/>
        </p:nvSpPr>
        <p:spPr>
          <a:xfrm>
            <a:off x="4398264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與憑證</a:t>
            </a:r>
            <a:endParaRPr lang="en-US" sz="1500" dirty="0"/>
          </a:p>
        </p:txBody>
      </p:sp>
      <p:sp>
        <p:nvSpPr>
          <p:cNvPr id="26" name="629af692-5037-4c38-8032-59623772684f"/>
          <p:cNvSpPr/>
          <p:nvPr/>
        </p:nvSpPr>
        <p:spPr>
          <a:xfrm>
            <a:off x="4416552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server 憑證</a:t>
            </a:r>
            <a:endParaRPr lang="en-US" sz="1200" dirty="0"/>
          </a:p>
        </p:txBody>
      </p:sp>
      <p:sp>
        <p:nvSpPr>
          <p:cNvPr id="27" name="a2cc2eeb-e9d6-40ef-912e-11475eae774b"/>
          <p:cNvSpPr/>
          <p:nvPr/>
        </p:nvSpPr>
        <p:spPr>
          <a:xfrm>
            <a:off x="8101584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89931609-ec83-4db6-b3c6-e99bc9cf5893"/>
          <p:cNvSpPr/>
          <p:nvPr/>
        </p:nvSpPr>
        <p:spPr>
          <a:xfrm>
            <a:off x="9587484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eeac91dd-6fed-475c-99ad-533af47da666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3494046"/>
            <a:ext cx="307238" cy="307238"/>
          </a:xfrm>
          <a:prstGeom prst="rect">
            <a:avLst/>
          </a:prstGeom>
        </p:spPr>
      </p:pic>
      <p:sp>
        <p:nvSpPr>
          <p:cNvPr id="30" name="16815108-d79f-4cc9-98c0-5cd61f0abeea"/>
          <p:cNvSpPr/>
          <p:nvPr/>
        </p:nvSpPr>
        <p:spPr>
          <a:xfrm>
            <a:off x="8174736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31" name="35286b37-f8ee-4911-8232-47e6a1f02692"/>
          <p:cNvSpPr/>
          <p:nvPr/>
        </p:nvSpPr>
        <p:spPr>
          <a:xfrm>
            <a:off x="8193024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 → role</a:t>
            </a:r>
            <a:endParaRPr lang="en-US" sz="1200" dirty="0"/>
          </a:p>
        </p:txBody>
      </p:sp>
      <p:sp>
        <p:nvSpPr>
          <p:cNvPr id="32" name="b68af1b7-1910-42a4-af27-37640cf3e0bb"/>
          <p:cNvSpPr/>
          <p:nvPr/>
        </p:nvSpPr>
        <p:spPr>
          <a:xfrm>
            <a:off x="548640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b9d5edf2-66bc-43e4-9b92-c18ab653d6f8"/>
          <p:cNvSpPr/>
          <p:nvPr/>
        </p:nvSpPr>
        <p:spPr>
          <a:xfrm>
            <a:off x="2034540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4" name="c36d124f-8aa9-4e27-a86f-a920c324b1aa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2155241" y="5063766"/>
            <a:ext cx="307238" cy="307238"/>
          </a:xfrm>
          <a:prstGeom prst="rect">
            <a:avLst/>
          </a:prstGeom>
        </p:spPr>
      </p:pic>
      <p:sp>
        <p:nvSpPr>
          <p:cNvPr id="35" name="06fdda82-6732-4535-9058-4f625628b4ee"/>
          <p:cNvSpPr/>
          <p:nvPr/>
        </p:nvSpPr>
        <p:spPr>
          <a:xfrm>
            <a:off x="621792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服務帳號</a:t>
            </a:r>
            <a:endParaRPr lang="en-US" sz="1500" dirty="0"/>
          </a:p>
        </p:txBody>
      </p:sp>
      <p:sp>
        <p:nvSpPr>
          <p:cNvPr id="36" name="7129f60e-9650-4dec-86ee-679eab5268f6"/>
          <p:cNvSpPr/>
          <p:nvPr/>
        </p:nvSpPr>
        <p:spPr>
          <a:xfrm>
            <a:off x="640080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+ 最小權限</a:t>
            </a:r>
            <a:endParaRPr lang="en-US" sz="1200" dirty="0"/>
          </a:p>
        </p:txBody>
      </p:sp>
      <p:sp>
        <p:nvSpPr>
          <p:cNvPr id="37" name="236786c8-d94b-4b04-9224-713b038caef8"/>
          <p:cNvSpPr/>
          <p:nvPr/>
        </p:nvSpPr>
        <p:spPr>
          <a:xfrm>
            <a:off x="4325112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8" name="86282fcd-3201-42f7-b3be-97c3e04152ab"/>
          <p:cNvSpPr/>
          <p:nvPr/>
        </p:nvSpPr>
        <p:spPr>
          <a:xfrm>
            <a:off x="5811012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9" name="d0c7ce8b-d0e2-45f7-91d6-4a3e61c86409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5931713" y="5063766"/>
            <a:ext cx="307238" cy="307238"/>
          </a:xfrm>
          <a:prstGeom prst="rect">
            <a:avLst/>
          </a:prstGeom>
        </p:spPr>
      </p:pic>
      <p:sp>
        <p:nvSpPr>
          <p:cNvPr id="40" name="65faca88-323b-4dea-9a38-84b2143e2971"/>
          <p:cNvSpPr/>
          <p:nvPr/>
        </p:nvSpPr>
        <p:spPr>
          <a:xfrm>
            <a:off x="4398264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41" name="141a60cf-4fd6-4e95-8808-cf67bbf3755e"/>
          <p:cNvSpPr/>
          <p:nvPr/>
        </p:nvSpPr>
        <p:spPr>
          <a:xfrm>
            <a:off x="4416552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誰被拒、誰改授權</a:t>
            </a:r>
            <a:endParaRPr lang="en-US" sz="1200" dirty="0"/>
          </a:p>
        </p:txBody>
      </p:sp>
      <p:sp>
        <p:nvSpPr>
          <p:cNvPr id="42" name="dde39d4e-3680-49e0-be2f-ec61a82b2371"/>
          <p:cNvSpPr/>
          <p:nvPr/>
        </p:nvSpPr>
        <p:spPr>
          <a:xfrm>
            <a:off x="8101584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3" name="f65d5808-227f-446e-a0dd-f035562e89e9"/>
          <p:cNvSpPr/>
          <p:nvPr/>
        </p:nvSpPr>
        <p:spPr>
          <a:xfrm>
            <a:off x="9587484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4" name="47daff45-36e2-49ef-9c69-6695ad895cf6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9708185" y="5063766"/>
            <a:ext cx="307238" cy="307238"/>
          </a:xfrm>
          <a:prstGeom prst="rect">
            <a:avLst/>
          </a:prstGeom>
        </p:spPr>
      </p:pic>
      <p:sp>
        <p:nvSpPr>
          <p:cNvPr id="45" name="e83bd60c-6bda-4db8-a456-efcec773fb3e"/>
          <p:cNvSpPr/>
          <p:nvPr/>
        </p:nvSpPr>
        <p:spPr>
          <a:xfrm>
            <a:off x="8174736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整合與導入</a:t>
            </a:r>
            <a:endParaRPr lang="en-US" sz="1500" dirty="0"/>
          </a:p>
        </p:txBody>
      </p:sp>
      <p:sp>
        <p:nvSpPr>
          <p:cNvPr id="46" name="aae5098e-05d7-49c0-b038-9d1cff1b5c1b"/>
          <p:cNvSpPr/>
          <p:nvPr/>
        </p:nvSpPr>
        <p:spPr>
          <a:xfrm>
            <a:off x="8193024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全景 · 步驟 · 風險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逐項介紹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每一項:角色 · 怎麼認證 · 怎麼授權 · 要注意什麼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TLS 與憑證:共用 1 組,只做加密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共用 server 憑證只加密;平台元件的 client 憑證用來換 token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54ed377-9a73-4f38-a325-7447b71972af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68ff70f2-fe2f-4707-9217-0e0811d110c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12319119-e1c8-4f70-8558-e4679240ef9e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0b1f80c7-f787-4e6f-81cf-4ea9f566020a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99283ec4-9eef-495d-b7d0-6e6add4ecebd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f00739ca-928a-418f-9d87-dc2f60e60580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9bacfb26-b87f-4138-b5ca-044a3ab4db17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3cf154f5-1e5a-4a9e-a593-adc4f8b55119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d68ac33a-a04c-4379-8a92-186787b477fe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6965f4f7-3ec9-4126-a0b1-c30d5b235db4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3bb6bb90-8366-4505-bb09-44a63b8ede9d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90199e10-32b8-42ca-a4d8-328f3bbe83f2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1c295ee3-aea5-43e2-8ba0-c743ecc33436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c3cc2df5-ec0a-4b7f-993f-83c91e7c9cbb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ace75bb0-a723-460b-bc56-9159ba2c6312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d8593415-249f-4603-9fef-9e4b4a0b24ee"/>
          <p:cNvSpPr/>
          <p:nvPr/>
        </p:nvSpPr>
        <p:spPr>
          <a:xfrm>
            <a:off x="548640" y="4230542"/>
            <a:ext cx="5486400" cy="135759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90d05580-a857-48e1-8f74-3927c1cf9a59"/>
          <p:cNvSpPr/>
          <p:nvPr/>
        </p:nvSpPr>
        <p:spPr>
          <a:xfrm>
            <a:off x="731520" y="4315391"/>
            <a:ext cx="512064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端</a:t>
            </a:r>
            <a:endParaRPr lang="en-US" sz="1500" dirty="0"/>
          </a:p>
        </p:txBody>
      </p:sp>
      <p:sp>
        <p:nvSpPr>
          <p:cNvPr id="19" name="edea450f-80c8-4e9c-b684-a859901a8ea5"/>
          <p:cNvSpPr/>
          <p:nvPr/>
        </p:nvSpPr>
        <p:spPr>
          <a:xfrm>
            <a:off x="731520" y="4697215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只需 truststore(匯入 CA root)</a:t>
            </a:r>
            <a:endParaRPr lang="en-US" sz="1200" dirty="0"/>
          </a:p>
        </p:txBody>
      </p:sp>
      <p:sp>
        <p:nvSpPr>
          <p:cNvPr id="20" name="2b18a4b6-5973-44a4-9568-47608c3c1258"/>
          <p:cNvSpPr/>
          <p:nvPr/>
        </p:nvSpPr>
        <p:spPr>
          <a:xfrm>
            <a:off x="731520" y="5121464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 / MDS:另匯入 AD 的 LDAPS CA root</a:t>
            </a:r>
            <a:endParaRPr lang="en-US" sz="1200" dirty="0"/>
          </a:p>
        </p:txBody>
      </p:sp>
      <p:sp>
        <p:nvSpPr>
          <p:cNvPr id="21" name="41822226-40e8-4d0f-afae-312b7f6bb513"/>
          <p:cNvSpPr/>
          <p:nvPr/>
        </p:nvSpPr>
        <p:spPr>
          <a:xfrm>
            <a:off x="6400800" y="1685050"/>
            <a:ext cx="5239512" cy="2375792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2" name="ccf2056f-4f76-4b13-9492-aa148478c9e1"/>
          <p:cNvSpPr/>
          <p:nvPr/>
        </p:nvSpPr>
        <p:spPr>
          <a:xfrm>
            <a:off x="6583680" y="1769899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平台元件用 client 憑證向 MDS 證明身分</a:t>
            </a:r>
            <a:endParaRPr lang="en-US" sz="1500" dirty="0"/>
          </a:p>
        </p:txBody>
      </p:sp>
      <p:sp>
        <p:nvSpPr>
          <p:cNvPr id="23" name="18f5728c-1c7f-48d5-8f2d-ed0e1c0d8a6f"/>
          <p:cNvSpPr/>
          <p:nvPr/>
        </p:nvSpPr>
        <p:spPr>
          <a:xfrm>
            <a:off x="6583680" y="2236573"/>
            <a:ext cx="1371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24" name="56b2c3cf-bf69-4166-bffe-63955613f80f"/>
          <p:cNvSpPr/>
          <p:nvPr/>
        </p:nvSpPr>
        <p:spPr>
          <a:xfrm>
            <a:off x="8046720" y="2236573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</a:t>
            </a:r>
            <a:endParaRPr lang="en-US" sz="1200" dirty="0"/>
          </a:p>
        </p:txBody>
      </p:sp>
      <p:sp>
        <p:nvSpPr>
          <p:cNvPr id="25" name="d1105884-d826-42ee-bea4-3527d9b6735a"/>
          <p:cNvSpPr/>
          <p:nvPr/>
        </p:nvSpPr>
        <p:spPr>
          <a:xfrm>
            <a:off x="9692640" y="2236573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26" name="2aa962c9-1a16-4b24-b50d-e8b8e73bb824"/>
          <p:cNvSpPr/>
          <p:nvPr/>
        </p:nvSpPr>
        <p:spPr>
          <a:xfrm>
            <a:off x="6583680" y="2686277"/>
            <a:ext cx="493776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每個經 REST Proxy 的 legacy app 各 1 張(由 REST Proxy 辨識後代為申請 token)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人的路徑不用:人走 AD 帳密。RBAC 下 C3 連 broker 只能 OAUTHBEARER,所以先以憑證向 MDS 換 token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綁 RBAC 的是 CN:換憑證只要 CN 不變,不用重綁權限</a:t>
            </a:r>
            <a:endParaRPr lang="en-US" sz="1150" dirty="0"/>
          </a:p>
        </p:txBody>
      </p:sp>
      <p:sp>
        <p:nvSpPr>
          <p:cNvPr id="27" name="ec6f1413-db1e-48ca-81e5-4b02ca59412d"/>
          <p:cNvSpPr/>
          <p:nvPr/>
        </p:nvSpPr>
        <p:spPr>
          <a:xfrm>
            <a:off x="6400800" y="4145692"/>
            <a:ext cx="5239512" cy="1527295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8" name="0b68bae3-1524-426a-945d-fcdba83efd09"/>
          <p:cNvSpPr/>
          <p:nvPr/>
        </p:nvSpPr>
        <p:spPr>
          <a:xfrm>
            <a:off x="6583680" y="4213572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要請客戶簽認</a:t>
            </a:r>
            <a:endParaRPr lang="en-US" sz="1500" dirty="0"/>
          </a:p>
        </p:txBody>
      </p:sp>
      <p:sp>
        <p:nvSpPr>
          <p:cNvPr id="29" name="4595f7b7-d881-4a2c-8fa3-9a1665c5ac69"/>
          <p:cNvSpPr/>
          <p:nvPr/>
        </p:nvSpPr>
        <p:spPr>
          <a:xfrm>
            <a:off x="6583680" y="4569941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私鑰外洩 = 可偽裝伺服器;共用憑證對應的身分(CN)永遠不綁任何 role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只換 server 憑證(CA 不變):逐台換 keystore,truststore 不動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CA 換金鑰:truststore 先新舊並存 → 重簽 server 與 client 憑證 → 移除舊 root</a:t>
            </a:r>
            <a:endParaRPr lang="en-US" sz="1100" dirty="0"/>
          </a:p>
        </p:txBody>
      </p:sp>
      <p:sp>
        <p:nvSpPr>
          <p:cNvPr id="30" name="e0071f42-2f83-426e-9b1a-ec32b66b8b36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共用憑證只負責加密、不承載權限;身分另外處理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憑證更換:三種情境,順序不能錯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依單節點實驗結果整理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1f611eb-7c32-4874-9257-78adc006da91"/>
          <p:cNvSpPr/>
          <p:nvPr/>
        </p:nvSpPr>
        <p:spPr>
          <a:xfrm>
            <a:off x="548640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1e8a4f07-f54f-4c69-b43f-0a3e72260391"/>
          <p:cNvSpPr/>
          <p:nvPr/>
        </p:nvSpPr>
        <p:spPr>
          <a:xfrm>
            <a:off x="685800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1665489d-39fb-47b0-9ef5-12ce2854e6e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06501" y="1898871"/>
            <a:ext cx="307238" cy="307238"/>
          </a:xfrm>
          <a:prstGeom prst="rect">
            <a:avLst/>
          </a:prstGeom>
        </p:spPr>
      </p:pic>
      <p:sp>
        <p:nvSpPr>
          <p:cNvPr id="5" name="7ab17557-3a82-4a63-84ce-9f431762f717"/>
          <p:cNvSpPr/>
          <p:nvPr/>
        </p:nvSpPr>
        <p:spPr>
          <a:xfrm>
            <a:off x="1371600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 server 憑證</a:t>
            </a:r>
            <a:endParaRPr lang="en-US" sz="1400" dirty="0"/>
          </a:p>
        </p:txBody>
      </p:sp>
      <p:sp>
        <p:nvSpPr>
          <p:cNvPr id="6" name="6e4d0d9e-16ed-4218-bb91-77e36b9a9a98"/>
          <p:cNvSpPr/>
          <p:nvPr/>
        </p:nvSpPr>
        <p:spPr>
          <a:xfrm>
            <a:off x="1371600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不變(例如到期更新)</a:t>
            </a:r>
            <a:endParaRPr lang="en-US" sz="1100" dirty="0"/>
          </a:p>
        </p:txBody>
      </p:sp>
      <p:sp>
        <p:nvSpPr>
          <p:cNvPr id="7" name="92698bc0-933b-4909-a919-4fa5f95e28bf"/>
          <p:cNvSpPr/>
          <p:nvPr/>
        </p:nvSpPr>
        <p:spPr>
          <a:xfrm>
            <a:off x="731520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keystore(新憑證)</a:t>
            </a:r>
            <a:endParaRPr lang="en-US" sz="1150" dirty="0"/>
          </a:p>
        </p:txBody>
      </p:sp>
      <p:sp>
        <p:nvSpPr>
          <p:cNvPr id="8" name="c090c467-c783-4f44-9696-8a2765d52cb8"/>
          <p:cNvSpPr/>
          <p:nvPr/>
        </p:nvSpPr>
        <p:spPr>
          <a:xfrm>
            <a:off x="2331720" y="2957796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9" name="1e9b00fa-b6ff-48b9-9320-80764199d056"/>
          <p:cNvSpPr/>
          <p:nvPr/>
        </p:nvSpPr>
        <p:spPr>
          <a:xfrm>
            <a:off x="731520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truststore 不動</a:t>
            </a:r>
            <a:endParaRPr lang="en-US" sz="1150" dirty="0"/>
          </a:p>
        </p:txBody>
      </p:sp>
      <p:sp>
        <p:nvSpPr>
          <p:cNvPr id="10" name="5ab87c4a-be41-426f-a143-a037df99e288"/>
          <p:cNvSpPr/>
          <p:nvPr/>
        </p:nvSpPr>
        <p:spPr>
          <a:xfrm>
            <a:off x="2331720" y="3636594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11" name="0e49b2b8-e0f0-48db-ae8a-82c220779605"/>
          <p:cNvSpPr/>
          <p:nvPr/>
        </p:nvSpPr>
        <p:spPr>
          <a:xfrm>
            <a:off x="731520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不用改</a:t>
            </a:r>
            <a:endParaRPr lang="en-US" sz="1150" dirty="0"/>
          </a:p>
        </p:txBody>
      </p:sp>
      <p:sp>
        <p:nvSpPr>
          <p:cNvPr id="12" name="b9eba54a-01ee-4f18-815d-ea4d708d378c"/>
          <p:cNvSpPr/>
          <p:nvPr/>
        </p:nvSpPr>
        <p:spPr>
          <a:xfrm>
            <a:off x="731520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實測:換 keystore 後,client 設定不用改</a:t>
            </a:r>
            <a:endParaRPr lang="en-US" sz="1050" dirty="0"/>
          </a:p>
        </p:txBody>
      </p:sp>
      <p:sp>
        <p:nvSpPr>
          <p:cNvPr id="13" name="767ff932-243f-4e58-9136-89dc11131a01"/>
          <p:cNvSpPr/>
          <p:nvPr/>
        </p:nvSpPr>
        <p:spPr>
          <a:xfrm>
            <a:off x="4311396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3e5d7dec-c726-468a-9cd4-1fdba2fad022"/>
          <p:cNvSpPr/>
          <p:nvPr/>
        </p:nvSpPr>
        <p:spPr>
          <a:xfrm>
            <a:off x="4448556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cd6369cf-ac25-407f-a6b6-1097485c17e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69257" y="1898871"/>
            <a:ext cx="307238" cy="307238"/>
          </a:xfrm>
          <a:prstGeom prst="rect">
            <a:avLst/>
          </a:prstGeom>
        </p:spPr>
      </p:pic>
      <p:sp>
        <p:nvSpPr>
          <p:cNvPr id="16" name="ead42de8-7c34-46f7-a932-d06a0023f81e"/>
          <p:cNvSpPr/>
          <p:nvPr/>
        </p:nvSpPr>
        <p:spPr>
          <a:xfrm>
            <a:off x="5134356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根換新、金鑰不變</a:t>
            </a:r>
            <a:endParaRPr lang="en-US" sz="1400" dirty="0"/>
          </a:p>
        </p:txBody>
      </p:sp>
      <p:sp>
        <p:nvSpPr>
          <p:cNvPr id="17" name="b2d96c19-9f26-4025-99e0-846a33bdea4b"/>
          <p:cNvSpPr/>
          <p:nvPr/>
        </p:nvSpPr>
        <p:spPr>
          <a:xfrm>
            <a:off x="5134356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同一把金鑰重新簽發根憑證</a:t>
            </a:r>
            <a:endParaRPr lang="en-US" sz="1100" dirty="0"/>
          </a:p>
        </p:txBody>
      </p:sp>
      <p:sp>
        <p:nvSpPr>
          <p:cNvPr id="18" name="eaef08ce-9c8b-4f83-84d5-b7ce60cc7414"/>
          <p:cNvSpPr/>
          <p:nvPr/>
        </p:nvSpPr>
        <p:spPr>
          <a:xfrm>
            <a:off x="4494276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信任庫換成新根</a:t>
            </a:r>
            <a:endParaRPr lang="en-US" sz="1150" dirty="0"/>
          </a:p>
        </p:txBody>
      </p:sp>
      <p:sp>
        <p:nvSpPr>
          <p:cNvPr id="19" name="16271cca-854a-4494-b675-268f1f35f17f"/>
          <p:cNvSpPr/>
          <p:nvPr/>
        </p:nvSpPr>
        <p:spPr>
          <a:xfrm>
            <a:off x="6099048" y="2957796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ddc0617b-b8ab-4ffb-91a4-01cd26a85be7"/>
          <p:cNvSpPr/>
          <p:nvPr/>
        </p:nvSpPr>
        <p:spPr>
          <a:xfrm>
            <a:off x="4494276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舊的 server / client 憑證照常通過</a:t>
            </a:r>
            <a:endParaRPr lang="en-US" sz="1150" dirty="0"/>
          </a:p>
        </p:txBody>
      </p:sp>
      <p:sp>
        <p:nvSpPr>
          <p:cNvPr id="21" name="00a7113e-97fa-4f09-8d2f-7f1dca940a93"/>
          <p:cNvSpPr/>
          <p:nvPr/>
        </p:nvSpPr>
        <p:spPr>
          <a:xfrm>
            <a:off x="6099048" y="3636594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4eda419d-d2f9-4af1-8b04-ad8c767bc110"/>
          <p:cNvSpPr/>
          <p:nvPr/>
        </p:nvSpPr>
        <p:spPr>
          <a:xfrm>
            <a:off x="4494276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不用重簽任何憑證</a:t>
            </a:r>
            <a:endParaRPr lang="en-US" sz="1150" dirty="0"/>
          </a:p>
        </p:txBody>
      </p:sp>
      <p:sp>
        <p:nvSpPr>
          <p:cNvPr id="23" name="f068bbef-03a3-4a5e-8ec5-3d4b2066db91"/>
          <p:cNvSpPr/>
          <p:nvPr/>
        </p:nvSpPr>
        <p:spPr>
          <a:xfrm>
            <a:off x="4494276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實測:信任庫換成新根,舊的 server / client 憑證照常通過</a:t>
            </a:r>
            <a:endParaRPr lang="en-US" sz="1050" dirty="0"/>
          </a:p>
        </p:txBody>
      </p:sp>
      <p:sp>
        <p:nvSpPr>
          <p:cNvPr id="24" name="7f286f15-3caa-4fba-aade-7c11649d153b"/>
          <p:cNvSpPr/>
          <p:nvPr/>
        </p:nvSpPr>
        <p:spPr>
          <a:xfrm>
            <a:off x="8074152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5" name="bbba6dd5-e8e6-4daf-98be-903ae35a268c"/>
          <p:cNvSpPr/>
          <p:nvPr/>
        </p:nvSpPr>
        <p:spPr>
          <a:xfrm>
            <a:off x="8211312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6" name="e22ac7a9-d661-4620-917a-c1127444d4c7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32013" y="1898871"/>
            <a:ext cx="307238" cy="307238"/>
          </a:xfrm>
          <a:prstGeom prst="rect">
            <a:avLst/>
          </a:prstGeom>
        </p:spPr>
      </p:pic>
      <p:sp>
        <p:nvSpPr>
          <p:cNvPr id="27" name="cb25efa7-c8aa-4c3b-96d3-6d81a526ebb2"/>
          <p:cNvSpPr/>
          <p:nvPr/>
        </p:nvSpPr>
        <p:spPr>
          <a:xfrm>
            <a:off x="8897112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換金鑰</a:t>
            </a:r>
            <a:endParaRPr lang="en-US" sz="1400" dirty="0"/>
          </a:p>
        </p:txBody>
      </p:sp>
      <p:sp>
        <p:nvSpPr>
          <p:cNvPr id="28" name="dbfbcf4e-f8e3-43bf-b1d4-7decfd510187"/>
          <p:cNvSpPr/>
          <p:nvPr/>
        </p:nvSpPr>
        <p:spPr>
          <a:xfrm>
            <a:off x="8897112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新根、新金鑰:所有憑證都要重簽</a:t>
            </a:r>
            <a:endParaRPr lang="en-US" sz="1100" dirty="0"/>
          </a:p>
        </p:txBody>
      </p:sp>
      <p:sp>
        <p:nvSpPr>
          <p:cNvPr id="29" name="a774421b-ab1a-4ecd-914d-0230ead84545"/>
          <p:cNvSpPr/>
          <p:nvPr/>
        </p:nvSpPr>
        <p:spPr>
          <a:xfrm>
            <a:off x="8257032" y="2533547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e44a5768-8d35-4ea3-8f7c-4ba3f0bc7cbd"/>
          <p:cNvSpPr/>
          <p:nvPr/>
        </p:nvSpPr>
        <p:spPr>
          <a:xfrm>
            <a:off x="8668512" y="2491122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所有信任庫先放「新舊兩個根」(server + client)</a:t>
            </a:r>
            <a:endParaRPr lang="en-US" sz="1100" dirty="0"/>
          </a:p>
        </p:txBody>
      </p:sp>
      <p:sp>
        <p:nvSpPr>
          <p:cNvPr id="31" name="ba900e11-9762-47b8-9c3c-ddcf68187f41"/>
          <p:cNvSpPr/>
          <p:nvPr/>
        </p:nvSpPr>
        <p:spPr>
          <a:xfrm>
            <a:off x="8257032" y="3042645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01fbb46c-3e18-41a3-bab2-ada871b691d7"/>
          <p:cNvSpPr/>
          <p:nvPr/>
        </p:nvSpPr>
        <p:spPr>
          <a:xfrm>
            <a:off x="8668512" y="3000221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server 憑證(新 CA 簽發)</a:t>
            </a:r>
            <a:endParaRPr lang="en-US" sz="1100" dirty="0"/>
          </a:p>
        </p:txBody>
      </p:sp>
      <p:sp>
        <p:nvSpPr>
          <p:cNvPr id="33" name="7ec7754a-3191-49c6-839b-1d18c87f6542"/>
          <p:cNvSpPr/>
          <p:nvPr/>
        </p:nvSpPr>
        <p:spPr>
          <a:xfrm>
            <a:off x="8257032" y="3551744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35a98f22-c060-4ead-94fe-af015aea0bc3"/>
          <p:cNvSpPr/>
          <p:nvPr/>
        </p:nvSpPr>
        <p:spPr>
          <a:xfrm>
            <a:off x="8668512" y="3509319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重簽 client 憑證(c3、restproxy、bootstrap、legacy app)</a:t>
            </a:r>
            <a:endParaRPr lang="en-US" sz="1100" dirty="0"/>
          </a:p>
        </p:txBody>
      </p:sp>
      <p:sp>
        <p:nvSpPr>
          <p:cNvPr id="35" name="67aa3c86-980a-4b20-ac19-e460b22f7eaa"/>
          <p:cNvSpPr/>
          <p:nvPr/>
        </p:nvSpPr>
        <p:spPr>
          <a:xfrm>
            <a:off x="8257032" y="4060842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2ddb6ad6-c18a-46ba-bb36-63ad2f1dee9f"/>
          <p:cNvSpPr/>
          <p:nvPr/>
        </p:nvSpPr>
        <p:spPr>
          <a:xfrm>
            <a:off x="8668512" y="4018417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全部確認後,才移除舊根</a:t>
            </a:r>
            <a:endParaRPr lang="en-US" sz="1100" dirty="0"/>
          </a:p>
        </p:txBody>
      </p:sp>
      <p:sp>
        <p:nvSpPr>
          <p:cNvPr id="37" name="133fdcfd-3756-4e08-b394-4e1f3b984037"/>
          <p:cNvSpPr/>
          <p:nvPr/>
        </p:nvSpPr>
        <p:spPr>
          <a:xfrm>
            <a:off x="8257032" y="4502061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先換 server 憑證、client 還沒信任新根 → PKIX 失敗(實測)</a:t>
            </a:r>
            <a:endParaRPr lang="en-US" sz="1000" dirty="0"/>
          </a:p>
        </p:txBody>
      </p:sp>
      <p:sp>
        <p:nvSpPr>
          <p:cNvPr id="38" name="ba222fa5-75ab-4923-b729-43c1ae4cd2db"/>
          <p:cNvSpPr/>
          <p:nvPr/>
        </p:nvSpPr>
        <p:spPr>
          <a:xfrm>
            <a:off x="8257032" y="4960249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移除舊根後,舊 CA 簽發且未重簽的 client 憑證被拒(實測)</a:t>
            </a:r>
            <a:endParaRPr lang="en-US" sz="1000" dirty="0"/>
          </a:p>
        </p:txBody>
      </p:sp>
      <p:sp>
        <p:nvSpPr>
          <p:cNvPr id="39" name="838127aa-1a12-42a9-9e78-7eca0461ae76"/>
          <p:cNvSpPr/>
          <p:nvPr/>
        </p:nvSpPr>
        <p:spPr>
          <a:xfrm>
            <a:off x="548640" y="5630562"/>
            <a:ext cx="11091672" cy="551523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官方建議:先更新所有信任庫、再換憑證、逐個元件 rolling restart,每個就緒再做下一個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元件更換順序:先信任、後出示、最後移除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CA 換金鑰的情境:依 demo 實際環境演練整理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16f6f92-d252-4b33-bb26-bb12e8c3037b"/>
          <p:cNvSpPr/>
          <p:nvPr/>
        </p:nvSpPr>
        <p:spPr>
          <a:xfrm>
            <a:off x="3017520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信任庫:新舊並存</a:t>
            </a:r>
            <a:endParaRPr lang="en-US" sz="1200" dirty="0"/>
          </a:p>
        </p:txBody>
      </p:sp>
      <p:sp>
        <p:nvSpPr>
          <p:cNvPr id="3" name="f2835358-a703-4265-9756-4c21a67f4860"/>
          <p:cNvSpPr/>
          <p:nvPr/>
        </p:nvSpPr>
        <p:spPr>
          <a:xfrm>
            <a:off x="5175504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換 server 憑證</a:t>
            </a:r>
            <a:endParaRPr lang="en-US" sz="1200" dirty="0"/>
          </a:p>
        </p:txBody>
      </p:sp>
      <p:sp>
        <p:nvSpPr>
          <p:cNvPr id="4" name="a7096896-b345-487f-b816-1863f0ca5762"/>
          <p:cNvSpPr/>
          <p:nvPr/>
        </p:nvSpPr>
        <p:spPr>
          <a:xfrm>
            <a:off x="7333488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重簽 client 憑證</a:t>
            </a:r>
            <a:endParaRPr lang="en-US" sz="1200" dirty="0"/>
          </a:p>
        </p:txBody>
      </p:sp>
      <p:sp>
        <p:nvSpPr>
          <p:cNvPr id="5" name="b783342a-e190-4e85-a8bd-7aecb8a9a268"/>
          <p:cNvSpPr/>
          <p:nvPr/>
        </p:nvSpPr>
        <p:spPr>
          <a:xfrm>
            <a:off x="9491472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移除舊根</a:t>
            </a:r>
            <a:endParaRPr lang="en-US" sz="1200" dirty="0"/>
          </a:p>
        </p:txBody>
      </p:sp>
      <p:sp>
        <p:nvSpPr>
          <p:cNvPr id="6" name="a0b103eb-6595-41ff-b8dc-ec5527a8a7f0"/>
          <p:cNvSpPr/>
          <p:nvPr/>
        </p:nvSpPr>
        <p:spPr>
          <a:xfrm>
            <a:off x="548640" y="2278998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7" name="c26b337d-082f-43e0-b24b-72889a17966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58368" y="2380818"/>
            <a:ext cx="347472" cy="347472"/>
          </a:xfrm>
          <a:prstGeom prst="rect">
            <a:avLst/>
          </a:prstGeom>
        </p:spPr>
      </p:pic>
      <p:sp>
        <p:nvSpPr>
          <p:cNvPr id="8" name="015d2cf5-86d4-4528-876a-b3028b4ad3df"/>
          <p:cNvSpPr/>
          <p:nvPr/>
        </p:nvSpPr>
        <p:spPr>
          <a:xfrm>
            <a:off x="1097280" y="2278998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9" name="89d19c4f-0b29-44fd-a673-52fa971a8ef0"/>
          <p:cNvSpPr/>
          <p:nvPr/>
        </p:nvSpPr>
        <p:spPr>
          <a:xfrm>
            <a:off x="3017520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10" name="440ee1a9-836e-4008-bc70-9b0793bc40d1"/>
          <p:cNvSpPr/>
          <p:nvPr/>
        </p:nvSpPr>
        <p:spPr>
          <a:xfrm>
            <a:off x="5175504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11" name="7fde6151-acc2-4b2d-9349-006434e6efac"/>
          <p:cNvSpPr/>
          <p:nvPr/>
        </p:nvSpPr>
        <p:spPr>
          <a:xfrm>
            <a:off x="7333488" y="2278998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2" name="98db96b7-c218-4d7f-9c5d-01c3eaf7eb8f"/>
          <p:cNvSpPr/>
          <p:nvPr/>
        </p:nvSpPr>
        <p:spPr>
          <a:xfrm>
            <a:off x="9491472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13" name="d9b574b2-ce4f-4427-a404-fc9321f888b5"/>
          <p:cNvSpPr/>
          <p:nvPr/>
        </p:nvSpPr>
        <p:spPr>
          <a:xfrm>
            <a:off x="548640" y="2906886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894d61f9-afa9-4e6a-b46d-a1c58554b8a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8368" y="3008706"/>
            <a:ext cx="347472" cy="347472"/>
          </a:xfrm>
          <a:prstGeom prst="rect">
            <a:avLst/>
          </a:prstGeom>
        </p:spPr>
      </p:pic>
      <p:sp>
        <p:nvSpPr>
          <p:cNvPr id="15" name="dc11ebd5-c6e6-4bd5-ae30-acd0adb7d3e7"/>
          <p:cNvSpPr/>
          <p:nvPr/>
        </p:nvSpPr>
        <p:spPr>
          <a:xfrm>
            <a:off x="1097280" y="2906886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broker(含 MDS)</a:t>
            </a:r>
            <a:endParaRPr lang="en-US" sz="1200" dirty="0"/>
          </a:p>
        </p:txBody>
      </p:sp>
      <p:sp>
        <p:nvSpPr>
          <p:cNvPr id="16" name="b3295962-1442-4342-b98f-f7234f3d31c6"/>
          <p:cNvSpPr/>
          <p:nvPr/>
        </p:nvSpPr>
        <p:spPr>
          <a:xfrm>
            <a:off x="3017520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7" name="67626e14-1741-4f96-819a-a885b7d15c31"/>
          <p:cNvSpPr/>
          <p:nvPr/>
        </p:nvSpPr>
        <p:spPr>
          <a:xfrm>
            <a:off x="5175504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8" name="b60a4379-ed53-4ccd-b0a2-1b1af3a501ff"/>
          <p:cNvSpPr/>
          <p:nvPr/>
        </p:nvSpPr>
        <p:spPr>
          <a:xfrm>
            <a:off x="7333488" y="2906886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9" name="bc8c2182-9d1a-4f61-ade8-85396308dec2"/>
          <p:cNvSpPr/>
          <p:nvPr/>
        </p:nvSpPr>
        <p:spPr>
          <a:xfrm>
            <a:off x="9491472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20" name="3574a764-be52-4bcf-9ebb-e6ab811491dd"/>
          <p:cNvSpPr/>
          <p:nvPr/>
        </p:nvSpPr>
        <p:spPr>
          <a:xfrm>
            <a:off x="548640" y="3534774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1" name="b8ed768c-4b7d-4dcf-af6c-a18d4cd514b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658368" y="3636594"/>
            <a:ext cx="347472" cy="347472"/>
          </a:xfrm>
          <a:prstGeom prst="rect">
            <a:avLst/>
          </a:prstGeom>
        </p:spPr>
      </p:pic>
      <p:sp>
        <p:nvSpPr>
          <p:cNvPr id="22" name="feddf323-c4ee-453c-b01c-631478081727"/>
          <p:cNvSpPr/>
          <p:nvPr/>
        </p:nvSpPr>
        <p:spPr>
          <a:xfrm>
            <a:off x="1097280" y="3534774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23" name="c46a9aff-cfe4-493c-82d7-21f9d3903bcc"/>
          <p:cNvSpPr/>
          <p:nvPr/>
        </p:nvSpPr>
        <p:spPr>
          <a:xfrm>
            <a:off x="3017520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4" name="0b92c0b9-01bc-47b0-adc8-e4d2288ea142"/>
          <p:cNvSpPr/>
          <p:nvPr/>
        </p:nvSpPr>
        <p:spPr>
          <a:xfrm>
            <a:off x="5175504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5" name="00e8c6c2-0994-48de-ab56-45b2b15153b7"/>
          <p:cNvSpPr/>
          <p:nvPr/>
        </p:nvSpPr>
        <p:spPr>
          <a:xfrm>
            <a:off x="7333488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6" name="4ab1f815-ab5a-4cc3-9b95-8d5a198d863e"/>
          <p:cNvSpPr/>
          <p:nvPr/>
        </p:nvSpPr>
        <p:spPr>
          <a:xfrm>
            <a:off x="9491472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7" name="a7ddfbd7-d087-44d3-91d1-ff6fa0c8cdc0"/>
          <p:cNvSpPr/>
          <p:nvPr/>
        </p:nvSpPr>
        <p:spPr>
          <a:xfrm>
            <a:off x="548640" y="4162662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8" name="7bbe8447-dc00-4136-b12d-e534f0cf8d84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58368" y="4264482"/>
            <a:ext cx="347472" cy="347472"/>
          </a:xfrm>
          <a:prstGeom prst="rect">
            <a:avLst/>
          </a:prstGeom>
        </p:spPr>
      </p:pic>
      <p:sp>
        <p:nvSpPr>
          <p:cNvPr id="29" name="eeeeb03a-9513-495b-a30e-b7052ddb6d3b"/>
          <p:cNvSpPr/>
          <p:nvPr/>
        </p:nvSpPr>
        <p:spPr>
          <a:xfrm>
            <a:off x="1097280" y="4162662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200" dirty="0"/>
          </a:p>
        </p:txBody>
      </p:sp>
      <p:sp>
        <p:nvSpPr>
          <p:cNvPr id="30" name="aed6e85a-f390-48f9-838d-b494999bcb10"/>
          <p:cNvSpPr/>
          <p:nvPr/>
        </p:nvSpPr>
        <p:spPr>
          <a:xfrm>
            <a:off x="3017520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1" name="8c682434-3c9f-4b0d-9e6a-ab923e425a72"/>
          <p:cNvSpPr/>
          <p:nvPr/>
        </p:nvSpPr>
        <p:spPr>
          <a:xfrm>
            <a:off x="5175504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2" name="ba6f940b-8741-4ca8-8600-14b8e3fc593c"/>
          <p:cNvSpPr/>
          <p:nvPr/>
        </p:nvSpPr>
        <p:spPr>
          <a:xfrm>
            <a:off x="7333488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3" name="3351f1d7-b785-42f6-9e19-36716701c751"/>
          <p:cNvSpPr/>
          <p:nvPr/>
        </p:nvSpPr>
        <p:spPr>
          <a:xfrm>
            <a:off x="9491472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4" name="907414e5-4d10-41f0-a65f-efda6d8b3db0"/>
          <p:cNvSpPr/>
          <p:nvPr/>
        </p:nvSpPr>
        <p:spPr>
          <a:xfrm>
            <a:off x="548640" y="4790550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35" name="0d1645e3-00be-4575-8a57-aa8f827cd6db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8368" y="4892370"/>
            <a:ext cx="347472" cy="347472"/>
          </a:xfrm>
          <a:prstGeom prst="rect">
            <a:avLst/>
          </a:prstGeom>
        </p:spPr>
      </p:pic>
      <p:sp>
        <p:nvSpPr>
          <p:cNvPr id="36" name="b4c5e0d3-0502-43b9-a3f7-e62351ad7a93"/>
          <p:cNvSpPr/>
          <p:nvPr/>
        </p:nvSpPr>
        <p:spPr>
          <a:xfrm>
            <a:off x="1097280" y="4790550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/ CLI(client)</a:t>
            </a:r>
            <a:endParaRPr lang="en-US" sz="1200" dirty="0"/>
          </a:p>
        </p:txBody>
      </p:sp>
      <p:sp>
        <p:nvSpPr>
          <p:cNvPr id="37" name="639287cf-f2f8-4c44-a50b-fa464f0d8ec7"/>
          <p:cNvSpPr/>
          <p:nvPr/>
        </p:nvSpPr>
        <p:spPr>
          <a:xfrm>
            <a:off x="3017520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信任庫加新根</a:t>
            </a:r>
            <a:endParaRPr lang="en-US" sz="1150" dirty="0"/>
          </a:p>
        </p:txBody>
      </p:sp>
      <p:sp>
        <p:nvSpPr>
          <p:cNvPr id="38" name="154fce66-5b2e-4bc2-95a4-dabc180ea2c2"/>
          <p:cNvSpPr/>
          <p:nvPr/>
        </p:nvSpPr>
        <p:spPr>
          <a:xfrm>
            <a:off x="5175504" y="4790550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39" name="d430923c-d83a-42c9-9ca7-a999c0a85476"/>
          <p:cNvSpPr/>
          <p:nvPr/>
        </p:nvSpPr>
        <p:spPr>
          <a:xfrm>
            <a:off x="7333488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換新憑證</a:t>
            </a:r>
            <a:endParaRPr lang="en-US" sz="1150" dirty="0"/>
          </a:p>
        </p:txBody>
      </p:sp>
      <p:sp>
        <p:nvSpPr>
          <p:cNvPr id="40" name="197aa58e-354c-4ba5-b82b-b948964e5d0a"/>
          <p:cNvSpPr/>
          <p:nvPr/>
        </p:nvSpPr>
        <p:spPr>
          <a:xfrm>
            <a:off x="9491472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信任庫移除舊根</a:t>
            </a:r>
            <a:endParaRPr lang="en-US" sz="1150" dirty="0"/>
          </a:p>
        </p:txBody>
      </p:sp>
      <p:sp>
        <p:nvSpPr>
          <p:cNvPr id="41" name="ac0ed86c-a348-49ce-b828-d6bcee6e83fc"/>
          <p:cNvSpPr/>
          <p:nvPr/>
        </p:nvSpPr>
        <p:spPr>
          <a:xfrm>
            <a:off x="548640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每階段:controller → broker(一次一台)→ REST Proxy → C3,就緒才做下一個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官方:信任庫先於憑證、每階段全部元件做完;元件順序參考升級順序</a:t>
            </a:r>
            <a:endParaRPr lang="en-US" sz="1150" dirty="0"/>
          </a:p>
        </p:txBody>
      </p:sp>
      <p:sp>
        <p:nvSpPr>
          <p:cNvPr id="42" name="832be97b-d703-4d75-ade9-0b898050c145"/>
          <p:cNvSpPr/>
          <p:nvPr/>
        </p:nvSpPr>
        <p:spPr>
          <a:xfrm>
            <a:off x="6199632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只換檔沒重啟,6 個埠仍出示舊憑證(實測)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與 broker 沒有 client 憑證 → ③ 階段不用重啟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Controller(KRaft)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只認內部帳號,人與服務都不直接連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3a6d65e-fed2-49c6-8742-2bfce4e1a363"/>
          <p:cNvSpPr/>
          <p:nvPr/>
        </p:nvSpPr>
        <p:spPr>
          <a:xfrm>
            <a:off x="54864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e4d23fcf-e542-4d6d-82b4-789524dbb8f9"/>
          <p:cNvSpPr/>
          <p:nvPr/>
        </p:nvSpPr>
        <p:spPr>
          <a:xfrm>
            <a:off x="10515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2bc73632-440f-4ea6-a885-d7c8d151d07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172261" y="1966751"/>
            <a:ext cx="307238" cy="307238"/>
          </a:xfrm>
          <a:prstGeom prst="rect">
            <a:avLst/>
          </a:prstGeom>
        </p:spPr>
      </p:pic>
      <p:sp>
        <p:nvSpPr>
          <p:cNvPr id="5" name="6828055f-2f06-4d21-93b6-02b8ab6f603c"/>
          <p:cNvSpPr/>
          <p:nvPr/>
        </p:nvSpPr>
        <p:spPr>
          <a:xfrm>
            <a:off x="54864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1</a:t>
            </a:r>
            <a:endParaRPr lang="en-US" sz="1200" dirty="0"/>
          </a:p>
        </p:txBody>
      </p:sp>
      <p:sp>
        <p:nvSpPr>
          <p:cNvPr id="6" name="74621320-3c17-4479-ad7b-a1e1a0059c5b"/>
          <p:cNvSpPr/>
          <p:nvPr/>
        </p:nvSpPr>
        <p:spPr>
          <a:xfrm>
            <a:off x="228600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7" name="a3b6d54f-bddd-49eb-8d09-e8457481b162"/>
          <p:cNvSpPr/>
          <p:nvPr/>
        </p:nvSpPr>
        <p:spPr>
          <a:xfrm>
            <a:off x="2788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8" name="dccc08aa-596c-4228-802a-efdfcce684a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2909621" y="1966751"/>
            <a:ext cx="307238" cy="307238"/>
          </a:xfrm>
          <a:prstGeom prst="rect">
            <a:avLst/>
          </a:prstGeom>
        </p:spPr>
      </p:pic>
      <p:sp>
        <p:nvSpPr>
          <p:cNvPr id="9" name="5071fae0-0b5e-42af-9091-c739556cbbb2"/>
          <p:cNvSpPr/>
          <p:nvPr/>
        </p:nvSpPr>
        <p:spPr>
          <a:xfrm>
            <a:off x="228600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2</a:t>
            </a:r>
            <a:endParaRPr lang="en-US" sz="1200" dirty="0"/>
          </a:p>
        </p:txBody>
      </p:sp>
      <p:sp>
        <p:nvSpPr>
          <p:cNvPr id="10" name="41a262de-a5da-465a-b831-dc0246d1bac0"/>
          <p:cNvSpPr/>
          <p:nvPr/>
        </p:nvSpPr>
        <p:spPr>
          <a:xfrm>
            <a:off x="402336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d407a1b6-a043-4c9e-8d2d-8daf0ead94b0"/>
          <p:cNvSpPr/>
          <p:nvPr/>
        </p:nvSpPr>
        <p:spPr>
          <a:xfrm>
            <a:off x="452628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188fd2a5-818d-4e74-81a1-e4a495531a0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646981" y="1966751"/>
            <a:ext cx="307238" cy="307238"/>
          </a:xfrm>
          <a:prstGeom prst="rect">
            <a:avLst/>
          </a:prstGeom>
        </p:spPr>
      </p:pic>
      <p:sp>
        <p:nvSpPr>
          <p:cNvPr id="13" name="71f82459-7d30-427c-ab3b-1b0286e194f3"/>
          <p:cNvSpPr/>
          <p:nvPr/>
        </p:nvSpPr>
        <p:spPr>
          <a:xfrm>
            <a:off x="402336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3</a:t>
            </a:r>
            <a:endParaRPr lang="en-US" sz="1200" dirty="0"/>
          </a:p>
        </p:txBody>
      </p:sp>
      <p:sp>
        <p:nvSpPr>
          <p:cNvPr id="14" name="153687c6-a138-4adb-83aa-e95c316952db"/>
          <p:cNvSpPr/>
          <p:nvPr/>
        </p:nvSpPr>
        <p:spPr>
          <a:xfrm>
            <a:off x="548640" y="2957796"/>
            <a:ext cx="50292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Raft quorum:正式環境 3 個;主 demo 1 個</a:t>
            </a:r>
            <a:endParaRPr lang="en-US" sz="1250" dirty="0"/>
          </a:p>
        </p:txBody>
      </p:sp>
      <p:sp>
        <p:nvSpPr>
          <p:cNvPr id="15" name="b9486284-6ce3-4455-9a67-4e4c4c124632"/>
          <p:cNvSpPr/>
          <p:nvPr/>
        </p:nvSpPr>
        <p:spPr>
          <a:xfrm>
            <a:off x="5943600" y="1769899"/>
            <a:ext cx="5696712" cy="2036394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6" name="06ca3e7d-ac47-4545-a89b-41ef77f74ab2"/>
          <p:cNvSpPr/>
          <p:nvPr/>
        </p:nvSpPr>
        <p:spPr>
          <a:xfrm>
            <a:off x="6126480" y="1854749"/>
            <a:ext cx="53035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9093</a:t>
            </a:r>
            <a:endParaRPr lang="en-US" sz="1500" dirty="0"/>
          </a:p>
        </p:txBody>
      </p:sp>
      <p:sp>
        <p:nvSpPr>
          <p:cNvPr id="17" name="631d5da6-25c8-4f99-83b3-d26621e96f48"/>
          <p:cNvSpPr/>
          <p:nvPr/>
        </p:nvSpPr>
        <p:spPr>
          <a:xfrm>
            <a:off x="6126480" y="2278998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</a:t>
            </a:r>
            <a:endParaRPr lang="en-US" sz="1200" dirty="0"/>
          </a:p>
        </p:txBody>
      </p:sp>
      <p:sp>
        <p:nvSpPr>
          <p:cNvPr id="18" name="0bd93283-8b1b-4421-889e-ccf0b864dc68"/>
          <p:cNvSpPr/>
          <p:nvPr/>
        </p:nvSpPr>
        <p:spPr>
          <a:xfrm>
            <a:off x="7772400" y="2278998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200" dirty="0"/>
          </a:p>
        </p:txBody>
      </p:sp>
      <p:sp>
        <p:nvSpPr>
          <p:cNvPr id="19" name="18b3bf74-7e33-45ed-93c3-2218f76762a7"/>
          <p:cNvSpPr/>
          <p:nvPr/>
        </p:nvSpPr>
        <p:spPr>
          <a:xfrm>
            <a:off x="9601200" y="2278998"/>
            <a:ext cx="18288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靜態內部帳號</a:t>
            </a:r>
            <a:endParaRPr lang="en-US" sz="1200" dirty="0"/>
          </a:p>
        </p:txBody>
      </p:sp>
      <p:sp>
        <p:nvSpPr>
          <p:cNvPr id="20" name="63203856-a4a7-4bd2-bee0-f45d4e2c6a6c"/>
          <p:cNvSpPr/>
          <p:nvPr/>
        </p:nvSpPr>
        <p:spPr>
          <a:xfrm>
            <a:off x="6126480" y="2788096"/>
            <a:ext cx="53035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帳號:kafka-controller · kafka-broker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broker(9092):SCRAM 身分 kafka-controller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授權資料(role binding、使用者→群組)透過 broker 的 RBAC topic 取得</a:t>
            </a:r>
            <a:endParaRPr lang="en-US" sz="1300" dirty="0"/>
          </a:p>
        </p:txBody>
      </p:sp>
      <p:sp>
        <p:nvSpPr>
          <p:cNvPr id="21" name="7221be99-fbc1-4739-8498-d8c341f9faf0"/>
          <p:cNvSpPr/>
          <p:nvPr/>
        </p:nvSpPr>
        <p:spPr>
          <a:xfrm>
            <a:off x="548640" y="3594169"/>
            <a:ext cx="5029200" cy="933347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2" name="a7500cec-098e-4e5b-86de-171cf8837d7b"/>
          <p:cNvSpPr/>
          <p:nvPr/>
        </p:nvSpPr>
        <p:spPr>
          <a:xfrm>
            <a:off x="731520" y="3679018"/>
            <a:ext cx="466344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 + super.users</a:t>
            </a:r>
            <a:endParaRPr lang="en-US" sz="1300" dirty="0"/>
          </a:p>
        </p:txBody>
      </p:sp>
      <p:sp>
        <p:nvSpPr>
          <p:cNvPr id="23" name="b5cb03cd-40c4-4d12-baa9-ecea13887fb6"/>
          <p:cNvSpPr/>
          <p:nvPr/>
        </p:nvSpPr>
        <p:spPr>
          <a:xfrm>
            <a:off x="548640" y="4739640"/>
            <a:ext cx="5029200" cy="8484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4" name="0b517eee-8b6a-4124-8f51-4be5eb8a4928"/>
          <p:cNvSpPr/>
          <p:nvPr/>
        </p:nvSpPr>
        <p:spPr>
          <a:xfrm>
            <a:off x="685800" y="482449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5" name="87f75d98-bdef-4447-811e-919db924e43c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26618" y="4955158"/>
            <a:ext cx="358445" cy="358445"/>
          </a:xfrm>
          <a:prstGeom prst="rect">
            <a:avLst/>
          </a:prstGeom>
        </p:spPr>
      </p:pic>
      <p:sp>
        <p:nvSpPr>
          <p:cNvPr id="26" name="4a6282a1-0f15-41e9-98f8-790d456fe030"/>
          <p:cNvSpPr/>
          <p:nvPr/>
        </p:nvSpPr>
        <p:spPr>
          <a:xfrm>
            <a:off x="1463040" y="4824490"/>
            <a:ext cx="402336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防火牆:9093 只開給 broker / controller 節點</a:t>
            </a:r>
            <a:endParaRPr lang="en-US" sz="1250" dirty="0"/>
          </a:p>
        </p:txBody>
      </p:sp>
      <p:sp>
        <p:nvSpPr>
          <p:cNvPr id="27" name="f7b784e1-b43b-480b-a5fe-19f1fb346182"/>
          <p:cNvSpPr/>
          <p:nvPr/>
        </p:nvSpPr>
        <p:spPr>
          <a:xfrm>
            <a:off x="5943600" y="3933568"/>
            <a:ext cx="5696712" cy="1696995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8" name="2b31d174-b3cf-45be-83ea-d96f1c6b2ddb"/>
          <p:cNvSpPr/>
          <p:nvPr/>
        </p:nvSpPr>
        <p:spPr>
          <a:xfrm>
            <a:off x="608076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9" name="2e59b8ab-a189-4e65-adce-4d50c7ff4361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221578" y="4191511"/>
            <a:ext cx="358445" cy="358445"/>
          </a:xfrm>
          <a:prstGeom prst="rect">
            <a:avLst/>
          </a:prstGeom>
        </p:spPr>
      </p:pic>
      <p:sp>
        <p:nvSpPr>
          <p:cNvPr id="30" name="f792de92-9386-46a5-a877-bb2cf226da46"/>
          <p:cNvSpPr/>
          <p:nvPr/>
        </p:nvSpPr>
        <p:spPr>
          <a:xfrm>
            <a:off x="6903720" y="3992962"/>
            <a:ext cx="4572000" cy="1612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為什麼是 PLAIN 靜態帳號:三種做法逐一排除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不用 SCRAM:官方 SCRAM overview 頁說明 controller listener 不支援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AD:AD 不含服務帳號,而且內部通道一旦依賴 AD,AD 異常時就會牽連叢集本身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mTLS:客戶希望憑證越少越好,不為內部通道另發 client 憑證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因此採用 PLAIN 靜態帳號:帳號寫在 JAAS 設定,不依賴 AD、不另發憑證</a:t>
            </a:r>
            <a:endParaRPr lang="en-US" sz="1400" dirty="0"/>
          </a:p>
        </p:txBody>
      </p:sp>
      <p:sp>
        <p:nvSpPr>
          <p:cNvPr id="31" name="77fab415-7f50-4055-902c-5a901d6de8c1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只認內部帳號;人與服務都不直接連它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Broker:三個 listener,各管一件事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 PLAIN + AD、服務 SCRAM、平台 OAUTHBEARER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00e5876-f67c-44c1-b8cf-6c378b494a36"/>
          <p:cNvSpPr/>
          <p:nvPr/>
        </p:nvSpPr>
        <p:spPr>
          <a:xfrm>
            <a:off x="548640" y="1727475"/>
            <a:ext cx="2103120" cy="364853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a89d66d3-83a2-458d-8978-ad9586da4754"/>
          <p:cNvSpPr/>
          <p:nvPr/>
        </p:nvSpPr>
        <p:spPr>
          <a:xfrm>
            <a:off x="1051560" y="1897174"/>
            <a:ext cx="1097280" cy="1018197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e40aa095-f182-498e-8912-c413adef556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92962" y="2121177"/>
            <a:ext cx="614477" cy="614477"/>
          </a:xfrm>
          <a:prstGeom prst="rect">
            <a:avLst/>
          </a:prstGeom>
        </p:spPr>
      </p:pic>
      <p:sp>
        <p:nvSpPr>
          <p:cNvPr id="5" name="5de00cda-be33-410e-992b-d9190823d7e8"/>
          <p:cNvSpPr/>
          <p:nvPr/>
        </p:nvSpPr>
        <p:spPr>
          <a:xfrm>
            <a:off x="548640" y="3042645"/>
            <a:ext cx="21031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2000" dirty="0"/>
          </a:p>
        </p:txBody>
      </p:sp>
      <p:sp>
        <p:nvSpPr>
          <p:cNvPr id="6" name="37cb2d67-bf3f-449b-84fb-5f8491cf3088"/>
          <p:cNvSpPr/>
          <p:nvPr/>
        </p:nvSpPr>
        <p:spPr>
          <a:xfrm>
            <a:off x="640080" y="3509319"/>
            <a:ext cx="192024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listener:ssl.client.auth = none</a:t>
            </a:r>
            <a:endParaRPr lang="en-US" sz="1100" dirty="0"/>
          </a:p>
        </p:txBody>
      </p:sp>
      <p:sp>
        <p:nvSpPr>
          <p:cNvPr id="7" name="fd9384de-7bc9-45ec-82e3-9f0a61d4c14c"/>
          <p:cNvSpPr/>
          <p:nvPr/>
        </p:nvSpPr>
        <p:spPr>
          <a:xfrm flipV="1">
            <a:off x="2651760" y="2278998"/>
            <a:ext cx="457200" cy="1272746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8" name="98bfa0e1-3c2a-434a-9b43-74505af7fe38"/>
          <p:cNvSpPr/>
          <p:nvPr/>
        </p:nvSpPr>
        <p:spPr>
          <a:xfrm>
            <a:off x="3108960" y="1727475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9" name="b441d30b-6965-4da4-bd77-7202b16fd4c0"/>
          <p:cNvSpPr/>
          <p:nvPr/>
        </p:nvSpPr>
        <p:spPr>
          <a:xfrm>
            <a:off x="3246120" y="19820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ee116ca3-ccbc-4610-9fd6-bdf00079054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386938" y="2112692"/>
            <a:ext cx="358445" cy="358445"/>
          </a:xfrm>
          <a:prstGeom prst="rect">
            <a:avLst/>
          </a:prstGeom>
        </p:spPr>
      </p:pic>
      <p:sp>
        <p:nvSpPr>
          <p:cNvPr id="11" name="52b7f639-11bf-4ebd-9923-eacb5e7e19e3"/>
          <p:cNvSpPr/>
          <p:nvPr/>
        </p:nvSpPr>
        <p:spPr>
          <a:xfrm>
            <a:off x="4069080" y="1829294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INTERNAL 9092</a:t>
            </a:r>
            <a:endParaRPr lang="en-US" sz="1700" dirty="0"/>
          </a:p>
        </p:txBody>
      </p:sp>
      <p:sp>
        <p:nvSpPr>
          <p:cNvPr id="12" name="c7fc63b5-a9b9-4e69-aff6-705d6b24aa13"/>
          <p:cNvSpPr/>
          <p:nvPr/>
        </p:nvSpPr>
        <p:spPr>
          <a:xfrm>
            <a:off x="4069080" y="2278998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SCRAM-SHA-512</a:t>
            </a:r>
            <a:endParaRPr lang="en-US" sz="1300" dirty="0"/>
          </a:p>
        </p:txBody>
      </p:sp>
      <p:sp>
        <p:nvSpPr>
          <p:cNvPr id="13" name="bbc456b0-859c-4aa6-b473-9d72146c4ff7"/>
          <p:cNvSpPr/>
          <p:nvPr/>
        </p:nvSpPr>
        <p:spPr>
          <a:xfrm>
            <a:off x="8229600" y="1829294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↔ broker</a:t>
            </a:r>
            <a:endParaRPr lang="en-US" sz="1200" dirty="0"/>
          </a:p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</a:t>
            </a:r>
            <a:endParaRPr lang="en-US" sz="1200" dirty="0"/>
          </a:p>
        </p:txBody>
      </p:sp>
      <p:sp>
        <p:nvSpPr>
          <p:cNvPr id="14" name="236878d2-a5d4-48f4-a0ae-d74577d8a8eb"/>
          <p:cNvSpPr/>
          <p:nvPr/>
        </p:nvSpPr>
        <p:spPr>
          <a:xfrm flipV="1">
            <a:off x="2651760" y="3551744"/>
            <a:ext cx="45720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5" name="6750f82c-44e7-4e81-b63a-0416486005f1"/>
          <p:cNvSpPr/>
          <p:nvPr/>
        </p:nvSpPr>
        <p:spPr>
          <a:xfrm>
            <a:off x="3108960" y="3000221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6" name="50047001-1fa2-4332-992f-57a2bd87ff34"/>
          <p:cNvSpPr/>
          <p:nvPr/>
        </p:nvSpPr>
        <p:spPr>
          <a:xfrm>
            <a:off x="3246120" y="325477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7" name="03a74a60-c916-4ea6-b70b-83a8e1e5263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386938" y="3385438"/>
            <a:ext cx="358445" cy="358445"/>
          </a:xfrm>
          <a:prstGeom prst="rect">
            <a:avLst/>
          </a:prstGeom>
        </p:spPr>
      </p:pic>
      <p:sp>
        <p:nvSpPr>
          <p:cNvPr id="18" name="02be5e64-77b0-453b-8842-f6c3963da126"/>
          <p:cNvSpPr/>
          <p:nvPr/>
        </p:nvSpPr>
        <p:spPr>
          <a:xfrm>
            <a:off x="4069080" y="3102040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700" dirty="0"/>
          </a:p>
        </p:txBody>
      </p:sp>
      <p:sp>
        <p:nvSpPr>
          <p:cNvPr id="19" name="a9786a75-17d1-4082-82cc-da2e5aad7f6a"/>
          <p:cNvSpPr/>
          <p:nvPr/>
        </p:nvSpPr>
        <p:spPr>
          <a:xfrm>
            <a:off x="4069080" y="3551744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PLAIN+LDAP / SCRAM / OAUTHBEARER(帶 MDS token)</a:t>
            </a:r>
            <a:endParaRPr lang="en-US" sz="1300" dirty="0"/>
          </a:p>
        </p:txBody>
      </p:sp>
      <p:sp>
        <p:nvSpPr>
          <p:cNvPr id="20" name="e2e2cd52-2372-4adf-8ae9-46b333905aa5"/>
          <p:cNvSpPr/>
          <p:nvPr/>
        </p:nvSpPr>
        <p:spPr>
          <a:xfrm>
            <a:off x="8229600" y="3102040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服務 · token</a:t>
            </a:r>
            <a:endParaRPr lang="en-US" sz="1200" dirty="0"/>
          </a:p>
        </p:txBody>
      </p:sp>
      <p:sp>
        <p:nvSpPr>
          <p:cNvPr id="21" name="fb1bdfc6-3fc1-4941-ac93-b58ce415d6fb"/>
          <p:cNvSpPr/>
          <p:nvPr/>
        </p:nvSpPr>
        <p:spPr>
          <a:xfrm>
            <a:off x="2651760" y="3551744"/>
            <a:ext cx="457200" cy="1272746"/>
          </a:xfrm>
          <a:prstGeom prst="line">
            <a:avLst/>
          </a:prstGeom>
          <a:noFill/>
          <a:ln w="22225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22" name="2da583cb-38e4-484e-80fd-5f08c1f87ff5"/>
          <p:cNvSpPr/>
          <p:nvPr/>
        </p:nvSpPr>
        <p:spPr>
          <a:xfrm>
            <a:off x="3108960" y="4272966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62d6965d-4b65-4c4f-b32a-d780163d6bf9"/>
          <p:cNvSpPr/>
          <p:nvPr/>
        </p:nvSpPr>
        <p:spPr>
          <a:xfrm>
            <a:off x="3246120" y="4527516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46c9062d-acc4-4a3c-97a2-6c3b7f9e7eb4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386938" y="4658184"/>
            <a:ext cx="358445" cy="358445"/>
          </a:xfrm>
          <a:prstGeom prst="rect">
            <a:avLst/>
          </a:prstGeom>
        </p:spPr>
      </p:pic>
      <p:sp>
        <p:nvSpPr>
          <p:cNvPr id="25" name="8fe415d1-b7db-474e-b07b-89b61516c699"/>
          <p:cNvSpPr/>
          <p:nvPr/>
        </p:nvSpPr>
        <p:spPr>
          <a:xfrm>
            <a:off x="4069080" y="4374786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8091</a:t>
            </a:r>
            <a:endParaRPr lang="en-US" sz="1700" dirty="0"/>
          </a:p>
        </p:txBody>
      </p:sp>
      <p:sp>
        <p:nvSpPr>
          <p:cNvPr id="26" name="82db6945-730e-4468-afde-50779c5b2c67"/>
          <p:cNvSpPr/>
          <p:nvPr/>
        </p:nvSpPr>
        <p:spPr>
          <a:xfrm>
            <a:off x="4069080" y="4824490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· Basic(LDAP)/ Bearer / client 憑證(REQUESTED)</a:t>
            </a:r>
            <a:endParaRPr lang="en-US" sz="1300" dirty="0"/>
          </a:p>
        </p:txBody>
      </p:sp>
      <p:sp>
        <p:nvSpPr>
          <p:cNvPr id="27" name="ea9b1d39-ff11-4838-a957-e55b13ffc81f"/>
          <p:cNvSpPr/>
          <p:nvPr/>
        </p:nvSpPr>
        <p:spPr>
          <a:xfrm>
            <a:off x="8229600" y="4374786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 · 管理 API</a:t>
            </a:r>
            <a:endParaRPr lang="en-US" sz="1200" dirty="0"/>
          </a:p>
        </p:txBody>
      </p:sp>
      <p:sp>
        <p:nvSpPr>
          <p:cNvPr id="28" name="a0b95bc0-fa5e-4368-a91d-1ed5fa516931"/>
          <p:cNvSpPr/>
          <p:nvPr/>
        </p:nvSpPr>
        <p:spPr>
          <a:xfrm>
            <a:off x="548640" y="5588137"/>
            <a:ext cx="758952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內部通道不走 AD、不走 mTLS(AD 不含服務帳號、憑證不另發)→ 身分由帳號提供:INTERNAL 用 SCRAM、CONTROLLER 用 PLAIN;LDAP callback 只掛 CLIENT</a:t>
            </a:r>
            <a:endParaRPr lang="en-US" sz="1100" dirty="0"/>
          </a:p>
        </p:txBody>
      </p:sp>
      <p:sp>
        <p:nvSpPr>
          <p:cNvPr id="29" name="774d5fca-fe58-4588-9a8e-a3f47b6dd4ed"/>
          <p:cNvSpPr/>
          <p:nvPr/>
        </p:nvSpPr>
        <p:spPr>
          <a:xfrm>
            <a:off x="8275320" y="5588137"/>
            <a:ext cx="3364992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防火牆:9092 只開給 broker / controller 節點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MDS:RBAC 的中樞(內嵌於 broker)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換 token、管 RBAC、向 AD 查群組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3d0d6b3-abe5-47bf-8623-c6ffc57d8f7e"/>
          <p:cNvSpPr/>
          <p:nvPr/>
        </p:nvSpPr>
        <p:spPr>
          <a:xfrm>
            <a:off x="54864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0E2841">
              <a:alpha val="12000"/>
            </a:srgbClr>
          </a:solidFill>
          <a:ln w="19050">
            <a:solidFill>
              <a:srgbClr val="0E2841"/>
            </a:solidFill>
            <a:prstDash val="solid"/>
          </a:ln>
        </p:spPr>
      </p:sp>
      <p:sp>
        <p:nvSpPr>
          <p:cNvPr id="3" name="c1f42f18-871a-4928-b675-c9f23c8d9343"/>
          <p:cNvSpPr/>
          <p:nvPr/>
        </p:nvSpPr>
        <p:spPr>
          <a:xfrm>
            <a:off x="15316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0E2841">
              <a:alpha val="15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4" name="a0b531da-119b-47ee-af33-a27228847dd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652321" y="1966751"/>
            <a:ext cx="307238" cy="307238"/>
          </a:xfrm>
          <a:prstGeom prst="rect">
            <a:avLst/>
          </a:prstGeom>
        </p:spPr>
      </p:pic>
      <p:sp>
        <p:nvSpPr>
          <p:cNvPr id="5" name="3e9507bc-91ee-41c6-be53-8e9506850290"/>
          <p:cNvSpPr/>
          <p:nvPr/>
        </p:nvSpPr>
        <p:spPr>
          <a:xfrm>
            <a:off x="62179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管理者</a:t>
            </a:r>
            <a:endParaRPr lang="en-US" sz="1400" dirty="0"/>
          </a:p>
        </p:txBody>
      </p:sp>
      <p:sp>
        <p:nvSpPr>
          <p:cNvPr id="6" name="1ca4648f-dfd8-4e7d-8220-82c7a9a914b3"/>
          <p:cNvSpPr/>
          <p:nvPr/>
        </p:nvSpPr>
        <p:spPr>
          <a:xfrm>
            <a:off x="64008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 C3 或 API 指派 role binding</a:t>
            </a:r>
            <a:endParaRPr lang="en-US" sz="1150" dirty="0"/>
          </a:p>
        </p:txBody>
      </p:sp>
      <p:sp>
        <p:nvSpPr>
          <p:cNvPr id="7" name="e871feeb-8416-4228-9613-21ad01144b53"/>
          <p:cNvSpPr/>
          <p:nvPr/>
        </p:nvSpPr>
        <p:spPr>
          <a:xfrm>
            <a:off x="338328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8" name="193b4a7b-343d-426b-9833-3836215dd776"/>
          <p:cNvSpPr/>
          <p:nvPr/>
        </p:nvSpPr>
        <p:spPr>
          <a:xfrm>
            <a:off x="43662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9" name="ff655664-12b4-4b19-b8b2-f37303d3bf5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486961" y="1966751"/>
            <a:ext cx="307238" cy="307238"/>
          </a:xfrm>
          <a:prstGeom prst="rect">
            <a:avLst/>
          </a:prstGeom>
        </p:spPr>
      </p:pic>
      <p:sp>
        <p:nvSpPr>
          <p:cNvPr id="10" name="4b3a0677-0584-4928-83c4-d3280a34b46a"/>
          <p:cNvSpPr/>
          <p:nvPr/>
        </p:nvSpPr>
        <p:spPr>
          <a:xfrm>
            <a:off x="345643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11" name="4c3fa4d0-9651-4d8c-892c-850dd629869f"/>
          <p:cNvSpPr/>
          <p:nvPr/>
        </p:nvSpPr>
        <p:spPr>
          <a:xfrm>
            <a:off x="347472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認證:Basic(AD)· MDS token(Bearer)· client 憑證(mTLS)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token · 管理 RBAC</a:t>
            </a:r>
            <a:endParaRPr lang="en-US" sz="1150" dirty="0"/>
          </a:p>
        </p:txBody>
      </p:sp>
      <p:sp>
        <p:nvSpPr>
          <p:cNvPr id="12" name="cfa6b77f-338d-4651-9e25-c855c1d5c974"/>
          <p:cNvSpPr/>
          <p:nvPr/>
        </p:nvSpPr>
        <p:spPr>
          <a:xfrm>
            <a:off x="621792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25668b09-d68f-4805-97b2-60180782778e"/>
          <p:cNvSpPr/>
          <p:nvPr/>
        </p:nvSpPr>
        <p:spPr>
          <a:xfrm>
            <a:off x="720090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7d719ad5-a3e8-45ba-bf3e-d7928e959fe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321601" y="1966751"/>
            <a:ext cx="307238" cy="307238"/>
          </a:xfrm>
          <a:prstGeom prst="rect">
            <a:avLst/>
          </a:prstGeom>
        </p:spPr>
      </p:pic>
      <p:sp>
        <p:nvSpPr>
          <p:cNvPr id="15" name="e12678b5-b043-44d5-adce-e75ab47af3c8"/>
          <p:cNvSpPr/>
          <p:nvPr/>
        </p:nvSpPr>
        <p:spPr>
          <a:xfrm>
            <a:off x="629107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topic</a:t>
            </a:r>
            <a:endParaRPr lang="en-US" sz="1400" dirty="0"/>
          </a:p>
        </p:txBody>
      </p:sp>
      <p:sp>
        <p:nvSpPr>
          <p:cNvPr id="16" name="d5eccebe-0e91-4ea5-a6bc-13f23db836a8"/>
          <p:cNvSpPr/>
          <p:nvPr/>
        </p:nvSpPr>
        <p:spPr>
          <a:xfrm>
            <a:off x="630936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role binding 與使用者→群組</a:t>
            </a:r>
            <a:endParaRPr lang="en-US" sz="1150" dirty="0"/>
          </a:p>
        </p:txBody>
      </p:sp>
      <p:sp>
        <p:nvSpPr>
          <p:cNvPr id="17" name="57572126-8686-4686-8684-cd4f14446e2f"/>
          <p:cNvSpPr/>
          <p:nvPr/>
        </p:nvSpPr>
        <p:spPr>
          <a:xfrm>
            <a:off x="905256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580751ec-0493-4c14-965e-40c0ca7c94c0"/>
          <p:cNvSpPr/>
          <p:nvPr/>
        </p:nvSpPr>
        <p:spPr>
          <a:xfrm>
            <a:off x="10035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39a82100-b6d8-4945-bd82-090136ad4195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56241" y="1966751"/>
            <a:ext cx="307238" cy="307238"/>
          </a:xfrm>
          <a:prstGeom prst="rect">
            <a:avLst/>
          </a:prstGeom>
        </p:spPr>
      </p:pic>
      <p:sp>
        <p:nvSpPr>
          <p:cNvPr id="20" name="20bc87e7-59ce-4c2c-af89-c322885c3a64"/>
          <p:cNvSpPr/>
          <p:nvPr/>
        </p:nvSpPr>
        <p:spPr>
          <a:xfrm>
            <a:off x="912571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每台 broker</a:t>
            </a:r>
            <a:endParaRPr lang="en-US" sz="1400" dirty="0"/>
          </a:p>
        </p:txBody>
      </p:sp>
      <p:sp>
        <p:nvSpPr>
          <p:cNvPr id="21" name="52cab65c-00b9-435b-afcc-2fe663558cac"/>
          <p:cNvSpPr/>
          <p:nvPr/>
        </p:nvSpPr>
        <p:spPr>
          <a:xfrm>
            <a:off x="914400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讀取並 cache,本地授權</a:t>
            </a:r>
            <a:endParaRPr lang="en-US" sz="1150" dirty="0"/>
          </a:p>
        </p:txBody>
      </p:sp>
      <p:sp>
        <p:nvSpPr>
          <p:cNvPr id="22" name="eafa95ef-9584-4b9b-8ffd-0fdeb3c2fc6e"/>
          <p:cNvSpPr/>
          <p:nvPr/>
        </p:nvSpPr>
        <p:spPr>
          <a:xfrm>
            <a:off x="306324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cc4a4268-939d-4685-9edd-c816267506b6"/>
          <p:cNvSpPr/>
          <p:nvPr/>
        </p:nvSpPr>
        <p:spPr>
          <a:xfrm>
            <a:off x="589788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2db8c664-55e7-4955-90c7-92b5e63f03a0"/>
          <p:cNvSpPr/>
          <p:nvPr/>
        </p:nvSpPr>
        <p:spPr>
          <a:xfrm>
            <a:off x="873252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e229171b-f70b-4d44-8bd9-71bbf65c8132"/>
          <p:cNvSpPr/>
          <p:nvPr/>
        </p:nvSpPr>
        <p:spPr>
          <a:xfrm>
            <a:off x="3383280" y="3806293"/>
            <a:ext cx="2514600" cy="18666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6" name="96edd443-5597-4e18-a27b-ae3d58bc5745"/>
          <p:cNvSpPr/>
          <p:nvPr/>
        </p:nvSpPr>
        <p:spPr>
          <a:xfrm>
            <a:off x="436626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7" name="7dc9b53e-e3e9-49e8-aadc-282f260e6c0b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486961" y="4045569"/>
            <a:ext cx="307238" cy="307238"/>
          </a:xfrm>
          <a:prstGeom prst="rect">
            <a:avLst/>
          </a:prstGeom>
        </p:spPr>
      </p:pic>
      <p:sp>
        <p:nvSpPr>
          <p:cNvPr id="28" name="186f74c0-7b2a-40bf-89a9-56e2bf384ce0"/>
          <p:cNvSpPr/>
          <p:nvPr/>
        </p:nvSpPr>
        <p:spPr>
          <a:xfrm>
            <a:off x="3456432" y="4527516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AD(LDAP)</a:t>
            </a:r>
            <a:endParaRPr lang="en-US" sz="1400" dirty="0"/>
          </a:p>
        </p:txBody>
      </p:sp>
      <p:sp>
        <p:nvSpPr>
          <p:cNvPr id="29" name="1fc6f3c6-a3ec-4694-b9dc-22707f80c264"/>
          <p:cNvSpPr/>
          <p:nvPr/>
        </p:nvSpPr>
        <p:spPr>
          <a:xfrm>
            <a:off x="3474720" y="4909339"/>
            <a:ext cx="2331720" cy="721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唯讀 bind 帳號:搜尋使用者、定期查群組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驗密碼:用使用者自己的 DN + 密碼 simple bind</a:t>
            </a:r>
            <a:endParaRPr lang="en-US" sz="1150" dirty="0"/>
          </a:p>
        </p:txBody>
      </p:sp>
      <p:sp>
        <p:nvSpPr>
          <p:cNvPr id="30" name="45a7b385-c9c4-4868-b63c-f11faa079ba6"/>
          <p:cNvSpPr/>
          <p:nvPr/>
        </p:nvSpPr>
        <p:spPr>
          <a:xfrm>
            <a:off x="4636008" y="3509319"/>
            <a:ext cx="0" cy="296974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08c7cbe9-0762-4145-a77b-fa08e4ea7467"/>
          <p:cNvSpPr/>
          <p:nvPr/>
        </p:nvSpPr>
        <p:spPr>
          <a:xfrm>
            <a:off x="4709160" y="3534774"/>
            <a:ext cx="12801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查詢 / bind</a:t>
            </a:r>
            <a:endParaRPr lang="en-US" sz="1000" dirty="0"/>
          </a:p>
        </p:txBody>
      </p:sp>
      <p:sp>
        <p:nvSpPr>
          <p:cNvPr id="32" name="30680a9e-6ae2-4ae2-9e9f-2af1b7a6fd4a"/>
          <p:cNvSpPr/>
          <p:nvPr/>
        </p:nvSpPr>
        <p:spPr>
          <a:xfrm>
            <a:off x="6217920" y="3806293"/>
            <a:ext cx="5422392" cy="1866694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69247fff-d77c-476c-b21f-9380abbb72b8"/>
          <p:cNvSpPr/>
          <p:nvPr/>
        </p:nvSpPr>
        <p:spPr>
          <a:xfrm>
            <a:off x="6400800" y="3891143"/>
            <a:ext cx="50292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重點</a:t>
            </a:r>
            <a:endParaRPr lang="en-US" sz="1500" dirty="0"/>
          </a:p>
        </p:txBody>
      </p:sp>
      <p:sp>
        <p:nvSpPr>
          <p:cNvPr id="34" name="33557039-c6c1-4b19-ab8c-52b46dacd925"/>
          <p:cNvSpPr/>
          <p:nvPr/>
        </p:nvSpPr>
        <p:spPr>
          <a:xfrm>
            <a:off x="6400800" y="4230542"/>
            <a:ext cx="5074920" cy="144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群組異動在 AD 做,Kafka 端零變更;由一台 broker 擔任 writer 向 AD 查群組(預設 60 秒;demo 5 秒),寫入 RBAC topic,其他 broker 讀取後更新快取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人:Basic(AD 帳密)經 MDS 向 AD 驗證;各 broker 都連 AD,需匯入 AD 的 LDAPS CA root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機器 / 平台元件:client 憑證(mTLS)→ CN 對映成主體 → 向 MDS 換 token;憑證主體只能綁 User:(不支援群組)</a:t>
            </a:r>
            <a:endParaRPr lang="en-US" sz="105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token:JWT,壽命可設(demo 設 1 小時);元件自動重新換;刪除 AD 帳號後,舊 token 到期前仍有效(實測)</a:t>
            </a:r>
            <a:endParaRPr lang="en-US" sz="1050" dirty="0"/>
          </a:p>
        </p:txBody>
      </p:sp>
      <p:sp>
        <p:nvSpPr>
          <p:cNvPr id="35" name="fb1c7cdc-d5f1-4c3c-a5cb-72a4ade40ee6"/>
          <p:cNvSpPr/>
          <p:nvPr/>
        </p:nvSpPr>
        <p:spPr>
          <a:xfrm>
            <a:off x="548640" y="3806293"/>
            <a:ext cx="2514600" cy="1866694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c263bf6c-83a6-45c1-8f26-a2c4483780da"/>
          <p:cNvSpPr/>
          <p:nvPr/>
        </p:nvSpPr>
        <p:spPr>
          <a:xfrm>
            <a:off x="141732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7" name="0b320c67-a958-49d6-b987-e8a8e2b94e93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538021" y="4045569"/>
            <a:ext cx="307238" cy="307238"/>
          </a:xfrm>
          <a:prstGeom prst="rect">
            <a:avLst/>
          </a:prstGeom>
        </p:spPr>
      </p:pic>
      <p:sp>
        <p:nvSpPr>
          <p:cNvPr id="38" name="69941974-00f7-4257-829b-f99b213242df"/>
          <p:cNvSpPr/>
          <p:nvPr/>
        </p:nvSpPr>
        <p:spPr>
          <a:xfrm>
            <a:off x="640080" y="4527516"/>
            <a:ext cx="23317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 AD 唯讀查詢帳號</a:t>
            </a:r>
            <a:endParaRPr lang="en-US" sz="125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bind DN;不要用真人帳號;建議 LDAPS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 → role:依職責分層授權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同一個 AD,不同群組 = 不同權限層級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9af07b5-693a-4631-a0a9-88aad15a20a6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3" name="524aa28a-b810-48fb-b1d2-a722711a6d7e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4" name="5359cf8c-7416-4048-9e96-fe2aeca73c28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0929b0f0-9059-4e1e-9a3b-ea4626cac3da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6" name="a8e87251-3a77-43c4-894e-044382b5c8f4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9fb4433e-69b1-4fba-9796-526724ebb152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8" name="a770cfa6-69df-4e59-870d-8eb0594671f5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dd45c4b6-a5ea-47f8-8072-7a5d2bebb06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6296d690-e117-41c5-9839-cc5c4add90d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ad830d03-e820-4785-9a90-892a040dc18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bc120f23-127d-4d03-8751-b0729c57a6e1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ee63302e-13a3-465a-8357-e61fe1924020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9b421988-bef9-41fe-86af-a60a5653f962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d1089ad5-6968-4f20-8bb1-7ec268195322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f4e9542d-348d-41ef-a7e9-8ab374570586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de1a6aff-7aaf-4cae-9e51-9e9a5663f11e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dbb7e448-2a11-4e56-b635-b7c8caf4b3fc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b4c5c256-7a5e-410a-9db2-0f01d592d130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78edc162-4ac3-41de-8e01-36f69c76601e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d7b7359b-e7a6-465d-b0d8-f026630c07fa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8fe99f8b-5603-4fba-988d-65d008485803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76defb36-65ba-45b1-b1b5-ed99299e8227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c6c5b79b-7041-4300-a31a-bad83cf05a35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b9c37264-1564-4942-970e-31b0517f6a35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88c172a2-64d8-42cc-a94c-c6b85a521b08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f3a40686-2322-4fa5-aab4-a0ea423fd73f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38ccc9b6-f444-47ba-b433-a5a7b2afae1f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f34851cc-1e60-4899-ba00-6d798b236bc7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113d6538-03b1-446e-bf17-7050972a4fa0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1051ca1c-a475-446e-b71d-50749a6b4f0a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47959316-808c-4089-9b93-6d848490e094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b7a13557-3641-435d-a463-414078ffd00a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08ece880-19f2-416c-b75a-ab6f5e1084a7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e22fedcb-ac82-481f-b797-94b51451470a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42761e06-9b49-41c9-8dab-96ba9c551a01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44ee0f23-63b5-4528-95d0-1678542d43a8" descr="preencoded.png">    </p:cNvPr>
          <p:cNvPicPr>
            <a:picLocks noChangeAspect="1"/>
          </p:cNvPicPr>
          <p:nvPr/>
        </p:nvPicPr>
        <p:blipFill>
          <a:blip r:embed="rId18-created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fe1d0c83-e381-48d4-9ce0-6331abbcc265" descr="preencoded.png">    </p:cNvPr>
          <p:cNvPicPr>
            <a:picLocks noChangeAspect="1"/>
          </p:cNvPicPr>
          <p:nvPr/>
        </p:nvPicPr>
        <p:blipFill>
          <a:blip r:embed="rId19-created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bedcd7ca-76a6-4f8a-8863-abb8918d4dc5" descr="preencoded.png">    </p:cNvPr>
          <p:cNvPicPr>
            <a:picLocks noChangeAspect="1"/>
          </p:cNvPicPr>
          <p:nvPr/>
        </p:nvPicPr>
        <p:blipFill>
          <a:blip r:embed="rId20-created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632d4a3e-0e42-49cc-a66c-3eb722c8ad2e" descr="preencoded.png">    </p:cNvPr>
          <p:cNvPicPr>
            <a:picLocks noChangeAspect="1"/>
          </p:cNvPicPr>
          <p:nvPr/>
        </p:nvPicPr>
        <p:blipFill>
          <a:blip r:embed="rId21-created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83d38a69-ad02-43b0-995b-8561f2f65377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c129a1c5-43b4-4616-b81d-66c1e7dc4c6e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3f94330b-6c19-44aa-8dad-a2c382a187d7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9fce08eb-655f-4cdf-b104-eb702e72977d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73cc539b-e6ed-4e4f-a70d-6968533d725c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e17b2d3a-e94e-4ed6-9140-3f2881e8a865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27263fd4-9d65-4699-9298-bdc729b223aa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留痕</a:t>
            </a:r>
            <a:endParaRPr lang="en-US" sz="1400" dirty="0"/>
          </a:p>
        </p:txBody>
      </p:sp>
      <p:sp>
        <p:nvSpPr>
          <p:cNvPr id="48" name="5fa28639-0312-451f-89cc-0e307b1532d3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2ccdf20-86ac-4c50-86b7-af5033d1efde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dcfebe01-742a-4202-ae26-e7a805d65d60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76e246de-5823-445b-bfba-aa36a5bcfd24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c215f51e-6e6f-432a-9461-1d917c610bee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d585edce-5a45-4b4a-82d9-373605da37f5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9a20dd1c-d48d-4e76-a3cd-0a4d5b4691d4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40639e2a-8253-4fb4-bbd9-3a2b67a20f3d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17acf8f8-41ea-422d-aff6-7d88f16b32a4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9ee5b379-1c61-434d-97f4-1ee0af856cfa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7a429561-38aa-42f9-abd0-70e68988db86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74a9c53d-5409-4ec5-9c3c-935a3d9b9e6f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fc802964-4817-48e5-ad0c-33d465d899dd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76290127-7381-4474-863a-e52332a5ecd7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cde88156-4787-40af-9a90-96280d006d49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5a489534-69e5-41e0-a5e3-a5265b756e15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c374ff63-9af2-4ba9-8abc-26ce72345aef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a8789a0e-e444-40ed-be29-308e6ec16703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ae194be6-b3df-4013-b20d-7579d852e3d7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3a097737-0bf6-4deb-b075-361bbc9ede9e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029b9c91-6d04-4d13-8b07-7891b0ce9bbf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9b55c7c7-d1ca-4cf1-bedb-b495d0fb363a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a63c4634-1a61-42cc-b7d7-31a02e8f03d0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812021f8-6ff4-4624-825d-eb04e071a264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77a7a794-9d08-42f6-8a7e-487f1621d52c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05694561-23e4-4d74-b67e-73c86e4a50f7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c1e086ff-7021-4d0c-8b41-f9b1a4416c88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daf2217e-3d70-4eb3-aa4c-c01d2caa95d6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47db169a-8504-472a-9e1b-adb6e9f71cf8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6bcb4d8e-62cd-4e20-ac36-983b7c5fcd41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d7ba6248-4196-4060-8f27-21478894036b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3509e095-f8a8-4b1b-a191-605abd309b42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7132b103-d69c-4711-8204-1e35967db946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2b8782b6-c73f-4450-875f-3db6f9afef76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4af35af3-ddab-4716-a104-032503b1684a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b3e95793-5d47-4d0e-9f78-cdc25a92537a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24dc4116-4ae8-4e07-b02c-1b50103f64f8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74d7d623-fc06-4036-9be8-322b79e94225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a5958a28-ecf6-414f-b02e-8da1f84bc89d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服務帳號:SCRAM,不放 AD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沒有服務帳號 → SCRAM + 最小權限 + 輪替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e5faa3f-d60a-49ee-b37c-f6ccf3f7a442"/>
          <p:cNvSpPr/>
          <p:nvPr/>
        </p:nvSpPr>
        <p:spPr>
          <a:xfrm>
            <a:off x="548640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0d30f1d8-5a73-4dc0-8563-0e91ab332e02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6eb3c7d5-987c-4db5-a62b-113d711a6b29"/>
          <p:cNvSpPr/>
          <p:nvPr/>
        </p:nvSpPr>
        <p:spPr>
          <a:xfrm>
            <a:off x="640080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</a:t>
            </a:r>
            <a:endParaRPr lang="en-US" sz="1400" dirty="0"/>
          </a:p>
        </p:txBody>
      </p:sp>
      <p:sp>
        <p:nvSpPr>
          <p:cNvPr id="5" name="2b0dd1e0-ea72-4e7f-9e8a-9b1c3183842e"/>
          <p:cNvSpPr/>
          <p:nvPr/>
        </p:nvSpPr>
        <p:spPr>
          <a:xfrm>
            <a:off x="640080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kafka-configs 在 Kafka 內建立</a:t>
            </a:r>
            <a:endParaRPr lang="en-US" sz="1100" dirty="0"/>
          </a:p>
        </p:txBody>
      </p:sp>
      <p:sp>
        <p:nvSpPr>
          <p:cNvPr id="6" name="f1bb2dfc-aaad-4b99-b0ae-bd6ee2b0a62f"/>
          <p:cNvSpPr/>
          <p:nvPr/>
        </p:nvSpPr>
        <p:spPr>
          <a:xfrm>
            <a:off x="2560320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da6e28bb-63c6-4d8b-b9ca-30acec211f50"/>
          <p:cNvSpPr/>
          <p:nvPr/>
        </p:nvSpPr>
        <p:spPr>
          <a:xfrm>
            <a:off x="2816352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6f19a11f-39f7-44bf-8386-3862d66809c6"/>
          <p:cNvSpPr/>
          <p:nvPr/>
        </p:nvSpPr>
        <p:spPr>
          <a:xfrm>
            <a:off x="2926080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8cf25df6-537e-43a8-9053-9114db212a6a"/>
          <p:cNvSpPr/>
          <p:nvPr/>
        </p:nvSpPr>
        <p:spPr>
          <a:xfrm>
            <a:off x="2907792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400" dirty="0"/>
          </a:p>
        </p:txBody>
      </p:sp>
      <p:sp>
        <p:nvSpPr>
          <p:cNvPr id="10" name="65fffbdf-c94f-4912-a34b-5b668b96948f"/>
          <p:cNvSpPr/>
          <p:nvPr/>
        </p:nvSpPr>
        <p:spPr>
          <a:xfrm>
            <a:off x="2907792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 User:svc-x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前綴最小權限</a:t>
            </a:r>
            <a:endParaRPr lang="en-US" sz="1100" dirty="0"/>
          </a:p>
        </p:txBody>
      </p:sp>
      <p:sp>
        <p:nvSpPr>
          <p:cNvPr id="11" name="a5a23143-1dc3-4085-8c37-d2419487c236"/>
          <p:cNvSpPr/>
          <p:nvPr/>
        </p:nvSpPr>
        <p:spPr>
          <a:xfrm>
            <a:off x="4828032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be2bd7b0-53b5-4669-9c43-8493b2c9e387"/>
          <p:cNvSpPr/>
          <p:nvPr/>
        </p:nvSpPr>
        <p:spPr>
          <a:xfrm>
            <a:off x="5084064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af875e2e-0144-4231-81da-8cec9381b4ee"/>
          <p:cNvSpPr/>
          <p:nvPr/>
        </p:nvSpPr>
        <p:spPr>
          <a:xfrm>
            <a:off x="5193792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c9914c83-433a-4d5a-8549-3e28869fc1d1"/>
          <p:cNvSpPr/>
          <p:nvPr/>
        </p:nvSpPr>
        <p:spPr>
          <a:xfrm>
            <a:off x="5175504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</a:t>
            </a:r>
            <a:endParaRPr lang="en-US" sz="1400" dirty="0"/>
          </a:p>
        </p:txBody>
      </p:sp>
      <p:sp>
        <p:nvSpPr>
          <p:cNvPr id="15" name="66078cf4-111b-48c0-81fc-014bd4920d16"/>
          <p:cNvSpPr/>
          <p:nvPr/>
        </p:nvSpPr>
        <p:spPr>
          <a:xfrm>
            <a:off x="5175504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設定檔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權限 600</a:t>
            </a:r>
            <a:endParaRPr lang="en-US" sz="1100" dirty="0"/>
          </a:p>
        </p:txBody>
      </p:sp>
      <p:sp>
        <p:nvSpPr>
          <p:cNvPr id="16" name="c1723e39-26cf-4253-9277-d68e1554afb1"/>
          <p:cNvSpPr/>
          <p:nvPr/>
        </p:nvSpPr>
        <p:spPr>
          <a:xfrm>
            <a:off x="7095744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7" name="0e0685cf-7c30-4eb7-a954-3e7d01f53abb"/>
          <p:cNvSpPr/>
          <p:nvPr/>
        </p:nvSpPr>
        <p:spPr>
          <a:xfrm>
            <a:off x="7351776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46b21601-0e2d-45fd-97d8-f5e1b59236d4"/>
          <p:cNvSpPr/>
          <p:nvPr/>
        </p:nvSpPr>
        <p:spPr>
          <a:xfrm>
            <a:off x="7461504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31f4307f-f20c-49b2-b3be-acbe48dd9685"/>
          <p:cNvSpPr/>
          <p:nvPr/>
        </p:nvSpPr>
        <p:spPr>
          <a:xfrm>
            <a:off x="7443216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</a:t>
            </a:r>
            <a:endParaRPr lang="en-US" sz="1400" dirty="0"/>
          </a:p>
        </p:txBody>
      </p:sp>
      <p:sp>
        <p:nvSpPr>
          <p:cNvPr id="20" name="8ed10635-1610-47cd-bafa-c819a331a3f2"/>
          <p:cNvSpPr/>
          <p:nvPr/>
        </p:nvSpPr>
        <p:spPr>
          <a:xfrm>
            <a:off x="7443216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新帳號並行 → 切換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停舊</a:t>
            </a:r>
            <a:endParaRPr lang="en-US" sz="1100" dirty="0"/>
          </a:p>
        </p:txBody>
      </p:sp>
      <p:sp>
        <p:nvSpPr>
          <p:cNvPr id="21" name="8fa1c294-9271-4a3a-a413-f042dda45127"/>
          <p:cNvSpPr/>
          <p:nvPr/>
        </p:nvSpPr>
        <p:spPr>
          <a:xfrm>
            <a:off x="9363456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a5a8ce2f-640b-4983-835e-e75ff4a3fb01"/>
          <p:cNvSpPr/>
          <p:nvPr/>
        </p:nvSpPr>
        <p:spPr>
          <a:xfrm>
            <a:off x="9619488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3" name="8293a77a-3943-4d88-b81b-bb7a61e614b5"/>
          <p:cNvSpPr/>
          <p:nvPr/>
        </p:nvSpPr>
        <p:spPr>
          <a:xfrm>
            <a:off x="9729216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3c09e3f7-2736-4c85-b77c-e00c1a69b35b"/>
          <p:cNvSpPr/>
          <p:nvPr/>
        </p:nvSpPr>
        <p:spPr>
          <a:xfrm>
            <a:off x="9710928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保管</a:t>
            </a:r>
            <a:endParaRPr lang="en-US" sz="1400" dirty="0"/>
          </a:p>
        </p:txBody>
      </p:sp>
      <p:sp>
        <p:nvSpPr>
          <p:cNvPr id="25" name="079180ae-6c43-419d-b409-83ccc3178e27"/>
          <p:cNvSpPr/>
          <p:nvPr/>
        </p:nvSpPr>
        <p:spPr>
          <a:xfrm>
            <a:off x="9710928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密碼放密碼庫</a:t>
            </a:r>
            <a:endParaRPr lang="en-US" sz="1100" dirty="0"/>
          </a:p>
        </p:txBody>
      </p:sp>
      <p:sp>
        <p:nvSpPr>
          <p:cNvPr id="26" name="3b76e8b2-5b79-43f0-8ba2-6ec0c8e13611"/>
          <p:cNvSpPr/>
          <p:nvPr/>
        </p:nvSpPr>
        <p:spPr>
          <a:xfrm>
            <a:off x="54864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7" name="32619fe0-19ee-4a95-a5f7-30c6eab808f7"/>
          <p:cNvSpPr/>
          <p:nvPr/>
        </p:nvSpPr>
        <p:spPr>
          <a:xfrm>
            <a:off x="73152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8" name="97b87a10-f271-4ca1-b689-14c763ca562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4021811"/>
            <a:ext cx="358445" cy="358445"/>
          </a:xfrm>
          <a:prstGeom prst="rect">
            <a:avLst/>
          </a:prstGeom>
        </p:spPr>
      </p:pic>
      <p:sp>
        <p:nvSpPr>
          <p:cNvPr id="29" name="c0aa0bf8-4aee-4f7f-9ae3-578f60d3fe7f"/>
          <p:cNvSpPr/>
          <p:nvPr/>
        </p:nvSpPr>
        <p:spPr>
          <a:xfrm>
            <a:off x="150876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Kafka(KRaft)內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 AD</a:t>
            </a:r>
            <a:endParaRPr lang="en-US" sz="1300" dirty="0"/>
          </a:p>
        </p:txBody>
      </p:sp>
      <p:sp>
        <p:nvSpPr>
          <p:cNvPr id="30" name="a6e98ac7-ac2f-41b1-a672-704984e1c6c7"/>
          <p:cNvSpPr/>
          <p:nvPr/>
        </p:nvSpPr>
        <p:spPr>
          <a:xfrm>
            <a:off x="425196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1" name="7636835e-af07-4da0-8163-f368850ee1c0"/>
          <p:cNvSpPr/>
          <p:nvPr/>
        </p:nvSpPr>
        <p:spPr>
          <a:xfrm>
            <a:off x="443484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2" name="3354432c-255f-4fd6-b90a-34988d9cac4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5658" y="4021811"/>
            <a:ext cx="358445" cy="358445"/>
          </a:xfrm>
          <a:prstGeom prst="rect">
            <a:avLst/>
          </a:prstGeom>
        </p:spPr>
      </p:pic>
      <p:sp>
        <p:nvSpPr>
          <p:cNvPr id="33" name="a5f0cd7f-97bd-406b-bf47-1ebea8448cd5"/>
          <p:cNvSpPr/>
          <p:nvPr/>
        </p:nvSpPr>
        <p:spPr>
          <a:xfrm>
            <a:off x="521208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要有輪替流程與提醒</a:t>
            </a:r>
            <a:endParaRPr lang="en-US" sz="1300" dirty="0"/>
          </a:p>
        </p:txBody>
      </p:sp>
      <p:sp>
        <p:nvSpPr>
          <p:cNvPr id="34" name="0045ba8d-4a27-4454-95b3-8c7e0b46b3cb"/>
          <p:cNvSpPr/>
          <p:nvPr/>
        </p:nvSpPr>
        <p:spPr>
          <a:xfrm>
            <a:off x="7955280" y="3721443"/>
            <a:ext cx="3685032" cy="1018197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5" name="6dfdf0c8-0895-4df3-ac93-12f548508c39"/>
          <p:cNvSpPr/>
          <p:nvPr/>
        </p:nvSpPr>
        <p:spPr>
          <a:xfrm>
            <a:off x="813816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6" name="985d5e4e-2c82-462c-95cd-1d3323dcb18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278978" y="4021811"/>
            <a:ext cx="358445" cy="358445"/>
          </a:xfrm>
          <a:prstGeom prst="rect">
            <a:avLst/>
          </a:prstGeom>
        </p:spPr>
      </p:pic>
      <p:sp>
        <p:nvSpPr>
          <p:cNvPr id="37" name="b027490b-038a-4700-9acc-ace2a4ac8a36"/>
          <p:cNvSpPr/>
          <p:nvPr/>
        </p:nvSpPr>
        <p:spPr>
          <a:xfrm>
            <a:off x="8915400" y="3806293"/>
            <a:ext cx="26517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不走 AD 登入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沒有服務帳號</a:t>
            </a:r>
            <a:endParaRPr lang="en-US" sz="1300" dirty="0"/>
          </a:p>
        </p:txBody>
      </p:sp>
      <p:sp>
        <p:nvSpPr>
          <p:cNvPr id="38" name="2affe4d3-39a6-41d8-b4ed-5ccbfe7ac8e3"/>
          <p:cNvSpPr/>
          <p:nvPr/>
        </p:nvSpPr>
        <p:spPr>
          <a:xfrm>
            <a:off x="548640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建新帳號 svc-x-v2</a:t>
            </a:r>
            <a:endParaRPr lang="en-US" sz="1200" dirty="0"/>
          </a:p>
        </p:txBody>
      </p:sp>
      <p:sp>
        <p:nvSpPr>
          <p:cNvPr id="39" name="60b4dc87-5b48-4ba2-a83b-ca4c3fb34cff"/>
          <p:cNvSpPr/>
          <p:nvPr/>
        </p:nvSpPr>
        <p:spPr>
          <a:xfrm>
            <a:off x="3063240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0" name="074d0ff3-8145-4c1c-9aa8-ac3bc1d88ba3"/>
          <p:cNvSpPr/>
          <p:nvPr/>
        </p:nvSpPr>
        <p:spPr>
          <a:xfrm>
            <a:off x="3410712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重綁相同 role</a:t>
            </a:r>
            <a:endParaRPr lang="en-US" sz="1200" dirty="0"/>
          </a:p>
        </p:txBody>
      </p:sp>
      <p:sp>
        <p:nvSpPr>
          <p:cNvPr id="41" name="830d7cc4-4678-4a2c-9b48-25c00bb24de0"/>
          <p:cNvSpPr/>
          <p:nvPr/>
        </p:nvSpPr>
        <p:spPr>
          <a:xfrm>
            <a:off x="5925312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2" name="f0c9d779-26a6-4a66-9f8a-c5807eaac8fb"/>
          <p:cNvSpPr/>
          <p:nvPr/>
        </p:nvSpPr>
        <p:spPr>
          <a:xfrm>
            <a:off x="6272784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應用逐步切換</a:t>
            </a:r>
            <a:endParaRPr lang="en-US" sz="1200" dirty="0"/>
          </a:p>
        </p:txBody>
      </p:sp>
      <p:sp>
        <p:nvSpPr>
          <p:cNvPr id="43" name="ef99f044-75fe-423b-b47b-400f3ef0df97"/>
          <p:cNvSpPr/>
          <p:nvPr/>
        </p:nvSpPr>
        <p:spPr>
          <a:xfrm>
            <a:off x="8787384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4" name="5fa52fd2-e916-46a0-be35-4b61f30ce955"/>
          <p:cNvSpPr/>
          <p:nvPr/>
        </p:nvSpPr>
        <p:spPr>
          <a:xfrm>
            <a:off x="9134856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刪舊帳號與舊 binding</a:t>
            </a:r>
            <a:endParaRPr lang="en-US" sz="1200" dirty="0"/>
          </a:p>
        </p:txBody>
      </p:sp>
      <p:sp>
        <p:nvSpPr>
          <p:cNvPr id="45" name="3c82e1d3-2ef3-4712-8470-ef701391c759"/>
          <p:cNvSpPr/>
          <p:nvPr/>
        </p:nvSpPr>
        <p:spPr>
          <a:xfrm>
            <a:off x="548640" y="5460863"/>
            <a:ext cx="11091672" cy="7636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同帳號重設密碼 = 取代:舊密碼立即失效(實測)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不想換帳號名:同帳號可有 SHA-256 + SHA-512 兩組密碼並行(實測可行;需在 broker 設定檔啟用兩機制並重啟)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REST Proxy:legacy app 的入口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人用 Basic、機器用 client 憑證,身分一路傳到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5bafbc5-a8a0-40c8-9aae-9c5841f396f0"/>
          <p:cNvSpPr/>
          <p:nvPr/>
        </p:nvSpPr>
        <p:spPr>
          <a:xfrm>
            <a:off x="548640" y="1600200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人(Postman · 手動測試)</a:t>
            </a:r>
            <a:endParaRPr lang="en-US" sz="1400" dirty="0"/>
          </a:p>
        </p:txBody>
      </p:sp>
      <p:sp>
        <p:nvSpPr>
          <p:cNvPr id="3" name="a8e9d6cc-146f-4812-80f1-79e758f87818"/>
          <p:cNvSpPr/>
          <p:nvPr/>
        </p:nvSpPr>
        <p:spPr>
          <a:xfrm>
            <a:off x="3657600" y="1922629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" name="7cc16988-286b-4c53-a237-6bb03158fa71"/>
          <p:cNvSpPr/>
          <p:nvPr/>
        </p:nvSpPr>
        <p:spPr>
          <a:xfrm>
            <a:off x="3749040" y="1990509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5" name="bafaba91-fc1c-46d2-9cbc-dce542065fd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3841577" y="2076377"/>
            <a:ext cx="235549" cy="235549"/>
          </a:xfrm>
          <a:prstGeom prst="rect">
            <a:avLst/>
          </a:prstGeom>
        </p:spPr>
      </p:pic>
      <p:sp>
        <p:nvSpPr>
          <p:cNvPr id="6" name="1dc85e1e-ce5b-4d9f-8cc3-db2d4aa72e98"/>
          <p:cNvSpPr/>
          <p:nvPr/>
        </p:nvSpPr>
        <p:spPr>
          <a:xfrm>
            <a:off x="4251960" y="1990509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7" name="27519687-e70e-470f-8297-fe0ce4f39c8e"/>
          <p:cNvSpPr/>
          <p:nvPr/>
        </p:nvSpPr>
        <p:spPr>
          <a:xfrm flipV="1">
            <a:off x="43434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8" name="8942bb5a-798d-423c-9081-6f994e41ac09"/>
          <p:cNvSpPr/>
          <p:nvPr/>
        </p:nvSpPr>
        <p:spPr>
          <a:xfrm>
            <a:off x="50292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9" name="6af3d79f-5c24-44c0-8f28-88b6940cf0df"/>
          <p:cNvSpPr/>
          <p:nvPr/>
        </p:nvSpPr>
        <p:spPr>
          <a:xfrm>
            <a:off x="5852160" y="1854749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REST Proxy 把 Basic 帳密轉給 MDS(/authenticate)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MDS 向 AD 驗證,回 token(不經 /impersonate)</a:t>
            </a:r>
            <a:endParaRPr lang="en-US" sz="1000" dirty="0"/>
          </a:p>
        </p:txBody>
      </p:sp>
      <p:sp>
        <p:nvSpPr>
          <p:cNvPr id="10" name="28a6aaa9-cd11-4126-b4d9-1f6820f56c1c"/>
          <p:cNvSpPr/>
          <p:nvPr/>
        </p:nvSpPr>
        <p:spPr>
          <a:xfrm>
            <a:off x="5486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1" name="d158134a-a748-4630-92ca-245aac26dfe2"/>
          <p:cNvSpPr/>
          <p:nvPr/>
        </p:nvSpPr>
        <p:spPr>
          <a:xfrm>
            <a:off x="6400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2" name="12cbe9d2-4afd-4a32-ae67-2fdfeeff742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44687" y="2825769"/>
            <a:ext cx="266273" cy="266273"/>
          </a:xfrm>
          <a:prstGeom prst="rect">
            <a:avLst/>
          </a:prstGeom>
        </p:spPr>
      </p:pic>
      <p:sp>
        <p:nvSpPr>
          <p:cNvPr id="13" name="11ceadc2-fcc3-4520-9fae-2e0352e6eb3e"/>
          <p:cNvSpPr/>
          <p:nvPr/>
        </p:nvSpPr>
        <p:spPr>
          <a:xfrm>
            <a:off x="11887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300" dirty="0"/>
          </a:p>
        </p:txBody>
      </p:sp>
      <p:sp>
        <p:nvSpPr>
          <p:cNvPr id="14" name="20328eae-834a-4d1d-9d39-24bb773e5d10"/>
          <p:cNvSpPr/>
          <p:nvPr/>
        </p:nvSpPr>
        <p:spPr>
          <a:xfrm>
            <a:off x="3657600" y="2618397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5" name="0fc2844f-ecd8-44a9-a4d2-5d5bb2169baa"/>
          <p:cNvSpPr/>
          <p:nvPr/>
        </p:nvSpPr>
        <p:spPr>
          <a:xfrm>
            <a:off x="374904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6" name="ed49ecef-96b0-4a38-84fa-4b7396d82cf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853647" y="2825769"/>
            <a:ext cx="266273" cy="266273"/>
          </a:xfrm>
          <a:prstGeom prst="rect">
            <a:avLst/>
          </a:prstGeom>
        </p:spPr>
      </p:pic>
      <p:sp>
        <p:nvSpPr>
          <p:cNvPr id="17" name="445fce09-fa45-4a28-bee7-7ff2ace6d654"/>
          <p:cNvSpPr/>
          <p:nvPr/>
        </p:nvSpPr>
        <p:spPr>
          <a:xfrm>
            <a:off x="4297680" y="2728701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18" name="3cd24b80-3cd3-4796-9944-4e6e416ffac9"/>
          <p:cNvSpPr/>
          <p:nvPr/>
        </p:nvSpPr>
        <p:spPr>
          <a:xfrm>
            <a:off x="69494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9" name="9fb85aed-c323-41b5-b210-7671429307a3"/>
          <p:cNvSpPr/>
          <p:nvPr/>
        </p:nvSpPr>
        <p:spPr>
          <a:xfrm>
            <a:off x="70408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0" name="bbc105b6-ff6b-47a2-9228-9a89511a49ec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145487" y="2825769"/>
            <a:ext cx="266273" cy="266273"/>
          </a:xfrm>
          <a:prstGeom prst="rect">
            <a:avLst/>
          </a:prstGeom>
        </p:spPr>
      </p:pic>
      <p:sp>
        <p:nvSpPr>
          <p:cNvPr id="21" name="134233c9-1cdf-45cd-b6fc-9b61d3196f01"/>
          <p:cNvSpPr/>
          <p:nvPr/>
        </p:nvSpPr>
        <p:spPr>
          <a:xfrm>
            <a:off x="75895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22" name="5e1f043f-3411-4062-9d9b-7710849c24a4"/>
          <p:cNvSpPr/>
          <p:nvPr/>
        </p:nvSpPr>
        <p:spPr>
          <a:xfrm>
            <a:off x="2377440" y="2957796"/>
            <a:ext cx="128016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c01ee3a0-161c-4141-bd93-a0db42e950ac"/>
          <p:cNvSpPr/>
          <p:nvPr/>
        </p:nvSpPr>
        <p:spPr>
          <a:xfrm>
            <a:off x="5760720" y="2957796"/>
            <a:ext cx="11887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4" name="4a079100-eae8-4695-aa1d-09c4905635df"/>
          <p:cNvSpPr/>
          <p:nvPr/>
        </p:nvSpPr>
        <p:spPr>
          <a:xfrm>
            <a:off x="1554480" y="3339619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Basic(AD 帳密)</a:t>
            </a:r>
            <a:endParaRPr lang="en-US" sz="1000" dirty="0"/>
          </a:p>
        </p:txBody>
      </p:sp>
      <p:sp>
        <p:nvSpPr>
          <p:cNvPr id="25" name="ca335703-5288-4cc8-851e-7d84c23df221"/>
          <p:cNvSpPr/>
          <p:nvPr/>
        </p:nvSpPr>
        <p:spPr>
          <a:xfrm>
            <a:off x="5532120" y="3339619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OAUTHBEARER(帶 token)</a:t>
            </a:r>
            <a:endParaRPr lang="en-US" sz="1000" dirty="0"/>
          </a:p>
        </p:txBody>
      </p:sp>
      <p:sp>
        <p:nvSpPr>
          <p:cNvPr id="26" name="6f0e0ab7-2dd7-41b9-9d73-e701125c7283"/>
          <p:cNvSpPr/>
          <p:nvPr/>
        </p:nvSpPr>
        <p:spPr>
          <a:xfrm>
            <a:off x="8915400" y="2703246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27" name="79589a9a-28bd-46de-8171-3d875648dd50"/>
          <p:cNvSpPr/>
          <p:nvPr/>
        </p:nvSpPr>
        <p:spPr>
          <a:xfrm>
            <a:off x="548640" y="3636594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機器(legacy app)</a:t>
            </a:r>
            <a:endParaRPr lang="en-US" sz="1400" dirty="0"/>
          </a:p>
        </p:txBody>
      </p:sp>
      <p:sp>
        <p:nvSpPr>
          <p:cNvPr id="28" name="6f2ca568-4cdb-4c7b-9558-831bfee3eb9f"/>
          <p:cNvSpPr/>
          <p:nvPr/>
        </p:nvSpPr>
        <p:spPr>
          <a:xfrm>
            <a:off x="3657600" y="3959022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9" name="cea9129e-eb3d-468f-bc6d-a3bd7760437a"/>
          <p:cNvSpPr/>
          <p:nvPr/>
        </p:nvSpPr>
        <p:spPr>
          <a:xfrm>
            <a:off x="3749040" y="4026902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0" name="f0801efd-594f-452b-a971-c0db7c2b4f69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41577" y="4112770"/>
            <a:ext cx="235549" cy="235549"/>
          </a:xfrm>
          <a:prstGeom prst="rect">
            <a:avLst/>
          </a:prstGeom>
        </p:spPr>
      </p:pic>
      <p:sp>
        <p:nvSpPr>
          <p:cNvPr id="31" name="f76d36c3-5644-4780-98ed-9e51a279c388"/>
          <p:cNvSpPr/>
          <p:nvPr/>
        </p:nvSpPr>
        <p:spPr>
          <a:xfrm>
            <a:off x="4251960" y="4026902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32" name="687a5158-9ed8-4d05-8581-a7ebc60b0e4f"/>
          <p:cNvSpPr/>
          <p:nvPr/>
        </p:nvSpPr>
        <p:spPr>
          <a:xfrm flipV="1">
            <a:off x="43434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3" name="e5b482c2-b857-42f4-b97e-c80530a867fb"/>
          <p:cNvSpPr/>
          <p:nvPr/>
        </p:nvSpPr>
        <p:spPr>
          <a:xfrm>
            <a:off x="50292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4" name="6914f707-801b-47c6-8aba-cea5e3dabdea"/>
          <p:cNvSpPr/>
          <p:nvPr/>
        </p:nvSpPr>
        <p:spPr>
          <a:xfrm>
            <a:off x="5852160" y="3891143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REST Proxy 用自己的 client 憑證(CN=restproxy)向 MDS 認證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POST /impersonate:代為申請 legacy app 的 token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MDS 回 token(sub = app,cp_proxy = restproxy)</a:t>
            </a:r>
            <a:endParaRPr lang="en-US" sz="1000" dirty="0"/>
          </a:p>
        </p:txBody>
      </p:sp>
      <p:sp>
        <p:nvSpPr>
          <p:cNvPr id="35" name="ac7ba4c4-01d6-48ac-9f55-18e9119a6505"/>
          <p:cNvSpPr/>
          <p:nvPr/>
        </p:nvSpPr>
        <p:spPr>
          <a:xfrm>
            <a:off x="5486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6" name="11e6bac0-0069-45fa-9df9-0b155fe008a1"/>
          <p:cNvSpPr/>
          <p:nvPr/>
        </p:nvSpPr>
        <p:spPr>
          <a:xfrm>
            <a:off x="6400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7" name="622e12c7-6bc5-4c1d-b305-994a9c54539e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44687" y="4862163"/>
            <a:ext cx="266273" cy="266273"/>
          </a:xfrm>
          <a:prstGeom prst="rect">
            <a:avLst/>
          </a:prstGeom>
        </p:spPr>
      </p:pic>
      <p:sp>
        <p:nvSpPr>
          <p:cNvPr id="38" name="cd850b4c-093b-46e7-ba08-032777865ec2"/>
          <p:cNvSpPr/>
          <p:nvPr/>
        </p:nvSpPr>
        <p:spPr>
          <a:xfrm>
            <a:off x="11887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300" dirty="0"/>
          </a:p>
        </p:txBody>
      </p:sp>
      <p:sp>
        <p:nvSpPr>
          <p:cNvPr id="39" name="b2dbcd12-c35d-444b-80dd-0b946501c043"/>
          <p:cNvSpPr/>
          <p:nvPr/>
        </p:nvSpPr>
        <p:spPr>
          <a:xfrm>
            <a:off x="3657600" y="4654790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0" name="227fff49-3cd5-459a-b5f3-39ab5b1559e2"/>
          <p:cNvSpPr/>
          <p:nvPr/>
        </p:nvSpPr>
        <p:spPr>
          <a:xfrm>
            <a:off x="374904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1" name="f1636ae1-9a04-41a7-9c29-c6c9eaca087e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3853647" y="4862163"/>
            <a:ext cx="266273" cy="266273"/>
          </a:xfrm>
          <a:prstGeom prst="rect">
            <a:avLst/>
          </a:prstGeom>
        </p:spPr>
      </p:pic>
      <p:sp>
        <p:nvSpPr>
          <p:cNvPr id="42" name="8b2f283b-39ce-4ffd-a624-c7c1e4194a27"/>
          <p:cNvSpPr/>
          <p:nvPr/>
        </p:nvSpPr>
        <p:spPr>
          <a:xfrm>
            <a:off x="4297680" y="4765095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43" name="6acc9658-0a28-48c6-82b1-c4d21ee1b7be"/>
          <p:cNvSpPr/>
          <p:nvPr/>
        </p:nvSpPr>
        <p:spPr>
          <a:xfrm>
            <a:off x="69494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4" name="4f32fb68-d1a5-48d4-9b01-24cb40293610"/>
          <p:cNvSpPr/>
          <p:nvPr/>
        </p:nvSpPr>
        <p:spPr>
          <a:xfrm>
            <a:off x="70408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5" name="4985b034-68bb-46ed-ab03-c7223f755036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145487" y="4862163"/>
            <a:ext cx="266273" cy="266273"/>
          </a:xfrm>
          <a:prstGeom prst="rect">
            <a:avLst/>
          </a:prstGeom>
        </p:spPr>
      </p:pic>
      <p:sp>
        <p:nvSpPr>
          <p:cNvPr id="46" name="43df9759-9fdb-46be-ab0a-107d5f855bb2"/>
          <p:cNvSpPr/>
          <p:nvPr/>
        </p:nvSpPr>
        <p:spPr>
          <a:xfrm>
            <a:off x="75895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47" name="2cb260e7-d2e5-40c0-b461-3b8f743f50e2"/>
          <p:cNvSpPr/>
          <p:nvPr/>
        </p:nvSpPr>
        <p:spPr>
          <a:xfrm>
            <a:off x="2377440" y="4994189"/>
            <a:ext cx="128016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8" name="7ab3acd8-dd4b-4c35-92b8-8caca9f58e3b"/>
          <p:cNvSpPr/>
          <p:nvPr/>
        </p:nvSpPr>
        <p:spPr>
          <a:xfrm>
            <a:off x="5760720" y="4994189"/>
            <a:ext cx="11887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9" name="7b995fab-659e-44fc-a09b-6e667d220854"/>
          <p:cNvSpPr/>
          <p:nvPr/>
        </p:nvSpPr>
        <p:spPr>
          <a:xfrm>
            <a:off x="1554480" y="5376013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client 憑證(CN)→ 對映成主體</a:t>
            </a:r>
            <a:endParaRPr lang="en-US" sz="1000" dirty="0"/>
          </a:p>
        </p:txBody>
      </p:sp>
      <p:sp>
        <p:nvSpPr>
          <p:cNvPr id="50" name="1166e4ba-634a-43f8-b05f-9799bdc8ad89"/>
          <p:cNvSpPr/>
          <p:nvPr/>
        </p:nvSpPr>
        <p:spPr>
          <a:xfrm>
            <a:off x="5532120" y="5376013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⑤ OAUTHBEARER(帶 token)</a:t>
            </a:r>
            <a:endParaRPr lang="en-US" sz="1000" dirty="0"/>
          </a:p>
        </p:txBody>
      </p:sp>
      <p:sp>
        <p:nvSpPr>
          <p:cNvPr id="51" name="266d548b-b1d7-4a20-833a-426eed109af9"/>
          <p:cNvSpPr/>
          <p:nvPr/>
        </p:nvSpPr>
        <p:spPr>
          <a:xfrm>
            <a:off x="8915400" y="4739640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52" name="bc64f262-1d4e-4443-bb01-70a218591ceb"/>
          <p:cNvSpPr/>
          <p:nvPr/>
        </p:nvSpPr>
        <p:spPr>
          <a:xfrm>
            <a:off x="548640" y="5715412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ssl.client.authentication=REQUESTED:人沒有憑證、機器有憑證,兩者並存 · 憑證身分只能綁 User:</a:t>
            </a:r>
            <a:endParaRPr lang="en-US" sz="1100" dirty="0"/>
          </a:p>
        </p:txBody>
      </p:sp>
      <p:sp>
        <p:nvSpPr>
          <p:cNvPr id="53" name="ab12b366-3458-4138-80f3-17fb43efc8de"/>
          <p:cNvSpPr/>
          <p:nvPr/>
        </p:nvSpPr>
        <p:spPr>
          <a:xfrm>
            <a:off x="548640" y="6063296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restproxy 憑證可代人 → 特權身分逐一以 User: 列入 protected.users;混入 Group: 整份失效(實測)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 Center:人用本人身分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C3 自己的背景工作才用憑證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365375c-8b33-4471-afc0-bb6202bb0313"/>
          <p:cNvSpPr/>
          <p:nvPr/>
        </p:nvSpPr>
        <p:spPr>
          <a:xfrm>
            <a:off x="548640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b0e5678d-11ac-444e-bb14-bcc9793b92df"/>
          <p:cNvSpPr/>
          <p:nvPr/>
        </p:nvSpPr>
        <p:spPr>
          <a:xfrm>
            <a:off x="658368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e49d6ac0-b028-4c19-9475-b8e47b769c7c"/>
          <p:cNvSpPr/>
          <p:nvPr/>
        </p:nvSpPr>
        <p:spPr>
          <a:xfrm>
            <a:off x="640080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登入</a:t>
            </a:r>
            <a:endParaRPr lang="en-US" sz="1400" dirty="0"/>
          </a:p>
        </p:txBody>
      </p:sp>
      <p:sp>
        <p:nvSpPr>
          <p:cNvPr id="5" name="1a624f2a-7ec8-4a93-8381-06d59b644a0a"/>
          <p:cNvSpPr/>
          <p:nvPr/>
        </p:nvSpPr>
        <p:spPr>
          <a:xfrm>
            <a:off x="640080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瀏覽器送 AD 帳密</a:t>
            </a:r>
            <a:endParaRPr lang="en-US" sz="1100" dirty="0"/>
          </a:p>
        </p:txBody>
      </p:sp>
      <p:sp>
        <p:nvSpPr>
          <p:cNvPr id="6" name="35d6b391-f46e-4a63-9eec-6ebed8c207a5"/>
          <p:cNvSpPr/>
          <p:nvPr/>
        </p:nvSpPr>
        <p:spPr>
          <a:xfrm>
            <a:off x="2560320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7" name="a01c6db3-8f11-4b5d-b552-f1bfebfc4fd0"/>
          <p:cNvSpPr/>
          <p:nvPr/>
        </p:nvSpPr>
        <p:spPr>
          <a:xfrm>
            <a:off x="2816352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01e98545-0245-4e28-85cb-efb14dc23867"/>
          <p:cNvSpPr/>
          <p:nvPr/>
        </p:nvSpPr>
        <p:spPr>
          <a:xfrm>
            <a:off x="2926080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2426aca4-0d62-4244-8379-8a49e1137e49"/>
          <p:cNvSpPr/>
          <p:nvPr/>
        </p:nvSpPr>
        <p:spPr>
          <a:xfrm>
            <a:off x="2907792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轉給 MDS</a:t>
            </a:r>
            <a:endParaRPr lang="en-US" sz="1400" dirty="0"/>
          </a:p>
        </p:txBody>
      </p:sp>
      <p:sp>
        <p:nvSpPr>
          <p:cNvPr id="10" name="1f546f44-df26-409e-8bb7-82e6c7b5780a"/>
          <p:cNvSpPr/>
          <p:nvPr/>
        </p:nvSpPr>
        <p:spPr>
          <a:xfrm>
            <a:off x="2907792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向 AD 驗證</a:t>
            </a:r>
            <a:endParaRPr lang="en-US" sz="1100" dirty="0"/>
          </a:p>
        </p:txBody>
      </p:sp>
      <p:sp>
        <p:nvSpPr>
          <p:cNvPr id="11" name="8a33d6f6-79eb-4633-b4c7-a75aa26bd126"/>
          <p:cNvSpPr/>
          <p:nvPr/>
        </p:nvSpPr>
        <p:spPr>
          <a:xfrm>
            <a:off x="4828032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c8234ea5-f23c-49fc-9061-60107dee2ef2"/>
          <p:cNvSpPr/>
          <p:nvPr/>
        </p:nvSpPr>
        <p:spPr>
          <a:xfrm>
            <a:off x="5084064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08102600-530b-4ffd-99c8-3cd4a0d5b426"/>
          <p:cNvSpPr/>
          <p:nvPr/>
        </p:nvSpPr>
        <p:spPr>
          <a:xfrm>
            <a:off x="5193792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be2fa71d-e5b4-44c8-a445-3d4d40041088"/>
          <p:cNvSpPr/>
          <p:nvPr/>
        </p:nvSpPr>
        <p:spPr>
          <a:xfrm>
            <a:off x="5175504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 token</a:t>
            </a:r>
            <a:endParaRPr lang="en-US" sz="1400" dirty="0"/>
          </a:p>
        </p:txBody>
      </p:sp>
      <p:sp>
        <p:nvSpPr>
          <p:cNvPr id="15" name="2671c7a1-da1d-4a14-a967-495e25ab78f4"/>
          <p:cNvSpPr/>
          <p:nvPr/>
        </p:nvSpPr>
        <p:spPr>
          <a:xfrm>
            <a:off x="5175504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JWT 壽命可設(demo 1 小時),會續期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登入上限預設 6 小時</a:t>
            </a:r>
            <a:endParaRPr lang="en-US" sz="1100" dirty="0"/>
          </a:p>
        </p:txBody>
      </p:sp>
      <p:sp>
        <p:nvSpPr>
          <p:cNvPr id="16" name="e665c6d4-1118-4068-b9ac-7b8e75efe0ce"/>
          <p:cNvSpPr/>
          <p:nvPr/>
        </p:nvSpPr>
        <p:spPr>
          <a:xfrm>
            <a:off x="7095744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7" name="25fa4b49-d2d5-4e10-a1f5-33a4b6d10ac8"/>
          <p:cNvSpPr/>
          <p:nvPr/>
        </p:nvSpPr>
        <p:spPr>
          <a:xfrm>
            <a:off x="7351776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06714655-4ef9-45d5-8ae1-48a14e937d24"/>
          <p:cNvSpPr/>
          <p:nvPr/>
        </p:nvSpPr>
        <p:spPr>
          <a:xfrm>
            <a:off x="7461504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6dd9a482-c7b3-4d2e-9226-751b6da6188d"/>
          <p:cNvSpPr/>
          <p:nvPr/>
        </p:nvSpPr>
        <p:spPr>
          <a:xfrm>
            <a:off x="7443216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之後帶 Bearer</a:t>
            </a:r>
            <a:endParaRPr lang="en-US" sz="1400" dirty="0"/>
          </a:p>
        </p:txBody>
      </p:sp>
      <p:sp>
        <p:nvSpPr>
          <p:cNvPr id="20" name="bd01932f-284b-4dab-9c6e-5c9da0989619"/>
          <p:cNvSpPr/>
          <p:nvPr/>
        </p:nvSpPr>
        <p:spPr>
          <a:xfrm>
            <a:off x="7443216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 HttpOnly cookie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優先看 Bearer(實測)</a:t>
            </a:r>
            <a:endParaRPr lang="en-US" sz="1100" dirty="0"/>
          </a:p>
        </p:txBody>
      </p:sp>
      <p:sp>
        <p:nvSpPr>
          <p:cNvPr id="21" name="7457a097-a895-4d2c-9398-843c576e6d6f"/>
          <p:cNvSpPr/>
          <p:nvPr/>
        </p:nvSpPr>
        <p:spPr>
          <a:xfrm>
            <a:off x="9363456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90aa7ba5-7663-41b9-982f-ab66c36462c4"/>
          <p:cNvSpPr/>
          <p:nvPr/>
        </p:nvSpPr>
        <p:spPr>
          <a:xfrm>
            <a:off x="9619488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a267958c-43a9-40bd-8d66-229e0116e24e"/>
          <p:cNvSpPr/>
          <p:nvPr/>
        </p:nvSpPr>
        <p:spPr>
          <a:xfrm>
            <a:off x="9729216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f3d1c9e7-96e6-4858-937c-e249d84dcaf6"/>
          <p:cNvSpPr/>
          <p:nvPr/>
        </p:nvSpPr>
        <p:spPr>
          <a:xfrm>
            <a:off x="9710928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驗章 + 查範圍</a:t>
            </a:r>
            <a:endParaRPr lang="en-US" sz="1400" dirty="0"/>
          </a:p>
        </p:txBody>
      </p:sp>
      <p:sp>
        <p:nvSpPr>
          <p:cNvPr id="25" name="001ef63d-c80d-40ca-93e9-62406810fbce"/>
          <p:cNvSpPr/>
          <p:nvPr/>
        </p:nvSpPr>
        <p:spPr>
          <a:xfrm>
            <a:off x="9710928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本地驗章(實測推論)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再向 MDS 查權限</a:t>
            </a:r>
            <a:endParaRPr lang="en-US" sz="1100" dirty="0"/>
          </a:p>
        </p:txBody>
      </p:sp>
      <p:sp>
        <p:nvSpPr>
          <p:cNvPr id="26" name="28f88665-2eea-4982-875f-338f4c5a2a84"/>
          <p:cNvSpPr/>
          <p:nvPr/>
        </p:nvSpPr>
        <p:spPr>
          <a:xfrm>
            <a:off x="548640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4ad67084-0366-4d53-9575-17ad3192f451"/>
          <p:cNvSpPr/>
          <p:nvPr/>
        </p:nvSpPr>
        <p:spPr>
          <a:xfrm>
            <a:off x="731520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4939883d-2665-4055-9d38-8d0a79e7302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3936962"/>
            <a:ext cx="358445" cy="358445"/>
          </a:xfrm>
          <a:prstGeom prst="rect">
            <a:avLst/>
          </a:prstGeom>
        </p:spPr>
      </p:pic>
      <p:sp>
        <p:nvSpPr>
          <p:cNvPr id="29" name="ec723862-1766-4bb3-9588-301e88f5e846"/>
          <p:cNvSpPr/>
          <p:nvPr/>
        </p:nvSpPr>
        <p:spPr>
          <a:xfrm>
            <a:off x="1508760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帶「使用者本人」的 token 連 broker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主體 = User:gary / ming</a:t>
            </a:r>
            <a:endParaRPr lang="en-US" sz="1500" dirty="0"/>
          </a:p>
        </p:txBody>
      </p:sp>
      <p:sp>
        <p:nvSpPr>
          <p:cNvPr id="30" name="28a286a7-cbe4-4c74-b50f-0e9983c2086e"/>
          <p:cNvSpPr/>
          <p:nvPr/>
        </p:nvSpPr>
        <p:spPr>
          <a:xfrm>
            <a:off x="6199632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1" name="237a656f-8b25-4c11-89ab-2edff1638003"/>
          <p:cNvSpPr/>
          <p:nvPr/>
        </p:nvSpPr>
        <p:spPr>
          <a:xfrm>
            <a:off x="6382512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2" name="1e5a6f0e-8d96-4a9a-aa78-bdbb6db9965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3936962"/>
            <a:ext cx="358445" cy="358445"/>
          </a:xfrm>
          <a:prstGeom prst="rect">
            <a:avLst/>
          </a:prstGeom>
        </p:spPr>
      </p:pic>
      <p:sp>
        <p:nvSpPr>
          <p:cNvPr id="33" name="c3e11f59-067f-4da8-be9a-724bdffeab2f"/>
          <p:cNvSpPr/>
          <p:nvPr/>
        </p:nvSpPr>
        <p:spPr>
          <a:xfrm>
            <a:off x="7159752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 = User:c3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官方要求 SystemAdmin</a:t>
            </a:r>
            <a:endParaRPr lang="en-US" sz="1500" dirty="0"/>
          </a:p>
        </p:txBody>
      </p:sp>
      <p:sp>
        <p:nvSpPr>
          <p:cNvPr id="34" name="b38e44ec-a4e3-47c9-9042-7cb6886f9831"/>
          <p:cNvSpPr/>
          <p:nvPr/>
        </p:nvSpPr>
        <p:spPr>
          <a:xfrm>
            <a:off x="548640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只支援 OAUTHBEARER(官方)</a:t>
            </a:r>
            <a:endParaRPr lang="en-US" sz="1200" dirty="0"/>
          </a:p>
        </p:txBody>
      </p:sp>
      <p:sp>
        <p:nvSpPr>
          <p:cNvPr id="35" name="736b5e56-22b9-47ed-bc27-287e103431a6"/>
          <p:cNvSpPr/>
          <p:nvPr/>
        </p:nvSpPr>
        <p:spPr>
          <a:xfrm>
            <a:off x="6199632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管理員:拿掉權限 C3 會退出(實測)</a:t>
            </a:r>
            <a:endParaRPr lang="en-US" sz="1200" dirty="0"/>
          </a:p>
        </p:txBody>
      </p:sp>
      <p:sp>
        <p:nvSpPr>
          <p:cNvPr id="36" name="e90a91e9-137d-4154-9408-90ed7baded16"/>
          <p:cNvSpPr/>
          <p:nvPr/>
        </p:nvSpPr>
        <p:spPr>
          <a:xfrm>
            <a:off x="548640" y="5800262"/>
            <a:ext cx="110916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「使用者操作帶使用者身分」是本專案實測;官方未明說 C3 以誰的身分查詢 Kafka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周邊:Prometheus · Alertmanager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認證現況與可啟用的保護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4c7c902-eef0-4ff5-8b84-752d7fa0c5a4"/>
          <p:cNvSpPr/>
          <p:nvPr/>
        </p:nvSpPr>
        <p:spPr>
          <a:xfrm>
            <a:off x="5486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1546b0ae-b77c-4c3a-baf8-0ba0292088fd"/>
          <p:cNvSpPr/>
          <p:nvPr/>
        </p:nvSpPr>
        <p:spPr>
          <a:xfrm>
            <a:off x="1645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5746552f-f4b4-4972-b439-e15accbe854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766621" y="1966751"/>
            <a:ext cx="307238" cy="307238"/>
          </a:xfrm>
          <a:prstGeom prst="rect">
            <a:avLst/>
          </a:prstGeom>
        </p:spPr>
      </p:pic>
      <p:sp>
        <p:nvSpPr>
          <p:cNvPr id="5" name="5a539b3f-7641-4a8a-9877-29cbb7788557"/>
          <p:cNvSpPr/>
          <p:nvPr/>
        </p:nvSpPr>
        <p:spPr>
          <a:xfrm>
            <a:off x="6217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6" name="cb985055-c7f8-48a3-bc72-c060d2a3bf6f"/>
          <p:cNvSpPr/>
          <p:nvPr/>
        </p:nvSpPr>
        <p:spPr>
          <a:xfrm>
            <a:off x="6400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next-gen 2.x</a:t>
            </a:r>
            <a:endParaRPr lang="en-US" sz="1100" dirty="0"/>
          </a:p>
        </p:txBody>
      </p:sp>
      <p:sp>
        <p:nvSpPr>
          <p:cNvPr id="7" name="05fefbb8-e7fe-44df-8d61-f7926f673e0e"/>
          <p:cNvSpPr/>
          <p:nvPr/>
        </p:nvSpPr>
        <p:spPr>
          <a:xfrm>
            <a:off x="42062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092126a6-7cac-405d-ad2e-af30f9248c9c"/>
          <p:cNvSpPr/>
          <p:nvPr/>
        </p:nvSpPr>
        <p:spPr>
          <a:xfrm>
            <a:off x="53035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8e526ac9-fa8b-475a-9402-8e9accd4c8f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424221" y="1966751"/>
            <a:ext cx="307238" cy="307238"/>
          </a:xfrm>
          <a:prstGeom prst="rect">
            <a:avLst/>
          </a:prstGeom>
        </p:spPr>
      </p:pic>
      <p:sp>
        <p:nvSpPr>
          <p:cNvPr id="10" name="967e4de8-998a-4dc0-a604-68f1022b5987"/>
          <p:cNvSpPr/>
          <p:nvPr/>
        </p:nvSpPr>
        <p:spPr>
          <a:xfrm>
            <a:off x="42793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1" name="aadd3d8d-d2b4-4e45-84c2-2124f6fff664"/>
          <p:cNvSpPr/>
          <p:nvPr/>
        </p:nvSpPr>
        <p:spPr>
          <a:xfrm>
            <a:off x="42976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指標</a:t>
            </a:r>
            <a:endParaRPr lang="en-US" sz="1100" dirty="0"/>
          </a:p>
        </p:txBody>
      </p:sp>
      <p:sp>
        <p:nvSpPr>
          <p:cNvPr id="12" name="be1a7912-a966-4663-a74b-5c29682b52aa"/>
          <p:cNvSpPr/>
          <p:nvPr/>
        </p:nvSpPr>
        <p:spPr>
          <a:xfrm>
            <a:off x="78638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49c90420-39bc-4ed4-bf8a-eceb33c92692"/>
          <p:cNvSpPr/>
          <p:nvPr/>
        </p:nvSpPr>
        <p:spPr>
          <a:xfrm>
            <a:off x="89611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ce35dec8-56bb-45bb-b2c2-3095b4ede57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081821" y="1966751"/>
            <a:ext cx="307238" cy="307238"/>
          </a:xfrm>
          <a:prstGeom prst="rect">
            <a:avLst/>
          </a:prstGeom>
        </p:spPr>
      </p:pic>
      <p:sp>
        <p:nvSpPr>
          <p:cNvPr id="15" name="8e4d12e3-be0d-4d54-aa8d-cb89c9767182"/>
          <p:cNvSpPr/>
          <p:nvPr/>
        </p:nvSpPr>
        <p:spPr>
          <a:xfrm>
            <a:off x="79369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400" dirty="0"/>
          </a:p>
        </p:txBody>
      </p:sp>
      <p:sp>
        <p:nvSpPr>
          <p:cNvPr id="16" name="0368a855-5156-4e3c-8dfe-11644633df05"/>
          <p:cNvSpPr/>
          <p:nvPr/>
        </p:nvSpPr>
        <p:spPr>
          <a:xfrm>
            <a:off x="79552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告警 · 靜音</a:t>
            </a:r>
            <a:endParaRPr lang="en-US" sz="1100" dirty="0"/>
          </a:p>
        </p:txBody>
      </p:sp>
      <p:sp>
        <p:nvSpPr>
          <p:cNvPr id="17" name="c7602ae0-c1f3-4185-8423-adedb0673b12"/>
          <p:cNvSpPr/>
          <p:nvPr/>
        </p:nvSpPr>
        <p:spPr>
          <a:xfrm>
            <a:off x="32918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c9cb388c-83df-4839-a492-5e6b67e6c63d"/>
          <p:cNvSpPr/>
          <p:nvPr/>
        </p:nvSpPr>
        <p:spPr>
          <a:xfrm>
            <a:off x="69494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6d2e1d69-5f84-4693-a82b-a3ada810fd25"/>
          <p:cNvSpPr/>
          <p:nvPr/>
        </p:nvSpPr>
        <p:spPr>
          <a:xfrm>
            <a:off x="548640" y="3933568"/>
            <a:ext cx="5486400" cy="1484870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0" name="d9598b26-39f5-43f3-bd9d-752c88caac35"/>
          <p:cNvSpPr/>
          <p:nvPr/>
        </p:nvSpPr>
        <p:spPr>
          <a:xfrm>
            <a:off x="73152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1" name="7186b7ad-e4e2-4329-a739-1a857646f681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72338" y="4191511"/>
            <a:ext cx="358445" cy="358445"/>
          </a:xfrm>
          <a:prstGeom prst="rect">
            <a:avLst/>
          </a:prstGeom>
        </p:spPr>
      </p:pic>
      <p:sp>
        <p:nvSpPr>
          <p:cNvPr id="22" name="aa13bc00-4323-4457-813f-ffea9f9f705d"/>
          <p:cNvSpPr/>
          <p:nvPr/>
        </p:nvSpPr>
        <p:spPr>
          <a:xfrm>
            <a:off x="1508760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 demo 未啟用認證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不帶憑證可讀指標;Alertmanager 可無認證建立 / 刪除靜音</a:t>
            </a:r>
            <a:endParaRPr lang="en-US" sz="1400" dirty="0"/>
          </a:p>
        </p:txBody>
      </p:sp>
      <p:sp>
        <p:nvSpPr>
          <p:cNvPr id="23" name="abe7d500-58a4-4f98-9063-81285a0895e4"/>
          <p:cNvSpPr/>
          <p:nvPr/>
        </p:nvSpPr>
        <p:spPr>
          <a:xfrm>
            <a:off x="6199632" y="3933568"/>
            <a:ext cx="5440680" cy="1484870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93298be2-866b-4428-8f37-d69cfd731cef"/>
          <p:cNvSpPr/>
          <p:nvPr/>
        </p:nvSpPr>
        <p:spPr>
          <a:xfrm>
            <a:off x="6382512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5" name="030772dc-7f4a-40f1-bb60-c6d31c392ce1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23330" y="4191511"/>
            <a:ext cx="358445" cy="358445"/>
          </a:xfrm>
          <a:prstGeom prst="rect">
            <a:avLst/>
          </a:prstGeom>
        </p:spPr>
      </p:pic>
      <p:sp>
        <p:nvSpPr>
          <p:cNvPr id="26" name="ff2f52d9-74b9-475c-96ae-f6caef02163d"/>
          <p:cNvSpPr/>
          <p:nvPr/>
        </p:nvSpPr>
        <p:spPr>
          <a:xfrm>
            <a:off x="7159752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官方支援 TLS + HTTP Basic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正式環境應啟用;客戶不想管憑證 → 共用 server 憑證做 TLS + Basic 帳密</a:t>
            </a:r>
            <a:endParaRPr lang="en-US" sz="1400" dirty="0"/>
          </a:p>
        </p:txBody>
      </p:sp>
      <p:sp>
        <p:nvSpPr>
          <p:cNvPr id="27" name="e85d909a-7777-4bfb-a09a-7ec5be27ad58"/>
          <p:cNvSpPr/>
          <p:nvPr/>
        </p:nvSpPr>
        <p:spPr>
          <a:xfrm>
            <a:off x="548640" y="5630562"/>
            <a:ext cx="749808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Schema Registry 未部署 → confluent.controlcenter.schema.registry.enable=false</a:t>
            </a:r>
            <a:endParaRPr lang="en-US" sz="1150" dirty="0"/>
          </a:p>
        </p:txBody>
      </p:sp>
      <p:sp>
        <p:nvSpPr>
          <p:cNvPr id="28" name="3588280d-002e-4603-9b84-dc63eea25df2"/>
          <p:cNvSpPr/>
          <p:nvPr/>
        </p:nvSpPr>
        <p:spPr>
          <a:xfrm>
            <a:off x="8229600" y="5630562"/>
            <a:ext cx="341071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啟用後的實測:尚未做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Audit log:誰被拒、誰改了授權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預設只記錄 Management 與 Authorize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802a626-3cf8-4db6-a074-2bace595705c"/>
          <p:cNvSpPr/>
          <p:nvPr/>
        </p:nvSpPr>
        <p:spPr>
          <a:xfrm>
            <a:off x="548640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" name="873d1d60-6539-486c-b92a-9f015b770526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" name="58a49dc7-9958-4e10-aa9c-0826a56bc10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54e74f37-b755-48e5-adba-3299e90c57ad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官方預設</a:t>
            </a:r>
            <a:endParaRPr lang="en-US" sz="1600" dirty="0"/>
          </a:p>
        </p:txBody>
      </p:sp>
      <p:sp>
        <p:nvSpPr>
          <p:cNvPr id="6" name="4dfb0211-4d53-4afc-aee1-cb64d71372e7"/>
          <p:cNvSpPr/>
          <p:nvPr/>
        </p:nvSpPr>
        <p:spPr>
          <a:xfrm>
            <a:off x="640080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Management + Authorize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allowed 與 denied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confluent-audit-log-events</a:t>
            </a:r>
            <a:endParaRPr lang="en-US" sz="1200" dirty="0"/>
          </a:p>
        </p:txBody>
      </p:sp>
      <p:sp>
        <p:nvSpPr>
          <p:cNvPr id="7" name="154ecc79-d8f0-43c3-8c94-21606c92606a"/>
          <p:cNvSpPr/>
          <p:nvPr/>
        </p:nvSpPr>
        <p:spPr>
          <a:xfrm>
            <a:off x="4325112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9afa0b85-adc7-4c41-9cc5-38b6f497fbd2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9" name="5b0cfee9-997a-4320-bf60-e9bb3307417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4139a8e5-36c7-4ea2-a86f-4abd5e9da956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自訂 router</a:t>
            </a:r>
            <a:endParaRPr lang="en-US" sz="1600" dirty="0"/>
          </a:p>
        </p:txBody>
      </p:sp>
      <p:sp>
        <p:nvSpPr>
          <p:cNvPr id="11" name="37c8c3fc-1596-4516-a002-d479f53a728f"/>
          <p:cNvSpPr/>
          <p:nvPr/>
        </p:nvSpPr>
        <p:spPr>
          <a:xfrm>
            <a:off x="4416552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topic 前綴記錄 produce / consume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/ describe 的「被拒」事件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被允許的 consume 不記(避免洗版)</a:t>
            </a:r>
            <a:endParaRPr lang="en-US" sz="1200" dirty="0"/>
          </a:p>
        </p:txBody>
      </p:sp>
      <p:sp>
        <p:nvSpPr>
          <p:cNvPr id="12" name="f9c7e6e5-fd87-4080-9096-9e655c23fb14"/>
          <p:cNvSpPr/>
          <p:nvPr/>
        </p:nvSpPr>
        <p:spPr>
          <a:xfrm>
            <a:off x="8101584" y="1727475"/>
            <a:ext cx="3538728" cy="216366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3" name="801c571d-505a-47c3-99df-7a86ab66d31d"/>
          <p:cNvSpPr/>
          <p:nvPr/>
        </p:nvSpPr>
        <p:spPr>
          <a:xfrm>
            <a:off x="9596628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4" name="1e101df5-4e54-495e-84b5-88a66bfcb23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66751"/>
            <a:ext cx="307238" cy="307238"/>
          </a:xfrm>
          <a:prstGeom prst="rect">
            <a:avLst/>
          </a:prstGeom>
        </p:spPr>
      </p:pic>
      <p:sp>
        <p:nvSpPr>
          <p:cNvPr id="15" name="acb0280c-09ae-4373-ba32-e236cfcbef20"/>
          <p:cNvSpPr/>
          <p:nvPr/>
        </p:nvSpPr>
        <p:spPr>
          <a:xfrm>
            <a:off x="8174736" y="2448697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查不到的</a:t>
            </a:r>
            <a:endParaRPr lang="en-US" sz="1600" dirty="0"/>
          </a:p>
        </p:txBody>
      </p:sp>
      <p:sp>
        <p:nvSpPr>
          <p:cNvPr id="16" name="238efb7a-1faf-44c2-b10f-4a88d6f09c02"/>
          <p:cNvSpPr/>
          <p:nvPr/>
        </p:nvSpPr>
        <p:spPr>
          <a:xfrm>
            <a:off x="8193024" y="2830521"/>
            <a:ext cx="3355848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部分拒絕(例:缺 IdempotentWrite)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 actingPrincipal 為空</a:t>
            </a:r>
            <a:endParaRPr lang="en-US" sz="1200" dirty="0"/>
          </a:p>
        </p:txBody>
      </p:sp>
      <p:sp>
        <p:nvSpPr>
          <p:cNvPr id="17" name="670c8d7a-b76d-4187-8aea-604c0ae24da5"/>
          <p:cNvSpPr/>
          <p:nvPr/>
        </p:nvSpPr>
        <p:spPr>
          <a:xfrm>
            <a:off x="4069080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ecc71863-c355-4f8c-98bf-edf0098f8bd5"/>
          <p:cNvSpPr/>
          <p:nvPr/>
        </p:nvSpPr>
        <p:spPr>
          <a:xfrm>
            <a:off x="7845552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b630e0d9-f2d9-4923-942e-ef55cd38e1f1"/>
          <p:cNvSpPr/>
          <p:nvPr/>
        </p:nvSpPr>
        <p:spPr>
          <a:xfrm>
            <a:off x="548640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能看到:誰被拒(需自訂 router)</a:t>
            </a:r>
            <a:endParaRPr lang="en-US" sz="1250" dirty="0"/>
          </a:p>
        </p:txBody>
      </p:sp>
      <p:sp>
        <p:nvSpPr>
          <p:cNvPr id="20" name="4eb99624-b6b7-41d3-9737-8c990514727c"/>
          <p:cNvSpPr/>
          <p:nvPr/>
        </p:nvSpPr>
        <p:spPr>
          <a:xfrm>
            <a:off x="6153912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能看到:誰嘗試改授權(DENIED)</a:t>
            </a:r>
            <a:endParaRPr lang="en-US" sz="1250" dirty="0"/>
          </a:p>
        </p:txBody>
      </p:sp>
      <p:sp>
        <p:nvSpPr>
          <p:cNvPr id="21" name="22af51ce-cffa-4a2d-a623-52006aeb747f"/>
          <p:cNvSpPr/>
          <p:nvPr/>
        </p:nvSpPr>
        <p:spPr>
          <a:xfrm>
            <a:off x="548640" y="4697215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共用帳號 → audit 只剩一個名字;個人身分 → 看得到是誰</a:t>
            </a:r>
            <a:endParaRPr lang="en-US" sz="1250" dirty="0"/>
          </a:p>
        </p:txBody>
      </p:sp>
      <p:sp>
        <p:nvSpPr>
          <p:cNvPr id="22" name="0b479899-921a-4479-8d6e-c86144da7d2d"/>
          <p:cNvSpPr/>
          <p:nvPr/>
        </p:nvSpPr>
        <p:spPr>
          <a:xfrm>
            <a:off x="548640" y="52063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不能假設所有拒絕都查得到:稽核需求要另外盤點</a:t>
            </a:r>
            <a:endParaRPr lang="en-US" sz="1300" dirty="0"/>
          </a:p>
        </p:txBody>
      </p:sp>
      <p:sp>
        <p:nvSpPr>
          <p:cNvPr id="23" name="230efbc2-71f1-4615-a8e1-d6f0dd2161f3"/>
          <p:cNvSpPr/>
          <p:nvPr/>
        </p:nvSpPr>
        <p:spPr>
          <a:xfrm>
            <a:off x="548640" y="567298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官方建議:produce / consume 只對最敏感的 topic 開;audit 送到另一個叢集、依法遵保存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整合起來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全景 · 人與機器的完整路徑 · 要管理的憑證 · 導入步驟 · 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全景整合圖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人與機器如何進入,由 MDS 的 RBAC 集中判斷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7517aac-c912-4a49-a2e3-371184824659"/>
          <p:cNvSpPr/>
          <p:nvPr/>
        </p:nvSpPr>
        <p:spPr>
          <a:xfrm>
            <a:off x="457200" y="1642625"/>
            <a:ext cx="2560320" cy="1824269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148084ac-17d8-4a88-9f1e-6c2b40d71204"/>
          <p:cNvSpPr/>
          <p:nvPr/>
        </p:nvSpPr>
        <p:spPr>
          <a:xfrm>
            <a:off x="594360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3f35fd85-23c8-4b36-a3f2-c54eb1eab14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35178" y="1900568"/>
            <a:ext cx="358445" cy="358445"/>
          </a:xfrm>
          <a:prstGeom prst="rect">
            <a:avLst/>
          </a:prstGeom>
        </p:spPr>
      </p:pic>
      <p:sp>
        <p:nvSpPr>
          <p:cNvPr id="5" name="28caf69f-86af-4484-ba99-3cd5d8dd2590"/>
          <p:cNvSpPr/>
          <p:nvPr/>
        </p:nvSpPr>
        <p:spPr>
          <a:xfrm>
            <a:off x="1325880" y="1769899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800" dirty="0"/>
          </a:p>
        </p:txBody>
      </p:sp>
      <p:sp>
        <p:nvSpPr>
          <p:cNvPr id="6" name="5e347fa6-7c92-4281-bed5-fabceb9251aa"/>
          <p:cNvSpPr/>
          <p:nvPr/>
        </p:nvSpPr>
        <p:spPr>
          <a:xfrm>
            <a:off x="594360" y="2491122"/>
            <a:ext cx="233172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gary · yujie · ming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 · CLI · Postman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身分來自 AD</a:t>
            </a:r>
            <a:endParaRPr lang="en-US" sz="1200" dirty="0"/>
          </a:p>
        </p:txBody>
      </p:sp>
      <p:sp>
        <p:nvSpPr>
          <p:cNvPr id="7" name="6fae0f14-5470-48a4-908a-1486d7f3135c"/>
          <p:cNvSpPr/>
          <p:nvPr/>
        </p:nvSpPr>
        <p:spPr>
          <a:xfrm>
            <a:off x="457200" y="3721443"/>
            <a:ext cx="2560320" cy="18666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c56b9e95-ce26-4214-af35-af96860ed3c9"/>
          <p:cNvSpPr/>
          <p:nvPr/>
        </p:nvSpPr>
        <p:spPr>
          <a:xfrm>
            <a:off x="594360" y="38487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00fa3d1c-66d5-4aa7-b719-fbc0115f712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35178" y="3979386"/>
            <a:ext cx="358445" cy="358445"/>
          </a:xfrm>
          <a:prstGeom prst="rect">
            <a:avLst/>
          </a:prstGeom>
        </p:spPr>
      </p:pic>
      <p:sp>
        <p:nvSpPr>
          <p:cNvPr id="10" name="8943d7dc-a976-482c-bfce-2a40bc2e0593"/>
          <p:cNvSpPr/>
          <p:nvPr/>
        </p:nvSpPr>
        <p:spPr>
          <a:xfrm>
            <a:off x="1325880" y="3848718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</a:t>
            </a:r>
            <a:endParaRPr lang="en-US" sz="1800" dirty="0"/>
          </a:p>
        </p:txBody>
      </p:sp>
      <p:sp>
        <p:nvSpPr>
          <p:cNvPr id="11" name="d46c5c6b-e726-47e0-a732-3f6ba640e8c7"/>
          <p:cNvSpPr/>
          <p:nvPr/>
        </p:nvSpPr>
        <p:spPr>
          <a:xfrm>
            <a:off x="594360" y="4569941"/>
            <a:ext cx="233172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應用(SCRAM)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app(client 憑證)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連 Kafka;憑證連 REST Proxy</a:t>
            </a:r>
            <a:endParaRPr lang="en-US" sz="1200" dirty="0"/>
          </a:p>
        </p:txBody>
      </p:sp>
      <p:sp>
        <p:nvSpPr>
          <p:cNvPr id="12" name="84cde184-18ab-460b-80c9-5bebc68aae52"/>
          <p:cNvSpPr/>
          <p:nvPr/>
        </p:nvSpPr>
        <p:spPr>
          <a:xfrm>
            <a:off x="3611880" y="1642625"/>
            <a:ext cx="2331720" cy="3945512"/>
          </a:xfrm>
          <a:prstGeom prst="roundRect">
            <a:avLst>
              <a:gd name="adj" fmla="val 9000"/>
            </a:avLst>
          </a:prstGeom>
          <a:solidFill>
            <a:srgbClr val="0F9ED5">
              <a:alpha val="12000"/>
            </a:srgbClr>
          </a:solidFill>
          <a:ln w="19050">
            <a:solidFill>
              <a:srgbClr val="0F9ED5"/>
            </a:solidFill>
            <a:prstDash val="solid"/>
          </a:ln>
        </p:spPr>
      </p:sp>
      <p:sp>
        <p:nvSpPr>
          <p:cNvPr id="13" name="ced5661c-91cc-4afb-8976-79ccf6e7ca8e"/>
          <p:cNvSpPr/>
          <p:nvPr/>
        </p:nvSpPr>
        <p:spPr>
          <a:xfrm>
            <a:off x="3611880" y="1702020"/>
            <a:ext cx="2331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0F9ED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入口</a:t>
            </a:r>
            <a:endParaRPr lang="en-US" sz="1500" dirty="0"/>
          </a:p>
        </p:txBody>
      </p:sp>
      <p:sp>
        <p:nvSpPr>
          <p:cNvPr id="14" name="11b77f6f-d91d-48ed-a1e7-6fbfcb5f79f9"/>
          <p:cNvSpPr/>
          <p:nvPr/>
        </p:nvSpPr>
        <p:spPr>
          <a:xfrm>
            <a:off x="3794760" y="2109298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 → token</a:t>
            </a:r>
            <a:endParaRPr lang="en-US" sz="1300" dirty="0"/>
          </a:p>
        </p:txBody>
      </p:sp>
      <p:sp>
        <p:nvSpPr>
          <p:cNvPr id="15" name="d820f950-7722-4d9b-a12f-da44e44edfb9"/>
          <p:cNvSpPr/>
          <p:nvPr/>
        </p:nvSpPr>
        <p:spPr>
          <a:xfrm>
            <a:off x="3794760" y="3339619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app:憑證</a:t>
            </a:r>
            <a:endParaRPr lang="en-US" sz="1300" dirty="0"/>
          </a:p>
        </p:txBody>
      </p:sp>
      <p:sp>
        <p:nvSpPr>
          <p:cNvPr id="16" name="ba0fc61a-5e09-4d4a-9795-8bc3462a6ab3"/>
          <p:cNvSpPr/>
          <p:nvPr/>
        </p:nvSpPr>
        <p:spPr>
          <a:xfrm>
            <a:off x="3794760" y="4569941"/>
            <a:ext cx="1965960" cy="8909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CLI:PLAIN+LDAP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應用:SCRAM</a:t>
            </a:r>
            <a:endParaRPr lang="en-US" sz="1300" dirty="0"/>
          </a:p>
        </p:txBody>
      </p:sp>
      <p:sp>
        <p:nvSpPr>
          <p:cNvPr id="17" name="879f210d-f3db-41b7-812b-1dd0f91354eb"/>
          <p:cNvSpPr/>
          <p:nvPr/>
        </p:nvSpPr>
        <p:spPr>
          <a:xfrm>
            <a:off x="3017520" y="2703246"/>
            <a:ext cx="594360" cy="0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8" name="e3c07c11-e678-4188-a995-076aa1ee8f6d"/>
          <p:cNvSpPr/>
          <p:nvPr/>
        </p:nvSpPr>
        <p:spPr>
          <a:xfrm>
            <a:off x="3017520" y="4654790"/>
            <a:ext cx="594360" cy="0"/>
          </a:xfrm>
          <a:prstGeom prst="line">
            <a:avLst/>
          </a:prstGeom>
          <a:noFill/>
          <a:ln w="381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50ebb521-4c6e-4550-8d66-375925d609b6"/>
          <p:cNvSpPr/>
          <p:nvPr/>
        </p:nvSpPr>
        <p:spPr>
          <a:xfrm>
            <a:off x="6492240" y="1642625"/>
            <a:ext cx="3566160" cy="3945512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0" name="525f68af-22fe-488a-bba5-6d23dd13378c"/>
          <p:cNvSpPr/>
          <p:nvPr/>
        </p:nvSpPr>
        <p:spPr>
          <a:xfrm>
            <a:off x="6675120" y="1702020"/>
            <a:ext cx="32004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21" name="3c3c27fc-c910-40f5-8733-08adc17d6d8c"/>
          <p:cNvSpPr/>
          <p:nvPr/>
        </p:nvSpPr>
        <p:spPr>
          <a:xfrm>
            <a:off x="6675120" y="2109298"/>
            <a:ext cx="150876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2" name="72423381-7681-452c-9a0f-5abad968a665"/>
          <p:cNvSpPr/>
          <p:nvPr/>
        </p:nvSpPr>
        <p:spPr>
          <a:xfrm>
            <a:off x="8275320" y="2109298"/>
            <a:ext cx="160020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2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3" name="557f85a1-31bf-4a15-aef5-1e3d805688da"/>
          <p:cNvSpPr/>
          <p:nvPr/>
        </p:nvSpPr>
        <p:spPr>
          <a:xfrm>
            <a:off x="6675120" y="3424469"/>
            <a:ext cx="3200400" cy="6787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controller(正式 3 個)</a:t>
            </a:r>
            <a:endParaRPr lang="en-US" sz="1250" dirty="0"/>
          </a:p>
        </p:txBody>
      </p:sp>
      <p:sp>
        <p:nvSpPr>
          <p:cNvPr id="24" name="6caa196f-8a3f-455d-a171-56ce422ec69c"/>
          <p:cNvSpPr/>
          <p:nvPr/>
        </p:nvSpPr>
        <p:spPr>
          <a:xfrm>
            <a:off x="6675120" y="4315391"/>
            <a:ext cx="320040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授權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topic:_confluent-metadata-auth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本地 cache</a:t>
            </a:r>
            <a:endParaRPr lang="en-US" sz="1300" dirty="0"/>
          </a:p>
        </p:txBody>
      </p:sp>
      <p:sp>
        <p:nvSpPr>
          <p:cNvPr id="25" name="5ff2ab67-25eb-4971-8018-3355fb6aac7e"/>
          <p:cNvSpPr/>
          <p:nvPr/>
        </p:nvSpPr>
        <p:spPr>
          <a:xfrm>
            <a:off x="5943600" y="3594169"/>
            <a:ext cx="54864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5bf7c68f-13d3-4f95-ba9b-91a5571be9a4"/>
          <p:cNvSpPr/>
          <p:nvPr/>
        </p:nvSpPr>
        <p:spPr>
          <a:xfrm>
            <a:off x="10607040" y="1642625"/>
            <a:ext cx="1143000" cy="1612145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65623b08-1740-42ea-8731-8f0173778954"/>
          <p:cNvSpPr/>
          <p:nvPr/>
        </p:nvSpPr>
        <p:spPr>
          <a:xfrm>
            <a:off x="10863072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1b385022-1d80-495d-8daa-6d6433e33f80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1003890" y="1900568"/>
            <a:ext cx="358445" cy="358445"/>
          </a:xfrm>
          <a:prstGeom prst="rect">
            <a:avLst/>
          </a:prstGeom>
        </p:spPr>
      </p:pic>
      <p:sp>
        <p:nvSpPr>
          <p:cNvPr id="29" name="bf5129dd-14b5-41f9-bc53-c4e17b28118d"/>
          <p:cNvSpPr/>
          <p:nvPr/>
        </p:nvSpPr>
        <p:spPr>
          <a:xfrm>
            <a:off x="10607040" y="2491122"/>
            <a:ext cx="11430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LDAP</a:t>
            </a:r>
            <a:endParaRPr lang="en-US" sz="1400" dirty="0"/>
          </a:p>
        </p:txBody>
      </p:sp>
      <p:sp>
        <p:nvSpPr>
          <p:cNvPr id="30" name="2364794a-b83d-4393-b436-e6eaeacd1da4"/>
          <p:cNvSpPr/>
          <p:nvPr/>
        </p:nvSpPr>
        <p:spPr>
          <a:xfrm>
            <a:off x="10058400" y="2448697"/>
            <a:ext cx="548640" cy="0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36ede3de-ccd5-4957-a19a-26b6b97dc665"/>
          <p:cNvSpPr/>
          <p:nvPr/>
        </p:nvSpPr>
        <p:spPr>
          <a:xfrm>
            <a:off x="10607040" y="3551744"/>
            <a:ext cx="1143000" cy="20363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2" name="31fae3b2-e702-4907-942e-2d662963d189"/>
          <p:cNvSpPr/>
          <p:nvPr/>
        </p:nvSpPr>
        <p:spPr>
          <a:xfrm>
            <a:off x="10863072" y="36790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3" name="7179b468-68da-481d-a69a-31f69b6e4167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1003890" y="3809687"/>
            <a:ext cx="358445" cy="358445"/>
          </a:xfrm>
          <a:prstGeom prst="rect">
            <a:avLst/>
          </a:prstGeom>
        </p:spPr>
      </p:pic>
      <p:sp>
        <p:nvSpPr>
          <p:cNvPr id="34" name="024c52a7-3b40-4db5-9cf3-5aceb2035f83"/>
          <p:cNvSpPr/>
          <p:nvPr/>
        </p:nvSpPr>
        <p:spPr>
          <a:xfrm>
            <a:off x="10607040" y="4357816"/>
            <a:ext cx="114300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(C3 用)</a:t>
            </a:r>
            <a:endParaRPr lang="en-US" sz="1000" dirty="0"/>
          </a:p>
        </p:txBody>
      </p:sp>
      <p:sp>
        <p:nvSpPr>
          <p:cNvPr id="35" name="ad97b7c8-f1b4-435b-9707-291686aeb259"/>
          <p:cNvSpPr/>
          <p:nvPr/>
        </p:nvSpPr>
        <p:spPr>
          <a:xfrm>
            <a:off x="457200" y="5800262"/>
            <a:ext cx="91440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100" dirty="0"/>
          </a:p>
        </p:txBody>
      </p:sp>
      <p:sp>
        <p:nvSpPr>
          <p:cNvPr id="36" name="f687b16c-5d65-4fc2-b9e0-313fb97c6404"/>
          <p:cNvSpPr/>
          <p:nvPr/>
        </p:nvSpPr>
        <p:spPr>
          <a:xfrm>
            <a:off x="1508760" y="5800262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 / 服務</a:t>
            </a:r>
            <a:endParaRPr lang="en-US" sz="1100" dirty="0"/>
          </a:p>
        </p:txBody>
      </p:sp>
      <p:sp>
        <p:nvSpPr>
          <p:cNvPr id="37" name="5385da2f-929f-4939-a490-d00d78b6b847"/>
          <p:cNvSpPr/>
          <p:nvPr/>
        </p:nvSpPr>
        <p:spPr>
          <a:xfrm>
            <a:off x="32004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 / 平台</a:t>
            </a:r>
            <a:endParaRPr lang="en-US" sz="1100" dirty="0"/>
          </a:p>
        </p:txBody>
      </p:sp>
      <p:sp>
        <p:nvSpPr>
          <p:cNvPr id="38" name="8d739b4a-b12a-4ddf-820a-2cda0c8216f8"/>
          <p:cNvSpPr/>
          <p:nvPr/>
        </p:nvSpPr>
        <p:spPr>
          <a:xfrm>
            <a:off x="48006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/ RBAC</a:t>
            </a:r>
            <a:endParaRPr lang="en-US" sz="1100" dirty="0"/>
          </a:p>
        </p:txBody>
      </p:sp>
      <p:sp>
        <p:nvSpPr>
          <p:cNvPr id="39" name="e32e7c85-e18c-4abd-bb4f-3ec8f2eba04f"/>
          <p:cNvSpPr/>
          <p:nvPr/>
        </p:nvSpPr>
        <p:spPr>
          <a:xfrm>
            <a:off x="6583680" y="5800262"/>
            <a:ext cx="5120640" cy="356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授權集中在 MDS 的 RBAC;人綁 AD 群組,服務綁 User: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三條路徑,同一套 AD 群組授權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c2f0d3d-7b8b-42d2-b97e-87dd6a36922d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2590db92-2729-4f83-9d2c-8f2d7055fb13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e42df39a-9453-4818-a937-8ef8ab507dd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96356a1d-f249-4a55-a90e-489f384e156c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</a:t>
            </a:r>
            <a:endParaRPr lang="en-US" sz="1400" dirty="0"/>
          </a:p>
        </p:txBody>
      </p:sp>
      <p:sp>
        <p:nvSpPr>
          <p:cNvPr id="6" name="ba71bb22-58da-4256-96ad-d83caaa704d6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MDS(LDAP)</a:t>
            </a:r>
            <a:endParaRPr lang="en-US" sz="1100" dirty="0"/>
          </a:p>
        </p:txBody>
      </p:sp>
      <p:sp>
        <p:nvSpPr>
          <p:cNvPr id="7" name="ce44fc39-6468-4452-9142-fd47d97cbf97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8" name="bce79c51-3c4e-45ff-82ae-cc011a3cc87f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(JWT,壽命可設)</a:t>
            </a:r>
            <a:endParaRPr lang="en-US" sz="1100" dirty="0"/>
          </a:p>
        </p:txBody>
      </p:sp>
      <p:sp>
        <p:nvSpPr>
          <p:cNvPr id="9" name="09541285-999a-4ac5-8c86-c0e6ddfad10c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0" name="8280c8f1-b761-400d-9d0e-6496fc27fc58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Bearer 帶本人身分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11" name="b3d68e03-e11d-45e2-842a-6908dbdff2bd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a460f18e-88f0-464b-8e5a-c7c4b10b2f04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13" name="57c14a1d-a808-4199-99d0-a802ad9ceb05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7ccb0993-9ff6-4dc0-b292-9df27d111842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b13f72f3-b2dc-40cc-96db-60f6ba34c95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3db0d5ae-3688-46d5-ac80-f3c744366446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 直連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400" dirty="0"/>
          </a:p>
        </p:txBody>
      </p:sp>
      <p:sp>
        <p:nvSpPr>
          <p:cNvPr id="17" name="49c344dc-e35a-4598-9116-648f687e6bfc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</a:t>
            </a:r>
            <a:endParaRPr lang="en-US" sz="1100" dirty="0"/>
          </a:p>
        </p:txBody>
      </p:sp>
      <p:sp>
        <p:nvSpPr>
          <p:cNvPr id="18" name="d105817f-1ac0-4e45-b6fa-5baee3b418b5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9" name="216ada40-e436-4015-ab6f-dc783d873ce7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轉 LDAP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驗證並取群組</a:t>
            </a:r>
            <a:endParaRPr lang="en-US" sz="1100" dirty="0"/>
          </a:p>
        </p:txBody>
      </p:sp>
      <p:sp>
        <p:nvSpPr>
          <p:cNvPr id="20" name="d0950a8d-1a25-411d-9d71-4abf24474af7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1" name="5466260d-f2cb-4c39-a08d-69eeee7bb9b4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22" name="09ec7e08-a903-496d-a226-8be005cd99d9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c9139518-a1a3-400d-9138-c08eb95f7d13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留痕</a:t>
            </a:r>
            <a:endParaRPr lang="en-US" sz="1100" dirty="0"/>
          </a:p>
        </p:txBody>
      </p:sp>
      <p:sp>
        <p:nvSpPr>
          <p:cNvPr id="24" name="fc0467a0-2ba8-46af-97d1-2b2b2ada3118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5" name="7d06c435-f4b3-4097-980f-4cf2d6f0bc6a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6" name="10d38708-f24d-4cf3-8e1a-c5efd95a22c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628c45cd-c4c6-49c8-b2e4-2eb64e02ac69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</a:t>
            </a:r>
            <a:endParaRPr lang="en-US" sz="1400" dirty="0"/>
          </a:p>
        </p:txBody>
      </p:sp>
      <p:sp>
        <p:nvSpPr>
          <p:cNvPr id="28" name="e7716883-09b6-4f86-b0e2-f2f97cd4cc07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</p:txBody>
      </p:sp>
      <p:sp>
        <p:nvSpPr>
          <p:cNvPr id="29" name="7cce7dac-b04f-4dbf-ab88-4318ce38d9a7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0" name="0f994433-bd64-410f-91fc-754d0918c2ba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驗證 → token</a:t>
            </a:r>
            <a:endParaRPr lang="en-US" sz="1100" dirty="0"/>
          </a:p>
        </p:txBody>
      </p:sp>
      <p:sp>
        <p:nvSpPr>
          <p:cNvPr id="31" name="2633d37c-b93e-4413-b351-7111bfd25101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fd1758b6-c2ea-47b6-a95a-eb1d9152aa7c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33" name="b59ed655-f216-4047-b971-a6b0f8304ffe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4" name="d142ad46-6b75-4206-8942-e8d9f6ecbc04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35" name="d5e569bd-2162-4685-9be4-a7cbb42cc6e1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三條路徑最後都由 RBAC 依「AD 群組」授權:人員異動只改 AD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機器的完整路徑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身分在 Kafka 內或憑證,RBAC 綁 User: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a12e9a9-9045-4d4e-acb8-4c5570cf660f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514ffc22-f1d5-48ef-9fcf-d6c6e0592b12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bfb11429-8d14-49a9-b3b8-2e88ef4df9f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4442aceb-0194-4821-bbc0-06dede340a98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應用服務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</a:t>
            </a:r>
            <a:endParaRPr lang="en-US" sz="1400" dirty="0"/>
          </a:p>
        </p:txBody>
      </p:sp>
      <p:sp>
        <p:nvSpPr>
          <p:cNvPr id="6" name="2ed13312-74f2-450e-84a0-b8210d1cd465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SASL/SCRAM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帳號密碼</a:t>
            </a:r>
            <a:endParaRPr lang="en-US" sz="1100" dirty="0"/>
          </a:p>
        </p:txBody>
      </p:sp>
      <p:sp>
        <p:nvSpPr>
          <p:cNvPr id="7" name="7cc186a6-7910-47bb-a5ba-cc471399de88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8" name="55c389fe-f949-412e-88a1-34d7de2ede0a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驗證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(帳密在 KRaft)</a:t>
            </a:r>
            <a:endParaRPr lang="en-US" sz="1100" dirty="0"/>
          </a:p>
        </p:txBody>
      </p:sp>
      <p:sp>
        <p:nvSpPr>
          <p:cNvPr id="9" name="7c887991-02ca-4f27-9bd4-b85e7a7ca0e5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0" name="ec0aa1a2-e60a-4d0d-871c-b38edeeb7836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User:svc-x</a:t>
            </a:r>
            <a:endParaRPr lang="en-US" sz="1100" dirty="0"/>
          </a:p>
        </p:txBody>
      </p:sp>
      <p:sp>
        <p:nvSpPr>
          <p:cNvPr id="11" name="85867346-4e6a-40f8-8b69-94d801d122bf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1dbef9fd-7513-49b9-ada3-f64889a9839d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留痕</a:t>
            </a:r>
            <a:endParaRPr lang="en-US" sz="1100" dirty="0"/>
          </a:p>
        </p:txBody>
      </p:sp>
      <p:sp>
        <p:nvSpPr>
          <p:cNvPr id="13" name="4d61af89-3894-4da6-aa55-3808df0c481a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4" name="7dfbf2ee-3e27-4a27-b28e-f7de47454e82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49d765e9-f2da-47e0-bc93-b5ee05872a5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17a63a5e-06c6-4575-91aa-3d1a492d5a86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</a:t>
            </a:r>
            <a:endParaRPr lang="en-US" sz="1400" dirty="0"/>
          </a:p>
        </p:txBody>
      </p:sp>
      <p:sp>
        <p:nvSpPr>
          <p:cNvPr id="17" name="4342ce3a-dbdf-4ab4-a8ff-fe5292b41fb5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 = 主體)</a:t>
            </a:r>
            <a:endParaRPr lang="en-US" sz="1100" dirty="0"/>
          </a:p>
        </p:txBody>
      </p:sp>
      <p:sp>
        <p:nvSpPr>
          <p:cNvPr id="18" name="9519cf47-fb35-42fd-a823-f92d9b901ba7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79157197-a3d1-4563-9647-ad44068841c2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對映 DN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/impersonate</a:t>
            </a:r>
            <a:endParaRPr lang="en-US" sz="1100" dirty="0"/>
          </a:p>
        </p:txBody>
      </p:sp>
      <p:sp>
        <p:nvSpPr>
          <p:cNvPr id="20" name="ea245f92-c0ec-44ef-8a19-0a62e3a52b60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8eb1647f-cf38-499b-a11b-2c35ef5fdd0d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</p:txBody>
      </p:sp>
      <p:sp>
        <p:nvSpPr>
          <p:cNvPr id="22" name="de9c3a24-9d74-4c57-bd15-02b6bbcba706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3" name="f1c2e867-1c07-44a2-bc8b-fe83a2450486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User:app</a:t>
            </a:r>
            <a:endParaRPr lang="en-US" sz="1100" dirty="0"/>
          </a:p>
        </p:txBody>
      </p:sp>
      <p:sp>
        <p:nvSpPr>
          <p:cNvPr id="24" name="4cfd067d-8351-4a7f-baac-23ddc9098c81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5" name="d90f4efd-a938-45d3-b6dc-eb04ecb3c6f0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3ffe5d12-da6a-42e9-93c1-c7e9cf2bce8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c45c146e-c093-41d0-8978-996a04a73580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</a:t>
            </a:r>
            <a:endParaRPr lang="en-US" sz="1400" dirty="0"/>
          </a:p>
        </p:txBody>
      </p:sp>
      <p:sp>
        <p:nvSpPr>
          <p:cNvPr id="28" name="ef094632-78e2-4e8e-b0ab-24e7abe82864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(CN=c3 / restproxy)</a:t>
            </a:r>
            <a:endParaRPr lang="en-US" sz="1100" dirty="0"/>
          </a:p>
        </p:txBody>
      </p:sp>
      <p:sp>
        <p:nvSpPr>
          <p:cNvPr id="29" name="12e9294b-b915-4825-8389-a4c85376f27d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0" name="63c371b3-77e3-4f33-809e-42fe6c5c2e3d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換 token</a:t>
            </a:r>
            <a:endParaRPr lang="en-US" sz="1100" dirty="0"/>
          </a:p>
        </p:txBody>
      </p:sp>
      <p:sp>
        <p:nvSpPr>
          <p:cNvPr id="31" name="ff0fa85a-81e5-47a7-8380-f43a65a85f95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2" name="c2f88362-c240-41a9-a101-b651b6c51658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或專屬 role</a:t>
            </a:r>
            <a:endParaRPr lang="en-US" sz="1100" dirty="0"/>
          </a:p>
        </p:txBody>
      </p:sp>
      <p:sp>
        <p:nvSpPr>
          <p:cNvPr id="33" name="34934d7b-7af8-4462-891b-9a482db498fa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4" name="4ef845cb-8a4d-4e1a-a30f-4aa80a928fc4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protected.users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防被冒充</a:t>
            </a:r>
            <a:endParaRPr lang="en-US" sz="1100" dirty="0"/>
          </a:p>
        </p:txBody>
      </p:sp>
      <p:sp>
        <p:nvSpPr>
          <p:cNvPr id="35" name="7bdcff4c-c1aa-4222-bfab-35f3d9a1d4c7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機器不進 AD:身分在 Kafka 內(SCRAM)或憑證(CN),RBAC 綁 User: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要管理的憑證與帳號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客戶實際要維運的清單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2" name="9fe5f868-e63a-41a1-a563-f7389a335b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3566160"/>
                <a:gridCol w="35021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數量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存放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 / 備註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憑證(共用)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所有節點 secrets 目錄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涵蓋全部;逐台換;換 CA 時 truststore 先信任新舊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3(c3 · restproxy · bootstrap)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對應主機;bootstrap 離線保管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 CN,CN 不變則不用重綁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app 1 張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app 主機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可省:若客戶能建一般 AD user,改 Basic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 1 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內;密碼放密碼庫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密碼不自動到期 → 輪替流程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唯讀查詢帳號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設定(權限 600)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 user / group OU;建議 LDAPS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SCRAM 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內;密碼封存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與 bootstrap 憑證同名的 super user;break-glass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人員異動只改 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6c898eb4-2ff4-4e2a-ac67-202d3691a460"/>
          <p:cNvSpPr/>
          <p:nvPr/>
        </p:nvSpPr>
        <p:spPr>
          <a:xfrm>
            <a:off x="548640" y="584268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最少化:1 server 憑證 + 2 長期 client 憑證 + 1 備用(bootstrap)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導入步驟(RHEL 9 手動部署)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沒有 Ansible:先標準化手動流程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c3e8a5f-9e3d-4cfa-8d1b-9175b59af415"/>
          <p:cNvSpPr/>
          <p:nvPr/>
        </p:nvSpPr>
        <p:spPr>
          <a:xfrm>
            <a:off x="5486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4be30dbf-cc3f-4175-9b2d-79bfcdae7ab7"/>
          <p:cNvSpPr/>
          <p:nvPr/>
        </p:nvSpPr>
        <p:spPr>
          <a:xfrm>
            <a:off x="11887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28a73aa9-638d-435d-9b51-559266d44793"/>
          <p:cNvSpPr/>
          <p:nvPr/>
        </p:nvSpPr>
        <p:spPr>
          <a:xfrm>
            <a:off x="10972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e0e96c61-7812-4355-bdd5-a85ca7fa013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28039" y="2485183"/>
            <a:ext cx="332842" cy="332842"/>
          </a:xfrm>
          <a:prstGeom prst="rect">
            <a:avLst/>
          </a:prstGeom>
        </p:spPr>
      </p:pic>
      <p:sp>
        <p:nvSpPr>
          <p:cNvPr id="6" name="467b69a8-b5ba-49b3-a525-8317f4989120"/>
          <p:cNvSpPr/>
          <p:nvPr/>
        </p:nvSpPr>
        <p:spPr>
          <a:xfrm>
            <a:off x="6217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憑證與 truststore</a:t>
            </a:r>
            <a:endParaRPr lang="en-US" sz="1250" dirty="0"/>
          </a:p>
        </p:txBody>
      </p:sp>
      <p:sp>
        <p:nvSpPr>
          <p:cNvPr id="7" name="905bd58d-f59b-4b13-87a2-5442035bd7e1"/>
          <p:cNvSpPr/>
          <p:nvPr/>
        </p:nvSpPr>
        <p:spPr>
          <a:xfrm>
            <a:off x="6400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AD 的 LDAPS CA</a:t>
            </a:r>
            <a:endParaRPr lang="en-US" sz="1050" dirty="0"/>
          </a:p>
        </p:txBody>
      </p:sp>
      <p:sp>
        <p:nvSpPr>
          <p:cNvPr id="8" name="2e0493a2-577f-4a7e-8e0f-8c6fd9df28ac"/>
          <p:cNvSpPr/>
          <p:nvPr/>
        </p:nvSpPr>
        <p:spPr>
          <a:xfrm>
            <a:off x="224028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cd35596b-45aa-4206-8375-6afadaf9902e"/>
          <p:cNvSpPr/>
          <p:nvPr/>
        </p:nvSpPr>
        <p:spPr>
          <a:xfrm>
            <a:off x="242316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0" name="e79f1536-82ad-4036-b7a0-1cfee58878e4"/>
          <p:cNvSpPr/>
          <p:nvPr/>
        </p:nvSpPr>
        <p:spPr>
          <a:xfrm>
            <a:off x="306324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b622489e-d356-425b-b4d0-8e92056b3e4e"/>
          <p:cNvSpPr/>
          <p:nvPr/>
        </p:nvSpPr>
        <p:spPr>
          <a:xfrm>
            <a:off x="297180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c337854c-0a83-47d3-b491-af4973e34f8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102559" y="2485183"/>
            <a:ext cx="332842" cy="332842"/>
          </a:xfrm>
          <a:prstGeom prst="rect">
            <a:avLst/>
          </a:prstGeom>
        </p:spPr>
      </p:pic>
      <p:sp>
        <p:nvSpPr>
          <p:cNvPr id="13" name="e1a5df0a-432a-4bda-902b-bf52a979a4a7"/>
          <p:cNvSpPr/>
          <p:nvPr/>
        </p:nvSpPr>
        <p:spPr>
          <a:xfrm>
            <a:off x="249631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14" name="95566d48-b3d0-45af-a0b9-09080f949763"/>
          <p:cNvSpPr/>
          <p:nvPr/>
        </p:nvSpPr>
        <p:spPr>
          <a:xfrm>
            <a:off x="251460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format + add-scram</a:t>
            </a:r>
            <a:endParaRPr lang="en-US" sz="1050" dirty="0"/>
          </a:p>
        </p:txBody>
      </p:sp>
      <p:sp>
        <p:nvSpPr>
          <p:cNvPr id="15" name="58f69f0b-9730-4462-85fd-5a778fc6c347"/>
          <p:cNvSpPr/>
          <p:nvPr/>
        </p:nvSpPr>
        <p:spPr>
          <a:xfrm>
            <a:off x="411480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" name="d57a95c4-b81e-4259-882f-164b8a0e1b17"/>
          <p:cNvSpPr/>
          <p:nvPr/>
        </p:nvSpPr>
        <p:spPr>
          <a:xfrm>
            <a:off x="429768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7" name="ba3625a9-5533-4da7-8cec-c73fc9ceee4f"/>
          <p:cNvSpPr/>
          <p:nvPr/>
        </p:nvSpPr>
        <p:spPr>
          <a:xfrm>
            <a:off x="493776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5e8b513a-71e6-4c49-a7a1-4a0dfe914ba4"/>
          <p:cNvSpPr/>
          <p:nvPr/>
        </p:nvSpPr>
        <p:spPr>
          <a:xfrm>
            <a:off x="484632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46076d78-9fde-4b99-acbe-7cc1fcad58a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977079" y="2485183"/>
            <a:ext cx="332842" cy="332842"/>
          </a:xfrm>
          <a:prstGeom prst="rect">
            <a:avLst/>
          </a:prstGeom>
        </p:spPr>
      </p:pic>
      <p:sp>
        <p:nvSpPr>
          <p:cNvPr id="20" name="5d55fb3d-35bf-4472-8e10-470324c89477"/>
          <p:cNvSpPr/>
          <p:nvPr/>
        </p:nvSpPr>
        <p:spPr>
          <a:xfrm>
            <a:off x="437083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+ MDS + LDAP</a:t>
            </a:r>
            <a:endParaRPr lang="en-US" sz="1250" dirty="0"/>
          </a:p>
        </p:txBody>
      </p:sp>
      <p:sp>
        <p:nvSpPr>
          <p:cNvPr id="21" name="ca3ea2bb-a623-43db-823a-608c190af4e1"/>
          <p:cNvSpPr/>
          <p:nvPr/>
        </p:nvSpPr>
        <p:spPr>
          <a:xfrm>
            <a:off x="438912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 listener</a:t>
            </a:r>
            <a:endParaRPr lang="en-US" sz="1050" dirty="0"/>
          </a:p>
        </p:txBody>
      </p:sp>
      <p:sp>
        <p:nvSpPr>
          <p:cNvPr id="22" name="40f057ff-6dee-4093-8631-8b515d8292de"/>
          <p:cNvSpPr/>
          <p:nvPr/>
        </p:nvSpPr>
        <p:spPr>
          <a:xfrm>
            <a:off x="598932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bf6e12a6-6f97-427e-b0cd-568800084853"/>
          <p:cNvSpPr/>
          <p:nvPr/>
        </p:nvSpPr>
        <p:spPr>
          <a:xfrm>
            <a:off x="617220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734924a6-460c-4f4a-884b-add474475df4"/>
          <p:cNvSpPr/>
          <p:nvPr/>
        </p:nvSpPr>
        <p:spPr>
          <a:xfrm>
            <a:off x="681228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5f5b766a-9383-4fc5-927a-7c8a2ec620aa"/>
          <p:cNvSpPr/>
          <p:nvPr/>
        </p:nvSpPr>
        <p:spPr>
          <a:xfrm>
            <a:off x="672084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334c8b97-43f2-4058-92f7-b842d3838ca4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851599" y="2485183"/>
            <a:ext cx="332842" cy="332842"/>
          </a:xfrm>
          <a:prstGeom prst="rect">
            <a:avLst/>
          </a:prstGeom>
        </p:spPr>
      </p:pic>
      <p:sp>
        <p:nvSpPr>
          <p:cNvPr id="27" name="cecdc68e-7bfb-4a14-a9b7-f80c3f724dda"/>
          <p:cNvSpPr/>
          <p:nvPr/>
        </p:nvSpPr>
        <p:spPr>
          <a:xfrm>
            <a:off x="624535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第一批 role binding</a:t>
            </a:r>
            <a:endParaRPr lang="en-US" sz="1250" dirty="0"/>
          </a:p>
        </p:txBody>
      </p:sp>
      <p:sp>
        <p:nvSpPr>
          <p:cNvPr id="28" name="23bc54fb-39bc-4a00-9876-d55c490c94df"/>
          <p:cNvSpPr/>
          <p:nvPr/>
        </p:nvSpPr>
        <p:spPr>
          <a:xfrm>
            <a:off x="626364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→ kafka-admins</a:t>
            </a:r>
            <a:endParaRPr lang="en-US" sz="1050" dirty="0"/>
          </a:p>
        </p:txBody>
      </p:sp>
      <p:sp>
        <p:nvSpPr>
          <p:cNvPr id="29" name="ba96c511-38b8-423b-acf0-e66337a98684"/>
          <p:cNvSpPr/>
          <p:nvPr/>
        </p:nvSpPr>
        <p:spPr>
          <a:xfrm>
            <a:off x="786384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0" name="640365ec-f5f4-4260-bac1-c7528a844e0f"/>
          <p:cNvSpPr/>
          <p:nvPr/>
        </p:nvSpPr>
        <p:spPr>
          <a:xfrm>
            <a:off x="804672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1" name="7a656eb8-89ed-4b63-8635-f947ea4c1a6a"/>
          <p:cNvSpPr/>
          <p:nvPr/>
        </p:nvSpPr>
        <p:spPr>
          <a:xfrm>
            <a:off x="868680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4dbeccc0-d2af-4f19-9205-1876c7df792e"/>
          <p:cNvSpPr/>
          <p:nvPr/>
        </p:nvSpPr>
        <p:spPr>
          <a:xfrm>
            <a:off x="859536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3" name="86ce7142-214b-4963-8603-4cbdc95e607c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8726119" y="2485183"/>
            <a:ext cx="332842" cy="332842"/>
          </a:xfrm>
          <a:prstGeom prst="rect">
            <a:avLst/>
          </a:prstGeom>
        </p:spPr>
      </p:pic>
      <p:sp>
        <p:nvSpPr>
          <p:cNvPr id="34" name="3a837dc4-8931-4d0c-bbbb-10a1b8ec1268"/>
          <p:cNvSpPr/>
          <p:nvPr/>
        </p:nvSpPr>
        <p:spPr>
          <a:xfrm>
            <a:off x="811987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· C3 · 監控</a:t>
            </a:r>
            <a:endParaRPr lang="en-US" sz="1250" dirty="0"/>
          </a:p>
        </p:txBody>
      </p:sp>
      <p:sp>
        <p:nvSpPr>
          <p:cNvPr id="35" name="195f2bfe-d91d-455b-8574-ad12abb59df5"/>
          <p:cNvSpPr/>
          <p:nvPr/>
        </p:nvSpPr>
        <p:spPr>
          <a:xfrm>
            <a:off x="813816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 + Alertmanager</a:t>
            </a:r>
            <a:endParaRPr lang="en-US" sz="1050" dirty="0"/>
          </a:p>
        </p:txBody>
      </p:sp>
      <p:sp>
        <p:nvSpPr>
          <p:cNvPr id="36" name="fa3bc582-f80f-4bab-a517-b7ba870926ff"/>
          <p:cNvSpPr/>
          <p:nvPr/>
        </p:nvSpPr>
        <p:spPr>
          <a:xfrm>
            <a:off x="973836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7" name="37882263-e634-4dac-9599-8079fcc5e37a"/>
          <p:cNvSpPr/>
          <p:nvPr/>
        </p:nvSpPr>
        <p:spPr>
          <a:xfrm>
            <a:off x="99212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7bfc1f47-d7d4-423d-b090-cdb89c26a693"/>
          <p:cNvSpPr/>
          <p:nvPr/>
        </p:nvSpPr>
        <p:spPr>
          <a:xfrm>
            <a:off x="105613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241ff3ff-e396-4efa-bae1-d7ceeaf7dc8d"/>
          <p:cNvSpPr/>
          <p:nvPr/>
        </p:nvSpPr>
        <p:spPr>
          <a:xfrm>
            <a:off x="104698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7672bcfa-aea5-41db-a392-ed9533b2666e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0600639" y="2485183"/>
            <a:ext cx="332842" cy="332842"/>
          </a:xfrm>
          <a:prstGeom prst="rect">
            <a:avLst/>
          </a:prstGeom>
        </p:spPr>
      </p:pic>
      <p:sp>
        <p:nvSpPr>
          <p:cNvPr id="41" name="fd19974e-d8f6-473a-997a-0888ba956c6c"/>
          <p:cNvSpPr/>
          <p:nvPr/>
        </p:nvSpPr>
        <p:spPr>
          <a:xfrm>
            <a:off x="99943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與驗證</a:t>
            </a:r>
            <a:endParaRPr lang="en-US" sz="1250" dirty="0"/>
          </a:p>
        </p:txBody>
      </p:sp>
      <p:sp>
        <p:nvSpPr>
          <p:cNvPr id="42" name="61a59bf0-1efb-450a-82f4-76ecf125c5d5"/>
          <p:cNvSpPr/>
          <p:nvPr/>
        </p:nvSpPr>
        <p:spPr>
          <a:xfrm>
            <a:off x="100126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路由 + 逐項驗證</a:t>
            </a:r>
            <a:endParaRPr lang="en-US" sz="1050" dirty="0"/>
          </a:p>
        </p:txBody>
      </p:sp>
      <p:sp>
        <p:nvSpPr>
          <p:cNvPr id="43" name="99540722-ad58-46cf-9572-e0b748b93bdc"/>
          <p:cNvSpPr/>
          <p:nvPr/>
        </p:nvSpPr>
        <p:spPr>
          <a:xfrm>
            <a:off x="548640" y="452751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順序錯誤需重新 format:controller 要在 broker 啟動前預建 SCRAM 憑證</a:t>
            </a:r>
            <a:endParaRPr lang="en-US" sz="1300" dirty="0"/>
          </a:p>
        </p:txBody>
      </p:sp>
      <p:sp>
        <p:nvSpPr>
          <p:cNvPr id="44" name="fe9b8ab3-9839-4c2e-8bad-bbeeb1100363"/>
          <p:cNvSpPr/>
          <p:nvPr/>
        </p:nvSpPr>
        <p:spPr>
          <a:xfrm>
            <a:off x="548640" y="50366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改設定:systemctl 逐台滾動重啟;demo 曾因強殺 controller 留下空 snapshot 而遺失 SCRAM 憑證 → 停止逾時要足夠</a:t>
            </a:r>
            <a:endParaRPr lang="en-US" sz="1200" dirty="0"/>
          </a:p>
        </p:txBody>
      </p:sp>
      <p:sp>
        <p:nvSpPr>
          <p:cNvPr id="45" name="933bd791-8e45-4419-aa4f-f184a17692d6"/>
          <p:cNvSpPr/>
          <p:nvPr/>
        </p:nvSpPr>
        <p:spPr>
          <a:xfrm>
            <a:off x="548640" y="5588137"/>
            <a:ext cx="11091672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的 14 個章節對應每一步的驗證;路徑與 systemd 單元需在 RHEL 實機核對(本專案未在 RHEL 實機驗證)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六個主要風險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4e6c7b7-87c5-4bf8-bf69-ee389532ffe5"/>
          <p:cNvSpPr/>
          <p:nvPr/>
        </p:nvSpPr>
        <p:spPr>
          <a:xfrm>
            <a:off x="548640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62b7f1a8-d3e1-46d1-bd13-e6f3b2b9b8f6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a82840e2-9523-485a-b8fd-2f5b387786c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3167274a-52ac-49b1-917e-2f3c3e867768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</a:t>
            </a:r>
            <a:endParaRPr lang="en-US" sz="1350" dirty="0"/>
          </a:p>
        </p:txBody>
      </p:sp>
      <p:sp>
        <p:nvSpPr>
          <p:cNvPr id="6" name="9e1158fd-a990-4ab7-8d4e-cb315fbd7f70"/>
          <p:cNvSpPr/>
          <p:nvPr/>
        </p:nvSpPr>
        <p:spPr>
          <a:xfrm>
            <a:off x="685800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發現:能建立 / 刪除 role binding;拿掉權限 C3 會退出(實測)</a:t>
            </a:r>
            <a:endParaRPr lang="en-US" sz="1050" dirty="0"/>
          </a:p>
        </p:txBody>
      </p:sp>
      <p:sp>
        <p:nvSpPr>
          <p:cNvPr id="7" name="c926d6a1-6a1c-4ae9-b509-8f0e1450eaf9"/>
          <p:cNvSpPr/>
          <p:nvPr/>
        </p:nvSpPr>
        <p:spPr>
          <a:xfrm>
            <a:off x="685800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對策:保護私鑰與檔案權限;列入保護清單</a:t>
            </a:r>
            <a:endParaRPr lang="en-US" sz="1050" dirty="0"/>
          </a:p>
        </p:txBody>
      </p:sp>
      <p:sp>
        <p:nvSpPr>
          <p:cNvPr id="8" name="cd8a0516-9b5c-4af5-9d6c-c9f5aefd5c1f"/>
          <p:cNvSpPr/>
          <p:nvPr/>
        </p:nvSpPr>
        <p:spPr>
          <a:xfrm>
            <a:off x="4325112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b4041606-7588-4617-b4bd-25598eaca159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c99a85f6-493a-4250-b1aa-b69cc6c7721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b3ec9eae-a557-40b0-b785-d2a2a17e8ff8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</a:t>
            </a:r>
            <a:endParaRPr lang="en-US" sz="1350" dirty="0"/>
          </a:p>
        </p:txBody>
      </p:sp>
      <p:sp>
        <p:nvSpPr>
          <p:cNvPr id="12" name="569eb412-b0c2-4880-8aa3-1511d75eb2a4"/>
          <p:cNvSpPr/>
          <p:nvPr/>
        </p:nvSpPr>
        <p:spPr>
          <a:xfrm>
            <a:off x="4462272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發現:可代不在保護清單的使用者;混入 Group: 整份失效</a:t>
            </a:r>
            <a:endParaRPr lang="en-US" sz="1050" dirty="0"/>
          </a:p>
        </p:txBody>
      </p:sp>
      <p:sp>
        <p:nvSpPr>
          <p:cNvPr id="13" name="b7a43ab3-e309-4128-a8af-fd4f8353b357"/>
          <p:cNvSpPr/>
          <p:nvPr/>
        </p:nvSpPr>
        <p:spPr>
          <a:xfrm>
            <a:off x="4462272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對策:特權身分逐一以 User: 列入</a:t>
            </a:r>
            <a:endParaRPr lang="en-US" sz="1050" dirty="0"/>
          </a:p>
        </p:txBody>
      </p:sp>
      <p:sp>
        <p:nvSpPr>
          <p:cNvPr id="14" name="0ded0b9d-ff21-4fb4-8078-0ea1087b77ca"/>
          <p:cNvSpPr/>
          <p:nvPr/>
        </p:nvSpPr>
        <p:spPr>
          <a:xfrm>
            <a:off x="8101584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4368c29e-0e40-4f2b-81b4-22673d6f68ff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007b48a6-5f78-4650-b9b6-a602b132445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65d4f88b-b5f7-4752-8904-9bfb7bb9d5ab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server 私鑰</a:t>
            </a:r>
            <a:endParaRPr lang="en-US" sz="1350" dirty="0"/>
          </a:p>
        </p:txBody>
      </p:sp>
      <p:sp>
        <p:nvSpPr>
          <p:cNvPr id="18" name="91c54e4e-c908-4207-ad8c-ed6f11c7722d"/>
          <p:cNvSpPr/>
          <p:nvPr/>
        </p:nvSpPr>
        <p:spPr>
          <a:xfrm>
            <a:off x="8238744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發現:外洩 = 可偽裝伺服器,也能以共用身分向 MDS 認證(無權限)</a:t>
            </a:r>
            <a:endParaRPr lang="en-US" sz="1050" dirty="0"/>
          </a:p>
        </p:txBody>
      </p:sp>
      <p:sp>
        <p:nvSpPr>
          <p:cNvPr id="19" name="a66aa921-3332-4bb5-830c-f72c9762b828"/>
          <p:cNvSpPr/>
          <p:nvPr/>
        </p:nvSpPr>
        <p:spPr>
          <a:xfrm>
            <a:off x="8238744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對策:權限 600;最小化存放;輪替計畫;該身分不綁 role</a:t>
            </a:r>
            <a:endParaRPr lang="en-US" sz="1050" dirty="0"/>
          </a:p>
        </p:txBody>
      </p:sp>
      <p:sp>
        <p:nvSpPr>
          <p:cNvPr id="20" name="73d674ac-57bb-429c-b368-ed457616eb4b"/>
          <p:cNvSpPr/>
          <p:nvPr/>
        </p:nvSpPr>
        <p:spPr>
          <a:xfrm>
            <a:off x="548640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b0d7ed9e-b655-47d6-801e-4aa561bde70f"/>
          <p:cNvSpPr/>
          <p:nvPr/>
        </p:nvSpPr>
        <p:spPr>
          <a:xfrm>
            <a:off x="685800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2" name="29172fdc-503a-49d4-b262-341074b67407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96442" y="4222905"/>
            <a:ext cx="281635" cy="281635"/>
          </a:xfrm>
          <a:prstGeom prst="rect">
            <a:avLst/>
          </a:prstGeom>
        </p:spPr>
      </p:pic>
      <p:sp>
        <p:nvSpPr>
          <p:cNvPr id="23" name="6a8e4aa3-3c8e-49fb-b3f1-8ea878d38b75"/>
          <p:cNvSpPr/>
          <p:nvPr/>
        </p:nvSpPr>
        <p:spPr>
          <a:xfrm>
            <a:off x="1280160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密碼不到期</a:t>
            </a:r>
            <a:endParaRPr lang="en-US" sz="1350" dirty="0"/>
          </a:p>
        </p:txBody>
      </p:sp>
      <p:sp>
        <p:nvSpPr>
          <p:cNvPr id="24" name="9619f7b1-cae5-4f4d-abee-f8b932752f31"/>
          <p:cNvSpPr/>
          <p:nvPr/>
        </p:nvSpPr>
        <p:spPr>
          <a:xfrm>
            <a:off x="685800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發現:長期不換 → 外洩風險累積</a:t>
            </a:r>
            <a:endParaRPr lang="en-US" sz="1050" dirty="0"/>
          </a:p>
        </p:txBody>
      </p:sp>
      <p:sp>
        <p:nvSpPr>
          <p:cNvPr id="25" name="82723a68-2be7-4d3f-9b6a-eba4a821bf68"/>
          <p:cNvSpPr/>
          <p:nvPr/>
        </p:nvSpPr>
        <p:spPr>
          <a:xfrm>
            <a:off x="685800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對策:密碼庫 + 輪替流程 + 提醒</a:t>
            </a:r>
            <a:endParaRPr lang="en-US" sz="1050" dirty="0"/>
          </a:p>
        </p:txBody>
      </p:sp>
      <p:sp>
        <p:nvSpPr>
          <p:cNvPr id="26" name="6ea8c0b9-1752-440d-b726-6124cf931894"/>
          <p:cNvSpPr/>
          <p:nvPr/>
        </p:nvSpPr>
        <p:spPr>
          <a:xfrm>
            <a:off x="4325112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a6522752-6f7c-4be1-8168-9e3aab0b4ad6"/>
          <p:cNvSpPr/>
          <p:nvPr/>
        </p:nvSpPr>
        <p:spPr>
          <a:xfrm>
            <a:off x="4462272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8" name="3eba744f-11f8-48eb-b2b1-0bf5a0811296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572914" y="4222905"/>
            <a:ext cx="281635" cy="281635"/>
          </a:xfrm>
          <a:prstGeom prst="rect">
            <a:avLst/>
          </a:prstGeom>
        </p:spPr>
      </p:pic>
      <p:sp>
        <p:nvSpPr>
          <p:cNvPr id="29" name="99d8fa77-3c8a-407b-8de9-988f30110ed7"/>
          <p:cNvSpPr/>
          <p:nvPr/>
        </p:nvSpPr>
        <p:spPr>
          <a:xfrm>
            <a:off x="5056632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監控元件預設未認證</a:t>
            </a:r>
            <a:endParaRPr lang="en-US" sz="1350" dirty="0"/>
          </a:p>
        </p:txBody>
      </p:sp>
      <p:sp>
        <p:nvSpPr>
          <p:cNvPr id="30" name="2d48d6aa-dc4f-4526-8f58-8bc42b722d55"/>
          <p:cNvSpPr/>
          <p:nvPr/>
        </p:nvSpPr>
        <p:spPr>
          <a:xfrm>
            <a:off x="4462272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發現:Prometheus / Alertmanager 可無認證讀寫</a:t>
            </a:r>
            <a:endParaRPr lang="en-US" sz="1050" dirty="0"/>
          </a:p>
        </p:txBody>
      </p:sp>
      <p:sp>
        <p:nvSpPr>
          <p:cNvPr id="31" name="0cf19a3c-dcfc-4033-a18f-480b9e381aba"/>
          <p:cNvSpPr/>
          <p:nvPr/>
        </p:nvSpPr>
        <p:spPr>
          <a:xfrm>
            <a:off x="4462272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對策:啟用 TLS + Basic;未啟用時網路隔離</a:t>
            </a:r>
            <a:endParaRPr lang="en-US" sz="1050" dirty="0"/>
          </a:p>
        </p:txBody>
      </p:sp>
      <p:sp>
        <p:nvSpPr>
          <p:cNvPr id="32" name="a2385755-e1dd-4371-97ce-a0257476e2b1"/>
          <p:cNvSpPr/>
          <p:nvPr/>
        </p:nvSpPr>
        <p:spPr>
          <a:xfrm>
            <a:off x="8101584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4cc8123b-bf68-4b4c-94f2-8f4bd2d7da3b"/>
          <p:cNvSpPr/>
          <p:nvPr/>
        </p:nvSpPr>
        <p:spPr>
          <a:xfrm>
            <a:off x="8238744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4" name="c1b84d51-7e15-4b0c-ac08-061b066b1aea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8349386" y="4222905"/>
            <a:ext cx="281635" cy="281635"/>
          </a:xfrm>
          <a:prstGeom prst="rect">
            <a:avLst/>
          </a:prstGeom>
        </p:spPr>
      </p:pic>
      <p:sp>
        <p:nvSpPr>
          <p:cNvPr id="35" name="5b7eb73f-5ea6-4022-8494-4bce296bbc1a"/>
          <p:cNvSpPr/>
          <p:nvPr/>
        </p:nvSpPr>
        <p:spPr>
          <a:xfrm>
            <a:off x="8833104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不是全記</a:t>
            </a:r>
            <a:endParaRPr lang="en-US" sz="1350" dirty="0"/>
          </a:p>
        </p:txBody>
      </p:sp>
      <p:sp>
        <p:nvSpPr>
          <p:cNvPr id="36" name="9858360d-e28d-494d-b3e0-d224ffc4d465"/>
          <p:cNvSpPr/>
          <p:nvPr/>
        </p:nvSpPr>
        <p:spPr>
          <a:xfrm>
            <a:off x="8238744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發現:部分拒絕查不到;成功的 consume 預設不記(避免洗版)</a:t>
            </a:r>
            <a:endParaRPr lang="en-US" sz="1050" dirty="0"/>
          </a:p>
        </p:txBody>
      </p:sp>
      <p:sp>
        <p:nvSpPr>
          <p:cNvPr id="37" name="dd0fcfe4-4a43-4aee-849b-edcafef7f6f7"/>
          <p:cNvSpPr/>
          <p:nvPr/>
        </p:nvSpPr>
        <p:spPr>
          <a:xfrm>
            <a:off x="8238744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對策:稽核需求另外盤點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風險與對策(續)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最需要補驗證的項目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e70cee8-5f0b-41ac-a866-0a99e82850f3"/>
          <p:cNvSpPr/>
          <p:nvPr/>
        </p:nvSpPr>
        <p:spPr>
          <a:xfrm>
            <a:off x="548640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f7ea7fbc-7692-42b4-b116-72d9c5f68123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9b4e9fab-69c4-470c-ae3a-79ec70f1bc0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8f542066-3203-4dad-8fc3-d3198e3fd9df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 cookie 優先於 Basic</a:t>
            </a:r>
            <a:endParaRPr lang="en-US" sz="1350" dirty="0"/>
          </a:p>
        </p:txBody>
      </p:sp>
      <p:sp>
        <p:nvSpPr>
          <p:cNvPr id="6" name="e2b2445a-5541-48ad-9af7-5379762b3b78"/>
          <p:cNvSpPr/>
          <p:nvPr/>
        </p:nvSpPr>
        <p:spPr>
          <a:xfrm>
            <a:off x="685800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發現:MDS 驗證後回 auth_token cookie,優先於 Basic:同一 session 換身分仍以前一人執行(實測:誤新增 role binding)</a:t>
            </a:r>
            <a:endParaRPr lang="en-US" sz="1050" dirty="0"/>
          </a:p>
        </p:txBody>
      </p:sp>
      <p:sp>
        <p:nvSpPr>
          <p:cNvPr id="7" name="c761b5bf-2f87-4772-8d0c-2d4962d42b56"/>
          <p:cNvSpPr/>
          <p:nvPr/>
        </p:nvSpPr>
        <p:spPr>
          <a:xfrm>
            <a:off x="685800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對策:換身分前清除 cookie;collection 層級 pre-request 清除</a:t>
            </a:r>
            <a:endParaRPr lang="en-US" sz="1050" dirty="0"/>
          </a:p>
        </p:txBody>
      </p:sp>
      <p:sp>
        <p:nvSpPr>
          <p:cNvPr id="8" name="9f8e1b76-2f9e-4648-9a5a-2a1be1d5c12f"/>
          <p:cNvSpPr/>
          <p:nvPr/>
        </p:nvSpPr>
        <p:spPr>
          <a:xfrm>
            <a:off x="4325112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447e0b85-c189-46ac-8d02-92ea767f08a9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e906194c-179d-483c-97da-8d77e315f27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e0f36eef-0473-44c2-9a4b-7002824927b9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移出群組後的延遲</a:t>
            </a:r>
            <a:endParaRPr lang="en-US" sz="1350" dirty="0"/>
          </a:p>
        </p:txBody>
      </p:sp>
      <p:sp>
        <p:nvSpPr>
          <p:cNvPr id="12" name="b0a65cc6-a52b-4192-94da-761034f1e81f"/>
          <p:cNvSpPr/>
          <p:nvPr/>
        </p:nvSpPr>
        <p:spPr>
          <a:xfrm>
            <a:off x="4462272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發現:移出群組最長約 60 秒收回;刪除 AD 帳號後,已簽發 token 到期前仍有效(實測)</a:t>
            </a:r>
            <a:endParaRPr lang="en-US" sz="1050" dirty="0"/>
          </a:p>
        </p:txBody>
      </p:sp>
      <p:sp>
        <p:nvSpPr>
          <p:cNvPr id="13" name="92452b09-6440-45f6-b3dc-b24b9739ae9e"/>
          <p:cNvSpPr/>
          <p:nvPr/>
        </p:nvSpPr>
        <p:spPr>
          <a:xfrm>
            <a:off x="4462272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對策:預留刷新時間;離職:停用 AD 帳號,並視需要縮短 token 壽命(token.max.lifetime.ms)</a:t>
            </a:r>
            <a:endParaRPr lang="en-US" sz="1050" dirty="0"/>
          </a:p>
        </p:txBody>
      </p:sp>
      <p:sp>
        <p:nvSpPr>
          <p:cNvPr id="14" name="676245e5-5d2f-463f-bfc6-cb7235c89438"/>
          <p:cNvSpPr/>
          <p:nvPr/>
        </p:nvSpPr>
        <p:spPr>
          <a:xfrm>
            <a:off x="8101584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6e5c4628-ed4a-412e-824b-4659becbc3ce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5d8112fb-4504-4ddb-a24b-e200e1196ec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4cb9ed7c-0b01-4ad9-86e2-d9d2780d050b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 controller 的機制</a:t>
            </a:r>
            <a:endParaRPr lang="en-US" sz="1350" dirty="0"/>
          </a:p>
        </p:txBody>
      </p:sp>
      <p:sp>
        <p:nvSpPr>
          <p:cNvPr id="18" name="85fc9aaa-6401-4b6a-9993-395be1511e2d"/>
          <p:cNvSpPr/>
          <p:nvPr/>
        </p:nvSpPr>
        <p:spPr>
          <a:xfrm>
            <a:off x="8238744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發現:官方說明 controller listener 不支援 SCRAM,採 PLAIN;PLAIN 已實測(機制),未含 TLS / RBAC</a:t>
            </a:r>
            <a:endParaRPr lang="en-US" sz="1050" dirty="0"/>
          </a:p>
        </p:txBody>
      </p:sp>
      <p:sp>
        <p:nvSpPr>
          <p:cNvPr id="19" name="30586ce2-8f74-4524-90bc-65c1b61a6a4b"/>
          <p:cNvSpPr/>
          <p:nvPr/>
        </p:nvSpPr>
        <p:spPr>
          <a:xfrm>
            <a:off x="8238744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對策:導入前在實機以 TLS + RBAC 實測</a:t>
            </a:r>
            <a:endParaRPr lang="en-US" sz="1050" dirty="0"/>
          </a:p>
        </p:txBody>
      </p:sp>
      <p:sp>
        <p:nvSpPr>
          <p:cNvPr id="20" name="769aa143-cd76-4993-ba6d-ae3af4928918"/>
          <p:cNvSpPr/>
          <p:nvPr/>
        </p:nvSpPr>
        <p:spPr>
          <a:xfrm>
            <a:off x="548640" y="448509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這三項是這份方案目前最需要補驗證的地方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Live Demo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七個情境,直接下指令看結果(每頁左:指令與預期,右:實際畫面)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1:沒有身分就進不來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72c84f8-6593-404a-818d-95e325208b5b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ch01</a:t>
            </a:r>
            <a:endParaRPr lang="en-US" sz="1200" dirty="0"/>
          </a:p>
        </p:txBody>
      </p:sp>
      <p:sp>
        <p:nvSpPr>
          <p:cNvPr id="3" name="e9e031cd-9438-4e86-b90a-3bc9d7ccf297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yujie</a:t>
            </a:r>
            <a:endParaRPr lang="en-US" sz="1200" dirty="0"/>
          </a:p>
        </p:txBody>
      </p:sp>
      <p:sp>
        <p:nvSpPr>
          <p:cNvPr id="4" name="8668d7df-ac4f-48be-8e4e-62a8a31352f0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32183f10-8934-4966-b47d-7a4099ec3f04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kafka-topics --bootstrap-server broker1:9094 --command-config yujie.properties --list</a:t>
            </a:r>
            <a:endParaRPr lang="en-US" sz="1100" dirty="0"/>
          </a:p>
        </p:txBody>
      </p:sp>
      <p:sp>
        <p:nvSpPr>
          <p:cNvPr id="6" name="aaca644d-df16-4c5c-9156-9bd06638e484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79d06ccc-96c6-474a-869e-69c013c0f6dc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帳密正確 → 認證成功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但尚未授權 → 看得到的 topic:0 個</a:t>
            </a:r>
            <a:endParaRPr lang="en-US" sz="1300" dirty="0"/>
          </a:p>
        </p:txBody>
      </p:sp>
      <p:sp>
        <p:nvSpPr>
          <p:cNvPr id="8" name="4f08f959-5f6d-424d-8511-cdcab7324b3a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證明:預設全拒絕;認證成功不等於有權限</a:t>
            </a:r>
            <a:endParaRPr lang="en-US" sz="1200" dirty="0"/>
          </a:p>
        </p:txBody>
      </p:sp>
      <p:sp>
        <p:nvSpPr>
          <p:cNvPr id="9" name="2454f187-2312-4748-b0f4-0e7beb3ada62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16eb726f-8d80-485b-a790-0eda6ff67b7f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d246b2f1-2be7-449f-8689-0f6637fe121c" descr="C:\Users\user\IdeaProjects\untitled6\deck\demo-shots\ch01-04-valid-no-perm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98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2:AD 群組決定權限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7524d73-5f78-4683-9ec6-f897fb4fb006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ch03</a:t>
            </a:r>
            <a:endParaRPr lang="en-US" sz="1200" dirty="0"/>
          </a:p>
        </p:txBody>
      </p:sp>
      <p:sp>
        <p:nvSpPr>
          <p:cNvPr id="3" name="8538b6c3-1378-4985-8ed8-67bcbaab9883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ming</a:t>
            </a:r>
            <a:endParaRPr lang="en-US" sz="1200" dirty="0"/>
          </a:p>
        </p:txBody>
      </p:sp>
      <p:sp>
        <p:nvSpPr>
          <p:cNvPr id="4" name="f2a8d52c-f072-4e06-ac6a-0cb0b1e6125d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a403af20-576d-4572-9875-af6c5ace6e5b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echo hi | kafka-console-producer --command-config ming.properties --topic orders.events</a:t>
            </a:r>
            <a:endParaRPr lang="en-US" sz="1100" dirty="0"/>
          </a:p>
        </p:txBody>
      </p:sp>
      <p:sp>
        <p:nvSpPr>
          <p:cNvPr id="6" name="cbf5d2c1-88b1-4832-8da3-5a44fbeff1bf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41a8f832-eaf3-4ca0-9f5a-8c4121819272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不在群組:TOPIC_AUTHORIZATION_FAILED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加入 AD 群組後約 4 秒:寫入成功</a:t>
            </a:r>
            <a:endParaRPr lang="en-US" sz="1300" dirty="0"/>
          </a:p>
        </p:txBody>
      </p:sp>
      <p:sp>
        <p:nvSpPr>
          <p:cNvPr id="8" name="2f04631c-7e31-47a8-9b4d-cd594b492a65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證明:授權跟著群組走,Kafka 端零變更</a:t>
            </a:r>
            <a:endParaRPr lang="en-US" sz="1200" dirty="0"/>
          </a:p>
        </p:txBody>
      </p:sp>
      <p:sp>
        <p:nvSpPr>
          <p:cNvPr id="9" name="1d29c4e8-0337-4bc3-a0cf-f5b73766cbd9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bae2aea9-e39f-4427-a1cd-866afb0ffb7d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45a9149f-70c6-4e2a-8057-97272eec9038" descr="C:\Users\user\IdeaProjects\untitled6\deck\demo-shots\ch03-05-ming-deni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186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3:依群組分層:唯讀只是一層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cf644f1-9a9b-4604-9461-04ebb98176a8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ch04</a:t>
            </a:r>
            <a:endParaRPr lang="en-US" sz="1200" dirty="0"/>
          </a:p>
        </p:txBody>
      </p:sp>
      <p:sp>
        <p:nvSpPr>
          <p:cNvPr id="3" name="9bdb2798-63bc-4cae-bea7-234ff742d642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ming(唯讀群組)</a:t>
            </a:r>
            <a:endParaRPr lang="en-US" sz="1200" dirty="0"/>
          </a:p>
        </p:txBody>
      </p:sp>
      <p:sp>
        <p:nvSpPr>
          <p:cNvPr id="4" name="f71011e0-c726-4950-be24-8ec67a6fa832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db8b73ee-1e28-42c8-a1fe-527bfb13ed28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echo oops | kafka-console-producer --command-config ming.properties --topic orders.events</a:t>
            </a:r>
            <a:endParaRPr lang="en-US" sz="1100" dirty="0"/>
          </a:p>
        </p:txBody>
      </p:sp>
      <p:sp>
        <p:nvSpPr>
          <p:cNvPr id="6" name="52b79858-fe80-4a5a-9284-89549c29057e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d31d0fa2-c42f-432c-a69d-d955e60db181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寫入被拒:Cluster authorization failed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讀取仍可成功</a:t>
            </a:r>
            <a:endParaRPr lang="en-US" sz="1300" dirty="0"/>
          </a:p>
        </p:txBody>
      </p:sp>
      <p:sp>
        <p:nvSpPr>
          <p:cNvPr id="8" name="0cb2a6dd-e344-4079-a46f-a3d4ddbff2f0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證明:同一個 AD,不同群組 = 不同權限層級</a:t>
            </a:r>
            <a:endParaRPr lang="en-US" sz="1200" dirty="0"/>
          </a:p>
        </p:txBody>
      </p:sp>
      <p:sp>
        <p:nvSpPr>
          <p:cNvPr id="9" name="df8402aa-b2d4-4f81-98c5-0292e5b781eb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44f0b29a-6652-4d64-96a1-66d726c15582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818e0127-0a71-4272-81e3-273c30980fd5" descr="C:\Users\user\IdeaProjects\untitled6\deck\demo-shots\ch04-05-ming-write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169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4:服務帳號:最小權限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3c0dcc8-a2a6-4332-9576-485e9e76d4db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ch07</a:t>
            </a:r>
            <a:endParaRPr lang="en-US" sz="1200" dirty="0"/>
          </a:p>
        </p:txBody>
      </p:sp>
      <p:sp>
        <p:nvSpPr>
          <p:cNvPr id="3" name="564da3d2-56b3-4d0d-af25-5ff4867a6d0b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svc-orders</a:t>
            </a:r>
            <a:endParaRPr lang="en-US" sz="1200" dirty="0"/>
          </a:p>
        </p:txBody>
      </p:sp>
      <p:sp>
        <p:nvSpPr>
          <p:cNvPr id="4" name="d2f8db47-40e7-458f-9dd9-72154a4cc2a7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dd82e69e-5b5f-4c6c-9acf-a0e6a205dda5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echo x | kafka-console-producer --command-config svc-orders.properties --topic payments.events</a:t>
            </a:r>
            <a:endParaRPr lang="en-US" sz="1100" dirty="0"/>
          </a:p>
        </p:txBody>
      </p:sp>
      <p:sp>
        <p:nvSpPr>
          <p:cNvPr id="6" name="52fd3e9f-0e59-4744-95fc-5fb42def4f9b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6dd4c082-6c30-4b3d-8379-a43fea0da957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可寫入;payments.* → 被拒</a:t>
            </a:r>
            <a:endParaRPr lang="en-US" sz="1300" dirty="0"/>
          </a:p>
        </p:txBody>
      </p:sp>
      <p:sp>
        <p:nvSpPr>
          <p:cNvPr id="8" name="5e1ce4f6-1ea5-4a57-a1c8-c303b5d15483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證明:服務走 SCRAM + RBAC,只拿到需要的範圍</a:t>
            </a:r>
            <a:endParaRPr lang="en-US" sz="1200" dirty="0"/>
          </a:p>
        </p:txBody>
      </p:sp>
      <p:sp>
        <p:nvSpPr>
          <p:cNvPr id="9" name="7d4f1827-f8a4-4c85-b288-007fb4a084a4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73375e75-1444-4440-8cbb-ea0ac4fe7e8c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ce00a1ff-373e-41d6-93ec-2008359e0953" descr="C:\Users\user\IdeaProjects\untitled6\deck\demo-shots\ch07-05-svc-deni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2040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5:維運分權:能管不能讀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1c5cec0-2ab9-4b4d-a39f-ca3c829644f5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ch11</a:t>
            </a:r>
            <a:endParaRPr lang="en-US" sz="1200" dirty="0"/>
          </a:p>
        </p:txBody>
      </p:sp>
      <p:sp>
        <p:nvSpPr>
          <p:cNvPr id="3" name="1c39d647-8599-407d-81f5-0fabf8996bf7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yujie(kafka-ops)</a:t>
            </a:r>
            <a:endParaRPr lang="en-US" sz="1200" dirty="0"/>
          </a:p>
        </p:txBody>
      </p:sp>
      <p:sp>
        <p:nvSpPr>
          <p:cNvPr id="4" name="d0e0d622-6ab8-4bf8-8656-7f1a87ab12af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917ec497-baa6-4d5c-8fae-4d9006d1ec5f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kafka-console-consumer --command-config yujie.properties --topic infra.ops-demo --from-beginning</a:t>
            </a:r>
            <a:endParaRPr lang="en-US" sz="1100" dirty="0"/>
          </a:p>
        </p:txBody>
      </p:sp>
      <p:sp>
        <p:nvSpPr>
          <p:cNvPr id="6" name="18ef589f-c8ef-4ec4-8956-af78e5779a9f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872ecffa-aa87-4ac3-9697-0381cd0c7643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維運可建立 / 管理 topic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但讀取資料 → 被拒,處理 0 筆</a:t>
            </a:r>
            <a:endParaRPr lang="en-US" sz="1300" dirty="0"/>
          </a:p>
        </p:txBody>
      </p:sp>
      <p:sp>
        <p:nvSpPr>
          <p:cNvPr id="8" name="37040bb6-cd07-436e-9d2f-d6435d86a6e0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證明:管理權與資料權分離</a:t>
            </a:r>
            <a:endParaRPr lang="en-US" sz="1200" dirty="0"/>
          </a:p>
        </p:txBody>
      </p:sp>
      <p:sp>
        <p:nvSpPr>
          <p:cNvPr id="9" name="c46f01b3-1ec5-48b7-9f28-a033f5d24243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b868bf6a-b309-4aec-8e87-0b0c35637dc1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7fc3cd63-4d7b-4f71-9637-65aac0558192" descr="C:\Users\user\IdeaProjects\untitled6\deck\demo-shots\ch11-07-ops-norea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310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6:legacy app:憑證與 REST Proxy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eed01e9-a3a8-419e-889a-ffa4bb1634d7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ch12</a:t>
            </a:r>
            <a:endParaRPr lang="en-US" sz="1200" dirty="0"/>
          </a:p>
        </p:txBody>
      </p:sp>
      <p:sp>
        <p:nvSpPr>
          <p:cNvPr id="3" name="ad9ebf4c-ba6d-4296-a313-0b1f662d2f71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legacy-orders</a:t>
            </a:r>
            <a:endParaRPr lang="en-US" sz="1200" dirty="0"/>
          </a:p>
        </p:txBody>
      </p:sp>
      <p:sp>
        <p:nvSpPr>
          <p:cNvPr id="4" name="fddad221-c378-4b09-b9c7-db133e79d47e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f00d609e-dc90-4e44-b28f-0f4207c33ef8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curl --cert client-legacy-orders.pem -X POST https://restproxy:8086/topics/orders.events</a:t>
            </a:r>
            <a:endParaRPr lang="en-US" sz="1100" dirty="0"/>
          </a:p>
        </p:txBody>
      </p:sp>
      <p:sp>
        <p:nvSpPr>
          <p:cNvPr id="6" name="c7b371b0-d218-4fb8-be6c-b690b76a03fd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2201f79d-e681-4a53-b970-4030d2e6bb85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授權後 HTTP 200,回傳 offset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偽造憑證:TLS 握手即被拒</a:t>
            </a:r>
            <a:endParaRPr lang="en-US" sz="1300" dirty="0"/>
          </a:p>
        </p:txBody>
      </p:sp>
      <p:sp>
        <p:nvSpPr>
          <p:cNvPr id="8" name="1d718fc8-fdeb-4d0b-ab71-30ca0c0ea652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證明:REST Proxy 以憑證辨識機器,自簽憑證進不來</a:t>
            </a:r>
            <a:endParaRPr lang="en-US" sz="1200" dirty="0"/>
          </a:p>
        </p:txBody>
      </p:sp>
      <p:sp>
        <p:nvSpPr>
          <p:cNvPr id="9" name="b1b4b4a2-c0d4-45f8-8c41-072c6fd234c7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79380dea-6ff0-4db3-9007-92912281c35a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709739a9-bd14-4420-9e32-6b616be3e70d" descr="C:\Users\user\IdeaProjects\untitled6\deck\demo-shots\ch12-04-ok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133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Demo 7:C3 實際用誰的身分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左:指令與預期結果 · 右:實際執行畫面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7e3dba0-c3dc-47e3-8777-d3615010b7fd"/>
          <p:cNvSpPr/>
          <p:nvPr/>
        </p:nvSpPr>
        <p:spPr>
          <a:xfrm>
            <a:off x="548640" y="1600200"/>
            <a:ext cx="2103120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./demo.sh ch13</a:t>
            </a:r>
            <a:endParaRPr lang="en-US" sz="1200" dirty="0"/>
          </a:p>
        </p:txBody>
      </p:sp>
      <p:sp>
        <p:nvSpPr>
          <p:cNvPr id="3" name="16dc6d25-511e-4c20-b3b8-34c6e15b0816"/>
          <p:cNvSpPr/>
          <p:nvPr/>
        </p:nvSpPr>
        <p:spPr>
          <a:xfrm>
            <a:off x="2788920" y="1600200"/>
            <a:ext cx="2194560" cy="32242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操作員</a:t>
            </a:r>
            <a:endParaRPr lang="en-US" sz="1200" dirty="0"/>
          </a:p>
        </p:txBody>
      </p:sp>
      <p:sp>
        <p:nvSpPr>
          <p:cNvPr id="4" name="ee9c0b45-4594-49a5-8d3c-404ca7c03c20"/>
          <p:cNvSpPr/>
          <p:nvPr/>
        </p:nvSpPr>
        <p:spPr>
          <a:xfrm>
            <a:off x="548640" y="2109298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指令</a:t>
            </a:r>
            <a:endParaRPr lang="en-US" sz="1100" dirty="0"/>
          </a:p>
        </p:txBody>
      </p:sp>
      <p:sp>
        <p:nvSpPr>
          <p:cNvPr id="5" name="765694f6-e39f-4f44-9f94-38227a594e56"/>
          <p:cNvSpPr/>
          <p:nvPr/>
        </p:nvSpPr>
        <p:spPr>
          <a:xfrm>
            <a:off x="548640" y="2363848"/>
            <a:ext cx="4572000" cy="1145471"/>
          </a:xfrm>
          <a:prstGeom prst="roundRect">
            <a:avLst>
              <a:gd name="adj" fmla="val 4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$ docker logs broker | grep "User Principal: ming"</a:t>
            </a:r>
            <a:endParaRPr lang="en-US" sz="1100" dirty="0"/>
          </a:p>
        </p:txBody>
      </p:sp>
      <p:sp>
        <p:nvSpPr>
          <p:cNvPr id="6" name="20bf56df-3256-4884-bee0-7754a0e39f42"/>
          <p:cNvSpPr/>
          <p:nvPr/>
        </p:nvSpPr>
        <p:spPr>
          <a:xfrm>
            <a:off x="548640" y="3721443"/>
            <a:ext cx="45720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預期結果</a:t>
            </a:r>
            <a:endParaRPr lang="en-US" sz="1100" dirty="0"/>
          </a:p>
        </p:txBody>
      </p:sp>
      <p:sp>
        <p:nvSpPr>
          <p:cNvPr id="7" name="34a2ae13-b4a4-4530-8199-fd961127d8aa"/>
          <p:cNvSpPr/>
          <p:nvPr/>
        </p:nvSpPr>
        <p:spPr>
          <a:xfrm>
            <a:off x="548640" y="3975992"/>
            <a:ext cx="4572000" cy="1230321"/>
          </a:xfrm>
          <a:prstGeom prst="roundRect">
            <a:avLst>
              <a:gd name="adj" fmla="val 4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日誌的呼叫主體是 ming 本人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不是 c3</a:t>
            </a:r>
            <a:endParaRPr lang="en-US" sz="1300" dirty="0"/>
          </a:p>
        </p:txBody>
      </p:sp>
      <p:sp>
        <p:nvSpPr>
          <p:cNvPr id="8" name="66283b8f-d995-4637-aa25-22c9d93b8829"/>
          <p:cNvSpPr/>
          <p:nvPr/>
        </p:nvSpPr>
        <p:spPr>
          <a:xfrm>
            <a:off x="548640" y="5376013"/>
            <a:ext cx="4572000" cy="7636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證明:人操作 C3 時,身分一路帶到 MDS</a:t>
            </a:r>
            <a:endParaRPr lang="en-US" sz="1200" dirty="0"/>
          </a:p>
        </p:txBody>
      </p:sp>
      <p:sp>
        <p:nvSpPr>
          <p:cNvPr id="9" name="d6874bbf-69b9-4b05-94ef-be255c1da238"/>
          <p:cNvSpPr/>
          <p:nvPr/>
        </p:nvSpPr>
        <p:spPr>
          <a:xfrm>
            <a:off x="5440680" y="2109298"/>
            <a:ext cx="62179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實際執行畫面(demo 證據)</a:t>
            </a:r>
            <a:endParaRPr lang="en-US" sz="1100" dirty="0"/>
          </a:p>
        </p:txBody>
      </p:sp>
      <p:sp>
        <p:nvSpPr>
          <p:cNvPr id="10" name="16d6f9fc-16f3-4f56-a751-09f3030e1406"/>
          <p:cNvSpPr/>
          <p:nvPr/>
        </p:nvSpPr>
        <p:spPr>
          <a:xfrm>
            <a:off x="5440680" y="2363848"/>
            <a:ext cx="6199632" cy="3775813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1" name="a59a76f3-c9dc-4914-bb8a-a438804e648c" descr="C:\Users\user\IdeaProjects\untitled6\deck\demo-shots\ch13-02-mds-as-user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5532120" y="2533547"/>
            <a:ext cx="6016752" cy="169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已驗證 vs 待驗證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誠實呈現目前的驗證範圍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b6cedd8-a0e8-4ad2-926c-de51554154f3"/>
          <p:cNvSpPr/>
          <p:nvPr/>
        </p:nvSpPr>
        <p:spPr>
          <a:xfrm>
            <a:off x="548640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89be40fa-2467-416d-90d1-2277bdee5e92"/>
          <p:cNvSpPr/>
          <p:nvPr/>
        </p:nvSpPr>
        <p:spPr>
          <a:xfrm>
            <a:off x="731520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b7e92d38-f5ad-4fa1-a93e-37036bc4a80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1942993"/>
            <a:ext cx="358445" cy="358445"/>
          </a:xfrm>
          <a:prstGeom prst="rect">
            <a:avLst/>
          </a:prstGeom>
        </p:spPr>
      </p:pic>
      <p:sp>
        <p:nvSpPr>
          <p:cNvPr id="5" name="7164272c-9652-454e-8542-e73d824efcfd"/>
          <p:cNvSpPr/>
          <p:nvPr/>
        </p:nvSpPr>
        <p:spPr>
          <a:xfrm>
            <a:off x="1508760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已實跑驗證</a:t>
            </a:r>
            <a:endParaRPr lang="en-US" sz="1700" dirty="0"/>
          </a:p>
        </p:txBody>
      </p:sp>
      <p:sp>
        <p:nvSpPr>
          <p:cNvPr id="6" name="47ca3991-0faf-4e94-aa53-9a64e47c21a5"/>
          <p:cNvSpPr/>
          <p:nvPr/>
        </p:nvSpPr>
        <p:spPr>
          <a:xfrm>
            <a:off x="777240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 RBAC:加入群組數秒生效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群組分層授權:唯讀 / 維運 / 授權管理(含臨時提權)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服務帳號 SCRAM 與輪替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人機並存:REST Proxy / legacy app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C3 人與機器流程、風險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audit 事件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LDAPS 信任庫 · 3 controller PLAIN · SCRAM 並行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憑證更換三情境與元件順序(單節點 + demo 全元件)</a:t>
            </a:r>
            <a:endParaRPr lang="en-US" sz="1300" dirty="0"/>
          </a:p>
        </p:txBody>
      </p:sp>
      <p:sp>
        <p:nvSpPr>
          <p:cNvPr id="7" name="6f875c4c-8f63-4f35-8c9a-8cfe7651f955"/>
          <p:cNvSpPr/>
          <p:nvPr/>
        </p:nvSpPr>
        <p:spPr>
          <a:xfrm>
            <a:off x="6199632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0dc0409d-f8f1-47c2-b939-46211cb4b2be"/>
          <p:cNvSpPr/>
          <p:nvPr/>
        </p:nvSpPr>
        <p:spPr>
          <a:xfrm>
            <a:off x="6382512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2907a065-37cd-4589-b7b5-40a6fcd2445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1942993"/>
            <a:ext cx="358445" cy="358445"/>
          </a:xfrm>
          <a:prstGeom prst="rect">
            <a:avLst/>
          </a:prstGeom>
        </p:spPr>
      </p:pic>
      <p:sp>
        <p:nvSpPr>
          <p:cNvPr id="10" name="08481c8b-af90-448a-b24a-4a48f6e4ef01"/>
          <p:cNvSpPr/>
          <p:nvPr/>
        </p:nvSpPr>
        <p:spPr>
          <a:xfrm>
            <a:off x="7159752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待驗證 / 待確認</a:t>
            </a:r>
            <a:endParaRPr lang="en-US" sz="1700" dirty="0"/>
          </a:p>
        </p:txBody>
      </p:sp>
      <p:sp>
        <p:nvSpPr>
          <p:cNvPr id="11" name="7c8f61eb-0e39-4ef6-9db8-dd68a9074d2e"/>
          <p:cNvSpPr/>
          <p:nvPr/>
        </p:nvSpPr>
        <p:spPr>
          <a:xfrm>
            <a:off x="6428232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真實 AD:巢狀群組、大小寫、UPN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多 controller 搭配 TLS + RBAC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RHEL 實機:systemd、firewalld、路徑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長駐 client 是否需重啟才重載信任庫;中繼 CA 的更換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Prometheus / Alertmanager 啟用 TLS + Basic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Java 21(demo 映像為 Java 25)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縮短 token 壽命對元件換 token 頻率的影響</a:t>
            </a:r>
            <a:endParaRPr lang="en-US" sz="1300" dirty="0"/>
          </a:p>
        </p:txBody>
      </p:sp>
      <p:sp>
        <p:nvSpPr>
          <p:cNvPr id="12" name="b23f888c-43c3-4092-be2a-fedcf55a552e"/>
          <p:cNvSpPr/>
          <p:nvPr/>
        </p:nvSpPr>
        <p:spPr>
          <a:xfrm>
            <a:off x="548640" y="5630562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使用 OpenLDAP 模擬 AD;商用功能(RBAC、audit、C3)需 license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八件需要客戶回覆的事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382a165-d08c-4376-9249-2b5b812ab415"/>
          <p:cNvSpPr/>
          <p:nvPr/>
        </p:nvSpPr>
        <p:spPr>
          <a:xfrm>
            <a:off x="54864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42a3b289-bdc0-4f25-998a-9e0556d3588f"/>
          <p:cNvSpPr/>
          <p:nvPr/>
        </p:nvSpPr>
        <p:spPr>
          <a:xfrm>
            <a:off x="68580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9add2886-256e-4b78-a8b0-a9d7f5619b29"/>
          <p:cNvSpPr/>
          <p:nvPr/>
        </p:nvSpPr>
        <p:spPr>
          <a:xfrm>
            <a:off x="132588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a58fe8db-7608-44c0-9c16-729ee0173a4f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446581" y="1941296"/>
            <a:ext cx="307238" cy="307238"/>
          </a:xfrm>
          <a:prstGeom prst="rect">
            <a:avLst/>
          </a:prstGeom>
        </p:spPr>
      </p:pic>
      <p:sp>
        <p:nvSpPr>
          <p:cNvPr id="6" name="ea776f51-2b9e-4751-89e9-6cecb55f77dc"/>
          <p:cNvSpPr/>
          <p:nvPr/>
        </p:nvSpPr>
        <p:spPr>
          <a:xfrm>
            <a:off x="205740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唯讀查詢帳號(bind DN)與 LDAPS</a:t>
            </a:r>
            <a:endParaRPr lang="en-US" sz="1300" dirty="0"/>
          </a:p>
        </p:txBody>
      </p:sp>
      <p:sp>
        <p:nvSpPr>
          <p:cNvPr id="7" name="5a21c3f3-83b2-4bbe-8afe-17149b948a4a"/>
          <p:cNvSpPr/>
          <p:nvPr/>
        </p:nvSpPr>
        <p:spPr>
          <a:xfrm>
            <a:off x="617220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8b410672-22c5-4d81-92bd-04babf2e66a4"/>
          <p:cNvSpPr/>
          <p:nvPr/>
        </p:nvSpPr>
        <p:spPr>
          <a:xfrm>
            <a:off x="630936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78cf4be2-ef9d-4865-ae31-d16a941b397f"/>
          <p:cNvSpPr/>
          <p:nvPr/>
        </p:nvSpPr>
        <p:spPr>
          <a:xfrm>
            <a:off x="694944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f9aedd72-5f38-41d3-88fd-327dcc22bfe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070141" y="1941296"/>
            <a:ext cx="307238" cy="307238"/>
          </a:xfrm>
          <a:prstGeom prst="rect">
            <a:avLst/>
          </a:prstGeom>
        </p:spPr>
      </p:pic>
      <p:sp>
        <p:nvSpPr>
          <p:cNvPr id="11" name="44feca19-38df-4188-82b0-f00c0e0cd197"/>
          <p:cNvSpPr/>
          <p:nvPr/>
        </p:nvSpPr>
        <p:spPr>
          <a:xfrm>
            <a:off x="768096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有無 AD CS(內部 CA)與根憑證散佈方式</a:t>
            </a:r>
            <a:endParaRPr lang="en-US" sz="1300" dirty="0"/>
          </a:p>
        </p:txBody>
      </p:sp>
      <p:sp>
        <p:nvSpPr>
          <p:cNvPr id="12" name="107def21-9ae7-47a6-96b0-fb2563dc0074"/>
          <p:cNvSpPr/>
          <p:nvPr/>
        </p:nvSpPr>
        <p:spPr>
          <a:xfrm>
            <a:off x="54864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39811e29-706d-4b16-a407-c30ea3cc53b8"/>
          <p:cNvSpPr/>
          <p:nvPr/>
        </p:nvSpPr>
        <p:spPr>
          <a:xfrm>
            <a:off x="68580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044b3ec1-f6d4-4eb6-b00e-1bb5b4de2e1c"/>
          <p:cNvSpPr/>
          <p:nvPr/>
        </p:nvSpPr>
        <p:spPr>
          <a:xfrm>
            <a:off x="132588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7f5dad11-a5a7-4ea1-ad89-374e830306d9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446581" y="2959493"/>
            <a:ext cx="307238" cy="307238"/>
          </a:xfrm>
          <a:prstGeom prst="rect">
            <a:avLst/>
          </a:prstGeom>
        </p:spPr>
      </p:pic>
      <p:sp>
        <p:nvSpPr>
          <p:cNvPr id="16" name="230f6fd5-a184-45cd-9237-27f88af069b5"/>
          <p:cNvSpPr/>
          <p:nvPr/>
        </p:nvSpPr>
        <p:spPr>
          <a:xfrm>
            <a:off x="205740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能否建幾個一般 AD user 給 legacy app</a:t>
            </a:r>
            <a:endParaRPr lang="en-US" sz="1300" dirty="0"/>
          </a:p>
        </p:txBody>
      </p:sp>
      <p:sp>
        <p:nvSpPr>
          <p:cNvPr id="17" name="627730e7-061e-4629-830a-f18ce89f68ef"/>
          <p:cNvSpPr/>
          <p:nvPr/>
        </p:nvSpPr>
        <p:spPr>
          <a:xfrm>
            <a:off x="617220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8" name="95270b11-61c0-4b2c-a7ab-250a8aaaca38"/>
          <p:cNvSpPr/>
          <p:nvPr/>
        </p:nvSpPr>
        <p:spPr>
          <a:xfrm>
            <a:off x="630936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9829f56f-b6ef-4c95-9738-46a7c1e2ec58"/>
          <p:cNvSpPr/>
          <p:nvPr/>
        </p:nvSpPr>
        <p:spPr>
          <a:xfrm>
            <a:off x="694944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0" name="c8b4bedb-34e0-41a8-88ab-ec8798af7235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070141" y="2959493"/>
            <a:ext cx="307238" cy="307238"/>
          </a:xfrm>
          <a:prstGeom prst="rect">
            <a:avLst/>
          </a:prstGeom>
        </p:spPr>
      </p:pic>
      <p:sp>
        <p:nvSpPr>
          <p:cNvPr id="21" name="b5963f0b-7719-4d49-96d0-bf395cdb87f0"/>
          <p:cNvSpPr/>
          <p:nvPr/>
        </p:nvSpPr>
        <p:spPr>
          <a:xfrm>
            <a:off x="768096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license 是否涵蓋 RBAC / audit / C3</a:t>
            </a:r>
            <a:endParaRPr lang="en-US" sz="1300" dirty="0"/>
          </a:p>
        </p:txBody>
      </p:sp>
      <p:sp>
        <p:nvSpPr>
          <p:cNvPr id="22" name="f96dac2c-9743-4a3a-84d0-1680ade9d28a"/>
          <p:cNvSpPr/>
          <p:nvPr/>
        </p:nvSpPr>
        <p:spPr>
          <a:xfrm>
            <a:off x="54864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5c3bcfa0-524b-495d-9444-90defbe2e63c"/>
          <p:cNvSpPr/>
          <p:nvPr/>
        </p:nvSpPr>
        <p:spPr>
          <a:xfrm>
            <a:off x="68580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130bb39d-b884-4aed-b100-3bdee2243a7f"/>
          <p:cNvSpPr/>
          <p:nvPr/>
        </p:nvSpPr>
        <p:spPr>
          <a:xfrm>
            <a:off x="132588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5" name="c6b3a491-49d6-4288-ba09-694a267ff2c4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1446581" y="3977689"/>
            <a:ext cx="307238" cy="307238"/>
          </a:xfrm>
          <a:prstGeom prst="rect">
            <a:avLst/>
          </a:prstGeom>
        </p:spPr>
      </p:pic>
      <p:sp>
        <p:nvSpPr>
          <p:cNvPr id="26" name="cbdfe834-1cf2-4e40-a670-293b7253abc5"/>
          <p:cNvSpPr/>
          <p:nvPr/>
        </p:nvSpPr>
        <p:spPr>
          <a:xfrm>
            <a:off x="205740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群組是否巢狀、帳號大小寫與命名</a:t>
            </a:r>
            <a:endParaRPr lang="en-US" sz="1300" dirty="0"/>
          </a:p>
        </p:txBody>
      </p:sp>
      <p:sp>
        <p:nvSpPr>
          <p:cNvPr id="27" name="4899fcad-a4c4-4c08-83ac-8c95c825d60b"/>
          <p:cNvSpPr/>
          <p:nvPr/>
        </p:nvSpPr>
        <p:spPr>
          <a:xfrm>
            <a:off x="617220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b5b2b911-5b63-40b0-9f55-45177cc1fb1c"/>
          <p:cNvSpPr/>
          <p:nvPr/>
        </p:nvSpPr>
        <p:spPr>
          <a:xfrm>
            <a:off x="630936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9787ce17-d918-4ff5-9e75-d0d483f62794"/>
          <p:cNvSpPr/>
          <p:nvPr/>
        </p:nvSpPr>
        <p:spPr>
          <a:xfrm>
            <a:off x="694944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30" name="964ca313-9cde-41ab-a62e-070d279952f3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070141" y="3977689"/>
            <a:ext cx="307238" cy="307238"/>
          </a:xfrm>
          <a:prstGeom prst="rect">
            <a:avLst/>
          </a:prstGeom>
        </p:spPr>
      </p:pic>
      <p:sp>
        <p:nvSpPr>
          <p:cNvPr id="31" name="ca503e35-28ae-45e8-ba15-7b04e1b227cc"/>
          <p:cNvSpPr/>
          <p:nvPr/>
        </p:nvSpPr>
        <p:spPr>
          <a:xfrm>
            <a:off x="768096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Java 版本(建議 21)與 Prometheus / Alertmanager 部署</a:t>
            </a:r>
            <a:endParaRPr lang="en-US" sz="1300" dirty="0"/>
          </a:p>
        </p:txBody>
      </p:sp>
      <p:sp>
        <p:nvSpPr>
          <p:cNvPr id="32" name="dd732dda-f56a-4257-9728-da21fb41841c"/>
          <p:cNvSpPr/>
          <p:nvPr/>
        </p:nvSpPr>
        <p:spPr>
          <a:xfrm>
            <a:off x="54864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3" name="afa57c03-4786-4b98-845d-65b13cd954ca"/>
          <p:cNvSpPr/>
          <p:nvPr/>
        </p:nvSpPr>
        <p:spPr>
          <a:xfrm>
            <a:off x="68580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500" dirty="0"/>
          </a:p>
        </p:txBody>
      </p:sp>
      <p:sp>
        <p:nvSpPr>
          <p:cNvPr id="34" name="81323f2e-8009-4e34-951e-dbd69e652c27"/>
          <p:cNvSpPr/>
          <p:nvPr/>
        </p:nvSpPr>
        <p:spPr>
          <a:xfrm>
            <a:off x="132588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5" name="e462be5b-d6f9-4fe6-890b-8b5186d853ec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1446581" y="4995886"/>
            <a:ext cx="307238" cy="307238"/>
          </a:xfrm>
          <a:prstGeom prst="rect">
            <a:avLst/>
          </a:prstGeom>
        </p:spPr>
      </p:pic>
      <p:sp>
        <p:nvSpPr>
          <p:cNvPr id="36" name="9bea81e6-58f6-48e2-a589-198f31b2f2f3"/>
          <p:cNvSpPr/>
          <p:nvPr/>
        </p:nvSpPr>
        <p:spPr>
          <a:xfrm>
            <a:off x="205740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是否有多台 DC(高可用):LDAP 停擺超過 24 小時,授權器會失效</a:t>
            </a:r>
            <a:endParaRPr lang="en-US" sz="1300" dirty="0"/>
          </a:p>
        </p:txBody>
      </p:sp>
      <p:sp>
        <p:nvSpPr>
          <p:cNvPr id="37" name="d5654924-3056-40f3-9ed4-d91e132be875"/>
          <p:cNvSpPr/>
          <p:nvPr/>
        </p:nvSpPr>
        <p:spPr>
          <a:xfrm>
            <a:off x="617220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f944fbec-03e3-4cfb-a2a2-e7dad355b7d8"/>
          <p:cNvSpPr/>
          <p:nvPr/>
        </p:nvSpPr>
        <p:spPr>
          <a:xfrm>
            <a:off x="630936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500" dirty="0"/>
          </a:p>
        </p:txBody>
      </p:sp>
      <p:sp>
        <p:nvSpPr>
          <p:cNvPr id="39" name="63078975-1790-4738-afc1-08d675d1febd"/>
          <p:cNvSpPr/>
          <p:nvPr/>
        </p:nvSpPr>
        <p:spPr>
          <a:xfrm>
            <a:off x="694944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0c5aa476-448f-420d-8528-58a51cf4d936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070141" y="4995886"/>
            <a:ext cx="307238" cy="307238"/>
          </a:xfrm>
          <a:prstGeom prst="rect">
            <a:avLst/>
          </a:prstGeom>
        </p:spPr>
      </p:pic>
      <p:sp>
        <p:nvSpPr>
          <p:cNvPr id="41" name="64812533-1653-4db5-bbf1-fc47fde0ace9"/>
          <p:cNvSpPr/>
          <p:nvPr/>
        </p:nvSpPr>
        <p:spPr>
          <a:xfrm>
            <a:off x="768096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的 LDAPS 憑證由誰簽發(根 CA、有無中繼 CA)</a:t>
            </a:r>
            <a:endParaRPr lang="en-US" sz="1300" dirty="0"/>
          </a:p>
        </p:txBody>
      </p:sp>
      <p:sp>
        <p:nvSpPr>
          <p:cNvPr id="42" name="225a6668-f834-4243-94e7-1e1343763cd7"/>
          <p:cNvSpPr/>
          <p:nvPr/>
        </p:nvSpPr>
        <p:spPr>
          <a:xfrm>
            <a:off x="548640" y="575783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項若可行:legacy app 走 Basic,不需要 client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下一步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接下來的三件事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df01fd44-e539-4b4c-ad97-ed0921ad7920"/>
          <p:cNvSpPr/>
          <p:nvPr/>
        </p:nvSpPr>
        <p:spPr>
          <a:xfrm>
            <a:off x="548640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f8f2cc48-67ed-4c95-89d8-0356b4072c20"/>
          <p:cNvSpPr/>
          <p:nvPr/>
        </p:nvSpPr>
        <p:spPr>
          <a:xfrm>
            <a:off x="2034540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d90be1d8-44b6-44c0-acc3-bd08956b72b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2178875"/>
            <a:ext cx="307238" cy="307238"/>
          </a:xfrm>
          <a:prstGeom prst="rect">
            <a:avLst/>
          </a:prstGeom>
        </p:spPr>
      </p:pic>
      <p:sp>
        <p:nvSpPr>
          <p:cNvPr id="5" name="ca173b36-2c96-4010-b7d0-82d73564e21a"/>
          <p:cNvSpPr/>
          <p:nvPr/>
        </p:nvSpPr>
        <p:spPr>
          <a:xfrm>
            <a:off x="621792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客戶確認</a:t>
            </a:r>
            <a:endParaRPr lang="en-US" sz="1800" dirty="0"/>
          </a:p>
        </p:txBody>
      </p:sp>
      <p:sp>
        <p:nvSpPr>
          <p:cNvPr id="6" name="68a19de8-837c-4ba9-8f74-48a5b2066c6a"/>
          <p:cNvSpPr/>
          <p:nvPr/>
        </p:nvSpPr>
        <p:spPr>
          <a:xfrm>
            <a:off x="640080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回覆前一頁的八件事</a:t>
            </a:r>
            <a:endParaRPr lang="en-US" sz="1300" dirty="0"/>
          </a:p>
        </p:txBody>
      </p:sp>
      <p:sp>
        <p:nvSpPr>
          <p:cNvPr id="7" name="60142179-0c9e-4b1e-8b39-849d45ca74d7"/>
          <p:cNvSpPr/>
          <p:nvPr/>
        </p:nvSpPr>
        <p:spPr>
          <a:xfrm>
            <a:off x="4069080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dbfee5f2-4c00-4836-ade3-051e7337e744"/>
          <p:cNvSpPr/>
          <p:nvPr/>
        </p:nvSpPr>
        <p:spPr>
          <a:xfrm>
            <a:off x="4325112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b7120d9b-80f2-45b0-8a33-a7395a9c9824"/>
          <p:cNvSpPr/>
          <p:nvPr/>
        </p:nvSpPr>
        <p:spPr>
          <a:xfrm>
            <a:off x="5811012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cff00545-7039-45a7-a588-5056f1a243a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2178875"/>
            <a:ext cx="307238" cy="307238"/>
          </a:xfrm>
          <a:prstGeom prst="rect">
            <a:avLst/>
          </a:prstGeom>
        </p:spPr>
      </p:pic>
      <p:sp>
        <p:nvSpPr>
          <p:cNvPr id="11" name="6d75af92-a701-4088-994a-2cf8124816d2"/>
          <p:cNvSpPr/>
          <p:nvPr/>
        </p:nvSpPr>
        <p:spPr>
          <a:xfrm>
            <a:off x="4398264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調整方案</a:t>
            </a:r>
            <a:endParaRPr lang="en-US" sz="1800" dirty="0"/>
          </a:p>
        </p:txBody>
      </p:sp>
      <p:sp>
        <p:nvSpPr>
          <p:cNvPr id="12" name="7dfff820-3efe-482b-b7e0-458a3d273d50"/>
          <p:cNvSpPr/>
          <p:nvPr/>
        </p:nvSpPr>
        <p:spPr>
          <a:xfrm>
            <a:off x="4416552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依客戶回覆更新設計</a:t>
            </a:r>
            <a:endParaRPr lang="en-US" sz="1300" dirty="0"/>
          </a:p>
        </p:txBody>
      </p:sp>
      <p:sp>
        <p:nvSpPr>
          <p:cNvPr id="13" name="acbc471b-fa32-41d0-b03f-5169bf294c87"/>
          <p:cNvSpPr/>
          <p:nvPr/>
        </p:nvSpPr>
        <p:spPr>
          <a:xfrm>
            <a:off x="7845552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d3f9ce39-1a4a-4f1d-8cd1-8199683e8fad"/>
          <p:cNvSpPr/>
          <p:nvPr/>
        </p:nvSpPr>
        <p:spPr>
          <a:xfrm>
            <a:off x="8101584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b1a8b45c-e340-4a0d-96e6-686732a448ef"/>
          <p:cNvSpPr/>
          <p:nvPr/>
        </p:nvSpPr>
        <p:spPr>
          <a:xfrm>
            <a:off x="9587484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6" name="4e201bc0-8baa-41a4-9b85-3e3948959f0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2178875"/>
            <a:ext cx="307238" cy="307238"/>
          </a:xfrm>
          <a:prstGeom prst="rect">
            <a:avLst/>
          </a:prstGeom>
        </p:spPr>
      </p:pic>
      <p:sp>
        <p:nvSpPr>
          <p:cNvPr id="17" name="cac635f6-d91c-4376-a228-9407aa2b46c5"/>
          <p:cNvSpPr/>
          <p:nvPr/>
        </p:nvSpPr>
        <p:spPr>
          <a:xfrm>
            <a:off x="8174736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實機驗證</a:t>
            </a:r>
            <a:endParaRPr lang="en-US" sz="1800" dirty="0"/>
          </a:p>
        </p:txBody>
      </p:sp>
      <p:sp>
        <p:nvSpPr>
          <p:cNvPr id="18" name="2c983c3e-d9b5-4dab-a0bf-f215196b8af2"/>
          <p:cNvSpPr/>
          <p:nvPr/>
        </p:nvSpPr>
        <p:spPr>
          <a:xfrm>
            <a:off x="8193024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補上目前未驗證的項目</a:t>
            </a:r>
            <a:endParaRPr lang="en-US" sz="1300" dirty="0"/>
          </a:p>
        </p:txBody>
      </p:sp>
      <p:sp>
        <p:nvSpPr>
          <p:cNvPr id="19" name="2263372d-56d9-4cfc-a09b-3c705b650afd"/>
          <p:cNvSpPr/>
          <p:nvPr/>
        </p:nvSpPr>
        <p:spPr>
          <a:xfrm>
            <a:off x="548640" y="440024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與 Word 手冊可作為每一步的實作與證據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