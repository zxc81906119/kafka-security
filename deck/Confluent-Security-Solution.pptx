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3.png"/><Relationship Id="rId3-created" Type="http://schemas.openxmlformats.org/officeDocument/2006/relationships/image" Target="../media/media13.png"/><Relationship Id="rId4-created" Type="http://schemas.openxmlformats.org/officeDocument/2006/relationships/image" Target="../media/media13.png"/><Relationship Id="rId5-created" Type="http://schemas.openxmlformats.org/officeDocument/2006/relationships/image" Target="../media/media9.png"/><Relationship Id="rId6-created" Type="http://schemas.openxmlformats.org/officeDocument/2006/relationships/image" Target="../media/media14.png"/><Relationship Id="rId7-created" Type="http://schemas.openxmlformats.org/officeDocument/2006/relationships/image" Target="../media/media10.png"/><Relationship Id="rId8-created" Type="http://schemas.openxmlformats.org/officeDocument/2006/relationships/image" Target="../media/media15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18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20.png"/><Relationship Id="rId7-created" Type="http://schemas.openxmlformats.org/officeDocument/2006/relationships/image" Target="../media/media21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2.png"/><Relationship Id="rId3-created" Type="http://schemas.openxmlformats.org/officeDocument/2006/relationships/image" Target="../media/media14.png"/><Relationship Id="rId4-created" Type="http://schemas.openxmlformats.org/officeDocument/2006/relationships/image" Target="../media/media23.png"/><Relationship Id="rId5-created" Type="http://schemas.openxmlformats.org/officeDocument/2006/relationships/image" Target="../media/media24.png"/><Relationship Id="rId6-created" Type="http://schemas.openxmlformats.org/officeDocument/2006/relationships/image" Target="../media/media2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0.png"/><Relationship Id="rId3-created" Type="http://schemas.openxmlformats.org/officeDocument/2006/relationships/image" Target="../media/media26.png"/><Relationship Id="rId4-created" Type="http://schemas.openxmlformats.org/officeDocument/2006/relationships/image" Target="../media/media26.png"/><Relationship Id="rId5-created" Type="http://schemas.openxmlformats.org/officeDocument/2006/relationships/image" Target="../media/media26.png"/><Relationship Id="rId6-created" Type="http://schemas.openxmlformats.org/officeDocument/2006/relationships/image" Target="../media/media26.png"/><Relationship Id="rId7-created" Type="http://schemas.openxmlformats.org/officeDocument/2006/relationships/image" Target="../media/media26.png"/><Relationship Id="rId8-created" Type="http://schemas.openxmlformats.org/officeDocument/2006/relationships/image" Target="../media/media27.png"/><Relationship Id="rId9-created" Type="http://schemas.openxmlformats.org/officeDocument/2006/relationships/image" Target="../media/media27.png"/><Relationship Id="rId10-created" Type="http://schemas.openxmlformats.org/officeDocument/2006/relationships/image" Target="../media/media27.png"/><Relationship Id="rId11-created" Type="http://schemas.openxmlformats.org/officeDocument/2006/relationships/image" Target="../media/media1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24.png"/><Relationship Id="rId4-created" Type="http://schemas.openxmlformats.org/officeDocument/2006/relationships/image" Target="../media/media28.png"/><Relationship Id="rId5-created" Type="http://schemas.openxmlformats.org/officeDocument/2006/relationships/image" Target="../media/media29.png"/><Relationship Id="rId6-created" Type="http://schemas.openxmlformats.org/officeDocument/2006/relationships/image" Target="../media/media29.png"/><Relationship Id="rId7-created" Type="http://schemas.openxmlformats.org/officeDocument/2006/relationships/image" Target="../media/media30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31.png"/><Relationship Id="rId10-created" Type="http://schemas.openxmlformats.org/officeDocument/2006/relationships/image" Target="../media/media32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3.png"/><Relationship Id="rId3-created" Type="http://schemas.openxmlformats.org/officeDocument/2006/relationships/image" Target="../media/media14.png"/><Relationship Id="rId4-created" Type="http://schemas.openxmlformats.org/officeDocument/2006/relationships/image" Target="../media/media23.png"/><Relationship Id="rId5-created" Type="http://schemas.openxmlformats.org/officeDocument/2006/relationships/image" Target="../media/media9.png"/><Relationship Id="rId6-created" Type="http://schemas.openxmlformats.org/officeDocument/2006/relationships/image" Target="../media/media33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4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36.png"/><Relationship Id="rId5-created" Type="http://schemas.openxmlformats.org/officeDocument/2006/relationships/image" Target="../media/media37.png"/><Relationship Id="rId6-created" Type="http://schemas.openxmlformats.org/officeDocument/2006/relationships/image" Target="../media/media18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38.png"/><Relationship Id="rId9-created" Type="http://schemas.openxmlformats.org/officeDocument/2006/relationships/image" Target="../media/media10.png"/><Relationship Id="rId10-created" Type="http://schemas.openxmlformats.org/officeDocument/2006/relationships/image" Target="../media/media39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41.png"/><Relationship Id="rId13-created" Type="http://schemas.openxmlformats.org/officeDocument/2006/relationships/image" Target="../media/media42.png"/><Relationship Id="rId14-created" Type="http://schemas.openxmlformats.org/officeDocument/2006/relationships/image" Target="../media/media23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3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44.png"/><Relationship Id="rId6-created" Type="http://schemas.openxmlformats.org/officeDocument/2006/relationships/image" Target="../media/media45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6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48.png"/><Relationship Id="rId5-created" Type="http://schemas.openxmlformats.org/officeDocument/2006/relationships/image" Target="../media/media49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0.png"/><Relationship Id="rId3-created" Type="http://schemas.openxmlformats.org/officeDocument/2006/relationships/image" Target="../media/media51.png"/><Relationship Id="rId4-created" Type="http://schemas.openxmlformats.org/officeDocument/2006/relationships/image" Target="../media/media52.png"/><Relationship Id="rId5-created" Type="http://schemas.openxmlformats.org/officeDocument/2006/relationships/image" Target="../media/media53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4.png"/><Relationship Id="rId3-created" Type="http://schemas.openxmlformats.org/officeDocument/2006/relationships/image" Target="../media/media55.png"/><Relationship Id="rId4-created" Type="http://schemas.openxmlformats.org/officeDocument/2006/relationships/image" Target="../media/media56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7.png"/><Relationship Id="rId3-created" Type="http://schemas.openxmlformats.org/officeDocument/2006/relationships/image" Target="../media/media58.png"/><Relationship Id="rId4-created" Type="http://schemas.openxmlformats.org/officeDocument/2006/relationships/image" Target="../media/media57.png"/><Relationship Id="rId5-created" Type="http://schemas.openxmlformats.org/officeDocument/2006/relationships/image" Target="../media/media10.png"/><Relationship Id="rId6-created" Type="http://schemas.openxmlformats.org/officeDocument/2006/relationships/image" Target="../media/media59.png"/><Relationship Id="rId7-created" Type="http://schemas.openxmlformats.org/officeDocument/2006/relationships/image" Target="../media/media60.png"/><Relationship Id="rId8-created" Type="http://schemas.openxmlformats.org/officeDocument/2006/relationships/image" Target="../media/media60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4.png"/><Relationship Id="rId11-created" Type="http://schemas.openxmlformats.org/officeDocument/2006/relationships/image" Target="../media/media61.png"/><Relationship Id="rId12-created" Type="http://schemas.openxmlformats.org/officeDocument/2006/relationships/image" Target="../media/media62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3.png"/><Relationship Id="rId3-created" Type="http://schemas.openxmlformats.org/officeDocument/2006/relationships/image" Target="../media/media14.png"/><Relationship Id="rId4-created" Type="http://schemas.openxmlformats.org/officeDocument/2006/relationships/image" Target="../media/media15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4.png"/><Relationship Id="rId3-created" Type="http://schemas.openxmlformats.org/officeDocument/2006/relationships/image" Target="../media/media13.png"/><Relationship Id="rId4-created" Type="http://schemas.openxmlformats.org/officeDocument/2006/relationships/image" Target="../media/media65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6.png"/><Relationship Id="rId3-created" Type="http://schemas.openxmlformats.org/officeDocument/2006/relationships/image" Target="../media/media66.png"/><Relationship Id="rId4-created" Type="http://schemas.openxmlformats.org/officeDocument/2006/relationships/image" Target="../media/media66.png"/><Relationship Id="rId5-created" Type="http://schemas.openxmlformats.org/officeDocument/2006/relationships/image" Target="../media/media66.png"/><Relationship Id="rId6-created" Type="http://schemas.openxmlformats.org/officeDocument/2006/relationships/image" Target="../media/media66.png"/><Relationship Id="rId7-created" Type="http://schemas.openxmlformats.org/officeDocument/2006/relationships/image" Target="../media/media66.png"/><Relationship Id="rId8-created" Type="http://schemas.openxmlformats.org/officeDocument/2006/relationships/image" Target="../media/media66.png"/><Relationship Id="rId9-created" Type="http://schemas.openxmlformats.org/officeDocument/2006/relationships/image" Target="../media/media66.png"/><Relationship Id="rId10-created" Type="http://schemas.openxmlformats.org/officeDocument/2006/relationships/image" Target="../media/media66.png"/><Relationship Id="rId11-created" Type="http://schemas.openxmlformats.org/officeDocument/2006/relationships/image" Target="../media/media66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3.png"/><Relationship Id="rId3-created" Type="http://schemas.openxmlformats.org/officeDocument/2006/relationships/image" Target="../media/media64.png"/><Relationship Id="rId4-created" Type="http://schemas.openxmlformats.org/officeDocument/2006/relationships/image" Target="../media/media6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68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69.png"/><Relationship Id="rId4-created" Type="http://schemas.openxmlformats.org/officeDocument/2006/relationships/image" Target="../media/media70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7.png"/><Relationship Id="rId3-created" Type="http://schemas.openxmlformats.org/officeDocument/2006/relationships/image" Target="../media/media20.png"/><Relationship Id="rId4-created" Type="http://schemas.openxmlformats.org/officeDocument/2006/relationships/image" Target="../media/media71.png"/><Relationship Id="rId5-created" Type="http://schemas.openxmlformats.org/officeDocument/2006/relationships/image" Target="../media/media72.png"/><Relationship Id="rId6-created" Type="http://schemas.openxmlformats.org/officeDocument/2006/relationships/image" Target="../media/media30.png"/><Relationship Id="rId7-created" Type="http://schemas.openxmlformats.org/officeDocument/2006/relationships/image" Target="../media/media73.png"/><Relationship Id="rId8-created" Type="http://schemas.openxmlformats.org/officeDocument/2006/relationships/image" Target="../media/media73.png"/><Relationship Id="rId9-created" Type="http://schemas.openxmlformats.org/officeDocument/2006/relationships/image" Target="../media/media30.png"/><Relationship Id="rId10-created" Type="http://schemas.openxmlformats.org/officeDocument/2006/relationships/image" Target="../media/media73.png"/><Relationship Id="rId11-created" Type="http://schemas.openxmlformats.org/officeDocument/2006/relationships/image" Target="../media/media30.png"/><Relationship Id="rId12-created" Type="http://schemas.openxmlformats.org/officeDocument/2006/relationships/image" Target="../media/media73.png"/><Relationship Id="rId13-created" Type="http://schemas.openxmlformats.org/officeDocument/2006/relationships/image" Target="../media/media30.png"/><Relationship Id="rId14-created" Type="http://schemas.openxmlformats.org/officeDocument/2006/relationships/image" Target="../media/media73.png"/><Relationship Id="rId15-created" Type="http://schemas.openxmlformats.org/officeDocument/2006/relationships/image" Target="../media/media73.png"/><Relationship Id="rId16-created" Type="http://schemas.openxmlformats.org/officeDocument/2006/relationships/image" Target="../media/media30.png"/><Relationship Id="rId17-created" Type="http://schemas.openxmlformats.org/officeDocument/2006/relationships/image" Target="../media/media30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74.png"/><Relationship Id="rId3-created" Type="http://schemas.openxmlformats.org/officeDocument/2006/relationships/image" Target="../media/media75.png"/><Relationship Id="rId4-created" Type="http://schemas.openxmlformats.org/officeDocument/2006/relationships/image" Target="../media/media76.png"/><Relationship Id="rId5-created" Type="http://schemas.openxmlformats.org/officeDocument/2006/relationships/image" Target="../media/media77.png"/><Relationship Id="rId6-created" Type="http://schemas.openxmlformats.org/officeDocument/2006/relationships/image" Target="../media/media78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79.png"/><Relationship Id="rId3-created" Type="http://schemas.openxmlformats.org/officeDocument/2006/relationships/image" Target="../media/media80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81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33.png"/><Relationship Id="rId7-created" Type="http://schemas.openxmlformats.org/officeDocument/2006/relationships/image" Target="../media/media82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83.png"/><Relationship Id="rId3-created" Type="http://schemas.openxmlformats.org/officeDocument/2006/relationships/image" Target="../media/media27.png"/><Relationship Id="rId4-created" Type="http://schemas.openxmlformats.org/officeDocument/2006/relationships/image" Target="../media/media84.png"/><Relationship Id="rId5-created" Type="http://schemas.openxmlformats.org/officeDocument/2006/relationships/image" Target="../media/media85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86.png"/><Relationship Id="rId4-created" Type="http://schemas.openxmlformats.org/officeDocument/2006/relationships/image" Target="../media/media87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2.png"/><Relationship Id="rId3-created" Type="http://schemas.openxmlformats.org/officeDocument/2006/relationships/image" Target="../media/media14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17.png"/><Relationship Id="rId6-created" Type="http://schemas.openxmlformats.org/officeDocument/2006/relationships/image" Target="../media/media83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AD 管人,Kafka 管機器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8.3 安全方案</a:t>
            </a:r>
          </a:p>
        </p:txBody>
      </p:sp>
      <p:sp>
        <p:nvSpPr>
          <p:cNvPr id="2" name="e7aca389-43e9-40bc-8372-f2fc8def09cb"/>
          <p:cNvSpPr txBox="1"/>
          <p:nvPr/>
        </p:nvSpPr>
        <p:spPr>
          <a:xfrm>
            <a:off x="457200" y="4206240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只放 user / group 時,人與服務如何串接 Kafka、REST Proxy、Control Center</a:t>
            </a:r>
            <a:endParaRPr lang="en-US" sz="1800" dirty="0"/>
          </a:p>
        </p:txBody>
      </p:sp>
      <p:sp>
        <p:nvSpPr>
          <p:cNvPr id="3" name="5ab4aba7-3006-462d-b0f0-d2d02095c929"/>
          <p:cNvSpPr txBox="1"/>
          <p:nvPr/>
        </p:nvSpPr>
        <p:spPr>
          <a:xfrm>
            <a:off x="457200" y="4663440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方案說明 + 線上 Demo(實測環境:CP 8.3.2 · KRaft · MDS RBAC)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方案設計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兩個身分平面、人/服務判斷準則、憑證與 listener 策略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客戶環境一張圖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方案要在這些條件下成立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6a2be64-ffab-40a5-8e5e-749c68e38751"/>
          <p:cNvSpPr/>
          <p:nvPr/>
        </p:nvSpPr>
        <p:spPr>
          <a:xfrm>
            <a:off x="640080" y="169164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E4EFF7"/>
          </a:solidFill>
          <a:ln/>
        </p:spPr>
      </p:sp>
      <p:pic>
        <p:nvPicPr>
          <p:cNvPr id="3" name="29739d8c-c803-4ad8-897d-6c537103578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828800" y="1874520"/>
            <a:ext cx="1005840" cy="1005840"/>
          </a:xfrm>
          <a:prstGeom prst="rect">
            <a:avLst/>
          </a:prstGeom>
        </p:spPr>
      </p:pic>
      <p:sp>
        <p:nvSpPr>
          <p:cNvPr id="4" name="7ef58c34-2972-44f7-95c6-fecfe972d569"/>
          <p:cNvSpPr txBox="1"/>
          <p:nvPr/>
        </p:nvSpPr>
        <p:spPr>
          <a:xfrm>
            <a:off x="640080" y="2971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目錄</a:t>
            </a:r>
            <a:endParaRPr lang="en-US" sz="2000" dirty="0"/>
          </a:p>
        </p:txBody>
      </p:sp>
      <p:sp>
        <p:nvSpPr>
          <p:cNvPr id="5" name="a854f75c-5bca-4ddc-b38e-2dcc3cecf449"/>
          <p:cNvSpPr/>
          <p:nvPr/>
        </p:nvSpPr>
        <p:spPr>
          <a:xfrm>
            <a:off x="914400" y="35204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</a:t>
            </a:r>
            <a:endParaRPr lang="en-US" sz="1200" dirty="0"/>
          </a:p>
        </p:txBody>
      </p:sp>
      <p:sp>
        <p:nvSpPr>
          <p:cNvPr id="6" name="3f447add-dedb-4d52-a7c8-4c345ed151a8"/>
          <p:cNvSpPr/>
          <p:nvPr/>
        </p:nvSpPr>
        <p:spPr>
          <a:xfrm>
            <a:off x="2377440" y="35204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200" dirty="0"/>
          </a:p>
        </p:txBody>
      </p:sp>
      <p:sp>
        <p:nvSpPr>
          <p:cNvPr id="7" name="37d0a55f-2330-4f3c-a2a8-5f5a61ff72a7"/>
          <p:cNvSpPr/>
          <p:nvPr/>
        </p:nvSpPr>
        <p:spPr>
          <a:xfrm>
            <a:off x="914400" y="406908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FBE6E8"/>
          </a:solidFill>
          <a:ln w="12700">
            <a:solidFill>
              <a:srgbClr val="FBE6E8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✗ 沒有服務帳號</a:t>
            </a:r>
            <a:endParaRPr lang="en-US" sz="1200" dirty="0"/>
          </a:p>
        </p:txBody>
      </p:sp>
      <p:sp>
        <p:nvSpPr>
          <p:cNvPr id="8" name="b590daa4-5a60-451a-8313-0452ece5aa11"/>
          <p:cNvSpPr txBox="1"/>
          <p:nvPr/>
        </p:nvSpPr>
        <p:spPr>
          <a:xfrm>
            <a:off x="64008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也沒有其他 IdP</a:t>
            </a:r>
            <a:endParaRPr lang="en-US" sz="1200" dirty="0"/>
          </a:p>
        </p:txBody>
      </p:sp>
      <p:sp>
        <p:nvSpPr>
          <p:cNvPr id="9" name="34e0f0fc-a782-4fca-852d-7069a9975c72"/>
          <p:cNvSpPr/>
          <p:nvPr/>
        </p:nvSpPr>
        <p:spPr>
          <a:xfrm>
            <a:off x="4434840" y="169164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FDF0DC"/>
          </a:solidFill>
          <a:ln/>
        </p:spPr>
      </p:sp>
      <p:pic>
        <p:nvPicPr>
          <p:cNvPr id="10" name="0da7c141-123d-45c2-a5a4-34e8cf58e37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623560" y="1874520"/>
            <a:ext cx="1005840" cy="1005840"/>
          </a:xfrm>
          <a:prstGeom prst="rect">
            <a:avLst/>
          </a:prstGeom>
        </p:spPr>
      </p:pic>
      <p:sp>
        <p:nvSpPr>
          <p:cNvPr id="11" name="424c2edb-c593-48e5-983c-c5212a5da256"/>
          <p:cNvSpPr txBox="1"/>
          <p:nvPr/>
        </p:nvSpPr>
        <p:spPr>
          <a:xfrm>
            <a:off x="4434840" y="2971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張共用憑證</a:t>
            </a:r>
            <a:endParaRPr lang="en-US" sz="2000" dirty="0"/>
          </a:p>
        </p:txBody>
      </p:sp>
      <p:sp>
        <p:nvSpPr>
          <p:cNvPr id="12" name="b6b7fe22-d46c-4646-877e-cad75c3869ac"/>
          <p:cNvSpPr/>
          <p:nvPr/>
        </p:nvSpPr>
        <p:spPr>
          <a:xfrm>
            <a:off x="4709160" y="35204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BE3BC"/>
          </a:solidFill>
          <a:ln w="12700">
            <a:solidFill>
              <a:srgbClr val="FBE3BC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 key</a:t>
            </a:r>
            <a:endParaRPr lang="en-US" sz="1200" dirty="0"/>
          </a:p>
        </p:txBody>
      </p:sp>
      <p:sp>
        <p:nvSpPr>
          <p:cNvPr id="13" name="0431ee47-de8a-4f75-ac76-e8d9a14ab3de"/>
          <p:cNvSpPr/>
          <p:nvPr/>
        </p:nvSpPr>
        <p:spPr>
          <a:xfrm>
            <a:off x="6172200" y="35204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BE3BC"/>
          </a:solidFill>
          <a:ln w="12700">
            <a:solidFill>
              <a:srgbClr val="FBE3BC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 DN</a:t>
            </a:r>
            <a:endParaRPr lang="en-US" sz="1200" dirty="0"/>
          </a:p>
        </p:txBody>
      </p:sp>
      <p:sp>
        <p:nvSpPr>
          <p:cNvPr id="14" name="5e7ecb81-b2d0-4f66-94c6-695e889842f7"/>
          <p:cNvSpPr/>
          <p:nvPr/>
        </p:nvSpPr>
        <p:spPr>
          <a:xfrm>
            <a:off x="4709160" y="406908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FBE3BC"/>
          </a:solidFill>
          <a:ln w="12700">
            <a:solidFill>
              <a:srgbClr val="FBE3BC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不想管憑證</a:t>
            </a:r>
            <a:endParaRPr lang="en-US" sz="1200" dirty="0"/>
          </a:p>
        </p:txBody>
      </p:sp>
      <p:sp>
        <p:nvSpPr>
          <p:cNvPr id="15" name="02b815eb-2882-4cc3-975b-15a876357d47"/>
          <p:cNvSpPr/>
          <p:nvPr/>
        </p:nvSpPr>
        <p:spPr>
          <a:xfrm>
            <a:off x="8229600" y="1691640"/>
            <a:ext cx="3291840" cy="3429000"/>
          </a:xfrm>
          <a:prstGeom prst="roundRect">
            <a:avLst>
              <a:gd name="adj" fmla="val 3333"/>
            </a:avLst>
          </a:prstGeom>
          <a:solidFill>
            <a:srgbClr val="E3F3E6"/>
          </a:solidFill>
          <a:ln/>
        </p:spPr>
      </p:sp>
      <p:pic>
        <p:nvPicPr>
          <p:cNvPr id="16" name="7b9dab9f-d0a4-4804-b929-3a920f6fd8e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372600" y="1874520"/>
            <a:ext cx="1005840" cy="1005840"/>
          </a:xfrm>
          <a:prstGeom prst="rect">
            <a:avLst/>
          </a:prstGeom>
        </p:spPr>
      </p:pic>
      <p:sp>
        <p:nvSpPr>
          <p:cNvPr id="17" name="3b851255-1fc8-45fb-8917-3037cc7d3678"/>
          <p:cNvSpPr txBox="1"/>
          <p:nvPr/>
        </p:nvSpPr>
        <p:spPr>
          <a:xfrm>
            <a:off x="8229600" y="2971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生態系</a:t>
            </a:r>
            <a:endParaRPr lang="en-US" sz="2000" dirty="0"/>
          </a:p>
        </p:txBody>
      </p:sp>
      <p:sp>
        <p:nvSpPr>
          <p:cNvPr id="18" name="f6f448c0-c054-458f-ab97-bee23daceb9b"/>
          <p:cNvSpPr/>
          <p:nvPr/>
        </p:nvSpPr>
        <p:spPr>
          <a:xfrm>
            <a:off x="8458200" y="35204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CBE9D1"/>
          </a:solidFill>
          <a:ln w="12700">
            <a:solidFill>
              <a:srgbClr val="CBE9D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9" name="a39715cb-11f9-41b9-9d94-82c320592acc"/>
          <p:cNvSpPr/>
          <p:nvPr/>
        </p:nvSpPr>
        <p:spPr>
          <a:xfrm>
            <a:off x="9921240" y="352044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CBE9D1"/>
          </a:solidFill>
          <a:ln w="12700">
            <a:solidFill>
              <a:srgbClr val="CBE9D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20" name="351e2c70-5043-4ee2-9f5d-f72ed375a569"/>
          <p:cNvSpPr/>
          <p:nvPr/>
        </p:nvSpPr>
        <p:spPr>
          <a:xfrm>
            <a:off x="8458200" y="402336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CBE9D1"/>
          </a:solidFill>
          <a:ln w="12700">
            <a:solidFill>
              <a:srgbClr val="CBE9D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200" dirty="0"/>
          </a:p>
        </p:txBody>
      </p:sp>
      <p:sp>
        <p:nvSpPr>
          <p:cNvPr id="21" name="e6640d58-d667-41b8-b7ad-643df1112cb4"/>
          <p:cNvSpPr/>
          <p:nvPr/>
        </p:nvSpPr>
        <p:spPr>
          <a:xfrm>
            <a:off x="9921240" y="402336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CBE9D1"/>
          </a:solidFill>
          <a:ln w="12700">
            <a:solidFill>
              <a:srgbClr val="CBE9D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2" name="ea0827c1-e5c2-432a-a560-2e2713d9efa6"/>
          <p:cNvSpPr/>
          <p:nvPr/>
        </p:nvSpPr>
        <p:spPr>
          <a:xfrm>
            <a:off x="8458200" y="452628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CBE9D1"/>
          </a:solidFill>
          <a:ln w="12700">
            <a:solidFill>
              <a:srgbClr val="CBE9D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23" name="5735ea12-b2ec-4ca7-88aa-02347a71511a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24" name="898a91c9-8cf3-4287-806d-dc2e31687c1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914400" y="5596128"/>
            <a:ext cx="457200" cy="457200"/>
          </a:xfrm>
          <a:prstGeom prst="rect">
            <a:avLst/>
          </a:prstGeom>
        </p:spPr>
      </p:pic>
      <p:sp>
        <p:nvSpPr>
          <p:cNvPr id="25" name="247862f2-61dc-444d-9305-2f2dd0716683"/>
          <p:cNvSpPr txBox="1"/>
          <p:nvPr/>
        </p:nvSpPr>
        <p:spPr>
          <a:xfrm>
            <a:off x="1554480" y="54406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 ·  手動安裝  ·  暫時沒有 Ansible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核心主張:兩個身分平面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AD(群組授權);機器走 Kafka 內的服務帳號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6f2c903-ca4e-4288-a51d-7db064f271e8"/>
          <p:cNvSpPr/>
          <p:nvPr/>
        </p:nvSpPr>
        <p:spPr>
          <a:xfrm>
            <a:off x="548640" y="1645920"/>
            <a:ext cx="8686800" cy="2057400"/>
          </a:xfrm>
          <a:prstGeom prst="roundRect">
            <a:avLst>
              <a:gd name="adj" fmla="val 5333"/>
            </a:avLst>
          </a:prstGeom>
          <a:solidFill>
            <a:srgbClr val="E4EFF7"/>
          </a:solidFill>
          <a:ln/>
        </p:spPr>
      </p:sp>
      <p:sp>
        <p:nvSpPr>
          <p:cNvPr id="3" name="930bad60-649f-471b-98ac-a9976f80a420"/>
          <p:cNvSpPr txBox="1"/>
          <p:nvPr/>
        </p:nvSpPr>
        <p:spPr>
          <a:xfrm>
            <a:off x="73152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4" name="0813cd88-ec65-4e59-937b-5a4148c411db"/>
          <p:cNvSpPr/>
          <p:nvPr/>
        </p:nvSpPr>
        <p:spPr>
          <a:xfrm>
            <a:off x="1417320" y="1783080"/>
            <a:ext cx="822960" cy="822960"/>
          </a:xfrm>
          <a:prstGeom prst="ellipse">
            <a:avLst>
              <a:gd name="adj" fmla="val 13333"/>
            </a:avLst>
          </a:prstGeom>
          <a:solidFill>
            <a:srgbClr val="E4EFF7"/>
          </a:solidFill>
          <a:ln/>
        </p:spPr>
      </p:sp>
      <p:pic>
        <p:nvPicPr>
          <p:cNvPr id="5" name="6525c24c-468f-491a-94e6-6b47908bb6b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581912" y="1947672"/>
            <a:ext cx="493776" cy="493776"/>
          </a:xfrm>
          <a:prstGeom prst="rect">
            <a:avLst/>
          </a:prstGeom>
        </p:spPr>
      </p:pic>
      <p:sp>
        <p:nvSpPr>
          <p:cNvPr id="6" name="0c99b7d3-b391-48ad-ab08-81a2c343e4ab"/>
          <p:cNvSpPr txBox="1"/>
          <p:nvPr/>
        </p:nvSpPr>
        <p:spPr>
          <a:xfrm>
            <a:off x="91440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</a:t>
            </a:r>
            <a:endParaRPr lang="en-US" sz="1500" dirty="0"/>
          </a:p>
        </p:txBody>
      </p:sp>
      <p:sp>
        <p:nvSpPr>
          <p:cNvPr id="7" name="9ee29eea-7ae4-4a62-b6cf-a73613f0c820"/>
          <p:cNvSpPr txBox="1"/>
          <p:nvPr/>
        </p:nvSpPr>
        <p:spPr>
          <a:xfrm>
            <a:off x="731520" y="2935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組長</a:t>
            </a:r>
            <a:endParaRPr lang="en-US" sz="1100" dirty="0"/>
          </a:p>
        </p:txBody>
      </p:sp>
      <p:sp>
        <p:nvSpPr>
          <p:cNvPr id="8" name="49bbda92-40a1-44d9-8679-620e84a93cee"/>
          <p:cNvSpPr/>
          <p:nvPr/>
        </p:nvSpPr>
        <p:spPr>
          <a:xfrm>
            <a:off x="2651760" y="1783080"/>
            <a:ext cx="822960" cy="822960"/>
          </a:xfrm>
          <a:prstGeom prst="ellipse">
            <a:avLst>
              <a:gd name="adj" fmla="val 13333"/>
            </a:avLst>
          </a:prstGeom>
          <a:solidFill>
            <a:srgbClr val="E4EFF7"/>
          </a:solidFill>
          <a:ln/>
        </p:spPr>
      </p:sp>
      <p:pic>
        <p:nvPicPr>
          <p:cNvPr id="9" name="a6758a23-15b5-49f0-b12f-c1aff73957d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816352" y="1947672"/>
            <a:ext cx="493776" cy="493776"/>
          </a:xfrm>
          <a:prstGeom prst="rect">
            <a:avLst/>
          </a:prstGeom>
        </p:spPr>
      </p:pic>
      <p:sp>
        <p:nvSpPr>
          <p:cNvPr id="10" name="b483f77d-0d7c-4253-9b8c-a1fc81638359"/>
          <p:cNvSpPr txBox="1"/>
          <p:nvPr/>
        </p:nvSpPr>
        <p:spPr>
          <a:xfrm>
            <a:off x="214884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</a:t>
            </a:r>
            <a:endParaRPr lang="en-US" sz="1500" dirty="0"/>
          </a:p>
        </p:txBody>
      </p:sp>
      <p:sp>
        <p:nvSpPr>
          <p:cNvPr id="11" name="2ef51538-6a53-4c91-b157-d64921decdc2"/>
          <p:cNvSpPr txBox="1"/>
          <p:nvPr/>
        </p:nvSpPr>
        <p:spPr>
          <a:xfrm>
            <a:off x="1965960" y="2935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組員</a:t>
            </a:r>
            <a:endParaRPr lang="en-US" sz="1100" dirty="0"/>
          </a:p>
        </p:txBody>
      </p:sp>
      <p:sp>
        <p:nvSpPr>
          <p:cNvPr id="12" name="00157329-3522-436d-b429-1448d69a9a80"/>
          <p:cNvSpPr/>
          <p:nvPr/>
        </p:nvSpPr>
        <p:spPr>
          <a:xfrm>
            <a:off x="3886200" y="1783080"/>
            <a:ext cx="822960" cy="822960"/>
          </a:xfrm>
          <a:prstGeom prst="ellipse">
            <a:avLst>
              <a:gd name="adj" fmla="val 13333"/>
            </a:avLst>
          </a:prstGeom>
          <a:solidFill>
            <a:srgbClr val="E4EFF7"/>
          </a:solidFill>
          <a:ln/>
        </p:spPr>
      </p:sp>
      <p:pic>
        <p:nvPicPr>
          <p:cNvPr id="13" name="f7c0b8b1-ceac-4ee4-9df0-c231828977d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050792" y="1947672"/>
            <a:ext cx="493776" cy="493776"/>
          </a:xfrm>
          <a:prstGeom prst="rect">
            <a:avLst/>
          </a:prstGeom>
        </p:spPr>
      </p:pic>
      <p:sp>
        <p:nvSpPr>
          <p:cNvPr id="14" name="a1a0edac-4328-4108-921f-2ed6a15069e7"/>
          <p:cNvSpPr txBox="1"/>
          <p:nvPr/>
        </p:nvSpPr>
        <p:spPr>
          <a:xfrm>
            <a:off x="338328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</a:t>
            </a:r>
            <a:endParaRPr lang="en-US" sz="1500" dirty="0"/>
          </a:p>
        </p:txBody>
      </p:sp>
      <p:sp>
        <p:nvSpPr>
          <p:cNvPr id="15" name="0c74fae7-1d0b-44d0-b668-c85a22fac9df"/>
          <p:cNvSpPr txBox="1"/>
          <p:nvPr/>
        </p:nvSpPr>
        <p:spPr>
          <a:xfrm>
            <a:off x="3200400" y="2935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新進</a:t>
            </a:r>
            <a:endParaRPr lang="en-US" sz="1100" dirty="0"/>
          </a:p>
        </p:txBody>
      </p:sp>
      <p:sp>
        <p:nvSpPr>
          <p:cNvPr id="16" name="b5c03f13-c823-4953-aede-9a56171bed53"/>
          <p:cNvSpPr/>
          <p:nvPr/>
        </p:nvSpPr>
        <p:spPr>
          <a:xfrm>
            <a:off x="5074920" y="2606040"/>
            <a:ext cx="548640" cy="0"/>
          </a:xfrm>
          <a:prstGeom prst="line">
            <a:avLst/>
          </a:prstGeom>
          <a:noFill/>
          <a:ln w="38100">
            <a:solidFill>
              <a:srgbClr val="155C91"/>
            </a:solidFill>
            <a:prstDash val="solid"/>
            <a:tailEnd type="triangle"/>
          </a:ln>
        </p:spPr>
      </p:sp>
      <p:sp>
        <p:nvSpPr>
          <p:cNvPr id="17" name="6d7a6b86-6dcb-4290-a877-25e06bf2718d"/>
          <p:cNvSpPr/>
          <p:nvPr/>
        </p:nvSpPr>
        <p:spPr>
          <a:xfrm>
            <a:off x="5669280" y="205740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8" name="91b2735f-5d76-4a83-aafe-2e2c3a69bb96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5852160" y="2350008"/>
            <a:ext cx="512064" cy="512064"/>
          </a:xfrm>
          <a:prstGeom prst="rect">
            <a:avLst/>
          </a:prstGeom>
        </p:spPr>
      </p:pic>
      <p:sp>
        <p:nvSpPr>
          <p:cNvPr id="19" name="db64237b-5f51-4038-8028-b08c81d151ee"/>
          <p:cNvSpPr txBox="1"/>
          <p:nvPr/>
        </p:nvSpPr>
        <p:spPr>
          <a:xfrm>
            <a:off x="649224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帳號 + 群組</a:t>
            </a:r>
            <a:endParaRPr lang="en-US" sz="1600" dirty="0"/>
          </a:p>
        </p:txBody>
      </p:sp>
      <p:sp>
        <p:nvSpPr>
          <p:cNvPr id="20" name="b4dd45a4-f669-462e-84ea-be22df6f13b5"/>
          <p:cNvSpPr txBox="1"/>
          <p:nvPr/>
        </p:nvSpPr>
        <p:spPr>
          <a:xfrm>
            <a:off x="6492240" y="26609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 驗證(經 MDS)</a:t>
            </a:r>
            <a:endParaRPr lang="en-US" sz="1200" dirty="0"/>
          </a:p>
        </p:txBody>
      </p:sp>
      <p:sp>
        <p:nvSpPr>
          <p:cNvPr id="21" name="5e18e656-bace-44f5-a436-6650d8216c0c"/>
          <p:cNvSpPr/>
          <p:nvPr/>
        </p:nvSpPr>
        <p:spPr>
          <a:xfrm>
            <a:off x="548640" y="3886200"/>
            <a:ext cx="8686800" cy="2057400"/>
          </a:xfrm>
          <a:prstGeom prst="roundRect">
            <a:avLst>
              <a:gd name="adj" fmla="val 5333"/>
            </a:avLst>
          </a:prstGeom>
          <a:solidFill>
            <a:srgbClr val="FDF0DC"/>
          </a:solidFill>
          <a:ln/>
        </p:spPr>
      </p:sp>
      <p:sp>
        <p:nvSpPr>
          <p:cNvPr id="22" name="c8488670-cc9a-4ad6-a505-25dfc30d900d"/>
          <p:cNvSpPr txBox="1"/>
          <p:nvPr/>
        </p:nvSpPr>
        <p:spPr>
          <a:xfrm>
            <a:off x="731520" y="3977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58A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2400" dirty="0"/>
          </a:p>
        </p:txBody>
      </p:sp>
      <p:sp>
        <p:nvSpPr>
          <p:cNvPr id="23" name="406f9ab3-9f01-457f-8e56-30e4e993b768"/>
          <p:cNvSpPr/>
          <p:nvPr/>
        </p:nvSpPr>
        <p:spPr>
          <a:xfrm>
            <a:off x="2308860" y="4366260"/>
            <a:ext cx="868680" cy="868680"/>
          </a:xfrm>
          <a:prstGeom prst="ellipse">
            <a:avLst>
              <a:gd name="adj" fmla="val 12632"/>
            </a:avLst>
          </a:prstGeom>
          <a:solidFill>
            <a:srgbClr val="FBE3BC"/>
          </a:solidFill>
          <a:ln/>
        </p:spPr>
      </p:sp>
      <p:pic>
        <p:nvPicPr>
          <p:cNvPr id="24" name="95120ab5-f39d-4a8f-b2a5-04e837f1684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2482596" y="4539996"/>
            <a:ext cx="521208" cy="521208"/>
          </a:xfrm>
          <a:prstGeom prst="rect">
            <a:avLst/>
          </a:prstGeom>
        </p:spPr>
      </p:pic>
      <p:sp>
        <p:nvSpPr>
          <p:cNvPr id="25" name="cf72cb44-9707-4b72-a62d-0d8826423b6b"/>
          <p:cNvSpPr txBox="1"/>
          <p:nvPr/>
        </p:nvSpPr>
        <p:spPr>
          <a:xfrm>
            <a:off x="1828800" y="5303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svc-orders</a:t>
            </a:r>
            <a:endParaRPr lang="en-US" sz="1500" dirty="0"/>
          </a:p>
        </p:txBody>
      </p:sp>
      <p:sp>
        <p:nvSpPr>
          <p:cNvPr id="26" name="0d6a6433-20f5-4163-b20e-a1f72a7a3332"/>
          <p:cNvSpPr/>
          <p:nvPr/>
        </p:nvSpPr>
        <p:spPr>
          <a:xfrm>
            <a:off x="3429000" y="4846320"/>
            <a:ext cx="2194560" cy="0"/>
          </a:xfrm>
          <a:prstGeom prst="line">
            <a:avLst/>
          </a:prstGeom>
          <a:noFill/>
          <a:ln w="38100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27" name="ce6a0246-748b-49b0-8383-77f449962c56"/>
          <p:cNvSpPr/>
          <p:nvPr/>
        </p:nvSpPr>
        <p:spPr>
          <a:xfrm>
            <a:off x="5669280" y="429768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28" name="f9686aa5-a839-4014-ba49-5eabfa129d84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5852160" y="4590288"/>
            <a:ext cx="512064" cy="512064"/>
          </a:xfrm>
          <a:prstGeom prst="rect">
            <a:avLst/>
          </a:prstGeom>
        </p:spPr>
      </p:pic>
      <p:sp>
        <p:nvSpPr>
          <p:cNvPr id="29" name="e81a1bb5-e8cb-4136-84ea-1f8a25a7b479"/>
          <p:cNvSpPr txBox="1"/>
          <p:nvPr/>
        </p:nvSpPr>
        <p:spPr>
          <a:xfrm>
            <a:off x="6492240" y="4389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服務帳號</a:t>
            </a:r>
            <a:endParaRPr lang="en-US" sz="1600" dirty="0"/>
          </a:p>
        </p:txBody>
      </p:sp>
      <p:sp>
        <p:nvSpPr>
          <p:cNvPr id="30" name="ac7c9c02-98bf-48d6-9819-d13a572b5fb4"/>
          <p:cNvSpPr txBox="1"/>
          <p:nvPr/>
        </p:nvSpPr>
        <p:spPr>
          <a:xfrm>
            <a:off x="6492240" y="490118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內建,不在 AD</a:t>
            </a:r>
            <a:endParaRPr lang="en-US" sz="1200" dirty="0"/>
          </a:p>
        </p:txBody>
      </p:sp>
      <p:sp>
        <p:nvSpPr>
          <p:cNvPr id="31" name="dfa18e97-efad-4769-9991-3d22d1058033"/>
          <p:cNvSpPr/>
          <p:nvPr/>
        </p:nvSpPr>
        <p:spPr>
          <a:xfrm>
            <a:off x="9509760" y="1645920"/>
            <a:ext cx="2011680" cy="4297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8575">
            <a:solidFill>
              <a:srgbClr val="0E284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32" name="49211166-e9d8-46f1-b958-cbebf72f03e4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0058400" y="1828800"/>
            <a:ext cx="914400" cy="914400"/>
          </a:xfrm>
          <a:prstGeom prst="rect">
            <a:avLst/>
          </a:prstGeom>
        </p:spPr>
      </p:pic>
      <p:sp>
        <p:nvSpPr>
          <p:cNvPr id="33" name="d15318a3-325c-4b7f-94a3-47246f1bbe86"/>
          <p:cNvSpPr txBox="1"/>
          <p:nvPr/>
        </p:nvSpPr>
        <p:spPr>
          <a:xfrm>
            <a:off x="950976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800" dirty="0"/>
          </a:p>
        </p:txBody>
      </p:sp>
      <p:sp>
        <p:nvSpPr>
          <p:cNvPr id="34" name="68e88e57-8d47-40df-b7a6-11f988960674"/>
          <p:cNvSpPr/>
          <p:nvPr/>
        </p:nvSpPr>
        <p:spPr>
          <a:xfrm>
            <a:off x="9646920" y="3383280"/>
            <a:ext cx="1737360" cy="640080"/>
          </a:xfrm>
          <a:prstGeom prst="roundRect">
            <a:avLst>
              <a:gd name="adj" fmla="val 27143"/>
            </a:avLst>
          </a:prstGeom>
          <a:solidFill>
            <a:srgbClr val="E4EFF7"/>
          </a:solidFill>
          <a:ln w="12700">
            <a:solidFill>
              <a:srgbClr val="E4EFF7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000" dirty="0"/>
          </a:p>
        </p:txBody>
      </p:sp>
      <p:sp>
        <p:nvSpPr>
          <p:cNvPr id="35" name="8fa1b02a-e68e-44e9-a9cf-32858feed37a"/>
          <p:cNvSpPr/>
          <p:nvPr/>
        </p:nvSpPr>
        <p:spPr>
          <a:xfrm>
            <a:off x="9646920" y="4206240"/>
            <a:ext cx="1737360" cy="640080"/>
          </a:xfrm>
          <a:prstGeom prst="roundRect">
            <a:avLst>
              <a:gd name="adj" fmla="val 27143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B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A5B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svc-orders</a:t>
            </a:r>
            <a:endParaRPr lang="en-US" sz="1000" dirty="0"/>
          </a:p>
        </p:txBody>
      </p:sp>
      <p:sp>
        <p:nvSpPr>
          <p:cNvPr id="36" name="038dba16-9f59-4023-a140-447647aae444"/>
          <p:cNvSpPr txBox="1"/>
          <p:nvPr/>
        </p:nvSpPr>
        <p:spPr>
          <a:xfrm>
            <a:off x="9509760" y="5029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最小權限</a:t>
            </a:r>
            <a:endParaRPr lang="en-US" sz="1200" dirty="0"/>
          </a:p>
        </p:txBody>
      </p:sp>
      <p:sp>
        <p:nvSpPr>
          <p:cNvPr id="37" name="9b3d0c49-1be3-4b6c-90ef-a2ddccd456a4"/>
          <p:cNvSpPr/>
          <p:nvPr/>
        </p:nvSpPr>
        <p:spPr>
          <a:xfrm>
            <a:off x="9235440" y="2606040"/>
            <a:ext cx="274320" cy="0"/>
          </a:xfrm>
          <a:prstGeom prst="line">
            <a:avLst/>
          </a:prstGeom>
          <a:noFill/>
          <a:ln w="38100">
            <a:solidFill>
              <a:srgbClr val="155C91"/>
            </a:solidFill>
            <a:prstDash val="solid"/>
            <a:tailEnd type="triangle"/>
          </a:ln>
        </p:spPr>
      </p:sp>
      <p:sp>
        <p:nvSpPr>
          <p:cNvPr id="38" name="488944e4-0526-48af-aaf4-0c0968f7f446"/>
          <p:cNvSpPr/>
          <p:nvPr/>
        </p:nvSpPr>
        <p:spPr>
          <a:xfrm>
            <a:off x="9235440" y="4846320"/>
            <a:ext cx="274320" cy="0"/>
          </a:xfrm>
          <a:prstGeom prst="line">
            <a:avLst/>
          </a:prstGeom>
          <a:noFill/>
          <a:ln w="38100">
            <a:solidFill>
              <a:srgbClr val="E58A17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怎麼分「人」與「服務」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看「誰在操作、誰負責」,不是看用什麼工具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dcfdfbc-f950-4aab-8a5c-00fd8b605a13"/>
          <p:cNvSpPr/>
          <p:nvPr/>
        </p:nvSpPr>
        <p:spPr>
          <a:xfrm>
            <a:off x="548640" y="1645920"/>
            <a:ext cx="5394960" cy="3611880"/>
          </a:xfrm>
          <a:prstGeom prst="roundRect">
            <a:avLst>
              <a:gd name="adj" fmla="val 3038"/>
            </a:avLst>
          </a:prstGeom>
          <a:solidFill>
            <a:srgbClr val="E4EFF7"/>
          </a:solidFill>
          <a:ln/>
        </p:spPr>
      </p:sp>
      <p:sp>
        <p:nvSpPr>
          <p:cNvPr id="3" name="965a2efa-8569-48fc-9726-4e5d783d30d0"/>
          <p:cNvSpPr txBox="1"/>
          <p:nvPr/>
        </p:nvSpPr>
        <p:spPr>
          <a:xfrm>
            <a:off x="731520" y="1737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有人在場 = 人</a:t>
            </a:r>
            <a:endParaRPr lang="en-US" sz="2200" dirty="0"/>
          </a:p>
        </p:txBody>
      </p:sp>
      <p:sp>
        <p:nvSpPr>
          <p:cNvPr id="4" name="4244cbbe-5758-4312-a0bc-c436b20439f2"/>
          <p:cNvSpPr/>
          <p:nvPr/>
        </p:nvSpPr>
        <p:spPr>
          <a:xfrm>
            <a:off x="777240" y="2377440"/>
            <a:ext cx="16002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5" name="73cdb82f-d7ea-4a4d-9b8d-3a468057870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325880" y="2514600"/>
            <a:ext cx="502920" cy="502920"/>
          </a:xfrm>
          <a:prstGeom prst="rect">
            <a:avLst/>
          </a:prstGeom>
        </p:spPr>
      </p:pic>
      <p:sp>
        <p:nvSpPr>
          <p:cNvPr id="6" name="40143c9a-3239-4b2d-a0bc-9a46b074a4ba"/>
          <p:cNvSpPr txBox="1"/>
          <p:nvPr/>
        </p:nvSpPr>
        <p:spPr>
          <a:xfrm>
            <a:off x="777240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瀏覽器</a:t>
            </a:r>
            <a:endParaRPr lang="en-US" sz="1300" dirty="0"/>
          </a:p>
        </p:txBody>
      </p:sp>
      <p:sp>
        <p:nvSpPr>
          <p:cNvPr id="7" name="fa5a431b-92e8-406c-945b-d24ae4d10c1a"/>
          <p:cNvSpPr/>
          <p:nvPr/>
        </p:nvSpPr>
        <p:spPr>
          <a:xfrm>
            <a:off x="2514600" y="2377440"/>
            <a:ext cx="16002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8" name="9dc1d882-7c4a-423e-9bd1-af8b6585750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063240" y="2514600"/>
            <a:ext cx="502920" cy="502920"/>
          </a:xfrm>
          <a:prstGeom prst="rect">
            <a:avLst/>
          </a:prstGeom>
        </p:spPr>
      </p:pic>
      <p:sp>
        <p:nvSpPr>
          <p:cNvPr id="9" name="14760853-4f79-4c03-92af-9465adc26bec"/>
          <p:cNvSpPr txBox="1"/>
          <p:nvPr/>
        </p:nvSpPr>
        <p:spPr>
          <a:xfrm>
            <a:off x="2514600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手動跑腳本</a:t>
            </a:r>
            <a:endParaRPr lang="en-US" sz="1300" dirty="0"/>
          </a:p>
        </p:txBody>
      </p:sp>
      <p:sp>
        <p:nvSpPr>
          <p:cNvPr id="10" name="ca4f5ca9-51c7-4b32-8fc7-41996d715511"/>
          <p:cNvSpPr/>
          <p:nvPr/>
        </p:nvSpPr>
        <p:spPr>
          <a:xfrm>
            <a:off x="4251960" y="2377440"/>
            <a:ext cx="16002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1" name="430960f8-4934-43ac-8e2e-2abb25f8202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800600" y="2514600"/>
            <a:ext cx="502920" cy="502920"/>
          </a:xfrm>
          <a:prstGeom prst="rect">
            <a:avLst/>
          </a:prstGeom>
        </p:spPr>
      </p:pic>
      <p:sp>
        <p:nvSpPr>
          <p:cNvPr id="12" name="6753cbfe-61fe-4ee6-ab63-a78299b9cddb"/>
          <p:cNvSpPr txBox="1"/>
          <p:nvPr/>
        </p:nvSpPr>
        <p:spPr>
          <a:xfrm>
            <a:off x="4251960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手測</a:t>
            </a:r>
            <a:endParaRPr lang="en-US" sz="1300" dirty="0"/>
          </a:p>
        </p:txBody>
      </p:sp>
      <p:sp>
        <p:nvSpPr>
          <p:cNvPr id="13" name="e5d24751-63b9-4d50-981e-af75f6c14c31"/>
          <p:cNvSpPr/>
          <p:nvPr/>
        </p:nvSpPr>
        <p:spPr>
          <a:xfrm>
            <a:off x="3246120" y="3749040"/>
            <a:ext cx="0" cy="457200"/>
          </a:xfrm>
          <a:prstGeom prst="line">
            <a:avLst/>
          </a:prstGeom>
          <a:noFill/>
          <a:ln w="38100">
            <a:solidFill>
              <a:srgbClr val="155C91"/>
            </a:solidFill>
            <a:prstDash val="solid"/>
            <a:tailEnd type="triangle"/>
          </a:ln>
        </p:spPr>
      </p:sp>
      <p:sp>
        <p:nvSpPr>
          <p:cNvPr id="14" name="e6fc009b-cf2a-4b4b-852f-a1ac9d788130"/>
          <p:cNvSpPr/>
          <p:nvPr/>
        </p:nvSpPr>
        <p:spPr>
          <a:xfrm>
            <a:off x="914400" y="4251960"/>
            <a:ext cx="4663440" cy="777240"/>
          </a:xfrm>
          <a:prstGeom prst="roundRect">
            <a:avLst>
              <a:gd name="adj" fmla="val 14118"/>
            </a:avLst>
          </a:prstGeom>
          <a:solidFill>
            <a:srgbClr val="155C91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各人自己的 AD 帳號</a:t>
            </a:r>
            <a:endParaRPr lang="en-US" sz="1900" dirty="0"/>
          </a:p>
        </p:txBody>
      </p:sp>
      <p:sp>
        <p:nvSpPr>
          <p:cNvPr id="15" name="09119500-fe5b-44ce-bf09-c0a7b99a1385"/>
          <p:cNvSpPr/>
          <p:nvPr/>
        </p:nvSpPr>
        <p:spPr>
          <a:xfrm>
            <a:off x="6217920" y="1645920"/>
            <a:ext cx="5303520" cy="3611880"/>
          </a:xfrm>
          <a:prstGeom prst="roundRect">
            <a:avLst>
              <a:gd name="adj" fmla="val 3038"/>
            </a:avLst>
          </a:prstGeom>
          <a:solidFill>
            <a:srgbClr val="FDF0DC"/>
          </a:solidFill>
          <a:ln/>
        </p:spPr>
      </p:sp>
      <p:sp>
        <p:nvSpPr>
          <p:cNvPr id="16" name="b385fea4-f389-4fac-92af-6081fc7718d6"/>
          <p:cNvSpPr txBox="1"/>
          <p:nvPr/>
        </p:nvSpPr>
        <p:spPr>
          <a:xfrm>
            <a:off x="6400800" y="1737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58A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無人值守 = 服務</a:t>
            </a:r>
            <a:endParaRPr lang="en-US" sz="2200" dirty="0"/>
          </a:p>
        </p:txBody>
      </p:sp>
      <p:sp>
        <p:nvSpPr>
          <p:cNvPr id="17" name="39c5b512-b5bf-4a79-ad0d-f19bc12b4001"/>
          <p:cNvSpPr/>
          <p:nvPr/>
        </p:nvSpPr>
        <p:spPr>
          <a:xfrm>
            <a:off x="6446520" y="2377440"/>
            <a:ext cx="1554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8" name="2c57144a-56dd-4e32-b860-c4d6ef810cc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949440" y="2514600"/>
            <a:ext cx="502920" cy="502920"/>
          </a:xfrm>
          <a:prstGeom prst="rect">
            <a:avLst/>
          </a:prstGeom>
        </p:spPr>
      </p:pic>
      <p:sp>
        <p:nvSpPr>
          <p:cNvPr id="19" name="e5fdd116-b917-410f-a162-6bfa7beee510"/>
          <p:cNvSpPr txBox="1"/>
          <p:nvPr/>
        </p:nvSpPr>
        <p:spPr>
          <a:xfrm>
            <a:off x="644652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排程</a:t>
            </a:r>
            <a:endParaRPr lang="en-US" sz="1300" dirty="0"/>
          </a:p>
        </p:txBody>
      </p:sp>
      <p:sp>
        <p:nvSpPr>
          <p:cNvPr id="20" name="0084b6e3-6b8a-4634-81a0-f09a62d74b2c"/>
          <p:cNvSpPr/>
          <p:nvPr/>
        </p:nvSpPr>
        <p:spPr>
          <a:xfrm>
            <a:off x="8138160" y="2377440"/>
            <a:ext cx="1554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21" name="786960f3-3514-4966-8681-850e17df992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641080" y="2514600"/>
            <a:ext cx="502920" cy="502920"/>
          </a:xfrm>
          <a:prstGeom prst="rect">
            <a:avLst/>
          </a:prstGeom>
        </p:spPr>
      </p:pic>
      <p:sp>
        <p:nvSpPr>
          <p:cNvPr id="22" name="1ab72d19-e27d-4d39-9605-cb4b75312a56"/>
          <p:cNvSpPr txBox="1"/>
          <p:nvPr/>
        </p:nvSpPr>
        <p:spPr>
          <a:xfrm>
            <a:off x="813816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CI / CD</a:t>
            </a:r>
            <a:endParaRPr lang="en-US" sz="1300" dirty="0"/>
          </a:p>
        </p:txBody>
      </p:sp>
      <p:sp>
        <p:nvSpPr>
          <p:cNvPr id="23" name="411b00ae-1c4f-4ddb-a887-8f1ffbd3946c"/>
          <p:cNvSpPr/>
          <p:nvPr/>
        </p:nvSpPr>
        <p:spPr>
          <a:xfrm>
            <a:off x="9829800" y="2377440"/>
            <a:ext cx="1554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24" name="d55f5744-6a77-42fc-a2bb-9c71aa916622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332720" y="2514600"/>
            <a:ext cx="502920" cy="502920"/>
          </a:xfrm>
          <a:prstGeom prst="rect">
            <a:avLst/>
          </a:prstGeom>
        </p:spPr>
      </p:pic>
      <p:sp>
        <p:nvSpPr>
          <p:cNvPr id="25" name="46ff47f6-a202-4b3f-9efc-53bb6ec17729"/>
          <p:cNvSpPr txBox="1"/>
          <p:nvPr/>
        </p:nvSpPr>
        <p:spPr>
          <a:xfrm>
            <a:off x="982980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長駐程式</a:t>
            </a:r>
            <a:endParaRPr lang="en-US" sz="1300" dirty="0"/>
          </a:p>
        </p:txBody>
      </p:sp>
      <p:sp>
        <p:nvSpPr>
          <p:cNvPr id="26" name="96579f38-565a-4bec-9576-17baa1ac8d45"/>
          <p:cNvSpPr/>
          <p:nvPr/>
        </p:nvSpPr>
        <p:spPr>
          <a:xfrm>
            <a:off x="8869680" y="3749040"/>
            <a:ext cx="0" cy="457200"/>
          </a:xfrm>
          <a:prstGeom prst="line">
            <a:avLst/>
          </a:prstGeom>
          <a:noFill/>
          <a:ln w="38100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27" name="37dd7bf8-0088-4b3e-a4a7-697c745ec98d"/>
          <p:cNvSpPr/>
          <p:nvPr/>
        </p:nvSpPr>
        <p:spPr>
          <a:xfrm>
            <a:off x="6492240" y="4251960"/>
            <a:ext cx="4846320" cy="777240"/>
          </a:xfrm>
          <a:prstGeom prst="roundRect">
            <a:avLst>
              <a:gd name="adj" fmla="val 14118"/>
            </a:avLst>
          </a:prstGeom>
          <a:solidFill>
            <a:srgbClr val="E58A17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服務帳號(密碼庫注入)</a:t>
            </a:r>
            <a:endParaRPr lang="en-US" sz="1900" dirty="0"/>
          </a:p>
        </p:txBody>
      </p:sp>
      <p:sp>
        <p:nvSpPr>
          <p:cNvPr id="28" name="9cff75c6-f12b-4ea1-b318-0ccdb9f84cce"/>
          <p:cNvSpPr/>
          <p:nvPr/>
        </p:nvSpPr>
        <p:spPr>
          <a:xfrm>
            <a:off x="548640" y="548640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9" name="2c942fc4-a4a2-4a11-8691-667d86e45014"/>
          <p:cNvSpPr txBox="1"/>
          <p:nvPr/>
        </p:nvSpPr>
        <p:spPr>
          <a:xfrm>
            <a:off x="822960" y="5486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腳本共用 · 憑證各人各自</a:t>
            </a:r>
            <a:endParaRPr lang="en-US" sz="2000" dirty="0"/>
          </a:p>
        </p:txBody>
      </p:sp>
      <p:sp>
        <p:nvSpPr>
          <p:cNvPr id="30" name="dae7174d-4da9-435c-ab05-ed848fc3bdbb"/>
          <p:cNvSpPr txBox="1"/>
          <p:nvPr/>
        </p:nvSpPr>
        <p:spPr>
          <a:xfrm>
            <a:off x="6035040" y="54864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D9A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手動 → 排程:改用服務身分,不借人的帳號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身分地圖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每種身分怎麼認證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0a2e3e2-934f-4d88-83b8-7d68367a3b75"/>
          <p:cNvSpPr/>
          <p:nvPr/>
        </p:nvSpPr>
        <p:spPr>
          <a:xfrm>
            <a:off x="4526280" y="3063240"/>
            <a:ext cx="3108960" cy="1554480"/>
          </a:xfrm>
          <a:prstGeom prst="roundRect">
            <a:avLst>
              <a:gd name="adj" fmla="val 14706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+ MDS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2200" dirty="0"/>
          </a:p>
        </p:txBody>
      </p:sp>
      <p:sp>
        <p:nvSpPr>
          <p:cNvPr id="3" name="f8eaf940-be27-49e7-9a3d-68f21075b116"/>
          <p:cNvSpPr/>
          <p:nvPr/>
        </p:nvSpPr>
        <p:spPr>
          <a:xfrm>
            <a:off x="548640" y="164592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4" name="b9f7def3-e62f-4637-aa02-5db6facd231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1520" y="2007108"/>
            <a:ext cx="512064" cy="512064"/>
          </a:xfrm>
          <a:prstGeom prst="rect">
            <a:avLst/>
          </a:prstGeom>
        </p:spPr>
      </p:pic>
      <p:sp>
        <p:nvSpPr>
          <p:cNvPr id="5" name="dd35af94-fba6-45db-bc28-8a49018a397d"/>
          <p:cNvSpPr txBox="1"/>
          <p:nvPr/>
        </p:nvSpPr>
        <p:spPr>
          <a:xfrm>
            <a:off x="1371600" y="1737360"/>
            <a:ext cx="26517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帳號(人)</a:t>
            </a:r>
            <a:endParaRPr lang="en-US" sz="1600" dirty="0"/>
          </a:p>
        </p:txBody>
      </p:sp>
      <p:sp>
        <p:nvSpPr>
          <p:cNvPr id="6" name="f56ddd3d-5423-44e1-b49d-0fe8c6e5e723"/>
          <p:cNvSpPr txBox="1"/>
          <p:nvPr/>
        </p:nvSpPr>
        <p:spPr>
          <a:xfrm>
            <a:off x="1371600" y="232486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 → LDAP 驗證</a:t>
            </a:r>
            <a:endParaRPr lang="en-US" sz="1200" dirty="0"/>
          </a:p>
        </p:txBody>
      </p:sp>
      <p:sp>
        <p:nvSpPr>
          <p:cNvPr id="7" name="f98eb9b9-9dc0-4fe1-9b89-a72f79960b2a"/>
          <p:cNvSpPr/>
          <p:nvPr/>
        </p:nvSpPr>
        <p:spPr>
          <a:xfrm>
            <a:off x="548640" y="489204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8" name="58dc5a58-b6a2-4a26-8b76-256677aec51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1520" y="5253228"/>
            <a:ext cx="512064" cy="512064"/>
          </a:xfrm>
          <a:prstGeom prst="rect">
            <a:avLst/>
          </a:prstGeom>
        </p:spPr>
      </p:pic>
      <p:sp>
        <p:nvSpPr>
          <p:cNvPr id="9" name="09a5f7af-c1aa-417a-a663-7d6a54639486"/>
          <p:cNvSpPr txBox="1"/>
          <p:nvPr/>
        </p:nvSpPr>
        <p:spPr>
          <a:xfrm>
            <a:off x="1371600" y="4983480"/>
            <a:ext cx="26517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600" dirty="0"/>
          </a:p>
        </p:txBody>
      </p:sp>
      <p:sp>
        <p:nvSpPr>
          <p:cNvPr id="10" name="0dd4cfe3-b4ab-4620-b317-770cf0285b12"/>
          <p:cNvSpPr txBox="1"/>
          <p:nvPr/>
        </p:nvSpPr>
        <p:spPr>
          <a:xfrm>
            <a:off x="1371600" y="557098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SCRAM-SHA-512</a:t>
            </a:r>
            <a:endParaRPr lang="en-US" sz="1200" dirty="0"/>
          </a:p>
        </p:txBody>
      </p:sp>
      <p:sp>
        <p:nvSpPr>
          <p:cNvPr id="11" name="5920deab-ab53-4cd9-860f-120adfe191c9"/>
          <p:cNvSpPr/>
          <p:nvPr/>
        </p:nvSpPr>
        <p:spPr>
          <a:xfrm>
            <a:off x="8046720" y="164592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2" name="c0bda766-ab69-4d9b-9516-aba910f3625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29600" y="2007108"/>
            <a:ext cx="512064" cy="512064"/>
          </a:xfrm>
          <a:prstGeom prst="rect">
            <a:avLst/>
          </a:prstGeom>
        </p:spPr>
      </p:pic>
      <p:sp>
        <p:nvSpPr>
          <p:cNvPr id="13" name="05b2c6ed-60f1-4f9c-9688-47ee0caf0f2d"/>
          <p:cNvSpPr txBox="1"/>
          <p:nvPr/>
        </p:nvSpPr>
        <p:spPr>
          <a:xfrm>
            <a:off x="8869680" y="1737360"/>
            <a:ext cx="25603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/ REST Proxy</a:t>
            </a:r>
            <a:endParaRPr lang="en-US" sz="1600" dirty="0"/>
          </a:p>
        </p:txBody>
      </p:sp>
      <p:sp>
        <p:nvSpPr>
          <p:cNvPr id="14" name="bbdf2f93-c129-4250-8da3-547d43ec5b9a"/>
          <p:cNvSpPr txBox="1"/>
          <p:nvPr/>
        </p:nvSpPr>
        <p:spPr>
          <a:xfrm>
            <a:off x="8869680" y="232486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憑證(CN=c3 / restproxy)</a:t>
            </a:r>
            <a:endParaRPr lang="en-US" sz="1100" dirty="0"/>
          </a:p>
        </p:txBody>
      </p:sp>
      <p:sp>
        <p:nvSpPr>
          <p:cNvPr id="15" name="352dcc7c-098c-4d59-bff8-3b49e041c3b0"/>
          <p:cNvSpPr/>
          <p:nvPr/>
        </p:nvSpPr>
        <p:spPr>
          <a:xfrm>
            <a:off x="8046720" y="489204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6" name="4b37340b-58c1-4dec-b56f-d1855bdd388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29600" y="5253228"/>
            <a:ext cx="512064" cy="512064"/>
          </a:xfrm>
          <a:prstGeom prst="rect">
            <a:avLst/>
          </a:prstGeom>
        </p:spPr>
      </p:pic>
      <p:sp>
        <p:nvSpPr>
          <p:cNvPr id="17" name="dbfe86a6-978c-42b4-b1dd-6460040f2bec"/>
          <p:cNvSpPr txBox="1"/>
          <p:nvPr/>
        </p:nvSpPr>
        <p:spPr>
          <a:xfrm>
            <a:off x="8869680" y="4983480"/>
            <a:ext cx="25603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600" dirty="0"/>
          </a:p>
        </p:txBody>
      </p:sp>
      <p:sp>
        <p:nvSpPr>
          <p:cNvPr id="18" name="013cc02a-07b7-4200-a40b-ba3314bc262f"/>
          <p:cNvSpPr txBox="1"/>
          <p:nvPr/>
        </p:nvSpPr>
        <p:spPr>
          <a:xfrm>
            <a:off x="8869680" y="557098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 · break-glass</a:t>
            </a:r>
            <a:endParaRPr lang="en-US" sz="1200" dirty="0"/>
          </a:p>
        </p:txBody>
      </p:sp>
      <p:sp>
        <p:nvSpPr>
          <p:cNvPr id="19" name="627eaae2-f3d4-413a-905d-df266fbb5b4d"/>
          <p:cNvSpPr/>
          <p:nvPr/>
        </p:nvSpPr>
        <p:spPr>
          <a:xfrm>
            <a:off x="4343400" y="507492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B6B7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20" name="2ad9194f-9fc7-4cd1-a6a2-b9dd1de3cc84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26280" y="5367528"/>
            <a:ext cx="512064" cy="512064"/>
          </a:xfrm>
          <a:prstGeom prst="rect">
            <a:avLst/>
          </a:prstGeom>
        </p:spPr>
      </p:pic>
      <p:sp>
        <p:nvSpPr>
          <p:cNvPr id="21" name="f4b1d5d3-6910-45ac-bc93-27f460c4c721"/>
          <p:cNvSpPr txBox="1"/>
          <p:nvPr/>
        </p:nvSpPr>
        <p:spPr>
          <a:xfrm>
            <a:off x="5166360" y="5166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/ controller</a:t>
            </a:r>
            <a:endParaRPr lang="en-US" sz="1600" dirty="0"/>
          </a:p>
        </p:txBody>
      </p:sp>
      <p:sp>
        <p:nvSpPr>
          <p:cNvPr id="22" name="d02fe4cc-eb75-4cd5-887f-8ee0d576bbb3"/>
          <p:cNvSpPr txBox="1"/>
          <p:nvPr/>
        </p:nvSpPr>
        <p:spPr>
          <a:xfrm>
            <a:off x="5166360" y="56784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內部靜態帳號</a:t>
            </a:r>
            <a:endParaRPr lang="en-US" sz="1200" dirty="0"/>
          </a:p>
        </p:txBody>
      </p:sp>
      <p:sp>
        <p:nvSpPr>
          <p:cNvPr id="23" name="20a9e751-31ed-461d-a55d-e3aadb0a4310"/>
          <p:cNvSpPr/>
          <p:nvPr/>
        </p:nvSpPr>
        <p:spPr>
          <a:xfrm>
            <a:off x="4114800" y="2377440"/>
            <a:ext cx="457200" cy="822960"/>
          </a:xfrm>
          <a:prstGeom prst="line">
            <a:avLst/>
          </a:prstGeom>
          <a:noFill/>
          <a:ln w="31750">
            <a:solidFill>
              <a:srgbClr val="155C91"/>
            </a:solidFill>
            <a:prstDash val="solid"/>
            <a:tailEnd type="triangle"/>
          </a:ln>
        </p:spPr>
      </p:sp>
      <p:sp>
        <p:nvSpPr>
          <p:cNvPr id="24" name="8838cc71-a06f-40f5-8911-01d37b00c0aa"/>
          <p:cNvSpPr/>
          <p:nvPr/>
        </p:nvSpPr>
        <p:spPr>
          <a:xfrm flipV="1">
            <a:off x="4114800" y="4480560"/>
            <a:ext cx="457200" cy="1005840"/>
          </a:xfrm>
          <a:prstGeom prst="line">
            <a:avLst/>
          </a:prstGeom>
          <a:noFill/>
          <a:ln w="31750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25" name="39d54507-3f72-4451-9748-cf113bf207fc"/>
          <p:cNvSpPr/>
          <p:nvPr/>
        </p:nvSpPr>
        <p:spPr>
          <a:xfrm flipH="1">
            <a:off x="7589520" y="2377440"/>
            <a:ext cx="457200" cy="822960"/>
          </a:xfrm>
          <a:prstGeom prst="line">
            <a:avLst/>
          </a:prstGeom>
          <a:noFill/>
          <a:ln w="31750">
            <a:solidFill>
              <a:srgbClr val="2F9E3F"/>
            </a:solidFill>
            <a:prstDash val="solid"/>
            <a:tailEnd type="triangle"/>
          </a:ln>
        </p:spPr>
      </p:sp>
      <p:sp>
        <p:nvSpPr>
          <p:cNvPr id="26" name="77c1ab0f-e53b-4a50-857f-0f09569322dd"/>
          <p:cNvSpPr/>
          <p:nvPr/>
        </p:nvSpPr>
        <p:spPr>
          <a:xfrm flipH="1" flipV="1">
            <a:off x="7589520" y="4480560"/>
            <a:ext cx="457200" cy="1005840"/>
          </a:xfrm>
          <a:prstGeom prst="line">
            <a:avLst/>
          </a:prstGeom>
          <a:noFill/>
          <a:ln w="31750">
            <a:solidFill>
              <a:srgbClr val="C0192A"/>
            </a:solidFill>
            <a:prstDash val="solid"/>
            <a:tailEnd type="triangle"/>
          </a:ln>
        </p:spPr>
      </p:sp>
      <p:sp>
        <p:nvSpPr>
          <p:cNvPr id="27" name="0356e71d-3c18-4ad9-a7f3-746d4569d9a3"/>
          <p:cNvSpPr/>
          <p:nvPr/>
        </p:nvSpPr>
        <p:spPr>
          <a:xfrm flipV="1">
            <a:off x="6080760" y="4663440"/>
            <a:ext cx="0" cy="411480"/>
          </a:xfrm>
          <a:prstGeom prst="line">
            <a:avLst/>
          </a:prstGeom>
          <a:noFill/>
          <a:ln w="31750">
            <a:solidFill>
              <a:srgbClr val="5B6B7A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憑證策略:共用憑證只做加密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客戶不想管憑證 → 憑證越少越好,身分不放在憑證上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pic>
        <p:nvPicPr>
          <p:cNvPr id="2" name="36ea35c7-6b91-44d8-b907-214294625de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22960" y="2194560"/>
            <a:ext cx="1371600" cy="1371600"/>
          </a:xfrm>
          <a:prstGeom prst="rect">
            <a:avLst/>
          </a:prstGeom>
        </p:spPr>
      </p:pic>
      <p:sp>
        <p:nvSpPr>
          <p:cNvPr id="3" name="6893fa2f-326e-4d81-9015-c7257476c81f"/>
          <p:cNvSpPr txBox="1"/>
          <p:nvPr/>
        </p:nvSpPr>
        <p:spPr>
          <a:xfrm>
            <a:off x="548640" y="3703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張共用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憑證</a:t>
            </a:r>
            <a:endParaRPr lang="en-US" sz="1600" dirty="0"/>
          </a:p>
        </p:txBody>
      </p:sp>
      <p:sp>
        <p:nvSpPr>
          <p:cNvPr id="4" name="9fb27f34-6a2a-44da-828c-74c88f87b172"/>
          <p:cNvSpPr/>
          <p:nvPr/>
        </p:nvSpPr>
        <p:spPr>
          <a:xfrm>
            <a:off x="4206240" y="1691640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pic>
        <p:nvPicPr>
          <p:cNvPr id="5" name="20f8dae4-9992-4434-bc45-87e74a0bf95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446520" y="1764792"/>
            <a:ext cx="365760" cy="365760"/>
          </a:xfrm>
          <a:prstGeom prst="rect">
            <a:avLst/>
          </a:prstGeom>
        </p:spPr>
      </p:pic>
      <p:sp>
        <p:nvSpPr>
          <p:cNvPr id="6" name="970331bf-583f-4c25-a477-dc84b69c41e6"/>
          <p:cNvSpPr/>
          <p:nvPr/>
        </p:nvSpPr>
        <p:spPr>
          <a:xfrm flipV="1">
            <a:off x="2377440" y="1938528"/>
            <a:ext cx="1783080" cy="1170432"/>
          </a:xfrm>
          <a:prstGeom prst="line">
            <a:avLst/>
          </a:prstGeom>
          <a:noFill/>
          <a:ln w="22225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7" name="55532e30-f623-4b18-916e-01cbc096b27e"/>
          <p:cNvSpPr/>
          <p:nvPr/>
        </p:nvSpPr>
        <p:spPr>
          <a:xfrm>
            <a:off x="4206240" y="2350008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400" dirty="0"/>
          </a:p>
        </p:txBody>
      </p:sp>
      <p:pic>
        <p:nvPicPr>
          <p:cNvPr id="8" name="64073726-783e-43db-8228-1a37f249c8a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446520" y="2423160"/>
            <a:ext cx="365760" cy="365760"/>
          </a:xfrm>
          <a:prstGeom prst="rect">
            <a:avLst/>
          </a:prstGeom>
        </p:spPr>
      </p:pic>
      <p:sp>
        <p:nvSpPr>
          <p:cNvPr id="9" name="c0997a13-9964-4f3f-a4b0-d3c5de8c9c25"/>
          <p:cNvSpPr/>
          <p:nvPr/>
        </p:nvSpPr>
        <p:spPr>
          <a:xfrm flipV="1">
            <a:off x="2377440" y="2596896"/>
            <a:ext cx="1783080" cy="512064"/>
          </a:xfrm>
          <a:prstGeom prst="line">
            <a:avLst/>
          </a:prstGeom>
          <a:noFill/>
          <a:ln w="22225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10" name="9b8781b4-a385-48b5-b773-a059b2806bb7"/>
          <p:cNvSpPr/>
          <p:nvPr/>
        </p:nvSpPr>
        <p:spPr>
          <a:xfrm>
            <a:off x="4206240" y="3008376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pic>
        <p:nvPicPr>
          <p:cNvPr id="11" name="6f419669-2598-4ffb-87c3-a37d12750b4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446520" y="3081528"/>
            <a:ext cx="365760" cy="365760"/>
          </a:xfrm>
          <a:prstGeom prst="rect">
            <a:avLst/>
          </a:prstGeom>
        </p:spPr>
      </p:pic>
      <p:sp>
        <p:nvSpPr>
          <p:cNvPr id="12" name="1ebd5690-fd93-489f-a97e-a2bacf290a67"/>
          <p:cNvSpPr/>
          <p:nvPr/>
        </p:nvSpPr>
        <p:spPr>
          <a:xfrm>
            <a:off x="2377440" y="3108960"/>
            <a:ext cx="1783080" cy="146304"/>
          </a:xfrm>
          <a:prstGeom prst="line">
            <a:avLst/>
          </a:prstGeom>
          <a:noFill/>
          <a:ln w="22225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13" name="ee81bc4e-bc91-43d9-b8d0-465c9afaeea9"/>
          <p:cNvSpPr/>
          <p:nvPr/>
        </p:nvSpPr>
        <p:spPr>
          <a:xfrm>
            <a:off x="4206240" y="3666744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</p:txBody>
      </p:sp>
      <p:pic>
        <p:nvPicPr>
          <p:cNvPr id="14" name="45ffd841-3209-4e64-8b65-40bb64494fab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446520" y="3739896"/>
            <a:ext cx="365760" cy="365760"/>
          </a:xfrm>
          <a:prstGeom prst="rect">
            <a:avLst/>
          </a:prstGeom>
        </p:spPr>
      </p:pic>
      <p:sp>
        <p:nvSpPr>
          <p:cNvPr id="15" name="7d338e42-83f0-477a-b1ce-69f837dbef41"/>
          <p:cNvSpPr/>
          <p:nvPr/>
        </p:nvSpPr>
        <p:spPr>
          <a:xfrm>
            <a:off x="2377440" y="3108960"/>
            <a:ext cx="1783080" cy="804672"/>
          </a:xfrm>
          <a:prstGeom prst="line">
            <a:avLst/>
          </a:prstGeom>
          <a:noFill/>
          <a:ln w="22225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16" name="abba5260-1a09-403c-9280-b2241c8729ba"/>
          <p:cNvSpPr/>
          <p:nvPr/>
        </p:nvSpPr>
        <p:spPr>
          <a:xfrm>
            <a:off x="4206240" y="4325112"/>
            <a:ext cx="2103120" cy="502920"/>
          </a:xfrm>
          <a:prstGeom prst="roundRect">
            <a:avLst>
              <a:gd name="adj" fmla="val 21818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pic>
        <p:nvPicPr>
          <p:cNvPr id="17" name="37f338ed-5454-4e12-891f-48a76609e36a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6446520" y="4398264"/>
            <a:ext cx="365760" cy="365760"/>
          </a:xfrm>
          <a:prstGeom prst="rect">
            <a:avLst/>
          </a:prstGeom>
        </p:spPr>
      </p:pic>
      <p:sp>
        <p:nvSpPr>
          <p:cNvPr id="18" name="64363143-e578-4422-9080-ba4b812da247"/>
          <p:cNvSpPr/>
          <p:nvPr/>
        </p:nvSpPr>
        <p:spPr>
          <a:xfrm>
            <a:off x="2377440" y="3108960"/>
            <a:ext cx="1783080" cy="1463040"/>
          </a:xfrm>
          <a:prstGeom prst="line">
            <a:avLst/>
          </a:prstGeom>
          <a:noFill/>
          <a:ln w="22225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19" name="abd16958-7746-4830-8508-ac5470ab6f70"/>
          <p:cNvSpPr/>
          <p:nvPr/>
        </p:nvSpPr>
        <p:spPr>
          <a:xfrm>
            <a:off x="640080" y="5120640"/>
            <a:ext cx="6126480" cy="548640"/>
          </a:xfrm>
          <a:prstGeom prst="roundRect">
            <a:avLst>
              <a:gd name="adj" fmla="val 20000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只做傳輸加密</a:t>
            </a:r>
            <a:endParaRPr lang="en-US" sz="1600" dirty="0"/>
          </a:p>
        </p:txBody>
      </p:sp>
      <p:sp>
        <p:nvSpPr>
          <p:cNvPr id="20" name="3749569e-b4e4-4222-a549-1cfac8d55420"/>
          <p:cNvSpPr txBox="1"/>
          <p:nvPr/>
        </p:nvSpPr>
        <p:spPr>
          <a:xfrm>
            <a:off x="731520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身分另外處理</a:t>
            </a:r>
            <a:endParaRPr lang="en-US" sz="1800" dirty="0"/>
          </a:p>
        </p:txBody>
      </p:sp>
      <p:pic>
        <p:nvPicPr>
          <p:cNvPr id="21" name="fa7dfaf6-f6bc-4d3c-99fd-adb47332a4e6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7589520" y="2194560"/>
            <a:ext cx="731520" cy="731520"/>
          </a:xfrm>
          <a:prstGeom prst="rect">
            <a:avLst/>
          </a:prstGeom>
        </p:spPr>
      </p:pic>
      <p:sp>
        <p:nvSpPr>
          <p:cNvPr id="22" name="840568ee-f3a6-42aa-8d49-df2fb1ff64a7"/>
          <p:cNvSpPr txBox="1"/>
          <p:nvPr/>
        </p:nvSpPr>
        <p:spPr>
          <a:xfrm>
            <a:off x="731520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300" dirty="0"/>
          </a:p>
        </p:txBody>
      </p:sp>
      <p:pic>
        <p:nvPicPr>
          <p:cNvPr id="23" name="726fb706-2bc9-49f6-9814-77a7c976d65c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8961120" y="2194560"/>
            <a:ext cx="731520" cy="731520"/>
          </a:xfrm>
          <a:prstGeom prst="rect">
            <a:avLst/>
          </a:prstGeom>
        </p:spPr>
      </p:pic>
      <p:sp>
        <p:nvSpPr>
          <p:cNvPr id="24" name="ea3a3e87-fe82-49d9-9a06-49e2f260073f"/>
          <p:cNvSpPr txBox="1"/>
          <p:nvPr/>
        </p:nvSpPr>
        <p:spPr>
          <a:xfrm>
            <a:off x="868680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300" dirty="0"/>
          </a:p>
        </p:txBody>
      </p:sp>
      <p:pic>
        <p:nvPicPr>
          <p:cNvPr id="25" name="d717e4e2-dee3-4455-a4fa-1d942cd9e869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10332720" y="2194560"/>
            <a:ext cx="731520" cy="731520"/>
          </a:xfrm>
          <a:prstGeom prst="rect">
            <a:avLst/>
          </a:prstGeom>
        </p:spPr>
      </p:pic>
      <p:sp>
        <p:nvSpPr>
          <p:cNvPr id="26" name="a8dba262-a8c7-4b37-8b3f-7682c858ff4e"/>
          <p:cNvSpPr txBox="1"/>
          <p:nvPr/>
        </p:nvSpPr>
        <p:spPr>
          <a:xfrm>
            <a:off x="1005840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300" dirty="0"/>
          </a:p>
        </p:txBody>
      </p:sp>
      <p:sp>
        <p:nvSpPr>
          <p:cNvPr id="27" name="921a00bf-f5f4-47ef-82e9-5c644d8a78b2"/>
          <p:cNvSpPr txBox="1"/>
          <p:nvPr/>
        </p:nvSpPr>
        <p:spPr>
          <a:xfrm>
            <a:off x="7315200" y="3337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 1 張 client 憑證:平台元件向 MDS 認證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憑證身分只能用 User: 綁 role(官方:不支援群組)</a:t>
            </a:r>
            <a:endParaRPr lang="en-US" sz="1200" dirty="0"/>
          </a:p>
        </p:txBody>
      </p:sp>
      <p:sp>
        <p:nvSpPr>
          <p:cNvPr id="28" name="a597e79a-e70d-4b4c-856a-e24b0fdc325f"/>
          <p:cNvSpPr/>
          <p:nvPr/>
        </p:nvSpPr>
        <p:spPr>
          <a:xfrm>
            <a:off x="7315200" y="3931920"/>
            <a:ext cx="4206240" cy="0"/>
          </a:xfrm>
          <a:prstGeom prst="line">
            <a:avLst>
              <a:gd name="adj" fmla="val Infinity"/>
            </a:avLst>
          </a:prstGeom>
          <a:ln w="12700">
            <a:solidFill>
              <a:srgbClr val="C9D3DC"/>
            </a:solidFill>
            <a:prstDash val="solid"/>
          </a:ln>
        </p:spPr>
      </p:sp>
      <p:pic>
        <p:nvPicPr>
          <p:cNvPr id="29" name="9ee0fbbe-6f1a-406a-81a6-02cad25c75cd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589520" y="4206240"/>
            <a:ext cx="731520" cy="731520"/>
          </a:xfrm>
          <a:prstGeom prst="rect">
            <a:avLst/>
          </a:prstGeom>
        </p:spPr>
      </p:pic>
      <p:sp>
        <p:nvSpPr>
          <p:cNvPr id="30" name="b18b4dbe-cad9-4183-8564-75f82ea0ff88"/>
          <p:cNvSpPr txBox="1"/>
          <p:nvPr/>
        </p:nvSpPr>
        <p:spPr>
          <a:xfrm>
            <a:off x="8503920" y="4160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服務用 SCRAM</a:t>
            </a:r>
            <a:endParaRPr lang="en-US" sz="1700" dirty="0"/>
          </a:p>
        </p:txBody>
      </p:sp>
      <p:sp>
        <p:nvSpPr>
          <p:cNvPr id="31" name="96689f58-fd27-4dbf-b1c0-4f04cc66f53e"/>
          <p:cNvSpPr txBox="1"/>
          <p:nvPr/>
        </p:nvSpPr>
        <p:spPr>
          <a:xfrm>
            <a:off x="8503920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 · 免憑證 · 密碼進密碼庫</a:t>
            </a:r>
            <a:endParaRPr lang="en-US" sz="1200" dirty="0"/>
          </a:p>
        </p:txBody>
      </p:sp>
      <p:sp>
        <p:nvSpPr>
          <p:cNvPr id="32" name="fe7b9240-3260-4fe0-9ca1-2b03ec120565"/>
          <p:cNvSpPr/>
          <p:nvPr/>
        </p:nvSpPr>
        <p:spPr>
          <a:xfrm>
            <a:off x="548640" y="5806440"/>
            <a:ext cx="10972800" cy="457200"/>
          </a:xfrm>
          <a:prstGeom prst="roundRect">
            <a:avLst>
              <a:gd name="adj" fmla="val 24000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風險:共用 private key 外洩 = 可偽裝「伺服器」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為什麼共用憑證不能當身分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實測:同一個 DN → Kafka 看到同一個 principal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3036e50-289c-42e9-b57d-50a1c9ef4ea9"/>
          <p:cNvSpPr/>
          <p:nvPr/>
        </p:nvSpPr>
        <p:spPr>
          <a:xfrm>
            <a:off x="548640" y="1645920"/>
            <a:ext cx="5394960" cy="3063240"/>
          </a:xfrm>
          <a:prstGeom prst="roundRect">
            <a:avLst>
              <a:gd name="adj" fmla="val 3582"/>
            </a:avLst>
          </a:prstGeom>
          <a:solidFill>
            <a:srgbClr val="FBE6E8"/>
          </a:solidFill>
          <a:ln/>
        </p:spPr>
      </p:sp>
      <p:sp>
        <p:nvSpPr>
          <p:cNvPr id="3" name="55292a64-40ae-4ebe-87a2-0a663f9ac1ba"/>
          <p:cNvSpPr txBox="1"/>
          <p:nvPr/>
        </p:nvSpPr>
        <p:spPr>
          <a:xfrm>
            <a:off x="73152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</a:t>
            </a:r>
            <a:endParaRPr lang="en-US" sz="2000" dirty="0"/>
          </a:p>
        </p:txBody>
      </p:sp>
      <p:sp>
        <p:nvSpPr>
          <p:cNvPr id="4" name="db1f2443-24ff-4509-adc2-cd2f86fbdb9d"/>
          <p:cNvSpPr/>
          <p:nvPr/>
        </p:nvSpPr>
        <p:spPr>
          <a:xfrm>
            <a:off x="777240" y="233172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5" name="e4d9f9e2-675b-494f-b714-1768c28f0df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60120" y="2441448"/>
            <a:ext cx="512064" cy="512064"/>
          </a:xfrm>
          <a:prstGeom prst="rect">
            <a:avLst/>
          </a:prstGeom>
        </p:spPr>
      </p:pic>
      <p:sp>
        <p:nvSpPr>
          <p:cNvPr id="6" name="d84f7beb-f925-4dbc-941d-cc92d26c09bd"/>
          <p:cNvSpPr txBox="1"/>
          <p:nvPr/>
        </p:nvSpPr>
        <p:spPr>
          <a:xfrm>
            <a:off x="1600200" y="2331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600" dirty="0"/>
          </a:p>
        </p:txBody>
      </p:sp>
      <p:sp>
        <p:nvSpPr>
          <p:cNvPr id="7" name="06f61f14-47db-4949-9fca-f4f6ff2798fb"/>
          <p:cNvSpPr/>
          <p:nvPr/>
        </p:nvSpPr>
        <p:spPr>
          <a:xfrm>
            <a:off x="777240" y="333756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8" name="4ae5002d-5aa3-4579-9029-6c0287f17e3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960120" y="3447288"/>
            <a:ext cx="512064" cy="512064"/>
          </a:xfrm>
          <a:prstGeom prst="rect">
            <a:avLst/>
          </a:prstGeom>
        </p:spPr>
      </p:pic>
      <p:sp>
        <p:nvSpPr>
          <p:cNvPr id="9" name="f1b27c1d-306d-42ba-9fe1-d41d994ed3b7"/>
          <p:cNvSpPr txBox="1"/>
          <p:nvPr/>
        </p:nvSpPr>
        <p:spPr>
          <a:xfrm>
            <a:off x="1600200" y="33375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</p:txBody>
      </p:sp>
      <p:sp>
        <p:nvSpPr>
          <p:cNvPr id="10" name="01ff463b-10a6-4106-86fb-5ed32ff0b33a"/>
          <p:cNvSpPr/>
          <p:nvPr/>
        </p:nvSpPr>
        <p:spPr>
          <a:xfrm>
            <a:off x="2971800" y="2697480"/>
            <a:ext cx="640080" cy="365760"/>
          </a:xfrm>
          <a:prstGeom prst="line">
            <a:avLst/>
          </a:prstGeom>
          <a:noFill/>
          <a:ln w="31750">
            <a:solidFill>
              <a:srgbClr val="C0192A"/>
            </a:solidFill>
            <a:prstDash val="solid"/>
            <a:tailEnd type="triangle"/>
          </a:ln>
        </p:spPr>
      </p:sp>
      <p:sp>
        <p:nvSpPr>
          <p:cNvPr id="11" name="3645b907-92e4-4033-b7aa-a6b17a2ba957"/>
          <p:cNvSpPr/>
          <p:nvPr/>
        </p:nvSpPr>
        <p:spPr>
          <a:xfrm flipV="1">
            <a:off x="2971800" y="3337560"/>
            <a:ext cx="640080" cy="365760"/>
          </a:xfrm>
          <a:prstGeom prst="line">
            <a:avLst/>
          </a:prstGeom>
          <a:noFill/>
          <a:ln w="31750">
            <a:solidFill>
              <a:srgbClr val="C0192A"/>
            </a:solidFill>
            <a:prstDash val="solid"/>
            <a:tailEnd type="triangle"/>
          </a:ln>
        </p:spPr>
      </p:sp>
      <p:sp>
        <p:nvSpPr>
          <p:cNvPr id="12" name="03c19e03-1ed8-4cca-acf7-c89e8f3746a9"/>
          <p:cNvSpPr/>
          <p:nvPr/>
        </p:nvSpPr>
        <p:spPr>
          <a:xfrm>
            <a:off x="3657600" y="242316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看到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kafka.demo.local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(同一個人)</a:t>
            </a:r>
            <a:endParaRPr lang="en-US" sz="1300" dirty="0"/>
          </a:p>
        </p:txBody>
      </p:sp>
      <p:pic>
        <p:nvPicPr>
          <p:cNvPr id="13" name="5de0f325-c373-4be6-96d1-a3810b463b8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394960" y="2286000"/>
            <a:ext cx="411480" cy="411480"/>
          </a:xfrm>
          <a:prstGeom prst="rect">
            <a:avLst/>
          </a:prstGeom>
        </p:spPr>
      </p:pic>
      <p:sp>
        <p:nvSpPr>
          <p:cNvPr id="14" name="70df7698-d661-4ca0-ae4e-1800ad01fe41"/>
          <p:cNvSpPr/>
          <p:nvPr/>
        </p:nvSpPr>
        <p:spPr>
          <a:xfrm>
            <a:off x="6217920" y="1645920"/>
            <a:ext cx="5303520" cy="3063240"/>
          </a:xfrm>
          <a:prstGeom prst="roundRect">
            <a:avLst>
              <a:gd name="adj" fmla="val 3582"/>
            </a:avLst>
          </a:prstGeom>
          <a:solidFill>
            <a:srgbClr val="E3F3E6"/>
          </a:solidFill>
          <a:ln/>
        </p:spPr>
      </p:sp>
      <p:sp>
        <p:nvSpPr>
          <p:cNvPr id="15" name="ad6ef0e6-1047-4e91-80f3-25278b369aad"/>
          <p:cNvSpPr txBox="1"/>
          <p:nvPr/>
        </p:nvSpPr>
        <p:spPr>
          <a:xfrm>
            <a:off x="640080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9E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各自憑證</a:t>
            </a:r>
            <a:endParaRPr lang="en-US" sz="2000" dirty="0"/>
          </a:p>
        </p:txBody>
      </p:sp>
      <p:sp>
        <p:nvSpPr>
          <p:cNvPr id="16" name="23a8ee84-2cca-4fb7-8fbe-af87f3e4890e"/>
          <p:cNvSpPr/>
          <p:nvPr/>
        </p:nvSpPr>
        <p:spPr>
          <a:xfrm>
            <a:off x="6446520" y="233172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7" name="65c3effe-f704-4673-a490-7cbc398dd4e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629400" y="2441448"/>
            <a:ext cx="512064" cy="512064"/>
          </a:xfrm>
          <a:prstGeom prst="rect">
            <a:avLst/>
          </a:prstGeom>
        </p:spPr>
      </p:pic>
      <p:sp>
        <p:nvSpPr>
          <p:cNvPr id="18" name="191a0947-8739-47dd-95be-fd198c0a3798"/>
          <p:cNvSpPr txBox="1"/>
          <p:nvPr/>
        </p:nvSpPr>
        <p:spPr>
          <a:xfrm>
            <a:off x="7269480" y="23317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600" dirty="0"/>
          </a:p>
        </p:txBody>
      </p:sp>
      <p:sp>
        <p:nvSpPr>
          <p:cNvPr id="19" name="f43f2342-b3ee-4759-b76b-96a31ec8d271"/>
          <p:cNvSpPr/>
          <p:nvPr/>
        </p:nvSpPr>
        <p:spPr>
          <a:xfrm>
            <a:off x="6446520" y="333756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20" name="ef1ffb18-52a0-4232-8e57-df891b6afc7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629400" y="3447288"/>
            <a:ext cx="512064" cy="512064"/>
          </a:xfrm>
          <a:prstGeom prst="rect">
            <a:avLst/>
          </a:prstGeom>
        </p:spPr>
      </p:pic>
      <p:sp>
        <p:nvSpPr>
          <p:cNvPr id="21" name="82c8e624-54fd-4575-aee6-1e36e8744b0d"/>
          <p:cNvSpPr txBox="1"/>
          <p:nvPr/>
        </p:nvSpPr>
        <p:spPr>
          <a:xfrm>
            <a:off x="7269480" y="33375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</p:txBody>
      </p:sp>
      <p:sp>
        <p:nvSpPr>
          <p:cNvPr id="22" name="5ccc6792-ca32-4dd4-b3ee-7c36a4df200b"/>
          <p:cNvSpPr/>
          <p:nvPr/>
        </p:nvSpPr>
        <p:spPr>
          <a:xfrm>
            <a:off x="8641080" y="2697480"/>
            <a:ext cx="685800" cy="0"/>
          </a:xfrm>
          <a:prstGeom prst="line">
            <a:avLst/>
          </a:prstGeom>
          <a:noFill/>
          <a:ln w="31750">
            <a:solidFill>
              <a:srgbClr val="2F9E3F"/>
            </a:solidFill>
            <a:prstDash val="solid"/>
            <a:tailEnd type="triangle"/>
          </a:ln>
        </p:spPr>
      </p:sp>
      <p:sp>
        <p:nvSpPr>
          <p:cNvPr id="23" name="3c487061-ccc4-4461-ae4e-87d5901cc0fb"/>
          <p:cNvSpPr/>
          <p:nvPr/>
        </p:nvSpPr>
        <p:spPr>
          <a:xfrm>
            <a:off x="8641080" y="3703320"/>
            <a:ext cx="685800" cy="0"/>
          </a:xfrm>
          <a:prstGeom prst="line">
            <a:avLst/>
          </a:prstGeom>
          <a:noFill/>
          <a:ln w="31750">
            <a:solidFill>
              <a:srgbClr val="2F9E3F"/>
            </a:solidFill>
            <a:prstDash val="solid"/>
            <a:tailEnd type="triangle"/>
          </a:ln>
        </p:spPr>
      </p:sp>
      <p:sp>
        <p:nvSpPr>
          <p:cNvPr id="24" name="e8d70caf-9486-42dd-9839-45b5f28fafb5"/>
          <p:cNvSpPr/>
          <p:nvPr/>
        </p:nvSpPr>
        <p:spPr>
          <a:xfrm>
            <a:off x="9372600" y="233172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600" dirty="0"/>
          </a:p>
        </p:txBody>
      </p:sp>
      <p:pic>
        <p:nvPicPr>
          <p:cNvPr id="25" name="aa218cd5-62f2-4e37-b945-88d15dae62b6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972800" y="2514600"/>
            <a:ext cx="365760" cy="365760"/>
          </a:xfrm>
          <a:prstGeom prst="rect">
            <a:avLst/>
          </a:prstGeom>
        </p:spPr>
      </p:pic>
      <p:sp>
        <p:nvSpPr>
          <p:cNvPr id="26" name="238f501d-0177-4e98-913b-2c38f66265bd"/>
          <p:cNvSpPr/>
          <p:nvPr/>
        </p:nvSpPr>
        <p:spPr>
          <a:xfrm>
            <a:off x="9372600" y="333756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500" dirty="0"/>
          </a:p>
        </p:txBody>
      </p:sp>
      <p:pic>
        <p:nvPicPr>
          <p:cNvPr id="27" name="a74fd419-3856-45d2-a1d5-87afafff806d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0972800" y="3520440"/>
            <a:ext cx="365760" cy="365760"/>
          </a:xfrm>
          <a:prstGeom prst="rect">
            <a:avLst/>
          </a:prstGeom>
        </p:spPr>
      </p:pic>
      <p:pic>
        <p:nvPicPr>
          <p:cNvPr id="28" name="23ee1452-4cb9-4623-9af0-d6e28dea5b36" descr="實測:共用憑證 → kafka.demo.local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48640" y="5102352"/>
            <a:ext cx="5394960" cy="676656"/>
          </a:xfrm>
          <a:prstGeom prst="rect">
            <a:avLst/>
          </a:prstGeom>
        </p:spPr>
      </p:pic>
      <p:sp>
        <p:nvSpPr>
          <p:cNvPr id="29" name="9bff6250-2d64-44f3-989e-7306f0138f06"/>
          <p:cNvSpPr/>
          <p:nvPr/>
        </p:nvSpPr>
        <p:spPr>
          <a:xfrm>
            <a:off x="548640" y="5102352"/>
            <a:ext cx="5394960" cy="676656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30" name="7e46789f-fc39-487b-ac21-9c658d0236df"/>
          <p:cNvSpPr txBox="1"/>
          <p:nvPr/>
        </p:nvSpPr>
        <p:spPr>
          <a:xfrm>
            <a:off x="548640" y="60258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實測:共用憑證 → kafka.demo.local</a:t>
            </a:r>
            <a:endParaRPr lang="en-US" sz="1100" dirty="0"/>
          </a:p>
        </p:txBody>
      </p:sp>
      <p:pic>
        <p:nvPicPr>
          <p:cNvPr id="31" name="ce452a1a-ccb2-4770-bab3-b6ef56654c62" descr="實測:各自憑證 → c3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217920" y="5108086"/>
            <a:ext cx="5303520" cy="665187"/>
          </a:xfrm>
          <a:prstGeom prst="rect">
            <a:avLst/>
          </a:prstGeom>
        </p:spPr>
      </p:pic>
      <p:sp>
        <p:nvSpPr>
          <p:cNvPr id="32" name="ea3dff1d-6c3f-46da-93c5-be07897ea86d"/>
          <p:cNvSpPr/>
          <p:nvPr/>
        </p:nvSpPr>
        <p:spPr>
          <a:xfrm>
            <a:off x="6217920" y="5108086"/>
            <a:ext cx="5303520" cy="665187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33" name="d7e3b677-202a-4401-bd52-cfb9472471c0"/>
          <p:cNvSpPr txBox="1"/>
          <p:nvPr/>
        </p:nvSpPr>
        <p:spPr>
          <a:xfrm>
            <a:off x="6217920" y="60258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實測:各自憑證 → c3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Kafka 叢集與內部通道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全部 SASL_SSL;共用憑證只做加密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605dda5-8151-4aa9-9b09-90b3b80f4451"/>
          <p:cNvSpPr/>
          <p:nvPr/>
        </p:nvSpPr>
        <p:spPr>
          <a:xfrm>
            <a:off x="548640" y="18288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3" name="80c3c966-8e4b-44b2-a6ea-ecafbc3dd5e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1520" y="2029968"/>
            <a:ext cx="512064" cy="512064"/>
          </a:xfrm>
          <a:prstGeom prst="rect">
            <a:avLst/>
          </a:prstGeom>
        </p:spPr>
      </p:pic>
      <p:sp>
        <p:nvSpPr>
          <p:cNvPr id="4" name="39687e10-8938-4302-ab78-359ee541bcbf"/>
          <p:cNvSpPr txBox="1"/>
          <p:nvPr/>
        </p:nvSpPr>
        <p:spPr>
          <a:xfrm>
            <a:off x="1371600" y="1828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人(AD 帳密)</a:t>
            </a:r>
            <a:endParaRPr lang="en-US" sz="1400" dirty="0"/>
          </a:p>
        </p:txBody>
      </p:sp>
      <p:sp>
        <p:nvSpPr>
          <p:cNvPr id="5" name="bedb351e-3cd2-4207-ac73-58f90b60dfc0"/>
          <p:cNvSpPr/>
          <p:nvPr/>
        </p:nvSpPr>
        <p:spPr>
          <a:xfrm>
            <a:off x="3200400" y="2286000"/>
            <a:ext cx="1143000" cy="457200"/>
          </a:xfrm>
          <a:prstGeom prst="line">
            <a:avLst/>
          </a:prstGeom>
          <a:noFill/>
          <a:ln w="25400">
            <a:solidFill>
              <a:srgbClr val="155C91"/>
            </a:solidFill>
            <a:prstDash val="solid"/>
            <a:tailEnd type="triangle"/>
          </a:ln>
        </p:spPr>
      </p:sp>
      <p:sp>
        <p:nvSpPr>
          <p:cNvPr id="6" name="aeeaabcf-9d19-4221-9fce-36484a79720d"/>
          <p:cNvSpPr/>
          <p:nvPr/>
        </p:nvSpPr>
        <p:spPr>
          <a:xfrm>
            <a:off x="548640" y="310896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7" name="a308ca33-bc3e-4220-9a93-3b98f7e4dd3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1520" y="3310128"/>
            <a:ext cx="512064" cy="512064"/>
          </a:xfrm>
          <a:prstGeom prst="rect">
            <a:avLst/>
          </a:prstGeom>
        </p:spPr>
      </p:pic>
      <p:sp>
        <p:nvSpPr>
          <p:cNvPr id="8" name="8ee79efa-769c-47b3-b83c-b3a97df17d25"/>
          <p:cNvSpPr txBox="1"/>
          <p:nvPr/>
        </p:nvSpPr>
        <p:spPr>
          <a:xfrm>
            <a:off x="1371600" y="3108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服務(SCRAM)</a:t>
            </a:r>
            <a:endParaRPr lang="en-US" sz="1400" dirty="0"/>
          </a:p>
        </p:txBody>
      </p:sp>
      <p:sp>
        <p:nvSpPr>
          <p:cNvPr id="9" name="0ee59b6d-9118-42e6-afb5-2a4f9333c0c6"/>
          <p:cNvSpPr/>
          <p:nvPr/>
        </p:nvSpPr>
        <p:spPr>
          <a:xfrm flipV="1">
            <a:off x="3200400" y="2743200"/>
            <a:ext cx="1143000" cy="822960"/>
          </a:xfrm>
          <a:prstGeom prst="line">
            <a:avLst/>
          </a:prstGeom>
          <a:noFill/>
          <a:ln w="25400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10" name="c2d45233-cb09-4ca8-9348-2782dcf6e037"/>
          <p:cNvSpPr/>
          <p:nvPr/>
        </p:nvSpPr>
        <p:spPr>
          <a:xfrm>
            <a:off x="548640" y="438912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1" name="1e092816-5e73-4254-8c0e-fd02c49ad9b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1520" y="4590288"/>
            <a:ext cx="512064" cy="512064"/>
          </a:xfrm>
          <a:prstGeom prst="rect">
            <a:avLst/>
          </a:prstGeom>
        </p:spPr>
      </p:pic>
      <p:sp>
        <p:nvSpPr>
          <p:cNvPr id="12" name="821f0fd5-da55-4f95-b1b1-05bae3fcec85"/>
          <p:cNvSpPr txBox="1"/>
          <p:nvPr/>
        </p:nvSpPr>
        <p:spPr>
          <a:xfrm>
            <a:off x="1371600" y="4389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/ REST Proxy</a:t>
            </a:r>
            <a:endParaRPr lang="en-US" sz="1400" dirty="0"/>
          </a:p>
        </p:txBody>
      </p:sp>
      <p:sp>
        <p:nvSpPr>
          <p:cNvPr id="13" name="8c8613c6-b9c1-4ddc-ac37-365ed1432e7c"/>
          <p:cNvSpPr/>
          <p:nvPr/>
        </p:nvSpPr>
        <p:spPr>
          <a:xfrm flipV="1">
            <a:off x="3200400" y="2743200"/>
            <a:ext cx="1143000" cy="2103120"/>
          </a:xfrm>
          <a:prstGeom prst="line">
            <a:avLst/>
          </a:prstGeom>
          <a:noFill/>
          <a:ln w="25400">
            <a:solidFill>
              <a:srgbClr val="2F9E3F"/>
            </a:solidFill>
            <a:prstDash val="solid"/>
            <a:tailEnd type="triangle"/>
          </a:ln>
        </p:spPr>
      </p:sp>
      <p:sp>
        <p:nvSpPr>
          <p:cNvPr id="14" name="e4e1be6d-05bf-4c42-b635-da0efee97ce5"/>
          <p:cNvSpPr txBox="1"/>
          <p:nvPr/>
        </p:nvSpPr>
        <p:spPr>
          <a:xfrm>
            <a:off x="329184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:9094</a:t>
            </a:r>
            <a:endParaRPr lang="en-US" sz="1100" dirty="0"/>
          </a:p>
        </p:txBody>
      </p:sp>
      <p:sp>
        <p:nvSpPr>
          <p:cNvPr id="15" name="0dac0cff-a8be-49b6-85a5-6363b494f6e7"/>
          <p:cNvSpPr/>
          <p:nvPr/>
        </p:nvSpPr>
        <p:spPr>
          <a:xfrm>
            <a:off x="4206240" y="1600200"/>
            <a:ext cx="4572000" cy="3520440"/>
          </a:xfrm>
          <a:prstGeom prst="roundRect">
            <a:avLst>
              <a:gd name="adj" fmla="val 3117"/>
            </a:avLst>
          </a:prstGeom>
          <a:solidFill>
            <a:srgbClr val="F1F4F7"/>
          </a:solidFill>
          <a:ln w="12700">
            <a:solidFill>
              <a:srgbClr val="5B6B7A"/>
            </a:solidFill>
            <a:prstDash val="dash"/>
          </a:ln>
        </p:spPr>
      </p:sp>
      <p:sp>
        <p:nvSpPr>
          <p:cNvPr id="16" name="4f9c66b1-f9ec-44d6-8848-ae2fe52ffe87"/>
          <p:cNvSpPr txBox="1"/>
          <p:nvPr/>
        </p:nvSpPr>
        <p:spPr>
          <a:xfrm>
            <a:off x="43434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200" dirty="0"/>
          </a:p>
        </p:txBody>
      </p:sp>
      <p:sp>
        <p:nvSpPr>
          <p:cNvPr id="17" name="bad99df0-9973-4ba9-80f5-50b4e048339e"/>
          <p:cNvSpPr/>
          <p:nvPr/>
        </p:nvSpPr>
        <p:spPr>
          <a:xfrm>
            <a:off x="4434840" y="219456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(含 MDS)</a:t>
            </a:r>
            <a:endParaRPr lang="en-US" sz="1400" dirty="0"/>
          </a:p>
        </p:txBody>
      </p:sp>
      <p:sp>
        <p:nvSpPr>
          <p:cNvPr id="18" name="452d6dec-cd2a-4f07-8c61-cfc57c0310f3"/>
          <p:cNvSpPr/>
          <p:nvPr/>
        </p:nvSpPr>
        <p:spPr>
          <a:xfrm>
            <a:off x="6812280" y="219456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broker2</a:t>
            </a:r>
            <a:endParaRPr lang="en-US" sz="1400" dirty="0"/>
          </a:p>
        </p:txBody>
      </p:sp>
      <p:sp>
        <p:nvSpPr>
          <p:cNvPr id="19" name="02a3c1de-6777-4274-85f4-79c27d0519a1"/>
          <p:cNvSpPr/>
          <p:nvPr/>
        </p:nvSpPr>
        <p:spPr>
          <a:xfrm>
            <a:off x="6172200" y="2651760"/>
            <a:ext cx="640080" cy="0"/>
          </a:xfrm>
          <a:prstGeom prst="line">
            <a:avLst/>
          </a:prstGeom>
          <a:noFill/>
          <a:ln w="31750">
            <a:solidFill>
              <a:srgbClr val="E58A17"/>
            </a:solidFill>
            <a:prstDash val="solid"/>
            <a:headEnd type="triangle"/>
            <a:tailEnd type="triangle"/>
          </a:ln>
        </p:spPr>
      </p:sp>
      <p:sp>
        <p:nvSpPr>
          <p:cNvPr id="20" name="f880a352-fc78-4e83-a324-fd6f0a3f0e17"/>
          <p:cNvSpPr txBox="1"/>
          <p:nvPr/>
        </p:nvSpPr>
        <p:spPr>
          <a:xfrm>
            <a:off x="5943600" y="2743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8A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58A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000" dirty="0"/>
          </a:p>
        </p:txBody>
      </p:sp>
      <p:sp>
        <p:nvSpPr>
          <p:cNvPr id="21" name="1d852289-3394-4890-a82b-9f54dca95a1f"/>
          <p:cNvSpPr/>
          <p:nvPr/>
        </p:nvSpPr>
        <p:spPr>
          <a:xfrm>
            <a:off x="5577840" y="4023360"/>
            <a:ext cx="1828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254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(KRaft)</a:t>
            </a:r>
            <a:endParaRPr lang="en-US" sz="1400" dirty="0"/>
          </a:p>
        </p:txBody>
      </p:sp>
      <p:sp>
        <p:nvSpPr>
          <p:cNvPr id="22" name="1a87d2de-0100-49ea-8828-be49d58501a2"/>
          <p:cNvSpPr/>
          <p:nvPr/>
        </p:nvSpPr>
        <p:spPr>
          <a:xfrm>
            <a:off x="5303520" y="3108960"/>
            <a:ext cx="731520" cy="914400"/>
          </a:xfrm>
          <a:prstGeom prst="line">
            <a:avLst/>
          </a:prstGeom>
          <a:noFill/>
          <a:ln w="31750">
            <a:solidFill>
              <a:srgbClr val="2F9E3F"/>
            </a:solidFill>
            <a:prstDash val="solid"/>
            <a:tailEnd type="triangle"/>
          </a:ln>
        </p:spPr>
      </p:sp>
      <p:sp>
        <p:nvSpPr>
          <p:cNvPr id="23" name="24f59e53-7e66-4577-8280-646dce59d03c"/>
          <p:cNvSpPr/>
          <p:nvPr/>
        </p:nvSpPr>
        <p:spPr>
          <a:xfrm flipH="1">
            <a:off x="7040880" y="3108960"/>
            <a:ext cx="640080" cy="914400"/>
          </a:xfrm>
          <a:prstGeom prst="line">
            <a:avLst/>
          </a:prstGeom>
          <a:noFill/>
          <a:ln w="31750">
            <a:solidFill>
              <a:srgbClr val="2F9E3F"/>
            </a:solidFill>
            <a:prstDash val="solid"/>
            <a:tailEnd type="triangle"/>
          </a:ln>
        </p:spPr>
      </p:sp>
      <p:sp>
        <p:nvSpPr>
          <p:cNvPr id="24" name="23552d14-67f1-4c65-9ff3-21ac27df42c1"/>
          <p:cNvSpPr txBox="1"/>
          <p:nvPr/>
        </p:nvSpPr>
        <p:spPr>
          <a:xfrm>
            <a:off x="4297680" y="3749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9E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PLAIN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2F9E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(controller 間不支援 SCRAM)</a:t>
            </a:r>
            <a:endParaRPr lang="en-US" sz="900" dirty="0"/>
          </a:p>
        </p:txBody>
      </p:sp>
      <p:sp>
        <p:nvSpPr>
          <p:cNvPr id="25" name="165d6036-251a-437c-8ddd-3511e4684d1d"/>
          <p:cNvSpPr/>
          <p:nvPr/>
        </p:nvSpPr>
        <p:spPr>
          <a:xfrm>
            <a:off x="9235440" y="1737360"/>
            <a:ext cx="22860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26" name="6c6eb570-0e58-4b85-bfe7-01a9836189e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9418320" y="1984248"/>
            <a:ext cx="512064" cy="512064"/>
          </a:xfrm>
          <a:prstGeom prst="rect">
            <a:avLst/>
          </a:prstGeom>
        </p:spPr>
      </p:pic>
      <p:sp>
        <p:nvSpPr>
          <p:cNvPr id="27" name="6bd0138e-6f8c-4745-9007-c8f200890351"/>
          <p:cNvSpPr txBox="1"/>
          <p:nvPr/>
        </p:nvSpPr>
        <p:spPr>
          <a:xfrm>
            <a:off x="10058400" y="17373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8" name="a31c645d-c219-41d9-89bc-57191881f617"/>
          <p:cNvSpPr/>
          <p:nvPr/>
        </p:nvSpPr>
        <p:spPr>
          <a:xfrm flipV="1">
            <a:off x="8778240" y="2377440"/>
            <a:ext cx="457200" cy="182880"/>
          </a:xfrm>
          <a:prstGeom prst="line">
            <a:avLst/>
          </a:prstGeom>
          <a:noFill/>
          <a:ln w="25400">
            <a:solidFill>
              <a:srgbClr val="155C91"/>
            </a:solidFill>
            <a:prstDash val="dash"/>
            <a:tailEnd type="triangle"/>
          </a:ln>
        </p:spPr>
      </p:sp>
      <p:sp>
        <p:nvSpPr>
          <p:cNvPr id="29" name="7d02988c-d035-4844-9a1c-3f9a9a6f8a71"/>
          <p:cNvSpPr/>
          <p:nvPr/>
        </p:nvSpPr>
        <p:spPr>
          <a:xfrm>
            <a:off x="548640" y="5349240"/>
            <a:ext cx="4114800" cy="347472"/>
          </a:xfrm>
          <a:prstGeom prst="roundRect">
            <a:avLst>
              <a:gd name="adj" fmla="val 50000"/>
            </a:avLst>
          </a:prstGeom>
          <a:solidFill>
            <a:srgbClr val="E4EFF7"/>
          </a:solidFill>
          <a:ln w="12700">
            <a:solidFill>
              <a:srgbClr val="E4EFF7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9094:PLAIN+LDAP / SCRAM / OAUTH</a:t>
            </a:r>
            <a:endParaRPr lang="en-US" sz="1100" dirty="0"/>
          </a:p>
        </p:txBody>
      </p:sp>
      <p:sp>
        <p:nvSpPr>
          <p:cNvPr id="30" name="065cf856-6a08-4348-ba8a-2482b2674ccf"/>
          <p:cNvSpPr/>
          <p:nvPr/>
        </p:nvSpPr>
        <p:spPr>
          <a:xfrm>
            <a:off x="4846320" y="5349240"/>
            <a:ext cx="3017520" cy="347472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5B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9092:SCRAM</a:t>
            </a:r>
            <a:endParaRPr lang="en-US" sz="1100" dirty="0"/>
          </a:p>
        </p:txBody>
      </p:sp>
      <p:sp>
        <p:nvSpPr>
          <p:cNvPr id="31" name="f1934887-a0d4-4ec9-bd00-667f3049610f"/>
          <p:cNvSpPr/>
          <p:nvPr/>
        </p:nvSpPr>
        <p:spPr>
          <a:xfrm>
            <a:off x="8046720" y="5349240"/>
            <a:ext cx="3474720" cy="347472"/>
          </a:xfrm>
          <a:prstGeom prst="roundRect">
            <a:avLst>
              <a:gd name="adj" fmla="val 50000"/>
            </a:avLst>
          </a:prstGeom>
          <a:solidFill>
            <a:srgbClr val="E3F3E6"/>
          </a:solidFill>
          <a:ln w="12700">
            <a:solidFill>
              <a:srgbClr val="E3F3E6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9093:PLAIN</a:t>
            </a:r>
            <a:endParaRPr lang="en-US" sz="1100" dirty="0"/>
          </a:p>
        </p:txBody>
      </p:sp>
      <p:sp>
        <p:nvSpPr>
          <p:cNvPr id="32" name="d7360df6-4161-436b-b23f-8be65a32ab7c"/>
          <p:cNvSpPr/>
          <p:nvPr/>
        </p:nvSpPr>
        <p:spPr>
          <a:xfrm>
            <a:off x="548640" y="5852160"/>
            <a:ext cx="10972800" cy="457200"/>
          </a:xfrm>
          <a:prstGeom prst="roundRect">
            <a:avLst>
              <a:gd name="adj" fmla="val 24000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33" name="daaacb90-4e38-415f-998e-cf549a56e5c4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731520" y="5907024"/>
            <a:ext cx="347472" cy="347472"/>
          </a:xfrm>
          <a:prstGeom prst="rect">
            <a:avLst/>
          </a:prstGeom>
        </p:spPr>
      </p:pic>
      <p:sp>
        <p:nvSpPr>
          <p:cNvPr id="34" name="b2d9ad96-3942-4bde-8049-1ffee935f86f"/>
          <p:cNvSpPr txBox="1"/>
          <p:nvPr/>
        </p:nvSpPr>
        <p:spPr>
          <a:xfrm>
            <a:off x="123444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/ CONTROLLER 埠:防火牆只開給 broker / controller 節點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線上 Demo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13 個 Lab 循序漸進:從「沒有身分進不來」到「legacy app、C3 與維運分權」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路線圖:13 個 Lab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每個 Lab:問題 → 操作 → 看結果 → 一句結論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e5edafe-d747-4012-bc2e-89535ff8739f"/>
          <p:cNvSpPr/>
          <p:nvPr/>
        </p:nvSpPr>
        <p:spPr>
          <a:xfrm>
            <a:off x="1097280" y="2331720"/>
            <a:ext cx="9326880" cy="0"/>
          </a:xfrm>
          <a:prstGeom prst="line">
            <a:avLst>
              <a:gd name="adj" fmla="val Infinity"/>
            </a:avLst>
          </a:prstGeom>
          <a:ln w="12700">
            <a:solidFill>
              <a:srgbClr val="155C91"/>
            </a:solidFill>
            <a:prstDash val="solid"/>
          </a:ln>
        </p:spPr>
      </p:sp>
      <p:sp>
        <p:nvSpPr>
          <p:cNvPr id="3" name="bec9149a-e6d4-49c7-8ad2-9bcf694f33e8"/>
          <p:cNvSpPr/>
          <p:nvPr/>
        </p:nvSpPr>
        <p:spPr>
          <a:xfrm>
            <a:off x="640080" y="1874520"/>
            <a:ext cx="914400" cy="914400"/>
          </a:xfrm>
          <a:prstGeom prst="ellipse">
            <a:avLst>
              <a:gd name="adj" fmla="val 12000"/>
            </a:avLst>
          </a:prstGeom>
          <a:solidFill>
            <a:srgbClr val="E4EFF7"/>
          </a:solidFill>
          <a:ln/>
        </p:spPr>
      </p:sp>
      <p:pic>
        <p:nvPicPr>
          <p:cNvPr id="4" name="9b7aae16-73d6-48d3-9135-cf07b836f42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22960" y="2057400"/>
            <a:ext cx="548640" cy="548640"/>
          </a:xfrm>
          <a:prstGeom prst="rect">
            <a:avLst/>
          </a:prstGeom>
        </p:spPr>
      </p:pic>
      <p:sp>
        <p:nvSpPr>
          <p:cNvPr id="5" name="f4403bb3-c78c-419a-a5d5-c615024e38e8"/>
          <p:cNvSpPr/>
          <p:nvPr/>
        </p:nvSpPr>
        <p:spPr>
          <a:xfrm>
            <a:off x="457200" y="1691640"/>
            <a:ext cx="365760" cy="365760"/>
          </a:xfrm>
          <a:prstGeom prst="ellipse">
            <a:avLst>
              <a:gd name="adj" fmla="val 30000"/>
            </a:avLst>
          </a:prstGeom>
          <a:solidFill>
            <a:srgbClr val="155C91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c440a08a-aa22-411d-9576-626620e1b80a"/>
          <p:cNvSpPr txBox="1"/>
          <p:nvPr/>
        </p:nvSpPr>
        <p:spPr>
          <a:xfrm>
            <a:off x="32004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沒有身分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進不來</a:t>
            </a:r>
            <a:endParaRPr lang="en-US" sz="1200" dirty="0"/>
          </a:p>
        </p:txBody>
      </p:sp>
      <p:sp>
        <p:nvSpPr>
          <p:cNvPr id="7" name="f5d49536-3756-42b4-9b32-66d9ecca0f39"/>
          <p:cNvSpPr/>
          <p:nvPr/>
        </p:nvSpPr>
        <p:spPr>
          <a:xfrm>
            <a:off x="2194560" y="1874520"/>
            <a:ext cx="914400" cy="914400"/>
          </a:xfrm>
          <a:prstGeom prst="ellipse">
            <a:avLst>
              <a:gd name="adj" fmla="val 12000"/>
            </a:avLst>
          </a:prstGeom>
          <a:solidFill>
            <a:srgbClr val="E4EFF7"/>
          </a:solidFill>
          <a:ln/>
        </p:spPr>
      </p:sp>
      <p:pic>
        <p:nvPicPr>
          <p:cNvPr id="8" name="00f08b48-1a65-40fe-97df-f6fc4dc23b5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377440" y="2057400"/>
            <a:ext cx="548640" cy="548640"/>
          </a:xfrm>
          <a:prstGeom prst="rect">
            <a:avLst/>
          </a:prstGeom>
        </p:spPr>
      </p:pic>
      <p:sp>
        <p:nvSpPr>
          <p:cNvPr id="9" name="71d4fad7-ba35-46da-b202-3990ad8e8093"/>
          <p:cNvSpPr/>
          <p:nvPr/>
        </p:nvSpPr>
        <p:spPr>
          <a:xfrm>
            <a:off x="2011680" y="1691640"/>
            <a:ext cx="365760" cy="365760"/>
          </a:xfrm>
          <a:prstGeom prst="ellipse">
            <a:avLst>
              <a:gd name="adj" fmla="val 30000"/>
            </a:avLst>
          </a:prstGeom>
          <a:solidFill>
            <a:srgbClr val="155C91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57f62b3f-f3a5-4bad-8623-dea3063a1f98"/>
          <p:cNvSpPr txBox="1"/>
          <p:nvPr/>
        </p:nvSpPr>
        <p:spPr>
          <a:xfrm>
            <a:off x="187452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登入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1" name="4fd79998-9733-42bf-8a02-95c8161a5f3d"/>
          <p:cNvSpPr/>
          <p:nvPr/>
        </p:nvSpPr>
        <p:spPr>
          <a:xfrm>
            <a:off x="3749040" y="1874520"/>
            <a:ext cx="914400" cy="914400"/>
          </a:xfrm>
          <a:prstGeom prst="ellipse">
            <a:avLst>
              <a:gd name="adj" fmla="val 12000"/>
            </a:avLst>
          </a:prstGeom>
          <a:solidFill>
            <a:srgbClr val="FFE2B8"/>
          </a:solidFill>
          <a:ln/>
        </p:spPr>
      </p:sp>
      <p:pic>
        <p:nvPicPr>
          <p:cNvPr id="12" name="41fe160b-2002-4562-9863-eb4d57ef5c0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931920" y="2057400"/>
            <a:ext cx="548640" cy="548640"/>
          </a:xfrm>
          <a:prstGeom prst="rect">
            <a:avLst/>
          </a:prstGeom>
        </p:spPr>
      </p:pic>
      <p:sp>
        <p:nvSpPr>
          <p:cNvPr id="13" name="14df8850-5131-49a0-bd1d-98ae701b578f"/>
          <p:cNvSpPr/>
          <p:nvPr/>
        </p:nvSpPr>
        <p:spPr>
          <a:xfrm>
            <a:off x="3566160" y="1691640"/>
            <a:ext cx="365760" cy="365760"/>
          </a:xfrm>
          <a:prstGeom prst="ellipse">
            <a:avLst>
              <a:gd name="adj" fmla="val 30000"/>
            </a:avLst>
          </a:prstGeom>
          <a:solidFill>
            <a:srgbClr val="E58A17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127964dc-364c-40f1-9c40-98962cde86d9"/>
          <p:cNvSpPr txBox="1"/>
          <p:nvPr/>
        </p:nvSpPr>
        <p:spPr>
          <a:xfrm>
            <a:off x="342900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群組 RBAC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★核心</a:t>
            </a:r>
            <a:endParaRPr lang="en-US" sz="1200" dirty="0"/>
          </a:p>
        </p:txBody>
      </p:sp>
      <p:sp>
        <p:nvSpPr>
          <p:cNvPr id="15" name="72c3ae8e-4444-4b08-84da-47614b2c1628"/>
          <p:cNvSpPr/>
          <p:nvPr/>
        </p:nvSpPr>
        <p:spPr>
          <a:xfrm>
            <a:off x="5303520" y="1874520"/>
            <a:ext cx="914400" cy="914400"/>
          </a:xfrm>
          <a:prstGeom prst="ellipse">
            <a:avLst>
              <a:gd name="adj" fmla="val 12000"/>
            </a:avLst>
          </a:prstGeom>
          <a:solidFill>
            <a:srgbClr val="E4EFF7"/>
          </a:solidFill>
          <a:ln/>
        </p:spPr>
      </p:sp>
      <p:pic>
        <p:nvPicPr>
          <p:cNvPr id="16" name="fcd47190-c9ef-44db-85ab-a2dc74acbe1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5486400" y="2057400"/>
            <a:ext cx="548640" cy="548640"/>
          </a:xfrm>
          <a:prstGeom prst="rect">
            <a:avLst/>
          </a:prstGeom>
        </p:spPr>
      </p:pic>
      <p:sp>
        <p:nvSpPr>
          <p:cNvPr id="17" name="add073a1-a264-433f-8637-27754519c66a"/>
          <p:cNvSpPr/>
          <p:nvPr/>
        </p:nvSpPr>
        <p:spPr>
          <a:xfrm>
            <a:off x="5120640" y="1691640"/>
            <a:ext cx="365760" cy="365760"/>
          </a:xfrm>
          <a:prstGeom prst="ellipse">
            <a:avLst>
              <a:gd name="adj" fmla="val 30000"/>
            </a:avLst>
          </a:prstGeom>
          <a:solidFill>
            <a:srgbClr val="155C91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3d879962-7212-478a-b0f4-e7a9a9adbeed"/>
          <p:cNvSpPr txBox="1"/>
          <p:nvPr/>
        </p:nvSpPr>
        <p:spPr>
          <a:xfrm>
            <a:off x="498348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生產環境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只能唯讀</a:t>
            </a:r>
            <a:endParaRPr lang="en-US" sz="1200" dirty="0"/>
          </a:p>
        </p:txBody>
      </p:sp>
      <p:sp>
        <p:nvSpPr>
          <p:cNvPr id="19" name="471273f3-f94b-4f79-b749-f922082671bf"/>
          <p:cNvSpPr/>
          <p:nvPr/>
        </p:nvSpPr>
        <p:spPr>
          <a:xfrm>
            <a:off x="6858000" y="1874520"/>
            <a:ext cx="914400" cy="914400"/>
          </a:xfrm>
          <a:prstGeom prst="ellipse">
            <a:avLst>
              <a:gd name="adj" fmla="val 12000"/>
            </a:avLst>
          </a:prstGeom>
          <a:solidFill>
            <a:srgbClr val="E4EFF7"/>
          </a:solidFill>
          <a:ln/>
        </p:spPr>
      </p:sp>
      <p:pic>
        <p:nvPicPr>
          <p:cNvPr id="20" name="a3ebc690-ad34-421b-afc3-54bab0d4554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7040880" y="2057400"/>
            <a:ext cx="548640" cy="548640"/>
          </a:xfrm>
          <a:prstGeom prst="rect">
            <a:avLst/>
          </a:prstGeom>
        </p:spPr>
      </p:pic>
      <p:sp>
        <p:nvSpPr>
          <p:cNvPr id="21" name="ce1ad183-87fd-4a25-99d3-0e5808bd51ef"/>
          <p:cNvSpPr/>
          <p:nvPr/>
        </p:nvSpPr>
        <p:spPr>
          <a:xfrm>
            <a:off x="6675120" y="1691640"/>
            <a:ext cx="365760" cy="365760"/>
          </a:xfrm>
          <a:prstGeom prst="ellipse">
            <a:avLst>
              <a:gd name="adj" fmla="val 30000"/>
            </a:avLst>
          </a:prstGeom>
          <a:solidFill>
            <a:srgbClr val="155C91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700a195d-76d1-4591-b8db-630fbf95b1d0"/>
          <p:cNvSpPr txBox="1"/>
          <p:nvPr/>
        </p:nvSpPr>
        <p:spPr>
          <a:xfrm>
            <a:off x="653796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464bd214-25f8-4ee0-b8e3-d23456a482a4"/>
          <p:cNvSpPr/>
          <p:nvPr/>
        </p:nvSpPr>
        <p:spPr>
          <a:xfrm>
            <a:off x="8412480" y="1874520"/>
            <a:ext cx="914400" cy="914400"/>
          </a:xfrm>
          <a:prstGeom prst="ellipse">
            <a:avLst>
              <a:gd name="adj" fmla="val 12000"/>
            </a:avLst>
          </a:prstGeom>
          <a:solidFill>
            <a:srgbClr val="E4EFF7"/>
          </a:solidFill>
          <a:ln/>
        </p:spPr>
      </p:sp>
      <p:pic>
        <p:nvPicPr>
          <p:cNvPr id="24" name="7a62fd06-77a2-46db-a373-e567e8c565e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595360" y="2057400"/>
            <a:ext cx="548640" cy="548640"/>
          </a:xfrm>
          <a:prstGeom prst="rect">
            <a:avLst/>
          </a:prstGeom>
        </p:spPr>
      </p:pic>
      <p:sp>
        <p:nvSpPr>
          <p:cNvPr id="25" name="bd05c24f-1fdd-48a0-a9d6-344401a4e831"/>
          <p:cNvSpPr/>
          <p:nvPr/>
        </p:nvSpPr>
        <p:spPr>
          <a:xfrm>
            <a:off x="8229600" y="1691640"/>
            <a:ext cx="365760" cy="365760"/>
          </a:xfrm>
          <a:prstGeom prst="ellipse">
            <a:avLst>
              <a:gd name="adj" fmla="val 30000"/>
            </a:avLst>
          </a:prstGeom>
          <a:solidFill>
            <a:srgbClr val="155C91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ac13b12d-dd51-4bd7-bfbe-3247972257fb"/>
          <p:cNvSpPr txBox="1"/>
          <p:nvPr/>
        </p:nvSpPr>
        <p:spPr>
          <a:xfrm>
            <a:off x="809244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維運腳本</a:t>
            </a:r>
            <a:endParaRPr lang="en-US" sz="1200" dirty="0"/>
          </a:p>
        </p:txBody>
      </p:sp>
      <p:sp>
        <p:nvSpPr>
          <p:cNvPr id="27" name="832e31e4-f961-492d-9a2c-503e0ae2ac29"/>
          <p:cNvSpPr/>
          <p:nvPr/>
        </p:nvSpPr>
        <p:spPr>
          <a:xfrm>
            <a:off x="9966960" y="1874520"/>
            <a:ext cx="914400" cy="914400"/>
          </a:xfrm>
          <a:prstGeom prst="ellipse">
            <a:avLst>
              <a:gd name="adj" fmla="val 12000"/>
            </a:avLst>
          </a:prstGeom>
          <a:solidFill>
            <a:srgbClr val="E4EFF7"/>
          </a:solidFill>
          <a:ln/>
        </p:spPr>
      </p:sp>
      <p:pic>
        <p:nvPicPr>
          <p:cNvPr id="28" name="73ed7e6b-dba5-497c-a70f-2210ef9f3d58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0149840" y="2057400"/>
            <a:ext cx="548640" cy="548640"/>
          </a:xfrm>
          <a:prstGeom prst="rect">
            <a:avLst/>
          </a:prstGeom>
        </p:spPr>
      </p:pic>
      <p:sp>
        <p:nvSpPr>
          <p:cNvPr id="29" name="5e2942d4-3986-49d7-b0f2-1afbdd994370"/>
          <p:cNvSpPr/>
          <p:nvPr/>
        </p:nvSpPr>
        <p:spPr>
          <a:xfrm>
            <a:off x="9784080" y="1691640"/>
            <a:ext cx="365760" cy="365760"/>
          </a:xfrm>
          <a:prstGeom prst="ellipse">
            <a:avLst>
              <a:gd name="adj" fmla="val 30000"/>
            </a:avLst>
          </a:prstGeom>
          <a:solidFill>
            <a:srgbClr val="155C91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13a1663b-4b85-4907-aa41-9681944bc132"/>
          <p:cNvSpPr txBox="1"/>
          <p:nvPr/>
        </p:nvSpPr>
        <p:spPr>
          <a:xfrm>
            <a:off x="964692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200" dirty="0"/>
          </a:p>
        </p:txBody>
      </p:sp>
      <p:sp>
        <p:nvSpPr>
          <p:cNvPr id="31" name="46b555b2-d0bf-4415-9515-533d02a47d14"/>
          <p:cNvSpPr/>
          <p:nvPr/>
        </p:nvSpPr>
        <p:spPr>
          <a:xfrm>
            <a:off x="1874520" y="4572000"/>
            <a:ext cx="7772400" cy="0"/>
          </a:xfrm>
          <a:prstGeom prst="line">
            <a:avLst>
              <a:gd name="adj" fmla="val Infinity"/>
            </a:avLst>
          </a:prstGeom>
          <a:ln w="12700">
            <a:solidFill>
              <a:srgbClr val="155C91"/>
            </a:solidFill>
            <a:prstDash val="solid"/>
          </a:ln>
        </p:spPr>
      </p:sp>
      <p:sp>
        <p:nvSpPr>
          <p:cNvPr id="32" name="8ace0a85-a886-47ce-b455-398005ef14b9"/>
          <p:cNvSpPr/>
          <p:nvPr/>
        </p:nvSpPr>
        <p:spPr>
          <a:xfrm>
            <a:off x="1417320" y="4114800"/>
            <a:ext cx="914400" cy="914400"/>
          </a:xfrm>
          <a:prstGeom prst="ellipse">
            <a:avLst>
              <a:gd name="adj" fmla="val 12000"/>
            </a:avLst>
          </a:prstGeom>
          <a:solidFill>
            <a:srgbClr val="FDF0DC"/>
          </a:solidFill>
          <a:ln/>
        </p:spPr>
      </p:sp>
      <p:pic>
        <p:nvPicPr>
          <p:cNvPr id="33" name="dcd38fad-b1ff-4071-b9e2-d9058e791243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600200" y="4297680"/>
            <a:ext cx="548640" cy="548640"/>
          </a:xfrm>
          <a:prstGeom prst="rect">
            <a:avLst/>
          </a:prstGeom>
        </p:spPr>
      </p:pic>
      <p:sp>
        <p:nvSpPr>
          <p:cNvPr id="34" name="ab26f8d3-3b47-4a82-9b4b-33e29ae5349d"/>
          <p:cNvSpPr/>
          <p:nvPr/>
        </p:nvSpPr>
        <p:spPr>
          <a:xfrm>
            <a:off x="1234440" y="3931920"/>
            <a:ext cx="365760" cy="365760"/>
          </a:xfrm>
          <a:prstGeom prst="ellipse">
            <a:avLst>
              <a:gd name="adj" fmla="val 30000"/>
            </a:avLst>
          </a:prstGeom>
          <a:solidFill>
            <a:srgbClr val="E58A17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52380fc7-b7b6-4560-b9e4-28b46e5e31c6"/>
          <p:cNvSpPr txBox="1"/>
          <p:nvPr/>
        </p:nvSpPr>
        <p:spPr>
          <a:xfrm>
            <a:off x="1097280" y="5120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(選修)</a:t>
            </a:r>
            <a:endParaRPr lang="en-US" sz="1200" dirty="0"/>
          </a:p>
        </p:txBody>
      </p:sp>
      <p:sp>
        <p:nvSpPr>
          <p:cNvPr id="36" name="c10ae73c-0322-4043-b6ad-8f3ecc58de90"/>
          <p:cNvSpPr/>
          <p:nvPr/>
        </p:nvSpPr>
        <p:spPr>
          <a:xfrm>
            <a:off x="2971800" y="4114800"/>
            <a:ext cx="914400" cy="914400"/>
          </a:xfrm>
          <a:prstGeom prst="ellipse">
            <a:avLst>
              <a:gd name="adj" fmla="val 12000"/>
            </a:avLst>
          </a:prstGeom>
          <a:solidFill>
            <a:srgbClr val="FDF0DC"/>
          </a:solidFill>
          <a:ln/>
        </p:spPr>
      </p:sp>
      <p:pic>
        <p:nvPicPr>
          <p:cNvPr id="37" name="bb1757a2-d6d5-458b-863b-da73f4d17280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3154680" y="4297680"/>
            <a:ext cx="548640" cy="548640"/>
          </a:xfrm>
          <a:prstGeom prst="rect">
            <a:avLst/>
          </a:prstGeom>
        </p:spPr>
      </p:pic>
      <p:sp>
        <p:nvSpPr>
          <p:cNvPr id="38" name="d4ee3512-5b52-4c62-b0ca-187a929bf33a"/>
          <p:cNvSpPr/>
          <p:nvPr/>
        </p:nvSpPr>
        <p:spPr>
          <a:xfrm>
            <a:off x="2788920" y="3931920"/>
            <a:ext cx="365760" cy="365760"/>
          </a:xfrm>
          <a:prstGeom prst="ellipse">
            <a:avLst>
              <a:gd name="adj" fmla="val 30000"/>
            </a:avLst>
          </a:prstGeom>
          <a:solidFill>
            <a:srgbClr val="E58A17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9097d2af-2565-41bc-b611-686cdc196bac"/>
          <p:cNvSpPr txBox="1"/>
          <p:nvPr/>
        </p:nvSpPr>
        <p:spPr>
          <a:xfrm>
            <a:off x="2651760" y="5120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 / AD 故障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(選修)</a:t>
            </a:r>
            <a:endParaRPr lang="en-US" sz="1200" dirty="0"/>
          </a:p>
        </p:txBody>
      </p:sp>
      <p:sp>
        <p:nvSpPr>
          <p:cNvPr id="40" name="00597d07-8f84-432d-a5b6-934993d6e985"/>
          <p:cNvSpPr/>
          <p:nvPr/>
        </p:nvSpPr>
        <p:spPr>
          <a:xfrm>
            <a:off x="4526280" y="4114800"/>
            <a:ext cx="914400" cy="914400"/>
          </a:xfrm>
          <a:prstGeom prst="ellipse">
            <a:avLst>
              <a:gd name="adj" fmla="val 12000"/>
            </a:avLst>
          </a:prstGeom>
          <a:solidFill>
            <a:srgbClr val="E4EFF7"/>
          </a:solidFill>
          <a:ln/>
        </p:spPr>
      </p:sp>
      <p:pic>
        <p:nvPicPr>
          <p:cNvPr id="41" name="b17558da-69c7-403d-9b54-4accaa445715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4709160" y="4297680"/>
            <a:ext cx="548640" cy="548640"/>
          </a:xfrm>
          <a:prstGeom prst="rect">
            <a:avLst/>
          </a:prstGeom>
        </p:spPr>
      </p:pic>
      <p:sp>
        <p:nvSpPr>
          <p:cNvPr id="42" name="b43c3b1a-89b4-464d-9305-11571dc131b5"/>
          <p:cNvSpPr/>
          <p:nvPr/>
        </p:nvSpPr>
        <p:spPr>
          <a:xfrm>
            <a:off x="4343400" y="3931920"/>
            <a:ext cx="365760" cy="365760"/>
          </a:xfrm>
          <a:prstGeom prst="ellipse">
            <a:avLst>
              <a:gd name="adj" fmla="val 30000"/>
            </a:avLst>
          </a:prstGeom>
          <a:solidFill>
            <a:srgbClr val="155C91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8aa7a6d8-57ca-48c3-abbf-d14ee270e97c"/>
          <p:cNvSpPr txBox="1"/>
          <p:nvPr/>
        </p:nvSpPr>
        <p:spPr>
          <a:xfrm>
            <a:off x="4206240" y="5120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稽核</a:t>
            </a:r>
            <a:endParaRPr lang="en-US" sz="1200" dirty="0"/>
          </a:p>
        </p:txBody>
      </p:sp>
      <p:sp>
        <p:nvSpPr>
          <p:cNvPr id="44" name="5ed72155-e5a3-4b4f-8922-593595f97102"/>
          <p:cNvSpPr/>
          <p:nvPr/>
        </p:nvSpPr>
        <p:spPr>
          <a:xfrm>
            <a:off x="6080760" y="4114800"/>
            <a:ext cx="914400" cy="914400"/>
          </a:xfrm>
          <a:prstGeom prst="ellipse">
            <a:avLst>
              <a:gd name="adj" fmla="val 12000"/>
            </a:avLst>
          </a:prstGeom>
          <a:solidFill>
            <a:srgbClr val="E3F3E6"/>
          </a:solidFill>
          <a:ln/>
        </p:spPr>
      </p:sp>
      <p:pic>
        <p:nvPicPr>
          <p:cNvPr id="45" name="8dcc0811-b9d5-4428-8b3b-ca27ef6dcda9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6263640" y="4297680"/>
            <a:ext cx="548640" cy="548640"/>
          </a:xfrm>
          <a:prstGeom prst="rect">
            <a:avLst/>
          </a:prstGeom>
        </p:spPr>
      </p:pic>
      <p:sp>
        <p:nvSpPr>
          <p:cNvPr id="46" name="35146165-4bda-479f-bd9d-e4e4c586764b"/>
          <p:cNvSpPr/>
          <p:nvPr/>
        </p:nvSpPr>
        <p:spPr>
          <a:xfrm>
            <a:off x="5897880" y="3931920"/>
            <a:ext cx="365760" cy="365760"/>
          </a:xfrm>
          <a:prstGeom prst="ellipse">
            <a:avLst>
              <a:gd name="adj" fmla="val 30000"/>
            </a:avLst>
          </a:prstGeom>
          <a:solidFill>
            <a:srgbClr val="2F9E3F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6ae55f78-a7a8-47f8-b097-ab591b5c870b"/>
          <p:cNvSpPr txBox="1"/>
          <p:nvPr/>
        </p:nvSpPr>
        <p:spPr>
          <a:xfrm>
            <a:off x="5760720" y="5120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維運分權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(進階)</a:t>
            </a:r>
            <a:endParaRPr lang="en-US" sz="1200" dirty="0"/>
          </a:p>
        </p:txBody>
      </p:sp>
      <p:sp>
        <p:nvSpPr>
          <p:cNvPr id="48" name="88bd1999-5392-4942-8a21-0dc2eca14e26"/>
          <p:cNvSpPr/>
          <p:nvPr/>
        </p:nvSpPr>
        <p:spPr>
          <a:xfrm>
            <a:off x="7635240" y="4114800"/>
            <a:ext cx="914400" cy="914400"/>
          </a:xfrm>
          <a:prstGeom prst="ellipse">
            <a:avLst>
              <a:gd name="adj" fmla="val 12000"/>
            </a:avLst>
          </a:prstGeom>
          <a:solidFill>
            <a:srgbClr val="E3F3E6"/>
          </a:solidFill>
          <a:ln/>
        </p:spPr>
      </p:sp>
      <p:pic>
        <p:nvPicPr>
          <p:cNvPr id="49" name="30e60641-f14b-47f9-9864-bbb0fee8a8d5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7818120" y="4297680"/>
            <a:ext cx="548640" cy="548640"/>
          </a:xfrm>
          <a:prstGeom prst="rect">
            <a:avLst/>
          </a:prstGeom>
        </p:spPr>
      </p:pic>
      <p:sp>
        <p:nvSpPr>
          <p:cNvPr id="50" name="912a42dc-c139-4029-a07a-51b6a7747377"/>
          <p:cNvSpPr/>
          <p:nvPr/>
        </p:nvSpPr>
        <p:spPr>
          <a:xfrm>
            <a:off x="7452360" y="3931920"/>
            <a:ext cx="365760" cy="365760"/>
          </a:xfrm>
          <a:prstGeom prst="ellipse">
            <a:avLst>
              <a:gd name="adj" fmla="val 30000"/>
            </a:avLst>
          </a:prstGeom>
          <a:solidFill>
            <a:srgbClr val="2F9E3F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</a:t>
            </a:r>
            <a:endParaRPr lang="en-US" sz="1200" dirty="0"/>
          </a:p>
        </p:txBody>
      </p:sp>
      <p:sp>
        <p:nvSpPr>
          <p:cNvPr id="51" name="ddce9745-87aa-43f0-97c0-fc19446cd132"/>
          <p:cNvSpPr txBox="1"/>
          <p:nvPr/>
        </p:nvSpPr>
        <p:spPr>
          <a:xfrm>
            <a:off x="7315200" y="5120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(進階)</a:t>
            </a:r>
            <a:endParaRPr lang="en-US" sz="1200" dirty="0"/>
          </a:p>
        </p:txBody>
      </p:sp>
      <p:sp>
        <p:nvSpPr>
          <p:cNvPr id="52" name="e488525e-5723-4f8d-8c5d-43bf667d5fb9"/>
          <p:cNvSpPr/>
          <p:nvPr/>
        </p:nvSpPr>
        <p:spPr>
          <a:xfrm>
            <a:off x="9189720" y="4114800"/>
            <a:ext cx="914400" cy="914400"/>
          </a:xfrm>
          <a:prstGeom prst="ellipse">
            <a:avLst>
              <a:gd name="adj" fmla="val 12000"/>
            </a:avLst>
          </a:prstGeom>
          <a:solidFill>
            <a:srgbClr val="E3F3E6"/>
          </a:solidFill>
          <a:ln/>
        </p:spPr>
      </p:sp>
      <p:pic>
        <p:nvPicPr>
          <p:cNvPr id="53" name="a8728acc-faa2-43d9-8b79-4c5de116b9cb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9372600" y="4297680"/>
            <a:ext cx="548640" cy="548640"/>
          </a:xfrm>
          <a:prstGeom prst="rect">
            <a:avLst/>
          </a:prstGeom>
        </p:spPr>
      </p:pic>
      <p:sp>
        <p:nvSpPr>
          <p:cNvPr id="54" name="1f830aa7-63e2-44c4-bce4-2c6939a197a9"/>
          <p:cNvSpPr/>
          <p:nvPr/>
        </p:nvSpPr>
        <p:spPr>
          <a:xfrm>
            <a:off x="9006840" y="3931920"/>
            <a:ext cx="365760" cy="365760"/>
          </a:xfrm>
          <a:prstGeom prst="ellipse">
            <a:avLst>
              <a:gd name="adj" fmla="val 30000"/>
            </a:avLst>
          </a:prstGeom>
          <a:solidFill>
            <a:srgbClr val="2F9E3F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</a:t>
            </a:r>
            <a:endParaRPr lang="en-US" sz="1200" dirty="0"/>
          </a:p>
        </p:txBody>
      </p:sp>
      <p:sp>
        <p:nvSpPr>
          <p:cNvPr id="55" name="c5ff5121-37dd-4e67-a1a5-1dea35e80ae3"/>
          <p:cNvSpPr txBox="1"/>
          <p:nvPr/>
        </p:nvSpPr>
        <p:spPr>
          <a:xfrm>
            <a:off x="8869680" y="5120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身分盤點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(進階)</a:t>
            </a:r>
            <a:endParaRPr lang="en-US" sz="1200" dirty="0"/>
          </a:p>
        </p:txBody>
      </p:sp>
      <p:sp>
        <p:nvSpPr>
          <p:cNvPr id="56" name="e4a22111-154d-4b45-9d37-5f07f8e22075"/>
          <p:cNvSpPr/>
          <p:nvPr/>
        </p:nvSpPr>
        <p:spPr>
          <a:xfrm>
            <a:off x="548640" y="5989320"/>
            <a:ext cx="914400" cy="292608"/>
          </a:xfrm>
          <a:prstGeom prst="roundRect">
            <a:avLst>
              <a:gd name="adj" fmla="val 59375"/>
            </a:avLst>
          </a:prstGeom>
          <a:solidFill>
            <a:srgbClr val="E4EFF7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核心</a:t>
            </a:r>
            <a:endParaRPr lang="en-US" sz="1100" dirty="0"/>
          </a:p>
        </p:txBody>
      </p:sp>
      <p:sp>
        <p:nvSpPr>
          <p:cNvPr id="57" name="3b4a2cd5-a7ac-42f5-8a4a-7fd484d930e1"/>
          <p:cNvSpPr/>
          <p:nvPr/>
        </p:nvSpPr>
        <p:spPr>
          <a:xfrm>
            <a:off x="1600200" y="5989320"/>
            <a:ext cx="914400" cy="292608"/>
          </a:xfrm>
          <a:prstGeom prst="roundRect">
            <a:avLst>
              <a:gd name="adj" fmla="val 59375"/>
            </a:avLst>
          </a:prstGeom>
          <a:solidFill>
            <a:srgbClr val="FDF0DC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8A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選修</a:t>
            </a:r>
            <a:endParaRPr lang="en-US" sz="1100" dirty="0"/>
          </a:p>
        </p:txBody>
      </p:sp>
      <p:sp>
        <p:nvSpPr>
          <p:cNvPr id="58" name="3ccb7756-5cb4-431a-9edb-e9813a9cde9f"/>
          <p:cNvSpPr/>
          <p:nvPr/>
        </p:nvSpPr>
        <p:spPr>
          <a:xfrm>
            <a:off x="2651760" y="5989320"/>
            <a:ext cx="914400" cy="292608"/>
          </a:xfrm>
          <a:prstGeom prst="roundRect">
            <a:avLst>
              <a:gd name="adj" fmla="val 59375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進階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Lab 3 授權跟著 AD 群組走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加入群組 → 幾秒後生效 → 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b071e4a-f1d2-452d-bee1-952c1ee91fbb"/>
          <p:cNvSpPr/>
          <p:nvPr/>
        </p:nvSpPr>
        <p:spPr>
          <a:xfrm>
            <a:off x="640080" y="169164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3" name="6315d838-697a-4d6f-8aac-22dc53880a8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22960" y="1984248"/>
            <a:ext cx="512064" cy="512064"/>
          </a:xfrm>
          <a:prstGeom prst="rect">
            <a:avLst/>
          </a:prstGeom>
        </p:spPr>
      </p:pic>
      <p:sp>
        <p:nvSpPr>
          <p:cNvPr id="4" name="f022d776-5d5c-4e54-b5d8-6718aa4856ea"/>
          <p:cNvSpPr txBox="1"/>
          <p:nvPr/>
        </p:nvSpPr>
        <p:spPr>
          <a:xfrm>
            <a:off x="146304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AD:ming 加入群組</a:t>
            </a:r>
            <a:endParaRPr lang="en-US" sz="1600" dirty="0"/>
          </a:p>
        </p:txBody>
      </p:sp>
      <p:sp>
        <p:nvSpPr>
          <p:cNvPr id="5" name="a1bb5d52-373d-4511-81cd-8974635b5b86"/>
          <p:cNvSpPr txBox="1"/>
          <p:nvPr/>
        </p:nvSpPr>
        <p:spPr>
          <a:xfrm>
            <a:off x="1463040" y="22951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200" dirty="0"/>
          </a:p>
        </p:txBody>
      </p:sp>
      <p:sp>
        <p:nvSpPr>
          <p:cNvPr id="6" name="8ff4154d-5ee7-4212-8708-a53ce7f335dd"/>
          <p:cNvSpPr/>
          <p:nvPr/>
        </p:nvSpPr>
        <p:spPr>
          <a:xfrm>
            <a:off x="4023360" y="2240280"/>
            <a:ext cx="548640" cy="0"/>
          </a:xfrm>
          <a:prstGeom prst="line">
            <a:avLst/>
          </a:prstGeom>
          <a:noFill/>
          <a:ln w="381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7" name="76310b9f-a38b-4109-8af0-ab3070f1becd"/>
          <p:cNvSpPr/>
          <p:nvPr/>
        </p:nvSpPr>
        <p:spPr>
          <a:xfrm>
            <a:off x="4572000" y="169164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8" name="fcbb21d8-171e-462f-a045-f8d6fdce5bc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754880" y="1984248"/>
            <a:ext cx="512064" cy="512064"/>
          </a:xfrm>
          <a:prstGeom prst="rect">
            <a:avLst/>
          </a:prstGeom>
        </p:spPr>
      </p:pic>
      <p:sp>
        <p:nvSpPr>
          <p:cNvPr id="9" name="c3ca2a57-6fca-4b3d-aca3-3918f46adf05"/>
          <p:cNvSpPr txBox="1"/>
          <p:nvPr/>
        </p:nvSpPr>
        <p:spPr>
          <a:xfrm>
            <a:off x="539496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重讀群組</a:t>
            </a:r>
            <a:endParaRPr lang="en-US" sz="1600" dirty="0"/>
          </a:p>
        </p:txBody>
      </p:sp>
      <p:sp>
        <p:nvSpPr>
          <p:cNvPr id="10" name="ad7d4c88-5855-42ed-8cb1-4eb0e721c284"/>
          <p:cNvSpPr txBox="1"/>
          <p:nvPr/>
        </p:nvSpPr>
        <p:spPr>
          <a:xfrm>
            <a:off x="5394960" y="229514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 5 秒(預設 60)</a:t>
            </a:r>
            <a:endParaRPr lang="en-US" sz="1200" dirty="0"/>
          </a:p>
        </p:txBody>
      </p:sp>
      <p:sp>
        <p:nvSpPr>
          <p:cNvPr id="11" name="26564be8-da91-4299-acc6-8c5b701b9cd6"/>
          <p:cNvSpPr/>
          <p:nvPr/>
        </p:nvSpPr>
        <p:spPr>
          <a:xfrm>
            <a:off x="7589520" y="2240280"/>
            <a:ext cx="548640" cy="0"/>
          </a:xfrm>
          <a:prstGeom prst="line">
            <a:avLst/>
          </a:prstGeom>
          <a:noFill/>
          <a:ln w="381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2" name="9afdf3a8-69cf-4cd1-9eec-5cf6fc8bbb58"/>
          <p:cNvSpPr/>
          <p:nvPr/>
        </p:nvSpPr>
        <p:spPr>
          <a:xfrm>
            <a:off x="8138160" y="169164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3" name="288a6589-d68c-4f53-b080-5450b87774f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21040" y="1984248"/>
            <a:ext cx="512064" cy="512064"/>
          </a:xfrm>
          <a:prstGeom prst="rect">
            <a:avLst/>
          </a:prstGeom>
        </p:spPr>
      </p:pic>
      <p:sp>
        <p:nvSpPr>
          <p:cNvPr id="14" name="e3ffc150-8e9b-43b6-a7cd-87c1e57221de"/>
          <p:cNvSpPr txBox="1"/>
          <p:nvPr/>
        </p:nvSpPr>
        <p:spPr>
          <a:xfrm>
            <a:off x="896112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 寫入成功</a:t>
            </a:r>
            <a:endParaRPr lang="en-US" sz="1600" dirty="0"/>
          </a:p>
        </p:txBody>
      </p:sp>
      <p:sp>
        <p:nvSpPr>
          <p:cNvPr id="15" name="7c9bed6d-a6a0-4752-a4cd-05ff3fc416a7"/>
          <p:cNvSpPr txBox="1"/>
          <p:nvPr/>
        </p:nvSpPr>
        <p:spPr>
          <a:xfrm>
            <a:off x="8961120" y="22951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設定一個字沒改</a:t>
            </a:r>
            <a:endParaRPr lang="en-US" sz="1200" dirty="0"/>
          </a:p>
        </p:txBody>
      </p:sp>
      <p:pic>
        <p:nvPicPr>
          <p:cNvPr id="16" name="3b6dbc3e-fa4a-42ae-a8b4-efcf3d2908fb" descr="C3:把 role 指派給「AD 群組」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905256" y="3017520"/>
            <a:ext cx="4681728" cy="2926080"/>
          </a:xfrm>
          <a:prstGeom prst="rect">
            <a:avLst/>
          </a:prstGeom>
        </p:spPr>
      </p:pic>
      <p:sp>
        <p:nvSpPr>
          <p:cNvPr id="17" name="f29e3781-264f-47ad-bb32-df72172d9d60"/>
          <p:cNvSpPr/>
          <p:nvPr/>
        </p:nvSpPr>
        <p:spPr>
          <a:xfrm>
            <a:off x="905256" y="3017520"/>
            <a:ext cx="4681728" cy="292608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18" name="851cf271-b8e5-4b2b-bed5-13523491b8fc"/>
          <p:cNvSpPr txBox="1"/>
          <p:nvPr/>
        </p:nvSpPr>
        <p:spPr>
          <a:xfrm>
            <a:off x="548640" y="598017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C3:把 role 指派給「AD 群組」</a:t>
            </a:r>
            <a:endParaRPr lang="en-US" sz="1100" dirty="0"/>
          </a:p>
        </p:txBody>
      </p:sp>
      <p:pic>
        <p:nvPicPr>
          <p:cNvPr id="19" name="160a8c2d-e31d-47bd-8a89-9400549ad458" descr="AD 管理介面:ming 已在群組內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8816" y="3017520"/>
            <a:ext cx="4681728" cy="2926080"/>
          </a:xfrm>
          <a:prstGeom prst="rect">
            <a:avLst/>
          </a:prstGeom>
        </p:spPr>
      </p:pic>
      <p:sp>
        <p:nvSpPr>
          <p:cNvPr id="20" name="2baf806e-ce1c-4677-bfdf-0c2915892cca"/>
          <p:cNvSpPr/>
          <p:nvPr/>
        </p:nvSpPr>
        <p:spPr>
          <a:xfrm>
            <a:off x="6528816" y="3017520"/>
            <a:ext cx="4681728" cy="292608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21" name="2f10b093-60a7-4afc-886c-19f8d744168c"/>
          <p:cNvSpPr txBox="1"/>
          <p:nvPr/>
        </p:nvSpPr>
        <p:spPr>
          <a:xfrm>
            <a:off x="6217920" y="59801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管理介面:ming 已在群組內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Lab 3 實測結果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同一個指令,群組異動前後不同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8eeda9a-7bc2-4396-b6f4-4dc7dc862a77"/>
          <p:cNvSpPr/>
          <p:nvPr/>
        </p:nvSpPr>
        <p:spPr>
          <a:xfrm>
            <a:off x="548640" y="1645920"/>
            <a:ext cx="914400" cy="411480"/>
          </a:xfrm>
          <a:prstGeom prst="roundRect">
            <a:avLst>
              <a:gd name="adj" fmla="val 48889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之前</a:t>
            </a:r>
            <a:endParaRPr lang="en-US" sz="1400" dirty="0"/>
          </a:p>
        </p:txBody>
      </p:sp>
      <p:sp>
        <p:nvSpPr>
          <p:cNvPr id="3" name="86f6de52-be4e-48fe-a6e5-e5c66901f37f"/>
          <p:cNvSpPr/>
          <p:nvPr/>
        </p:nvSpPr>
        <p:spPr>
          <a:xfrm>
            <a:off x="6217920" y="1645920"/>
            <a:ext cx="914400" cy="411480"/>
          </a:xfrm>
          <a:prstGeom prst="roundRect">
            <a:avLst>
              <a:gd name="adj" fmla="val 48889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</a:t>
            </a:r>
            <a:endParaRPr lang="en-US" sz="1400" dirty="0"/>
          </a:p>
        </p:txBody>
      </p:sp>
      <p:pic>
        <p:nvPicPr>
          <p:cNvPr id="4" name="1fe31a40-4cf9-4e14-8533-10ad3041af5b" descr="ming 不在群組:被拒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48640" y="2333244"/>
            <a:ext cx="5394960" cy="957072"/>
          </a:xfrm>
          <a:prstGeom prst="rect">
            <a:avLst/>
          </a:prstGeom>
        </p:spPr>
      </p:pic>
      <p:sp>
        <p:nvSpPr>
          <p:cNvPr id="5" name="4c7be35f-feae-44c6-a911-55c7a8d9e316"/>
          <p:cNvSpPr/>
          <p:nvPr/>
        </p:nvSpPr>
        <p:spPr>
          <a:xfrm>
            <a:off x="548640" y="2333244"/>
            <a:ext cx="5394960" cy="957072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6" name="27021970-c256-4513-bb35-08cca95897eb"/>
          <p:cNvSpPr txBox="1"/>
          <p:nvPr/>
        </p:nvSpPr>
        <p:spPr>
          <a:xfrm>
            <a:off x="548640" y="35112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 不在群組:被拒</a:t>
            </a:r>
            <a:endParaRPr lang="en-US" sz="1100" dirty="0"/>
          </a:p>
        </p:txBody>
      </p:sp>
      <p:pic>
        <p:nvPicPr>
          <p:cNvPr id="7" name="69d45abf-ad4c-4017-a1ff-e70163334827" descr="AD 加入群組約 4 秒後:成功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217920" y="2479186"/>
            <a:ext cx="5303520" cy="665187"/>
          </a:xfrm>
          <a:prstGeom prst="rect">
            <a:avLst/>
          </a:prstGeom>
        </p:spPr>
      </p:pic>
      <p:sp>
        <p:nvSpPr>
          <p:cNvPr id="8" name="a110d4e3-c99b-49fd-9117-f2fd1ea527e1"/>
          <p:cNvSpPr/>
          <p:nvPr/>
        </p:nvSpPr>
        <p:spPr>
          <a:xfrm>
            <a:off x="6217920" y="2479186"/>
            <a:ext cx="5303520" cy="665187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9" name="aca5be3c-f3e9-49f8-b332-3b19d9103583"/>
          <p:cNvSpPr txBox="1"/>
          <p:nvPr/>
        </p:nvSpPr>
        <p:spPr>
          <a:xfrm>
            <a:off x="6217920" y="35112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加入群組約 4 秒後:成功</a:t>
            </a:r>
            <a:endParaRPr lang="en-US" sz="1100" dirty="0"/>
          </a:p>
        </p:txBody>
      </p:sp>
      <p:pic>
        <p:nvPicPr>
          <p:cNvPr id="10" name="0e611193-a0a3-4229-9022-d25b1e93c4db" descr="ming 的 C3:看得到 orders.*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53896" y="3840480"/>
            <a:ext cx="3584448" cy="2240280"/>
          </a:xfrm>
          <a:prstGeom prst="rect">
            <a:avLst/>
          </a:prstGeom>
        </p:spPr>
      </p:pic>
      <p:sp>
        <p:nvSpPr>
          <p:cNvPr id="11" name="895d07d0-181c-4b2e-b843-ae0ba37cc6d6"/>
          <p:cNvSpPr/>
          <p:nvPr/>
        </p:nvSpPr>
        <p:spPr>
          <a:xfrm>
            <a:off x="1453896" y="3840480"/>
            <a:ext cx="3584448" cy="224028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12" name="8643bbe4-ae42-4abf-ab6b-3fc1c4bcec33"/>
          <p:cNvSpPr txBox="1"/>
          <p:nvPr/>
        </p:nvSpPr>
        <p:spPr>
          <a:xfrm>
            <a:off x="548640" y="61173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 的 C3:看得到 orders.*</a:t>
            </a:r>
            <a:endParaRPr lang="en-US" sz="1100" dirty="0"/>
          </a:p>
        </p:txBody>
      </p:sp>
      <p:pic>
        <p:nvPicPr>
          <p:cNvPr id="13" name="e7753afa-c91c-4406-9a91-98e346b94156" descr="MDS API(Postman 同一份資料)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217920" y="4149516"/>
            <a:ext cx="5303520" cy="844968"/>
          </a:xfrm>
          <a:prstGeom prst="rect">
            <a:avLst/>
          </a:prstGeom>
        </p:spPr>
      </p:pic>
      <p:sp>
        <p:nvSpPr>
          <p:cNvPr id="14" name="62a55725-df52-4c35-a90f-57675a449350"/>
          <p:cNvSpPr/>
          <p:nvPr/>
        </p:nvSpPr>
        <p:spPr>
          <a:xfrm>
            <a:off x="6217920" y="4149516"/>
            <a:ext cx="5303520" cy="844968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15" name="74bc41f5-9b8f-437d-90a5-3b50de04a6d7"/>
          <p:cNvSpPr txBox="1"/>
          <p:nvPr/>
        </p:nvSpPr>
        <p:spPr>
          <a:xfrm>
            <a:off x="6217920" y="53400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API(Postman 同一份資料)</a:t>
            </a:r>
            <a:endParaRPr lang="en-US" sz="1100" dirty="0"/>
          </a:p>
        </p:txBody>
      </p:sp>
      <p:sp>
        <p:nvSpPr>
          <p:cNvPr id="16" name="509e52de-bb6d-451f-be11-04dd36cacdd4"/>
          <p:cNvSpPr/>
          <p:nvPr/>
        </p:nvSpPr>
        <p:spPr>
          <a:xfrm>
            <a:off x="6217920" y="5532120"/>
            <a:ext cx="5303520" cy="411480"/>
          </a:xfrm>
          <a:prstGeom prst="roundRect">
            <a:avLst>
              <a:gd name="adj" fmla="val 42222"/>
            </a:avLst>
          </a:prstGeom>
          <a:solidFill>
            <a:srgbClr val="E4EFF7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畫面 = MDS API = 同一份授權資料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Lab 4 正式環境:人只能唯讀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kafka-readonly → DeveloperRead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b902356-6edb-45ca-9b92-0c508697cf54"/>
          <p:cNvSpPr/>
          <p:nvPr/>
        </p:nvSpPr>
        <p:spPr>
          <a:xfrm>
            <a:off x="548640" y="164592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可以讀</a:t>
            </a:r>
            <a:endParaRPr lang="en-US" sz="1800" dirty="0"/>
          </a:p>
        </p:txBody>
      </p:sp>
      <p:sp>
        <p:nvSpPr>
          <p:cNvPr id="3" name="51dee287-efb7-44b2-9cf4-793f26917172"/>
          <p:cNvSpPr/>
          <p:nvPr/>
        </p:nvSpPr>
        <p:spPr>
          <a:xfrm>
            <a:off x="4297680" y="164592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✗ 不能寫</a:t>
            </a:r>
            <a:endParaRPr lang="en-US" sz="1800" dirty="0"/>
          </a:p>
        </p:txBody>
      </p:sp>
      <p:sp>
        <p:nvSpPr>
          <p:cNvPr id="4" name="d685c37b-f8b6-43d8-a9de-d37cf9fc6a31"/>
          <p:cNvSpPr/>
          <p:nvPr/>
        </p:nvSpPr>
        <p:spPr>
          <a:xfrm>
            <a:off x="8046720" y="164592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✗ 不能建 topic</a:t>
            </a:r>
            <a:endParaRPr lang="en-US" sz="1800" dirty="0"/>
          </a:p>
        </p:txBody>
      </p:sp>
      <p:pic>
        <p:nvPicPr>
          <p:cNvPr id="5" name="a2eccb4e-c5b5-4f14-a7b2-31d9f7eeb993" descr="ming(唯讀)的 C3:可檢視、沒有管理按鈕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48640" y="2628900"/>
            <a:ext cx="5120640" cy="3200400"/>
          </a:xfrm>
          <a:prstGeom prst="rect">
            <a:avLst/>
          </a:prstGeom>
        </p:spPr>
      </p:pic>
      <p:sp>
        <p:nvSpPr>
          <p:cNvPr id="6" name="24296492-8f31-4153-9a80-199806cf71dd"/>
          <p:cNvSpPr/>
          <p:nvPr/>
        </p:nvSpPr>
        <p:spPr>
          <a:xfrm>
            <a:off x="548640" y="2628900"/>
            <a:ext cx="5120640" cy="320040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7" name="c1064d92-a296-4e35-9c62-4bc6eedb1b68"/>
          <p:cNvSpPr txBox="1"/>
          <p:nvPr/>
        </p:nvSpPr>
        <p:spPr>
          <a:xfrm>
            <a:off x="548640" y="59801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ming(唯讀)的 C3:可檢視、沒有管理按鈕</a:t>
            </a:r>
            <a:endParaRPr lang="en-US" sz="1100" dirty="0"/>
          </a:p>
        </p:txBody>
      </p:sp>
      <p:pic>
        <p:nvPicPr>
          <p:cNvPr id="8" name="a25b8b5a-6766-4237-be46-7ec07f1cb4ed" descr="讀取:成功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380067" y="2514600"/>
            <a:ext cx="4704907" cy="914400"/>
          </a:xfrm>
          <a:prstGeom prst="rect">
            <a:avLst/>
          </a:prstGeom>
        </p:spPr>
      </p:pic>
      <p:sp>
        <p:nvSpPr>
          <p:cNvPr id="9" name="c2b95c05-b058-4e89-8460-e0bcba1027b4"/>
          <p:cNvSpPr/>
          <p:nvPr/>
        </p:nvSpPr>
        <p:spPr>
          <a:xfrm>
            <a:off x="6380067" y="2514600"/>
            <a:ext cx="4704907" cy="91440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10" name="27e9f8d7-94d5-456c-a65e-c7ff9c60a6f6"/>
          <p:cNvSpPr txBox="1"/>
          <p:nvPr/>
        </p:nvSpPr>
        <p:spPr>
          <a:xfrm>
            <a:off x="5943600" y="346557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讀取:成功</a:t>
            </a:r>
            <a:endParaRPr lang="en-US" sz="1100" dirty="0"/>
          </a:p>
        </p:txBody>
      </p:sp>
      <p:pic>
        <p:nvPicPr>
          <p:cNvPr id="11" name="364537df-1060-48e1-a554-b2472cf65fb8" descr="寫入:被拒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3600" y="3807624"/>
            <a:ext cx="5577840" cy="888673"/>
          </a:xfrm>
          <a:prstGeom prst="rect">
            <a:avLst/>
          </a:prstGeom>
        </p:spPr>
      </p:pic>
      <p:sp>
        <p:nvSpPr>
          <p:cNvPr id="12" name="bab3c185-0b2d-4f0b-9253-10b1f4346974"/>
          <p:cNvSpPr/>
          <p:nvPr/>
        </p:nvSpPr>
        <p:spPr>
          <a:xfrm>
            <a:off x="5943600" y="3807624"/>
            <a:ext cx="5577840" cy="888673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13" name="ec096f08-a936-471a-94fe-69efa560665b"/>
          <p:cNvSpPr txBox="1"/>
          <p:nvPr/>
        </p:nvSpPr>
        <p:spPr>
          <a:xfrm>
            <a:off x="5943600" y="474573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寫入:被拒</a:t>
            </a:r>
            <a:endParaRPr lang="en-US" sz="1100" dirty="0"/>
          </a:p>
        </p:txBody>
      </p:sp>
      <p:pic>
        <p:nvPicPr>
          <p:cNvPr id="14" name="e5b6723b-b741-417b-93f9-3917e7ee1e4a" descr="建立 topic:被拒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5943600" y="5135053"/>
            <a:ext cx="5577840" cy="794133"/>
          </a:xfrm>
          <a:prstGeom prst="rect">
            <a:avLst/>
          </a:prstGeom>
        </p:spPr>
      </p:pic>
      <p:sp>
        <p:nvSpPr>
          <p:cNvPr id="15" name="26ee817d-61af-4373-8f3e-e8e0d45d2813"/>
          <p:cNvSpPr/>
          <p:nvPr/>
        </p:nvSpPr>
        <p:spPr>
          <a:xfrm>
            <a:off x="5943600" y="5135053"/>
            <a:ext cx="5577840" cy="794133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16" name="2388b04e-f3e1-4a86-aa0b-2304976c0dd6"/>
          <p:cNvSpPr txBox="1"/>
          <p:nvPr/>
        </p:nvSpPr>
        <p:spPr>
          <a:xfrm>
            <a:off x="5943600" y="602589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 topic:被拒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Lab 5 Postman / REST Proxy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同一份 AD 身分:10 個 request、14 個 assertion 全過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pic>
        <p:nvPicPr>
          <p:cNvPr id="2" name="f2a57f3e-236f-4dda-afcb-b9b1e5fe5f6a" descr="Collection Runner:Tests 全綠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48640" y="2209826"/>
            <a:ext cx="6309360" cy="2712668"/>
          </a:xfrm>
          <a:prstGeom prst="rect">
            <a:avLst/>
          </a:prstGeom>
        </p:spPr>
      </p:pic>
      <p:sp>
        <p:nvSpPr>
          <p:cNvPr id="3" name="7bf73f31-f33c-46c3-9990-a5dfbc4b215a"/>
          <p:cNvSpPr/>
          <p:nvPr/>
        </p:nvSpPr>
        <p:spPr>
          <a:xfrm>
            <a:off x="548640" y="2209826"/>
            <a:ext cx="6309360" cy="2712668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4" name="293fe274-9729-4ffc-b61d-b53126220450"/>
          <p:cNvSpPr txBox="1"/>
          <p:nvPr/>
        </p:nvSpPr>
        <p:spPr>
          <a:xfrm>
            <a:off x="548640" y="552297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Collection Runner:Tests 全綠</a:t>
            </a:r>
            <a:endParaRPr lang="en-US" sz="1100" dirty="0"/>
          </a:p>
        </p:txBody>
      </p:sp>
      <p:pic>
        <p:nvPicPr>
          <p:cNvPr id="5" name="1efa8586-4998-4b77-a0c0-a40dd9e48f5a" descr="yujie 寫 payments → 403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14647" y="1645920"/>
            <a:ext cx="4024466" cy="1691640"/>
          </a:xfrm>
          <a:prstGeom prst="rect">
            <a:avLst/>
          </a:prstGeom>
        </p:spPr>
      </p:pic>
      <p:sp>
        <p:nvSpPr>
          <p:cNvPr id="6" name="99755535-d5f7-4481-8d9a-ef9bd8b07190"/>
          <p:cNvSpPr/>
          <p:nvPr/>
        </p:nvSpPr>
        <p:spPr>
          <a:xfrm>
            <a:off x="7314647" y="1645920"/>
            <a:ext cx="4024466" cy="169164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7" name="f72a5f3c-1565-4d09-829e-1576e6564dc7"/>
          <p:cNvSpPr txBox="1"/>
          <p:nvPr/>
        </p:nvSpPr>
        <p:spPr>
          <a:xfrm>
            <a:off x="7132320" y="33741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 寫 payments → 403</a:t>
            </a:r>
            <a:endParaRPr lang="en-US" sz="1100" dirty="0"/>
          </a:p>
        </p:txBody>
      </p:sp>
      <p:pic>
        <p:nvPicPr>
          <p:cNvPr id="8" name="5f33f26e-0c8c-41e1-9193-c3167d251cdb" descr="yujie 改授權 → 403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132320" y="3799022"/>
            <a:ext cx="4389120" cy="1500236"/>
          </a:xfrm>
          <a:prstGeom prst="rect">
            <a:avLst/>
          </a:prstGeom>
        </p:spPr>
      </p:pic>
      <p:sp>
        <p:nvSpPr>
          <p:cNvPr id="9" name="7b52ce1a-e10d-490d-a887-3fa0c7aef1d0"/>
          <p:cNvSpPr/>
          <p:nvPr/>
        </p:nvSpPr>
        <p:spPr>
          <a:xfrm>
            <a:off x="7132320" y="3799022"/>
            <a:ext cx="4389120" cy="1500236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10" name="36a345f4-4634-4c3b-8204-d1bdf8c77fb5"/>
          <p:cNvSpPr txBox="1"/>
          <p:nvPr/>
        </p:nvSpPr>
        <p:spPr>
          <a:xfrm>
            <a:off x="7132320" y="54315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 改授權 → 403</a:t>
            </a:r>
            <a:endParaRPr lang="en-US" sz="1100" dirty="0"/>
          </a:p>
        </p:txBody>
      </p:sp>
      <p:sp>
        <p:nvSpPr>
          <p:cNvPr id="11" name="4cc42c49-a46d-416e-a9b1-550365381d61"/>
          <p:cNvSpPr/>
          <p:nvPr/>
        </p:nvSpPr>
        <p:spPr>
          <a:xfrm>
            <a:off x="548640" y="5943600"/>
            <a:ext cx="10972800" cy="384048"/>
          </a:xfrm>
          <a:prstGeom prst="roundRect">
            <a:avLst>
              <a:gd name="adj" fmla="val 28571"/>
            </a:avLst>
          </a:prstGeom>
          <a:solidFill>
            <a:srgbClr val="FDF0DC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換身分前清 cookie:MDS 的 auth_token 優先於 Basic Auth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Lab 6 維運腳本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腳本共用 · 憑證各人各自 → 稽核看得到「是誰」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6e011c7-b670-4274-aae8-8028e27a0540"/>
          <p:cNvSpPr/>
          <p:nvPr/>
        </p:nvSpPr>
        <p:spPr>
          <a:xfrm>
            <a:off x="548640" y="164592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E3F3E6"/>
          </a:solidFill>
          <a:ln/>
        </p:spPr>
      </p:sp>
      <p:sp>
        <p:nvSpPr>
          <p:cNvPr id="3" name="0014ca68-ec22-4f81-a77a-b6ab2439430c"/>
          <p:cNvSpPr txBox="1"/>
          <p:nvPr/>
        </p:nvSpPr>
        <p:spPr>
          <a:xfrm>
            <a:off x="73152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9E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各人憑證 ✓</a:t>
            </a:r>
            <a:endParaRPr lang="en-US" sz="2000" dirty="0"/>
          </a:p>
        </p:txBody>
      </p:sp>
      <p:sp>
        <p:nvSpPr>
          <p:cNvPr id="4" name="b305ae0e-2ec0-487f-bb2c-313aaeac3a4f"/>
          <p:cNvSpPr/>
          <p:nvPr/>
        </p:nvSpPr>
        <p:spPr>
          <a:xfrm>
            <a:off x="960120" y="2103120"/>
            <a:ext cx="822960" cy="822960"/>
          </a:xfrm>
          <a:prstGeom prst="ellipse">
            <a:avLst>
              <a:gd name="adj" fmla="val 13333"/>
            </a:avLst>
          </a:prstGeom>
          <a:solidFill>
            <a:srgbClr val="CBE9D1"/>
          </a:solidFill>
          <a:ln/>
        </p:spPr>
      </p:sp>
      <p:pic>
        <p:nvPicPr>
          <p:cNvPr id="5" name="20d27274-dc36-4f82-8489-96ae419cf51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24712" y="2267712"/>
            <a:ext cx="493776" cy="493776"/>
          </a:xfrm>
          <a:prstGeom prst="rect">
            <a:avLst/>
          </a:prstGeom>
        </p:spPr>
      </p:pic>
      <p:sp>
        <p:nvSpPr>
          <p:cNvPr id="6" name="e5b7bf1b-ff4f-4237-b5e5-daf4b5903731"/>
          <p:cNvSpPr txBox="1"/>
          <p:nvPr/>
        </p:nvSpPr>
        <p:spPr>
          <a:xfrm>
            <a:off x="45720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</a:t>
            </a:r>
            <a:endParaRPr lang="en-US" sz="1500" dirty="0"/>
          </a:p>
        </p:txBody>
      </p:sp>
      <p:pic>
        <p:nvPicPr>
          <p:cNvPr id="7" name="2f4fa7d4-f3de-4596-8412-08443e2ebfa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1143000" y="3520440"/>
            <a:ext cx="457200" cy="457200"/>
          </a:xfrm>
          <a:prstGeom prst="rect">
            <a:avLst/>
          </a:prstGeom>
        </p:spPr>
      </p:pic>
      <p:sp>
        <p:nvSpPr>
          <p:cNvPr id="8" name="6e392aa6-3518-4e30-929c-ca0442fa035a"/>
          <p:cNvSpPr/>
          <p:nvPr/>
        </p:nvSpPr>
        <p:spPr>
          <a:xfrm>
            <a:off x="2331720" y="2103120"/>
            <a:ext cx="822960" cy="822960"/>
          </a:xfrm>
          <a:prstGeom prst="ellipse">
            <a:avLst>
              <a:gd name="adj" fmla="val 13333"/>
            </a:avLst>
          </a:prstGeom>
          <a:solidFill>
            <a:srgbClr val="CBE9D1"/>
          </a:solidFill>
          <a:ln/>
        </p:spPr>
      </p:sp>
      <p:pic>
        <p:nvPicPr>
          <p:cNvPr id="9" name="32ee1369-243d-43ed-a922-6150abb8975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2496312" y="2267712"/>
            <a:ext cx="493776" cy="493776"/>
          </a:xfrm>
          <a:prstGeom prst="rect">
            <a:avLst/>
          </a:prstGeom>
        </p:spPr>
      </p:pic>
      <p:sp>
        <p:nvSpPr>
          <p:cNvPr id="10" name="54c4144d-7df6-4773-81ee-b17789b68dfa"/>
          <p:cNvSpPr txBox="1"/>
          <p:nvPr/>
        </p:nvSpPr>
        <p:spPr>
          <a:xfrm>
            <a:off x="182880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</a:t>
            </a:r>
            <a:endParaRPr lang="en-US" sz="1500" dirty="0"/>
          </a:p>
        </p:txBody>
      </p:sp>
      <p:pic>
        <p:nvPicPr>
          <p:cNvPr id="11" name="581b1afa-cd45-45c4-9642-1f3f32bd843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514600" y="3520440"/>
            <a:ext cx="457200" cy="457200"/>
          </a:xfrm>
          <a:prstGeom prst="rect">
            <a:avLst/>
          </a:prstGeom>
        </p:spPr>
      </p:pic>
      <p:sp>
        <p:nvSpPr>
          <p:cNvPr id="12" name="1c22e479-8960-42a4-99fa-ee098448e42c"/>
          <p:cNvSpPr/>
          <p:nvPr/>
        </p:nvSpPr>
        <p:spPr>
          <a:xfrm>
            <a:off x="3429000" y="2743200"/>
            <a:ext cx="548640" cy="0"/>
          </a:xfrm>
          <a:prstGeom prst="line">
            <a:avLst/>
          </a:prstGeom>
          <a:noFill/>
          <a:ln w="31750">
            <a:solidFill>
              <a:srgbClr val="2F9E3F"/>
            </a:solidFill>
            <a:prstDash val="solid"/>
            <a:tailEnd type="triangle"/>
          </a:ln>
        </p:spPr>
      </p:sp>
      <p:sp>
        <p:nvSpPr>
          <p:cNvPr id="13" name="38aa0c74-4d53-46eb-8bfc-396827283eb1"/>
          <p:cNvSpPr/>
          <p:nvPr/>
        </p:nvSpPr>
        <p:spPr>
          <a:xfrm>
            <a:off x="4023360" y="22860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4" name="28f5e1f4-52e4-41a3-b407-51a0721d128a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206240" y="2487168"/>
            <a:ext cx="512064" cy="512064"/>
          </a:xfrm>
          <a:prstGeom prst="rect">
            <a:avLst/>
          </a:prstGeom>
        </p:spPr>
      </p:pic>
      <p:sp>
        <p:nvSpPr>
          <p:cNvPr id="15" name="c79fb88f-343e-42fe-bf2e-851894c0c369"/>
          <p:cNvSpPr txBox="1"/>
          <p:nvPr/>
        </p:nvSpPr>
        <p:spPr>
          <a:xfrm>
            <a:off x="484632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heartbeat.sh</a:t>
            </a:r>
            <a:endParaRPr lang="en-US" sz="1200" dirty="0"/>
          </a:p>
        </p:txBody>
      </p:sp>
      <p:sp>
        <p:nvSpPr>
          <p:cNvPr id="16" name="604eaf7a-c734-4f30-b75e-a6cebefe5cf9"/>
          <p:cNvSpPr/>
          <p:nvPr/>
        </p:nvSpPr>
        <p:spPr>
          <a:xfrm>
            <a:off x="914400" y="406908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User:yujie ✓ 成功</a:t>
            </a:r>
            <a:endParaRPr lang="en-US" sz="1200" dirty="0"/>
          </a:p>
        </p:txBody>
      </p:sp>
      <p:sp>
        <p:nvSpPr>
          <p:cNvPr id="17" name="9343c9dc-bf7e-49ea-bb07-d2f4d24d6aba"/>
          <p:cNvSpPr/>
          <p:nvPr/>
        </p:nvSpPr>
        <p:spPr>
          <a:xfrm>
            <a:off x="3200400" y="406908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User:ming ✗ 唯讀被拒</a:t>
            </a:r>
            <a:endParaRPr lang="en-US" sz="1200" dirty="0"/>
          </a:p>
        </p:txBody>
      </p:sp>
      <p:sp>
        <p:nvSpPr>
          <p:cNvPr id="18" name="a909a60a-2d6e-45c3-9235-a85b8ac1e9f4"/>
          <p:cNvSpPr/>
          <p:nvPr/>
        </p:nvSpPr>
        <p:spPr>
          <a:xfrm>
            <a:off x="6126480" y="164592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BE6E8"/>
          </a:solidFill>
          <a:ln/>
        </p:spPr>
      </p:sp>
      <p:sp>
        <p:nvSpPr>
          <p:cNvPr id="19" name="03616ef8-4eb9-4f1a-9130-08af59aba998"/>
          <p:cNvSpPr txBox="1"/>
          <p:nvPr/>
        </p:nvSpPr>
        <p:spPr>
          <a:xfrm>
            <a:off x="630936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✗</a:t>
            </a:r>
            <a:endParaRPr lang="en-US" sz="2000" dirty="0"/>
          </a:p>
        </p:txBody>
      </p:sp>
      <p:sp>
        <p:nvSpPr>
          <p:cNvPr id="20" name="664c85fd-d484-4282-8a73-29c7107298da"/>
          <p:cNvSpPr/>
          <p:nvPr/>
        </p:nvSpPr>
        <p:spPr>
          <a:xfrm>
            <a:off x="6537960" y="2103120"/>
            <a:ext cx="822960" cy="822960"/>
          </a:xfrm>
          <a:prstGeom prst="ellipse">
            <a:avLst>
              <a:gd name="adj" fmla="val 13333"/>
            </a:avLst>
          </a:prstGeom>
          <a:solidFill>
            <a:srgbClr val="F6C9CE"/>
          </a:solidFill>
          <a:ln/>
        </p:spPr>
      </p:sp>
      <p:pic>
        <p:nvPicPr>
          <p:cNvPr id="21" name="47e2ad3b-f91e-47d0-87a1-48d73c6ec420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6702552" y="2267712"/>
            <a:ext cx="493776" cy="493776"/>
          </a:xfrm>
          <a:prstGeom prst="rect">
            <a:avLst/>
          </a:prstGeom>
        </p:spPr>
      </p:pic>
      <p:sp>
        <p:nvSpPr>
          <p:cNvPr id="22" name="f34899af-5d52-4497-abad-6c967a801d05"/>
          <p:cNvSpPr txBox="1"/>
          <p:nvPr/>
        </p:nvSpPr>
        <p:spPr>
          <a:xfrm>
            <a:off x="603504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</a:t>
            </a:r>
            <a:endParaRPr lang="en-US" sz="1500" dirty="0"/>
          </a:p>
        </p:txBody>
      </p:sp>
      <p:sp>
        <p:nvSpPr>
          <p:cNvPr id="23" name="2d757d1b-42fb-44c0-847f-683b0090e03f"/>
          <p:cNvSpPr/>
          <p:nvPr/>
        </p:nvSpPr>
        <p:spPr>
          <a:xfrm>
            <a:off x="7909560" y="2103120"/>
            <a:ext cx="822960" cy="822960"/>
          </a:xfrm>
          <a:prstGeom prst="ellipse">
            <a:avLst>
              <a:gd name="adj" fmla="val 13333"/>
            </a:avLst>
          </a:prstGeom>
          <a:solidFill>
            <a:srgbClr val="F6C9CE"/>
          </a:solidFill>
          <a:ln/>
        </p:spPr>
      </p:sp>
      <p:pic>
        <p:nvPicPr>
          <p:cNvPr id="24" name="5b6e633a-7d0d-4adc-91c2-3ba7d34a09f0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8074152" y="2267712"/>
            <a:ext cx="493776" cy="493776"/>
          </a:xfrm>
          <a:prstGeom prst="rect">
            <a:avLst/>
          </a:prstGeom>
        </p:spPr>
      </p:pic>
      <p:sp>
        <p:nvSpPr>
          <p:cNvPr id="25" name="b5480b77-20e8-44f3-8ca2-eb0533ce6696"/>
          <p:cNvSpPr txBox="1"/>
          <p:nvPr/>
        </p:nvSpPr>
        <p:spPr>
          <a:xfrm>
            <a:off x="7406640" y="2999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</a:t>
            </a:r>
            <a:endParaRPr lang="en-US" sz="1500" dirty="0"/>
          </a:p>
        </p:txBody>
      </p:sp>
      <p:pic>
        <p:nvPicPr>
          <p:cNvPr id="26" name="d866f0db-5ef8-43bc-b5bb-3f4ac6ff2ecb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315200" y="3520440"/>
            <a:ext cx="457200" cy="457200"/>
          </a:xfrm>
          <a:prstGeom prst="rect">
            <a:avLst/>
          </a:prstGeom>
        </p:spPr>
      </p:pic>
      <p:pic>
        <p:nvPicPr>
          <p:cNvPr id="27" name="f88eeb51-b316-49b7-90d3-6ef0c04c46a4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8686800" y="3520440"/>
            <a:ext cx="457200" cy="457200"/>
          </a:xfrm>
          <a:prstGeom prst="rect">
            <a:avLst/>
          </a:prstGeom>
        </p:spPr>
      </p:pic>
      <p:sp>
        <p:nvSpPr>
          <p:cNvPr id="28" name="89dabd5c-e215-4d50-8279-80e0d0f19371"/>
          <p:cNvSpPr/>
          <p:nvPr/>
        </p:nvSpPr>
        <p:spPr>
          <a:xfrm>
            <a:off x="9006840" y="2743200"/>
            <a:ext cx="548640" cy="0"/>
          </a:xfrm>
          <a:prstGeom prst="line">
            <a:avLst/>
          </a:prstGeom>
          <a:noFill/>
          <a:ln w="31750">
            <a:solidFill>
              <a:srgbClr val="C0192A"/>
            </a:solidFill>
            <a:prstDash val="solid"/>
            <a:tailEnd type="triangle"/>
          </a:ln>
        </p:spPr>
      </p:sp>
      <p:sp>
        <p:nvSpPr>
          <p:cNvPr id="29" name="a9f5f1ad-419e-4cc7-85ff-2836dbe8e57a"/>
          <p:cNvSpPr/>
          <p:nvPr/>
        </p:nvSpPr>
        <p:spPr>
          <a:xfrm>
            <a:off x="9601200" y="22860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30" name="20d3f02b-ae80-4047-a8f9-76794ae56a17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9784080" y="2487168"/>
            <a:ext cx="512064" cy="512064"/>
          </a:xfrm>
          <a:prstGeom prst="rect">
            <a:avLst/>
          </a:prstGeom>
        </p:spPr>
      </p:pic>
      <p:sp>
        <p:nvSpPr>
          <p:cNvPr id="31" name="1d48203c-556a-4fb8-8348-ac696f924801"/>
          <p:cNvSpPr txBox="1"/>
          <p:nvPr/>
        </p:nvSpPr>
        <p:spPr>
          <a:xfrm>
            <a:off x="1042416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heartbeat.sh</a:t>
            </a:r>
            <a:endParaRPr lang="en-US" sz="1200" dirty="0"/>
          </a:p>
        </p:txBody>
      </p:sp>
      <p:sp>
        <p:nvSpPr>
          <p:cNvPr id="32" name="45be213a-ce77-42dc-96de-1c11f5196bbd"/>
          <p:cNvSpPr/>
          <p:nvPr/>
        </p:nvSpPr>
        <p:spPr>
          <a:xfrm>
            <a:off x="6583680" y="406908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全部都是 User:shared-ops</a:t>
            </a:r>
            <a:endParaRPr lang="en-US" sz="1200" dirty="0"/>
          </a:p>
        </p:txBody>
      </p:sp>
      <p:sp>
        <p:nvSpPr>
          <p:cNvPr id="33" name="3a83be13-4c9e-4a4b-b085-64cc4592a237"/>
          <p:cNvSpPr/>
          <p:nvPr/>
        </p:nvSpPr>
        <p:spPr>
          <a:xfrm>
            <a:off x="9784080" y="406908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唯讀的 ming 也能寫</a:t>
            </a:r>
            <a:endParaRPr lang="en-US" sz="1000" dirty="0"/>
          </a:p>
        </p:txBody>
      </p:sp>
      <p:pic>
        <p:nvPicPr>
          <p:cNvPr id="34" name="c5d5fe76-987f-4a87-94f8-25bddf19cdf6" descr="audit log:yujie / ming / shared-ops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3631345" y="4937760"/>
            <a:ext cx="4807390" cy="1097280"/>
          </a:xfrm>
          <a:prstGeom prst="rect">
            <a:avLst/>
          </a:prstGeom>
        </p:spPr>
      </p:pic>
      <p:sp>
        <p:nvSpPr>
          <p:cNvPr id="35" name="dfda4748-9d53-40cc-87e2-1bbfeddbe2db"/>
          <p:cNvSpPr/>
          <p:nvPr/>
        </p:nvSpPr>
        <p:spPr>
          <a:xfrm>
            <a:off x="3631345" y="4937760"/>
            <a:ext cx="4807390" cy="109728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36" name="858ff925-6ca5-4290-b07e-5bc72a6931dd"/>
          <p:cNvSpPr txBox="1"/>
          <p:nvPr/>
        </p:nvSpPr>
        <p:spPr>
          <a:xfrm>
            <a:off x="54864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log:yujie / ming / shared-ops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Lab 7 機器:服務帳號 + RBAC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群組與服務帳號,同一張 role assignment 表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pic>
        <p:nvPicPr>
          <p:cNvPr id="2" name="db0a9fda-42e2-4496-bbbd-1596a4b4ea98" descr="C3:Group 與 User(不在 AD)並列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48640" y="1703070"/>
            <a:ext cx="6766560" cy="4229100"/>
          </a:xfrm>
          <a:prstGeom prst="rect">
            <a:avLst/>
          </a:prstGeom>
        </p:spPr>
      </p:pic>
      <p:sp>
        <p:nvSpPr>
          <p:cNvPr id="3" name="39d61ad5-83ad-4644-8463-6a4bf5a69c02"/>
          <p:cNvSpPr/>
          <p:nvPr/>
        </p:nvSpPr>
        <p:spPr>
          <a:xfrm>
            <a:off x="548640" y="1703070"/>
            <a:ext cx="6766560" cy="422910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4" name="ce6d41e8-1515-42c5-8e71-6733cf306a88"/>
          <p:cNvSpPr txBox="1"/>
          <p:nvPr/>
        </p:nvSpPr>
        <p:spPr>
          <a:xfrm>
            <a:off x="548640" y="602589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C3:Group 與 User(不在 AD)並列</a:t>
            </a:r>
            <a:endParaRPr lang="en-US" sz="1100" dirty="0"/>
          </a:p>
        </p:txBody>
      </p:sp>
      <p:sp>
        <p:nvSpPr>
          <p:cNvPr id="5" name="02b804b7-41f8-4193-8e08-9d35ca669466"/>
          <p:cNvSpPr/>
          <p:nvPr/>
        </p:nvSpPr>
        <p:spPr>
          <a:xfrm>
            <a:off x="7680960" y="169164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6" name="93e069cd-b13a-4f69-8047-34d551277a6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863840" y="1938528"/>
            <a:ext cx="512064" cy="512064"/>
          </a:xfrm>
          <a:prstGeom prst="rect">
            <a:avLst/>
          </a:prstGeom>
        </p:spPr>
      </p:pic>
      <p:sp>
        <p:nvSpPr>
          <p:cNvPr id="7" name="21fe1d43-b6ff-404c-b6a7-c5425c9973b3"/>
          <p:cNvSpPr txBox="1"/>
          <p:nvPr/>
        </p:nvSpPr>
        <p:spPr>
          <a:xfrm>
            <a:off x="8503920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svc-orders</a:t>
            </a:r>
            <a:endParaRPr lang="en-US" sz="1600" dirty="0"/>
          </a:p>
        </p:txBody>
      </p:sp>
      <p:sp>
        <p:nvSpPr>
          <p:cNvPr id="8" name="0d40a5f3-775c-49fa-b2e2-3a37f8f23e4f"/>
          <p:cNvSpPr txBox="1"/>
          <p:nvPr/>
        </p:nvSpPr>
        <p:spPr>
          <a:xfrm>
            <a:off x="8503920" y="224485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· 不在 AD</a:t>
            </a:r>
            <a:endParaRPr lang="en-US" sz="1200" dirty="0"/>
          </a:p>
        </p:txBody>
      </p:sp>
      <p:sp>
        <p:nvSpPr>
          <p:cNvPr id="9" name="4ff37857-ab5c-4032-9f11-d56a82dfc99e"/>
          <p:cNvSpPr/>
          <p:nvPr/>
        </p:nvSpPr>
        <p:spPr>
          <a:xfrm>
            <a:off x="9601200" y="2697480"/>
            <a:ext cx="0" cy="457200"/>
          </a:xfrm>
          <a:prstGeom prst="line">
            <a:avLst/>
          </a:prstGeom>
          <a:noFill/>
          <a:ln w="381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0" name="3ccfe9f5-1bbb-4b5c-a15f-b15de1589622"/>
          <p:cNvSpPr/>
          <p:nvPr/>
        </p:nvSpPr>
        <p:spPr>
          <a:xfrm>
            <a:off x="7680960" y="320040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0E284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1" name="3fcc2f5a-a558-4a17-b4b4-78c13e457a9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863840" y="3447288"/>
            <a:ext cx="512064" cy="512064"/>
          </a:xfrm>
          <a:prstGeom prst="rect">
            <a:avLst/>
          </a:prstGeom>
        </p:spPr>
      </p:pic>
      <p:sp>
        <p:nvSpPr>
          <p:cNvPr id="12" name="c81a088c-c3cb-4b69-947a-824cbca4f3b5"/>
          <p:cNvSpPr txBox="1"/>
          <p:nvPr/>
        </p:nvSpPr>
        <p:spPr>
          <a:xfrm>
            <a:off x="850392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600" dirty="0"/>
          </a:p>
        </p:txBody>
      </p:sp>
      <p:sp>
        <p:nvSpPr>
          <p:cNvPr id="13" name="153875f6-597c-4cc4-9502-b14401655d3b"/>
          <p:cNvSpPr txBox="1"/>
          <p:nvPr/>
        </p:nvSpPr>
        <p:spPr>
          <a:xfrm>
            <a:off x="8503920" y="37536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orders.*</a:t>
            </a:r>
            <a:endParaRPr lang="en-US" sz="1200" dirty="0"/>
          </a:p>
        </p:txBody>
      </p:sp>
      <p:sp>
        <p:nvSpPr>
          <p:cNvPr id="14" name="6aa28e64-10b1-47ad-9263-ea1ddf72a511"/>
          <p:cNvSpPr/>
          <p:nvPr/>
        </p:nvSpPr>
        <p:spPr>
          <a:xfrm>
            <a:off x="9601200" y="4206240"/>
            <a:ext cx="0" cy="411480"/>
          </a:xfrm>
          <a:prstGeom prst="line">
            <a:avLst/>
          </a:prstGeom>
          <a:noFill/>
          <a:ln w="381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5" name="a1ef75ac-eaf4-46f3-8185-7629f68e842c"/>
          <p:cNvSpPr/>
          <p:nvPr/>
        </p:nvSpPr>
        <p:spPr>
          <a:xfrm>
            <a:off x="7680960" y="4663440"/>
            <a:ext cx="1828800" cy="457200"/>
          </a:xfrm>
          <a:prstGeom prst="roundRect">
            <a:avLst>
              <a:gd name="adj" fmla="val 38000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orders.*</a:t>
            </a:r>
            <a:endParaRPr lang="en-US" sz="1400" dirty="0"/>
          </a:p>
        </p:txBody>
      </p:sp>
      <p:sp>
        <p:nvSpPr>
          <p:cNvPr id="16" name="1aaa36d6-ab33-4dcf-be1f-93c902d77772"/>
          <p:cNvSpPr/>
          <p:nvPr/>
        </p:nvSpPr>
        <p:spPr>
          <a:xfrm>
            <a:off x="9692640" y="4663440"/>
            <a:ext cx="1828800" cy="457200"/>
          </a:xfrm>
          <a:prstGeom prst="roundRect">
            <a:avLst>
              <a:gd name="adj" fmla="val 38000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✗ payments.*</a:t>
            </a:r>
            <a:endParaRPr lang="en-US" sz="1400" dirty="0"/>
          </a:p>
        </p:txBody>
      </p:sp>
      <p:sp>
        <p:nvSpPr>
          <p:cNvPr id="17" name="4e85d6f3-2d02-499a-9f3a-1b9b6c7b5143"/>
          <p:cNvSpPr txBox="1"/>
          <p:nvPr/>
        </p:nvSpPr>
        <p:spPr>
          <a:xfrm>
            <a:off x="7680960" y="5257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最小權限</a:t>
            </a:r>
            <a:endParaRPr lang="en-US" sz="1300" dirty="0"/>
          </a:p>
        </p:txBody>
      </p:sp>
      <p:sp>
        <p:nvSpPr>
          <p:cNvPr id="18" name="4d91fcaf-2b76-475d-be25-1339e274bea1"/>
          <p:cNvSpPr/>
          <p:nvPr/>
        </p:nvSpPr>
        <p:spPr>
          <a:xfrm>
            <a:off x="7680960" y="5715000"/>
            <a:ext cx="3840480" cy="384048"/>
          </a:xfrm>
          <a:prstGeom prst="roundRect">
            <a:avLst>
              <a:gd name="adj" fmla="val 45238"/>
            </a:avLst>
          </a:prstGeom>
          <a:solidFill>
            <a:srgbClr val="FDF0DC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只能用 HTTP 的 legacy app → 見 Lab 12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Lab 12 legacy app 經 REST Proxy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機器用 client 憑證、人用 Basic,同一個 REST Proxy 並存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fde84b1-9d48-4abd-94c7-3ab6f494ed03"/>
          <p:cNvSpPr/>
          <p:nvPr/>
        </p:nvSpPr>
        <p:spPr>
          <a:xfrm>
            <a:off x="54864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875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3" name="912873db-c28a-4c32-ba21-2efb2410225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1520" y="2007108"/>
            <a:ext cx="512064" cy="512064"/>
          </a:xfrm>
          <a:prstGeom prst="rect">
            <a:avLst/>
          </a:prstGeom>
        </p:spPr>
      </p:pic>
      <p:sp>
        <p:nvSpPr>
          <p:cNvPr id="4" name="1cbbc469-7000-4df8-afb5-04cfe5e1c932"/>
          <p:cNvSpPr txBox="1"/>
          <p:nvPr/>
        </p:nvSpPr>
        <p:spPr>
          <a:xfrm>
            <a:off x="1371600" y="1783080"/>
            <a:ext cx="1600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600" dirty="0"/>
          </a:p>
        </p:txBody>
      </p:sp>
      <p:sp>
        <p:nvSpPr>
          <p:cNvPr id="5" name="d6e61b36-56d0-49f2-a496-e6bd8704e3eb"/>
          <p:cNvSpPr txBox="1"/>
          <p:nvPr/>
        </p:nvSpPr>
        <p:spPr>
          <a:xfrm>
            <a:off x="1371600" y="232029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只能 HTTP · client 憑證</a:t>
            </a:r>
            <a:endParaRPr lang="en-US" sz="1100" dirty="0"/>
          </a:p>
        </p:txBody>
      </p:sp>
      <p:sp>
        <p:nvSpPr>
          <p:cNvPr id="6" name="24f76bc2-3c4b-42fb-8f5b-b9d4de4508ff"/>
          <p:cNvSpPr/>
          <p:nvPr/>
        </p:nvSpPr>
        <p:spPr>
          <a:xfrm>
            <a:off x="3063240" y="2258568"/>
            <a:ext cx="320040" cy="0"/>
          </a:xfrm>
          <a:prstGeom prst="line">
            <a:avLst/>
          </a:prstGeom>
          <a:noFill/>
          <a:ln w="38100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7" name="caf0fffc-2556-4fdd-92d1-4d4dc0fe8625"/>
          <p:cNvSpPr/>
          <p:nvPr/>
        </p:nvSpPr>
        <p:spPr>
          <a:xfrm>
            <a:off x="3383280" y="1691640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5400">
            <a:solidFill>
              <a:srgbClr val="0E284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 機器:憑證</a:t>
            </a:r>
            <a:endParaRPr lang="en-US" sz="1300" dirty="0"/>
          </a:p>
        </p:txBody>
      </p:sp>
      <p:sp>
        <p:nvSpPr>
          <p:cNvPr id="8" name="621d1f83-2212-4f6e-ae71-e5ab52e84b03"/>
          <p:cNvSpPr/>
          <p:nvPr/>
        </p:nvSpPr>
        <p:spPr>
          <a:xfrm>
            <a:off x="6126480" y="2258568"/>
            <a:ext cx="320040" cy="0"/>
          </a:xfrm>
          <a:prstGeom prst="line">
            <a:avLst/>
          </a:prstGeom>
          <a:noFill/>
          <a:ln w="381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9" name="e5c8a813-c97d-4cb1-bb61-dcb2af96d44d"/>
          <p:cNvSpPr/>
          <p:nvPr/>
        </p:nvSpPr>
        <p:spPr>
          <a:xfrm>
            <a:off x="644652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540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代理出 User:legacy-orders</a:t>
            </a:r>
            <a:endParaRPr lang="en-US" sz="1200" dirty="0"/>
          </a:p>
        </p:txBody>
      </p:sp>
      <p:sp>
        <p:nvSpPr>
          <p:cNvPr id="10" name="4338373f-5080-4654-aadf-50ac9ed7a7c2"/>
          <p:cNvSpPr/>
          <p:nvPr/>
        </p:nvSpPr>
        <p:spPr>
          <a:xfrm>
            <a:off x="8961120" y="2258568"/>
            <a:ext cx="320040" cy="0"/>
          </a:xfrm>
          <a:prstGeom prst="line">
            <a:avLst/>
          </a:prstGeom>
          <a:noFill/>
          <a:ln w="381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1" name="7e1ee80d-2247-4a0c-8d9a-20b463129f4e"/>
          <p:cNvSpPr/>
          <p:nvPr/>
        </p:nvSpPr>
        <p:spPr>
          <a:xfrm>
            <a:off x="9281160" y="1691640"/>
            <a:ext cx="22402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54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</p:txBody>
      </p:sp>
      <p:sp>
        <p:nvSpPr>
          <p:cNvPr id="12" name="28f533fd-58cf-48e9-ac2d-0cbd3421292c"/>
          <p:cNvSpPr/>
          <p:nvPr/>
        </p:nvSpPr>
        <p:spPr>
          <a:xfrm>
            <a:off x="3383280" y="3108960"/>
            <a:ext cx="27432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3" name="321a68d4-2c53-49a0-aec2-43301293bb7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566160" y="3218688"/>
            <a:ext cx="512064" cy="512064"/>
          </a:xfrm>
          <a:prstGeom prst="rect">
            <a:avLst/>
          </a:prstGeom>
        </p:spPr>
      </p:pic>
      <p:sp>
        <p:nvSpPr>
          <p:cNvPr id="14" name="aef8d96e-c79a-4ddd-958f-e77792db3f3c"/>
          <p:cNvSpPr txBox="1"/>
          <p:nvPr/>
        </p:nvSpPr>
        <p:spPr>
          <a:xfrm>
            <a:off x="42062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yujie(人)</a:t>
            </a:r>
            <a:endParaRPr lang="en-US" sz="1400" dirty="0"/>
          </a:p>
        </p:txBody>
      </p:sp>
      <p:sp>
        <p:nvSpPr>
          <p:cNvPr id="15" name="06279420-8438-4dd0-8ea7-b09852469b07"/>
          <p:cNvSpPr txBox="1"/>
          <p:nvPr/>
        </p:nvSpPr>
        <p:spPr>
          <a:xfrm>
            <a:off x="4206240" y="35112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→ MDS 查 AD</a:t>
            </a:r>
            <a:endParaRPr lang="en-US" sz="1100" dirty="0"/>
          </a:p>
        </p:txBody>
      </p:sp>
      <p:sp>
        <p:nvSpPr>
          <p:cNvPr id="16" name="221ad40d-bf9c-4dfe-9363-3979187454f6"/>
          <p:cNvSpPr/>
          <p:nvPr/>
        </p:nvSpPr>
        <p:spPr>
          <a:xfrm flipV="1">
            <a:off x="4754880" y="2834640"/>
            <a:ext cx="0" cy="274320"/>
          </a:xfrm>
          <a:prstGeom prst="line">
            <a:avLst/>
          </a:prstGeom>
          <a:noFill/>
          <a:ln w="31750">
            <a:solidFill>
              <a:srgbClr val="155C91"/>
            </a:solidFill>
            <a:prstDash val="solid"/>
            <a:tailEnd type="triangle"/>
          </a:ln>
        </p:spPr>
      </p:sp>
      <p:sp>
        <p:nvSpPr>
          <p:cNvPr id="17" name="61fa9c38-0143-4bfa-bdaf-e118bc54fa2c"/>
          <p:cNvSpPr/>
          <p:nvPr/>
        </p:nvSpPr>
        <p:spPr>
          <a:xfrm>
            <a:off x="548640" y="4069080"/>
            <a:ext cx="2103120" cy="411480"/>
          </a:xfrm>
          <a:prstGeom prst="roundRect">
            <a:avLst>
              <a:gd name="adj" fmla="val 42222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orders.* 寫入 200</a:t>
            </a:r>
            <a:endParaRPr lang="en-US" sz="1100" dirty="0"/>
          </a:p>
        </p:txBody>
      </p:sp>
      <p:sp>
        <p:nvSpPr>
          <p:cNvPr id="18" name="a25b5577-b8ef-4e6d-b64d-6131c3eb4fba"/>
          <p:cNvSpPr/>
          <p:nvPr/>
        </p:nvSpPr>
        <p:spPr>
          <a:xfrm>
            <a:off x="2761488" y="4069080"/>
            <a:ext cx="2103120" cy="411480"/>
          </a:xfrm>
          <a:prstGeom prst="roundRect">
            <a:avLst>
              <a:gd name="adj" fmla="val 42222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✗ payments.* 403</a:t>
            </a:r>
            <a:endParaRPr lang="en-US" sz="1100" dirty="0"/>
          </a:p>
        </p:txBody>
      </p:sp>
      <p:sp>
        <p:nvSpPr>
          <p:cNvPr id="19" name="b68b4318-049b-4166-9ec8-2d76b111dff7"/>
          <p:cNvSpPr/>
          <p:nvPr/>
        </p:nvSpPr>
        <p:spPr>
          <a:xfrm>
            <a:off x="4974336" y="4069080"/>
            <a:ext cx="2103120" cy="411480"/>
          </a:xfrm>
          <a:prstGeom prst="roundRect">
            <a:avLst>
              <a:gd name="adj" fmla="val 42222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✗ 無憑證 401</a:t>
            </a:r>
            <a:endParaRPr lang="en-US" sz="1100" dirty="0"/>
          </a:p>
        </p:txBody>
      </p:sp>
      <p:sp>
        <p:nvSpPr>
          <p:cNvPr id="20" name="9f650d84-8400-472e-90c5-1bb79e6dd314"/>
          <p:cNvSpPr/>
          <p:nvPr/>
        </p:nvSpPr>
        <p:spPr>
          <a:xfrm>
            <a:off x="7187184" y="4069080"/>
            <a:ext cx="2103120" cy="411480"/>
          </a:xfrm>
          <a:prstGeom prst="roundRect">
            <a:avLst>
              <a:gd name="adj" fmla="val 42222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✗ 有憑證無授權 403</a:t>
            </a:r>
            <a:endParaRPr lang="en-US" sz="1100" dirty="0"/>
          </a:p>
        </p:txBody>
      </p:sp>
      <p:sp>
        <p:nvSpPr>
          <p:cNvPr id="21" name="483a829b-14e9-40b4-bc7f-b948fc088f74"/>
          <p:cNvSpPr/>
          <p:nvPr/>
        </p:nvSpPr>
        <p:spPr>
          <a:xfrm>
            <a:off x="9400032" y="4069080"/>
            <a:ext cx="2103120" cy="411480"/>
          </a:xfrm>
          <a:prstGeom prst="roundRect">
            <a:avLst>
              <a:gd name="adj" fmla="val 42222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✗ 自簽憑證 TLS 拒絕</a:t>
            </a:r>
            <a:endParaRPr lang="en-US" sz="1100" dirty="0"/>
          </a:p>
        </p:txBody>
      </p:sp>
      <p:pic>
        <p:nvPicPr>
          <p:cNvPr id="22" name="4dc5edfa-5c73-4908-8a8f-d7cdb222963f" descr="audit:broker 看到的主體是 User:legacy-orders(不是 restproxy)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244543" y="4663440"/>
            <a:ext cx="5580993" cy="1371600"/>
          </a:xfrm>
          <a:prstGeom prst="rect">
            <a:avLst/>
          </a:prstGeom>
        </p:spPr>
      </p:pic>
      <p:sp>
        <p:nvSpPr>
          <p:cNvPr id="23" name="8a3e4ce8-b9d8-40c0-96d5-2aceaceef3e6"/>
          <p:cNvSpPr/>
          <p:nvPr/>
        </p:nvSpPr>
        <p:spPr>
          <a:xfrm>
            <a:off x="3244543" y="4663440"/>
            <a:ext cx="5580993" cy="137160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24" name="0bbfa81c-979e-4c9b-9127-77d64d711999"/>
          <p:cNvSpPr txBox="1"/>
          <p:nvPr/>
        </p:nvSpPr>
        <p:spPr>
          <a:xfrm>
            <a:off x="548640" y="60716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audit:broker 看到的主體是 User:legacy-orders(不是 restproxy)</a:t>
            </a:r>
            <a:endParaRPr lang="en-US" sz="1100" dirty="0"/>
          </a:p>
        </p:txBody>
      </p:sp>
      <p:sp>
        <p:nvSpPr>
          <p:cNvPr id="25" name="ee4f86c5-9287-4cb3-98ab-ea2447a7d190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官方:憑證身分只能綁 User:,不支援群組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Proxy:身分怎麼傳到 broker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人與機器走不同的路,最後都用 MDS 簽發的 token 連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48c3e61-1003-4a54-bf13-913897cf3749"/>
          <p:cNvSpPr/>
          <p:nvPr/>
        </p:nvSpPr>
        <p:spPr>
          <a:xfrm>
            <a:off x="548640" y="1645920"/>
            <a:ext cx="10972800" cy="1965960"/>
          </a:xfrm>
          <a:prstGeom prst="roundRect">
            <a:avLst>
              <a:gd name="adj" fmla="val 5581"/>
            </a:avLst>
          </a:prstGeom>
          <a:solidFill>
            <a:srgbClr val="E4EFF7"/>
          </a:solidFill>
          <a:ln/>
        </p:spPr>
      </p:sp>
      <p:sp>
        <p:nvSpPr>
          <p:cNvPr id="3" name="870a7bb1-e542-4fcc-b2d4-08837aed7591"/>
          <p:cNvSpPr txBox="1"/>
          <p:nvPr/>
        </p:nvSpPr>
        <p:spPr>
          <a:xfrm>
            <a:off x="73152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帳密 → MDS 向 AD 驗證 → 直接換 token</a:t>
            </a:r>
            <a:endParaRPr lang="en-US" sz="1600" dirty="0"/>
          </a:p>
        </p:txBody>
      </p:sp>
      <p:sp>
        <p:nvSpPr>
          <p:cNvPr id="4" name="e089e1e9-0109-4a81-8a45-da2b09c206cc"/>
          <p:cNvSpPr/>
          <p:nvPr/>
        </p:nvSpPr>
        <p:spPr>
          <a:xfrm>
            <a:off x="731520" y="214884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(AD)</a:t>
            </a:r>
            <a:endParaRPr lang="en-US" sz="1100" dirty="0"/>
          </a:p>
        </p:txBody>
      </p:sp>
      <p:sp>
        <p:nvSpPr>
          <p:cNvPr id="5" name="abe7c2b8-189e-4ad5-a073-d370f5c536fd"/>
          <p:cNvSpPr/>
          <p:nvPr/>
        </p:nvSpPr>
        <p:spPr>
          <a:xfrm>
            <a:off x="621792" y="2029968"/>
            <a:ext cx="292608" cy="292608"/>
          </a:xfrm>
          <a:prstGeom prst="ellipse">
            <a:avLst>
              <a:gd name="adj" fmla="val 37500"/>
            </a:avLst>
          </a:prstGeom>
          <a:solidFill>
            <a:srgbClr val="155C91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0a2cde74-3741-4486-bf96-37040213369b"/>
          <p:cNvSpPr/>
          <p:nvPr/>
        </p:nvSpPr>
        <p:spPr>
          <a:xfrm>
            <a:off x="2514600" y="2788920"/>
            <a:ext cx="365760" cy="0"/>
          </a:xfrm>
          <a:prstGeom prst="line">
            <a:avLst/>
          </a:prstGeom>
          <a:noFill/>
          <a:ln w="31750">
            <a:solidFill>
              <a:srgbClr val="155C91"/>
            </a:solidFill>
            <a:prstDash val="solid"/>
            <a:tailEnd type="triangle"/>
          </a:ln>
        </p:spPr>
      </p:sp>
      <p:sp>
        <p:nvSpPr>
          <p:cNvPr id="7" name="0c5f359d-0e24-426d-93cf-fb63229a5123"/>
          <p:cNvSpPr/>
          <p:nvPr/>
        </p:nvSpPr>
        <p:spPr>
          <a:xfrm>
            <a:off x="2880360" y="214884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把帳密轉給 MDS</a:t>
            </a:r>
            <a:endParaRPr lang="en-US" sz="1100" dirty="0"/>
          </a:p>
        </p:txBody>
      </p:sp>
      <p:sp>
        <p:nvSpPr>
          <p:cNvPr id="8" name="b2ea5c7b-663b-4f1c-980c-b5ca1f81d134"/>
          <p:cNvSpPr/>
          <p:nvPr/>
        </p:nvSpPr>
        <p:spPr>
          <a:xfrm>
            <a:off x="2770632" y="2029968"/>
            <a:ext cx="292608" cy="292608"/>
          </a:xfrm>
          <a:prstGeom prst="ellipse">
            <a:avLst>
              <a:gd name="adj" fmla="val 37500"/>
            </a:avLst>
          </a:prstGeom>
          <a:solidFill>
            <a:srgbClr val="155C91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1fad16d6-cbea-4130-8543-1dbbec5f5d1e"/>
          <p:cNvSpPr/>
          <p:nvPr/>
        </p:nvSpPr>
        <p:spPr>
          <a:xfrm>
            <a:off x="4663440" y="2788920"/>
            <a:ext cx="365760" cy="0"/>
          </a:xfrm>
          <a:prstGeom prst="line">
            <a:avLst/>
          </a:prstGeom>
          <a:noFill/>
          <a:ln w="31750">
            <a:solidFill>
              <a:srgbClr val="155C91"/>
            </a:solidFill>
            <a:prstDash val="solid"/>
            <a:tailEnd type="triangle"/>
          </a:ln>
        </p:spPr>
      </p:sp>
      <p:sp>
        <p:nvSpPr>
          <p:cNvPr id="10" name="c50ebdb3-0776-4960-bfed-bd8c1d4d762a"/>
          <p:cNvSpPr/>
          <p:nvPr/>
        </p:nvSpPr>
        <p:spPr>
          <a:xfrm>
            <a:off x="5029200" y="214884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/authenticate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 AD(LDAP)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100" dirty="0"/>
          </a:p>
        </p:txBody>
      </p:sp>
      <p:sp>
        <p:nvSpPr>
          <p:cNvPr id="11" name="a3a432bb-eb46-4dc8-9a8b-2f6628ee1eac"/>
          <p:cNvSpPr/>
          <p:nvPr/>
        </p:nvSpPr>
        <p:spPr>
          <a:xfrm>
            <a:off x="4919472" y="2029968"/>
            <a:ext cx="292608" cy="292608"/>
          </a:xfrm>
          <a:prstGeom prst="ellipse">
            <a:avLst>
              <a:gd name="adj" fmla="val 37500"/>
            </a:avLst>
          </a:prstGeom>
          <a:solidFill>
            <a:srgbClr val="155C91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c1645ea9-7ef8-449e-9de5-5c3d383762c8"/>
          <p:cNvSpPr/>
          <p:nvPr/>
        </p:nvSpPr>
        <p:spPr>
          <a:xfrm>
            <a:off x="6812280" y="2788920"/>
            <a:ext cx="365760" cy="0"/>
          </a:xfrm>
          <a:prstGeom prst="line">
            <a:avLst/>
          </a:prstGeom>
          <a:noFill/>
          <a:ln w="31750">
            <a:solidFill>
              <a:srgbClr val="155C91"/>
            </a:solidFill>
            <a:prstDash val="solid"/>
            <a:tailEnd type="triangle"/>
          </a:ln>
        </p:spPr>
      </p:sp>
      <p:sp>
        <p:nvSpPr>
          <p:cNvPr id="13" name="10d1d57b-c620-4610-b2cb-61afe285cd7e"/>
          <p:cNvSpPr/>
          <p:nvPr/>
        </p:nvSpPr>
        <p:spPr>
          <a:xfrm>
            <a:off x="7178040" y="214884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· 1 小時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sub = yujie</a:t>
            </a:r>
            <a:endParaRPr lang="en-US" sz="1100" dirty="0"/>
          </a:p>
        </p:txBody>
      </p:sp>
      <p:sp>
        <p:nvSpPr>
          <p:cNvPr id="14" name="f5387211-f495-419f-80e7-344130dca761"/>
          <p:cNvSpPr/>
          <p:nvPr/>
        </p:nvSpPr>
        <p:spPr>
          <a:xfrm>
            <a:off x="7068312" y="2029968"/>
            <a:ext cx="292608" cy="292608"/>
          </a:xfrm>
          <a:prstGeom prst="ellipse">
            <a:avLst>
              <a:gd name="adj" fmla="val 37500"/>
            </a:avLst>
          </a:prstGeom>
          <a:solidFill>
            <a:srgbClr val="155C91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9e46ea82-e2a2-4d8d-8ef5-61946b0610cb"/>
          <p:cNvSpPr/>
          <p:nvPr/>
        </p:nvSpPr>
        <p:spPr>
          <a:xfrm>
            <a:off x="8961120" y="2788920"/>
            <a:ext cx="365760" cy="0"/>
          </a:xfrm>
          <a:prstGeom prst="line">
            <a:avLst/>
          </a:prstGeom>
          <a:noFill/>
          <a:ln w="31750">
            <a:solidFill>
              <a:srgbClr val="155C91"/>
            </a:solidFill>
            <a:prstDash val="solid"/>
            <a:tailEnd type="triangle"/>
          </a:ln>
        </p:spPr>
      </p:sp>
      <p:sp>
        <p:nvSpPr>
          <p:cNvPr id="16" name="39ecab25-d8ae-4257-b736-18d9a335daf8"/>
          <p:cNvSpPr/>
          <p:nvPr/>
        </p:nvSpPr>
        <p:spPr>
          <a:xfrm>
            <a:off x="9326880" y="214884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User:yujie</a:t>
            </a:r>
            <a:endParaRPr lang="en-US" sz="1100" dirty="0"/>
          </a:p>
        </p:txBody>
      </p:sp>
      <p:sp>
        <p:nvSpPr>
          <p:cNvPr id="17" name="d4598818-948d-4db9-b9c5-fa9f52b9b9fd"/>
          <p:cNvSpPr/>
          <p:nvPr/>
        </p:nvSpPr>
        <p:spPr>
          <a:xfrm>
            <a:off x="9217152" y="2029968"/>
            <a:ext cx="292608" cy="292608"/>
          </a:xfrm>
          <a:prstGeom prst="ellipse">
            <a:avLst>
              <a:gd name="adj" fmla="val 37500"/>
            </a:avLst>
          </a:prstGeom>
          <a:solidFill>
            <a:srgbClr val="155C91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0909687f-3b74-4415-a42b-b9a8eb05a27d"/>
          <p:cNvSpPr/>
          <p:nvPr/>
        </p:nvSpPr>
        <p:spPr>
          <a:xfrm>
            <a:off x="548640" y="3794760"/>
            <a:ext cx="10972800" cy="1965960"/>
          </a:xfrm>
          <a:prstGeom prst="roundRect">
            <a:avLst>
              <a:gd name="adj" fmla="val 5581"/>
            </a:avLst>
          </a:prstGeom>
          <a:solidFill>
            <a:srgbClr val="FDF0DC"/>
          </a:solidFill>
          <a:ln/>
        </p:spPr>
      </p:sp>
      <p:sp>
        <p:nvSpPr>
          <p:cNvPr id="19" name="dd5afb87-48ce-4647-98b4-c965b5c1fedd"/>
          <p:cNvSpPr txBox="1"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58A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機器:client 憑證 → REST Proxy 向 MDS「代為申請」token</a:t>
            </a:r>
            <a:endParaRPr lang="en-US" sz="1600" dirty="0"/>
          </a:p>
        </p:txBody>
      </p:sp>
      <p:sp>
        <p:nvSpPr>
          <p:cNvPr id="20" name="dce502d8-d5a5-461b-84f5-488672fad8d5"/>
          <p:cNvSpPr/>
          <p:nvPr/>
        </p:nvSpPr>
        <p:spPr>
          <a:xfrm>
            <a:off x="731520" y="429768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CN=legacy-orders</a:t>
            </a:r>
            <a:endParaRPr lang="en-US" sz="1100" dirty="0"/>
          </a:p>
        </p:txBody>
      </p:sp>
      <p:sp>
        <p:nvSpPr>
          <p:cNvPr id="21" name="92b21eee-d366-4cf9-b20a-1ab903bf78fb"/>
          <p:cNvSpPr/>
          <p:nvPr/>
        </p:nvSpPr>
        <p:spPr>
          <a:xfrm>
            <a:off x="621792" y="4178808"/>
            <a:ext cx="292608" cy="292608"/>
          </a:xfrm>
          <a:prstGeom prst="ellipse">
            <a:avLst>
              <a:gd name="adj" fmla="val 37500"/>
            </a:avLst>
          </a:prstGeom>
          <a:solidFill>
            <a:srgbClr val="E58A17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cceecc31-d086-4673-80f1-fd0bc53cbde1"/>
          <p:cNvSpPr/>
          <p:nvPr/>
        </p:nvSpPr>
        <p:spPr>
          <a:xfrm>
            <a:off x="2514600" y="4937760"/>
            <a:ext cx="365760" cy="0"/>
          </a:xfrm>
          <a:prstGeom prst="line">
            <a:avLst/>
          </a:prstGeom>
          <a:noFill/>
          <a:ln w="31750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23" name="afa22bf1-e6b3-4c89-8a91-e846f9e6fc7e"/>
          <p:cNvSpPr/>
          <p:nvPr/>
        </p:nvSpPr>
        <p:spPr>
          <a:xfrm>
            <a:off x="2880360" y="429768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DN → 主體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(不問 MDS)</a:t>
            </a:r>
            <a:endParaRPr lang="en-US" sz="1100" dirty="0"/>
          </a:p>
        </p:txBody>
      </p:sp>
      <p:sp>
        <p:nvSpPr>
          <p:cNvPr id="24" name="a7a70183-2177-4e33-bf0c-ac3fe9434cf3"/>
          <p:cNvSpPr/>
          <p:nvPr/>
        </p:nvSpPr>
        <p:spPr>
          <a:xfrm>
            <a:off x="2770632" y="4178808"/>
            <a:ext cx="292608" cy="292608"/>
          </a:xfrm>
          <a:prstGeom prst="ellipse">
            <a:avLst>
              <a:gd name="adj" fmla="val 37500"/>
            </a:avLst>
          </a:prstGeom>
          <a:solidFill>
            <a:srgbClr val="E58A17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4bea5343-9698-4d3e-ad10-53b5adbfdd39"/>
          <p:cNvSpPr/>
          <p:nvPr/>
        </p:nvSpPr>
        <p:spPr>
          <a:xfrm>
            <a:off x="4663440" y="4937760"/>
            <a:ext cx="365760" cy="0"/>
          </a:xfrm>
          <a:prstGeom prst="line">
            <a:avLst/>
          </a:prstGeom>
          <a:noFill/>
          <a:ln w="31750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26" name="6d628628-0875-456c-acf9-c6d9cda0a617"/>
          <p:cNvSpPr/>
          <p:nvPr/>
        </p:nvSpPr>
        <p:spPr>
          <a:xfrm>
            <a:off x="5029200" y="429768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/impersonate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restproxy 憑證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 legacy-orders</a:t>
            </a:r>
            <a:endParaRPr lang="en-US" sz="1100" dirty="0"/>
          </a:p>
        </p:txBody>
      </p:sp>
      <p:sp>
        <p:nvSpPr>
          <p:cNvPr id="27" name="37e90d8d-0ad9-4c71-9620-a15c6971a93b"/>
          <p:cNvSpPr/>
          <p:nvPr/>
        </p:nvSpPr>
        <p:spPr>
          <a:xfrm>
            <a:off x="4919472" y="4178808"/>
            <a:ext cx="292608" cy="292608"/>
          </a:xfrm>
          <a:prstGeom prst="ellipse">
            <a:avLst>
              <a:gd name="adj" fmla="val 37500"/>
            </a:avLst>
          </a:prstGeom>
          <a:solidFill>
            <a:srgbClr val="E58A17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fa568d3e-3a61-4b17-88a9-5849a4355990"/>
          <p:cNvSpPr/>
          <p:nvPr/>
        </p:nvSpPr>
        <p:spPr>
          <a:xfrm>
            <a:off x="6812280" y="4937760"/>
            <a:ext cx="365760" cy="0"/>
          </a:xfrm>
          <a:prstGeom prst="line">
            <a:avLst/>
          </a:prstGeom>
          <a:noFill/>
          <a:ln w="31750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29" name="80d90612-929f-44f4-bec0-8f5ac53948b5"/>
          <p:cNvSpPr/>
          <p:nvPr/>
        </p:nvSpPr>
        <p:spPr>
          <a:xfrm>
            <a:off x="7178040" y="429768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sub = legacy-orders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cp_proxy = restproxy</a:t>
            </a:r>
            <a:endParaRPr lang="en-US" sz="1100" dirty="0"/>
          </a:p>
        </p:txBody>
      </p:sp>
      <p:sp>
        <p:nvSpPr>
          <p:cNvPr id="30" name="3a0dac5a-640d-44e4-9fa4-3bc27201c71a"/>
          <p:cNvSpPr/>
          <p:nvPr/>
        </p:nvSpPr>
        <p:spPr>
          <a:xfrm>
            <a:off x="7068312" y="4178808"/>
            <a:ext cx="292608" cy="292608"/>
          </a:xfrm>
          <a:prstGeom prst="ellipse">
            <a:avLst>
              <a:gd name="adj" fmla="val 37500"/>
            </a:avLst>
          </a:prstGeom>
          <a:solidFill>
            <a:srgbClr val="E58A17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1efdc634-e788-4da0-91df-9c49119355f6"/>
          <p:cNvSpPr/>
          <p:nvPr/>
        </p:nvSpPr>
        <p:spPr>
          <a:xfrm>
            <a:off x="8961120" y="4937760"/>
            <a:ext cx="365760" cy="0"/>
          </a:xfrm>
          <a:prstGeom prst="line">
            <a:avLst/>
          </a:prstGeom>
          <a:noFill/>
          <a:ln w="31750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32" name="453411b5-35f6-4e30-ae30-4d95f1f45625"/>
          <p:cNvSpPr/>
          <p:nvPr/>
        </p:nvSpPr>
        <p:spPr>
          <a:xfrm>
            <a:off x="9326880" y="4297680"/>
            <a:ext cx="17830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User:legacy-orders</a:t>
            </a:r>
            <a:endParaRPr lang="en-US" sz="1100" dirty="0"/>
          </a:p>
        </p:txBody>
      </p:sp>
      <p:sp>
        <p:nvSpPr>
          <p:cNvPr id="33" name="84da1add-6e26-4696-9dbe-a020b5834c22"/>
          <p:cNvSpPr/>
          <p:nvPr/>
        </p:nvSpPr>
        <p:spPr>
          <a:xfrm>
            <a:off x="9217152" y="4178808"/>
            <a:ext cx="292608" cy="292608"/>
          </a:xfrm>
          <a:prstGeom prst="ellipse">
            <a:avLst>
              <a:gd name="adj" fmla="val 37500"/>
            </a:avLst>
          </a:prstGeom>
          <a:solidFill>
            <a:srgbClr val="E58A17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f77d37a2-58fd-4570-bf59-09cb72fd347d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依據:MDS 請求日誌與手動重現(實測)。人與機器的主體都由 token 的 sub 決定。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 憑證 = 可代任何人?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把「特權身分」加進受保護清單(impersonation protected users)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2a2f041-5d9a-4c6d-988f-ce84e7c78bb1"/>
          <p:cNvSpPr/>
          <p:nvPr/>
        </p:nvSpPr>
        <p:spPr>
          <a:xfrm>
            <a:off x="548640" y="164592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FBE6E8"/>
          </a:solidFill>
          <a:ln/>
        </p:spPr>
      </p:sp>
      <p:sp>
        <p:nvSpPr>
          <p:cNvPr id="3" name="84e5bf50-283e-44a5-99ce-befe9c39d26a"/>
          <p:cNvSpPr txBox="1"/>
          <p:nvPr/>
        </p:nvSpPr>
        <p:spPr>
          <a:xfrm>
            <a:off x="73152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修正前:只保護 broker 與 bootstrap</a:t>
            </a:r>
            <a:endParaRPr lang="en-US" sz="1800" dirty="0"/>
          </a:p>
        </p:txBody>
      </p:sp>
      <p:pic>
        <p:nvPicPr>
          <p:cNvPr id="4" name="815600f4-ecc4-4434-99cd-a635cd83705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77240" y="2231136"/>
            <a:ext cx="292608" cy="292608"/>
          </a:xfrm>
          <a:prstGeom prst="rect">
            <a:avLst/>
          </a:prstGeom>
        </p:spPr>
      </p:pic>
      <p:sp>
        <p:nvSpPr>
          <p:cNvPr id="5" name="b9d8c3e1-82c9-48ea-a455-496b5f86c931"/>
          <p:cNvSpPr txBox="1"/>
          <p:nvPr/>
        </p:nvSpPr>
        <p:spPr>
          <a:xfrm>
            <a:off x="11887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 / legacy-orders</a:t>
            </a:r>
            <a:endParaRPr lang="en-US" sz="1200" dirty="0"/>
          </a:p>
        </p:txBody>
      </p:sp>
      <p:sp>
        <p:nvSpPr>
          <p:cNvPr id="6" name="05691b21-fac0-4b28-a8b1-37d723d25ad5"/>
          <p:cNvSpPr/>
          <p:nvPr/>
        </p:nvSpPr>
        <p:spPr>
          <a:xfrm>
            <a:off x="3337560" y="2212848"/>
            <a:ext cx="2468880" cy="329184"/>
          </a:xfrm>
          <a:prstGeom prst="roundRect">
            <a:avLst>
              <a:gd name="adj" fmla="val 52778"/>
            </a:avLst>
          </a:prstGeom>
          <a:solidFill>
            <a:srgbClr val="E4EFF7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200 可代(一般使用者,正常)</a:t>
            </a:r>
            <a:endParaRPr lang="en-US" sz="1000" dirty="0"/>
          </a:p>
        </p:txBody>
      </p:sp>
      <p:pic>
        <p:nvPicPr>
          <p:cNvPr id="7" name="525b540d-642c-4fb9-8c86-d1f65384ad8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7240" y="2688336"/>
            <a:ext cx="292608" cy="292608"/>
          </a:xfrm>
          <a:prstGeom prst="rect">
            <a:avLst/>
          </a:prstGeom>
        </p:spPr>
      </p:pic>
      <p:sp>
        <p:nvSpPr>
          <p:cNvPr id="8" name="c969d25c-1644-42a1-9e58-98dcfb828d49"/>
          <p:cNvSpPr txBox="1"/>
          <p:nvPr/>
        </p:nvSpPr>
        <p:spPr>
          <a:xfrm>
            <a:off x="118872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gary(SystemAdmin)</a:t>
            </a:r>
            <a:endParaRPr lang="en-US" sz="1200" dirty="0"/>
          </a:p>
        </p:txBody>
      </p:sp>
      <p:sp>
        <p:nvSpPr>
          <p:cNvPr id="9" name="f123cb62-4c1b-4335-9aaa-abad4d6ec1fe"/>
          <p:cNvSpPr/>
          <p:nvPr/>
        </p:nvSpPr>
        <p:spPr>
          <a:xfrm>
            <a:off x="3337560" y="2670048"/>
            <a:ext cx="2468880" cy="329184"/>
          </a:xfrm>
          <a:prstGeom prst="roundRect">
            <a:avLst>
              <a:gd name="adj" fmla="val 52778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200 可代 ⚠ 可升為管理員</a:t>
            </a:r>
            <a:endParaRPr lang="en-US" sz="1000" dirty="0"/>
          </a:p>
        </p:txBody>
      </p:sp>
      <p:pic>
        <p:nvPicPr>
          <p:cNvPr id="10" name="9b0b2aa1-49b2-4631-8aeb-f922163c5c1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77240" y="3145536"/>
            <a:ext cx="292608" cy="292608"/>
          </a:xfrm>
          <a:prstGeom prst="rect">
            <a:avLst/>
          </a:prstGeom>
        </p:spPr>
      </p:pic>
      <p:sp>
        <p:nvSpPr>
          <p:cNvPr id="11" name="663904db-276a-446a-8bb4-ef4a7ee167a3"/>
          <p:cNvSpPr txBox="1"/>
          <p:nvPr/>
        </p:nvSpPr>
        <p:spPr>
          <a:xfrm>
            <a:off x="118872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c3(SystemAdmin)</a:t>
            </a:r>
            <a:endParaRPr lang="en-US" sz="1200" dirty="0"/>
          </a:p>
        </p:txBody>
      </p:sp>
      <p:sp>
        <p:nvSpPr>
          <p:cNvPr id="12" name="df00d93a-0083-41ac-b987-b6ca60891498"/>
          <p:cNvSpPr/>
          <p:nvPr/>
        </p:nvSpPr>
        <p:spPr>
          <a:xfrm>
            <a:off x="3337560" y="3127248"/>
            <a:ext cx="2468880" cy="329184"/>
          </a:xfrm>
          <a:prstGeom prst="roundRect">
            <a:avLst>
              <a:gd name="adj" fmla="val 52778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200 可代 ⚠ 可升為管理員</a:t>
            </a:r>
            <a:endParaRPr lang="en-US" sz="1000" dirty="0"/>
          </a:p>
        </p:txBody>
      </p:sp>
      <p:pic>
        <p:nvPicPr>
          <p:cNvPr id="13" name="55c971a9-47f3-483b-95cb-05a3e227200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77240" y="3602736"/>
            <a:ext cx="292608" cy="292608"/>
          </a:xfrm>
          <a:prstGeom prst="rect">
            <a:avLst/>
          </a:prstGeom>
        </p:spPr>
      </p:pic>
      <p:sp>
        <p:nvSpPr>
          <p:cNvPr id="14" name="27d6a611-6137-4a4e-a1c4-31f58df302fe"/>
          <p:cNvSpPr txBox="1"/>
          <p:nvPr/>
        </p:nvSpPr>
        <p:spPr>
          <a:xfrm>
            <a:off x="11887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svc-c3(SystemAdmin)</a:t>
            </a:r>
            <a:endParaRPr lang="en-US" sz="1200" dirty="0"/>
          </a:p>
        </p:txBody>
      </p:sp>
      <p:sp>
        <p:nvSpPr>
          <p:cNvPr id="15" name="3aa16507-9cd3-469c-8f78-46b221459086"/>
          <p:cNvSpPr/>
          <p:nvPr/>
        </p:nvSpPr>
        <p:spPr>
          <a:xfrm>
            <a:off x="3337560" y="3584448"/>
            <a:ext cx="2468880" cy="329184"/>
          </a:xfrm>
          <a:prstGeom prst="roundRect">
            <a:avLst>
              <a:gd name="adj" fmla="val 52778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200 可代 ⚠ 可升為管理員</a:t>
            </a:r>
            <a:endParaRPr lang="en-US" sz="1000" dirty="0"/>
          </a:p>
        </p:txBody>
      </p:sp>
      <p:pic>
        <p:nvPicPr>
          <p:cNvPr id="16" name="17ec1ee9-eac6-4c9d-8871-a7f7b42b6f5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777240" y="4059936"/>
            <a:ext cx="292608" cy="292608"/>
          </a:xfrm>
          <a:prstGeom prst="rect">
            <a:avLst/>
          </a:prstGeom>
        </p:spPr>
      </p:pic>
      <p:sp>
        <p:nvSpPr>
          <p:cNvPr id="17" name="fcf81352-1a04-414c-840d-1e764ccfad08"/>
          <p:cNvSpPr txBox="1"/>
          <p:nvPr/>
        </p:nvSpPr>
        <p:spPr>
          <a:xfrm>
            <a:off x="118872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/ kafka-broker</a:t>
            </a:r>
            <a:endParaRPr lang="en-US" sz="1200" dirty="0"/>
          </a:p>
        </p:txBody>
      </p:sp>
      <p:sp>
        <p:nvSpPr>
          <p:cNvPr id="18" name="f690ae6e-acb5-4c31-b76c-99ed0159bc75"/>
          <p:cNvSpPr/>
          <p:nvPr/>
        </p:nvSpPr>
        <p:spPr>
          <a:xfrm>
            <a:off x="3337560" y="4041648"/>
            <a:ext cx="2468880" cy="329184"/>
          </a:xfrm>
          <a:prstGeom prst="roundRect">
            <a:avLst>
              <a:gd name="adj" fmla="val 52778"/>
            </a:avLst>
          </a:prstGeom>
          <a:solidFill>
            <a:srgbClr val="FFFFFF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403 擋下</a:t>
            </a:r>
            <a:endParaRPr lang="en-US" sz="1000" dirty="0"/>
          </a:p>
        </p:txBody>
      </p:sp>
      <p:sp>
        <p:nvSpPr>
          <p:cNvPr id="19" name="504f2dd9-6cb4-4303-b717-a6165208b0b2"/>
          <p:cNvSpPr/>
          <p:nvPr/>
        </p:nvSpPr>
        <p:spPr>
          <a:xfrm>
            <a:off x="6126480" y="1645920"/>
            <a:ext cx="5394960" cy="3246120"/>
          </a:xfrm>
          <a:prstGeom prst="roundRect">
            <a:avLst>
              <a:gd name="adj" fmla="val 3380"/>
            </a:avLst>
          </a:prstGeom>
          <a:solidFill>
            <a:srgbClr val="E3F3E6"/>
          </a:solidFill>
          <a:ln/>
        </p:spPr>
      </p:sp>
      <p:sp>
        <p:nvSpPr>
          <p:cNvPr id="20" name="2bc8e3f4-d553-49cf-9544-a91dc2d8b715"/>
          <p:cNvSpPr txBox="1"/>
          <p:nvPr/>
        </p:nvSpPr>
        <p:spPr>
          <a:xfrm>
            <a:off x="630936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9E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修正後:特權身分全部列入</a:t>
            </a:r>
            <a:endParaRPr lang="en-US" sz="1800" dirty="0"/>
          </a:p>
        </p:txBody>
      </p:sp>
      <p:pic>
        <p:nvPicPr>
          <p:cNvPr id="21" name="31b1d191-2aaf-4bfc-890e-e01c1bcf5c42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6355080" y="2231136"/>
            <a:ext cx="292608" cy="292608"/>
          </a:xfrm>
          <a:prstGeom prst="rect">
            <a:avLst/>
          </a:prstGeom>
        </p:spPr>
      </p:pic>
      <p:sp>
        <p:nvSpPr>
          <p:cNvPr id="22" name="a00d6879-13b6-4d19-965f-9db3fe11dafd"/>
          <p:cNvSpPr txBox="1"/>
          <p:nvPr/>
        </p:nvSpPr>
        <p:spPr>
          <a:xfrm>
            <a:off x="67665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 / legacy-orders</a:t>
            </a:r>
            <a:endParaRPr lang="en-US" sz="1200" dirty="0"/>
          </a:p>
        </p:txBody>
      </p:sp>
      <p:sp>
        <p:nvSpPr>
          <p:cNvPr id="23" name="70e9db08-4162-4fbc-b989-3e2c02ea7132"/>
          <p:cNvSpPr/>
          <p:nvPr/>
        </p:nvSpPr>
        <p:spPr>
          <a:xfrm>
            <a:off x="8915400" y="2212848"/>
            <a:ext cx="2468880" cy="329184"/>
          </a:xfrm>
          <a:prstGeom prst="roundRect">
            <a:avLst>
              <a:gd name="adj" fmla="val 52778"/>
            </a:avLst>
          </a:prstGeom>
          <a:solidFill>
            <a:srgbClr val="E4EFF7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200 可代(一般使用者,正常)</a:t>
            </a:r>
            <a:endParaRPr lang="en-US" sz="1000" dirty="0"/>
          </a:p>
        </p:txBody>
      </p:sp>
      <p:pic>
        <p:nvPicPr>
          <p:cNvPr id="24" name="d2a5aa7b-bdc1-42eb-8cdc-70328d6cf776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6355080" y="2688336"/>
            <a:ext cx="292608" cy="292608"/>
          </a:xfrm>
          <a:prstGeom prst="rect">
            <a:avLst/>
          </a:prstGeom>
        </p:spPr>
      </p:pic>
      <p:sp>
        <p:nvSpPr>
          <p:cNvPr id="25" name="5b0c675b-33c3-4572-a0b6-efbba7a84cb1"/>
          <p:cNvSpPr txBox="1"/>
          <p:nvPr/>
        </p:nvSpPr>
        <p:spPr>
          <a:xfrm>
            <a:off x="676656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</a:t>
            </a:r>
            <a:endParaRPr lang="en-US" sz="1200" dirty="0"/>
          </a:p>
        </p:txBody>
      </p:sp>
      <p:sp>
        <p:nvSpPr>
          <p:cNvPr id="26" name="7a9f84eb-d853-4034-9f8d-997b3c3d9e60"/>
          <p:cNvSpPr/>
          <p:nvPr/>
        </p:nvSpPr>
        <p:spPr>
          <a:xfrm>
            <a:off x="8915400" y="2670048"/>
            <a:ext cx="2468880" cy="329184"/>
          </a:xfrm>
          <a:prstGeom prst="roundRect">
            <a:avLst>
              <a:gd name="adj" fmla="val 52778"/>
            </a:avLst>
          </a:prstGeom>
          <a:solidFill>
            <a:srgbClr val="FFFFFF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403 擋下</a:t>
            </a:r>
            <a:endParaRPr lang="en-US" sz="1000" dirty="0"/>
          </a:p>
        </p:txBody>
      </p:sp>
      <p:pic>
        <p:nvPicPr>
          <p:cNvPr id="27" name="16cd8f9b-0f66-45af-8c77-8a3c3bfc1b12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6355080" y="3145536"/>
            <a:ext cx="292608" cy="292608"/>
          </a:xfrm>
          <a:prstGeom prst="rect">
            <a:avLst/>
          </a:prstGeom>
        </p:spPr>
      </p:pic>
      <p:sp>
        <p:nvSpPr>
          <p:cNvPr id="28" name="c4e08e3b-4e84-4358-8f5d-ca1d96bb4f31"/>
          <p:cNvSpPr txBox="1"/>
          <p:nvPr/>
        </p:nvSpPr>
        <p:spPr>
          <a:xfrm>
            <a:off x="676656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9" name="547fc1e3-c217-4b31-a8c8-ab35c1ec92e6"/>
          <p:cNvSpPr/>
          <p:nvPr/>
        </p:nvSpPr>
        <p:spPr>
          <a:xfrm>
            <a:off x="8915400" y="3127248"/>
            <a:ext cx="2468880" cy="329184"/>
          </a:xfrm>
          <a:prstGeom prst="roundRect">
            <a:avLst>
              <a:gd name="adj" fmla="val 52778"/>
            </a:avLst>
          </a:prstGeom>
          <a:solidFill>
            <a:srgbClr val="FFFFFF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403 擋下</a:t>
            </a:r>
            <a:endParaRPr lang="en-US" sz="1000" dirty="0"/>
          </a:p>
        </p:txBody>
      </p:sp>
      <p:pic>
        <p:nvPicPr>
          <p:cNvPr id="30" name="c03bd765-6b16-44e0-a7cb-1fb12e82f663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355080" y="3602736"/>
            <a:ext cx="292608" cy="292608"/>
          </a:xfrm>
          <a:prstGeom prst="rect">
            <a:avLst/>
          </a:prstGeom>
        </p:spPr>
      </p:pic>
      <p:sp>
        <p:nvSpPr>
          <p:cNvPr id="31" name="ea0aebf5-8b05-4a9c-bee4-4468379fd03e"/>
          <p:cNvSpPr txBox="1"/>
          <p:nvPr/>
        </p:nvSpPr>
        <p:spPr>
          <a:xfrm>
            <a:off x="676656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svc-c3</a:t>
            </a:r>
            <a:endParaRPr lang="en-US" sz="1200" dirty="0"/>
          </a:p>
        </p:txBody>
      </p:sp>
      <p:sp>
        <p:nvSpPr>
          <p:cNvPr id="32" name="30389874-f0e8-4c90-9403-4de0b12debe4"/>
          <p:cNvSpPr/>
          <p:nvPr/>
        </p:nvSpPr>
        <p:spPr>
          <a:xfrm>
            <a:off x="8915400" y="3584448"/>
            <a:ext cx="2468880" cy="329184"/>
          </a:xfrm>
          <a:prstGeom prst="roundRect">
            <a:avLst>
              <a:gd name="adj" fmla="val 52778"/>
            </a:avLst>
          </a:prstGeom>
          <a:solidFill>
            <a:srgbClr val="FFFFFF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403 擋下</a:t>
            </a:r>
            <a:endParaRPr lang="en-US" sz="1000" dirty="0"/>
          </a:p>
        </p:txBody>
      </p:sp>
      <p:pic>
        <p:nvPicPr>
          <p:cNvPr id="33" name="a92bd71d-3698-40b2-8938-dd8870f3beed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6355080" y="4059936"/>
            <a:ext cx="292608" cy="292608"/>
          </a:xfrm>
          <a:prstGeom prst="rect">
            <a:avLst/>
          </a:prstGeom>
        </p:spPr>
      </p:pic>
      <p:sp>
        <p:nvSpPr>
          <p:cNvPr id="34" name="6be206f7-bec2-41b9-a15b-c6b25d626bb2"/>
          <p:cNvSpPr txBox="1"/>
          <p:nvPr/>
        </p:nvSpPr>
        <p:spPr>
          <a:xfrm>
            <a:off x="676656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/ kafka-broker / restproxy</a:t>
            </a:r>
            <a:endParaRPr lang="en-US" sz="1200" dirty="0"/>
          </a:p>
        </p:txBody>
      </p:sp>
      <p:sp>
        <p:nvSpPr>
          <p:cNvPr id="35" name="8d31ebe9-04e6-4efb-8786-c2949d55c79a"/>
          <p:cNvSpPr/>
          <p:nvPr/>
        </p:nvSpPr>
        <p:spPr>
          <a:xfrm>
            <a:off x="8915400" y="4041648"/>
            <a:ext cx="2468880" cy="329184"/>
          </a:xfrm>
          <a:prstGeom prst="roundRect">
            <a:avLst>
              <a:gd name="adj" fmla="val 52778"/>
            </a:avLst>
          </a:prstGeom>
          <a:solidFill>
            <a:srgbClr val="FFFFFF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403 擋下</a:t>
            </a:r>
            <a:endParaRPr lang="en-US" sz="1000" dirty="0"/>
          </a:p>
        </p:txBody>
      </p:sp>
      <p:sp>
        <p:nvSpPr>
          <p:cNvPr id="36" name="441296d7-05a7-4f18-b1d5-ae6fde6a10ed"/>
          <p:cNvSpPr/>
          <p:nvPr/>
        </p:nvSpPr>
        <p:spPr>
          <a:xfrm>
            <a:off x="548640" y="5074920"/>
            <a:ext cx="5394960" cy="384048"/>
          </a:xfrm>
          <a:prstGeom prst="roundRect">
            <a:avLst>
              <a:gd name="adj" fmla="val 45238"/>
            </a:avLst>
          </a:prstGeom>
          <a:solidFill>
            <a:srgbClr val="E4EFF7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 特權身分全加進 protected.users(gary、c3、svc-c3…)</a:t>
            </a:r>
            <a:endParaRPr lang="en-US" sz="1200" dirty="0"/>
          </a:p>
        </p:txBody>
      </p:sp>
      <p:sp>
        <p:nvSpPr>
          <p:cNvPr id="37" name="a7a08baa-8c5e-4192-9d78-e8ecdf6d0bd7"/>
          <p:cNvSpPr/>
          <p:nvPr/>
        </p:nvSpPr>
        <p:spPr>
          <a:xfrm>
            <a:off x="6126480" y="5074920"/>
            <a:ext cx="5394960" cy="384048"/>
          </a:xfrm>
          <a:prstGeom prst="roundRect">
            <a:avLst>
              <a:gd name="adj" fmla="val 45238"/>
            </a:avLst>
          </a:prstGeom>
          <a:solidFill>
            <a:srgbClr val="E4EFF7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  保護 client-restproxy 私鑰的檔案權限</a:t>
            </a:r>
            <a:endParaRPr lang="en-US" sz="1200" dirty="0"/>
          </a:p>
        </p:txBody>
      </p:sp>
      <p:sp>
        <p:nvSpPr>
          <p:cNvPr id="38" name="dad4db30-6306-4eea-828c-5bf5553f23b1"/>
          <p:cNvSpPr/>
          <p:nvPr/>
        </p:nvSpPr>
        <p:spPr>
          <a:xfrm>
            <a:off x="548640" y="5532120"/>
            <a:ext cx="5394960" cy="384048"/>
          </a:xfrm>
          <a:prstGeom prst="roundRect">
            <a:avLst>
              <a:gd name="adj" fmla="val 45238"/>
            </a:avLst>
          </a:prstGeom>
          <a:solidFill>
            <a:srgbClr val="E4EFF7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  監看 MDS 日誌中 restproxy 的 /impersonate 呼叫</a:t>
            </a:r>
            <a:endParaRPr lang="en-US" sz="1200" dirty="0"/>
          </a:p>
        </p:txBody>
      </p:sp>
      <p:sp>
        <p:nvSpPr>
          <p:cNvPr id="39" name="91514286-0bb7-4ec3-a3f2-b89a3abff387"/>
          <p:cNvSpPr/>
          <p:nvPr/>
        </p:nvSpPr>
        <p:spPr>
          <a:xfrm>
            <a:off x="6126480" y="5532120"/>
            <a:ext cx="5394960" cy="384048"/>
          </a:xfrm>
          <a:prstGeom prst="roundRect">
            <a:avLst>
              <a:gd name="adj" fmla="val 45238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audit 的 actingPrincipal 為空:看不出請求經過 REST Proxy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Center:誰連到誰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人用本人身分,機器用自己的身分(憑證)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728714d-5892-4c3d-88aa-f306d8a9776e"/>
          <p:cNvSpPr/>
          <p:nvPr/>
        </p:nvSpPr>
        <p:spPr>
          <a:xfrm>
            <a:off x="548640" y="173736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3" name="397b343f-cc9c-49f0-86e1-45d5321c3bc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1520" y="2029968"/>
            <a:ext cx="512064" cy="512064"/>
          </a:xfrm>
          <a:prstGeom prst="rect">
            <a:avLst/>
          </a:prstGeom>
        </p:spPr>
      </p:pic>
      <p:sp>
        <p:nvSpPr>
          <p:cNvPr id="4" name="37678d99-dcf9-4904-a7f4-884ec9f6210a"/>
          <p:cNvSpPr txBox="1"/>
          <p:nvPr/>
        </p:nvSpPr>
        <p:spPr>
          <a:xfrm>
            <a:off x="137160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/ ming</a:t>
            </a:r>
            <a:endParaRPr lang="en-US" sz="1600" dirty="0"/>
          </a:p>
        </p:txBody>
      </p:sp>
      <p:sp>
        <p:nvSpPr>
          <p:cNvPr id="5" name="9c0b2a4c-974b-41bf-a2bc-ad705b2eabb4"/>
          <p:cNvSpPr txBox="1"/>
          <p:nvPr/>
        </p:nvSpPr>
        <p:spPr>
          <a:xfrm>
            <a:off x="1371600" y="234086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AD 帳密</a:t>
            </a:r>
            <a:endParaRPr lang="en-US" sz="1100" dirty="0"/>
          </a:p>
        </p:txBody>
      </p:sp>
      <p:sp>
        <p:nvSpPr>
          <p:cNvPr id="6" name="6c032306-79e2-4156-98fe-91da5661e5c0"/>
          <p:cNvSpPr/>
          <p:nvPr/>
        </p:nvSpPr>
        <p:spPr>
          <a:xfrm>
            <a:off x="548640" y="429768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7" name="d57f7533-05ca-4adc-82d8-6e6aca73392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1520" y="4590288"/>
            <a:ext cx="512064" cy="512064"/>
          </a:xfrm>
          <a:prstGeom prst="rect">
            <a:avLst/>
          </a:prstGeom>
        </p:spPr>
      </p:pic>
      <p:sp>
        <p:nvSpPr>
          <p:cNvPr id="8" name="b98eff81-091c-4bc7-aa5b-98857858c4c8"/>
          <p:cNvSpPr txBox="1"/>
          <p:nvPr/>
        </p:nvSpPr>
        <p:spPr>
          <a:xfrm>
            <a:off x="1371600" y="4389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CI / 自動化</a:t>
            </a:r>
            <a:endParaRPr lang="en-US" sz="1600" dirty="0"/>
          </a:p>
        </p:txBody>
      </p:sp>
      <p:sp>
        <p:nvSpPr>
          <p:cNvPr id="9" name="74e02ff0-9ea5-4492-a2ce-b237dc1ff37f"/>
          <p:cNvSpPr txBox="1"/>
          <p:nvPr/>
        </p:nvSpPr>
        <p:spPr>
          <a:xfrm>
            <a:off x="1371600" y="490118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 → MDS token</a:t>
            </a:r>
            <a:endParaRPr lang="en-US" sz="1100" dirty="0"/>
          </a:p>
        </p:txBody>
      </p:sp>
      <p:sp>
        <p:nvSpPr>
          <p:cNvPr id="10" name="46259a95-a7d0-4a5f-bee9-7ffafb9940dd"/>
          <p:cNvSpPr/>
          <p:nvPr/>
        </p:nvSpPr>
        <p:spPr>
          <a:xfrm>
            <a:off x="4297680" y="2834640"/>
            <a:ext cx="2743200" cy="1463040"/>
          </a:xfrm>
          <a:prstGeom prst="roundRect">
            <a:avLst>
              <a:gd name="adj" fmla="val 15625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2000" dirty="0"/>
          </a:p>
        </p:txBody>
      </p:sp>
      <p:sp>
        <p:nvSpPr>
          <p:cNvPr id="11" name="90575ad6-0a85-476b-a165-e395e47c6ee8"/>
          <p:cNvSpPr/>
          <p:nvPr/>
        </p:nvSpPr>
        <p:spPr>
          <a:xfrm>
            <a:off x="8686800" y="155448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2" name="d11168b9-7f23-4b94-8c7e-cbe63b27add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869680" y="1801368"/>
            <a:ext cx="512064" cy="512064"/>
          </a:xfrm>
          <a:prstGeom prst="rect">
            <a:avLst/>
          </a:prstGeom>
        </p:spPr>
      </p:pic>
      <p:sp>
        <p:nvSpPr>
          <p:cNvPr id="13" name="a5071fb4-ab17-4b26-bcc5-afeee6a674ba"/>
          <p:cNvSpPr txBox="1"/>
          <p:nvPr/>
        </p:nvSpPr>
        <p:spPr>
          <a:xfrm>
            <a:off x="9509760" y="1645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600" dirty="0"/>
          </a:p>
        </p:txBody>
      </p:sp>
      <p:sp>
        <p:nvSpPr>
          <p:cNvPr id="14" name="387ddd91-1ffb-4b9a-99c9-05ce17561d51"/>
          <p:cNvSpPr txBox="1"/>
          <p:nvPr/>
        </p:nvSpPr>
        <p:spPr>
          <a:xfrm>
            <a:off x="9509760" y="21076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 + 授權</a:t>
            </a:r>
            <a:endParaRPr lang="en-US" sz="1100" dirty="0"/>
          </a:p>
        </p:txBody>
      </p:sp>
      <p:sp>
        <p:nvSpPr>
          <p:cNvPr id="15" name="23c1ac09-9016-4613-a0d6-1689460f6dae"/>
          <p:cNvSpPr/>
          <p:nvPr/>
        </p:nvSpPr>
        <p:spPr>
          <a:xfrm>
            <a:off x="8686800" y="306324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6" name="822ed81e-593c-43e1-907f-cdc4e3498ef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869680" y="3310128"/>
            <a:ext cx="512064" cy="512064"/>
          </a:xfrm>
          <a:prstGeom prst="rect">
            <a:avLst/>
          </a:prstGeom>
        </p:spPr>
      </p:pic>
      <p:sp>
        <p:nvSpPr>
          <p:cNvPr id="17" name="04e5cdd3-9666-4e03-9a0e-ccf4a6464b14"/>
          <p:cNvSpPr txBox="1"/>
          <p:nvPr/>
        </p:nvSpPr>
        <p:spPr>
          <a:xfrm>
            <a:off x="950976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600" dirty="0"/>
          </a:p>
        </p:txBody>
      </p:sp>
      <p:sp>
        <p:nvSpPr>
          <p:cNvPr id="18" name="f51c938e-ff3b-4c4f-9889-f8261a1c7c20"/>
          <p:cNvSpPr txBox="1"/>
          <p:nvPr/>
        </p:nvSpPr>
        <p:spPr>
          <a:xfrm>
            <a:off x="9509760" y="36164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</p:txBody>
      </p:sp>
      <p:sp>
        <p:nvSpPr>
          <p:cNvPr id="19" name="f6ba06a8-a380-4e53-b687-fbcef47525e4"/>
          <p:cNvSpPr/>
          <p:nvPr/>
        </p:nvSpPr>
        <p:spPr>
          <a:xfrm>
            <a:off x="8686800" y="4572000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20" name="985bdd13-7fbe-4644-94cc-e77c37087919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869680" y="4818888"/>
            <a:ext cx="512064" cy="512064"/>
          </a:xfrm>
          <a:prstGeom prst="rect">
            <a:avLst/>
          </a:prstGeom>
        </p:spPr>
      </p:pic>
      <p:sp>
        <p:nvSpPr>
          <p:cNvPr id="21" name="76f42984-0f4b-4f90-890f-156caf63ff65"/>
          <p:cNvSpPr txBox="1"/>
          <p:nvPr/>
        </p:nvSpPr>
        <p:spPr>
          <a:xfrm>
            <a:off x="9509760" y="4572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300" dirty="0"/>
          </a:p>
        </p:txBody>
      </p:sp>
      <p:sp>
        <p:nvSpPr>
          <p:cNvPr id="22" name="fe1434d4-77bc-4648-87ac-3c4c639d0d81"/>
          <p:cNvSpPr/>
          <p:nvPr/>
        </p:nvSpPr>
        <p:spPr>
          <a:xfrm>
            <a:off x="3200400" y="2286000"/>
            <a:ext cx="1097280" cy="914400"/>
          </a:xfrm>
          <a:prstGeom prst="line">
            <a:avLst/>
          </a:prstGeom>
          <a:noFill/>
          <a:ln w="38100">
            <a:solidFill>
              <a:srgbClr val="155C91"/>
            </a:solidFill>
            <a:prstDash val="solid"/>
            <a:tailEnd type="triangle"/>
          </a:ln>
        </p:spPr>
      </p:sp>
      <p:sp>
        <p:nvSpPr>
          <p:cNvPr id="23" name="b8d2eae8-8c41-425f-9e23-4ee127d736c1"/>
          <p:cNvSpPr txBox="1"/>
          <p:nvPr/>
        </p:nvSpPr>
        <p:spPr>
          <a:xfrm>
            <a:off x="338328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一次 → Bearer</a:t>
            </a:r>
            <a:endParaRPr lang="en-US" sz="1000" dirty="0"/>
          </a:p>
        </p:txBody>
      </p:sp>
      <p:sp>
        <p:nvSpPr>
          <p:cNvPr id="24" name="1e195084-4a01-4749-805a-4e426d9e35eb"/>
          <p:cNvSpPr/>
          <p:nvPr/>
        </p:nvSpPr>
        <p:spPr>
          <a:xfrm flipV="1">
            <a:off x="3200400" y="3931920"/>
            <a:ext cx="1097280" cy="914400"/>
          </a:xfrm>
          <a:prstGeom prst="line">
            <a:avLst/>
          </a:prstGeom>
          <a:noFill/>
          <a:ln w="38100">
            <a:solidFill>
              <a:srgbClr val="E58A17"/>
            </a:solidFill>
            <a:prstDash val="solid"/>
            <a:tailEnd type="triangle"/>
          </a:ln>
        </p:spPr>
      </p:sp>
      <p:sp>
        <p:nvSpPr>
          <p:cNvPr id="25" name="99814dac-1b7f-4f8b-8c2f-fc7e67b29501"/>
          <p:cNvSpPr txBox="1"/>
          <p:nvPr/>
        </p:nvSpPr>
        <p:spPr>
          <a:xfrm>
            <a:off x="3383280" y="4892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8A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 → token → Bearer</a:t>
            </a:r>
            <a:endParaRPr lang="en-US" sz="1000" dirty="0"/>
          </a:p>
        </p:txBody>
      </p:sp>
      <p:sp>
        <p:nvSpPr>
          <p:cNvPr id="26" name="dcf9c4de-45a1-45d2-a05d-4bcd59fd3726"/>
          <p:cNvSpPr/>
          <p:nvPr/>
        </p:nvSpPr>
        <p:spPr>
          <a:xfrm flipV="1">
            <a:off x="7040880" y="2103120"/>
            <a:ext cx="1645920" cy="1005840"/>
          </a:xfrm>
          <a:prstGeom prst="line">
            <a:avLst/>
          </a:prstGeom>
          <a:noFill/>
          <a:ln w="31750">
            <a:solidFill>
              <a:srgbClr val="155C91"/>
            </a:solidFill>
            <a:prstDash val="solid"/>
            <a:tailEnd type="triangle"/>
          </a:ln>
        </p:spPr>
      </p:sp>
      <p:sp>
        <p:nvSpPr>
          <p:cNvPr id="27" name="73d0dbf5-4b5c-4738-9e29-0871f1936655"/>
          <p:cNvSpPr txBox="1"/>
          <p:nvPr/>
        </p:nvSpPr>
        <p:spPr>
          <a:xfrm>
            <a:off x="676656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 token / c3 憑證</a:t>
            </a:r>
            <a:endParaRPr lang="en-US" sz="1000" dirty="0"/>
          </a:p>
        </p:txBody>
      </p:sp>
      <p:sp>
        <p:nvSpPr>
          <p:cNvPr id="28" name="830f256a-54d4-4228-9c52-7510ab71bf6f"/>
          <p:cNvSpPr/>
          <p:nvPr/>
        </p:nvSpPr>
        <p:spPr>
          <a:xfrm>
            <a:off x="7040880" y="3566160"/>
            <a:ext cx="1645920" cy="0"/>
          </a:xfrm>
          <a:prstGeom prst="line">
            <a:avLst/>
          </a:prstGeom>
          <a:noFill/>
          <a:ln w="31750">
            <a:solidFill>
              <a:srgbClr val="155C91"/>
            </a:solidFill>
            <a:prstDash val="solid"/>
            <a:tailEnd type="triangle"/>
          </a:ln>
        </p:spPr>
      </p:sp>
      <p:sp>
        <p:nvSpPr>
          <p:cNvPr id="29" name="2c42db7f-c47b-4052-aaa0-84b4e5e3110d"/>
          <p:cNvSpPr txBox="1"/>
          <p:nvPr/>
        </p:nvSpPr>
        <p:spPr>
          <a:xfrm>
            <a:off x="717804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000" dirty="0"/>
          </a:p>
        </p:txBody>
      </p:sp>
      <p:sp>
        <p:nvSpPr>
          <p:cNvPr id="30" name="354da5d8-af20-4725-a79c-4992291b2608"/>
          <p:cNvSpPr/>
          <p:nvPr/>
        </p:nvSpPr>
        <p:spPr>
          <a:xfrm>
            <a:off x="7040880" y="4023360"/>
            <a:ext cx="1645920" cy="1005840"/>
          </a:xfrm>
          <a:prstGeom prst="line">
            <a:avLst/>
          </a:prstGeom>
          <a:noFill/>
          <a:ln w="31750">
            <a:solidFill>
              <a:srgbClr val="C0192A"/>
            </a:solidFill>
            <a:prstDash val="dash"/>
            <a:tailEnd type="triangle"/>
          </a:ln>
        </p:spPr>
      </p:sp>
      <p:sp>
        <p:nvSpPr>
          <p:cNvPr id="31" name="561f06c6-be10-481d-b831-ae408475f112"/>
          <p:cNvSpPr txBox="1"/>
          <p:nvPr/>
        </p:nvSpPr>
        <p:spPr>
          <a:xfrm>
            <a:off x="7406640" y="4572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無認證</a:t>
            </a:r>
            <a:endParaRPr lang="en-US" sz="1000" dirty="0"/>
          </a:p>
        </p:txBody>
      </p:sp>
      <p:sp>
        <p:nvSpPr>
          <p:cNvPr id="32" name="ad8ccea6-a7eb-40eb-8744-e651c33fb36e"/>
          <p:cNvSpPr/>
          <p:nvPr/>
        </p:nvSpPr>
        <p:spPr>
          <a:xfrm>
            <a:off x="548640" y="5760720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E4EFF7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 → 帶使用者本人身分(audit:User:ming)</a:t>
            </a:r>
            <a:endParaRPr lang="en-US" sz="1200" dirty="0"/>
          </a:p>
        </p:txBody>
      </p:sp>
      <p:sp>
        <p:nvSpPr>
          <p:cNvPr id="33" name="4cd9d6fa-2618-4da8-98ce-7571fc018ffb"/>
          <p:cNvSpPr/>
          <p:nvPr/>
        </p:nvSpPr>
        <p:spPr>
          <a:xfrm>
            <a:off x="6126480" y="5760720"/>
            <a:ext cx="5394960" cy="45720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背景串流 → User:c3(SystemAdmin,憑證換 token)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的三個風險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都是實測發現,導入時要處理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7cf0af3-8857-48b5-b7ae-26aba8ee9b28"/>
          <p:cNvSpPr/>
          <p:nvPr/>
        </p:nvSpPr>
        <p:spPr>
          <a:xfrm>
            <a:off x="548640" y="16916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2225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" name="f8a80325-9f18-4e53-99d5-7ff8d2fe9d02"/>
          <p:cNvSpPr/>
          <p:nvPr/>
        </p:nvSpPr>
        <p:spPr>
          <a:xfrm>
            <a:off x="1783080" y="1965960"/>
            <a:ext cx="1005840" cy="1005840"/>
          </a:xfrm>
          <a:prstGeom prst="ellipse">
            <a:avLst>
              <a:gd name="adj" fmla="val 10909"/>
            </a:avLst>
          </a:prstGeom>
          <a:solidFill>
            <a:srgbClr val="F1F4F7"/>
          </a:solidFill>
          <a:ln/>
        </p:spPr>
      </p:sp>
      <p:pic>
        <p:nvPicPr>
          <p:cNvPr id="4" name="f015ef3a-e825-42ab-a7ad-36460aad0d3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984248" y="2167128"/>
            <a:ext cx="603504" cy="603504"/>
          </a:xfrm>
          <a:prstGeom prst="rect">
            <a:avLst/>
          </a:prstGeom>
        </p:spPr>
      </p:pic>
      <p:sp>
        <p:nvSpPr>
          <p:cNvPr id="5" name="dc7b5360-4ced-4516-a9ce-851bea4501d6"/>
          <p:cNvSpPr txBox="1"/>
          <p:nvPr/>
        </p:nvSpPr>
        <p:spPr>
          <a:xfrm>
            <a:off x="73152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的憑證 = 管理員</a:t>
            </a:r>
            <a:endParaRPr lang="en-US" sz="1700" dirty="0"/>
          </a:p>
        </p:txBody>
      </p:sp>
      <p:sp>
        <p:nvSpPr>
          <p:cNvPr id="6" name="9d22d2c0-bff4-433e-beb9-a8671bfa04a0"/>
          <p:cNvSpPr/>
          <p:nvPr/>
        </p:nvSpPr>
        <p:spPr>
          <a:xfrm>
            <a:off x="777240" y="374904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實測:換到的 token 可建立 / 刪除 role binding(204)</a:t>
            </a:r>
            <a:endParaRPr lang="en-US" sz="1100" dirty="0"/>
          </a:p>
        </p:txBody>
      </p:sp>
      <p:sp>
        <p:nvSpPr>
          <p:cNvPr id="7" name="85f26455-d143-4733-bda0-f0b0c1823831"/>
          <p:cNvSpPr/>
          <p:nvPr/>
        </p:nvSpPr>
        <p:spPr>
          <a:xfrm>
            <a:off x="777240" y="4709160"/>
            <a:ext cx="3017520" cy="777240"/>
          </a:xfrm>
          <a:prstGeom prst="roundRect">
            <a:avLst>
              <a:gd name="adj" fmla="val 14118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對策:嚴控 client-c3 keystore 權限;User:c3 列入受保護清單</a:t>
            </a:r>
            <a:endParaRPr lang="en-US" sz="1100" dirty="0"/>
          </a:p>
        </p:txBody>
      </p:sp>
      <p:sp>
        <p:nvSpPr>
          <p:cNvPr id="8" name="40f09588-1627-42cd-bb4a-87fe68aa15fc"/>
          <p:cNvSpPr/>
          <p:nvPr/>
        </p:nvSpPr>
        <p:spPr>
          <a:xfrm>
            <a:off x="4297680" y="16916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2225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9" name="f9e7e9ce-ef4b-4db6-bd11-1a1b41423e1b"/>
          <p:cNvSpPr/>
          <p:nvPr/>
        </p:nvSpPr>
        <p:spPr>
          <a:xfrm>
            <a:off x="5532120" y="1965960"/>
            <a:ext cx="1005840" cy="1005840"/>
          </a:xfrm>
          <a:prstGeom prst="ellipse">
            <a:avLst>
              <a:gd name="adj" fmla="val 10909"/>
            </a:avLst>
          </a:prstGeom>
          <a:solidFill>
            <a:srgbClr val="F1F4F7"/>
          </a:solidFill>
          <a:ln/>
        </p:spPr>
      </p:sp>
      <p:pic>
        <p:nvPicPr>
          <p:cNvPr id="10" name="5ed5bb72-a792-4fae-82f2-4393d3836c3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733288" y="2167128"/>
            <a:ext cx="603504" cy="603504"/>
          </a:xfrm>
          <a:prstGeom prst="rect">
            <a:avLst/>
          </a:prstGeom>
        </p:spPr>
      </p:pic>
      <p:sp>
        <p:nvSpPr>
          <p:cNvPr id="11" name="8877fd53-6bdf-4616-9769-101ce6b9fc0b"/>
          <p:cNvSpPr txBox="1"/>
          <p:nvPr/>
        </p:nvSpPr>
        <p:spPr>
          <a:xfrm>
            <a:off x="448056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 無認證</a:t>
            </a:r>
            <a:endParaRPr lang="en-US" sz="1700" dirty="0"/>
          </a:p>
        </p:txBody>
      </p:sp>
      <p:sp>
        <p:nvSpPr>
          <p:cNvPr id="12" name="6ddc5012-4612-41e6-a63d-3c9bfc04316a"/>
          <p:cNvSpPr/>
          <p:nvPr/>
        </p:nvSpPr>
        <p:spPr>
          <a:xfrm>
            <a:off x="4526280" y="374904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BE6E8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8A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實測:不帶憑證即可讀指標(200)</a:t>
            </a:r>
            <a:endParaRPr lang="en-US" sz="1100" dirty="0"/>
          </a:p>
        </p:txBody>
      </p:sp>
      <p:sp>
        <p:nvSpPr>
          <p:cNvPr id="13" name="961ee0bc-6821-43a4-b365-34d7b0ec1524"/>
          <p:cNvSpPr/>
          <p:nvPr/>
        </p:nvSpPr>
        <p:spPr>
          <a:xfrm>
            <a:off x="4526280" y="4709160"/>
            <a:ext cx="3017520" cy="777240"/>
          </a:xfrm>
          <a:prstGeom prst="roundRect">
            <a:avLst>
              <a:gd name="adj" fmla="val 14118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對策:網路隔離:防火牆、綁內網介面</a:t>
            </a:r>
            <a:endParaRPr lang="en-US" sz="1100" dirty="0"/>
          </a:p>
        </p:txBody>
      </p:sp>
      <p:sp>
        <p:nvSpPr>
          <p:cNvPr id="14" name="0b13cd0d-b9f1-4857-92ea-85b37a0e8d77"/>
          <p:cNvSpPr/>
          <p:nvPr/>
        </p:nvSpPr>
        <p:spPr>
          <a:xfrm>
            <a:off x="8046720" y="16916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2225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a95367d0-e858-4b17-96ed-d0646053a00e"/>
          <p:cNvSpPr/>
          <p:nvPr/>
        </p:nvSpPr>
        <p:spPr>
          <a:xfrm>
            <a:off x="9281160" y="1965960"/>
            <a:ext cx="1005840" cy="1005840"/>
          </a:xfrm>
          <a:prstGeom prst="ellipse">
            <a:avLst>
              <a:gd name="adj" fmla="val 10909"/>
            </a:avLst>
          </a:prstGeom>
          <a:solidFill>
            <a:srgbClr val="F1F4F7"/>
          </a:solidFill>
          <a:ln/>
        </p:spPr>
      </p:sp>
      <p:pic>
        <p:nvPicPr>
          <p:cNvPr id="16" name="d326657d-2038-4508-a062-7eb3b72fd75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482328" y="2167128"/>
            <a:ext cx="603504" cy="603504"/>
          </a:xfrm>
          <a:prstGeom prst="rect">
            <a:avLst/>
          </a:prstGeom>
        </p:spPr>
      </p:pic>
      <p:sp>
        <p:nvSpPr>
          <p:cNvPr id="17" name="5ecadd4e-bf1e-42f1-ac34-c0f6e033dd57"/>
          <p:cNvSpPr txBox="1"/>
          <p:nvPr/>
        </p:nvSpPr>
        <p:spPr>
          <a:xfrm>
            <a:off x="822960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 可寫</a:t>
            </a:r>
            <a:endParaRPr lang="en-US" sz="1700" dirty="0"/>
          </a:p>
        </p:txBody>
      </p:sp>
      <p:sp>
        <p:nvSpPr>
          <p:cNvPr id="18" name="d2b00932-7780-409e-9b25-83be7ec9af03"/>
          <p:cNvSpPr/>
          <p:nvPr/>
        </p:nvSpPr>
        <p:spPr>
          <a:xfrm>
            <a:off x="8275320" y="374904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BE6E8"/>
          </a:solidFill>
          <a:ln w="1270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實測:不帶憑證即可建立靜音(200)→ 能靜音告警</a:t>
            </a:r>
            <a:endParaRPr lang="en-US" sz="1100" dirty="0"/>
          </a:p>
        </p:txBody>
      </p:sp>
      <p:sp>
        <p:nvSpPr>
          <p:cNvPr id="19" name="ac862a67-d6ec-49bf-86d1-46cc42df6354"/>
          <p:cNvSpPr/>
          <p:nvPr/>
        </p:nvSpPr>
        <p:spPr>
          <a:xfrm>
            <a:off x="8275320" y="4709160"/>
            <a:ext cx="3017520" cy="777240"/>
          </a:xfrm>
          <a:prstGeom prst="roundRect">
            <a:avLst>
              <a:gd name="adj" fmla="val 14118"/>
            </a:avLst>
          </a:prstGeom>
          <a:solidFill>
            <a:srgbClr val="E3F3E6"/>
          </a:solidFill>
          <a:ln w="127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對策:網路隔離 + 監看靜音變更</a:t>
            </a:r>
            <a:endParaRPr lang="en-US" sz="1100" dirty="0"/>
          </a:p>
        </p:txBody>
      </p:sp>
      <p:sp>
        <p:nvSpPr>
          <p:cNvPr id="20" name="e7e61f73-fe1a-4475-9191-346f26d84018"/>
          <p:cNvSpPr/>
          <p:nvPr/>
        </p:nvSpPr>
        <p:spPr>
          <a:xfrm>
            <a:off x="548640" y="5760720"/>
            <a:ext cx="10972800" cy="45720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5B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官方文件:C3 的 MDS 憑證範例是帳密、且說 C3 以自己的主體查詢 Kafka;本環境用憑證、使用者操作帶使用者身分(實測)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正式環境:唯讀 + 分權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平常人人唯讀;管理與授權拆開,需要時臨時加入群組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5004c2d-c7d6-4a7a-b18d-48d20b133013"/>
          <p:cNvSpPr/>
          <p:nvPr/>
        </p:nvSpPr>
        <p:spPr>
          <a:xfrm>
            <a:off x="3017520" y="16459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3" name="56e16542-65cb-49dc-8f3f-5b298e1404f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749040" y="1737360"/>
            <a:ext cx="548640" cy="548640"/>
          </a:xfrm>
          <a:prstGeom prst="rect">
            <a:avLst/>
          </a:prstGeom>
        </p:spPr>
      </p:pic>
      <p:sp>
        <p:nvSpPr>
          <p:cNvPr id="4" name="8cf168ae-7018-4cd9-b602-2ca38d858ec7"/>
          <p:cNvSpPr txBox="1"/>
          <p:nvPr/>
        </p:nvSpPr>
        <p:spPr>
          <a:xfrm>
            <a:off x="301752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5" name="8ccce053-b7c3-42c5-a5fe-fa40e1a6696b"/>
          <p:cNvSpPr txBox="1"/>
          <p:nvPr/>
        </p:nvSpPr>
        <p:spPr>
          <a:xfrm>
            <a:off x="301752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6" name="250c2700-22a6-482e-aca4-b84d3331fa9f"/>
          <p:cNvSpPr/>
          <p:nvPr/>
        </p:nvSpPr>
        <p:spPr>
          <a:xfrm>
            <a:off x="5166360" y="16459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7" name="d07d773a-4bb5-4506-906a-c5734a4b828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897880" y="1737360"/>
            <a:ext cx="548640" cy="548640"/>
          </a:xfrm>
          <a:prstGeom prst="rect">
            <a:avLst/>
          </a:prstGeom>
        </p:spPr>
      </p:pic>
      <p:sp>
        <p:nvSpPr>
          <p:cNvPr id="8" name="1806547b-aa80-4c0e-8460-01d73651ddcc"/>
          <p:cNvSpPr txBox="1"/>
          <p:nvPr/>
        </p:nvSpPr>
        <p:spPr>
          <a:xfrm>
            <a:off x="516636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9" name="e66a11a2-7750-4586-9e21-f2e7dd2e7819"/>
          <p:cNvSpPr txBox="1"/>
          <p:nvPr/>
        </p:nvSpPr>
        <p:spPr>
          <a:xfrm>
            <a:off x="516636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Manage</a:t>
            </a:r>
            <a:endParaRPr lang="en-US" sz="1100" dirty="0"/>
          </a:p>
        </p:txBody>
      </p:sp>
      <p:sp>
        <p:nvSpPr>
          <p:cNvPr id="10" name="0fb4a2c1-58b7-4c8e-be2c-8c6421a9dd61"/>
          <p:cNvSpPr/>
          <p:nvPr/>
        </p:nvSpPr>
        <p:spPr>
          <a:xfrm>
            <a:off x="7315200" y="16459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1" name="bf449ec7-0e7f-45a7-abb0-90621465c33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046720" y="1737360"/>
            <a:ext cx="548640" cy="548640"/>
          </a:xfrm>
          <a:prstGeom prst="rect">
            <a:avLst/>
          </a:prstGeom>
        </p:spPr>
      </p:pic>
      <p:sp>
        <p:nvSpPr>
          <p:cNvPr id="12" name="8d980474-31d9-407d-b73d-f0de3239158c"/>
          <p:cNvSpPr txBox="1"/>
          <p:nvPr/>
        </p:nvSpPr>
        <p:spPr>
          <a:xfrm>
            <a:off x="731520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13" name="ca879997-e616-455f-948a-c55627d0fc38"/>
          <p:cNvSpPr txBox="1"/>
          <p:nvPr/>
        </p:nvSpPr>
        <p:spPr>
          <a:xfrm>
            <a:off x="731520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14" name="ce98abaf-ca64-4f5a-8e1d-bd1dea6833bc"/>
          <p:cNvSpPr/>
          <p:nvPr/>
        </p:nvSpPr>
        <p:spPr>
          <a:xfrm>
            <a:off x="9464040" y="16459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5" name="7259e1e7-b44d-46c6-91d6-1c87c753fa2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95560" y="1737360"/>
            <a:ext cx="548640" cy="548640"/>
          </a:xfrm>
          <a:prstGeom prst="rect">
            <a:avLst/>
          </a:prstGeom>
        </p:spPr>
      </p:pic>
      <p:sp>
        <p:nvSpPr>
          <p:cNvPr id="16" name="f9083258-6c0b-4f83-8834-77fa4ae63ad1"/>
          <p:cNvSpPr txBox="1"/>
          <p:nvPr/>
        </p:nvSpPr>
        <p:spPr>
          <a:xfrm>
            <a:off x="94640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17" name="d583abc3-fba7-4b55-aa16-3a90cbbacad0"/>
          <p:cNvSpPr txBox="1"/>
          <p:nvPr/>
        </p:nvSpPr>
        <p:spPr>
          <a:xfrm>
            <a:off x="946404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18" name="8903a8f9-48be-4760-874a-c3a1d7c4ed14"/>
          <p:cNvSpPr/>
          <p:nvPr/>
        </p:nvSpPr>
        <p:spPr>
          <a:xfrm>
            <a:off x="548640" y="3200400"/>
            <a:ext cx="10927080" cy="640080"/>
          </a:xfrm>
          <a:prstGeom prst="roundRect">
            <a:avLst>
              <a:gd name="adj" fmla="val 7143"/>
            </a:avLst>
          </a:prstGeom>
          <a:solidFill>
            <a:srgbClr val="F1F4F7"/>
          </a:solidFill>
          <a:ln/>
        </p:spPr>
      </p:sp>
      <p:sp>
        <p:nvSpPr>
          <p:cNvPr id="19" name="2ed97810-ec55-4e58-8f05-47abdde64ab4"/>
          <p:cNvSpPr txBox="1"/>
          <p:nvPr/>
        </p:nvSpPr>
        <p:spPr>
          <a:xfrm>
            <a:off x="73152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700" dirty="0"/>
          </a:p>
        </p:txBody>
      </p:sp>
      <p:pic>
        <p:nvPicPr>
          <p:cNvPr id="20" name="a75e87b0-94ea-4414-b782-c1aa0e4c950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794760" y="3310128"/>
            <a:ext cx="420624" cy="420624"/>
          </a:xfrm>
          <a:prstGeom prst="rect">
            <a:avLst/>
          </a:prstGeom>
        </p:spPr>
      </p:pic>
      <p:pic>
        <p:nvPicPr>
          <p:cNvPr id="21" name="97343a20-9b3f-4c58-8aca-2420fec1c5ba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5943600" y="3310128"/>
            <a:ext cx="420624" cy="420624"/>
          </a:xfrm>
          <a:prstGeom prst="rect">
            <a:avLst/>
          </a:prstGeom>
        </p:spPr>
      </p:pic>
      <p:pic>
        <p:nvPicPr>
          <p:cNvPr id="22" name="6cfb86ef-58ca-4958-b312-f7b5ba9701c8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8092440" y="3310128"/>
            <a:ext cx="420624" cy="420624"/>
          </a:xfrm>
          <a:prstGeom prst="rect">
            <a:avLst/>
          </a:prstGeom>
        </p:spPr>
      </p:pic>
      <p:pic>
        <p:nvPicPr>
          <p:cNvPr id="23" name="6cfb9e36-93fa-488a-bf38-984a4a7c1ae4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241280" y="3310128"/>
            <a:ext cx="420624" cy="420624"/>
          </a:xfrm>
          <a:prstGeom prst="rect">
            <a:avLst/>
          </a:prstGeom>
        </p:spPr>
      </p:pic>
      <p:sp>
        <p:nvSpPr>
          <p:cNvPr id="24" name="696dc153-95fc-4b4c-930c-64cc971d6772"/>
          <p:cNvSpPr/>
          <p:nvPr/>
        </p:nvSpPr>
        <p:spPr>
          <a:xfrm>
            <a:off x="548640" y="3931920"/>
            <a:ext cx="109270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25" name="fb082943-7fc7-4955-8dd9-6606eef7482c"/>
          <p:cNvSpPr txBox="1"/>
          <p:nvPr/>
        </p:nvSpPr>
        <p:spPr>
          <a:xfrm>
            <a:off x="731520" y="3931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 / 刪)</a:t>
            </a:r>
            <a:endParaRPr lang="en-US" sz="1700" dirty="0"/>
          </a:p>
        </p:txBody>
      </p:sp>
      <p:pic>
        <p:nvPicPr>
          <p:cNvPr id="26" name="68b7576a-6420-4ddf-bc01-9e0499f5d6b8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3794760" y="4041648"/>
            <a:ext cx="420624" cy="420624"/>
          </a:xfrm>
          <a:prstGeom prst="rect">
            <a:avLst/>
          </a:prstGeom>
        </p:spPr>
      </p:pic>
      <p:pic>
        <p:nvPicPr>
          <p:cNvPr id="27" name="0950375b-3323-48ac-b5f4-d3dcd8ad1e5e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5943600" y="4041648"/>
            <a:ext cx="420624" cy="420624"/>
          </a:xfrm>
          <a:prstGeom prst="rect">
            <a:avLst/>
          </a:prstGeom>
        </p:spPr>
      </p:pic>
      <p:pic>
        <p:nvPicPr>
          <p:cNvPr id="28" name="0e5042f5-8fb0-4ab0-a73e-f4bb64f3a01b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8092440" y="4041648"/>
            <a:ext cx="420624" cy="420624"/>
          </a:xfrm>
          <a:prstGeom prst="rect">
            <a:avLst/>
          </a:prstGeom>
        </p:spPr>
      </p:pic>
      <p:pic>
        <p:nvPicPr>
          <p:cNvPr id="29" name="6d26288a-e52b-4ffb-a3d4-a3fa6986d049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241280" y="4041648"/>
            <a:ext cx="420624" cy="420624"/>
          </a:xfrm>
          <a:prstGeom prst="rect">
            <a:avLst/>
          </a:prstGeom>
        </p:spPr>
      </p:pic>
      <p:sp>
        <p:nvSpPr>
          <p:cNvPr id="30" name="67b0b01e-3cf5-49bc-ba5b-6f8fffa8aa8e"/>
          <p:cNvSpPr/>
          <p:nvPr/>
        </p:nvSpPr>
        <p:spPr>
          <a:xfrm>
            <a:off x="548640" y="4663440"/>
            <a:ext cx="10927080" cy="640080"/>
          </a:xfrm>
          <a:prstGeom prst="roundRect">
            <a:avLst>
              <a:gd name="adj" fmla="val 7143"/>
            </a:avLst>
          </a:prstGeom>
          <a:solidFill>
            <a:srgbClr val="F1F4F7"/>
          </a:solidFill>
          <a:ln/>
        </p:spPr>
      </p:sp>
      <p:sp>
        <p:nvSpPr>
          <p:cNvPr id="31" name="3084d79d-2f6c-4ac7-bfd3-53b94c980baa"/>
          <p:cNvSpPr txBox="1"/>
          <p:nvPr/>
        </p:nvSpPr>
        <p:spPr>
          <a:xfrm>
            <a:off x="731520" y="4663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700" dirty="0"/>
          </a:p>
        </p:txBody>
      </p:sp>
      <p:pic>
        <p:nvPicPr>
          <p:cNvPr id="32" name="8fbf0102-cabb-4eb2-8cd3-8d0634a0add8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3794760" y="4773168"/>
            <a:ext cx="420624" cy="420624"/>
          </a:xfrm>
          <a:prstGeom prst="rect">
            <a:avLst/>
          </a:prstGeom>
        </p:spPr>
      </p:pic>
      <p:pic>
        <p:nvPicPr>
          <p:cNvPr id="33" name="e1d50798-044b-467f-9cba-6a7a2794329c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5943600" y="4773168"/>
            <a:ext cx="420624" cy="420624"/>
          </a:xfrm>
          <a:prstGeom prst="rect">
            <a:avLst/>
          </a:prstGeom>
        </p:spPr>
      </p:pic>
      <p:pic>
        <p:nvPicPr>
          <p:cNvPr id="34" name="8521a158-fb1e-4689-afc1-d2416debc162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8092440" y="4773168"/>
            <a:ext cx="420624" cy="420624"/>
          </a:xfrm>
          <a:prstGeom prst="rect">
            <a:avLst/>
          </a:prstGeom>
        </p:spPr>
      </p:pic>
      <p:pic>
        <p:nvPicPr>
          <p:cNvPr id="35" name="d8de9d1c-6a27-4482-a067-88c1e8baaf2b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241280" y="4773168"/>
            <a:ext cx="420624" cy="420624"/>
          </a:xfrm>
          <a:prstGeom prst="rect">
            <a:avLst/>
          </a:prstGeom>
        </p:spPr>
      </p:pic>
      <p:sp>
        <p:nvSpPr>
          <p:cNvPr id="36" name="b2ec4f47-aab2-4a61-9b5a-fa44ca94f3e3"/>
          <p:cNvSpPr txBox="1"/>
          <p:nvPr/>
        </p:nvSpPr>
        <p:spPr>
          <a:xfrm>
            <a:off x="548640" y="53766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kafka-rbac-admins 理論上可替自己授權 → 人數最少、臨時加入、audit 必看</a:t>
            </a:r>
            <a:endParaRPr lang="en-US" sz="1100" dirty="0"/>
          </a:p>
        </p:txBody>
      </p:sp>
      <p:sp>
        <p:nvSpPr>
          <p:cNvPr id="37" name="a9a913ea-a439-49bf-b1f1-154bbc10dcde"/>
          <p:cNvSpPr/>
          <p:nvPr/>
        </p:nvSpPr>
        <p:spPr>
          <a:xfrm>
            <a:off x="548640" y="557784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E4EFF7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500" dirty="0"/>
          </a:p>
        </p:txBody>
      </p:sp>
      <p:sp>
        <p:nvSpPr>
          <p:cNvPr id="38" name="43bf0b88-2651-4fd6-bfcd-48d71f4ae71e"/>
          <p:cNvSpPr/>
          <p:nvPr/>
        </p:nvSpPr>
        <p:spPr>
          <a:xfrm>
            <a:off x="2971800" y="5852160"/>
            <a:ext cx="365760" cy="0"/>
          </a:xfrm>
          <a:prstGeom prst="line">
            <a:avLst/>
          </a:prstGeom>
          <a:noFill/>
          <a:ln w="317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9" name="9b10affe-f418-4d19-9388-8221e1a4e8c9"/>
          <p:cNvSpPr/>
          <p:nvPr/>
        </p:nvSpPr>
        <p:spPr>
          <a:xfrm>
            <a:off x="3383280" y="557784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E4EFF7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500" dirty="0"/>
          </a:p>
        </p:txBody>
      </p:sp>
      <p:sp>
        <p:nvSpPr>
          <p:cNvPr id="40" name="e450b317-f621-444c-85cf-68475228d512"/>
          <p:cNvSpPr/>
          <p:nvPr/>
        </p:nvSpPr>
        <p:spPr>
          <a:xfrm>
            <a:off x="5806440" y="5852160"/>
            <a:ext cx="365760" cy="0"/>
          </a:xfrm>
          <a:prstGeom prst="line">
            <a:avLst/>
          </a:prstGeom>
          <a:noFill/>
          <a:ln w="317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41" name="e7b880a2-43dc-4463-be1e-c5061acd00ba"/>
          <p:cNvSpPr/>
          <p:nvPr/>
        </p:nvSpPr>
        <p:spPr>
          <a:xfrm>
            <a:off x="6217920" y="557784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E4EFF7"/>
          </a:solidFill>
          <a:ln w="1270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500" dirty="0"/>
          </a:p>
        </p:txBody>
      </p:sp>
      <p:sp>
        <p:nvSpPr>
          <p:cNvPr id="42" name="b7aad7ae-4cbb-4719-97c1-37231ae75a26"/>
          <p:cNvSpPr/>
          <p:nvPr/>
        </p:nvSpPr>
        <p:spPr>
          <a:xfrm>
            <a:off x="8641080" y="5852160"/>
            <a:ext cx="365760" cy="0"/>
          </a:xfrm>
          <a:prstGeom prst="line">
            <a:avLst/>
          </a:prstGeom>
          <a:noFill/>
          <a:ln w="317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43" name="530085da-123a-4cde-b7d5-b4108519faa5"/>
          <p:cNvSpPr/>
          <p:nvPr/>
        </p:nvSpPr>
        <p:spPr>
          <a:xfrm>
            <a:off x="9052560" y="557784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分權實測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臨時提權 → 做事 → 收回,Kafka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8b5b8ed-309f-404e-bdd1-a955774f81db"/>
          <p:cNvSpPr/>
          <p:nvPr/>
        </p:nvSpPr>
        <p:spPr>
          <a:xfrm>
            <a:off x="548640" y="1691640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E3F3E6"/>
          </a:solidFill>
          <a:ln w="1905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3" name="58001c68-12ed-4803-8197-90bbf6af07e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77240" y="1947672"/>
            <a:ext cx="457200" cy="457200"/>
          </a:xfrm>
          <a:prstGeom prst="rect">
            <a:avLst/>
          </a:prstGeom>
        </p:spPr>
      </p:pic>
      <p:sp>
        <p:nvSpPr>
          <p:cNvPr id="4" name="f2dbd27d-096d-4c2e-8bb2-acecdbc2bce3"/>
          <p:cNvSpPr txBox="1"/>
          <p:nvPr/>
        </p:nvSpPr>
        <p:spPr>
          <a:xfrm>
            <a:off x="146304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 加入 kafka-ops</a:t>
            </a:r>
            <a:endParaRPr lang="en-US" sz="1400" dirty="0"/>
          </a:p>
        </p:txBody>
      </p:sp>
      <p:sp>
        <p:nvSpPr>
          <p:cNvPr id="5" name="a62d056b-00e3-4b8e-b166-573d915524f9"/>
          <p:cNvSpPr txBox="1"/>
          <p:nvPr/>
        </p:nvSpPr>
        <p:spPr>
          <a:xfrm>
            <a:off x="1463040" y="2167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6B2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可建立 topic</a:t>
            </a:r>
            <a:endParaRPr lang="en-US" sz="1600" dirty="0"/>
          </a:p>
        </p:txBody>
      </p:sp>
      <p:sp>
        <p:nvSpPr>
          <p:cNvPr id="6" name="5542b75e-7ba7-49b4-9ec4-4d05f5f0e258"/>
          <p:cNvSpPr/>
          <p:nvPr/>
        </p:nvSpPr>
        <p:spPr>
          <a:xfrm>
            <a:off x="548640" y="2788920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FBE6E8"/>
          </a:solidFill>
          <a:ln w="1905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7" name="a76514d7-5fc0-47c5-a935-a090892841b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7240" y="3044952"/>
            <a:ext cx="457200" cy="457200"/>
          </a:xfrm>
          <a:prstGeom prst="rect">
            <a:avLst/>
          </a:prstGeom>
        </p:spPr>
      </p:pic>
      <p:sp>
        <p:nvSpPr>
          <p:cNvPr id="8" name="2c0e651c-76cb-4a69-95ce-909b80376420"/>
          <p:cNvSpPr txBox="1"/>
          <p:nvPr/>
        </p:nvSpPr>
        <p:spPr>
          <a:xfrm>
            <a:off x="146304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維運讀資料</a:t>
            </a:r>
            <a:endParaRPr lang="en-US" sz="1400" dirty="0"/>
          </a:p>
        </p:txBody>
      </p:sp>
      <p:sp>
        <p:nvSpPr>
          <p:cNvPr id="9" name="de6ebc35-850f-4d04-aea7-47610f9ce655"/>
          <p:cNvSpPr txBox="1"/>
          <p:nvPr/>
        </p:nvSpPr>
        <p:spPr>
          <a:xfrm>
            <a:off x="1463040" y="3264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✗ TopicAuthorization</a:t>
            </a:r>
            <a:endParaRPr lang="en-US" sz="1600" dirty="0"/>
          </a:p>
        </p:txBody>
      </p:sp>
      <p:sp>
        <p:nvSpPr>
          <p:cNvPr id="10" name="b5568685-4218-471e-a51e-57585d693305"/>
          <p:cNvSpPr/>
          <p:nvPr/>
        </p:nvSpPr>
        <p:spPr>
          <a:xfrm>
            <a:off x="548640" y="3886200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FBE6E8"/>
          </a:solidFill>
          <a:ln w="1905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1" name="d5aaeabd-0358-47ae-86bb-7c80fa22fdd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77240" y="4142232"/>
            <a:ext cx="457200" cy="457200"/>
          </a:xfrm>
          <a:prstGeom prst="rect">
            <a:avLst/>
          </a:prstGeom>
        </p:spPr>
      </p:pic>
      <p:sp>
        <p:nvSpPr>
          <p:cNvPr id="12" name="66b82a8a-6a61-4f08-a211-6cfcb0a8bd4a"/>
          <p:cNvSpPr txBox="1"/>
          <p:nvPr/>
        </p:nvSpPr>
        <p:spPr>
          <a:xfrm>
            <a:off x="146304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維運改授權</a:t>
            </a:r>
            <a:endParaRPr lang="en-US" sz="1400" dirty="0"/>
          </a:p>
        </p:txBody>
      </p:sp>
      <p:sp>
        <p:nvSpPr>
          <p:cNvPr id="13" name="46f951fc-b1b1-4719-b666-83bbffb2cdec"/>
          <p:cNvSpPr txBox="1"/>
          <p:nvPr/>
        </p:nvSpPr>
        <p:spPr>
          <a:xfrm>
            <a:off x="1463040" y="4361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192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✗ HTTP 403</a:t>
            </a:r>
            <a:endParaRPr lang="en-US" sz="1600" dirty="0"/>
          </a:p>
        </p:txBody>
      </p:sp>
      <p:sp>
        <p:nvSpPr>
          <p:cNvPr id="14" name="cc6ad5d8-9949-4c84-8309-c9692fc18ab2"/>
          <p:cNvSpPr/>
          <p:nvPr/>
        </p:nvSpPr>
        <p:spPr>
          <a:xfrm>
            <a:off x="548640" y="4983480"/>
            <a:ext cx="4480560" cy="960120"/>
          </a:xfrm>
          <a:prstGeom prst="roundRect">
            <a:avLst>
              <a:gd name="adj" fmla="val 11429"/>
            </a:avLst>
          </a:prstGeom>
          <a:solidFill>
            <a:srgbClr val="E4EFF7"/>
          </a:solidFill>
          <a:ln w="1905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pic>
        <p:nvPicPr>
          <p:cNvPr id="15" name="030e845c-1370-410a-a560-6eecee5018d3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77240" y="5239512"/>
            <a:ext cx="457200" cy="457200"/>
          </a:xfrm>
          <a:prstGeom prst="rect">
            <a:avLst/>
          </a:prstGeom>
        </p:spPr>
      </p:pic>
      <p:sp>
        <p:nvSpPr>
          <p:cNvPr id="16" name="6a834402-c2c6-41d2-9b1a-a343781e7635"/>
          <p:cNvSpPr txBox="1"/>
          <p:nvPr/>
        </p:nvSpPr>
        <p:spPr>
          <a:xfrm>
            <a:off x="146304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移出群組(收回)</a:t>
            </a:r>
            <a:endParaRPr lang="en-US" sz="1400" dirty="0"/>
          </a:p>
        </p:txBody>
      </p:sp>
      <p:sp>
        <p:nvSpPr>
          <p:cNvPr id="17" name="3398454e-b053-4c2e-93b4-75806c4bf166"/>
          <p:cNvSpPr txBox="1"/>
          <p:nvPr/>
        </p:nvSpPr>
        <p:spPr>
          <a:xfrm>
            <a:off x="1463040" y="5458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5C9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✗ 再操作皆被拒</a:t>
            </a:r>
            <a:endParaRPr lang="en-US" sz="1600" dirty="0"/>
          </a:p>
        </p:txBody>
      </p:sp>
      <p:pic>
        <p:nvPicPr>
          <p:cNvPr id="18" name="15969926-3f73-4db5-8792-9b4ebde98b83" descr="audit log:誰被拒、誰改了授權(實測)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303520" y="2925305"/>
            <a:ext cx="6217920" cy="1738910"/>
          </a:xfrm>
          <a:prstGeom prst="rect">
            <a:avLst/>
          </a:prstGeom>
        </p:spPr>
      </p:pic>
      <p:sp>
        <p:nvSpPr>
          <p:cNvPr id="19" name="23865175-d4ad-4a70-b346-7022657b48e4"/>
          <p:cNvSpPr/>
          <p:nvPr/>
        </p:nvSpPr>
        <p:spPr>
          <a:xfrm>
            <a:off x="5303520" y="2925305"/>
            <a:ext cx="6217920" cy="173891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20" name="585444dd-5cba-440a-99a8-744efbdac983"/>
          <p:cNvSpPr txBox="1"/>
          <p:nvPr/>
        </p:nvSpPr>
        <p:spPr>
          <a:xfrm>
            <a:off x="5303520" y="593445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log:誰被拒、誰改了授權(實測)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Lab 10 audit log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被拒絕的、被允許的、誰嘗試改授權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pic>
        <p:nvPicPr>
          <p:cNvPr id="2" name="0d5ab919-da30-4aa6-9d53-8afa49b46733" descr="被 RBAC 擋下的動作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815720" y="1645920"/>
            <a:ext cx="8438641" cy="1783080"/>
          </a:xfrm>
          <a:prstGeom prst="rect">
            <a:avLst/>
          </a:prstGeom>
        </p:spPr>
      </p:pic>
      <p:sp>
        <p:nvSpPr>
          <p:cNvPr id="3" name="b9ed7b5b-307d-48c1-97cd-6065a7934816"/>
          <p:cNvSpPr/>
          <p:nvPr/>
        </p:nvSpPr>
        <p:spPr>
          <a:xfrm>
            <a:off x="1815720" y="1645920"/>
            <a:ext cx="8438641" cy="178308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4" name="f400aace-6631-4139-8d18-e3f42af01e49"/>
          <p:cNvSpPr txBox="1"/>
          <p:nvPr/>
        </p:nvSpPr>
        <p:spPr>
          <a:xfrm>
            <a:off x="548640" y="346557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 RBAC 擋下的動作</a:t>
            </a:r>
            <a:endParaRPr lang="en-US" sz="1100" dirty="0"/>
          </a:p>
        </p:txBody>
      </p:sp>
      <p:pic>
        <p:nvPicPr>
          <p:cNvPr id="5" name="63fc3fd8-7313-41d7-8db8-8a83cbda5cc0" descr="權限變更事件(含 yujie 的 DENIED)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1815720" y="3794760"/>
            <a:ext cx="8438641" cy="1783080"/>
          </a:xfrm>
          <a:prstGeom prst="rect">
            <a:avLst/>
          </a:prstGeom>
        </p:spPr>
      </p:pic>
      <p:sp>
        <p:nvSpPr>
          <p:cNvPr id="6" name="72c1a38a-34a0-4123-be90-059c89b8f9ab"/>
          <p:cNvSpPr/>
          <p:nvPr/>
        </p:nvSpPr>
        <p:spPr>
          <a:xfrm>
            <a:off x="1815720" y="3794760"/>
            <a:ext cx="8438641" cy="1783080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7" name="1cdfab3f-fc2e-4cc3-a115-a471cba20ef5"/>
          <p:cNvSpPr txBox="1"/>
          <p:nvPr/>
        </p:nvSpPr>
        <p:spPr>
          <a:xfrm>
            <a:off x="548640" y="56144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權限變更事件(含 yujie 的 DENIED)</a:t>
            </a:r>
            <a:endParaRPr lang="en-US" sz="1100" dirty="0"/>
          </a:p>
        </p:txBody>
      </p:sp>
      <p:sp>
        <p:nvSpPr>
          <p:cNvPr id="8" name="43d1ef71-79b8-4116-b388-e0deab5c8cf1"/>
          <p:cNvSpPr/>
          <p:nvPr/>
        </p:nvSpPr>
        <p:spPr>
          <a:xfrm>
            <a:off x="548640" y="5989320"/>
            <a:ext cx="10972800" cy="365760"/>
          </a:xfrm>
          <a:prstGeom prst="roundRect">
            <a:avLst>
              <a:gd name="adj" fmla="val 30000"/>
            </a:avLst>
          </a:prstGeom>
          <a:solidFill>
            <a:srgbClr val="FDF0DC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5B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未授權者多半在 Metadata / Describe 就被擋 → audit 路由要含 describe-denied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實測發現(與預期不同)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都在 demo 環境實際踩過,導入時預先處理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4ec71f8-2e17-43de-8331-392664bea4b0"/>
          <p:cNvSpPr/>
          <p:nvPr/>
        </p:nvSpPr>
        <p:spPr>
          <a:xfrm>
            <a:off x="548640" y="169164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" name="4465a6c6-946d-4ec3-bd70-786b8c7e2cda"/>
          <p:cNvSpPr/>
          <p:nvPr/>
        </p:nvSpPr>
        <p:spPr>
          <a:xfrm>
            <a:off x="1851660" y="1897380"/>
            <a:ext cx="868680" cy="868680"/>
          </a:xfrm>
          <a:prstGeom prst="ellipse">
            <a:avLst>
              <a:gd name="adj" fmla="val 12632"/>
            </a:avLst>
          </a:prstGeom>
          <a:solidFill>
            <a:srgbClr val="F1F4F7"/>
          </a:solidFill>
          <a:ln/>
        </p:spPr>
      </p:sp>
      <p:pic>
        <p:nvPicPr>
          <p:cNvPr id="4" name="a31346c2-3abe-4415-94c7-e0114b49c83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025396" y="2071116"/>
            <a:ext cx="521208" cy="521208"/>
          </a:xfrm>
          <a:prstGeom prst="rect">
            <a:avLst/>
          </a:prstGeom>
        </p:spPr>
      </p:pic>
      <p:sp>
        <p:nvSpPr>
          <p:cNvPr id="5" name="e43b7775-994f-48b1-a185-d46f5ec3895e"/>
          <p:cNvSpPr txBox="1"/>
          <p:nvPr/>
        </p:nvSpPr>
        <p:spPr>
          <a:xfrm>
            <a:off x="73152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的群組解析</a:t>
            </a:r>
            <a:endParaRPr lang="en-US" sz="1600" dirty="0"/>
          </a:p>
        </p:txBody>
      </p:sp>
      <p:sp>
        <p:nvSpPr>
          <p:cNvPr id="6" name="8163edf4-78a4-4ff0-a29a-8b13e9f973c9"/>
          <p:cNvSpPr txBox="1"/>
          <p:nvPr/>
        </p:nvSpPr>
        <p:spPr>
          <a:xfrm>
            <a:off x="73152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實測:不設 LDAP 則群組 role 不生效(官方未明載)</a:t>
            </a:r>
            <a:endParaRPr lang="en-US" sz="1200" dirty="0"/>
          </a:p>
        </p:txBody>
      </p:sp>
      <p:sp>
        <p:nvSpPr>
          <p:cNvPr id="7" name="3af5a2b9-9010-4dd8-a6ac-df1f676fb48f"/>
          <p:cNvSpPr/>
          <p:nvPr/>
        </p:nvSpPr>
        <p:spPr>
          <a:xfrm>
            <a:off x="4297680" y="169164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6f2dd4a3-2c79-495d-b30c-7d86c6e2bdf4"/>
          <p:cNvSpPr/>
          <p:nvPr/>
        </p:nvSpPr>
        <p:spPr>
          <a:xfrm>
            <a:off x="5600700" y="1897380"/>
            <a:ext cx="868680" cy="868680"/>
          </a:xfrm>
          <a:prstGeom prst="ellipse">
            <a:avLst>
              <a:gd name="adj" fmla="val 12632"/>
            </a:avLst>
          </a:prstGeom>
          <a:solidFill>
            <a:srgbClr val="F1F4F7"/>
          </a:solidFill>
          <a:ln/>
        </p:spPr>
      </p:sp>
      <p:pic>
        <p:nvPicPr>
          <p:cNvPr id="9" name="c41e771f-edb8-4a3b-9cd2-0d1c7ebf28c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774436" y="2071116"/>
            <a:ext cx="521208" cy="521208"/>
          </a:xfrm>
          <a:prstGeom prst="rect">
            <a:avLst/>
          </a:prstGeom>
        </p:spPr>
      </p:pic>
      <p:sp>
        <p:nvSpPr>
          <p:cNvPr id="10" name="caab1281-0992-4749-8f39-b5f5a7c4d005"/>
          <p:cNvSpPr txBox="1"/>
          <p:nvPr/>
        </p:nvSpPr>
        <p:spPr>
          <a:xfrm>
            <a:off x="448056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→ Kafka</a:t>
            </a:r>
            <a:endParaRPr lang="en-US" sz="1600" dirty="0"/>
          </a:p>
        </p:txBody>
      </p:sp>
      <p:sp>
        <p:nvSpPr>
          <p:cNvPr id="11" name="c9815695-153d-4c79-8ee6-7945991a55b1"/>
          <p:cNvSpPr txBox="1"/>
          <p:nvPr/>
        </p:nvSpPr>
        <p:spPr>
          <a:xfrm>
            <a:off x="448056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下只能 OAUTHBEARER(憑證換 token)</a:t>
            </a:r>
            <a:endParaRPr lang="en-US" sz="1200" dirty="0"/>
          </a:p>
        </p:txBody>
      </p:sp>
      <p:sp>
        <p:nvSpPr>
          <p:cNvPr id="12" name="cf420686-ca0d-4109-82cc-177541902e7a"/>
          <p:cNvSpPr/>
          <p:nvPr/>
        </p:nvSpPr>
        <p:spPr>
          <a:xfrm>
            <a:off x="8046720" y="169164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3" name="6a053f72-e40d-4d8e-ba36-43c14fc88d44"/>
          <p:cNvSpPr/>
          <p:nvPr/>
        </p:nvSpPr>
        <p:spPr>
          <a:xfrm>
            <a:off x="9349740" y="1897380"/>
            <a:ext cx="868680" cy="868680"/>
          </a:xfrm>
          <a:prstGeom prst="ellipse">
            <a:avLst>
              <a:gd name="adj" fmla="val 12632"/>
            </a:avLst>
          </a:prstGeom>
          <a:solidFill>
            <a:srgbClr val="F1F4F7"/>
          </a:solidFill>
          <a:ln/>
        </p:spPr>
      </p:sp>
      <p:pic>
        <p:nvPicPr>
          <p:cNvPr id="14" name="a476c512-8ae6-443c-acb9-8842f3f1881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523476" y="2071116"/>
            <a:ext cx="521208" cy="521208"/>
          </a:xfrm>
          <a:prstGeom prst="rect">
            <a:avLst/>
          </a:prstGeom>
        </p:spPr>
      </p:pic>
      <p:sp>
        <p:nvSpPr>
          <p:cNvPr id="15" name="d235512f-85d3-4f35-ab26-91e7e6f8a928"/>
          <p:cNvSpPr txBox="1"/>
          <p:nvPr/>
        </p:nvSpPr>
        <p:spPr>
          <a:xfrm>
            <a:off x="822960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雙認證</a:t>
            </a:r>
            <a:endParaRPr lang="en-US" sz="1600" dirty="0"/>
          </a:p>
        </p:txBody>
      </p:sp>
      <p:sp>
        <p:nvSpPr>
          <p:cNvPr id="16" name="68a6a2b8-6860-4a44-8157-dc46c965c42b"/>
          <p:cNvSpPr txBox="1"/>
          <p:nvPr/>
        </p:nvSpPr>
        <p:spPr>
          <a:xfrm>
            <a:off x="822960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憑證認證:官方 7.8+ 支援;與 LDAP 密碼並存為實測</a:t>
            </a:r>
            <a:endParaRPr lang="en-US" sz="1200" dirty="0"/>
          </a:p>
        </p:txBody>
      </p:sp>
      <p:sp>
        <p:nvSpPr>
          <p:cNvPr id="17" name="d120f117-597a-4b70-871e-331e9663671e"/>
          <p:cNvSpPr/>
          <p:nvPr/>
        </p:nvSpPr>
        <p:spPr>
          <a:xfrm>
            <a:off x="548640" y="393192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7294661a-e223-49ad-b599-3ca62d508da2"/>
          <p:cNvSpPr/>
          <p:nvPr/>
        </p:nvSpPr>
        <p:spPr>
          <a:xfrm>
            <a:off x="1851660" y="4137660"/>
            <a:ext cx="868680" cy="868680"/>
          </a:xfrm>
          <a:prstGeom prst="ellipse">
            <a:avLst>
              <a:gd name="adj" fmla="val 12632"/>
            </a:avLst>
          </a:prstGeom>
          <a:solidFill>
            <a:srgbClr val="F1F4F7"/>
          </a:solidFill>
          <a:ln/>
        </p:spPr>
      </p:sp>
      <p:pic>
        <p:nvPicPr>
          <p:cNvPr id="19" name="17667a35-4272-46c3-bd6d-003b1d5512c9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025396" y="4311396"/>
            <a:ext cx="521208" cy="521208"/>
          </a:xfrm>
          <a:prstGeom prst="rect">
            <a:avLst/>
          </a:prstGeom>
        </p:spPr>
      </p:pic>
      <p:sp>
        <p:nvSpPr>
          <p:cNvPr id="20" name="9ceddb76-3fdc-4f9d-a216-2ef9aceb95d6"/>
          <p:cNvSpPr txBox="1"/>
          <p:nvPr/>
        </p:nvSpPr>
        <p:spPr>
          <a:xfrm>
            <a:off x="73152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群組生效時間</a:t>
            </a:r>
            <a:endParaRPr lang="en-US" sz="1600" dirty="0"/>
          </a:p>
        </p:txBody>
      </p:sp>
      <p:sp>
        <p:nvSpPr>
          <p:cNvPr id="21" name="3911445f-64a6-454c-9158-27eb880133aa"/>
          <p:cNvSpPr txBox="1"/>
          <p:nvPr/>
        </p:nvSpPr>
        <p:spPr>
          <a:xfrm>
            <a:off x="731520" y="5486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5 秒 · 官方預設 60 秒(persistent search 在 Java 17+ 不可用)</a:t>
            </a:r>
            <a:endParaRPr lang="en-US" sz="1200" dirty="0"/>
          </a:p>
        </p:txBody>
      </p:sp>
      <p:sp>
        <p:nvSpPr>
          <p:cNvPr id="22" name="ebd84ddd-40cf-4b37-9d6c-ed290b3190b6"/>
          <p:cNvSpPr/>
          <p:nvPr/>
        </p:nvSpPr>
        <p:spPr>
          <a:xfrm>
            <a:off x="4297680" y="393192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3" name="9296e7c4-fa4d-4583-bf85-fb734095da37"/>
          <p:cNvSpPr/>
          <p:nvPr/>
        </p:nvSpPr>
        <p:spPr>
          <a:xfrm>
            <a:off x="5600700" y="4137660"/>
            <a:ext cx="868680" cy="868680"/>
          </a:xfrm>
          <a:prstGeom prst="ellipse">
            <a:avLst>
              <a:gd name="adj" fmla="val 12632"/>
            </a:avLst>
          </a:prstGeom>
          <a:solidFill>
            <a:srgbClr val="F1F4F7"/>
          </a:solidFill>
          <a:ln/>
        </p:spPr>
      </p:sp>
      <p:pic>
        <p:nvPicPr>
          <p:cNvPr id="24" name="c988daa8-b16d-4dc9-af43-b8934a5b070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774436" y="4311396"/>
            <a:ext cx="521208" cy="521208"/>
          </a:xfrm>
          <a:prstGeom prst="rect">
            <a:avLst/>
          </a:prstGeom>
        </p:spPr>
      </p:pic>
      <p:sp>
        <p:nvSpPr>
          <p:cNvPr id="25" name="6c00e17d-6425-4935-b651-244de6a35f7f"/>
          <p:cNvSpPr txBox="1"/>
          <p:nvPr/>
        </p:nvSpPr>
        <p:spPr>
          <a:xfrm>
            <a:off x="448056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內部埠</a:t>
            </a:r>
            <a:endParaRPr lang="en-US" sz="1600" dirty="0"/>
          </a:p>
        </p:txBody>
      </p:sp>
      <p:sp>
        <p:nvSpPr>
          <p:cNvPr id="26" name="49bfd9e9-89ce-49b6-b183-4c8014452fd3"/>
          <p:cNvSpPr txBox="1"/>
          <p:nvPr/>
        </p:nvSpPr>
        <p:spPr>
          <a:xfrm>
            <a:off x="4480560" y="5486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任何 SCRAM 帳號可認證 → 防火牆</a:t>
            </a:r>
            <a:endParaRPr lang="en-US" sz="1200" dirty="0"/>
          </a:p>
        </p:txBody>
      </p:sp>
      <p:sp>
        <p:nvSpPr>
          <p:cNvPr id="27" name="26f89aef-b3fc-45e5-8cbb-dbfce5e45584"/>
          <p:cNvSpPr/>
          <p:nvPr/>
        </p:nvSpPr>
        <p:spPr>
          <a:xfrm>
            <a:off x="8046720" y="393192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8" name="6f8c8b2e-6ace-4d1a-956a-40a0b8c323e3"/>
          <p:cNvSpPr/>
          <p:nvPr/>
        </p:nvSpPr>
        <p:spPr>
          <a:xfrm>
            <a:off x="9349740" y="4137660"/>
            <a:ext cx="868680" cy="868680"/>
          </a:xfrm>
          <a:prstGeom prst="ellipse">
            <a:avLst>
              <a:gd name="adj" fmla="val 12632"/>
            </a:avLst>
          </a:prstGeom>
          <a:solidFill>
            <a:srgbClr val="F1F4F7"/>
          </a:solidFill>
          <a:ln/>
        </p:spPr>
      </p:sp>
      <p:pic>
        <p:nvPicPr>
          <p:cNvPr id="29" name="aedb36d5-5520-47ef-9bd2-71d55631e321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523476" y="4311396"/>
            <a:ext cx="521208" cy="521208"/>
          </a:xfrm>
          <a:prstGeom prst="rect">
            <a:avLst/>
          </a:prstGeom>
        </p:spPr>
      </p:pic>
      <p:sp>
        <p:nvSpPr>
          <p:cNvPr id="30" name="783310bc-649f-4f17-9709-74e3ee62fd35"/>
          <p:cNvSpPr txBox="1"/>
          <p:nvPr/>
        </p:nvSpPr>
        <p:spPr>
          <a:xfrm>
            <a:off x="8229600" y="5120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預設 role 邊界</a:t>
            </a:r>
            <a:endParaRPr lang="en-US" sz="1600" dirty="0"/>
          </a:p>
        </p:txBody>
      </p:sp>
      <p:sp>
        <p:nvSpPr>
          <p:cNvPr id="31" name="dd219c77-556c-46a9-aed0-57675a9de739"/>
          <p:cNvSpPr txBox="1"/>
          <p:nvPr/>
        </p:nvSpPr>
        <p:spPr>
          <a:xfrm>
            <a:off x="8229600" y="5486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不能建 topic;改設定要 ResourceOwner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導入與結論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客戶前提、導入階段、結論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導入前提:請客戶回覆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四件事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b01b439-e1e2-4d9e-bf15-69446ab312c9"/>
          <p:cNvSpPr/>
          <p:nvPr/>
        </p:nvSpPr>
        <p:spPr>
          <a:xfrm>
            <a:off x="548640" y="169164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C0192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" name="d364d8e8-e254-4e2b-bc0a-73cf2b4a177c"/>
          <p:cNvSpPr/>
          <p:nvPr/>
        </p:nvSpPr>
        <p:spPr>
          <a:xfrm>
            <a:off x="914400" y="2167128"/>
            <a:ext cx="1097280" cy="1097280"/>
          </a:xfrm>
          <a:prstGeom prst="ellipse">
            <a:avLst>
              <a:gd name="adj" fmla="val 10000"/>
            </a:avLst>
          </a:prstGeom>
          <a:solidFill>
            <a:srgbClr val="F1F4F7"/>
          </a:solidFill>
          <a:ln/>
        </p:spPr>
      </p:sp>
      <p:pic>
        <p:nvPicPr>
          <p:cNvPr id="4" name="3ecbd48f-1a10-4e03-af7e-0a0e2c840bc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33856" y="2386584"/>
            <a:ext cx="658368" cy="658368"/>
          </a:xfrm>
          <a:prstGeom prst="rect">
            <a:avLst/>
          </a:prstGeom>
        </p:spPr>
      </p:pic>
      <p:sp>
        <p:nvSpPr>
          <p:cNvPr id="5" name="bf98e801-38fd-4714-af10-447aa3e3da7c"/>
          <p:cNvSpPr txBox="1"/>
          <p:nvPr/>
        </p:nvSpPr>
        <p:spPr>
          <a:xfrm>
            <a:off x="2331720" y="2103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</a:t>
            </a:r>
            <a:endParaRPr lang="en-US" sz="2000" dirty="0"/>
          </a:p>
        </p:txBody>
      </p:sp>
      <p:sp>
        <p:nvSpPr>
          <p:cNvPr id="6" name="f95accb1-a800-465c-9177-cdc8ff1da18c"/>
          <p:cNvSpPr txBox="1"/>
          <p:nvPr/>
        </p:nvSpPr>
        <p:spPr>
          <a:xfrm>
            <a:off x="2331720" y="2651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 · 只讀 user / group OU · 建議 LDAPS</a:t>
            </a:r>
            <a:endParaRPr lang="en-US" sz="1300" dirty="0"/>
          </a:p>
        </p:txBody>
      </p:sp>
      <p:sp>
        <p:nvSpPr>
          <p:cNvPr id="7" name="edfb4d86-34c2-41ae-abef-42ae8cae23b2"/>
          <p:cNvSpPr/>
          <p:nvPr/>
        </p:nvSpPr>
        <p:spPr>
          <a:xfrm>
            <a:off x="6126480" y="169164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55C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02f1ddac-7611-4386-8a74-0a930f4adad6"/>
          <p:cNvSpPr/>
          <p:nvPr/>
        </p:nvSpPr>
        <p:spPr>
          <a:xfrm>
            <a:off x="6492240" y="2167128"/>
            <a:ext cx="1097280" cy="1097280"/>
          </a:xfrm>
          <a:prstGeom prst="ellipse">
            <a:avLst>
              <a:gd name="adj" fmla="val 10000"/>
            </a:avLst>
          </a:prstGeom>
          <a:solidFill>
            <a:srgbClr val="F1F4F7"/>
          </a:solidFill>
          <a:ln/>
        </p:spPr>
      </p:sp>
      <p:pic>
        <p:nvPicPr>
          <p:cNvPr id="9" name="b3157183-9550-47ba-8247-90e4a3e5b6b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711696" y="2386584"/>
            <a:ext cx="658368" cy="658368"/>
          </a:xfrm>
          <a:prstGeom prst="rect">
            <a:avLst/>
          </a:prstGeom>
        </p:spPr>
      </p:pic>
      <p:sp>
        <p:nvSpPr>
          <p:cNvPr id="10" name="8322dd41-05eb-4d86-bfff-d1b34f8aafb1"/>
          <p:cNvSpPr txBox="1"/>
          <p:nvPr/>
        </p:nvSpPr>
        <p:spPr>
          <a:xfrm>
            <a:off x="7909560" y="2103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憑證來源</a:t>
            </a:r>
            <a:endParaRPr lang="en-US" sz="2000" dirty="0"/>
          </a:p>
        </p:txBody>
      </p:sp>
      <p:sp>
        <p:nvSpPr>
          <p:cNvPr id="11" name="2b4265cd-7c2d-4d2d-8980-1059a95cec5f"/>
          <p:cNvSpPr txBox="1"/>
          <p:nvPr/>
        </p:nvSpPr>
        <p:spPr>
          <a:xfrm>
            <a:off x="7909560" y="2651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有無 AD CS · 根憑證放系統信任 + Java</a:t>
            </a:r>
            <a:endParaRPr lang="en-US" sz="1300" dirty="0"/>
          </a:p>
        </p:txBody>
      </p:sp>
      <p:sp>
        <p:nvSpPr>
          <p:cNvPr id="12" name="e12381c2-1600-4648-99e9-bf2c02b07fe9"/>
          <p:cNvSpPr/>
          <p:nvPr/>
        </p:nvSpPr>
        <p:spPr>
          <a:xfrm>
            <a:off x="548640" y="393192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3" name="b1768c05-024a-4db4-8214-887e66d54539"/>
          <p:cNvSpPr/>
          <p:nvPr/>
        </p:nvSpPr>
        <p:spPr>
          <a:xfrm>
            <a:off x="914400" y="4407408"/>
            <a:ext cx="1097280" cy="1097280"/>
          </a:xfrm>
          <a:prstGeom prst="ellipse">
            <a:avLst>
              <a:gd name="adj" fmla="val 10000"/>
            </a:avLst>
          </a:prstGeom>
          <a:solidFill>
            <a:srgbClr val="F1F4F7"/>
          </a:solidFill>
          <a:ln/>
        </p:spPr>
      </p:sp>
      <p:pic>
        <p:nvPicPr>
          <p:cNvPr id="14" name="918b4c96-8b9b-4bee-97e6-d9b8b537b86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33856" y="4626864"/>
            <a:ext cx="658368" cy="658368"/>
          </a:xfrm>
          <a:prstGeom prst="rect">
            <a:avLst/>
          </a:prstGeom>
        </p:spPr>
      </p:pic>
      <p:sp>
        <p:nvSpPr>
          <p:cNvPr id="15" name="df54118c-93ea-49a1-9b9c-553bcc98f883"/>
          <p:cNvSpPr txBox="1"/>
          <p:nvPr/>
        </p:nvSpPr>
        <p:spPr>
          <a:xfrm>
            <a:off x="2331720" y="4343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 license</a:t>
            </a:r>
            <a:endParaRPr lang="en-US" sz="2000" dirty="0"/>
          </a:p>
        </p:txBody>
      </p:sp>
      <p:sp>
        <p:nvSpPr>
          <p:cNvPr id="16" name="cd560d1a-5f71-4025-9318-d63363b9e856"/>
          <p:cNvSpPr txBox="1"/>
          <p:nvPr/>
        </p:nvSpPr>
        <p:spPr>
          <a:xfrm>
            <a:off x="2331720" y="4892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· LDAP · audit · REST Proxy 外掛</a:t>
            </a:r>
            <a:endParaRPr lang="en-US" sz="1300" dirty="0"/>
          </a:p>
        </p:txBody>
      </p:sp>
      <p:sp>
        <p:nvSpPr>
          <p:cNvPr id="17" name="a74d9f91-29c1-4aa8-84c8-223b52784260"/>
          <p:cNvSpPr/>
          <p:nvPr/>
        </p:nvSpPr>
        <p:spPr>
          <a:xfrm>
            <a:off x="6126480" y="393192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F9E3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ff2cba5c-24d9-43cf-a4d0-27cc8db3c5fb"/>
          <p:cNvSpPr/>
          <p:nvPr/>
        </p:nvSpPr>
        <p:spPr>
          <a:xfrm>
            <a:off x="6492240" y="4407408"/>
            <a:ext cx="1097280" cy="1097280"/>
          </a:xfrm>
          <a:prstGeom prst="ellipse">
            <a:avLst>
              <a:gd name="adj" fmla="val 10000"/>
            </a:avLst>
          </a:prstGeom>
          <a:solidFill>
            <a:srgbClr val="F1F4F7"/>
          </a:solidFill>
          <a:ln/>
        </p:spPr>
      </p:sp>
      <p:pic>
        <p:nvPicPr>
          <p:cNvPr id="19" name="657d69ae-0622-4ea0-98ab-e683c41af0d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711696" y="4626864"/>
            <a:ext cx="658368" cy="658368"/>
          </a:xfrm>
          <a:prstGeom prst="rect">
            <a:avLst/>
          </a:prstGeom>
        </p:spPr>
      </p:pic>
      <p:sp>
        <p:nvSpPr>
          <p:cNvPr id="20" name="e962de36-c6b8-46c5-ab35-eeb5572a0f56"/>
          <p:cNvSpPr txBox="1"/>
          <p:nvPr/>
        </p:nvSpPr>
        <p:spPr>
          <a:xfrm>
            <a:off x="7909560" y="4343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群組結構</a:t>
            </a:r>
            <a:endParaRPr lang="en-US" sz="2000" dirty="0"/>
          </a:p>
        </p:txBody>
      </p:sp>
      <p:sp>
        <p:nvSpPr>
          <p:cNvPr id="21" name="db187ced-50c3-4390-acdd-0477033230d7"/>
          <p:cNvSpPr txBox="1"/>
          <p:nvPr/>
        </p:nvSpPr>
        <p:spPr>
          <a:xfrm>
            <a:off x="7909560" y="4892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是否巢狀 · 帳號大小寫 · 鎖定政策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導入階段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Ansible:先把手動流程標準化,日後再自動化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0bb6eeb-6a12-4afe-b0b6-e6521ca4649d"/>
          <p:cNvSpPr/>
          <p:nvPr/>
        </p:nvSpPr>
        <p:spPr>
          <a:xfrm>
            <a:off x="548640" y="1645920"/>
            <a:ext cx="10972800" cy="457200"/>
          </a:xfrm>
          <a:prstGeom prst="roundRect">
            <a:avLst>
              <a:gd name="adj" fmla="val 24000"/>
            </a:avLst>
          </a:prstGeom>
          <a:solidFill>
            <a:srgbClr val="FDF0DC"/>
          </a:solidFill>
          <a:ln w="12700">
            <a:solidFill>
              <a:srgbClr val="E58A17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9:controller 先 --add-scram  ·  防火牆限制 9092/9093  ·  Java 21</a:t>
            </a:r>
            <a:endParaRPr lang="en-US" sz="1400" dirty="0"/>
          </a:p>
        </p:txBody>
      </p:sp>
      <p:sp>
        <p:nvSpPr>
          <p:cNvPr id="3" name="ebb97151-cd23-4d7c-b4bc-ba8611623ec5"/>
          <p:cNvSpPr/>
          <p:nvPr/>
        </p:nvSpPr>
        <p:spPr>
          <a:xfrm>
            <a:off x="731520" y="4480560"/>
            <a:ext cx="3474720" cy="1737360"/>
          </a:xfrm>
          <a:prstGeom prst="rect">
            <a:avLst/>
          </a:prstGeom>
          <a:solidFill>
            <a:srgbClr val="E4EFF7"/>
          </a:solidFill>
          <a:ln/>
        </p:spPr>
      </p:sp>
      <p:pic>
        <p:nvPicPr>
          <p:cNvPr id="4" name="3d405424-0dc0-41fa-8ba6-d71e6001c2b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60120" y="4663440"/>
            <a:ext cx="548640" cy="548640"/>
          </a:xfrm>
          <a:prstGeom prst="rect">
            <a:avLst/>
          </a:prstGeom>
        </p:spPr>
      </p:pic>
      <p:sp>
        <p:nvSpPr>
          <p:cNvPr id="5" name="2ff7cd88-b4c8-48a7-af1e-e712b2e04f11"/>
          <p:cNvSpPr txBox="1"/>
          <p:nvPr/>
        </p:nvSpPr>
        <p:spPr>
          <a:xfrm>
            <a:off x="1645920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起步</a:t>
            </a:r>
            <a:endParaRPr lang="en-US" sz="2400" dirty="0"/>
          </a:p>
        </p:txBody>
      </p:sp>
      <p:sp>
        <p:nvSpPr>
          <p:cNvPr id="6" name="9c1546dc-7deb-47f1-953e-551bcb228482"/>
          <p:cNvSpPr txBox="1"/>
          <p:nvPr/>
        </p:nvSpPr>
        <p:spPr>
          <a:xfrm>
            <a:off x="960120" y="5349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+ AD 登入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腳本讀各人設定</a:t>
            </a:r>
            <a:endParaRPr lang="en-US" sz="1400" dirty="0"/>
          </a:p>
        </p:txBody>
      </p:sp>
      <p:sp>
        <p:nvSpPr>
          <p:cNvPr id="7" name="e2128ab9-903c-438d-96e9-2b608d6f9c24"/>
          <p:cNvSpPr/>
          <p:nvPr/>
        </p:nvSpPr>
        <p:spPr>
          <a:xfrm>
            <a:off x="4389120" y="3566160"/>
            <a:ext cx="3474720" cy="2651760"/>
          </a:xfrm>
          <a:prstGeom prst="rect">
            <a:avLst/>
          </a:prstGeom>
          <a:solidFill>
            <a:srgbClr val="CFE3F2"/>
          </a:solidFill>
          <a:ln/>
        </p:spPr>
      </p:sp>
      <p:pic>
        <p:nvPicPr>
          <p:cNvPr id="8" name="ae5d4f3a-1268-4308-8b93-986af1cbd35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617720" y="3749040"/>
            <a:ext cx="548640" cy="548640"/>
          </a:xfrm>
          <a:prstGeom prst="rect">
            <a:avLst/>
          </a:prstGeom>
        </p:spPr>
      </p:pic>
      <p:sp>
        <p:nvSpPr>
          <p:cNvPr id="9" name="2d4f72e3-58b1-4665-a228-f710d59d977e"/>
          <p:cNvSpPr txBox="1"/>
          <p:nvPr/>
        </p:nvSpPr>
        <p:spPr>
          <a:xfrm>
            <a:off x="530352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進階</a:t>
            </a:r>
            <a:endParaRPr lang="en-US" sz="2400" dirty="0"/>
          </a:p>
        </p:txBody>
      </p:sp>
      <p:sp>
        <p:nvSpPr>
          <p:cNvPr id="10" name="d73b72e3-edc0-4246-8489-4fe84b53f2fd"/>
          <p:cNvSpPr txBox="1"/>
          <p:nvPr/>
        </p:nvSpPr>
        <p:spPr>
          <a:xfrm>
            <a:off x="4617720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跳板機 + 個人 AD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密碼庫 · 憑證到期提醒</a:t>
            </a:r>
            <a:endParaRPr lang="en-US" sz="1400" dirty="0"/>
          </a:p>
        </p:txBody>
      </p:sp>
      <p:sp>
        <p:nvSpPr>
          <p:cNvPr id="11" name="92e15c95-215e-4704-ac2f-a9e7248b31c1"/>
          <p:cNvSpPr/>
          <p:nvPr/>
        </p:nvSpPr>
        <p:spPr>
          <a:xfrm>
            <a:off x="8046720" y="2651760"/>
            <a:ext cx="3474720" cy="3566160"/>
          </a:xfrm>
          <a:prstGeom prst="rect">
            <a:avLst/>
          </a:prstGeom>
          <a:solidFill>
            <a:srgbClr val="B7D5EC"/>
          </a:solidFill>
          <a:ln/>
        </p:spPr>
      </p:sp>
      <p:pic>
        <p:nvPicPr>
          <p:cNvPr id="12" name="1d5510b4-188e-4c1a-8894-90dcf5c0ba3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5320" y="2834640"/>
            <a:ext cx="548640" cy="548640"/>
          </a:xfrm>
          <a:prstGeom prst="rect">
            <a:avLst/>
          </a:prstGeom>
        </p:spPr>
      </p:pic>
      <p:sp>
        <p:nvSpPr>
          <p:cNvPr id="13" name="4b3da3f4-b7e9-4c9f-a1db-1af33297fdc5"/>
          <p:cNvSpPr txBox="1"/>
          <p:nvPr/>
        </p:nvSpPr>
        <p:spPr>
          <a:xfrm>
            <a:off x="8961120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成熟</a:t>
            </a:r>
            <a:endParaRPr lang="en-US" sz="2400" dirty="0"/>
          </a:p>
        </p:txBody>
      </p:sp>
      <p:sp>
        <p:nvSpPr>
          <p:cNvPr id="14" name="238d7aa4-e79c-48ca-89cc-cdf1b237e787"/>
          <p:cNvSpPr txBox="1"/>
          <p:nvPr/>
        </p:nvSpPr>
        <p:spPr>
          <a:xfrm>
            <a:off x="827532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Ansible / IaC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人唯讀 + break-glass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結論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五個重點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2f216bc-03e8-4015-bad1-5eae2a1c51dc"/>
          <p:cNvSpPr/>
          <p:nvPr/>
        </p:nvSpPr>
        <p:spPr>
          <a:xfrm>
            <a:off x="731520" y="1664208"/>
            <a:ext cx="731520" cy="731520"/>
          </a:xfrm>
          <a:prstGeom prst="ellipse">
            <a:avLst>
              <a:gd name="adj" fmla="val 15000"/>
            </a:avLst>
          </a:prstGeom>
          <a:solidFill>
            <a:srgbClr val="F1F4F7"/>
          </a:solidFill>
          <a:ln/>
        </p:spPr>
      </p:sp>
      <p:pic>
        <p:nvPicPr>
          <p:cNvPr id="3" name="f6e7ad41-a89c-4a01-a84a-e6706c8bfaf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7824" y="1810512"/>
            <a:ext cx="438912" cy="438912"/>
          </a:xfrm>
          <a:prstGeom prst="rect">
            <a:avLst/>
          </a:prstGeom>
        </p:spPr>
      </p:pic>
      <p:sp>
        <p:nvSpPr>
          <p:cNvPr id="4" name="3d2035e7-6cd3-4671-8acd-c44ab893c283"/>
          <p:cNvSpPr txBox="1"/>
          <p:nvPr/>
        </p:nvSpPr>
        <p:spPr>
          <a:xfrm>
            <a:off x="1828800" y="16459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管人:群組授權,異動只動 AD</a:t>
            </a:r>
            <a:endParaRPr lang="en-US" sz="2200" dirty="0"/>
          </a:p>
        </p:txBody>
      </p:sp>
      <p:sp>
        <p:nvSpPr>
          <p:cNvPr id="5" name="a7aa598f-23b4-4ea3-bbe1-f52cb7ad0ed0"/>
          <p:cNvSpPr/>
          <p:nvPr/>
        </p:nvSpPr>
        <p:spPr>
          <a:xfrm>
            <a:off x="731520" y="2487168"/>
            <a:ext cx="10789920" cy="0"/>
          </a:xfrm>
          <a:prstGeom prst="line">
            <a:avLst>
              <a:gd name="adj" fmla="val Infinity"/>
            </a:avLst>
          </a:prstGeom>
          <a:ln w="12700">
            <a:solidFill>
              <a:srgbClr val="C9D3DC"/>
            </a:solidFill>
            <a:prstDash val="solid"/>
          </a:ln>
        </p:spPr>
      </p:sp>
      <p:sp>
        <p:nvSpPr>
          <p:cNvPr id="6" name="0210eb35-be52-4828-b5c3-c18fae51ecc6"/>
          <p:cNvSpPr/>
          <p:nvPr/>
        </p:nvSpPr>
        <p:spPr>
          <a:xfrm>
            <a:off x="731520" y="2578608"/>
            <a:ext cx="731520" cy="731520"/>
          </a:xfrm>
          <a:prstGeom prst="ellipse">
            <a:avLst>
              <a:gd name="adj" fmla="val 15000"/>
            </a:avLst>
          </a:prstGeom>
          <a:solidFill>
            <a:srgbClr val="F1F4F7"/>
          </a:solidFill>
          <a:ln/>
        </p:spPr>
      </p:sp>
      <p:pic>
        <p:nvPicPr>
          <p:cNvPr id="7" name="14ee5cf3-7416-4404-b547-66a1d84fffd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77824" y="2724912"/>
            <a:ext cx="438912" cy="438912"/>
          </a:xfrm>
          <a:prstGeom prst="rect">
            <a:avLst/>
          </a:prstGeom>
        </p:spPr>
      </p:pic>
      <p:sp>
        <p:nvSpPr>
          <p:cNvPr id="8" name="c3fdb016-a9c8-48d5-b0be-fb79060862bc"/>
          <p:cNvSpPr txBox="1"/>
          <p:nvPr/>
        </p:nvSpPr>
        <p:spPr>
          <a:xfrm>
            <a:off x="1828800" y="2560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管機器:SCRAM + 最小權限</a:t>
            </a:r>
            <a:endParaRPr lang="en-US" sz="2200" dirty="0"/>
          </a:p>
        </p:txBody>
      </p:sp>
      <p:sp>
        <p:nvSpPr>
          <p:cNvPr id="9" name="e973c196-28ae-4559-ba0b-8f62798cf217"/>
          <p:cNvSpPr/>
          <p:nvPr/>
        </p:nvSpPr>
        <p:spPr>
          <a:xfrm>
            <a:off x="731520" y="3401568"/>
            <a:ext cx="10789920" cy="0"/>
          </a:xfrm>
          <a:prstGeom prst="line">
            <a:avLst>
              <a:gd name="adj" fmla="val Infinity"/>
            </a:avLst>
          </a:prstGeom>
          <a:ln w="12700">
            <a:solidFill>
              <a:srgbClr val="C9D3DC"/>
            </a:solidFill>
            <a:prstDash val="solid"/>
          </a:ln>
        </p:spPr>
      </p:sp>
      <p:sp>
        <p:nvSpPr>
          <p:cNvPr id="10" name="4f537494-aa65-4b42-91d2-b5e0ea0bc6e9"/>
          <p:cNvSpPr/>
          <p:nvPr/>
        </p:nvSpPr>
        <p:spPr>
          <a:xfrm>
            <a:off x="731520" y="3493008"/>
            <a:ext cx="731520" cy="731520"/>
          </a:xfrm>
          <a:prstGeom prst="ellipse">
            <a:avLst>
              <a:gd name="adj" fmla="val 15000"/>
            </a:avLst>
          </a:prstGeom>
          <a:solidFill>
            <a:srgbClr val="F1F4F7"/>
          </a:solidFill>
          <a:ln/>
        </p:spPr>
      </p:sp>
      <p:pic>
        <p:nvPicPr>
          <p:cNvPr id="11" name="1aad9560-cec9-41ed-afaf-3e2bdeb7ab9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77824" y="3639312"/>
            <a:ext cx="438912" cy="438912"/>
          </a:xfrm>
          <a:prstGeom prst="rect">
            <a:avLst/>
          </a:prstGeom>
        </p:spPr>
      </p:pic>
      <p:sp>
        <p:nvSpPr>
          <p:cNvPr id="12" name="862c1786-cce2-4788-94e0-bfe7560ebef4"/>
          <p:cNvSpPr txBox="1"/>
          <p:nvPr/>
        </p:nvSpPr>
        <p:spPr>
          <a:xfrm>
            <a:off x="1828800" y="34747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共用憑證只做加密</a:t>
            </a:r>
            <a:endParaRPr lang="en-US" sz="2200" dirty="0"/>
          </a:p>
        </p:txBody>
      </p:sp>
      <p:sp>
        <p:nvSpPr>
          <p:cNvPr id="13" name="2467b499-379f-42de-a0c0-df8910391f96"/>
          <p:cNvSpPr/>
          <p:nvPr/>
        </p:nvSpPr>
        <p:spPr>
          <a:xfrm>
            <a:off x="731520" y="4315968"/>
            <a:ext cx="10789920" cy="0"/>
          </a:xfrm>
          <a:prstGeom prst="line">
            <a:avLst>
              <a:gd name="adj" fmla="val Infinity"/>
            </a:avLst>
          </a:prstGeom>
          <a:ln w="12700">
            <a:solidFill>
              <a:srgbClr val="C9D3DC"/>
            </a:solidFill>
            <a:prstDash val="solid"/>
          </a:ln>
        </p:spPr>
      </p:sp>
      <p:sp>
        <p:nvSpPr>
          <p:cNvPr id="14" name="368ab0c8-59b2-484e-b562-18ac099e1ee7"/>
          <p:cNvSpPr/>
          <p:nvPr/>
        </p:nvSpPr>
        <p:spPr>
          <a:xfrm>
            <a:off x="731520" y="4407408"/>
            <a:ext cx="731520" cy="731520"/>
          </a:xfrm>
          <a:prstGeom prst="ellipse">
            <a:avLst>
              <a:gd name="adj" fmla="val 15000"/>
            </a:avLst>
          </a:prstGeom>
          <a:solidFill>
            <a:srgbClr val="F1F4F7"/>
          </a:solidFill>
          <a:ln/>
        </p:spPr>
      </p:sp>
      <p:pic>
        <p:nvPicPr>
          <p:cNvPr id="15" name="d68f8cf0-8c04-45af-bc3c-fa7288a720ba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7824" y="4553712"/>
            <a:ext cx="438912" cy="438912"/>
          </a:xfrm>
          <a:prstGeom prst="rect">
            <a:avLst/>
          </a:prstGeom>
        </p:spPr>
      </p:pic>
      <p:sp>
        <p:nvSpPr>
          <p:cNvPr id="16" name="815c3617-197a-457e-aeee-a9ada4e3755c"/>
          <p:cNvSpPr txBox="1"/>
          <p:nvPr/>
        </p:nvSpPr>
        <p:spPr>
          <a:xfrm>
            <a:off x="1828800" y="4389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腳本共用 · 憑證各人 · 排程用服務身分</a:t>
            </a:r>
            <a:endParaRPr lang="en-US" sz="2200" dirty="0"/>
          </a:p>
        </p:txBody>
      </p:sp>
      <p:sp>
        <p:nvSpPr>
          <p:cNvPr id="17" name="0bd8550a-0df2-4c77-b3ea-61c2fdc8c183"/>
          <p:cNvSpPr/>
          <p:nvPr/>
        </p:nvSpPr>
        <p:spPr>
          <a:xfrm>
            <a:off x="731520" y="5230368"/>
            <a:ext cx="10789920" cy="0"/>
          </a:xfrm>
          <a:prstGeom prst="line">
            <a:avLst>
              <a:gd name="adj" fmla="val Infinity"/>
            </a:avLst>
          </a:prstGeom>
          <a:ln w="12700">
            <a:solidFill>
              <a:srgbClr val="C9D3DC"/>
            </a:solidFill>
            <a:prstDash val="solid"/>
          </a:ln>
        </p:spPr>
      </p:sp>
      <p:sp>
        <p:nvSpPr>
          <p:cNvPr id="18" name="c8df4839-13ae-41c3-bb46-67b0fb69c2ca"/>
          <p:cNvSpPr/>
          <p:nvPr/>
        </p:nvSpPr>
        <p:spPr>
          <a:xfrm>
            <a:off x="731520" y="5321808"/>
            <a:ext cx="731520" cy="731520"/>
          </a:xfrm>
          <a:prstGeom prst="ellipse">
            <a:avLst>
              <a:gd name="adj" fmla="val 15000"/>
            </a:avLst>
          </a:prstGeom>
          <a:solidFill>
            <a:srgbClr val="F1F4F7"/>
          </a:solidFill>
          <a:ln/>
        </p:spPr>
      </p:sp>
      <p:pic>
        <p:nvPicPr>
          <p:cNvPr id="19" name="93ca3339-a99b-460e-a8d2-7495332d3b0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7824" y="5468112"/>
            <a:ext cx="438912" cy="438912"/>
          </a:xfrm>
          <a:prstGeom prst="rect">
            <a:avLst/>
          </a:prstGeom>
        </p:spPr>
      </p:pic>
      <p:sp>
        <p:nvSpPr>
          <p:cNvPr id="20" name="5b682901-9445-4d0d-acb0-664c5237c50b"/>
          <p:cNvSpPr txBox="1"/>
          <p:nvPr/>
        </p:nvSpPr>
        <p:spPr>
          <a:xfrm>
            <a:off x="1828800" y="53035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正式環境人唯讀 · 管理與授權用群組分權</a:t>
            </a:r>
            <a:endParaRPr lang="en-US" sz="2200" dirty="0"/>
          </a:p>
        </p:txBody>
      </p:sp>
      <p:sp>
        <p:nvSpPr>
          <p:cNvPr id="21" name="a33ae4ca-22a5-4856-a6b5-7d006629397c"/>
          <p:cNvSpPr/>
          <p:nvPr/>
        </p:nvSpPr>
        <p:spPr>
          <a:xfrm>
            <a:off x="731520" y="6144768"/>
            <a:ext cx="10789920" cy="0"/>
          </a:xfrm>
          <a:prstGeom prst="line">
            <a:avLst>
              <a:gd name="adj" fmla="val Infinity"/>
            </a:avLst>
          </a:prstGeom>
          <a:ln w="12700">
            <a:solidFill>
              <a:srgbClr val="C9D3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謝謝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