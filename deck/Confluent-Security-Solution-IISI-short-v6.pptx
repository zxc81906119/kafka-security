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方案摘要版:只講做法與結論。出處、實測依據與限制在各頁備忘稿;完整版有逐項前提與驗證狀態。本版不含監控(Prometheus、Alertmanager)與 audit。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全景:人有三個入口,都用 AD 帳密:瀏覽器登入 Control Center、腳本或 Postman 經 REST Proxy、CLI 直連 broker 的 9094。服務用 SCRAM 帳密直連 broker。legacy app 只能 HTTP,出示 client 憑證給 REST Proxy。Control Center 與 REST Proxy 向 MDS 取得 token(人是本人的 token;legacy app 由 REST Proxy 代為申請),再帶 token 連 broker。MDS 內嵌在 broker,負責簽發 token 與管理 RBAC;各 broker 讀取 RBAC 資料後在本地授權。人的密碼由 AD 驗證(LDAPS),群組由 MDS 定期向 AD 同步。controller 只收內部帳號,人與服務都不直接連它。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六個設計決策與依據。①AD 只有 user 與 group,沒有服務帳號,所以人用 AD,服務帳號放在 Kafka(SCRAM)。②客戶希望憑證越少越好,所以 server 端共用一組憑證,只做加密;client 憑證只發給需要向 MDS 證明身分的平台元件(c3、restproxy、bootstrap)與 legacy app。③legacy app 只能 HTTP,所以經 REST Proxy,出示 client 憑證,由 REST Proxy 代為向 MDS 申請 token。④權限依職責分層,用 AD 群組綁 role。⑤官方 SCRAM overview 頁說明 controller listener 不支援 SCRAM,所以連 controller 的 9093 用 PLAIN 靜態帳號,連 broker 的 9092 用 SCRAM;內部通道不走 AD(AD 沒有服務帳號,且 AD 異常不應牽連叢集),也不另發 client 憑證。⑥RHEL 9 手動安裝、沒有 Ansible,所以流程要標準化。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四種身分。①人:AD 帳密。直連 broker 的 9094 時用 SASL/PLAIN,由 broker 轉 AD 驗密碼;經 Control Center、REST Proxy 或直接呼叫 MDS 時用 Basic,由 MDS 向 AD 驗證並簽發 token。登入只驗密碼;群組由 MDS 定期向 AD 同步,授權時依帳號名稱查群組,RBAC 綁 Group:。②服務:SCRAM 帳密存在 Kafka(KRaft),由 broker 驗證,RBAC 綁 User:。③平台元件(c3、restproxy)用 client 憑證向 MDS 換 token;legacy app 出示憑證給 REST Proxy,由 REST Proxy 依 CN 對映成主體並代為向 MDS 申請 token;憑證身分只能綁 User:,不能綁群組。④內部元件:連 broker 的 9092 用 SCRAM(kafka-broker、kafka-controller),連 controller 的 9093 用 PLAIN 靜態帳號,broker 與 controller 都是;授權用 super.users;這兩個埠用防火牆限制只給節點之間連線。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 腳本與 Postman:REST Proxy 與 MDS 都接受 Basic(AD 帳密),也接受 Bearer;Control Center 自己的 API 只收 Bearer(官方),實測用 Basic 回 401、帶 MDS 簽發的 token 回 200,所以腳本要先用 AD 帳密向 MDS 的 /security/1.0/authenticate 換 token。腳本的帳密建議放環境變數或密碼庫,不寫進腳本檔。腳本由手動改成排程後,要改用服務身分,不借用人的帳號。token 到期後要重新取得,長時間執行的腳本要處理;token 壽命的實際影響尚未實測。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六類要保管的祕密。綠色是輪替流程已在 demo 實測,橘色是輪替流程尚未驗證。①共用 server 憑證:依官方 CFK 憑證文件的順序,先更新所有信任庫、再換憑證、每個元件就緒才做下一個;元件順序 controller、broker、REST Proxy、C3(參考升級文件);換檔不重啟時各埠仍出示舊憑證(實測)。②client 憑證:RBAC 綁的是 CN,CN 不變就不用重綁。legacy app 的憑證可省,前提是客戶能為它建專用 AD 帳號改走 Basic。③SCRAM 服務帳號:同帳號改密碼,舊密碼對新連線立即失效,已連線的不受影響(實測);官方 SCRAM 文件沒有輪替流程。④MDS token 簽章金鑰對:私鑰在 MDS 所在的 broker 與 controller,公鑰在 broker、REST Proxy、C3;輪替流程未驗證。⑤內部帳號 kafka-broker、kafka-controller:SCRAM 存在 Kafka,PLAIN 靜態帳號在設定檔;輪替流程未驗證。⑥AD 查詢帳號:只讀 user 與 group,建議 LDAPS;輪替流程未驗證。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逐項依據與驗證狀態見完整版的「風險與對策」與「已驗證 vs 待驗證」兩頁。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完整版的同名頁有八件事(另含 Java 版本與 Prometheus、Alertmanager 部署)。LDAP 停擺 24 小時是官方 ldap.retry.timeout.ms 的預設值。AD 群組巢狀、大小寫的實際行為尚未在真實 AD 驗證。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下一步:先請客戶回覆前一頁的六件事,依回覆調整方案,再到 RHEL 實機驗證。目前的驗證是在 docker demo(以 OpenLDAP 模擬 AD)完成;尚未驗證的主要項目:真實 AD 的巢狀群組與大小寫行為、多台 controller 搭配 TLS 與 RBAC 的滾動重啟、RHEL 實機的 systemd 與防火牆、MDS 金鑰對與內部帳號及 AD 查詢帳號的輪替流程。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1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15.png"/><Relationship Id="rId5-created" Type="http://schemas.openxmlformats.org/officeDocument/2006/relationships/image" Target="../media/media16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8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8.png"/><Relationship Id="rId7-created" Type="http://schemas.openxmlformats.org/officeDocument/2006/relationships/image" Target="../media/media19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19.png"/><Relationship Id="rId10-created" Type="http://schemas.openxmlformats.org/officeDocument/2006/relationships/image" Target="../media/media19.png"/><Relationship Id="rId11-created" Type="http://schemas.openxmlformats.org/officeDocument/2006/relationships/image" Target="../media/media19.png"/><Relationship Id="rId12-created" Type="http://schemas.openxmlformats.org/officeDocument/2006/relationships/image" Target="../media/media18.png"/><Relationship Id="rId13-created" Type="http://schemas.openxmlformats.org/officeDocument/2006/relationships/image" Target="../media/media19.png"/><Relationship Id="rId14-created" Type="http://schemas.openxmlformats.org/officeDocument/2006/relationships/image" Target="../media/media19.png"/><Relationship Id="rId15-created" Type="http://schemas.openxmlformats.org/officeDocument/2006/relationships/image" Target="../media/media19.png"/><Relationship Id="rId16-created" Type="http://schemas.openxmlformats.org/officeDocument/2006/relationships/image" Target="../media/media19.png"/><Relationship Id="rId17-created" Type="http://schemas.openxmlformats.org/officeDocument/2006/relationships/image" Target="../media/media18.png"/><Relationship Id="rId18-created" Type="http://schemas.openxmlformats.org/officeDocument/2006/relationships/image" Target="../media/media18.png"/><Relationship Id="rId19-created" Type="http://schemas.openxmlformats.org/officeDocument/2006/relationships/image" Target="../media/media18.png"/><Relationship Id="rId20-created" Type="http://schemas.openxmlformats.org/officeDocument/2006/relationships/image" Target="../media/media18.png"/><Relationship Id="rId21-created" Type="http://schemas.openxmlformats.org/officeDocument/2006/relationships/image" Target="../media/media18.png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0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22.png"/><Relationship Id="rId4-created" Type="http://schemas.openxmlformats.org/officeDocument/2006/relationships/image" Target="../media/media23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3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24.png"/><Relationship Id="rId5-created" Type="http://schemas.openxmlformats.org/officeDocument/2006/relationships/image" Target="../media/media25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1.png"/><Relationship Id="rId3-created" Type="http://schemas.openxmlformats.org/officeDocument/2006/relationships/image" Target="../media/media12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3-created" Type="http://schemas.openxmlformats.org/officeDocument/2006/relationships/image" Target="../media/media27.png"/><Relationship Id="rId4-created" Type="http://schemas.openxmlformats.org/officeDocument/2006/relationships/image" Target="../media/media28.png"/><Relationship Id="rId5-created" Type="http://schemas.openxmlformats.org/officeDocument/2006/relationships/image" Target="../media/media29.png"/><Relationship Id="rId6-created" Type="http://schemas.openxmlformats.org/officeDocument/2006/relationships/image" Target="../media/media30.png"/><Relationship Id="rId7-created" Type="http://schemas.openxmlformats.org/officeDocument/2006/relationships/image" Target="../media/media31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2.png"/><Relationship Id="rId3-created" Type="http://schemas.openxmlformats.org/officeDocument/2006/relationships/image" Target="../media/media33.png"/><Relationship Id="rId4-created" Type="http://schemas.openxmlformats.org/officeDocument/2006/relationships/image" Target="../media/media25.png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方案摘要:認證、授權、加密與維運</a:t>
            </a:r>
          </a:p>
        </p:txBody>
      </p:sp>
      <p:sp>
        <p:nvSpPr>
          <p:cNvPr id="2" name="092d27c4-bcfb-4a81-abcb-a54a9ccfcbe1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方案全景:誰用什麼進來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五條進入路徑,授權集中在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6ac5a94-1eab-4aa5-ab12-9bd4b9da6557"/>
          <p:cNvSpPr/>
          <p:nvPr/>
        </p:nvSpPr>
        <p:spPr>
          <a:xfrm>
            <a:off x="548640" y="1685050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e162616-21ec-4f27-910c-a03a2cfee170"/>
          <p:cNvSpPr/>
          <p:nvPr/>
        </p:nvSpPr>
        <p:spPr>
          <a:xfrm>
            <a:off x="658368" y="1803839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1280e20-057a-4661-9a96-885ae64d5b1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62975" y="1900907"/>
            <a:ext cx="266273" cy="266273"/>
          </a:xfrm>
          <a:prstGeom prst="rect">
            <a:avLst/>
          </a:prstGeom>
        </p:spPr>
      </p:pic>
      <p:sp>
        <p:nvSpPr>
          <p:cNvPr id="5" name="6d26c0d0-9f65-4c88-ba3d-35c8f4bd6d0b"/>
          <p:cNvSpPr/>
          <p:nvPr/>
        </p:nvSpPr>
        <p:spPr>
          <a:xfrm>
            <a:off x="1243584" y="1685050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瀏覽器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Control Center</a:t>
            </a:r>
            <a:endParaRPr lang="en-US" sz="1300" dirty="0"/>
          </a:p>
        </p:txBody>
      </p:sp>
      <p:sp>
        <p:nvSpPr>
          <p:cNvPr id="6" name="534ae7b6-f442-43ec-a940-0b42402a359d"/>
          <p:cNvSpPr/>
          <p:nvPr/>
        </p:nvSpPr>
        <p:spPr>
          <a:xfrm>
            <a:off x="2834640" y="1718990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</a:t>
            </a:r>
            <a:endParaRPr lang="en-US" sz="1050" dirty="0"/>
          </a:p>
        </p:txBody>
      </p:sp>
      <p:sp>
        <p:nvSpPr>
          <p:cNvPr id="7" name="cacdc604-36db-4e21-a2da-8818000dd2ab"/>
          <p:cNvSpPr/>
          <p:nvPr/>
        </p:nvSpPr>
        <p:spPr>
          <a:xfrm>
            <a:off x="2834640" y="2066874"/>
            <a:ext cx="14630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20bf6992-e79d-462c-8c5d-99dba8829f57"/>
          <p:cNvSpPr/>
          <p:nvPr/>
        </p:nvSpPr>
        <p:spPr>
          <a:xfrm>
            <a:off x="4297680" y="1769899"/>
            <a:ext cx="1920240" cy="526068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50" dirty="0"/>
          </a:p>
        </p:txBody>
      </p:sp>
      <p:sp>
        <p:nvSpPr>
          <p:cNvPr id="9" name="30c497c0-fda7-4947-9259-00372b69b98b"/>
          <p:cNvSpPr/>
          <p:nvPr/>
        </p:nvSpPr>
        <p:spPr>
          <a:xfrm>
            <a:off x="6217920" y="2066874"/>
            <a:ext cx="14630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d5d5e10d-f2f4-4446-b7e1-b3b34a6eec9a"/>
          <p:cNvSpPr/>
          <p:nvPr/>
        </p:nvSpPr>
        <p:spPr>
          <a:xfrm>
            <a:off x="6217920" y="1718990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本人的 token</a:t>
            </a:r>
            <a:endParaRPr lang="en-US" sz="1050" dirty="0"/>
          </a:p>
        </p:txBody>
      </p:sp>
      <p:sp>
        <p:nvSpPr>
          <p:cNvPr id="11" name="1cfd2057-1af5-4272-be77-b773b7dfd519"/>
          <p:cNvSpPr/>
          <p:nvPr/>
        </p:nvSpPr>
        <p:spPr>
          <a:xfrm>
            <a:off x="548640" y="2465667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2" name="a36cdd3d-cb55-4762-bb8b-eff1852c35f3"/>
          <p:cNvSpPr/>
          <p:nvPr/>
        </p:nvSpPr>
        <p:spPr>
          <a:xfrm>
            <a:off x="658368" y="2584457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3" name="cd5522fb-851f-4634-9e52-eb9a2c98e08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2975" y="2681525"/>
            <a:ext cx="266273" cy="266273"/>
          </a:xfrm>
          <a:prstGeom prst="rect">
            <a:avLst/>
          </a:prstGeom>
        </p:spPr>
      </p:pic>
      <p:sp>
        <p:nvSpPr>
          <p:cNvPr id="14" name="93753fe9-0419-43af-8b7f-4a38c9234f62"/>
          <p:cNvSpPr/>
          <p:nvPr/>
        </p:nvSpPr>
        <p:spPr>
          <a:xfrm>
            <a:off x="1243584" y="2465667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腳本、Postman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呼叫 REST API</a:t>
            </a:r>
            <a:endParaRPr lang="en-US" sz="1300" dirty="0"/>
          </a:p>
        </p:txBody>
      </p:sp>
      <p:sp>
        <p:nvSpPr>
          <p:cNvPr id="15" name="61cc1486-19e8-4758-b3af-258acc81184e"/>
          <p:cNvSpPr/>
          <p:nvPr/>
        </p:nvSpPr>
        <p:spPr>
          <a:xfrm>
            <a:off x="2834640" y="2499607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</a:t>
            </a:r>
            <a:endParaRPr lang="en-US" sz="1050" dirty="0"/>
          </a:p>
        </p:txBody>
      </p:sp>
      <p:sp>
        <p:nvSpPr>
          <p:cNvPr id="16" name="1f8857b9-9a96-4723-8f88-1e2c768b76ed"/>
          <p:cNvSpPr/>
          <p:nvPr/>
        </p:nvSpPr>
        <p:spPr>
          <a:xfrm>
            <a:off x="2834640" y="2847491"/>
            <a:ext cx="14630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1996bb5f-b70b-4fb2-9bfc-44b251525208"/>
          <p:cNvSpPr/>
          <p:nvPr/>
        </p:nvSpPr>
        <p:spPr>
          <a:xfrm>
            <a:off x="4297680" y="2550517"/>
            <a:ext cx="1920240" cy="526068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50" dirty="0"/>
          </a:p>
        </p:txBody>
      </p:sp>
      <p:sp>
        <p:nvSpPr>
          <p:cNvPr id="18" name="474791ad-e3e2-4022-8bc6-5391edfb956e"/>
          <p:cNvSpPr/>
          <p:nvPr/>
        </p:nvSpPr>
        <p:spPr>
          <a:xfrm>
            <a:off x="6217920" y="2847491"/>
            <a:ext cx="14630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99e38e1f-893a-4890-be28-328820f7fdd9"/>
          <p:cNvSpPr/>
          <p:nvPr/>
        </p:nvSpPr>
        <p:spPr>
          <a:xfrm>
            <a:off x="6217920" y="2499607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本人的 token</a:t>
            </a:r>
            <a:endParaRPr lang="en-US" sz="1050" dirty="0"/>
          </a:p>
        </p:txBody>
      </p:sp>
      <p:sp>
        <p:nvSpPr>
          <p:cNvPr id="20" name="ac7e37d4-c276-4866-a4cc-926beffddf64"/>
          <p:cNvSpPr/>
          <p:nvPr/>
        </p:nvSpPr>
        <p:spPr>
          <a:xfrm>
            <a:off x="548640" y="3246285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1" name="76da7933-a4b4-40d3-bf4f-af59a6d852ce"/>
          <p:cNvSpPr/>
          <p:nvPr/>
        </p:nvSpPr>
        <p:spPr>
          <a:xfrm>
            <a:off x="658368" y="3365074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2" name="3318fcf3-17af-4877-b13a-e8b1cb65222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62975" y="3462142"/>
            <a:ext cx="266273" cy="266273"/>
          </a:xfrm>
          <a:prstGeom prst="rect">
            <a:avLst/>
          </a:prstGeom>
        </p:spPr>
      </p:pic>
      <p:sp>
        <p:nvSpPr>
          <p:cNvPr id="23" name="cbcf26b8-5785-41b5-923a-7207500f703e"/>
          <p:cNvSpPr/>
          <p:nvPr/>
        </p:nvSpPr>
        <p:spPr>
          <a:xfrm>
            <a:off x="1243584" y="3246285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CLI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指令工具</a:t>
            </a:r>
            <a:endParaRPr lang="en-US" sz="1300" dirty="0"/>
          </a:p>
        </p:txBody>
      </p:sp>
      <p:sp>
        <p:nvSpPr>
          <p:cNvPr id="24" name="8e4006b3-fbe1-4360-8f74-995dca9e0366"/>
          <p:cNvSpPr/>
          <p:nvPr/>
        </p:nvSpPr>
        <p:spPr>
          <a:xfrm>
            <a:off x="2834640" y="3280225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</a:t>
            </a:r>
            <a:endParaRPr lang="en-US" sz="1050" dirty="0"/>
          </a:p>
        </p:txBody>
      </p:sp>
      <p:sp>
        <p:nvSpPr>
          <p:cNvPr id="25" name="9644a0fc-8a6b-49cb-bbe4-0af474d1c850"/>
          <p:cNvSpPr/>
          <p:nvPr/>
        </p:nvSpPr>
        <p:spPr>
          <a:xfrm>
            <a:off x="2834640" y="3628109"/>
            <a:ext cx="4846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6" name="babb179d-07c8-476d-b38a-aaba03e2e737"/>
          <p:cNvSpPr/>
          <p:nvPr/>
        </p:nvSpPr>
        <p:spPr>
          <a:xfrm>
            <a:off x="548640" y="4026902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d7e2660f-97ff-458a-aea0-8fc32e8a0c44"/>
          <p:cNvSpPr/>
          <p:nvPr/>
        </p:nvSpPr>
        <p:spPr>
          <a:xfrm>
            <a:off x="658368" y="4145692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e7793811-2b5e-48e1-bb8c-51f5a952de1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62975" y="4242760"/>
            <a:ext cx="266273" cy="266273"/>
          </a:xfrm>
          <a:prstGeom prst="rect">
            <a:avLst/>
          </a:prstGeom>
        </p:spPr>
      </p:pic>
      <p:sp>
        <p:nvSpPr>
          <p:cNvPr id="29" name="0842dcd1-277a-4edd-be27-e06d3bf0cd35"/>
          <p:cNvSpPr/>
          <p:nvPr/>
        </p:nvSpPr>
        <p:spPr>
          <a:xfrm>
            <a:off x="1243584" y="4026902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</a:t>
            </a:r>
            <a:endParaRPr lang="en-US" sz="1300" dirty="0"/>
          </a:p>
        </p:txBody>
      </p:sp>
      <p:sp>
        <p:nvSpPr>
          <p:cNvPr id="30" name="492d826b-f6d9-419e-a0ce-c98f74a19725"/>
          <p:cNvSpPr/>
          <p:nvPr/>
        </p:nvSpPr>
        <p:spPr>
          <a:xfrm>
            <a:off x="2834640" y="4060842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帳密</a:t>
            </a:r>
            <a:endParaRPr lang="en-US" sz="1050" dirty="0"/>
          </a:p>
        </p:txBody>
      </p:sp>
      <p:sp>
        <p:nvSpPr>
          <p:cNvPr id="31" name="4630c780-3f66-42cd-bfea-0947501d8f17"/>
          <p:cNvSpPr/>
          <p:nvPr/>
        </p:nvSpPr>
        <p:spPr>
          <a:xfrm>
            <a:off x="2834640" y="4408726"/>
            <a:ext cx="4846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32" name="1e38f456-d35e-4e96-9b7f-ea1f4fb5a77f"/>
          <p:cNvSpPr/>
          <p:nvPr/>
        </p:nvSpPr>
        <p:spPr>
          <a:xfrm>
            <a:off x="548640" y="4807520"/>
            <a:ext cx="2286000" cy="67879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3" name="555b3b77-b393-4887-a262-89e88a39b4ef"/>
          <p:cNvSpPr/>
          <p:nvPr/>
        </p:nvSpPr>
        <p:spPr>
          <a:xfrm>
            <a:off x="658368" y="4926309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4" name="5b3e7d45-feff-496e-85c6-349c81e3b08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762975" y="5023377"/>
            <a:ext cx="266273" cy="266273"/>
          </a:xfrm>
          <a:prstGeom prst="rect">
            <a:avLst/>
          </a:prstGeom>
        </p:spPr>
      </p:pic>
      <p:sp>
        <p:nvSpPr>
          <p:cNvPr id="35" name="47902e7d-20e5-4eb5-9a42-21098a477bfd"/>
          <p:cNvSpPr/>
          <p:nvPr/>
        </p:nvSpPr>
        <p:spPr>
          <a:xfrm>
            <a:off x="1243584" y="4807520"/>
            <a:ext cx="1536192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只能 HTTP</a:t>
            </a:r>
            <a:endParaRPr lang="en-US" sz="1300" dirty="0"/>
          </a:p>
        </p:txBody>
      </p:sp>
      <p:sp>
        <p:nvSpPr>
          <p:cNvPr id="36" name="22f3628f-4de9-4129-b3d0-1e0f9c62cd98"/>
          <p:cNvSpPr/>
          <p:nvPr/>
        </p:nvSpPr>
        <p:spPr>
          <a:xfrm>
            <a:off x="2834640" y="4841460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050" dirty="0"/>
          </a:p>
        </p:txBody>
      </p:sp>
      <p:sp>
        <p:nvSpPr>
          <p:cNvPr id="37" name="665ce792-f77c-4364-b577-d6e667bb2dfb"/>
          <p:cNvSpPr/>
          <p:nvPr/>
        </p:nvSpPr>
        <p:spPr>
          <a:xfrm>
            <a:off x="2834640" y="5189344"/>
            <a:ext cx="14630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38" name="77fc4c0e-ea77-4a39-bd93-f0693e4dcf48"/>
          <p:cNvSpPr/>
          <p:nvPr/>
        </p:nvSpPr>
        <p:spPr>
          <a:xfrm>
            <a:off x="4297680" y="4892370"/>
            <a:ext cx="1920240" cy="526068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50" dirty="0"/>
          </a:p>
        </p:txBody>
      </p:sp>
      <p:sp>
        <p:nvSpPr>
          <p:cNvPr id="39" name="c0f25833-896d-40ce-a35a-f8dc99dd55d6"/>
          <p:cNvSpPr/>
          <p:nvPr/>
        </p:nvSpPr>
        <p:spPr>
          <a:xfrm>
            <a:off x="6217920" y="5189344"/>
            <a:ext cx="14630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2e7a3d99-61ed-4c83-9d20-f4b5c9748c12"/>
          <p:cNvSpPr/>
          <p:nvPr/>
        </p:nvSpPr>
        <p:spPr>
          <a:xfrm>
            <a:off x="6217920" y="4841460"/>
            <a:ext cx="14630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app 的 token</a:t>
            </a:r>
            <a:endParaRPr lang="en-US" sz="1050" dirty="0"/>
          </a:p>
        </p:txBody>
      </p:sp>
      <p:sp>
        <p:nvSpPr>
          <p:cNvPr id="41" name="d72642f2-c8d4-4d85-b685-a24b6f649e4c"/>
          <p:cNvSpPr/>
          <p:nvPr/>
        </p:nvSpPr>
        <p:spPr>
          <a:xfrm>
            <a:off x="7680960" y="1685050"/>
            <a:ext cx="2514600" cy="3801268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2" name="279dddae-edec-40fb-9c4f-3a1553cf7ca8"/>
          <p:cNvSpPr/>
          <p:nvPr/>
        </p:nvSpPr>
        <p:spPr>
          <a:xfrm>
            <a:off x="7680960" y="1735960"/>
            <a:ext cx="25146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400" dirty="0"/>
          </a:p>
        </p:txBody>
      </p:sp>
      <p:sp>
        <p:nvSpPr>
          <p:cNvPr id="43" name="c218c2b2-355d-4fd9-8b8c-4e5209e3e2b4"/>
          <p:cNvSpPr/>
          <p:nvPr/>
        </p:nvSpPr>
        <p:spPr>
          <a:xfrm>
            <a:off x="7863840" y="2109298"/>
            <a:ext cx="2148840" cy="848497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驗證身分 · 本地授權</a:t>
            </a:r>
            <a:endParaRPr lang="en-US" sz="1300" dirty="0"/>
          </a:p>
        </p:txBody>
      </p:sp>
      <p:sp>
        <p:nvSpPr>
          <p:cNvPr id="44" name="8f3188bf-45dc-4b85-8ffc-39c9aa6b91db"/>
          <p:cNvSpPr/>
          <p:nvPr/>
        </p:nvSpPr>
        <p:spPr>
          <a:xfrm>
            <a:off x="7863840" y="3127495"/>
            <a:ext cx="214884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簽發 token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</a:t>
            </a:r>
            <a:endParaRPr lang="en-US" sz="1300" dirty="0"/>
          </a:p>
        </p:txBody>
      </p:sp>
      <p:sp>
        <p:nvSpPr>
          <p:cNvPr id="45" name="8fd6f5e9-783e-4378-98ea-f20db8ee813a"/>
          <p:cNvSpPr/>
          <p:nvPr/>
        </p:nvSpPr>
        <p:spPr>
          <a:xfrm>
            <a:off x="7863840" y="4400241"/>
            <a:ext cx="214884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只收內部帳號</a:t>
            </a:r>
            <a:endParaRPr lang="en-US" sz="1300" dirty="0"/>
          </a:p>
        </p:txBody>
      </p:sp>
      <p:sp>
        <p:nvSpPr>
          <p:cNvPr id="46" name="d9a13c67-3c65-4657-b473-7951df3669c5"/>
          <p:cNvSpPr/>
          <p:nvPr/>
        </p:nvSpPr>
        <p:spPr>
          <a:xfrm>
            <a:off x="10195560" y="3169920"/>
            <a:ext cx="41148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47" name="43712cb2-f9e6-441d-8b0e-3f87d80e81c0"/>
          <p:cNvSpPr/>
          <p:nvPr/>
        </p:nvSpPr>
        <p:spPr>
          <a:xfrm>
            <a:off x="10607040" y="2109298"/>
            <a:ext cx="1033272" cy="212124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8" name="09a8cb5a-263e-49a6-9865-efc06b753b69"/>
          <p:cNvSpPr/>
          <p:nvPr/>
        </p:nvSpPr>
        <p:spPr>
          <a:xfrm>
            <a:off x="10872216" y="2236573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9" name="f96f46e3-9b05-4874-89cf-699b91d2218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982858" y="2339241"/>
            <a:ext cx="281635" cy="281635"/>
          </a:xfrm>
          <a:prstGeom prst="rect">
            <a:avLst/>
          </a:prstGeom>
        </p:spPr>
      </p:pic>
      <p:sp>
        <p:nvSpPr>
          <p:cNvPr id="50" name="bec52a24-181b-4283-a0af-67e7bba07f0a"/>
          <p:cNvSpPr/>
          <p:nvPr/>
        </p:nvSpPr>
        <p:spPr>
          <a:xfrm>
            <a:off x="10607040" y="2830521"/>
            <a:ext cx="1033272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人與群組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LDAPS</a:t>
            </a:r>
            <a:endParaRPr lang="en-US" sz="1400" dirty="0"/>
          </a:p>
        </p:txBody>
      </p:sp>
      <p:sp>
        <p:nvSpPr>
          <p:cNvPr id="51" name="ff063644-1766-46b2-b372-636d1814e1ed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認證來源有三種(AD 帳密、SCRAM、client 憑證);授權只在一處:MDS 的 RBAC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設計決策:前提決定做法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每個選擇都對應一個客戶前提或官方限制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dc22133-82e5-41aa-a98b-121c00781e76"/>
          <p:cNvSpPr/>
          <p:nvPr/>
        </p:nvSpPr>
        <p:spPr>
          <a:xfrm>
            <a:off x="548640" y="1642625"/>
            <a:ext cx="4480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客戶前提與官方限制</a:t>
            </a:r>
            <a:endParaRPr lang="en-US" sz="1300" dirty="0"/>
          </a:p>
        </p:txBody>
      </p:sp>
      <p:sp>
        <p:nvSpPr>
          <p:cNvPr id="3" name="ec94ed24-9d07-4828-9561-1a1407801c95"/>
          <p:cNvSpPr/>
          <p:nvPr/>
        </p:nvSpPr>
        <p:spPr>
          <a:xfrm>
            <a:off x="5760720" y="1642625"/>
            <a:ext cx="587959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方案的選擇</a:t>
            </a:r>
            <a:endParaRPr lang="en-US" sz="1300" dirty="0"/>
          </a:p>
        </p:txBody>
      </p:sp>
      <p:sp>
        <p:nvSpPr>
          <p:cNvPr id="4" name="28bc10aa-11d8-4b6c-8d90-514472e51b49"/>
          <p:cNvSpPr/>
          <p:nvPr/>
        </p:nvSpPr>
        <p:spPr>
          <a:xfrm>
            <a:off x="548640" y="2007479"/>
            <a:ext cx="4480560" cy="56000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只有人與群組,沒有服務帳號</a:t>
            </a:r>
            <a:endParaRPr lang="en-US" sz="1300" dirty="0"/>
          </a:p>
        </p:txBody>
      </p:sp>
      <p:sp>
        <p:nvSpPr>
          <p:cNvPr id="5" name="3d02437f-a4a1-4b66-bddc-a1d66581d6f5"/>
          <p:cNvSpPr/>
          <p:nvPr/>
        </p:nvSpPr>
        <p:spPr>
          <a:xfrm>
            <a:off x="5029200" y="2287483"/>
            <a:ext cx="73152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" name="7835e893-4bc8-47f2-b336-b059608c710c"/>
          <p:cNvSpPr/>
          <p:nvPr/>
        </p:nvSpPr>
        <p:spPr>
          <a:xfrm>
            <a:off x="5760720" y="2007479"/>
            <a:ext cx="5879592" cy="56000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 AD 帳密;服務用 Kafka 內的 SCRAM 帳號</a:t>
            </a:r>
            <a:endParaRPr lang="en-US" sz="1300" dirty="0"/>
          </a:p>
        </p:txBody>
      </p:sp>
      <p:sp>
        <p:nvSpPr>
          <p:cNvPr id="7" name="a612c5cd-7de3-48f3-9a34-8c7e9e46ce1a"/>
          <p:cNvSpPr/>
          <p:nvPr/>
        </p:nvSpPr>
        <p:spPr>
          <a:xfrm>
            <a:off x="548640" y="2686277"/>
            <a:ext cx="4480560" cy="56000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憑證越少越好</a:t>
            </a:r>
            <a:endParaRPr lang="en-US" sz="1300" dirty="0"/>
          </a:p>
        </p:txBody>
      </p:sp>
      <p:sp>
        <p:nvSpPr>
          <p:cNvPr id="8" name="0ab89809-441e-4c92-8282-0758995c2d5f"/>
          <p:cNvSpPr/>
          <p:nvPr/>
        </p:nvSpPr>
        <p:spPr>
          <a:xfrm>
            <a:off x="5029200" y="2966281"/>
            <a:ext cx="73152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25db4d31-4338-4762-bfab-cb0e0ce5a25d"/>
          <p:cNvSpPr/>
          <p:nvPr/>
        </p:nvSpPr>
        <p:spPr>
          <a:xfrm>
            <a:off x="5760720" y="2686277"/>
            <a:ext cx="5879592" cy="56000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端共用一組憑證;client 憑證只給平台元件與 legacy app</a:t>
            </a:r>
            <a:endParaRPr lang="en-US" sz="1300" dirty="0"/>
          </a:p>
        </p:txBody>
      </p:sp>
      <p:sp>
        <p:nvSpPr>
          <p:cNvPr id="10" name="1d67f26b-fc11-461d-a77e-28d04196a92d"/>
          <p:cNvSpPr/>
          <p:nvPr/>
        </p:nvSpPr>
        <p:spPr>
          <a:xfrm>
            <a:off x="548640" y="3365074"/>
            <a:ext cx="4480560" cy="56000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300" dirty="0"/>
          </a:p>
        </p:txBody>
      </p:sp>
      <p:sp>
        <p:nvSpPr>
          <p:cNvPr id="11" name="92e06498-d43b-4c48-a59d-ce2a93242244"/>
          <p:cNvSpPr/>
          <p:nvPr/>
        </p:nvSpPr>
        <p:spPr>
          <a:xfrm>
            <a:off x="5029200" y="3645078"/>
            <a:ext cx="73152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1ea7ba7e-a6fe-4fc8-bad4-dab04b04d33d"/>
          <p:cNvSpPr/>
          <p:nvPr/>
        </p:nvSpPr>
        <p:spPr>
          <a:xfrm>
            <a:off x="5760720" y="3365074"/>
            <a:ext cx="5879592" cy="56000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 REST Proxy,用 client 憑證換 token</a:t>
            </a:r>
            <a:endParaRPr lang="en-US" sz="1300" dirty="0"/>
          </a:p>
        </p:txBody>
      </p:sp>
      <p:sp>
        <p:nvSpPr>
          <p:cNvPr id="13" name="e078e55d-4ecc-4ad9-8303-0f9bfe9b7d78"/>
          <p:cNvSpPr/>
          <p:nvPr/>
        </p:nvSpPr>
        <p:spPr>
          <a:xfrm>
            <a:off x="548640" y="4043872"/>
            <a:ext cx="4480560" cy="56000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不同職責要有不同權限</a:t>
            </a:r>
            <a:endParaRPr lang="en-US" sz="1300" dirty="0"/>
          </a:p>
        </p:txBody>
      </p:sp>
      <p:sp>
        <p:nvSpPr>
          <p:cNvPr id="14" name="21f2a3e0-5c75-458f-8d01-a04827f88006"/>
          <p:cNvSpPr/>
          <p:nvPr/>
        </p:nvSpPr>
        <p:spPr>
          <a:xfrm>
            <a:off x="5029200" y="4323876"/>
            <a:ext cx="73152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" name="f724768b-bc3d-4488-9d91-a2af8617b66c"/>
          <p:cNvSpPr/>
          <p:nvPr/>
        </p:nvSpPr>
        <p:spPr>
          <a:xfrm>
            <a:off x="5760720" y="4043872"/>
            <a:ext cx="5879592" cy="56000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群組綁 role;人員異動只改 AD</a:t>
            </a:r>
            <a:endParaRPr lang="en-US" sz="1300" dirty="0"/>
          </a:p>
        </p:txBody>
      </p:sp>
      <p:sp>
        <p:nvSpPr>
          <p:cNvPr id="16" name="75d55722-2163-4e46-b308-a94d68767b5c"/>
          <p:cNvSpPr/>
          <p:nvPr/>
        </p:nvSpPr>
        <p:spPr>
          <a:xfrm>
            <a:off x="548640" y="4722670"/>
            <a:ext cx="4480560" cy="56000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官方:controller listener 不支援 SCRAM</a:t>
            </a:r>
            <a:endParaRPr lang="en-US" sz="1300" dirty="0"/>
          </a:p>
        </p:txBody>
      </p:sp>
      <p:sp>
        <p:nvSpPr>
          <p:cNvPr id="17" name="410e0684-68f2-4930-9a9b-b7411153b559"/>
          <p:cNvSpPr/>
          <p:nvPr/>
        </p:nvSpPr>
        <p:spPr>
          <a:xfrm>
            <a:off x="5029200" y="5002674"/>
            <a:ext cx="73152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f6c43b66-0a96-41f6-8638-50e5a51e8485"/>
          <p:cNvSpPr/>
          <p:nvPr/>
        </p:nvSpPr>
        <p:spPr>
          <a:xfrm>
            <a:off x="5760720" y="4722670"/>
            <a:ext cx="5879592" cy="56000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內部通道:連 broker 用 SCRAM,連 controller 用 PLAIN 靜態帳號</a:t>
            </a:r>
            <a:endParaRPr lang="en-US" sz="1300" dirty="0"/>
          </a:p>
        </p:txBody>
      </p:sp>
      <p:sp>
        <p:nvSpPr>
          <p:cNvPr id="19" name="ea652375-e5ca-4248-ba00-335320b830e1"/>
          <p:cNvSpPr/>
          <p:nvPr/>
        </p:nvSpPr>
        <p:spPr>
          <a:xfrm>
            <a:off x="548640" y="5401468"/>
            <a:ext cx="4480560" cy="56000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手動安裝,沒有 Ansible</a:t>
            </a:r>
            <a:endParaRPr lang="en-US" sz="1300" dirty="0"/>
          </a:p>
        </p:txBody>
      </p:sp>
      <p:sp>
        <p:nvSpPr>
          <p:cNvPr id="20" name="a3b748da-189c-4c3e-aa0d-a76bd6a390cd"/>
          <p:cNvSpPr/>
          <p:nvPr/>
        </p:nvSpPr>
        <p:spPr>
          <a:xfrm>
            <a:off x="5029200" y="5681472"/>
            <a:ext cx="73152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73291a75-9f6d-408a-b7c3-e6aa03f516c9"/>
          <p:cNvSpPr/>
          <p:nvPr/>
        </p:nvSpPr>
        <p:spPr>
          <a:xfrm>
            <a:off x="5760720" y="5401468"/>
            <a:ext cx="5879592" cy="56000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手動流程標準化,改設定時逐台滾動重啟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認證:四種身分,各有來源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出示什麼、從哪裡進、誰驗證、授權綁什麼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a30c229-cb41-47a7-9eb7-1826f2988118"/>
          <p:cNvSpPr/>
          <p:nvPr/>
        </p:nvSpPr>
        <p:spPr>
          <a:xfrm>
            <a:off x="3291840" y="1685050"/>
            <a:ext cx="19659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出示什麼</a:t>
            </a:r>
            <a:endParaRPr lang="en-US" sz="1300" dirty="0"/>
          </a:p>
        </p:txBody>
      </p:sp>
      <p:sp>
        <p:nvSpPr>
          <p:cNvPr id="3" name="110b2f61-d888-4c61-8495-b966ac119880"/>
          <p:cNvSpPr/>
          <p:nvPr/>
        </p:nvSpPr>
        <p:spPr>
          <a:xfrm>
            <a:off x="5349240" y="1685050"/>
            <a:ext cx="22860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從哪裡進</a:t>
            </a:r>
            <a:endParaRPr lang="en-US" sz="1300" dirty="0"/>
          </a:p>
        </p:txBody>
      </p:sp>
      <p:sp>
        <p:nvSpPr>
          <p:cNvPr id="4" name="15fa0af4-e102-405c-a745-538a90993c1b"/>
          <p:cNvSpPr/>
          <p:nvPr/>
        </p:nvSpPr>
        <p:spPr>
          <a:xfrm>
            <a:off x="7726680" y="1685050"/>
            <a:ext cx="20116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誰驗證身分</a:t>
            </a:r>
            <a:endParaRPr lang="en-US" sz="1300" dirty="0"/>
          </a:p>
        </p:txBody>
      </p:sp>
      <p:sp>
        <p:nvSpPr>
          <p:cNvPr id="5" name="3a624c08-373b-4447-96b6-a2a96fe5a66f"/>
          <p:cNvSpPr/>
          <p:nvPr/>
        </p:nvSpPr>
        <p:spPr>
          <a:xfrm>
            <a:off x="9829800" y="1685050"/>
            <a:ext cx="167335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授權綁什麼</a:t>
            </a:r>
            <a:endParaRPr lang="en-US" sz="1300" dirty="0"/>
          </a:p>
        </p:txBody>
      </p:sp>
      <p:sp>
        <p:nvSpPr>
          <p:cNvPr id="6" name="153a1fdd-49a0-48dc-b70b-ad95f27caf6c"/>
          <p:cNvSpPr/>
          <p:nvPr/>
        </p:nvSpPr>
        <p:spPr>
          <a:xfrm>
            <a:off x="548640" y="2109298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c10a0ffb-4c07-4b18-970a-5ccba539ea35"/>
          <p:cNvSpPr/>
          <p:nvPr/>
        </p:nvSpPr>
        <p:spPr>
          <a:xfrm>
            <a:off x="685800" y="2270513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8" name="9fce55a4-7b75-4bde-bddc-1f3c2d0f4ee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0407" y="2367581"/>
            <a:ext cx="266273" cy="266273"/>
          </a:xfrm>
          <a:prstGeom prst="rect">
            <a:avLst/>
          </a:prstGeom>
        </p:spPr>
      </p:pic>
      <p:sp>
        <p:nvSpPr>
          <p:cNvPr id="9" name="aea575c8-0f20-4ca6-8fbc-89e82a0cad31"/>
          <p:cNvSpPr/>
          <p:nvPr/>
        </p:nvSpPr>
        <p:spPr>
          <a:xfrm>
            <a:off x="1280160" y="2109298"/>
            <a:ext cx="196596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50" dirty="0"/>
          </a:p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腳本 · Postman</a:t>
            </a:r>
            <a:endParaRPr lang="en-US" sz="1350" dirty="0"/>
          </a:p>
        </p:txBody>
      </p:sp>
      <p:sp>
        <p:nvSpPr>
          <p:cNvPr id="10" name="0354b7c7-a8cb-483d-bca4-ce8fddc27db8"/>
          <p:cNvSpPr/>
          <p:nvPr/>
        </p:nvSpPr>
        <p:spPr>
          <a:xfrm>
            <a:off x="3291840" y="2109298"/>
            <a:ext cx="196596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</a:t>
            </a:r>
            <a:endParaRPr lang="en-US" sz="1200" dirty="0"/>
          </a:p>
        </p:txBody>
      </p:sp>
      <p:sp>
        <p:nvSpPr>
          <p:cNvPr id="11" name="6bb5e46f-9eb1-43b5-927f-33b46fcf798d"/>
          <p:cNvSpPr/>
          <p:nvPr/>
        </p:nvSpPr>
        <p:spPr>
          <a:xfrm>
            <a:off x="5349240" y="2109298"/>
            <a:ext cx="22860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 · REST Proxy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broker 9094</a:t>
            </a:r>
            <a:endParaRPr lang="en-US" sz="1200" dirty="0"/>
          </a:p>
        </p:txBody>
      </p:sp>
      <p:sp>
        <p:nvSpPr>
          <p:cNvPr id="12" name="0a100e39-7ada-442c-843d-33297ace19d2"/>
          <p:cNvSpPr/>
          <p:nvPr/>
        </p:nvSpPr>
        <p:spPr>
          <a:xfrm>
            <a:off x="7726680" y="2109298"/>
            <a:ext cx="20116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(由 broker 或 MDS 轉驗)</a:t>
            </a:r>
            <a:endParaRPr lang="en-US" sz="1200" dirty="0"/>
          </a:p>
        </p:txBody>
      </p:sp>
      <p:sp>
        <p:nvSpPr>
          <p:cNvPr id="13" name="01c6b250-2e79-4ce4-aa76-397d6733977d"/>
          <p:cNvSpPr/>
          <p:nvPr/>
        </p:nvSpPr>
        <p:spPr>
          <a:xfrm>
            <a:off x="9875520" y="2295968"/>
            <a:ext cx="1581912" cy="39030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Group:AD 群組</a:t>
            </a:r>
            <a:endParaRPr lang="en-US" sz="1150" dirty="0"/>
          </a:p>
        </p:txBody>
      </p:sp>
      <p:sp>
        <p:nvSpPr>
          <p:cNvPr id="14" name="5308ed0d-7913-4c7e-8f11-ebfc5b7798e2"/>
          <p:cNvSpPr/>
          <p:nvPr/>
        </p:nvSpPr>
        <p:spPr>
          <a:xfrm>
            <a:off x="548640" y="2974766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5" name="e792f8bb-373a-4f6c-b28e-bb698c0878e4"/>
          <p:cNvSpPr/>
          <p:nvPr/>
        </p:nvSpPr>
        <p:spPr>
          <a:xfrm>
            <a:off x="685800" y="3135980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6" name="7597318f-d06e-4eec-aee4-755318d1c97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90407" y="3233048"/>
            <a:ext cx="266273" cy="266273"/>
          </a:xfrm>
          <a:prstGeom prst="rect">
            <a:avLst/>
          </a:prstGeom>
        </p:spPr>
      </p:pic>
      <p:sp>
        <p:nvSpPr>
          <p:cNvPr id="17" name="64af0c3f-a81c-41f1-9210-633e99ce9ba2"/>
          <p:cNvSpPr/>
          <p:nvPr/>
        </p:nvSpPr>
        <p:spPr>
          <a:xfrm>
            <a:off x="1280160" y="2974766"/>
            <a:ext cx="196596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1350" dirty="0"/>
          </a:p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</a:t>
            </a:r>
            <a:endParaRPr lang="en-US" sz="1350" dirty="0"/>
          </a:p>
        </p:txBody>
      </p:sp>
      <p:sp>
        <p:nvSpPr>
          <p:cNvPr id="18" name="1987858c-2dfe-4018-b183-c38b31023a90"/>
          <p:cNvSpPr/>
          <p:nvPr/>
        </p:nvSpPr>
        <p:spPr>
          <a:xfrm>
            <a:off x="3291840" y="2974766"/>
            <a:ext cx="196596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帳密</a:t>
            </a:r>
            <a:endParaRPr lang="en-US" sz="1200" dirty="0"/>
          </a:p>
        </p:txBody>
      </p:sp>
      <p:sp>
        <p:nvSpPr>
          <p:cNvPr id="19" name="3e710a32-5639-4a2e-892a-f89690874719"/>
          <p:cNvSpPr/>
          <p:nvPr/>
        </p:nvSpPr>
        <p:spPr>
          <a:xfrm>
            <a:off x="5349240" y="2974766"/>
            <a:ext cx="22860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9094</a:t>
            </a:r>
            <a:endParaRPr lang="en-US" sz="1200" dirty="0"/>
          </a:p>
        </p:txBody>
      </p:sp>
      <p:sp>
        <p:nvSpPr>
          <p:cNvPr id="20" name="f317fe65-4d82-40c0-ab25-5fa34286f3eb"/>
          <p:cNvSpPr/>
          <p:nvPr/>
        </p:nvSpPr>
        <p:spPr>
          <a:xfrm>
            <a:off x="7726680" y="2974766"/>
            <a:ext cx="20116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(帳密存在 Kafka)</a:t>
            </a:r>
            <a:endParaRPr lang="en-US" sz="1200" dirty="0"/>
          </a:p>
        </p:txBody>
      </p:sp>
      <p:sp>
        <p:nvSpPr>
          <p:cNvPr id="21" name="0bbc390c-b38c-4b93-80ad-47e46779e0fa"/>
          <p:cNvSpPr/>
          <p:nvPr/>
        </p:nvSpPr>
        <p:spPr>
          <a:xfrm>
            <a:off x="9875520" y="3161435"/>
            <a:ext cx="1581912" cy="39030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User:服務帳號</a:t>
            </a:r>
            <a:endParaRPr lang="en-US" sz="1150" dirty="0"/>
          </a:p>
        </p:txBody>
      </p:sp>
      <p:sp>
        <p:nvSpPr>
          <p:cNvPr id="22" name="066ac254-217b-441f-a806-e29c511f2570"/>
          <p:cNvSpPr/>
          <p:nvPr/>
        </p:nvSpPr>
        <p:spPr>
          <a:xfrm>
            <a:off x="548640" y="384023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ab33ff03-a328-4ee1-bd9b-22600cf54d87"/>
          <p:cNvSpPr/>
          <p:nvPr/>
        </p:nvSpPr>
        <p:spPr>
          <a:xfrm>
            <a:off x="685800" y="4001447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ec187dfe-a6c5-40d5-99fd-a6fa799084e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90407" y="4098515"/>
            <a:ext cx="266273" cy="266273"/>
          </a:xfrm>
          <a:prstGeom prst="rect">
            <a:avLst/>
          </a:prstGeom>
        </p:spPr>
      </p:pic>
      <p:sp>
        <p:nvSpPr>
          <p:cNvPr id="25" name="71c9ed8f-4d52-4e2e-a5dd-01e12096c383"/>
          <p:cNvSpPr/>
          <p:nvPr/>
        </p:nvSpPr>
        <p:spPr>
          <a:xfrm>
            <a:off x="1280160" y="3840233"/>
            <a:ext cx="196596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平台元件、legacy app</a:t>
            </a:r>
            <a:endParaRPr lang="en-US" sz="1350" dirty="0"/>
          </a:p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restproxy · 各 app</a:t>
            </a:r>
            <a:endParaRPr lang="en-US" sz="1350" dirty="0"/>
          </a:p>
        </p:txBody>
      </p:sp>
      <p:sp>
        <p:nvSpPr>
          <p:cNvPr id="26" name="4a7cc135-a1a8-4bfd-b6f5-34cadccf90f9"/>
          <p:cNvSpPr/>
          <p:nvPr/>
        </p:nvSpPr>
        <p:spPr>
          <a:xfrm>
            <a:off x="3291840" y="3840233"/>
            <a:ext cx="196596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換成 MDS 的 token</a:t>
            </a:r>
            <a:endParaRPr lang="en-US" sz="1200" dirty="0"/>
          </a:p>
        </p:txBody>
      </p:sp>
      <p:sp>
        <p:nvSpPr>
          <p:cNvPr id="27" name="97fa5198-8deb-4899-90ca-491b2de603e5"/>
          <p:cNvSpPr/>
          <p:nvPr/>
        </p:nvSpPr>
        <p:spPr>
          <a:xfrm>
            <a:off x="5349240" y="3840233"/>
            <a:ext cx="22860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REST Proxy</a:t>
            </a:r>
            <a:endParaRPr lang="en-US" sz="1200" dirty="0"/>
          </a:p>
        </p:txBody>
      </p:sp>
      <p:sp>
        <p:nvSpPr>
          <p:cNvPr id="28" name="9177e5e8-89c8-4e84-8805-772922997660"/>
          <p:cNvSpPr/>
          <p:nvPr/>
        </p:nvSpPr>
        <p:spPr>
          <a:xfrm>
            <a:off x="7726680" y="3840233"/>
            <a:ext cx="20116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或 REST Proxy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(憑證 CN 對映成主體)</a:t>
            </a:r>
            <a:endParaRPr lang="en-US" sz="1200" dirty="0"/>
          </a:p>
        </p:txBody>
      </p:sp>
      <p:sp>
        <p:nvSpPr>
          <p:cNvPr id="29" name="ab4365b7-4656-4b20-9917-361263799a01"/>
          <p:cNvSpPr/>
          <p:nvPr/>
        </p:nvSpPr>
        <p:spPr>
          <a:xfrm>
            <a:off x="9875520" y="4026902"/>
            <a:ext cx="1581912" cy="39030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User:憑證 CN</a:t>
            </a:r>
            <a:endParaRPr lang="en-US" sz="1150" dirty="0"/>
          </a:p>
        </p:txBody>
      </p:sp>
      <p:sp>
        <p:nvSpPr>
          <p:cNvPr id="30" name="5c6acd4e-0c44-4c60-bf71-868d6dce657a"/>
          <p:cNvSpPr/>
          <p:nvPr/>
        </p:nvSpPr>
        <p:spPr>
          <a:xfrm>
            <a:off x="548640" y="4705700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1" name="6fec1f61-e404-4675-b9f3-1a7c6d260763"/>
          <p:cNvSpPr/>
          <p:nvPr/>
        </p:nvSpPr>
        <p:spPr>
          <a:xfrm>
            <a:off x="685800" y="486691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2" name="57dff15f-dc51-418c-b38a-affc9e142e1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0407" y="4963983"/>
            <a:ext cx="266273" cy="266273"/>
          </a:xfrm>
          <a:prstGeom prst="rect">
            <a:avLst/>
          </a:prstGeom>
        </p:spPr>
      </p:pic>
      <p:sp>
        <p:nvSpPr>
          <p:cNvPr id="33" name="25c114e6-147e-4474-99d1-5f5b5776969f"/>
          <p:cNvSpPr/>
          <p:nvPr/>
        </p:nvSpPr>
        <p:spPr>
          <a:xfrm>
            <a:off x="1280160" y="4705700"/>
            <a:ext cx="196596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內部元件</a:t>
            </a:r>
            <a:endParaRPr lang="en-US" sz="1350" dirty="0"/>
          </a:p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· controller</a:t>
            </a:r>
            <a:endParaRPr lang="en-US" sz="1350" dirty="0"/>
          </a:p>
        </p:txBody>
      </p:sp>
      <p:sp>
        <p:nvSpPr>
          <p:cNvPr id="34" name="1905ad94-413e-4ef0-8da5-a18192e2bf31"/>
          <p:cNvSpPr/>
          <p:nvPr/>
        </p:nvSpPr>
        <p:spPr>
          <a:xfrm>
            <a:off x="3291840" y="4705700"/>
            <a:ext cx="196596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內部帳號</a:t>
            </a:r>
            <a:endParaRPr lang="en-US" sz="1200" dirty="0"/>
          </a:p>
        </p:txBody>
      </p:sp>
      <p:sp>
        <p:nvSpPr>
          <p:cNvPr id="35" name="0920618f-2e9a-457c-b2b4-ad96f41b4aca"/>
          <p:cNvSpPr/>
          <p:nvPr/>
        </p:nvSpPr>
        <p:spPr>
          <a:xfrm>
            <a:off x="5349240" y="4705700"/>
            <a:ext cx="22860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9092(SCRAM)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9093(PLAIN)</a:t>
            </a:r>
            <a:endParaRPr lang="en-US" sz="1200" dirty="0"/>
          </a:p>
        </p:txBody>
      </p:sp>
      <p:sp>
        <p:nvSpPr>
          <p:cNvPr id="36" name="d39114d3-a14f-4dea-8d1e-e44f3f61788f"/>
          <p:cNvSpPr/>
          <p:nvPr/>
        </p:nvSpPr>
        <p:spPr>
          <a:xfrm>
            <a:off x="7726680" y="4705700"/>
            <a:ext cx="20116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被連的那一方</a:t>
            </a:r>
            <a:endParaRPr lang="en-US" sz="1200" dirty="0"/>
          </a:p>
        </p:txBody>
      </p:sp>
      <p:sp>
        <p:nvSpPr>
          <p:cNvPr id="37" name="27accdb8-314c-429b-ad3f-ab0ba0f3d5e6"/>
          <p:cNvSpPr/>
          <p:nvPr/>
        </p:nvSpPr>
        <p:spPr>
          <a:xfrm>
            <a:off x="9875520" y="4892370"/>
            <a:ext cx="1581912" cy="39030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super.users</a:t>
            </a:r>
            <a:endParaRPr lang="en-US" sz="1150" dirty="0"/>
          </a:p>
        </p:txBody>
      </p:sp>
      <p:sp>
        <p:nvSpPr>
          <p:cNvPr id="38" name="20bc746f-ca37-4fe7-9b11-109c1be799c0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前三種由 broker 依 MDS 的 RBAC 授權;內部帳號列為 super.users,只開放節點之間連線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人的三個入口,同一套授權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瀏覽器、CLI、腳本,最後都依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c07d3ef-6927-498f-99ce-a09604d4c15d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0862842-cf59-4860-bcaf-7c7608b58e62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9c3ab5b8-483d-44b1-a884-dbf0237c78a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442b0b15-86b6-438e-9a88-a1cadf77e00d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0e96090e-a869-475f-814d-4aa1b201e414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2456a6cb-c77e-403e-a177-3e1f76ea5337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502229ac-7114-4a01-84b7-9cfcfb0499e7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18c403ba-ceca-4a51-a77d-d264ba959965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85bd4794-3103-4382-875b-1b8205583e7d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915130a4-b02c-4034-aeb8-1c95c3517756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a35eba71-61ee-4b1b-a0cf-7fb8bec92550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c6a67f5a-1b95-4009-a015-c5388d5a37b6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49c268dc-a651-4a1a-bb81-f0a0815b4d2b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298054d0-0c62-42ba-bcf5-d664344c888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3e6049fc-d3a7-4ee3-a188-ace159f6ed8b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f8c1d78f-db95-4997-91bc-41e514292efe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6697b961-32ec-4540-9a10-e69f2ce75283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f746a28d-10c8-40ac-85f4-a32418feaad4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5b01c5a8-6b67-438d-930a-f330b82941bd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83def053-876b-4378-8739-77c8176e7ee2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4a549062-15ae-4102-ae3c-ab3161aa08fb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e3393608-003c-44ef-b6a6-4a99cf9e3d6c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8c58f1d6-285f-4b1a-8292-9d5f5bfb2b74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028d1ef4-efef-4b7b-a7d7-38306eb2d0e8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84c5ac20-005a-4255-920d-0728814960c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a72073c5-9fba-40a9-bae5-a27b0f6b5f79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519c2255-b924-47a0-b7a1-44cd79a08aba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d1cf01ef-6240-4fdf-8e04-d5cebdf2c908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4609c989-c836-4b33-b05c-3eebd219a923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a8a1178b-65bc-4a66-861f-c93ca461e606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301327b9-7015-465d-b130-f362993701d6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d33fb1f1-58c7-435e-8860-88be7c467cd2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c690fa61-5206-4784-afa1-ad1ad4b84d48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2ac056e9-9130-4c68-bcaa-d0bdbf643bfc"/>
          <p:cNvSpPr/>
          <p:nvPr/>
        </p:nvSpPr>
        <p:spPr>
          <a:xfrm>
            <a:off x="548640" y="5859656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腳本呼叫 Control Center 的 API:只收 Bearer,先用 AD 帳密向 MDS 換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baf7bb0-8123-416f-88cb-6abc3a0494bd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2f08b849-ad6c-49ca-b4ed-2583541c3227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befd3774-daf8-4e8d-88b2-9a134ed7e788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86519802-bc1d-41b5-ad01-ec06aabb7c99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9f75332f-2ab1-479d-8692-0d56e2510cc5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75d6b5b6-9e3d-4ddf-9dca-b908e7906edf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4cbc65d5-9fed-4481-a9cf-a8644b2ef73f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a1c962f8-011f-494d-ac8b-0da2e03d543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0d03a0ee-fd8d-45a9-9ff4-c4cbbbcfc94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ec469e5c-72c8-4079-b663-b23876731cd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ffc73391-0573-4423-ae04-197a54ffca6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5d708d64-2d62-406c-955b-f857f7e46c6d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664762ea-00b9-43a1-9e85-40c3d275c75d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76225109-031d-453c-91b2-f66a844f5be1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9fe3b6fb-5983-443d-ace3-19538dd2ddc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86811efc-f439-4ffc-8421-311aa963729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1e72651a-9691-46b4-ac06-2c171f50e198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79fc9d19-b343-4e01-a15f-17f1bf631084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42437905-754e-43b1-8a5d-882e695a337b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5b77fa8e-498b-444d-b976-a576f2bec536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9045168c-7e28-40d0-914e-5825a8eb1c43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f61a591e-2d10-4714-a18d-f0fe0c8c02fd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34999443-7e23-4b28-a07a-618012fd147f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5872fbf7-c8f8-4577-b93d-a343248db4f2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4bfa1b6e-5d7c-46b4-9c85-de472b273ff2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c63c2fbf-e501-4f44-9914-1f97d2158f92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51da4f98-cc52-49d1-a8d5-d7a0d9f02635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740a3a71-1790-421b-88da-d4830ee39377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6b58c425-39ee-451b-ac3d-6c8bcf16e822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1da07dd1-d618-424a-9e12-21b770ac45fc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c2d3d058-fa32-49b9-a92c-7b67d49ee833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7352c835-c88d-41bc-9d33-5c5bfc3a7575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acad31c8-e9c1-4a3e-a5fd-186bd36f565b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648dcb44-16cc-4f30-b2fa-c489f85afb78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96e39de5-6bfa-4f61-a562-9489605c0cbc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f4f924a6-d56c-4bcd-91f3-4829f62fe4e8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94b8c73c-6b68-48ba-8d21-921cf1778f77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d99a2126-2b8e-4908-9501-2b7f0ea267dd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e0433a6e-86d8-44de-8db3-bfb5983da981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9d3d9805-63e5-4fa1-b922-588b8c90e7dc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71563aef-93c8-4a35-973d-4c5a9b000567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194418b7-d658-4295-b8a7-6268b9558735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c07d9d61-65bc-464f-9d2f-b32e75813e8c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8daf742a-88e7-4ec5-87d1-04b20a20fc3c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cec6c104-5bd2-4ecf-a5ec-b7dadfebbde7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046ef0c6-4b1e-4394-9b10-c3f5f381bab7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c9122a71-3e1a-4234-94be-f02b1a0d12b9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加密:共用一組憑證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只做傳輸加密,不承載權限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5b4f036-4bbe-407f-ac0e-a7894a2ef35d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e6df96e9-0f85-4dbb-9302-cef03001cbd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d7e46f85-e05c-45d5-a0f1-60febcb2ec74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b0f3d296-4b58-4d72-8c22-72d174199444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9dd9b4d8-af32-479f-bea2-ba512d725339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f1739206-9929-48de-8787-7b0feb7bc37b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cf342068-33bd-4f4b-94e8-d64e2381f92f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24be2f53-2261-4e6d-a595-4798c64976df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b317bfb9-1f30-46e0-89ca-edcff8fe332b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45cf4585-c202-456f-8550-5af6f53025ad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be30db7f-3347-45a1-894d-c0adfe0c506a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ddb7f72f-3c08-44ca-82a8-4b992664c06b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065f2630-5c30-4531-87b7-80bcf0287ae4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ae2b4808-8b2c-4293-b9d3-664d5846fa87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056f5738-78e7-4e1d-85ad-a89c0b039cdc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2a70b138-f696-49de-ad1a-dbdb30b2541e"/>
          <p:cNvSpPr/>
          <p:nvPr/>
        </p:nvSpPr>
        <p:spPr>
          <a:xfrm>
            <a:off x="6309360" y="181232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只做傳輸加密,不承載權限</a:t>
            </a:r>
            <a:endParaRPr lang="en-US" sz="1250" dirty="0"/>
          </a:p>
        </p:txBody>
      </p:sp>
      <p:sp>
        <p:nvSpPr>
          <p:cNvPr id="18" name="2704f8e6-28a0-49c8-9e84-81654743f27d"/>
          <p:cNvSpPr/>
          <p:nvPr/>
        </p:nvSpPr>
        <p:spPr>
          <a:xfrm>
            <a:off x="6309360" y="2363848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共用憑證的身分(CN)永遠不綁任何 role</a:t>
            </a:r>
            <a:endParaRPr lang="en-US" sz="1250" dirty="0"/>
          </a:p>
        </p:txBody>
      </p:sp>
      <p:sp>
        <p:nvSpPr>
          <p:cNvPr id="19" name="ba6ffc50-8aa1-4668-90b8-03aa01872e39"/>
          <p:cNvSpPr/>
          <p:nvPr/>
        </p:nvSpPr>
        <p:spPr>
          <a:xfrm>
            <a:off x="6309360" y="2915371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涵蓋所有元件的主機名稱</a:t>
            </a:r>
            <a:endParaRPr lang="en-US" sz="1200" dirty="0"/>
          </a:p>
        </p:txBody>
      </p:sp>
      <p:sp>
        <p:nvSpPr>
          <p:cNvPr id="20" name="c8b24b00-ac4f-4079-9294-57eddf1c4118"/>
          <p:cNvSpPr/>
          <p:nvPr/>
        </p:nvSpPr>
        <p:spPr>
          <a:xfrm>
            <a:off x="6309360" y="346689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平台元件另用 client 憑證換 token(c3、restproxy、bootstrap)</a:t>
            </a:r>
            <a:endParaRPr lang="en-US" sz="1200" dirty="0"/>
          </a:p>
        </p:txBody>
      </p:sp>
      <p:sp>
        <p:nvSpPr>
          <p:cNvPr id="21" name="1744d0e5-1839-4c37-9c97-601cfc36eace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另匯入 AD 的 LDAPS CA root,一份設定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f6e60ca-a89f-480e-84d3-66940418d9c9"/>
          <p:cNvSpPr/>
          <p:nvPr/>
        </p:nvSpPr>
        <p:spPr>
          <a:xfrm>
            <a:off x="548640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b924f1b3-49b3-4701-901c-84cd7f7dc427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691344c2-9789-4ab3-ba5f-1c5e6e4c2a1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15e88f1f-76ff-4036-8e1b-14c8d9c456da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 內</a:t>
            </a:r>
            <a:endParaRPr lang="en-US" sz="1500" dirty="0"/>
          </a:p>
        </p:txBody>
      </p:sp>
      <p:sp>
        <p:nvSpPr>
          <p:cNvPr id="6" name="e1e421c7-a2b5-4c7f-87d3-fd484d5cdebd"/>
          <p:cNvSpPr/>
          <p:nvPr/>
        </p:nvSpPr>
        <p:spPr>
          <a:xfrm>
            <a:off x="640080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不放 AD</a:t>
            </a:r>
            <a:endParaRPr lang="en-US" sz="1200" dirty="0"/>
          </a:p>
        </p:txBody>
      </p:sp>
      <p:sp>
        <p:nvSpPr>
          <p:cNvPr id="7" name="c2a56237-af07-48f6-b13a-03a9e551b07f"/>
          <p:cNvSpPr/>
          <p:nvPr/>
        </p:nvSpPr>
        <p:spPr>
          <a:xfrm>
            <a:off x="4325112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8" name="c05a7e8f-25f7-4b4a-bbe3-eef36c31706c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9" name="6ca92ee1-b06e-478d-a67c-370cef76fc0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114a86c3-1499-491e-8f79-f6c6292c44b3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500" dirty="0"/>
          </a:p>
        </p:txBody>
      </p:sp>
      <p:sp>
        <p:nvSpPr>
          <p:cNvPr id="11" name="2b8b97f0-067a-4263-a56d-42209fd0010e"/>
          <p:cNvSpPr/>
          <p:nvPr/>
        </p:nvSpPr>
        <p:spPr>
          <a:xfrm>
            <a:off x="4416552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</a:t>
            </a:r>
            <a:endParaRPr lang="en-US" sz="1200" dirty="0"/>
          </a:p>
        </p:txBody>
      </p:sp>
      <p:sp>
        <p:nvSpPr>
          <p:cNvPr id="12" name="d1228afe-590a-4ea3-abbc-7a209fe503fc"/>
          <p:cNvSpPr/>
          <p:nvPr/>
        </p:nvSpPr>
        <p:spPr>
          <a:xfrm>
            <a:off x="8101584" y="1685050"/>
            <a:ext cx="3538728" cy="16121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27c6db8b-f32d-46a1-87d2-cdff992281b5"/>
          <p:cNvSpPr/>
          <p:nvPr/>
        </p:nvSpPr>
        <p:spPr>
          <a:xfrm>
            <a:off x="9596628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1543a014-69bf-428d-9c22-92f04330c6b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24326"/>
            <a:ext cx="307238" cy="307238"/>
          </a:xfrm>
          <a:prstGeom prst="rect">
            <a:avLst/>
          </a:prstGeom>
        </p:spPr>
      </p:pic>
      <p:sp>
        <p:nvSpPr>
          <p:cNvPr id="15" name="6a0362f3-0645-4476-b1a6-d31f6f7c6b89"/>
          <p:cNvSpPr/>
          <p:nvPr/>
        </p:nvSpPr>
        <p:spPr>
          <a:xfrm>
            <a:off x="8174736" y="2406272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搭配 TLS</a:t>
            </a:r>
            <a:endParaRPr lang="en-US" sz="1500" dirty="0"/>
          </a:p>
        </p:txBody>
      </p:sp>
      <p:sp>
        <p:nvSpPr>
          <p:cNvPr id="16" name="3617ea31-457a-4a2e-82d6-b30ca15178ce"/>
          <p:cNvSpPr/>
          <p:nvPr/>
        </p:nvSpPr>
        <p:spPr>
          <a:xfrm>
            <a:off x="8193024" y="2788096"/>
            <a:ext cx="3355848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200" dirty="0"/>
          </a:p>
        </p:txBody>
      </p:sp>
      <p:sp>
        <p:nvSpPr>
          <p:cNvPr id="17" name="d5e84caa-b9cd-4e53-8acc-8a980d01ffc3"/>
          <p:cNvSpPr/>
          <p:nvPr/>
        </p:nvSpPr>
        <p:spPr>
          <a:xfrm>
            <a:off x="548640" y="3551744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輪替:同帳號改密碼</a:t>
            </a:r>
            <a:endParaRPr lang="en-US" sz="1400" dirty="0"/>
          </a:p>
        </p:txBody>
      </p:sp>
      <p:sp>
        <p:nvSpPr>
          <p:cNvPr id="18" name="de4332be-7be2-40d3-b8bb-ad4e068af738"/>
          <p:cNvSpPr/>
          <p:nvPr/>
        </p:nvSpPr>
        <p:spPr>
          <a:xfrm>
            <a:off x="548640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19" name="a91bbef0-545b-43a4-8e8a-6ece41ac982d"/>
          <p:cNvSpPr/>
          <p:nvPr/>
        </p:nvSpPr>
        <p:spPr>
          <a:xfrm>
            <a:off x="3063240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0" name="4563a98d-0d6e-4fb4-a276-53d07733bbfc"/>
          <p:cNvSpPr/>
          <p:nvPr/>
        </p:nvSpPr>
        <p:spPr>
          <a:xfrm>
            <a:off x="3410712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21" name="e86899b6-0c18-4737-88b8-26962f5aec02"/>
          <p:cNvSpPr/>
          <p:nvPr/>
        </p:nvSpPr>
        <p:spPr>
          <a:xfrm>
            <a:off x="5925312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aca6cac8-6126-4e55-93ed-ded8ff92f6ca"/>
          <p:cNvSpPr/>
          <p:nvPr/>
        </p:nvSpPr>
        <p:spPr>
          <a:xfrm>
            <a:off x="6272784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23" name="8b4e28ee-97ad-4ef7-bb0f-412bacc003dc"/>
          <p:cNvSpPr/>
          <p:nvPr/>
        </p:nvSpPr>
        <p:spPr>
          <a:xfrm>
            <a:off x="8787384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4" name="c3a11167-8cb5-408e-8859-cd3abcbe4705"/>
          <p:cNvSpPr/>
          <p:nvPr/>
        </p:nvSpPr>
        <p:spPr>
          <a:xfrm>
            <a:off x="9134856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25" name="0a924e6d-51d8-419d-a13b-0fccbefe01b1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舊密碼對新連線立即失效;已連線的 client 不受影響,改完立刻換 client</a:t>
            </a:r>
            <a:endParaRPr lang="en-US" sz="1400" dirty="0"/>
          </a:p>
        </p:txBody>
      </p:sp>
      <p:sp>
        <p:nvSpPr>
          <p:cNvPr id="26" name="9350ae04-270e-452f-aa52-f7626dd19a5d"/>
          <p:cNvSpPr/>
          <p:nvPr/>
        </p:nvSpPr>
        <p:spPr>
          <a:xfrm>
            <a:off x="548640" y="5460863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不能有失敗窗口的服務:改用新帳號並行(client 要改帳號、role 要重綁)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21f4497-e140-4c8b-9f61-ea85f90b100a"/>
          <p:cNvSpPr/>
          <p:nvPr/>
        </p:nvSpPr>
        <p:spPr>
          <a:xfrm>
            <a:off x="54864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6c9c16cb-cab4-4d1a-9fda-5f5ed106b880"/>
          <p:cNvSpPr/>
          <p:nvPr/>
        </p:nvSpPr>
        <p:spPr>
          <a:xfrm>
            <a:off x="139446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fde1b4d2-93e5-4f2b-85bb-e7837e3c000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515161" y="2094025"/>
            <a:ext cx="307238" cy="307238"/>
          </a:xfrm>
          <a:prstGeom prst="rect">
            <a:avLst/>
          </a:prstGeom>
        </p:spPr>
      </p:pic>
      <p:sp>
        <p:nvSpPr>
          <p:cNvPr id="5" name="bdf7969d-4bb2-4066-a017-ca9076ae0a36"/>
          <p:cNvSpPr/>
          <p:nvPr/>
        </p:nvSpPr>
        <p:spPr>
          <a:xfrm>
            <a:off x="62179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500" dirty="0"/>
          </a:p>
        </p:txBody>
      </p:sp>
      <p:sp>
        <p:nvSpPr>
          <p:cNvPr id="6" name="56eced31-5f54-4eb2-8ef4-b265d47d9244"/>
          <p:cNvSpPr/>
          <p:nvPr/>
        </p:nvSpPr>
        <p:spPr>
          <a:xfrm>
            <a:off x="64008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出示 client 憑證</a:t>
            </a:r>
            <a:endParaRPr lang="en-US" sz="1200" dirty="0"/>
          </a:p>
        </p:txBody>
      </p:sp>
      <p:sp>
        <p:nvSpPr>
          <p:cNvPr id="7" name="6d1f16cd-15c3-4d7c-b1df-1e8df10fd15e"/>
          <p:cNvSpPr/>
          <p:nvPr/>
        </p:nvSpPr>
        <p:spPr>
          <a:xfrm>
            <a:off x="278892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118fc182-fc66-4e54-88b0-9cc9b5ff1794"/>
          <p:cNvSpPr/>
          <p:nvPr/>
        </p:nvSpPr>
        <p:spPr>
          <a:xfrm>
            <a:off x="342900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9" name="9dc05af5-2e60-4ce9-b468-2690261cffad"/>
          <p:cNvSpPr/>
          <p:nvPr/>
        </p:nvSpPr>
        <p:spPr>
          <a:xfrm>
            <a:off x="427482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0" name="1d0212ab-63a7-46c3-bf85-2f8c91da24b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395521" y="2094025"/>
            <a:ext cx="307238" cy="307238"/>
          </a:xfrm>
          <a:prstGeom prst="rect">
            <a:avLst/>
          </a:prstGeom>
        </p:spPr>
      </p:pic>
      <p:sp>
        <p:nvSpPr>
          <p:cNvPr id="11" name="bb636c19-32da-4c55-a8a6-91e72ab4ff68"/>
          <p:cNvSpPr/>
          <p:nvPr/>
        </p:nvSpPr>
        <p:spPr>
          <a:xfrm>
            <a:off x="350215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2" name="31e6dfa4-4999-4507-9cd5-15d2cea3f598"/>
          <p:cNvSpPr/>
          <p:nvPr/>
        </p:nvSpPr>
        <p:spPr>
          <a:xfrm>
            <a:off x="352044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 CN → 主體</a:t>
            </a:r>
            <a:endParaRPr lang="en-US" sz="1200" dirty="0"/>
          </a:p>
        </p:txBody>
      </p:sp>
      <p:sp>
        <p:nvSpPr>
          <p:cNvPr id="13" name="28769845-a45d-4ee7-a4f8-ba36878752eb"/>
          <p:cNvSpPr/>
          <p:nvPr/>
        </p:nvSpPr>
        <p:spPr>
          <a:xfrm>
            <a:off x="566928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7827e858-9054-43d0-9972-20f85803a267"/>
          <p:cNvSpPr/>
          <p:nvPr/>
        </p:nvSpPr>
        <p:spPr>
          <a:xfrm>
            <a:off x="630936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b21e5078-9793-4c28-a1bf-b236317329da"/>
          <p:cNvSpPr/>
          <p:nvPr/>
        </p:nvSpPr>
        <p:spPr>
          <a:xfrm>
            <a:off x="715518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9fdfaa33-f3fc-4ac9-9817-515de5ebf57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275881" y="2094025"/>
            <a:ext cx="307238" cy="307238"/>
          </a:xfrm>
          <a:prstGeom prst="rect">
            <a:avLst/>
          </a:prstGeom>
        </p:spPr>
      </p:pic>
      <p:sp>
        <p:nvSpPr>
          <p:cNvPr id="17" name="8381610e-c1dd-42f8-aa78-11086ee0c16e"/>
          <p:cNvSpPr/>
          <p:nvPr/>
        </p:nvSpPr>
        <p:spPr>
          <a:xfrm>
            <a:off x="638251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500" dirty="0"/>
          </a:p>
        </p:txBody>
      </p:sp>
      <p:sp>
        <p:nvSpPr>
          <p:cNvPr id="18" name="53d35e9f-2526-49e7-998f-7a9ad748645f"/>
          <p:cNvSpPr/>
          <p:nvPr/>
        </p:nvSpPr>
        <p:spPr>
          <a:xfrm>
            <a:off x="640080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代為申請 token</a:t>
            </a:r>
            <a:endParaRPr lang="en-US" sz="1200" dirty="0"/>
          </a:p>
        </p:txBody>
      </p:sp>
      <p:sp>
        <p:nvSpPr>
          <p:cNvPr id="19" name="e3bb4738-b79d-443a-b803-f9eb6cd9b53f"/>
          <p:cNvSpPr/>
          <p:nvPr/>
        </p:nvSpPr>
        <p:spPr>
          <a:xfrm>
            <a:off x="854964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7707ec53-ec9f-45a4-ab34-cf37e4deba3e"/>
          <p:cNvSpPr/>
          <p:nvPr/>
        </p:nvSpPr>
        <p:spPr>
          <a:xfrm>
            <a:off x="918972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5fa8b181-a84f-4d75-bc2a-9dad4437d0dd"/>
          <p:cNvSpPr/>
          <p:nvPr/>
        </p:nvSpPr>
        <p:spPr>
          <a:xfrm>
            <a:off x="1003554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2" name="f06cece3-37c6-4368-b48c-c58a9d2ef42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2094025"/>
            <a:ext cx="307238" cy="307238"/>
          </a:xfrm>
          <a:prstGeom prst="rect">
            <a:avLst/>
          </a:prstGeom>
        </p:spPr>
      </p:pic>
      <p:sp>
        <p:nvSpPr>
          <p:cNvPr id="23" name="9920f4e3-0949-4f9c-b427-a960ddbd3378"/>
          <p:cNvSpPr/>
          <p:nvPr/>
        </p:nvSpPr>
        <p:spPr>
          <a:xfrm>
            <a:off x="926287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24" name="996bf3d3-16ce-46ad-ac13-05c8f5def166"/>
          <p:cNvSpPr/>
          <p:nvPr/>
        </p:nvSpPr>
        <p:spPr>
          <a:xfrm>
            <a:off x="928116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驗章,依 token 授權</a:t>
            </a:r>
            <a:endParaRPr lang="en-US" sz="1200" dirty="0"/>
          </a:p>
        </p:txBody>
      </p:sp>
      <p:sp>
        <p:nvSpPr>
          <p:cNvPr id="25" name="c41eb882-f79c-4779-a0aa-1d2bcf9de019"/>
          <p:cNvSpPr/>
          <p:nvPr/>
        </p:nvSpPr>
        <p:spPr>
          <a:xfrm>
            <a:off x="548640" y="3975992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人走 Basic(AD 帳密)經 REST Proxy,不用憑證</a:t>
            </a:r>
            <a:endParaRPr lang="en-US" sz="1300" dirty="0"/>
          </a:p>
        </p:txBody>
      </p:sp>
      <p:sp>
        <p:nvSpPr>
          <p:cNvPr id="26" name="8e250e06-bff8-4f39-8e7f-1f7d01468e80"/>
          <p:cNvSpPr/>
          <p:nvPr/>
        </p:nvSpPr>
        <p:spPr>
          <a:xfrm>
            <a:off x="548640" y="4527516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憑證身分只能綁 User:,不能綁群組</a:t>
            </a:r>
            <a:endParaRPr lang="en-US" sz="1300" dirty="0"/>
          </a:p>
        </p:txBody>
      </p:sp>
      <p:sp>
        <p:nvSpPr>
          <p:cNvPr id="27" name="e5b7c0d7-4f46-43fd-9c65-23a95bb30575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憑證可代人:特權身分要列入保護清單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Center:兩種身分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人用本人身分,背景工作用憑證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e4ab21b-c80a-482e-a022-fe8c618541d2"/>
          <p:cNvSpPr/>
          <p:nvPr/>
        </p:nvSpPr>
        <p:spPr>
          <a:xfrm>
            <a:off x="548640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95ec58b-9d95-44b6-96c6-eafa380ba679"/>
          <p:cNvSpPr/>
          <p:nvPr/>
        </p:nvSpPr>
        <p:spPr>
          <a:xfrm>
            <a:off x="777240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858b702-b704-47d3-843b-0b5531e9941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88934"/>
            <a:ext cx="409651" cy="409651"/>
          </a:xfrm>
          <a:prstGeom prst="rect">
            <a:avLst/>
          </a:prstGeom>
        </p:spPr>
      </p:pic>
      <p:sp>
        <p:nvSpPr>
          <p:cNvPr id="5" name="83444fcd-f705-4325-8fa0-f621af0e60fb"/>
          <p:cNvSpPr/>
          <p:nvPr/>
        </p:nvSpPr>
        <p:spPr>
          <a:xfrm>
            <a:off x="1691640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2000" dirty="0"/>
          </a:p>
        </p:txBody>
      </p:sp>
      <p:sp>
        <p:nvSpPr>
          <p:cNvPr id="6" name="7f67c8e4-4c4e-475c-85d4-36bb313aa1c3"/>
          <p:cNvSpPr/>
          <p:nvPr/>
        </p:nvSpPr>
        <p:spPr>
          <a:xfrm>
            <a:off x="822960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帳密登入,取得 token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帶本人的 token 連 broker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授權依本人的權限</a:t>
            </a:r>
            <a:endParaRPr lang="en-US" sz="1400" dirty="0"/>
          </a:p>
        </p:txBody>
      </p:sp>
      <p:sp>
        <p:nvSpPr>
          <p:cNvPr id="7" name="cf33ce4b-3e48-476d-a4b0-466f46964bb7"/>
          <p:cNvSpPr/>
          <p:nvPr/>
        </p:nvSpPr>
        <p:spPr>
          <a:xfrm>
            <a:off x="6199632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6123869-cae5-41fa-9703-81aaa94a4f81"/>
          <p:cNvSpPr/>
          <p:nvPr/>
        </p:nvSpPr>
        <p:spPr>
          <a:xfrm>
            <a:off x="6428232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cf8e76c4-9d25-4852-9b57-39773beb9eb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9166" y="2088934"/>
            <a:ext cx="409651" cy="409651"/>
          </a:xfrm>
          <a:prstGeom prst="rect">
            <a:avLst/>
          </a:prstGeom>
        </p:spPr>
      </p:pic>
      <p:sp>
        <p:nvSpPr>
          <p:cNvPr id="10" name="058b2da6-cd13-4438-99d4-624db2a08083"/>
          <p:cNvSpPr/>
          <p:nvPr/>
        </p:nvSpPr>
        <p:spPr>
          <a:xfrm>
            <a:off x="7342632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2000" dirty="0"/>
          </a:p>
        </p:txBody>
      </p:sp>
      <p:sp>
        <p:nvSpPr>
          <p:cNvPr id="11" name="822b910b-e683-4bf1-b730-76376fda717a"/>
          <p:cNvSpPr/>
          <p:nvPr/>
        </p:nvSpPr>
        <p:spPr>
          <a:xfrm>
            <a:off x="6473952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身分是 User:c3,需要 SystemAdmin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不依賴任何人的帳號</a:t>
            </a:r>
            <a:endParaRPr lang="en-US" sz="1400" dirty="0"/>
          </a:p>
        </p:txBody>
      </p:sp>
      <p:sp>
        <p:nvSpPr>
          <p:cNvPr id="12" name="eb93991b-ddfe-46fd-9062-ccb772a26066"/>
          <p:cNvSpPr/>
          <p:nvPr/>
        </p:nvSpPr>
        <p:spPr>
          <a:xfrm>
            <a:off x="548640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憑證等於管理員:私鑰要保護</a:t>
            </a:r>
            <a:endParaRPr lang="en-US" sz="1300" dirty="0"/>
          </a:p>
        </p:txBody>
      </p:sp>
      <p:sp>
        <p:nvSpPr>
          <p:cNvPr id="13" name="f86ffc8d-5c71-437c-8e1f-d07c77f861e0"/>
          <p:cNvSpPr/>
          <p:nvPr/>
        </p:nvSpPr>
        <p:spPr>
          <a:xfrm>
            <a:off x="6199632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只用 OAUTHBEARER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維運:要保管的六類祕密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放在哪、怎麼輪替、驗證到哪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a4d7b78-7b47-40b1-aa7b-26782c32b077"/>
          <p:cNvSpPr/>
          <p:nvPr/>
        </p:nvSpPr>
        <p:spPr>
          <a:xfrm>
            <a:off x="548640" y="1685050"/>
            <a:ext cx="3520440" cy="203639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c99de038-004d-4fdd-a544-2dfeaaad31f8"/>
          <p:cNvSpPr/>
          <p:nvPr/>
        </p:nvSpPr>
        <p:spPr>
          <a:xfrm>
            <a:off x="68580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43a79b5d-1698-4e0f-82c6-3eb49bdbc00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924326"/>
            <a:ext cx="307238" cy="307238"/>
          </a:xfrm>
          <a:prstGeom prst="rect">
            <a:avLst/>
          </a:prstGeom>
        </p:spPr>
      </p:pic>
      <p:sp>
        <p:nvSpPr>
          <p:cNvPr id="5" name="fa82891d-d208-410c-9379-dec3c6f27817"/>
          <p:cNvSpPr/>
          <p:nvPr/>
        </p:nvSpPr>
        <p:spPr>
          <a:xfrm>
            <a:off x="1371600" y="1812324"/>
            <a:ext cx="260604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憑證與私鑰</a:t>
            </a:r>
            <a:endParaRPr lang="en-US" sz="1400" dirty="0"/>
          </a:p>
        </p:txBody>
      </p:sp>
      <p:sp>
        <p:nvSpPr>
          <p:cNvPr id="6" name="625224cd-b96f-4e24-b741-d72c17f43e5e"/>
          <p:cNvSpPr/>
          <p:nvPr/>
        </p:nvSpPr>
        <p:spPr>
          <a:xfrm>
            <a:off x="731520" y="2465667"/>
            <a:ext cx="31546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放在各元件主機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先更新信任庫,再換憑證,逐元件重啟</a:t>
            </a:r>
            <a:endParaRPr lang="en-US" sz="1200" dirty="0"/>
          </a:p>
        </p:txBody>
      </p:sp>
      <p:sp>
        <p:nvSpPr>
          <p:cNvPr id="7" name="4b0aa8d9-8442-4553-bc14-312d13bc1e41"/>
          <p:cNvSpPr/>
          <p:nvPr/>
        </p:nvSpPr>
        <p:spPr>
          <a:xfrm>
            <a:off x="731520" y="3254770"/>
            <a:ext cx="3154680" cy="33939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已實測</a:t>
            </a:r>
            <a:endParaRPr lang="en-US" sz="1150" dirty="0"/>
          </a:p>
        </p:txBody>
      </p:sp>
      <p:sp>
        <p:nvSpPr>
          <p:cNvPr id="8" name="caf9f0e0-d973-4a8d-80e8-1f3d2174ed85"/>
          <p:cNvSpPr/>
          <p:nvPr/>
        </p:nvSpPr>
        <p:spPr>
          <a:xfrm>
            <a:off x="4325112" y="1685050"/>
            <a:ext cx="3520440" cy="203639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c0605812-690b-4bf6-b1c5-2656acfb7504"/>
          <p:cNvSpPr/>
          <p:nvPr/>
        </p:nvSpPr>
        <p:spPr>
          <a:xfrm>
            <a:off x="446227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86a11eb6-0815-4f43-a00c-711e429d241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82973" y="1924326"/>
            <a:ext cx="307238" cy="307238"/>
          </a:xfrm>
          <a:prstGeom prst="rect">
            <a:avLst/>
          </a:prstGeom>
        </p:spPr>
      </p:pic>
      <p:sp>
        <p:nvSpPr>
          <p:cNvPr id="11" name="2635c618-a459-445c-a2bb-bfde1f4e6bc4"/>
          <p:cNvSpPr/>
          <p:nvPr/>
        </p:nvSpPr>
        <p:spPr>
          <a:xfrm>
            <a:off x="5148072" y="1812324"/>
            <a:ext cx="260604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400" dirty="0"/>
          </a:p>
        </p:txBody>
      </p:sp>
      <p:sp>
        <p:nvSpPr>
          <p:cNvPr id="12" name="a11e86f7-20b9-4b1f-bb64-79448d316827"/>
          <p:cNvSpPr/>
          <p:nvPr/>
        </p:nvSpPr>
        <p:spPr>
          <a:xfrm>
            <a:off x="4507992" y="2465667"/>
            <a:ext cx="31546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restproxy · bootstrap · 各 legacy app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CN 不變,換憑證不用重綁權限</a:t>
            </a:r>
            <a:endParaRPr lang="en-US" sz="1200" dirty="0"/>
          </a:p>
        </p:txBody>
      </p:sp>
      <p:sp>
        <p:nvSpPr>
          <p:cNvPr id="13" name="fb1fa304-5368-4689-bf88-5fa6794bbf45"/>
          <p:cNvSpPr/>
          <p:nvPr/>
        </p:nvSpPr>
        <p:spPr>
          <a:xfrm>
            <a:off x="4507992" y="3254770"/>
            <a:ext cx="3154680" cy="33939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已實測</a:t>
            </a:r>
            <a:endParaRPr lang="en-US" sz="1150" dirty="0"/>
          </a:p>
        </p:txBody>
      </p:sp>
      <p:sp>
        <p:nvSpPr>
          <p:cNvPr id="14" name="e1356250-db91-4563-ada9-082613d0fc3d"/>
          <p:cNvSpPr/>
          <p:nvPr/>
        </p:nvSpPr>
        <p:spPr>
          <a:xfrm>
            <a:off x="8101584" y="1685050"/>
            <a:ext cx="3520440" cy="203639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5e47846d-51f9-459a-800c-6176cf6ed352"/>
          <p:cNvSpPr/>
          <p:nvPr/>
        </p:nvSpPr>
        <p:spPr>
          <a:xfrm>
            <a:off x="823874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96b2482c-d403-499c-a159-8cad2ba353d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59445" y="1924326"/>
            <a:ext cx="307238" cy="307238"/>
          </a:xfrm>
          <a:prstGeom prst="rect">
            <a:avLst/>
          </a:prstGeom>
        </p:spPr>
      </p:pic>
      <p:sp>
        <p:nvSpPr>
          <p:cNvPr id="17" name="b673f15c-65c9-44bf-af4a-9accc7163b4b"/>
          <p:cNvSpPr/>
          <p:nvPr/>
        </p:nvSpPr>
        <p:spPr>
          <a:xfrm>
            <a:off x="8924544" y="1812324"/>
            <a:ext cx="260604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服務帳號</a:t>
            </a:r>
            <a:endParaRPr lang="en-US" sz="1400" dirty="0"/>
          </a:p>
        </p:txBody>
      </p:sp>
      <p:sp>
        <p:nvSpPr>
          <p:cNvPr id="18" name="62ef8d21-77d1-4b65-a479-db82247c2bff"/>
          <p:cNvSpPr/>
          <p:nvPr/>
        </p:nvSpPr>
        <p:spPr>
          <a:xfrm>
            <a:off x="8284464" y="2465667"/>
            <a:ext cx="31546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存在 Kafka 內;密碼放密碼庫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同帳號改密碼,client 換新密碼</a:t>
            </a:r>
            <a:endParaRPr lang="en-US" sz="1200" dirty="0"/>
          </a:p>
        </p:txBody>
      </p:sp>
      <p:sp>
        <p:nvSpPr>
          <p:cNvPr id="19" name="b3b502a7-ba3b-42d2-8c2c-2c2f5fc2481e"/>
          <p:cNvSpPr/>
          <p:nvPr/>
        </p:nvSpPr>
        <p:spPr>
          <a:xfrm>
            <a:off x="8284464" y="3254770"/>
            <a:ext cx="3154680" cy="33939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已實測</a:t>
            </a:r>
            <a:endParaRPr lang="en-US" sz="1150" dirty="0"/>
          </a:p>
        </p:txBody>
      </p:sp>
      <p:sp>
        <p:nvSpPr>
          <p:cNvPr id="20" name="35d14b7c-74c6-4595-9dd4-7913b92ca329"/>
          <p:cNvSpPr/>
          <p:nvPr/>
        </p:nvSpPr>
        <p:spPr>
          <a:xfrm>
            <a:off x="548640" y="3891143"/>
            <a:ext cx="3520440" cy="203639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1" name="e051fb8f-02a6-419c-b1d0-bc3c264857ef"/>
          <p:cNvSpPr/>
          <p:nvPr/>
        </p:nvSpPr>
        <p:spPr>
          <a:xfrm>
            <a:off x="685800" y="4018417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2" name="1fd94e2d-313e-4678-a140-57b8fdff65b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06501" y="4130419"/>
            <a:ext cx="307238" cy="307238"/>
          </a:xfrm>
          <a:prstGeom prst="rect">
            <a:avLst/>
          </a:prstGeom>
        </p:spPr>
      </p:pic>
      <p:sp>
        <p:nvSpPr>
          <p:cNvPr id="23" name="2064c52a-81b9-4d89-b11e-7f9b14cd04b7"/>
          <p:cNvSpPr/>
          <p:nvPr/>
        </p:nvSpPr>
        <p:spPr>
          <a:xfrm>
            <a:off x="1371600" y="4018417"/>
            <a:ext cx="260604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token 簽章金鑰</a:t>
            </a:r>
            <a:endParaRPr lang="en-US" sz="1400" dirty="0"/>
          </a:p>
        </p:txBody>
      </p:sp>
      <p:sp>
        <p:nvSpPr>
          <p:cNvPr id="24" name="37f99a20-6bdb-4958-bf48-366f3599e65f"/>
          <p:cNvSpPr/>
          <p:nvPr/>
        </p:nvSpPr>
        <p:spPr>
          <a:xfrm>
            <a:off x="731520" y="4671760"/>
            <a:ext cx="31546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私鑰在 broker 與 controller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外洩可偽造任何人的 token</a:t>
            </a:r>
            <a:endParaRPr lang="en-US" sz="1200" dirty="0"/>
          </a:p>
        </p:txBody>
      </p:sp>
      <p:sp>
        <p:nvSpPr>
          <p:cNvPr id="25" name="43ef8d8c-38ec-400d-b93f-4c91f77a631d"/>
          <p:cNvSpPr/>
          <p:nvPr/>
        </p:nvSpPr>
        <p:spPr>
          <a:xfrm>
            <a:off x="731520" y="5460863"/>
            <a:ext cx="3154680" cy="33939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輪替待驗證</a:t>
            </a:r>
            <a:endParaRPr lang="en-US" sz="1150" dirty="0"/>
          </a:p>
        </p:txBody>
      </p:sp>
      <p:sp>
        <p:nvSpPr>
          <p:cNvPr id="26" name="86cb05bb-e08a-4c70-a8a7-ae37c5697333"/>
          <p:cNvSpPr/>
          <p:nvPr/>
        </p:nvSpPr>
        <p:spPr>
          <a:xfrm>
            <a:off x="4325112" y="3891143"/>
            <a:ext cx="3520440" cy="203639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cb96ff45-5797-49ff-ae20-3ad394cc921f"/>
          <p:cNvSpPr/>
          <p:nvPr/>
        </p:nvSpPr>
        <p:spPr>
          <a:xfrm>
            <a:off x="4462272" y="4018417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2f25598a-1e98-4c2d-86e6-00608b9a2bf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82973" y="4130419"/>
            <a:ext cx="307238" cy="307238"/>
          </a:xfrm>
          <a:prstGeom prst="rect">
            <a:avLst/>
          </a:prstGeom>
        </p:spPr>
      </p:pic>
      <p:sp>
        <p:nvSpPr>
          <p:cNvPr id="29" name="9596db77-f8e7-4923-bf79-fd7f2221f462"/>
          <p:cNvSpPr/>
          <p:nvPr/>
        </p:nvSpPr>
        <p:spPr>
          <a:xfrm>
            <a:off x="5148072" y="4018417"/>
            <a:ext cx="260604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內部帳號</a:t>
            </a:r>
            <a:endParaRPr lang="en-US" sz="1400" dirty="0"/>
          </a:p>
        </p:txBody>
      </p:sp>
      <p:sp>
        <p:nvSpPr>
          <p:cNvPr id="30" name="2e14d348-0847-4293-8f3b-dd9d977e9962"/>
          <p:cNvSpPr/>
          <p:nvPr/>
        </p:nvSpPr>
        <p:spPr>
          <a:xfrm>
            <a:off x="4507992" y="4671760"/>
            <a:ext cx="31546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kafka-broker · kafka-controller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存在 Kafka 內與設定檔</a:t>
            </a:r>
            <a:endParaRPr lang="en-US" sz="1200" dirty="0"/>
          </a:p>
        </p:txBody>
      </p:sp>
      <p:sp>
        <p:nvSpPr>
          <p:cNvPr id="31" name="a5edd94b-9b57-44c5-a3db-62ed0ef867a9"/>
          <p:cNvSpPr/>
          <p:nvPr/>
        </p:nvSpPr>
        <p:spPr>
          <a:xfrm>
            <a:off x="4507992" y="5460863"/>
            <a:ext cx="3154680" cy="33939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輪替待驗證</a:t>
            </a:r>
            <a:endParaRPr lang="en-US" sz="1150" dirty="0"/>
          </a:p>
        </p:txBody>
      </p:sp>
      <p:sp>
        <p:nvSpPr>
          <p:cNvPr id="32" name="4d0578d0-c8da-443c-b02f-8dca20927763"/>
          <p:cNvSpPr/>
          <p:nvPr/>
        </p:nvSpPr>
        <p:spPr>
          <a:xfrm>
            <a:off x="8101584" y="3891143"/>
            <a:ext cx="3520440" cy="203639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3" name="eab7a7c2-2a5e-4aff-9d1b-1914f8e8952c"/>
          <p:cNvSpPr/>
          <p:nvPr/>
        </p:nvSpPr>
        <p:spPr>
          <a:xfrm>
            <a:off x="8238744" y="4018417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4" name="e7757502-0475-4460-bcb3-430cefea172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59445" y="4130419"/>
            <a:ext cx="307238" cy="307238"/>
          </a:xfrm>
          <a:prstGeom prst="rect">
            <a:avLst/>
          </a:prstGeom>
        </p:spPr>
      </p:pic>
      <p:sp>
        <p:nvSpPr>
          <p:cNvPr id="35" name="c0ff6965-faad-4b1e-a8a0-ea51e186842c"/>
          <p:cNvSpPr/>
          <p:nvPr/>
        </p:nvSpPr>
        <p:spPr>
          <a:xfrm>
            <a:off x="8924544" y="4018417"/>
            <a:ext cx="260604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查詢帳號</a:t>
            </a:r>
            <a:endParaRPr lang="en-US" sz="1400" dirty="0"/>
          </a:p>
        </p:txBody>
      </p:sp>
      <p:sp>
        <p:nvSpPr>
          <p:cNvPr id="36" name="52a87809-3922-4e9e-a1b7-d257f8a1107d"/>
          <p:cNvSpPr/>
          <p:nvPr/>
        </p:nvSpPr>
        <p:spPr>
          <a:xfrm>
            <a:off x="8284464" y="4671760"/>
            <a:ext cx="31546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放在 broker 設定檔,權限 600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只讀人與群組;不用真人帳號</a:t>
            </a:r>
            <a:endParaRPr lang="en-US" sz="1200" dirty="0"/>
          </a:p>
        </p:txBody>
      </p:sp>
      <p:sp>
        <p:nvSpPr>
          <p:cNvPr id="37" name="39613b98-bdc6-439a-beb9-983c90af3dc0"/>
          <p:cNvSpPr/>
          <p:nvPr/>
        </p:nvSpPr>
        <p:spPr>
          <a:xfrm>
            <a:off x="8284464" y="5460863"/>
            <a:ext cx="3154680" cy="33939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輪替待驗證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四個要留意的風險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影響與對策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93dea857-400e-477a-9018-ced507a57bc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06240"/>
                <a:gridCol w="36850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外洩可改任何授權;拿掉權限 C3 會退出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保護私鑰與檔案權限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憑證可代人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可代不在保護清單的使用者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特權身分逐一列入保護清單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私鑰外洩(server、token 簽章)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可偽裝伺服器、偽造任何人的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 600、最小化存放、輪替計畫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密碼不到期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外洩風險累積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密碼庫加輪替流程與提醒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4" name="3440bade-e2b7-431f-8e27-0b8b562cd5c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2278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為什麼要問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沒確認的影響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唯讀查詢帳號與 LDAPS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人登入與群組同步都靠它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人無法登入、群組同步失敗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憑證與 AD 的 LDAPS 憑證由誰簽發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決定憑證怎麼簽發、信任庫放什麼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信任庫不全,連線失敗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能否為 legacy app 建立專用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可改走 Basic,省掉每個 app 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legacy app 都需要一張憑證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license 是否涵蓋 RBAC 與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這些是商用功能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功能無法啟用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是否有多台 DC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停擺超過 24 小時,授權器會失效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單台 DC 故障會讓授權整體失效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群組是否巢狀、帳號大小寫與命名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影響群組與帳號的比對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權限可能對不上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三個階段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7aad0ba-bc61-4671-868f-5c1bb20d0596"/>
          <p:cNvSpPr/>
          <p:nvPr/>
        </p:nvSpPr>
        <p:spPr>
          <a:xfrm>
            <a:off x="548640" y="1854749"/>
            <a:ext cx="352044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6f20f06-3413-4dc2-b0b6-8befa68494c7"/>
          <p:cNvSpPr/>
          <p:nvPr/>
        </p:nvSpPr>
        <p:spPr>
          <a:xfrm>
            <a:off x="203454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87c713d-3f20-4438-9e03-bfc5551e53e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094025"/>
            <a:ext cx="307238" cy="307238"/>
          </a:xfrm>
          <a:prstGeom prst="rect">
            <a:avLst/>
          </a:prstGeom>
        </p:spPr>
      </p:pic>
      <p:sp>
        <p:nvSpPr>
          <p:cNvPr id="5" name="a2a109f6-c81f-4f7b-8450-0e4056bdb77c"/>
          <p:cNvSpPr/>
          <p:nvPr/>
        </p:nvSpPr>
        <p:spPr>
          <a:xfrm>
            <a:off x="621792" y="25759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41a93155-5703-42a3-8164-851e03b08802"/>
          <p:cNvSpPr/>
          <p:nvPr/>
        </p:nvSpPr>
        <p:spPr>
          <a:xfrm>
            <a:off x="640080" y="2957796"/>
            <a:ext cx="333756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回覆前一頁的六件事</a:t>
            </a:r>
            <a:endParaRPr lang="en-US" sz="1300" dirty="0"/>
          </a:p>
        </p:txBody>
      </p:sp>
      <p:sp>
        <p:nvSpPr>
          <p:cNvPr id="7" name="d90346a3-259c-4a7b-b7a3-d6ca1a8abcfd"/>
          <p:cNvSpPr/>
          <p:nvPr/>
        </p:nvSpPr>
        <p:spPr>
          <a:xfrm>
            <a:off x="4069080" y="2830521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5870d642-cc99-432e-8bc5-ee063657418a"/>
          <p:cNvSpPr/>
          <p:nvPr/>
        </p:nvSpPr>
        <p:spPr>
          <a:xfrm>
            <a:off x="4325112" y="1854749"/>
            <a:ext cx="352044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2e549759-d2b4-426c-b28b-0342c08149a4"/>
          <p:cNvSpPr/>
          <p:nvPr/>
        </p:nvSpPr>
        <p:spPr>
          <a:xfrm>
            <a:off x="5811012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2313231e-cadb-4d44-89fb-443a9fd6123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094025"/>
            <a:ext cx="307238" cy="307238"/>
          </a:xfrm>
          <a:prstGeom prst="rect">
            <a:avLst/>
          </a:prstGeom>
        </p:spPr>
      </p:pic>
      <p:sp>
        <p:nvSpPr>
          <p:cNvPr id="11" name="66b5be28-ba19-4e47-8e80-cd5687b527b2"/>
          <p:cNvSpPr/>
          <p:nvPr/>
        </p:nvSpPr>
        <p:spPr>
          <a:xfrm>
            <a:off x="4398264" y="25759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f2e21230-3035-44fa-83be-a856ac2054e8"/>
          <p:cNvSpPr/>
          <p:nvPr/>
        </p:nvSpPr>
        <p:spPr>
          <a:xfrm>
            <a:off x="4416552" y="2957796"/>
            <a:ext cx="333756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85140cee-dbef-4314-a3e9-f7770096cb2f"/>
          <p:cNvSpPr/>
          <p:nvPr/>
        </p:nvSpPr>
        <p:spPr>
          <a:xfrm>
            <a:off x="7845552" y="2830521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90e69436-2705-4b1f-a770-9ed6dd10db0e"/>
          <p:cNvSpPr/>
          <p:nvPr/>
        </p:nvSpPr>
        <p:spPr>
          <a:xfrm>
            <a:off x="8101584" y="1854749"/>
            <a:ext cx="352044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226bdf94-eef4-4516-b5ef-1cca3db16224"/>
          <p:cNvSpPr/>
          <p:nvPr/>
        </p:nvSpPr>
        <p:spPr>
          <a:xfrm>
            <a:off x="9587484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fd7d0fb6-a667-4d0d-b07c-7b1ec865eff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094025"/>
            <a:ext cx="307238" cy="307238"/>
          </a:xfrm>
          <a:prstGeom prst="rect">
            <a:avLst/>
          </a:prstGeom>
        </p:spPr>
      </p:pic>
      <p:sp>
        <p:nvSpPr>
          <p:cNvPr id="17" name="bf539337-a921-4392-b1f6-d2c801335a09"/>
          <p:cNvSpPr/>
          <p:nvPr/>
        </p:nvSpPr>
        <p:spPr>
          <a:xfrm>
            <a:off x="8174736" y="25759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e044beb5-36be-4f7c-b28b-00de73a533b5"/>
          <p:cNvSpPr/>
          <p:nvPr/>
        </p:nvSpPr>
        <p:spPr>
          <a:xfrm>
            <a:off x="8193024" y="2957796"/>
            <a:ext cx="333756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補上尚未驗證的項目</a:t>
            </a:r>
            <a:endParaRPr lang="en-US" sz="1300" dirty="0"/>
          </a:p>
        </p:txBody>
      </p:sp>
      <p:sp>
        <p:nvSpPr>
          <p:cNvPr id="19" name="d6046b12-f0e7-462a-abbf-7b94b66d7256"/>
          <p:cNvSpPr/>
          <p:nvPr/>
        </p:nvSpPr>
        <p:spPr>
          <a:xfrm>
            <a:off x="548640" y="4145692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尚未驗證,實機階段要補的項目</a:t>
            </a:r>
            <a:endParaRPr lang="en-US" sz="1400" dirty="0"/>
          </a:p>
        </p:txBody>
      </p:sp>
      <p:sp>
        <p:nvSpPr>
          <p:cNvPr id="20" name="9f9b6f5b-56db-4a12-9468-570f8587a32a"/>
          <p:cNvSpPr/>
          <p:nvPr/>
        </p:nvSpPr>
        <p:spPr>
          <a:xfrm>
            <a:off x="548640" y="4527516"/>
            <a:ext cx="5440680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真實 AD 的行為(巢狀群組、大小寫)</a:t>
            </a:r>
            <a:endParaRPr lang="en-US" sz="1250" dirty="0"/>
          </a:p>
        </p:txBody>
      </p:sp>
      <p:sp>
        <p:nvSpPr>
          <p:cNvPr id="21" name="87f63934-b763-4d60-a9f5-9b59f03f0904"/>
          <p:cNvSpPr/>
          <p:nvPr/>
        </p:nvSpPr>
        <p:spPr>
          <a:xfrm>
            <a:off x="6199632" y="4527516"/>
            <a:ext cx="5440680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多台 controller 搭配 TLS 與 RBAC</a:t>
            </a:r>
            <a:endParaRPr lang="en-US" sz="1250" dirty="0"/>
          </a:p>
        </p:txBody>
      </p:sp>
      <p:sp>
        <p:nvSpPr>
          <p:cNvPr id="22" name="5feb00b0-171a-487d-b70f-ca3fc275121b"/>
          <p:cNvSpPr/>
          <p:nvPr/>
        </p:nvSpPr>
        <p:spPr>
          <a:xfrm>
            <a:off x="548640" y="5053584"/>
            <a:ext cx="5440680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實機(systemd、防火牆、路徑)</a:t>
            </a:r>
            <a:endParaRPr lang="en-US" sz="1250" dirty="0"/>
          </a:p>
        </p:txBody>
      </p:sp>
      <p:sp>
        <p:nvSpPr>
          <p:cNvPr id="23" name="220a677d-a526-4ab9-8c7f-627081f6860c"/>
          <p:cNvSpPr/>
          <p:nvPr/>
        </p:nvSpPr>
        <p:spPr>
          <a:xfrm>
            <a:off x="6199632" y="5053584"/>
            <a:ext cx="5440680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金鑰、內部帳號、AD 查詢帳號的輪替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