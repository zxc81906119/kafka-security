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  <p:sldId r:id="rId32-created" id="269"/>
    <p:sldId r:id="rId33-created" id="270"/>
    <p:sldId r:id="rId34-created" id="271"/>
    <p:sldId r:id="rId35-created" id="272"/>
    <p:sldId r:id="rId36-created" id="273"/>
    <p:sldId r:id="rId37-created" id="274"/>
    <p:sldId r:id="rId38-created" id="275"/>
    <p:sldId r:id="rId39-created" id="276"/>
    <p:sldId r:id="rId40-created" id="277"/>
    <p:sldId r:id="rId41-created" id="278"/>
    <p:sldId r:id="rId42-created" id="279"/>
    <p:sldId r:id="rId43-created" id="280"/>
    <p:sldId r:id="rId44-created" id="281"/>
    <p:sldId r:id="rId45-created" id="282"/>
    <p:sldId r:id="rId46-created" id="283"/>
    <p:sldId r:id="rId47-created" id="284"/>
    <p:sldId r:id="rId48-created" id="285"/>
    <p:sldId r:id="rId49-created" id="286"/>
    <p:sldId r:id="rId50-created" id="287"/>
    <p:sldId r:id="rId51-created" id="288"/>
    <p:sldId r:id="rId52-created" id="289"/>
    <p:sldId r:id="rId53-created" id="290"/>
    <p:sldId r:id="rId54-created" id="291"/>
    <p:sldId r:id="rId55-created" id="292"/>
    <p:sldId r:id="rId56-created" id="293"/>
    <p:sldId r:id="rId57-created" id="29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Relationship Id="rId32-created" Type="http://schemas.openxmlformats.org/officeDocument/2006/relationships/slide" Target="slides/slide21.xml"/><Relationship Id="rId33-created" Type="http://schemas.openxmlformats.org/officeDocument/2006/relationships/slide" Target="slides/slide22.xml"/><Relationship Id="rId34-created" Type="http://schemas.openxmlformats.org/officeDocument/2006/relationships/slide" Target="slides/slide23.xml"/><Relationship Id="rId35-created" Type="http://schemas.openxmlformats.org/officeDocument/2006/relationships/slide" Target="slides/slide24.xml"/><Relationship Id="rId36-created" Type="http://schemas.openxmlformats.org/officeDocument/2006/relationships/slide" Target="slides/slide25.xml"/><Relationship Id="rId37-created" Type="http://schemas.openxmlformats.org/officeDocument/2006/relationships/slide" Target="slides/slide26.xml"/><Relationship Id="rId38-created" Type="http://schemas.openxmlformats.org/officeDocument/2006/relationships/slide" Target="slides/slide27.xml"/><Relationship Id="rId39-created" Type="http://schemas.openxmlformats.org/officeDocument/2006/relationships/slide" Target="slides/slide28.xml"/><Relationship Id="rId40-created" Type="http://schemas.openxmlformats.org/officeDocument/2006/relationships/slide" Target="slides/slide29.xml"/><Relationship Id="rId41-created" Type="http://schemas.openxmlformats.org/officeDocument/2006/relationships/slide" Target="slides/slide30.xml"/><Relationship Id="rId42-created" Type="http://schemas.openxmlformats.org/officeDocument/2006/relationships/slide" Target="slides/slide31.xml"/><Relationship Id="rId43-created" Type="http://schemas.openxmlformats.org/officeDocument/2006/relationships/slide" Target="slides/slide32.xml"/><Relationship Id="rId44-created" Type="http://schemas.openxmlformats.org/officeDocument/2006/relationships/slide" Target="slides/slide33.xml"/><Relationship Id="rId45-created" Type="http://schemas.openxmlformats.org/officeDocument/2006/relationships/slide" Target="slides/slide34.xml"/><Relationship Id="rId46-created" Type="http://schemas.openxmlformats.org/officeDocument/2006/relationships/slide" Target="slides/slide35.xml"/><Relationship Id="rId47-created" Type="http://schemas.openxmlformats.org/officeDocument/2006/relationships/slide" Target="slides/slide36.xml"/><Relationship Id="rId48-created" Type="http://schemas.openxmlformats.org/officeDocument/2006/relationships/slide" Target="slides/slide37.xml"/><Relationship Id="rId49-created" Type="http://schemas.openxmlformats.org/officeDocument/2006/relationships/slide" Target="slides/slide38.xml"/><Relationship Id="rId50-created" Type="http://schemas.openxmlformats.org/officeDocument/2006/relationships/slide" Target="slides/slide39.xml"/><Relationship Id="rId51-created" Type="http://schemas.openxmlformats.org/officeDocument/2006/relationships/slide" Target="slides/slide40.xml"/><Relationship Id="rId52-created" Type="http://schemas.openxmlformats.org/officeDocument/2006/relationships/slide" Target="slides/slide41.xml"/><Relationship Id="rId53-created" Type="http://schemas.openxmlformats.org/officeDocument/2006/relationships/slide" Target="slides/slide42.xml"/><Relationship Id="rId54-created" Type="http://schemas.openxmlformats.org/officeDocument/2006/relationships/slide" Target="slides/slide43.xml"/><Relationship Id="rId55-created" Type="http://schemas.openxmlformats.org/officeDocument/2006/relationships/slide" Target="slides/slide44.xml"/><Relationship Id="rId56-created" Type="http://schemas.openxmlformats.org/officeDocument/2006/relationships/slide" Target="slides/slide45.xml"/><Relationship Id="rId57-created" Type="http://schemas.openxmlformats.org/officeDocument/2006/relationships/slide" Target="slides/slide4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封面。這是第一版草稿,內容依客戶前提設計;之後會依回饋調整並套用公司模板。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六個前提:AD 只有 user/group(沒有服務帳號);希望全部共用一組 PK+憑證;RHEL 9 手動部署、尚無 Ansible;legacy app 只能 HTTP;權限要依 AD 群組 + RBAC 分層(不同職責不同權限,唯讀只是其中一層);範圍限於 Kafka、REST Proxy、C3。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核心主張:AD 管人,Kafka 管機器。人與服務用不同的身分來源,但授權都集中在 MDS 的 RBAC。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前四格(藍)是 Confluent 的組件:Controller、Broker、REST Proxy、Control Center;後面(紫)是貫穿全案的安全機制,最後是整合與導入。MDS 是 Broker 內建的服務,不是獨立組件。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server 端共用一組 PK+憑證,SAN 要涵蓋所有組件對外連線的網域/IP;客戶內部 CA 簽發。client 只需 truststore。需要 client 憑證的是平台元件(c3、restproxy、bootstrap)與經 REST Proxy 的 legacy app。第 8 章實測:共用憑證當 client 身分,MDS 看到的主體都一樣。另外實測發現:MDS 設 REQUESTED 時會要求 client 憑證,C3 內部有一個用共用 keystore 的 HTTP 客戶端(查叢集 ID)會自動出示共用憑證,MDS 日誌的主體是 kafka.demo.local;所以這個身分一律不綁 role,且共用憑證不要收斂 EKU(收斂後這些呼叫會被拒)。AD 的 LDAPS CA root(信任庫放的是簽發 LDAPS 憑證的 CA 憑證,不是 AD 伺服器自己的憑證;若 LDAPS 憑證由中繼 CA 簽發且 AD 只送出自己的憑證、不附完整鏈,中繼 CA 也要匯入,此情況未實測):官方 MDS-LDAP 頁用 ldap.java.naming.security.protocol=SSL 與 ldap.ssl.truststore.*;實測 broker 不設信任庫時 PLAIN+LDAP 登入與群組同步都失敗(PKIX path building failed),加上後恢復;只有連 AD 的 JVM(broker 的 PLAIN+LDAP listener 與 MDS,同一批 broker,一份 ldap.ssl.truststore.* 設定即可)需要,controller、C3、REST Proxy 不連 AD。輪替(已在單節點實驗實測,見下一頁):CA 不變只換 server 憑證 → 只換 keystore;CA 根換新但金鑰不變 → truststore 新增新 root、舊的到期前移除;CA 換金鑰 → 先讓所有 truststore(server 與 client 兩邊)同時信任新舊 root,再用新 CA 重簽 server 憑證與 client 憑證(c3、restproxy、bootstrap、各 legacy app),確認後移除舊 root。有中繼 CA 時 keystore 要帶完整鏈。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憑證更換實驗(demo/spike/cert-rotation,單節點 Kafka、SSL listener 要求 client 憑證,可動態換 keystore/truststore):T1 只換 server 憑證(同 CA、新金鑰):用 kafka-configs 動態更新 listener.name.ssl.ssl.keystore.location,不重啟,client 設定完全不動仍通過(動態更新只涵蓋 Kafka listener;在 demo 實測 MDS 8091 埠不會跟著換,broker 仍要重啟,REST Proxy、C3 本來就要重啟,所以本方案以 rolling restart 為主,動態更新價值有限)。T4 根憑證用同一把金鑰重新簽發:client 信任庫只放新根、server 信任庫換成新根,舊的 server 與 client 憑證都照常通過。T2 CA 換金鑰且順序錯(先換 server 憑證、client 信任庫仍是舊根):client 出現 PKIX path building failed;還原後恢復。T3 正確順序:①server 與 client 信任庫先放新舊兩個根(舊 client 憑證與新舊 server 憑證都通過)→②換 server 憑證→③重簽 client 憑證(新 CA)→④移除舊根:新 client 憑證通過,尚未重簽的舊 client 憑證被拒。未驗證:長駐 client 是否需要重啟才會重新載入信任庫(以每次新啟動的 client 模擬);有中繼 CA 的情況。MDS / REST Proxy / C3 換憑證需要重啟:已在 demo 全元件演練實測(換檔不重啟,各埠仍出示舊憑證),見下一頁;這些元件有沒有不重啟的動態重載方式未驗證。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在實際 demo 環境(demo/spike/cert-rotation/rotate-demo.sh,log 為 rotate-demo.log)用「新根 CA2(新金鑰)」演練整套更換:階段 1:信任庫換成 {CA1,CA2},controller、broker1、broker2、REST Proxy、C3 全部重啟。階段 2:server 憑證換成 CA2 簽發;檔案換好、尚未重啟時,controller 9093、broker 9094 與 MDS 8091、REST Proxy 8086、C3 9022 仍出示舊憑證;依序重啟後全部變成新簽發者;過程中包含 controller 與 broker1 已換、broker2 還沒換的混合狀態,Kafka 人員登入、MDS 登入、REST Proxy(人與 legacy 憑證)、C3 網頁皆正常。階段 3:client 憑證(c3、restproxy、bootstrap、legacy-orders)用新根重簽,CN 不變所以 RBAC 不用重綁;REST Proxy、C3 重啟(換了檔案要重啟才載入;其實舊憑證在移除舊根前仍有效,階段 3 就重啟是為了在移除舊根之前先驗證新憑證,出問題還能回頭);controller 與 broker 沒有 client 憑證所以不用;legacy app 與 bootstrap 是直接讀檔,換檔即生效;新舊根並存期間,舊 CA 簽發的 legacy 憑證仍被接受。階段 4:信任庫只留新根,全部重啟;舊 CA 簽發的 legacy 憑證被拒(TLS 握手失敗),仍只信任舊根的 client 連不上新憑證。順序的依據:Confluent for Kubernetes 憑證管理文件的 CA 輪替流程是「步驟為主」:先更新所有元件的信任庫、確認每個元件都有新舊兩個 CA,再更新憑證;每個元件 rollout 完成才繼續。不是「一個元件做完全部步驟再換下一個」(那樣會在其他元件還沒信任新根時就出示新憑證)。也不是「一個步驟同時重啟全部」:每個步驟內逐個元件、逐台 rolling。該文件沒有規定元件之間的順序;本頁的 controller → broker(一次一台)→ REST Proxy → C3 是參考官方升級文件的順序(KRaft controller 先、broker 次之、Control Center 最後),不是憑證輪替文件的明文規定。注意:本頁以「重啟」載入為準,這也是官方的建議做法:Confluent for Kubernetes 憑證管理文件寫「Always renew truststores for all components before renewing certificates」、驗證每個元件信任庫都有新舊兩個 CA、「Wait for each component’s rollout to complete before proceeding」、先在非正式環境演練。動態載入是選項:官方 dynamic config 頁說 Kafka 的 keystore / truststore 可用 listener 前綴動態更新、只影響新連線(inter-broker listener 要求新 keystore 被該 listener 信任庫信任);CFK 文件的動態憑證載入只涵蓋 Kafka 與 Kafka REST、且只到個別 listener。Kafka 的 listener keystore / truststore 可用 kafka-configs 動態更新、不用重啟 JVM(單節點實驗實測),這不是 rolling restart;但 demo 全元件演練沒有使用動態更新,MDS 埠(Jetty)、REST Proxy、C3 是否能不重啟載入新憑證未驗證。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官方:SCRAM overview 頁說 KRaft controller 之間不支援 SCRAM、broker→controller 可用;但 KRaft security 頁的寫法不同,官方文件間不一致,實測 3 個 controller 用 SCRAM-SHA-512:互相認證失敗(Invalid user credentials)、選不出 leader,與 SCRAM overview 頁一致(推測原因:SCRAM 憑證存放在 metadata log,quorum 還沒形成就無法驗證,此為推測)。主 demo 僅 1 個 controller;另以獨立實驗(spike/multi-controller:3 controller + 1 broker,SASL_PLAINTEXT)驗證 PLAIN:三個 voter 組成 quorum,停掉 leader 後重新選舉、重啟後回到 follower 無 lag,未驗證搭配 TLS / RBAC。另:官方 MDS 設定頁說 RBAC 下 controller 應設 confluent.metadata.server.kraft.controller.enabled=true,且只有 MDS writer broker 連 LDAP;本專案原以為 controller 需要 ldap.*,重建環境後重測已推翻:無 LDAP 的 controller 仍能依群組授權(ch11 通過),現採官方設定。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人用 SASL/PLAIN,broker 把帳密交給 LDAP(AD)驗證並取得群組;服務用 SCRAM;平台元件用 OAUTHBEARER(MDS token)。INTERNAL 埠的使用者:broker 間用 kafka-broker;controller 連 broker(讀 RBAC 資料、audit 匯出)用 kafka-controller,皆為 SCRAM 與 super user。LDAP callback 不用在 inter-broker:客戶 AD 沒有服務帳號,官方也不建議 PLAIN + LDAP。INTERNAL 埠只是另一個 SASL 埠,任何有效 SCRAM 帳號都能「認證」進去(授權仍生效),所以必須用防火牆限制。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官方:MDS 在異動 RBAC 時把最新資訊寫入 topic,broker 讀取後 cache 在本地授權;群組同步只有 MDS writer broker 週期性向 LDAP 取(實測:LDAP 日誌同一時間只有 writer 查詢,broker2 重啟後 writer 換成 broker1;writer 把使用者→群組寫進 _confluent-metadata-auth,內容含 RoleBinding、User(群組對照)、Status(writerBrokerId),其他 broker 消費該 topic 更新本地快取;leader 在非 writer 的 partition 上,加入群組 3 秒內生效、移出約 6 秒)。注意:使用者認證(MDS 以使用者帳密 bind、CLIENT 埠 PLAIN+LDAP callback)由各 broker 自己連 AD,所以 AD 防火牆來源要涵蓋所有 broker(controller 不需要 LDAP 設定,實測)。客戶前提:需要 AD 唯讀查詢帳號(bind DN,只讀 user/group OU,建議 LDAPS);使用者密碼由 simple bind 以使用者自己的 DN 驗證。token:平台元件(C3、REST Proxy 自己的工作)由 client 函式庫重新換 token,不需人工;人用 C3 登入有 6 小時上限,到期重新登入;實測從 AD 刪除使用者後,已簽發 token 仍可呼叫 MDS(200),Basic 重新登入回 401,離職流程要考慮最長一個 token 壽命的空窗(demo 設 1 小時;設定 confluent.metadata.server.token.max.lifetime.ms)。writer 是什麼:MDS 內嵌在多台 broker,但同一時間只有一台 broker 擔任 writer(RBAC topic 的 Status 記錄會寫 writerBrokerId 與 generationId;實測 broker2 重啟後 writer 由 broker2 換成 broker1)。實測 LDAP 日誌:群組搜尋只由 writer 發出,結果寫進 RBAC topic,其他 broker 消費該 topic 更新快取。writer 的挑選方式與角色綁定寫入是否一律經過 writer,未驗證。人登入的 LDAP 流程(實測,PLAIN+LDAP 與 MDS Basic 皆相同):先用唯讀 bind 帳號搜尋使用者取得完整 DN,再用使用者自己的 DN 與密碼做一次 simple bind,成功即密碼正確,然後斷線。MDS 的 Bearer 是 MDS 自己簽發的 token(JWT),不是外部 OAuth2 token;Kafka 的 OAUTHBEARER 只是攜帶這個 token 的機制名稱。機器 / 平台元件以 client 憑證向 MDS 認證(MDS 設 REQUESTED,所以人 Basic 與機器憑證可並存),憑證 CN 經對映規則成為主體,只能用 User: 綁 role(官方 mTLS RBAC 頁:憑證主體不支援群組授權);REST Proxy 另可用自己的憑證代機器呼叫 /impersonate 申請 token(需列入 impersonation super users)。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服務身分用 SASL/SCRAM-SHA-512,不放 AD(AD 沒有服務帳號)。SCRAM 的缺點是密碼無自動到期,所以配套:密碼庫、新帳號並行再停舊帳號的輪替流程(第 9 章實測)。並行做法:建立不同名稱的新帳號(kafka-configs --add-config SCRAM-SHA-512=[password=…],不會與舊帳號衝突)→ 對新主體綁相同 role(RBAC 綁的是主體名稱,新帳號必須重綁)→ 應用逐步切換 → 全部切完後刪舊帳號憑證與舊 binding。實測:對同一帳號同一機制再設一次密碼會直接取代,舊密碼立即失效,所以不能用來做平滑切換;同一帳號可同時有 SCRAM-SHA-256 與 SCRAM-SHA-512 兩個憑證,listener 兩機制都啟用時兩組密碼同時可登入(實測);動態更新 listener.name.client.sasl.enabled.mechanisms 被接受但沒有生效,需改設定檔並重啟 broker。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token。官方 AuthenticationHandler 範例是 REQUIRED(純 mTLS);人機並存用 REQUESTED 是本專案實測組合。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登入時瀏覽器第一個呼叫帶 Basic(C3 代轉 MDS),之後都帶 Bearer;同時有 HttpOnly auth_token cookie,伺服器優先看 Bearer。C3 看起來在本地用 MDS 公鑰驗章(實測推論:偽造 token 被擋時 MDS 沒有對應 401 紀錄),但仍會以使用者 token 呼叫 MDS 查可見範圍。登入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C3 next-gen 需要 Prometheus 與 Alertmanager 另外部署。官方支援 C3 與它們之間的 TLS + HTTP Basic(7.5 以後)與 mTLS。本 demo 沒啟用,所以實測看到無認證;啟用後的設定與效果尚未實測。沒有 Schema Registry 時,C3 預設連 localhost:8081,把 schema.registry.enable 設為 false 可關閉該連線。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官方預設:Management 與 Authorize 兩類事件(含 allowed/denied);produce、consume、describe、interbroker、heartbeat 預設關閉。本 demo 用自訂 router 開啟資料面事件。實測:只有 DeveloperRead 的 ming produce 被拒(叢集層級 IdempotentWrite,官方歸 PRODUCE 類 kafka.InitProducerId),audit 查不到,原因未明;c3 的事件在本 demo 為降噪而排除(實測不排除時 C3 每幾秒產生 ListOffsets/OffsetFetch,洗版審計 topic)。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全景:人經 C3、REST Proxy 或 CLI 進入;機器經 SCRAM 直連或 client 憑證經 REST Proxy;所有身分的授權由 MDS 的 RBAC 集中判斷,broker 本地 cache。群組同步由 MDS writer broker 負責;使用者認證(MDS Basic、CLIENT 埠 PLAIN+LDAP)由各 broker 連 AD,AD 防火牆來源要涵蓋所有 broker(demo 實測 controller 也需 LDAP 設定)。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人的三條路徑:C3(Basic→token→Bearer)、CLI 直連 broker(SASL/PLAIN + LDAP callback)、REST Proxy(Basic 轉 MDS 換 token)。授權都依 AD 群組。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機器三條路徑:應用用 SCRAM 直連;legacy app 用 client 憑證經 REST Proxy;平台元件(C3、REST Proxy)用 client 憑證向 MDS 換 token。憑證身分只能綁 User:,不能綁群組。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憑證最少化:1 組 server 憑證 + c3、restproxy 兩張長期 client 憑證 + 1 張備用(bootstrap)。legacy app 的憑證可省,前提是客戶能建幾個一般 AD user 讓 app 走 Basic。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順序:憑證與 truststore → controller(kafka-storage format --add-scram,須在 broker 啟動前)→ broker + MDS + LDAP → 以 bootstrap 憑證建立第一批 role binding(管理權交給 AD 群組 kafka-admins)→ REST Proxy、C3、Prometheus/Alertmanager → audit 路由與驗證。實測教訓:改共用設定時 docker 連動重建 controller,逾時強殺留下空 KRaft snapshot,controller 重啟後遺失 SCRAM 憑證,broker 無法啟動。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六個主要風險與對策。前兩項是平台元件憑證的風險(c3 憑證=管理員、restproxy 憑證可代人),都是實測發現。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Postman cookie 陷阱(SPIKE 實測):MDS 驗證成功後回 auth_token cookie,cookie 優先於 Basic;同一 Postman session 換身分仍以前一人執行,實測 yujie 曾以 gary 身分新增 role binding。群組移出延遲:ldap.refresh.interval.ms 官方預設 60000;已簽發 token:實測刪除 AD 帳號後,舊 token 到期前仍可呼叫 MDS,Basic 重新登入回 401;token 路徑下授權是否依現在群組未測。多 controller:官方 SCRAM overview 與 KRaft security 頁說法不一致;3 個 controller 間 SASL/PLAIN 已用獨立實驗驗證(機制)。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1。現場指令:./demo.sh ch01。截圖為該章節實際執行輸出,非示意圖。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2。現場指令:./demo.sh ch03。截圖為該章節實際執行輸出,非示意圖。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3。現場指令:./demo.sh ch04。截圖為該章節實際執行輸出,非示意圖。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4。現場指令:./demo.sh ch07。截圖為該章節實際執行輸出,非示意圖。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5。現場指令:./demo.sh ch11。截圖為該章節實際執行輸出,非示意圖。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6。現場指令:./demo.sh ch12。截圖為該章節實際執行輸出,非示意圖。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7。現場指令:./demo.sh ch13。截圖為該章節實際執行輸出,非示意圖。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如實呈現:左邊是 demo 已實跑驗證的項目;右邊是尚未驗證或需在客戶環境確認的項目。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請客戶確認的八件事。第 3 項決定 legacy app 要不要 client 憑證;第 2 項決定憑證如何簽發與散佈;第 7 項:官方 ldap.retry.timeout.ms 預設 24 小時,LDAP 持續失敗超過這段時間授權器會被標為失敗,所以 AD 要有多台 DC;第 8 項:LDAPS 的 CA 要匯入 broker 的信任庫,若由中繼 CA 簽發且 AD 不附完整鏈,中繼 CA 也要匯入。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12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14.png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17.png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8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21.png"/><Relationship Id="rId6-created" Type="http://schemas.openxmlformats.org/officeDocument/2006/relationships/image" Target="../media/media22.png"/><Relationship Id="rId7-created" Type="http://schemas.openxmlformats.org/officeDocument/2006/relationships/image" Target="../media/media17.png"/><Relationship Id="rId8-created" Type="http://schemas.openxmlformats.org/officeDocument/2006/relationships/image" Target="../media/media23.png"/><Relationship Id="rId9-created" Type="http://schemas.openxmlformats.org/officeDocument/2006/relationships/image" Target="../media/media24.png"/><Relationship Id="rId10-created" Type="http://schemas.openxmlformats.org/officeDocument/2006/relationships/image" Target="../media/media25.png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6.png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7.png"/><Relationship Id="rId3-created" Type="http://schemas.openxmlformats.org/officeDocument/2006/relationships/image" Target="../media/media28.png"/><Relationship Id="rId4-created" Type="http://schemas.openxmlformats.org/officeDocument/2006/relationships/image" Target="../media/media10.png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30.png"/><Relationship Id="rId5-created" Type="http://schemas.openxmlformats.org/officeDocument/2006/relationships/image" Target="../media/media31.png"/><Relationship Id="rId6-created" Type="http://schemas.openxmlformats.org/officeDocument/2006/relationships/image" Target="../media/media32.png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29.png"/><Relationship Id="rId5-created" Type="http://schemas.openxmlformats.org/officeDocument/2006/relationships/image" Target="../media/media33.png"/><Relationship Id="rId6-created" Type="http://schemas.openxmlformats.org/officeDocument/2006/relationships/image" Target="../media/media34.png"/><Relationship Id="rIdNotes1" Type="http://schemas.openxmlformats.org/officeDocument/2006/relationships/notesSlide" Target="../notesSlides/notes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9.png"/><Relationship Id="rId3-created" Type="http://schemas.openxmlformats.org/officeDocument/2006/relationships/image" Target="../media/media35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17.png"/><Relationship Id="rIdNotes1" Type="http://schemas.openxmlformats.org/officeDocument/2006/relationships/notesSlide" Target="../notesSlides/notesSlide1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6.png"/><Relationship Id="rId3-created" Type="http://schemas.openxmlformats.org/officeDocument/2006/relationships/image" Target="../media/media17.png"/><Relationship Id="rId4-created" Type="http://schemas.openxmlformats.org/officeDocument/2006/relationships/image" Target="../media/media37.png"/><Relationship Id="rId5-created" Type="http://schemas.openxmlformats.org/officeDocument/2006/relationships/image" Target="../media/media11.png"/><Relationship Id="rId6-created" Type="http://schemas.openxmlformats.org/officeDocument/2006/relationships/image" Target="../media/media9.png"/><Relationship Id="rId7-created" Type="http://schemas.openxmlformats.org/officeDocument/2006/relationships/image" Target="../media/media38.png"/><Relationship Id="rIdNotes1" Type="http://schemas.openxmlformats.org/officeDocument/2006/relationships/notesSlide" Target="../notesSlides/notesSlide1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39.png"/><Relationship Id="rId4-created" Type="http://schemas.openxmlformats.org/officeDocument/2006/relationships/image" Target="../media/media40.png"/><Relationship Id="rId5-created" Type="http://schemas.openxmlformats.org/officeDocument/2006/relationships/image" Target="../media/media40.png"/><Relationship Id="rId6-created" Type="http://schemas.openxmlformats.org/officeDocument/2006/relationships/image" Target="../media/media39.png"/><Relationship Id="rId7-created" Type="http://schemas.openxmlformats.org/officeDocument/2006/relationships/image" Target="../media/media40.png"/><Relationship Id="rId8-created" Type="http://schemas.openxmlformats.org/officeDocument/2006/relationships/image" Target="../media/media40.png"/><Relationship Id="rId9-created" Type="http://schemas.openxmlformats.org/officeDocument/2006/relationships/image" Target="../media/media40.png"/><Relationship Id="rId10-created" Type="http://schemas.openxmlformats.org/officeDocument/2006/relationships/image" Target="../media/media40.png"/><Relationship Id="rId11-created" Type="http://schemas.openxmlformats.org/officeDocument/2006/relationships/image" Target="../media/media40.png"/><Relationship Id="rId12-created" Type="http://schemas.openxmlformats.org/officeDocument/2006/relationships/image" Target="../media/media39.png"/><Relationship Id="rId13-created" Type="http://schemas.openxmlformats.org/officeDocument/2006/relationships/image" Target="../media/media40.png"/><Relationship Id="rId14-created" Type="http://schemas.openxmlformats.org/officeDocument/2006/relationships/image" Target="../media/media40.png"/><Relationship Id="rId15-created" Type="http://schemas.openxmlformats.org/officeDocument/2006/relationships/image" Target="../media/media40.png"/><Relationship Id="rId16-created" Type="http://schemas.openxmlformats.org/officeDocument/2006/relationships/image" Target="../media/media40.png"/><Relationship Id="rId17-created" Type="http://schemas.openxmlformats.org/officeDocument/2006/relationships/image" Target="../media/media39.png"/><Relationship Id="rId18-created" Type="http://schemas.openxmlformats.org/officeDocument/2006/relationships/image" Target="../media/media39.png"/><Relationship Id="rId19-created" Type="http://schemas.openxmlformats.org/officeDocument/2006/relationships/image" Target="../media/media39.png"/><Relationship Id="rId20-created" Type="http://schemas.openxmlformats.org/officeDocument/2006/relationships/image" Target="../media/media39.png"/><Relationship Id="rId21-created" Type="http://schemas.openxmlformats.org/officeDocument/2006/relationships/image" Target="../media/media39.png"/><Relationship Id="rIdNotes1" Type="http://schemas.openxmlformats.org/officeDocument/2006/relationships/notesSlide" Target="../notesSlides/notesSlide1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1.png"/><Relationship Id="rId3-created" Type="http://schemas.openxmlformats.org/officeDocument/2006/relationships/image" Target="../media/media38.png"/><Relationship Id="rId4-created" Type="http://schemas.openxmlformats.org/officeDocument/2006/relationships/image" Target="../media/media42.png"/><Relationship Id="rIdNotes1" Type="http://schemas.openxmlformats.org/officeDocument/2006/relationships/notesSlide" Target="../notesSlides/notesSlide15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7.png"/><Relationship Id="rId3-created" Type="http://schemas.openxmlformats.org/officeDocument/2006/relationships/image" Target="../media/media15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19.png"/><Relationship Id="rId6-created" Type="http://schemas.openxmlformats.org/officeDocument/2006/relationships/image" Target="../media/media17.png"/><Relationship Id="rId7-created" Type="http://schemas.openxmlformats.org/officeDocument/2006/relationships/image" Target="../media/media12.png"/><Relationship Id="rId8-created" Type="http://schemas.openxmlformats.org/officeDocument/2006/relationships/image" Target="../media/media30.png"/><Relationship Id="rId9-created" Type="http://schemas.openxmlformats.org/officeDocument/2006/relationships/image" Target="../media/media43.png"/><Relationship Id="rIdNotes1" Type="http://schemas.openxmlformats.org/officeDocument/2006/relationships/notesSlide" Target="../notesSlides/notesSlide16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Notes1" Type="http://schemas.openxmlformats.org/officeDocument/2006/relationships/notesSlide" Target="../notesSlides/notesSlide1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44.png"/><Relationship Id="rId4-created" Type="http://schemas.openxmlformats.org/officeDocument/2006/relationships/image" Target="../media/media45.png"/><Relationship Id="rId5-created" Type="http://schemas.openxmlformats.org/officeDocument/2006/relationships/image" Target="../media/media38.png"/><Relationship Id="rId6-created" Type="http://schemas.openxmlformats.org/officeDocument/2006/relationships/image" Target="../media/media46.png"/><Relationship Id="rIdNotes1" Type="http://schemas.openxmlformats.org/officeDocument/2006/relationships/notesSlide" Target="../notesSlides/notesSlide18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4.png"/><Relationship Id="rId3-created" Type="http://schemas.openxmlformats.org/officeDocument/2006/relationships/image" Target="../media/media47.png"/><Relationship Id="rId4-created" Type="http://schemas.openxmlformats.org/officeDocument/2006/relationships/image" Target="../media/media38.png"/><Relationship Id="rIdNotes1" Type="http://schemas.openxmlformats.org/officeDocument/2006/relationships/notesSlide" Target="../notesSlides/notesSlide19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44.png"/><Relationship Id="rIdNotes1" Type="http://schemas.openxmlformats.org/officeDocument/2006/relationships/notesSlide" Target="../notesSlides/notesSlide2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48.png"/><Relationship Id="rId4-created" Type="http://schemas.openxmlformats.org/officeDocument/2006/relationships/image" Target="../media/media20.png"/><Relationship Id="rIdNotes1" Type="http://schemas.openxmlformats.org/officeDocument/2006/relationships/notesSlide" Target="../notesSlides/notesSlide2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6.png"/><Relationship Id="rId3-created" Type="http://schemas.openxmlformats.org/officeDocument/2006/relationships/image" Target="../media/media12.png"/><Relationship Id="rId4-created" Type="http://schemas.openxmlformats.org/officeDocument/2006/relationships/image" Target="../media/media35.png"/><Relationship Id="rIdNotes1" Type="http://schemas.openxmlformats.org/officeDocument/2006/relationships/notesSlide" Target="../notesSlides/notesSlide2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24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9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19.png"/><Relationship Id="rId5-created" Type="http://schemas.openxmlformats.org/officeDocument/2006/relationships/image" Target="../media/media50.png"/><Relationship Id="rId6-created" Type="http://schemas.openxmlformats.org/officeDocument/2006/relationships/image" Target="../media/media21.png"/><Relationship Id="rId7-created" Type="http://schemas.openxmlformats.org/officeDocument/2006/relationships/image" Target="../media/media51.png"/><Relationship Id="rIdNotes1" Type="http://schemas.openxmlformats.org/officeDocument/2006/relationships/notesSlide" Target="../notesSlides/notesSlide2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2.png"/><Relationship Id="rId3-created" Type="http://schemas.openxmlformats.org/officeDocument/2006/relationships/image" Target="../media/media53.png"/><Relationship Id="rId4-created" Type="http://schemas.openxmlformats.org/officeDocument/2006/relationships/image" Target="../media/media54.png"/><Relationship Id="rId5-created" Type="http://schemas.openxmlformats.org/officeDocument/2006/relationships/image" Target="../media/media55.png"/><Relationship Id="rId6-created" Type="http://schemas.openxmlformats.org/officeDocument/2006/relationships/image" Target="../media/media56.png"/><Relationship Id="rId7-created" Type="http://schemas.openxmlformats.org/officeDocument/2006/relationships/image" Target="../media/media57.png"/><Relationship Id="rIdNotes1" Type="http://schemas.openxmlformats.org/officeDocument/2006/relationships/notesSlide" Target="../notesSlides/notesSlide26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8.png"/><Relationship Id="rId3-created" Type="http://schemas.openxmlformats.org/officeDocument/2006/relationships/image" Target="../media/media59.png"/><Relationship Id="rId4-created" Type="http://schemas.openxmlformats.org/officeDocument/2006/relationships/image" Target="../media/media60.png"/><Relationship Id="rIdNotes1" Type="http://schemas.openxmlformats.org/officeDocument/2006/relationships/notesSlide" Target="../notesSlides/notesSlide27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1.png"/><Relationship Id="rIdNotes1" Type="http://schemas.openxmlformats.org/officeDocument/2006/relationships/notesSlide" Target="../notesSlides/notesSlide29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2.png"/><Relationship Id="rIdNotes1" Type="http://schemas.openxmlformats.org/officeDocument/2006/relationships/notesSlide" Target="../notesSlides/notesSlide30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3.png"/><Relationship Id="rIdNotes1" Type="http://schemas.openxmlformats.org/officeDocument/2006/relationships/notesSlide" Target="../notesSlides/notesSlide31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4.png"/><Relationship Id="rIdNotes1" Type="http://schemas.openxmlformats.org/officeDocument/2006/relationships/notesSlide" Target="../notesSlides/notesSlide32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5.png"/><Relationship Id="rIdNotes1" Type="http://schemas.openxmlformats.org/officeDocument/2006/relationships/notesSlide" Target="../notesSlides/notesSlide33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6.png"/><Relationship Id="rIdNotes1" Type="http://schemas.openxmlformats.org/officeDocument/2006/relationships/notesSlide" Target="../notesSlides/notesSlide34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7.png"/><Relationship Id="rIdNotes1" Type="http://schemas.openxmlformats.org/officeDocument/2006/relationships/notesSlide" Target="../notesSlides/notesSlide35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68.png"/><Relationship Id="rIdNotes1" Type="http://schemas.openxmlformats.org/officeDocument/2006/relationships/notesSlide" Target="../notesSlides/notesSlide36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9.png"/><Relationship Id="rId3-created" Type="http://schemas.openxmlformats.org/officeDocument/2006/relationships/image" Target="../media/media70.png"/><Relationship Id="rId4-created" Type="http://schemas.openxmlformats.org/officeDocument/2006/relationships/image" Target="../media/media12.png"/><Relationship Id="rId5-created" Type="http://schemas.openxmlformats.org/officeDocument/2006/relationships/image" Target="../media/media71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72.png"/><Relationship Id="rId8-created" Type="http://schemas.openxmlformats.org/officeDocument/2006/relationships/image" Target="../media/media19.png"/><Relationship Id="rId9-created" Type="http://schemas.openxmlformats.org/officeDocument/2006/relationships/image" Target="../media/media73.png"/><Relationship Id="rIdNotes1" Type="http://schemas.openxmlformats.org/officeDocument/2006/relationships/notesSlide" Target="../notesSlides/notesSlide37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74.png"/><Relationship Id="rId3-created" Type="http://schemas.openxmlformats.org/officeDocument/2006/relationships/image" Target="../media/media75.png"/><Relationship Id="rId4-created" Type="http://schemas.openxmlformats.org/officeDocument/2006/relationships/image" Target="../media/media11.png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依客戶前提設計:AD 僅有 user / group</a:t>
            </a:r>
          </a:p>
        </p:txBody>
      </p:sp>
      <p:sp>
        <p:nvSpPr>
          <p:cNvPr id="2" name="1351086e-6a30-426f-b5fa-2e3a22f3eb23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客戶前提與設計原則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先把限制說清楚,方案才站得住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客戶前提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六個前提決定了方案的形狀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416fb7c-fc9f-4d87-9c7b-cea7a92b64b8"/>
          <p:cNvSpPr/>
          <p:nvPr/>
        </p:nvSpPr>
        <p:spPr>
          <a:xfrm>
            <a:off x="548640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ab9774c0-e657-47f3-bd77-d293a945115b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c7ca1dd0-e564-414d-a20d-6d236d94566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c9de83c9-458e-466d-af90-5d0869c564a0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只有人與群組</a:t>
            </a:r>
            <a:endParaRPr lang="en-US" sz="1700" dirty="0"/>
          </a:p>
        </p:txBody>
      </p:sp>
      <p:sp>
        <p:nvSpPr>
          <p:cNvPr id="6" name="e25fd43d-c6de-4856-8fa7-17920cebf849"/>
          <p:cNvSpPr/>
          <p:nvPr/>
        </p:nvSpPr>
        <p:spPr>
          <a:xfrm>
            <a:off x="640080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沒有服務帳號</a:t>
            </a:r>
            <a:endParaRPr lang="en-US" sz="1300" dirty="0"/>
          </a:p>
        </p:txBody>
      </p:sp>
      <p:sp>
        <p:nvSpPr>
          <p:cNvPr id="7" name="86c2b98b-b07b-4c44-9a1e-8b66f3c15510"/>
          <p:cNvSpPr/>
          <p:nvPr/>
        </p:nvSpPr>
        <p:spPr>
          <a:xfrm>
            <a:off x="4325112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daff594b-4506-4c60-ab52-697360b7f757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ed70552d-285e-4d2e-9165-6d40bef0af5b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fb33ee41-3838-4a96-b3ac-c5af326a94a6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1 組 PK + 憑證</a:t>
            </a:r>
            <a:endParaRPr lang="en-US" sz="1700" dirty="0"/>
          </a:p>
        </p:txBody>
      </p:sp>
      <p:sp>
        <p:nvSpPr>
          <p:cNvPr id="11" name="3a39e180-ecda-4b6d-ab6c-06d6ca49dbad"/>
          <p:cNvSpPr/>
          <p:nvPr/>
        </p:nvSpPr>
        <p:spPr>
          <a:xfrm>
            <a:off x="4416552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希望憑證管理最小化</a:t>
            </a:r>
            <a:endParaRPr lang="en-US" sz="1300" dirty="0"/>
          </a:p>
        </p:txBody>
      </p:sp>
      <p:sp>
        <p:nvSpPr>
          <p:cNvPr id="12" name="1864e490-e527-4020-802c-3b3c9144a9a1"/>
          <p:cNvSpPr/>
          <p:nvPr/>
        </p:nvSpPr>
        <p:spPr>
          <a:xfrm>
            <a:off x="8101584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3" name="bd3dfe06-0943-4b71-b358-95fb61ed14d5"/>
          <p:cNvSpPr/>
          <p:nvPr/>
        </p:nvSpPr>
        <p:spPr>
          <a:xfrm>
            <a:off x="9587484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4" name="3519854b-aaee-4775-982f-f61670f8ae48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66751"/>
            <a:ext cx="307238" cy="307238"/>
          </a:xfrm>
          <a:prstGeom prst="rect">
            <a:avLst/>
          </a:prstGeom>
        </p:spPr>
      </p:pic>
      <p:sp>
        <p:nvSpPr>
          <p:cNvPr id="15" name="19bcc78b-f1dd-4028-a1c8-7dbab6cc7af6"/>
          <p:cNvSpPr/>
          <p:nvPr/>
        </p:nvSpPr>
        <p:spPr>
          <a:xfrm>
            <a:off x="8174736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9 VM · 手動安裝</a:t>
            </a:r>
            <a:endParaRPr lang="en-US" sz="1700" dirty="0"/>
          </a:p>
        </p:txBody>
      </p:sp>
      <p:sp>
        <p:nvSpPr>
          <p:cNvPr id="16" name="12ffc76f-1a19-44d2-bba0-6a7614c311c7"/>
          <p:cNvSpPr/>
          <p:nvPr/>
        </p:nvSpPr>
        <p:spPr>
          <a:xfrm>
            <a:off x="8193024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目前沒有 Ansible</a:t>
            </a:r>
            <a:endParaRPr lang="en-US" sz="1300" dirty="0"/>
          </a:p>
        </p:txBody>
      </p:sp>
      <p:sp>
        <p:nvSpPr>
          <p:cNvPr id="17" name="e4c70d95-b797-4a65-b482-156f82e4e4ae"/>
          <p:cNvSpPr/>
          <p:nvPr/>
        </p:nvSpPr>
        <p:spPr>
          <a:xfrm>
            <a:off x="548640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bd8ed161-c087-4410-be26-77308b0a6268"/>
          <p:cNvSpPr/>
          <p:nvPr/>
        </p:nvSpPr>
        <p:spPr>
          <a:xfrm>
            <a:off x="2034540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9" name="d7eee5b3-d227-41bb-bca6-cfa71d515eb2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4257694"/>
            <a:ext cx="307238" cy="307238"/>
          </a:xfrm>
          <a:prstGeom prst="rect">
            <a:avLst/>
          </a:prstGeom>
        </p:spPr>
      </p:pic>
      <p:sp>
        <p:nvSpPr>
          <p:cNvPr id="20" name="9eb0abc6-3bfc-4a1e-9208-d9289d0a9347"/>
          <p:cNvSpPr/>
          <p:nvPr/>
        </p:nvSpPr>
        <p:spPr>
          <a:xfrm>
            <a:off x="621792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只能 HTTP</a:t>
            </a:r>
            <a:endParaRPr lang="en-US" sz="1700" dirty="0"/>
          </a:p>
        </p:txBody>
      </p:sp>
      <p:sp>
        <p:nvSpPr>
          <p:cNvPr id="21" name="a0f857d9-8a6d-4628-89b3-8a443c62651e"/>
          <p:cNvSpPr/>
          <p:nvPr/>
        </p:nvSpPr>
        <p:spPr>
          <a:xfrm>
            <a:off x="640080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不能用 Kafka client</a:t>
            </a:r>
            <a:endParaRPr lang="en-US" sz="1300" dirty="0"/>
          </a:p>
        </p:txBody>
      </p:sp>
      <p:sp>
        <p:nvSpPr>
          <p:cNvPr id="22" name="77276e7d-9ad8-49dd-be3b-25cc3694c431"/>
          <p:cNvSpPr/>
          <p:nvPr/>
        </p:nvSpPr>
        <p:spPr>
          <a:xfrm>
            <a:off x="4325112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221b89d7-5fb2-4d89-b9d1-dcbe73a127bf"/>
          <p:cNvSpPr/>
          <p:nvPr/>
        </p:nvSpPr>
        <p:spPr>
          <a:xfrm>
            <a:off x="5811012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4" name="13e851d8-0610-4abd-aa9a-8613982973dd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4257694"/>
            <a:ext cx="307238" cy="307238"/>
          </a:xfrm>
          <a:prstGeom prst="rect">
            <a:avLst/>
          </a:prstGeom>
        </p:spPr>
      </p:pic>
      <p:sp>
        <p:nvSpPr>
          <p:cNvPr id="25" name="4ec1d377-971c-4841-a9d6-445f74dcbbac"/>
          <p:cNvSpPr/>
          <p:nvPr/>
        </p:nvSpPr>
        <p:spPr>
          <a:xfrm>
            <a:off x="4398264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AD 群組 + RBAC 分層授權</a:t>
            </a:r>
            <a:endParaRPr lang="en-US" sz="1700" dirty="0"/>
          </a:p>
        </p:txBody>
      </p:sp>
      <p:sp>
        <p:nvSpPr>
          <p:cNvPr id="26" name="a991c428-95aa-4a77-98ff-93f69cc84106"/>
          <p:cNvSpPr/>
          <p:nvPr/>
        </p:nvSpPr>
        <p:spPr>
          <a:xfrm>
            <a:off x="4416552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不同職責,不同權限</a:t>
            </a:r>
            <a:endParaRPr lang="en-US" sz="1300" dirty="0"/>
          </a:p>
        </p:txBody>
      </p:sp>
      <p:sp>
        <p:nvSpPr>
          <p:cNvPr id="27" name="4dddef03-b01c-47a4-9ad2-3a3ccc845e06"/>
          <p:cNvSpPr/>
          <p:nvPr/>
        </p:nvSpPr>
        <p:spPr>
          <a:xfrm>
            <a:off x="8101584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226d6ac1-7900-438a-8f3e-27570126d04c"/>
          <p:cNvSpPr/>
          <p:nvPr/>
        </p:nvSpPr>
        <p:spPr>
          <a:xfrm>
            <a:off x="9587484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f60a9756-677f-450f-ab50-80be6f25039a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4257694"/>
            <a:ext cx="307238" cy="307238"/>
          </a:xfrm>
          <a:prstGeom prst="rect">
            <a:avLst/>
          </a:prstGeom>
        </p:spPr>
      </p:pic>
      <p:sp>
        <p:nvSpPr>
          <p:cNvPr id="30" name="594160ca-5e20-4227-98d5-207bbc238594"/>
          <p:cNvSpPr/>
          <p:nvPr/>
        </p:nvSpPr>
        <p:spPr>
          <a:xfrm>
            <a:off x="8174736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</a:t>
            </a:r>
            <a:endParaRPr lang="en-US" sz="1700" dirty="0"/>
          </a:p>
        </p:txBody>
      </p:sp>
      <p:sp>
        <p:nvSpPr>
          <p:cNvPr id="31" name="aa8a8bc2-45e6-46b6-ae57-1c6c2dcd08d3"/>
          <p:cNvSpPr/>
          <p:nvPr/>
        </p:nvSpPr>
        <p:spPr>
          <a:xfrm>
            <a:off x="8193024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· REST Proxy · C3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設計原則:兩個身分平面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人走 AD,機器走 Kafka 內的服務帳號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7d33074-4849-4f22-a37f-8b09c835250e"/>
          <p:cNvSpPr/>
          <p:nvPr/>
        </p:nvSpPr>
        <p:spPr>
          <a:xfrm>
            <a:off x="548640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30383d63-e364-468b-96d6-bf29dd040a41"/>
          <p:cNvSpPr/>
          <p:nvPr/>
        </p:nvSpPr>
        <p:spPr>
          <a:xfrm>
            <a:off x="777240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6ac2245e-cb0c-454f-8025-6f7840aab43d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38174" y="2046510"/>
            <a:ext cx="409651" cy="409651"/>
          </a:xfrm>
          <a:prstGeom prst="rect">
            <a:avLst/>
          </a:prstGeom>
        </p:spPr>
      </p:pic>
      <p:sp>
        <p:nvSpPr>
          <p:cNvPr id="5" name="59f7db0d-7701-4552-b27b-ca406edf7fc6"/>
          <p:cNvSpPr/>
          <p:nvPr/>
        </p:nvSpPr>
        <p:spPr>
          <a:xfrm>
            <a:off x="1691640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2400" dirty="0"/>
          </a:p>
        </p:txBody>
      </p:sp>
      <p:sp>
        <p:nvSpPr>
          <p:cNvPr id="6" name="339f279c-832b-4998-a6d6-027ebe789a24"/>
          <p:cNvSpPr/>
          <p:nvPr/>
        </p:nvSpPr>
        <p:spPr>
          <a:xfrm>
            <a:off x="822960" y="2830521"/>
            <a:ext cx="3749040" cy="8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 + AD 群組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登入 C3 · 手動腳本 · Postman</a:t>
            </a:r>
            <a:endParaRPr lang="en-US" sz="1600" dirty="0"/>
          </a:p>
        </p:txBody>
      </p:sp>
      <p:sp>
        <p:nvSpPr>
          <p:cNvPr id="7" name="d091b173-8b4e-48d7-ade7-e7e433ff34e7"/>
          <p:cNvSpPr/>
          <p:nvPr/>
        </p:nvSpPr>
        <p:spPr>
          <a:xfrm>
            <a:off x="822960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授權跟著 AD 群組走</a:t>
            </a:r>
            <a:endParaRPr lang="en-US" sz="1200" dirty="0"/>
          </a:p>
        </p:txBody>
      </p:sp>
      <p:sp>
        <p:nvSpPr>
          <p:cNvPr id="8" name="dad2e64f-a953-4c79-b12c-f79febf7bc53"/>
          <p:cNvSpPr/>
          <p:nvPr/>
        </p:nvSpPr>
        <p:spPr>
          <a:xfrm>
            <a:off x="7342632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a4f3496f-989c-46ce-929e-4a19a09a0767"/>
          <p:cNvSpPr/>
          <p:nvPr/>
        </p:nvSpPr>
        <p:spPr>
          <a:xfrm>
            <a:off x="7571232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326d569c-63c7-4edc-a022-550240c43bf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732166" y="2046510"/>
            <a:ext cx="409651" cy="409651"/>
          </a:xfrm>
          <a:prstGeom prst="rect">
            <a:avLst/>
          </a:prstGeom>
        </p:spPr>
      </p:pic>
      <p:sp>
        <p:nvSpPr>
          <p:cNvPr id="11" name="bba59c27-96b7-46fc-83c7-1451692bd963"/>
          <p:cNvSpPr/>
          <p:nvPr/>
        </p:nvSpPr>
        <p:spPr>
          <a:xfrm>
            <a:off x="8485632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</a:t>
            </a:r>
            <a:endParaRPr lang="en-US" sz="2400" dirty="0"/>
          </a:p>
        </p:txBody>
      </p:sp>
      <p:sp>
        <p:nvSpPr>
          <p:cNvPr id="12" name="8c316c09-f159-4b33-8baa-cab1c7ba8e04"/>
          <p:cNvSpPr/>
          <p:nvPr/>
        </p:nvSpPr>
        <p:spPr>
          <a:xfrm>
            <a:off x="7616952" y="2745671"/>
            <a:ext cx="384048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Kafka:SCRAM 帳密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MDS / REST Proxy:client 憑證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· 排程 · legacy app · 平台元件</a:t>
            </a:r>
            <a:endParaRPr lang="en-US" sz="1600" dirty="0"/>
          </a:p>
        </p:txBody>
      </p:sp>
      <p:sp>
        <p:nvSpPr>
          <p:cNvPr id="13" name="4b53d7e3-21e7-4545-874f-de288c8d7781"/>
          <p:cNvSpPr/>
          <p:nvPr/>
        </p:nvSpPr>
        <p:spPr>
          <a:xfrm>
            <a:off x="7616952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授權綁 User:服務名稱</a:t>
            </a:r>
            <a:endParaRPr lang="en-US" sz="1200" dirty="0"/>
          </a:p>
        </p:txBody>
      </p:sp>
      <p:sp>
        <p:nvSpPr>
          <p:cNvPr id="14" name="57cf3a47-4178-4538-a712-92f5503851a8"/>
          <p:cNvSpPr/>
          <p:nvPr/>
        </p:nvSpPr>
        <p:spPr>
          <a:xfrm>
            <a:off x="5120640" y="2363848"/>
            <a:ext cx="1947672" cy="1612145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b919ee7b-8622-478d-a57c-0b172d810c8d"/>
          <p:cNvSpPr/>
          <p:nvPr/>
        </p:nvSpPr>
        <p:spPr>
          <a:xfrm>
            <a:off x="5824728" y="249112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5d42acdb-5b1e-44b1-aeef-926c6134f418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945429" y="2603124"/>
            <a:ext cx="307238" cy="307238"/>
          </a:xfrm>
          <a:prstGeom prst="rect">
            <a:avLst/>
          </a:prstGeom>
        </p:spPr>
      </p:pic>
      <p:sp>
        <p:nvSpPr>
          <p:cNvPr id="17" name="5fd789d8-17e7-4cad-b611-165001ebcf6b"/>
          <p:cNvSpPr/>
          <p:nvPr/>
        </p:nvSpPr>
        <p:spPr>
          <a:xfrm>
            <a:off x="5166360" y="3085070"/>
            <a:ext cx="185623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18" name="b2df4cbd-8ace-4b08-9b0f-0f063504e1c7"/>
          <p:cNvSpPr/>
          <p:nvPr/>
        </p:nvSpPr>
        <p:spPr>
          <a:xfrm>
            <a:off x="5212080" y="3466894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集中授權</a:t>
            </a:r>
            <a:endParaRPr lang="en-US" sz="1100" dirty="0"/>
          </a:p>
        </p:txBody>
      </p:sp>
      <p:sp>
        <p:nvSpPr>
          <p:cNvPr id="19" name="f6e2b7ab-8390-4c79-8784-10d3ea09ceae"/>
          <p:cNvSpPr/>
          <p:nvPr/>
        </p:nvSpPr>
        <p:spPr>
          <a:xfrm>
            <a:off x="4846320" y="3169920"/>
            <a:ext cx="2743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e727626d-475f-470b-a6ec-db3efe61d76f"/>
          <p:cNvSpPr/>
          <p:nvPr/>
        </p:nvSpPr>
        <p:spPr>
          <a:xfrm flipH="1">
            <a:off x="7068312" y="3169920"/>
            <a:ext cx="2743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be590680-91cc-443a-8c38-33b0a1476465"/>
          <p:cNvSpPr/>
          <p:nvPr/>
        </p:nvSpPr>
        <p:spPr>
          <a:xfrm>
            <a:off x="548640" y="5121464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怎麼分?有人在場、由人直接或間接操作 = 人;其餘(無人值守)= 服務</a:t>
            </a:r>
            <a:endParaRPr lang="en-US" sz="1700" dirty="0"/>
          </a:p>
        </p:txBody>
      </p:sp>
      <p:sp>
        <p:nvSpPr>
          <p:cNvPr id="22" name="87f9decc-7020-418b-9c99-091c74b58df2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腳本由手動轉成排程 → 必須改用服務身分,不借用人的帳號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方案總覽:組件與安全機制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各組件怎麼認證、授權,以及貫穿全案的機制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6b156b2-34a2-4bba-b179-cdada77b8420"/>
          <p:cNvSpPr/>
          <p:nvPr/>
        </p:nvSpPr>
        <p:spPr>
          <a:xfrm>
            <a:off x="548640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02e2615f-dced-4a67-9cf7-a6a8a4059389"/>
          <p:cNvSpPr/>
          <p:nvPr/>
        </p:nvSpPr>
        <p:spPr>
          <a:xfrm>
            <a:off x="203454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6726aa93-4040-4de4-b1ef-52e2d6db2634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24326"/>
            <a:ext cx="307238" cy="307238"/>
          </a:xfrm>
          <a:prstGeom prst="rect">
            <a:avLst/>
          </a:prstGeom>
        </p:spPr>
      </p:pic>
      <p:sp>
        <p:nvSpPr>
          <p:cNvPr id="5" name="4359d334-7897-4b1d-b9ac-d1ec0957fd99"/>
          <p:cNvSpPr/>
          <p:nvPr/>
        </p:nvSpPr>
        <p:spPr>
          <a:xfrm>
            <a:off x="621792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6" name="fd002924-6b8f-4860-b8b2-078f8b3ee87e"/>
          <p:cNvSpPr/>
          <p:nvPr/>
        </p:nvSpPr>
        <p:spPr>
          <a:xfrm>
            <a:off x="640080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 · 內部帳號</a:t>
            </a:r>
            <a:endParaRPr lang="en-US" sz="1200" dirty="0"/>
          </a:p>
        </p:txBody>
      </p:sp>
      <p:sp>
        <p:nvSpPr>
          <p:cNvPr id="7" name="a1a5a560-c895-4719-8cc1-c9c34f0b9bef"/>
          <p:cNvSpPr/>
          <p:nvPr/>
        </p:nvSpPr>
        <p:spPr>
          <a:xfrm>
            <a:off x="4325112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e3deeb47-e76c-4164-b18e-75494d9aa110"/>
          <p:cNvSpPr/>
          <p:nvPr/>
        </p:nvSpPr>
        <p:spPr>
          <a:xfrm>
            <a:off x="581101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9" name="d947ec39-25b7-41fb-a667-c50b3e9abdc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24326"/>
            <a:ext cx="307238" cy="307238"/>
          </a:xfrm>
          <a:prstGeom prst="rect">
            <a:avLst/>
          </a:prstGeom>
        </p:spPr>
      </p:pic>
      <p:sp>
        <p:nvSpPr>
          <p:cNvPr id="10" name="1dc41d04-520c-4e9c-b5d9-124e136d5773"/>
          <p:cNvSpPr/>
          <p:nvPr/>
        </p:nvSpPr>
        <p:spPr>
          <a:xfrm>
            <a:off x="4398264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500" dirty="0"/>
          </a:p>
        </p:txBody>
      </p:sp>
      <p:sp>
        <p:nvSpPr>
          <p:cNvPr id="11" name="29be0c3a-dad7-4737-b896-bf11ef488f4d"/>
          <p:cNvSpPr/>
          <p:nvPr/>
        </p:nvSpPr>
        <p:spPr>
          <a:xfrm>
            <a:off x="4416552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PLAIN+LDAP · SCRAM · token</a:t>
            </a:r>
            <a:endParaRPr lang="en-US" sz="1200" dirty="0"/>
          </a:p>
        </p:txBody>
      </p:sp>
      <p:sp>
        <p:nvSpPr>
          <p:cNvPr id="12" name="2073d393-0be5-40bb-a651-f3ae77374610"/>
          <p:cNvSpPr/>
          <p:nvPr/>
        </p:nvSpPr>
        <p:spPr>
          <a:xfrm>
            <a:off x="8101584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d1ea4c33-d1b0-48c2-91cc-32b6fb65c4a2"/>
          <p:cNvSpPr/>
          <p:nvPr/>
        </p:nvSpPr>
        <p:spPr>
          <a:xfrm>
            <a:off x="9587484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4627d815-1f67-4473-92d7-4c727b5b0d8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24326"/>
            <a:ext cx="307238" cy="307238"/>
          </a:xfrm>
          <a:prstGeom prst="rect">
            <a:avLst/>
          </a:prstGeom>
        </p:spPr>
      </p:pic>
      <p:sp>
        <p:nvSpPr>
          <p:cNvPr id="15" name="ad276fd0-066d-44c8-a487-ca0dddd50c9a"/>
          <p:cNvSpPr/>
          <p:nvPr/>
        </p:nvSpPr>
        <p:spPr>
          <a:xfrm>
            <a:off x="8174736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500" dirty="0"/>
          </a:p>
        </p:txBody>
      </p:sp>
      <p:sp>
        <p:nvSpPr>
          <p:cNvPr id="16" name="43c3858a-56ca-4c31-9033-c24012bd137c"/>
          <p:cNvSpPr/>
          <p:nvPr/>
        </p:nvSpPr>
        <p:spPr>
          <a:xfrm>
            <a:off x="8193024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Basic · 機器憑證</a:t>
            </a:r>
            <a:endParaRPr lang="en-US" sz="1200" dirty="0"/>
          </a:p>
        </p:txBody>
      </p:sp>
      <p:sp>
        <p:nvSpPr>
          <p:cNvPr id="17" name="deeeabea-b8ec-4fb8-99d7-e45afc76bcf5"/>
          <p:cNvSpPr/>
          <p:nvPr/>
        </p:nvSpPr>
        <p:spPr>
          <a:xfrm>
            <a:off x="548640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65d6e4a8-642f-44a1-9eac-2f9e8beedb52"/>
          <p:cNvSpPr/>
          <p:nvPr/>
        </p:nvSpPr>
        <p:spPr>
          <a:xfrm>
            <a:off x="2034540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1403d96a-5d72-4772-bfac-a4fdf763cb32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3494046"/>
            <a:ext cx="307238" cy="307238"/>
          </a:xfrm>
          <a:prstGeom prst="rect">
            <a:avLst/>
          </a:prstGeom>
        </p:spPr>
      </p:pic>
      <p:sp>
        <p:nvSpPr>
          <p:cNvPr id="20" name="ff2db5d8-e29a-4c18-8131-d1ecb9f5072a"/>
          <p:cNvSpPr/>
          <p:nvPr/>
        </p:nvSpPr>
        <p:spPr>
          <a:xfrm>
            <a:off x="621792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500" dirty="0"/>
          </a:p>
        </p:txBody>
      </p:sp>
      <p:sp>
        <p:nvSpPr>
          <p:cNvPr id="21" name="9edbf9ef-9abe-4119-b24d-e023553fac7d"/>
          <p:cNvSpPr/>
          <p:nvPr/>
        </p:nvSpPr>
        <p:spPr>
          <a:xfrm>
            <a:off x="640080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人用本人身分</a:t>
            </a:r>
            <a:endParaRPr lang="en-US" sz="1200" dirty="0"/>
          </a:p>
        </p:txBody>
      </p:sp>
      <p:sp>
        <p:nvSpPr>
          <p:cNvPr id="22" name="18d6dd06-8985-4356-9208-8e1cd21b8d32"/>
          <p:cNvSpPr/>
          <p:nvPr/>
        </p:nvSpPr>
        <p:spPr>
          <a:xfrm>
            <a:off x="4325112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7101f220-377d-481f-b386-4dd61034be1f"/>
          <p:cNvSpPr/>
          <p:nvPr/>
        </p:nvSpPr>
        <p:spPr>
          <a:xfrm>
            <a:off x="5811012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ab18195d-aab3-49b2-b576-5f4cfb6d010d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3494046"/>
            <a:ext cx="307238" cy="307238"/>
          </a:xfrm>
          <a:prstGeom prst="rect">
            <a:avLst/>
          </a:prstGeom>
        </p:spPr>
      </p:pic>
      <p:sp>
        <p:nvSpPr>
          <p:cNvPr id="25" name="93ef9fc8-ca5f-4912-9cff-da42bb07bb74"/>
          <p:cNvSpPr/>
          <p:nvPr/>
        </p:nvSpPr>
        <p:spPr>
          <a:xfrm>
            <a:off x="4398264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TLS 與憑證</a:t>
            </a:r>
            <a:endParaRPr lang="en-US" sz="1500" dirty="0"/>
          </a:p>
        </p:txBody>
      </p:sp>
      <p:sp>
        <p:nvSpPr>
          <p:cNvPr id="26" name="a8f6b921-1228-43e7-9531-2cc70a3c44ac"/>
          <p:cNvSpPr/>
          <p:nvPr/>
        </p:nvSpPr>
        <p:spPr>
          <a:xfrm>
            <a:off x="4416552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1 組 server 憑證</a:t>
            </a:r>
            <a:endParaRPr lang="en-US" sz="1200" dirty="0"/>
          </a:p>
        </p:txBody>
      </p:sp>
      <p:sp>
        <p:nvSpPr>
          <p:cNvPr id="27" name="4af6fd86-9de2-4912-b579-da7192bfc795"/>
          <p:cNvSpPr/>
          <p:nvPr/>
        </p:nvSpPr>
        <p:spPr>
          <a:xfrm>
            <a:off x="8101584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d5616a68-38aa-41ec-972d-e5d8dfc30bd6"/>
          <p:cNvSpPr/>
          <p:nvPr/>
        </p:nvSpPr>
        <p:spPr>
          <a:xfrm>
            <a:off x="9587484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a67968d4-451a-4ab9-98fe-e2fe170be3d9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3494046"/>
            <a:ext cx="307238" cy="307238"/>
          </a:xfrm>
          <a:prstGeom prst="rect">
            <a:avLst/>
          </a:prstGeom>
        </p:spPr>
      </p:pic>
      <p:sp>
        <p:nvSpPr>
          <p:cNvPr id="30" name="48b8e370-c6a0-478c-8075-c70d2fb5b861"/>
          <p:cNvSpPr/>
          <p:nvPr/>
        </p:nvSpPr>
        <p:spPr>
          <a:xfrm>
            <a:off x="8174736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31" name="1c30dd42-0c01-4a87-8cc1-0bd681e6f309"/>
          <p:cNvSpPr/>
          <p:nvPr/>
        </p:nvSpPr>
        <p:spPr>
          <a:xfrm>
            <a:off x="8193024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 → role</a:t>
            </a:r>
            <a:endParaRPr lang="en-US" sz="1200" dirty="0"/>
          </a:p>
        </p:txBody>
      </p:sp>
      <p:sp>
        <p:nvSpPr>
          <p:cNvPr id="32" name="1d0c410e-e348-4ca1-ade3-5a02786f81df"/>
          <p:cNvSpPr/>
          <p:nvPr/>
        </p:nvSpPr>
        <p:spPr>
          <a:xfrm>
            <a:off x="548640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252ae0c7-0c6a-4752-99ad-a762679f9428"/>
          <p:cNvSpPr/>
          <p:nvPr/>
        </p:nvSpPr>
        <p:spPr>
          <a:xfrm>
            <a:off x="2034540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4" name="0edfdfd6-82a9-4888-888f-0cd476758289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2155241" y="5063766"/>
            <a:ext cx="307238" cy="307238"/>
          </a:xfrm>
          <a:prstGeom prst="rect">
            <a:avLst/>
          </a:prstGeom>
        </p:spPr>
      </p:pic>
      <p:sp>
        <p:nvSpPr>
          <p:cNvPr id="35" name="3a1a7d3b-ac70-47e2-bd7c-bcdebdec36ec"/>
          <p:cNvSpPr/>
          <p:nvPr/>
        </p:nvSpPr>
        <p:spPr>
          <a:xfrm>
            <a:off x="621792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服務帳號</a:t>
            </a:r>
            <a:endParaRPr lang="en-US" sz="1500" dirty="0"/>
          </a:p>
        </p:txBody>
      </p:sp>
      <p:sp>
        <p:nvSpPr>
          <p:cNvPr id="36" name="a3102c74-ba89-4525-84e6-f1428af9fddb"/>
          <p:cNvSpPr/>
          <p:nvPr/>
        </p:nvSpPr>
        <p:spPr>
          <a:xfrm>
            <a:off x="640080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+ 最小權限</a:t>
            </a:r>
            <a:endParaRPr lang="en-US" sz="1200" dirty="0"/>
          </a:p>
        </p:txBody>
      </p:sp>
      <p:sp>
        <p:nvSpPr>
          <p:cNvPr id="37" name="36a4382d-3bdc-4291-996f-2e53da2c14ec"/>
          <p:cNvSpPr/>
          <p:nvPr/>
        </p:nvSpPr>
        <p:spPr>
          <a:xfrm>
            <a:off x="4325112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8" name="07a8d32f-4d88-4368-9d2c-d83b9fc137d7"/>
          <p:cNvSpPr/>
          <p:nvPr/>
        </p:nvSpPr>
        <p:spPr>
          <a:xfrm>
            <a:off x="5811012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9" name="276de7de-a717-4fe7-89b1-73fee528bd77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5931713" y="5063766"/>
            <a:ext cx="307238" cy="307238"/>
          </a:xfrm>
          <a:prstGeom prst="rect">
            <a:avLst/>
          </a:prstGeom>
        </p:spPr>
      </p:pic>
      <p:sp>
        <p:nvSpPr>
          <p:cNvPr id="40" name="bc522a14-6d64-4702-a49a-7d5b76653820"/>
          <p:cNvSpPr/>
          <p:nvPr/>
        </p:nvSpPr>
        <p:spPr>
          <a:xfrm>
            <a:off x="4398264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41" name="07c5a0c8-cdaf-4852-a9bd-065506f33af3"/>
          <p:cNvSpPr/>
          <p:nvPr/>
        </p:nvSpPr>
        <p:spPr>
          <a:xfrm>
            <a:off x="4416552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誰被拒、誰改授權</a:t>
            </a:r>
            <a:endParaRPr lang="en-US" sz="1200" dirty="0"/>
          </a:p>
        </p:txBody>
      </p:sp>
      <p:sp>
        <p:nvSpPr>
          <p:cNvPr id="42" name="fd598212-9715-4cc7-be6c-e1c233d64e1e"/>
          <p:cNvSpPr/>
          <p:nvPr/>
        </p:nvSpPr>
        <p:spPr>
          <a:xfrm>
            <a:off x="8101584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43" name="0d330fea-86f0-4595-ae6d-7a1e62350815"/>
          <p:cNvSpPr/>
          <p:nvPr/>
        </p:nvSpPr>
        <p:spPr>
          <a:xfrm>
            <a:off x="9587484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4" name="a689e279-a139-4b59-8e02-29e97309345b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9708185" y="5063766"/>
            <a:ext cx="307238" cy="307238"/>
          </a:xfrm>
          <a:prstGeom prst="rect">
            <a:avLst/>
          </a:prstGeom>
        </p:spPr>
      </p:pic>
      <p:sp>
        <p:nvSpPr>
          <p:cNvPr id="45" name="dde0daaf-ed51-4652-8a8f-908769e1b6ad"/>
          <p:cNvSpPr/>
          <p:nvPr/>
        </p:nvSpPr>
        <p:spPr>
          <a:xfrm>
            <a:off x="8174736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整合與導入</a:t>
            </a:r>
            <a:endParaRPr lang="en-US" sz="1500" dirty="0"/>
          </a:p>
        </p:txBody>
      </p:sp>
      <p:sp>
        <p:nvSpPr>
          <p:cNvPr id="46" name="75fa8e3c-a95e-43a2-8e9f-cd746efa492d"/>
          <p:cNvSpPr/>
          <p:nvPr/>
        </p:nvSpPr>
        <p:spPr>
          <a:xfrm>
            <a:off x="8193024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全景 · 步驟 · 風險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逐項介紹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每一項:傳輸加密 · 認證 · 授權 · 注意事項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TLS 與憑證:共用 1 組,只做加密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共用 server 憑證只加密;平台元件的 client 憑證用來換 token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8e27cc0-b84e-4967-ae76-756a9b878c69"/>
          <p:cNvSpPr/>
          <p:nvPr/>
        </p:nvSpPr>
        <p:spPr>
          <a:xfrm>
            <a:off x="731520" y="1897174"/>
            <a:ext cx="1188720" cy="1103046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" name="2aca2fdc-66c5-4f5c-a54d-77e65303d6ee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93038" y="2139844"/>
            <a:ext cx="665683" cy="665683"/>
          </a:xfrm>
          <a:prstGeom prst="rect">
            <a:avLst/>
          </a:prstGeom>
        </p:spPr>
      </p:pic>
      <p:sp>
        <p:nvSpPr>
          <p:cNvPr id="4" name="4643b731-caa4-4564-a910-1743397ae60e"/>
          <p:cNvSpPr/>
          <p:nvPr/>
        </p:nvSpPr>
        <p:spPr>
          <a:xfrm>
            <a:off x="548640" y="3127495"/>
            <a:ext cx="155448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組 PK + 憑證</a:t>
            </a:r>
            <a:endParaRPr lang="en-US" sz="1400" dirty="0"/>
          </a:p>
        </p:txBody>
      </p:sp>
      <p:sp>
        <p:nvSpPr>
          <p:cNvPr id="5" name="1bddd036-392b-490a-a057-7a4e9e26134c"/>
          <p:cNvSpPr/>
          <p:nvPr/>
        </p:nvSpPr>
        <p:spPr>
          <a:xfrm>
            <a:off x="502920" y="3594169"/>
            <a:ext cx="16459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涵蓋所有組件的網域 / IP</a:t>
            </a:r>
            <a:endParaRPr lang="en-US" sz="1050" dirty="0"/>
          </a:p>
        </p:txBody>
      </p:sp>
      <p:sp>
        <p:nvSpPr>
          <p:cNvPr id="6" name="acd09753-947a-4419-8a40-50c316e743c4"/>
          <p:cNvSpPr/>
          <p:nvPr/>
        </p:nvSpPr>
        <p:spPr>
          <a:xfrm flipV="1">
            <a:off x="2148840" y="1897174"/>
            <a:ext cx="868680" cy="5515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4337984a-3138-4a00-9f82-c0ad62b40339"/>
          <p:cNvSpPr/>
          <p:nvPr/>
        </p:nvSpPr>
        <p:spPr>
          <a:xfrm>
            <a:off x="3017520" y="1727475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8" name="f97079fe-3385-4400-a71a-7bdd01f94dcc"/>
          <p:cNvSpPr/>
          <p:nvPr/>
        </p:nvSpPr>
        <p:spPr>
          <a:xfrm flipV="1">
            <a:off x="2148840" y="2321423"/>
            <a:ext cx="868680" cy="127275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9" name="4ff1aa3c-6b04-4da9-9134-c17dcf04a33b"/>
          <p:cNvSpPr/>
          <p:nvPr/>
        </p:nvSpPr>
        <p:spPr>
          <a:xfrm>
            <a:off x="3017520" y="2151723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200" dirty="0"/>
          </a:p>
        </p:txBody>
      </p:sp>
      <p:sp>
        <p:nvSpPr>
          <p:cNvPr id="10" name="8a6e841d-a255-4622-85c3-5589f3622ac2"/>
          <p:cNvSpPr/>
          <p:nvPr/>
        </p:nvSpPr>
        <p:spPr>
          <a:xfrm>
            <a:off x="2148840" y="2448697"/>
            <a:ext cx="868680" cy="296974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7967290d-596b-423c-9622-94dd9df79072"/>
          <p:cNvSpPr/>
          <p:nvPr/>
        </p:nvSpPr>
        <p:spPr>
          <a:xfrm>
            <a:off x="3017520" y="2575972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200" dirty="0"/>
          </a:p>
        </p:txBody>
      </p:sp>
      <p:sp>
        <p:nvSpPr>
          <p:cNvPr id="12" name="ab36df9d-8cf9-41a0-a1f5-5d264f3733b9"/>
          <p:cNvSpPr/>
          <p:nvPr/>
        </p:nvSpPr>
        <p:spPr>
          <a:xfrm>
            <a:off x="2148840" y="2448697"/>
            <a:ext cx="868680" cy="7212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851da6d1-d479-4c1e-8e4a-00d82dce4cfa"/>
          <p:cNvSpPr/>
          <p:nvPr/>
        </p:nvSpPr>
        <p:spPr>
          <a:xfrm>
            <a:off x="3017520" y="3000221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14" name="a045a358-a554-4d64-bb25-11113c37c20f"/>
          <p:cNvSpPr/>
          <p:nvPr/>
        </p:nvSpPr>
        <p:spPr>
          <a:xfrm>
            <a:off x="2148840" y="2448697"/>
            <a:ext cx="868680" cy="1145471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0f713c22-5851-401e-a858-7481d6267d18"/>
          <p:cNvSpPr/>
          <p:nvPr/>
        </p:nvSpPr>
        <p:spPr>
          <a:xfrm>
            <a:off x="3017520" y="3424469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16" name="eaccaa13-7852-4764-985f-4416d328e317"/>
          <p:cNvSpPr/>
          <p:nvPr/>
        </p:nvSpPr>
        <p:spPr>
          <a:xfrm>
            <a:off x="3017520" y="3848718"/>
            <a:ext cx="18288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server 端啟動 TLS</a:t>
            </a:r>
            <a:endParaRPr lang="en-US" sz="1050" dirty="0"/>
          </a:p>
        </p:txBody>
      </p:sp>
      <p:sp>
        <p:nvSpPr>
          <p:cNvPr id="17" name="b619e993-6fc8-411d-9518-7a22f82b4074"/>
          <p:cNvSpPr/>
          <p:nvPr/>
        </p:nvSpPr>
        <p:spPr>
          <a:xfrm>
            <a:off x="548640" y="4230542"/>
            <a:ext cx="5486400" cy="135759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c4501c2e-20f7-436f-8bbe-470431732bfe"/>
          <p:cNvSpPr/>
          <p:nvPr/>
        </p:nvSpPr>
        <p:spPr>
          <a:xfrm>
            <a:off x="731520" y="4315391"/>
            <a:ext cx="512064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端</a:t>
            </a:r>
            <a:endParaRPr lang="en-US" sz="1500" dirty="0"/>
          </a:p>
        </p:txBody>
      </p:sp>
      <p:sp>
        <p:nvSpPr>
          <p:cNvPr id="19" name="8e1acdfc-2bfa-4095-a688-2b5fc9a43473"/>
          <p:cNvSpPr/>
          <p:nvPr/>
        </p:nvSpPr>
        <p:spPr>
          <a:xfrm>
            <a:off x="731520" y="4697215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只需 truststore(匯入 CA root)</a:t>
            </a:r>
            <a:endParaRPr lang="en-US" sz="1200" dirty="0"/>
          </a:p>
        </p:txBody>
      </p:sp>
      <p:sp>
        <p:nvSpPr>
          <p:cNvPr id="20" name="ee475683-bbef-4a18-b85b-7bcfd6339314"/>
          <p:cNvSpPr/>
          <p:nvPr/>
        </p:nvSpPr>
        <p:spPr>
          <a:xfrm>
            <a:off x="731520" y="5121464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AD 的 broker(含 MDS):匯入 AD 的 LDAPS CA root,一份設定</a:t>
            </a:r>
            <a:endParaRPr lang="en-US" sz="1200" dirty="0"/>
          </a:p>
        </p:txBody>
      </p:sp>
      <p:sp>
        <p:nvSpPr>
          <p:cNvPr id="21" name="0436668f-7898-4be7-80f1-cc8aca632eba"/>
          <p:cNvSpPr/>
          <p:nvPr/>
        </p:nvSpPr>
        <p:spPr>
          <a:xfrm>
            <a:off x="6400800" y="1685050"/>
            <a:ext cx="5239512" cy="2375792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2" name="f2ca3dcc-9076-4aa2-a4fa-9ead7dda5cc9"/>
          <p:cNvSpPr/>
          <p:nvPr/>
        </p:nvSpPr>
        <p:spPr>
          <a:xfrm>
            <a:off x="6583680" y="1769899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平台元件用 client 憑證向 MDS 證明身分</a:t>
            </a:r>
            <a:endParaRPr lang="en-US" sz="1500" dirty="0"/>
          </a:p>
        </p:txBody>
      </p:sp>
      <p:sp>
        <p:nvSpPr>
          <p:cNvPr id="23" name="55e1632a-8355-469b-943e-2a6aa3369b9e"/>
          <p:cNvSpPr/>
          <p:nvPr/>
        </p:nvSpPr>
        <p:spPr>
          <a:xfrm>
            <a:off x="6583680" y="2236573"/>
            <a:ext cx="1371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24" name="78f7934a-aace-4674-84b8-c1012ddbb839"/>
          <p:cNvSpPr/>
          <p:nvPr/>
        </p:nvSpPr>
        <p:spPr>
          <a:xfrm>
            <a:off x="8046720" y="2236573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</a:t>
            </a:r>
            <a:endParaRPr lang="en-US" sz="1200" dirty="0"/>
          </a:p>
        </p:txBody>
      </p:sp>
      <p:sp>
        <p:nvSpPr>
          <p:cNvPr id="25" name="3b2dc812-d43e-4b13-a804-79a528cfbec7"/>
          <p:cNvSpPr/>
          <p:nvPr/>
        </p:nvSpPr>
        <p:spPr>
          <a:xfrm>
            <a:off x="9692640" y="2236573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</a:t>
            </a:r>
            <a:endParaRPr lang="en-US" sz="1200" dirty="0"/>
          </a:p>
        </p:txBody>
      </p:sp>
      <p:sp>
        <p:nvSpPr>
          <p:cNvPr id="26" name="620da12f-9b10-426b-86b4-63d9649dc842"/>
          <p:cNvSpPr/>
          <p:nvPr/>
        </p:nvSpPr>
        <p:spPr>
          <a:xfrm>
            <a:off x="6583680" y="2686277"/>
            <a:ext cx="493776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每個經 REST Proxy 的 legacy app 各 1 張(由 REST Proxy 辨識後代為申請 token)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人的路徑不用:人走 AD 帳密。RBAC 下 C3 連 broker 只能 OAUTHBEARER,所以先以憑證向 MDS 換 token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綁 RBAC 的是 CN:換憑證只要 CN 不變,不用重綁權限</a:t>
            </a:r>
            <a:endParaRPr lang="en-US" sz="1150" dirty="0"/>
          </a:p>
        </p:txBody>
      </p:sp>
      <p:sp>
        <p:nvSpPr>
          <p:cNvPr id="27" name="9fe7e4a9-1ace-4059-9eb8-5cd345c67c7b"/>
          <p:cNvSpPr/>
          <p:nvPr/>
        </p:nvSpPr>
        <p:spPr>
          <a:xfrm>
            <a:off x="6400800" y="4145692"/>
            <a:ext cx="5239512" cy="1527295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8" name="ce28d9c2-b08d-4b20-b7e3-dbceb49275cc"/>
          <p:cNvSpPr/>
          <p:nvPr/>
        </p:nvSpPr>
        <p:spPr>
          <a:xfrm>
            <a:off x="6583680" y="4213572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要請客戶簽認</a:t>
            </a:r>
            <a:endParaRPr lang="en-US" sz="1500" dirty="0"/>
          </a:p>
        </p:txBody>
      </p:sp>
      <p:sp>
        <p:nvSpPr>
          <p:cNvPr id="29" name="a469671f-3f42-496b-b476-ab967f30c106"/>
          <p:cNvSpPr/>
          <p:nvPr/>
        </p:nvSpPr>
        <p:spPr>
          <a:xfrm>
            <a:off x="6583680" y="4569941"/>
            <a:ext cx="493776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私鑰外洩 = 可偽裝伺服器;共用憑證對應的身分(CN)永遠不綁任何 role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只換 server 憑證(CA 不變):逐台換 keystore,truststore 不動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CA 換金鑰:truststore 先新舊並存 → 重簽 server 與 client 憑證 → 移除舊 root</a:t>
            </a:r>
            <a:endParaRPr lang="en-US" sz="1100" dirty="0"/>
          </a:p>
        </p:txBody>
      </p:sp>
      <p:sp>
        <p:nvSpPr>
          <p:cNvPr id="30" name="22949d96-f2db-4094-9908-69d70893c519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共用憑證只負責加密、不承載權限;身分另外處理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憑證更換:三種情境,順序不能錯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依單節點實驗結果整理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ba11e44a-de14-42aa-9037-b86e44f08862"/>
          <p:cNvSpPr/>
          <p:nvPr/>
        </p:nvSpPr>
        <p:spPr>
          <a:xfrm>
            <a:off x="548640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68d6bc5d-38ec-4007-9111-74d8686d36a8"/>
          <p:cNvSpPr/>
          <p:nvPr/>
        </p:nvSpPr>
        <p:spPr>
          <a:xfrm>
            <a:off x="685800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6f26cfa1-9aea-40c3-be3a-ced8ac427216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06501" y="1898871"/>
            <a:ext cx="307238" cy="307238"/>
          </a:xfrm>
          <a:prstGeom prst="rect">
            <a:avLst/>
          </a:prstGeom>
        </p:spPr>
      </p:pic>
      <p:sp>
        <p:nvSpPr>
          <p:cNvPr id="5" name="8af8ea5e-3a14-440e-8d6d-71b314422416"/>
          <p:cNvSpPr/>
          <p:nvPr/>
        </p:nvSpPr>
        <p:spPr>
          <a:xfrm>
            <a:off x="1371600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 server 憑證</a:t>
            </a:r>
            <a:endParaRPr lang="en-US" sz="1400" dirty="0"/>
          </a:p>
        </p:txBody>
      </p:sp>
      <p:sp>
        <p:nvSpPr>
          <p:cNvPr id="6" name="d9df11a4-c2d0-44d6-a1aa-4f26340c6c54"/>
          <p:cNvSpPr/>
          <p:nvPr/>
        </p:nvSpPr>
        <p:spPr>
          <a:xfrm>
            <a:off x="1371600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不變(例如到期更新)</a:t>
            </a:r>
            <a:endParaRPr lang="en-US" sz="1100" dirty="0"/>
          </a:p>
        </p:txBody>
      </p:sp>
      <p:sp>
        <p:nvSpPr>
          <p:cNvPr id="7" name="67ff801a-71d8-483f-937a-be8f067c39ce"/>
          <p:cNvSpPr/>
          <p:nvPr/>
        </p:nvSpPr>
        <p:spPr>
          <a:xfrm>
            <a:off x="731520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keystore(新憑證)</a:t>
            </a:r>
            <a:endParaRPr lang="en-US" sz="1150" dirty="0"/>
          </a:p>
        </p:txBody>
      </p:sp>
      <p:sp>
        <p:nvSpPr>
          <p:cNvPr id="8" name="974eb9f6-7b73-4a4b-9bbc-f60798de85e3"/>
          <p:cNvSpPr/>
          <p:nvPr/>
        </p:nvSpPr>
        <p:spPr>
          <a:xfrm>
            <a:off x="2331720" y="2957796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9" name="23985829-2a12-4773-8783-11fb0b347b0f"/>
          <p:cNvSpPr/>
          <p:nvPr/>
        </p:nvSpPr>
        <p:spPr>
          <a:xfrm>
            <a:off x="731520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truststore 不動</a:t>
            </a:r>
            <a:endParaRPr lang="en-US" sz="1150" dirty="0"/>
          </a:p>
        </p:txBody>
      </p:sp>
      <p:sp>
        <p:nvSpPr>
          <p:cNvPr id="10" name="861c569f-d6ee-472c-8567-31d719b2c254"/>
          <p:cNvSpPr/>
          <p:nvPr/>
        </p:nvSpPr>
        <p:spPr>
          <a:xfrm>
            <a:off x="2331720" y="3636594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11" name="214f4f6a-ea19-47c0-ad57-2f9f6c8615c5"/>
          <p:cNvSpPr/>
          <p:nvPr/>
        </p:nvSpPr>
        <p:spPr>
          <a:xfrm>
            <a:off x="731520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不用改</a:t>
            </a:r>
            <a:endParaRPr lang="en-US" sz="1150" dirty="0"/>
          </a:p>
        </p:txBody>
      </p:sp>
      <p:sp>
        <p:nvSpPr>
          <p:cNvPr id="12" name="f197ccea-0989-446c-b0c4-d7e9c6c528ae"/>
          <p:cNvSpPr/>
          <p:nvPr/>
        </p:nvSpPr>
        <p:spPr>
          <a:xfrm>
            <a:off x="731520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實測:換 keystore 後,client 設定不用改</a:t>
            </a:r>
            <a:endParaRPr lang="en-US" sz="1050" dirty="0"/>
          </a:p>
        </p:txBody>
      </p:sp>
      <p:sp>
        <p:nvSpPr>
          <p:cNvPr id="13" name="def694b0-486b-46a5-ad49-fdecde2b5014"/>
          <p:cNvSpPr/>
          <p:nvPr/>
        </p:nvSpPr>
        <p:spPr>
          <a:xfrm>
            <a:off x="4311396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af0b40ee-410a-43cc-b329-9ffdaf57b123"/>
          <p:cNvSpPr/>
          <p:nvPr/>
        </p:nvSpPr>
        <p:spPr>
          <a:xfrm>
            <a:off x="4448556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5782e0bd-bf33-4df3-8e34-0279abe6111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69257" y="1898871"/>
            <a:ext cx="307238" cy="307238"/>
          </a:xfrm>
          <a:prstGeom prst="rect">
            <a:avLst/>
          </a:prstGeom>
        </p:spPr>
      </p:pic>
      <p:sp>
        <p:nvSpPr>
          <p:cNvPr id="16" name="7389dc9d-2f85-41ac-bcc5-2ff5573fc0f1"/>
          <p:cNvSpPr/>
          <p:nvPr/>
        </p:nvSpPr>
        <p:spPr>
          <a:xfrm>
            <a:off x="5134356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根換新、金鑰不變</a:t>
            </a:r>
            <a:endParaRPr lang="en-US" sz="1400" dirty="0"/>
          </a:p>
        </p:txBody>
      </p:sp>
      <p:sp>
        <p:nvSpPr>
          <p:cNvPr id="17" name="0cbd4f93-2f6e-4102-bf91-126dbf64998a"/>
          <p:cNvSpPr/>
          <p:nvPr/>
        </p:nvSpPr>
        <p:spPr>
          <a:xfrm>
            <a:off x="5134356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同一把金鑰重新簽發根憑證</a:t>
            </a:r>
            <a:endParaRPr lang="en-US" sz="1100" dirty="0"/>
          </a:p>
        </p:txBody>
      </p:sp>
      <p:sp>
        <p:nvSpPr>
          <p:cNvPr id="18" name="8575d5c9-f405-48b3-be34-56cb99bee7c4"/>
          <p:cNvSpPr/>
          <p:nvPr/>
        </p:nvSpPr>
        <p:spPr>
          <a:xfrm>
            <a:off x="4494276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信任庫換成新根</a:t>
            </a:r>
            <a:endParaRPr lang="en-US" sz="1150" dirty="0"/>
          </a:p>
        </p:txBody>
      </p:sp>
      <p:sp>
        <p:nvSpPr>
          <p:cNvPr id="19" name="1f54ac15-129d-4160-9db2-5200e817cc01"/>
          <p:cNvSpPr/>
          <p:nvPr/>
        </p:nvSpPr>
        <p:spPr>
          <a:xfrm>
            <a:off x="6099048" y="2957796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c64801c5-29f6-4f15-822a-b000ccd4c1dc"/>
          <p:cNvSpPr/>
          <p:nvPr/>
        </p:nvSpPr>
        <p:spPr>
          <a:xfrm>
            <a:off x="4494276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舊的 server / client 憑證照常通過</a:t>
            </a:r>
            <a:endParaRPr lang="en-US" sz="1150" dirty="0"/>
          </a:p>
        </p:txBody>
      </p:sp>
      <p:sp>
        <p:nvSpPr>
          <p:cNvPr id="21" name="bc364bd7-d9a6-4000-9549-c0ff257d29db"/>
          <p:cNvSpPr/>
          <p:nvPr/>
        </p:nvSpPr>
        <p:spPr>
          <a:xfrm>
            <a:off x="6099048" y="3636594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23528184-0f65-48d0-b0bc-3a879de2a87b"/>
          <p:cNvSpPr/>
          <p:nvPr/>
        </p:nvSpPr>
        <p:spPr>
          <a:xfrm>
            <a:off x="4494276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不用重簽任何憑證</a:t>
            </a:r>
            <a:endParaRPr lang="en-US" sz="1150" dirty="0"/>
          </a:p>
        </p:txBody>
      </p:sp>
      <p:sp>
        <p:nvSpPr>
          <p:cNvPr id="23" name="1ae6cbf8-b8f4-4b49-b292-2f71368d80b6"/>
          <p:cNvSpPr/>
          <p:nvPr/>
        </p:nvSpPr>
        <p:spPr>
          <a:xfrm>
            <a:off x="4494276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實測:信任庫換成新根,舊的 server / client 憑證照常通過</a:t>
            </a:r>
            <a:endParaRPr lang="en-US" sz="1050" dirty="0"/>
          </a:p>
        </p:txBody>
      </p:sp>
      <p:sp>
        <p:nvSpPr>
          <p:cNvPr id="24" name="5ab23d3b-d04d-4ae5-a89a-2d8fa79dbe8a"/>
          <p:cNvSpPr/>
          <p:nvPr/>
        </p:nvSpPr>
        <p:spPr>
          <a:xfrm>
            <a:off x="8074152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5" name="1a350323-715e-43f8-9e54-2712ebdf1747"/>
          <p:cNvSpPr/>
          <p:nvPr/>
        </p:nvSpPr>
        <p:spPr>
          <a:xfrm>
            <a:off x="8211312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6" name="8c734d82-fb0b-4a19-8024-efbe9c145036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32013" y="1898871"/>
            <a:ext cx="307238" cy="307238"/>
          </a:xfrm>
          <a:prstGeom prst="rect">
            <a:avLst/>
          </a:prstGeom>
        </p:spPr>
      </p:pic>
      <p:sp>
        <p:nvSpPr>
          <p:cNvPr id="27" name="e86ab1d0-4542-4d7e-b6e4-a0259124fab3"/>
          <p:cNvSpPr/>
          <p:nvPr/>
        </p:nvSpPr>
        <p:spPr>
          <a:xfrm>
            <a:off x="8897112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換金鑰</a:t>
            </a:r>
            <a:endParaRPr lang="en-US" sz="1400" dirty="0"/>
          </a:p>
        </p:txBody>
      </p:sp>
      <p:sp>
        <p:nvSpPr>
          <p:cNvPr id="28" name="8b87eb91-1a51-471d-b958-053e2ec816e8"/>
          <p:cNvSpPr/>
          <p:nvPr/>
        </p:nvSpPr>
        <p:spPr>
          <a:xfrm>
            <a:off x="8897112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新根、新金鑰:所有憑證都要重簽</a:t>
            </a:r>
            <a:endParaRPr lang="en-US" sz="1100" dirty="0"/>
          </a:p>
        </p:txBody>
      </p:sp>
      <p:sp>
        <p:nvSpPr>
          <p:cNvPr id="29" name="be74766a-dadb-4a6c-a9b7-a3f0c4185beb"/>
          <p:cNvSpPr/>
          <p:nvPr/>
        </p:nvSpPr>
        <p:spPr>
          <a:xfrm>
            <a:off x="8257032" y="2533547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965dd9b4-aea8-49ce-b614-718fb87ce356"/>
          <p:cNvSpPr/>
          <p:nvPr/>
        </p:nvSpPr>
        <p:spPr>
          <a:xfrm>
            <a:off x="8668512" y="2491122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所有信任庫先放「新舊兩個根」(server + client)</a:t>
            </a:r>
            <a:endParaRPr lang="en-US" sz="1100" dirty="0"/>
          </a:p>
        </p:txBody>
      </p:sp>
      <p:sp>
        <p:nvSpPr>
          <p:cNvPr id="31" name="9ed13951-aab7-4807-9531-89094710cc68"/>
          <p:cNvSpPr/>
          <p:nvPr/>
        </p:nvSpPr>
        <p:spPr>
          <a:xfrm>
            <a:off x="8257032" y="3042645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10020dc2-c380-4f7a-b939-0d6979710fda"/>
          <p:cNvSpPr/>
          <p:nvPr/>
        </p:nvSpPr>
        <p:spPr>
          <a:xfrm>
            <a:off x="8668512" y="3000221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server 憑證(新 CA 簽發)</a:t>
            </a:r>
            <a:endParaRPr lang="en-US" sz="1100" dirty="0"/>
          </a:p>
        </p:txBody>
      </p:sp>
      <p:sp>
        <p:nvSpPr>
          <p:cNvPr id="33" name="5375cebc-5e5a-491b-bf0e-6d52c3b89155"/>
          <p:cNvSpPr/>
          <p:nvPr/>
        </p:nvSpPr>
        <p:spPr>
          <a:xfrm>
            <a:off x="8257032" y="3551744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66294780-8095-4128-9b4a-c4fe028fdeab"/>
          <p:cNvSpPr/>
          <p:nvPr/>
        </p:nvSpPr>
        <p:spPr>
          <a:xfrm>
            <a:off x="8668512" y="3509319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重簽 client 憑證(c3、restproxy、bootstrap、legacy app)</a:t>
            </a:r>
            <a:endParaRPr lang="en-US" sz="1100" dirty="0"/>
          </a:p>
        </p:txBody>
      </p:sp>
      <p:sp>
        <p:nvSpPr>
          <p:cNvPr id="35" name="ac413693-b1f6-4659-b662-58fb7b5442f2"/>
          <p:cNvSpPr/>
          <p:nvPr/>
        </p:nvSpPr>
        <p:spPr>
          <a:xfrm>
            <a:off x="8257032" y="4060842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d3268a9a-9aad-49df-879f-5462d97028ca"/>
          <p:cNvSpPr/>
          <p:nvPr/>
        </p:nvSpPr>
        <p:spPr>
          <a:xfrm>
            <a:off x="8668512" y="4018417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全部確認後,才移除舊根</a:t>
            </a:r>
            <a:endParaRPr lang="en-US" sz="1100" dirty="0"/>
          </a:p>
        </p:txBody>
      </p:sp>
      <p:sp>
        <p:nvSpPr>
          <p:cNvPr id="37" name="2524a92d-7c24-4703-8cc0-aa88c77d4f4b"/>
          <p:cNvSpPr/>
          <p:nvPr/>
        </p:nvSpPr>
        <p:spPr>
          <a:xfrm>
            <a:off x="8257032" y="4502061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先換 server 憑證、client 還沒信任新根 → PKIX 失敗(實測)</a:t>
            </a:r>
            <a:endParaRPr lang="en-US" sz="1000" dirty="0"/>
          </a:p>
        </p:txBody>
      </p:sp>
      <p:sp>
        <p:nvSpPr>
          <p:cNvPr id="38" name="0b70184d-066b-46da-ac86-10c8f0232963"/>
          <p:cNvSpPr/>
          <p:nvPr/>
        </p:nvSpPr>
        <p:spPr>
          <a:xfrm>
            <a:off x="8257032" y="4960249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移除舊根後,舊 CA 簽發且未重簽的 client 憑證被拒(實測)</a:t>
            </a:r>
            <a:endParaRPr lang="en-US" sz="1000" dirty="0"/>
          </a:p>
        </p:txBody>
      </p:sp>
      <p:sp>
        <p:nvSpPr>
          <p:cNvPr id="39" name="a85aef7b-6dd3-4a27-90bc-e76054a08ba6"/>
          <p:cNvSpPr/>
          <p:nvPr/>
        </p:nvSpPr>
        <p:spPr>
          <a:xfrm>
            <a:off x="548640" y="5630562"/>
            <a:ext cx="11091672" cy="551523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官方建議:先更新所有信任庫、再換憑證、逐個元件 rolling restart,每個就緒再做下一個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元件更換順序:先信任、後出示、最後移除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CA 換金鑰的情境:依 demo 實際環境演練整理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7509977-09e2-44d2-8a88-3e1a97dbc20f"/>
          <p:cNvSpPr/>
          <p:nvPr/>
        </p:nvSpPr>
        <p:spPr>
          <a:xfrm>
            <a:off x="3017520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信任庫:新舊並存</a:t>
            </a:r>
            <a:endParaRPr lang="en-US" sz="1200" dirty="0"/>
          </a:p>
        </p:txBody>
      </p:sp>
      <p:sp>
        <p:nvSpPr>
          <p:cNvPr id="3" name="6e453b15-5729-44b4-b0bb-e9c9badccee8"/>
          <p:cNvSpPr/>
          <p:nvPr/>
        </p:nvSpPr>
        <p:spPr>
          <a:xfrm>
            <a:off x="5175504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換 server 憑證</a:t>
            </a:r>
            <a:endParaRPr lang="en-US" sz="1200" dirty="0"/>
          </a:p>
        </p:txBody>
      </p:sp>
      <p:sp>
        <p:nvSpPr>
          <p:cNvPr id="4" name="2422e442-d433-4c78-9621-0586236222de"/>
          <p:cNvSpPr/>
          <p:nvPr/>
        </p:nvSpPr>
        <p:spPr>
          <a:xfrm>
            <a:off x="7333488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重簽 client 憑證</a:t>
            </a:r>
            <a:endParaRPr lang="en-US" sz="1200" dirty="0"/>
          </a:p>
        </p:txBody>
      </p:sp>
      <p:sp>
        <p:nvSpPr>
          <p:cNvPr id="5" name="fbf477d9-65cc-4a6f-bace-b762abde125f"/>
          <p:cNvSpPr/>
          <p:nvPr/>
        </p:nvSpPr>
        <p:spPr>
          <a:xfrm>
            <a:off x="9491472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移除舊根</a:t>
            </a:r>
            <a:endParaRPr lang="en-US" sz="1200" dirty="0"/>
          </a:p>
        </p:txBody>
      </p:sp>
      <p:sp>
        <p:nvSpPr>
          <p:cNvPr id="6" name="15489910-a2f0-4284-b484-86a004af6374"/>
          <p:cNvSpPr/>
          <p:nvPr/>
        </p:nvSpPr>
        <p:spPr>
          <a:xfrm>
            <a:off x="548640" y="2278998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7" name="d5affc58-b0ab-404c-b341-b5d599b7aba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58368" y="2380818"/>
            <a:ext cx="347472" cy="347472"/>
          </a:xfrm>
          <a:prstGeom prst="rect">
            <a:avLst/>
          </a:prstGeom>
        </p:spPr>
      </p:pic>
      <p:sp>
        <p:nvSpPr>
          <p:cNvPr id="8" name="68ca5655-b248-462e-b432-73d7edeb0e6f"/>
          <p:cNvSpPr/>
          <p:nvPr/>
        </p:nvSpPr>
        <p:spPr>
          <a:xfrm>
            <a:off x="1097280" y="2278998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9" name="9fa31062-63f3-4938-bc5a-90c53f943acb"/>
          <p:cNvSpPr/>
          <p:nvPr/>
        </p:nvSpPr>
        <p:spPr>
          <a:xfrm>
            <a:off x="3017520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10" name="4066d354-285a-4936-9d26-ee10f16ed367"/>
          <p:cNvSpPr/>
          <p:nvPr/>
        </p:nvSpPr>
        <p:spPr>
          <a:xfrm>
            <a:off x="5175504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11" name="741ca518-6f45-4d26-a83d-e69d8dfd013e"/>
          <p:cNvSpPr/>
          <p:nvPr/>
        </p:nvSpPr>
        <p:spPr>
          <a:xfrm>
            <a:off x="7333488" y="2278998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2" name="ec3c26d2-1162-4aef-b351-8d8e48313615"/>
          <p:cNvSpPr/>
          <p:nvPr/>
        </p:nvSpPr>
        <p:spPr>
          <a:xfrm>
            <a:off x="9491472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13" name="bff45798-8ba7-4b9e-9714-321f395de5f1"/>
          <p:cNvSpPr/>
          <p:nvPr/>
        </p:nvSpPr>
        <p:spPr>
          <a:xfrm>
            <a:off x="548640" y="2906886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d3abe67e-1c30-4513-8e9c-c23cd246019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8368" y="3008706"/>
            <a:ext cx="347472" cy="347472"/>
          </a:xfrm>
          <a:prstGeom prst="rect">
            <a:avLst/>
          </a:prstGeom>
        </p:spPr>
      </p:pic>
      <p:sp>
        <p:nvSpPr>
          <p:cNvPr id="15" name="c2511953-c895-4e7e-b312-dd9a38744f16"/>
          <p:cNvSpPr/>
          <p:nvPr/>
        </p:nvSpPr>
        <p:spPr>
          <a:xfrm>
            <a:off x="1097280" y="2906886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broker(含 MDS)</a:t>
            </a:r>
            <a:endParaRPr lang="en-US" sz="1200" dirty="0"/>
          </a:p>
        </p:txBody>
      </p:sp>
      <p:sp>
        <p:nvSpPr>
          <p:cNvPr id="16" name="f33526b1-d26c-4095-986a-2c1701318fc5"/>
          <p:cNvSpPr/>
          <p:nvPr/>
        </p:nvSpPr>
        <p:spPr>
          <a:xfrm>
            <a:off x="3017520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7" name="18e6c663-41d2-4ebe-8feb-3872aa7a910b"/>
          <p:cNvSpPr/>
          <p:nvPr/>
        </p:nvSpPr>
        <p:spPr>
          <a:xfrm>
            <a:off x="5175504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8" name="4f1da3a3-94c5-402a-8885-19c300419a11"/>
          <p:cNvSpPr/>
          <p:nvPr/>
        </p:nvSpPr>
        <p:spPr>
          <a:xfrm>
            <a:off x="7333488" y="2906886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9" name="93a97ef0-53cb-45dd-9e3d-ecf34236cb9d"/>
          <p:cNvSpPr/>
          <p:nvPr/>
        </p:nvSpPr>
        <p:spPr>
          <a:xfrm>
            <a:off x="9491472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20" name="37c33988-d177-4a8f-bcf5-b35fc060f90c"/>
          <p:cNvSpPr/>
          <p:nvPr/>
        </p:nvSpPr>
        <p:spPr>
          <a:xfrm>
            <a:off x="548640" y="3534774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1" name="1ae80251-8585-4267-b271-1ddacd024477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658368" y="3636594"/>
            <a:ext cx="347472" cy="347472"/>
          </a:xfrm>
          <a:prstGeom prst="rect">
            <a:avLst/>
          </a:prstGeom>
        </p:spPr>
      </p:pic>
      <p:sp>
        <p:nvSpPr>
          <p:cNvPr id="22" name="7f3be3b0-b4fd-4730-955e-628f8151cee6"/>
          <p:cNvSpPr/>
          <p:nvPr/>
        </p:nvSpPr>
        <p:spPr>
          <a:xfrm>
            <a:off x="1097280" y="3534774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23" name="8ace7f1b-3425-462f-b290-969a67d458b3"/>
          <p:cNvSpPr/>
          <p:nvPr/>
        </p:nvSpPr>
        <p:spPr>
          <a:xfrm>
            <a:off x="3017520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4" name="255b1c71-890b-4e17-ae6d-cc2068d1b643"/>
          <p:cNvSpPr/>
          <p:nvPr/>
        </p:nvSpPr>
        <p:spPr>
          <a:xfrm>
            <a:off x="5175504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5" name="d89bda87-cc6d-420e-b0b4-8966f631f89f"/>
          <p:cNvSpPr/>
          <p:nvPr/>
        </p:nvSpPr>
        <p:spPr>
          <a:xfrm>
            <a:off x="7333488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6" name="84910610-7790-4e99-aae7-1e2006fc22a4"/>
          <p:cNvSpPr/>
          <p:nvPr/>
        </p:nvSpPr>
        <p:spPr>
          <a:xfrm>
            <a:off x="9491472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7" name="3f0d6ef4-7361-472e-b6c0-2b62d3254c44"/>
          <p:cNvSpPr/>
          <p:nvPr/>
        </p:nvSpPr>
        <p:spPr>
          <a:xfrm>
            <a:off x="548640" y="4162662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8" name="50059799-ea10-467f-97d9-0a9ca3a30250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58368" y="4264482"/>
            <a:ext cx="347472" cy="347472"/>
          </a:xfrm>
          <a:prstGeom prst="rect">
            <a:avLst/>
          </a:prstGeom>
        </p:spPr>
      </p:pic>
      <p:sp>
        <p:nvSpPr>
          <p:cNvPr id="29" name="20ea9b79-508a-4bd7-b6a8-fe78644528bb"/>
          <p:cNvSpPr/>
          <p:nvPr/>
        </p:nvSpPr>
        <p:spPr>
          <a:xfrm>
            <a:off x="1097280" y="4162662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200" dirty="0"/>
          </a:p>
        </p:txBody>
      </p:sp>
      <p:sp>
        <p:nvSpPr>
          <p:cNvPr id="30" name="f215a917-9da8-48b2-9752-f42fb1f65436"/>
          <p:cNvSpPr/>
          <p:nvPr/>
        </p:nvSpPr>
        <p:spPr>
          <a:xfrm>
            <a:off x="3017520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1" name="13bc4d42-ed02-4f5c-b244-1ee95b753cef"/>
          <p:cNvSpPr/>
          <p:nvPr/>
        </p:nvSpPr>
        <p:spPr>
          <a:xfrm>
            <a:off x="5175504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2" name="69974c46-62a7-460d-8066-2a0b473f35a7"/>
          <p:cNvSpPr/>
          <p:nvPr/>
        </p:nvSpPr>
        <p:spPr>
          <a:xfrm>
            <a:off x="7333488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3" name="3b6a14ca-d1dd-47e5-8ff1-8122acbda88d"/>
          <p:cNvSpPr/>
          <p:nvPr/>
        </p:nvSpPr>
        <p:spPr>
          <a:xfrm>
            <a:off x="9491472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4" name="e3f468a8-73ed-4544-a75f-6a698d12593d"/>
          <p:cNvSpPr/>
          <p:nvPr/>
        </p:nvSpPr>
        <p:spPr>
          <a:xfrm>
            <a:off x="548640" y="4790550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35" name="99e5235d-2c77-455e-84d5-d5c4f2a246d5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8368" y="4892370"/>
            <a:ext cx="347472" cy="347472"/>
          </a:xfrm>
          <a:prstGeom prst="rect">
            <a:avLst/>
          </a:prstGeom>
        </p:spPr>
      </p:pic>
      <p:sp>
        <p:nvSpPr>
          <p:cNvPr id="36" name="64c58e2a-6f06-44c8-9345-c98aaef46d8c"/>
          <p:cNvSpPr/>
          <p:nvPr/>
        </p:nvSpPr>
        <p:spPr>
          <a:xfrm>
            <a:off x="1097280" y="4790550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/ CLI(client)</a:t>
            </a:r>
            <a:endParaRPr lang="en-US" sz="1200" dirty="0"/>
          </a:p>
        </p:txBody>
      </p:sp>
      <p:sp>
        <p:nvSpPr>
          <p:cNvPr id="37" name="adbd0ba5-a0ef-44d6-849a-a451bd2fb4ed"/>
          <p:cNvSpPr/>
          <p:nvPr/>
        </p:nvSpPr>
        <p:spPr>
          <a:xfrm>
            <a:off x="3017520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信任庫加新根</a:t>
            </a:r>
            <a:endParaRPr lang="en-US" sz="1150" dirty="0"/>
          </a:p>
        </p:txBody>
      </p:sp>
      <p:sp>
        <p:nvSpPr>
          <p:cNvPr id="38" name="bc524db5-c901-46a8-86c9-9b0255554455"/>
          <p:cNvSpPr/>
          <p:nvPr/>
        </p:nvSpPr>
        <p:spPr>
          <a:xfrm>
            <a:off x="5175504" y="4790550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39" name="e848f2b6-4a59-4f1e-ae5f-abd88eb8181f"/>
          <p:cNvSpPr/>
          <p:nvPr/>
        </p:nvSpPr>
        <p:spPr>
          <a:xfrm>
            <a:off x="7333488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換新憑證</a:t>
            </a:r>
            <a:endParaRPr lang="en-US" sz="1150" dirty="0"/>
          </a:p>
        </p:txBody>
      </p:sp>
      <p:sp>
        <p:nvSpPr>
          <p:cNvPr id="40" name="a8032f01-1cfb-478f-8ee7-afab3ac1479a"/>
          <p:cNvSpPr/>
          <p:nvPr/>
        </p:nvSpPr>
        <p:spPr>
          <a:xfrm>
            <a:off x="9491472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信任庫移除舊根</a:t>
            </a:r>
            <a:endParaRPr lang="en-US" sz="1150" dirty="0"/>
          </a:p>
        </p:txBody>
      </p:sp>
      <p:sp>
        <p:nvSpPr>
          <p:cNvPr id="41" name="f618f0ae-ea9a-4b5d-bb1f-61b0af0218c8"/>
          <p:cNvSpPr/>
          <p:nvPr/>
        </p:nvSpPr>
        <p:spPr>
          <a:xfrm>
            <a:off x="548640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每階段:controller → broker(一次一台)→ REST Proxy → C3,就緒才做下一個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官方:信任庫先於憑證、每階段全部元件做完;元件順序參考升級順序</a:t>
            </a:r>
            <a:endParaRPr lang="en-US" sz="1150" dirty="0"/>
          </a:p>
        </p:txBody>
      </p:sp>
      <p:sp>
        <p:nvSpPr>
          <p:cNvPr id="42" name="61ad80f1-d711-41da-86d1-1296ca0df2b5"/>
          <p:cNvSpPr/>
          <p:nvPr/>
        </p:nvSpPr>
        <p:spPr>
          <a:xfrm>
            <a:off x="6199632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只換檔沒重啟,6 個埠仍出示舊憑證(實測)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與 broker 沒有 client 憑證 → ③ 階段不用重啟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Controller(KRaft)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只認內部帳號,人與服務都不直接連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082df39-44d6-44af-9bb2-54c493552cec"/>
          <p:cNvSpPr/>
          <p:nvPr/>
        </p:nvSpPr>
        <p:spPr>
          <a:xfrm>
            <a:off x="54864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3bb43254-b22e-4994-bab3-b82679d31c62"/>
          <p:cNvSpPr/>
          <p:nvPr/>
        </p:nvSpPr>
        <p:spPr>
          <a:xfrm>
            <a:off x="10515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7ed005ad-7661-4019-9f6a-78bf1736058d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172261" y="1966751"/>
            <a:ext cx="307238" cy="307238"/>
          </a:xfrm>
          <a:prstGeom prst="rect">
            <a:avLst/>
          </a:prstGeom>
        </p:spPr>
      </p:pic>
      <p:sp>
        <p:nvSpPr>
          <p:cNvPr id="5" name="9e7e9074-b7b8-4744-a593-856e47ecdc04"/>
          <p:cNvSpPr/>
          <p:nvPr/>
        </p:nvSpPr>
        <p:spPr>
          <a:xfrm>
            <a:off x="54864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1</a:t>
            </a:r>
            <a:endParaRPr lang="en-US" sz="1200" dirty="0"/>
          </a:p>
        </p:txBody>
      </p:sp>
      <p:sp>
        <p:nvSpPr>
          <p:cNvPr id="6" name="3d2c4199-ce90-465c-aa29-29b43204c4b5"/>
          <p:cNvSpPr/>
          <p:nvPr/>
        </p:nvSpPr>
        <p:spPr>
          <a:xfrm>
            <a:off x="228600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7" name="1ac8bca2-cd10-44eb-aff5-6b15d0986358"/>
          <p:cNvSpPr/>
          <p:nvPr/>
        </p:nvSpPr>
        <p:spPr>
          <a:xfrm>
            <a:off x="2788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8" name="d64050ab-3239-42d0-84df-467f3c33321e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2909621" y="1966751"/>
            <a:ext cx="307238" cy="307238"/>
          </a:xfrm>
          <a:prstGeom prst="rect">
            <a:avLst/>
          </a:prstGeom>
        </p:spPr>
      </p:pic>
      <p:sp>
        <p:nvSpPr>
          <p:cNvPr id="9" name="2cc35494-78d7-48e4-89eb-206ded3df0fb"/>
          <p:cNvSpPr/>
          <p:nvPr/>
        </p:nvSpPr>
        <p:spPr>
          <a:xfrm>
            <a:off x="228600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2</a:t>
            </a:r>
            <a:endParaRPr lang="en-US" sz="1200" dirty="0"/>
          </a:p>
        </p:txBody>
      </p:sp>
      <p:sp>
        <p:nvSpPr>
          <p:cNvPr id="10" name="d8421c60-fd38-4956-9ed5-cf65f9bf4022"/>
          <p:cNvSpPr/>
          <p:nvPr/>
        </p:nvSpPr>
        <p:spPr>
          <a:xfrm>
            <a:off x="402336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1" name="0e933142-e029-4d83-8be1-972ab5d57fbb"/>
          <p:cNvSpPr/>
          <p:nvPr/>
        </p:nvSpPr>
        <p:spPr>
          <a:xfrm>
            <a:off x="452628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417770f8-70ea-4c6e-9dc2-dc75079158ba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646981" y="1966751"/>
            <a:ext cx="307238" cy="307238"/>
          </a:xfrm>
          <a:prstGeom prst="rect">
            <a:avLst/>
          </a:prstGeom>
        </p:spPr>
      </p:pic>
      <p:sp>
        <p:nvSpPr>
          <p:cNvPr id="13" name="735dec2f-a370-4f2e-a815-5b0a36138913"/>
          <p:cNvSpPr/>
          <p:nvPr/>
        </p:nvSpPr>
        <p:spPr>
          <a:xfrm>
            <a:off x="402336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3</a:t>
            </a:r>
            <a:endParaRPr lang="en-US" sz="1200" dirty="0"/>
          </a:p>
        </p:txBody>
      </p:sp>
      <p:sp>
        <p:nvSpPr>
          <p:cNvPr id="14" name="3f0be2d2-626a-4f13-84c8-d228a9da918f"/>
          <p:cNvSpPr/>
          <p:nvPr/>
        </p:nvSpPr>
        <p:spPr>
          <a:xfrm>
            <a:off x="548640" y="2957796"/>
            <a:ext cx="50292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Raft quorum:正式環境 3 個;主 demo 1 個</a:t>
            </a:r>
            <a:endParaRPr lang="en-US" sz="1250" dirty="0"/>
          </a:p>
        </p:txBody>
      </p:sp>
      <p:sp>
        <p:nvSpPr>
          <p:cNvPr id="15" name="bca100a1-b1fa-4b2b-9f9b-e4f7d1da0a15"/>
          <p:cNvSpPr/>
          <p:nvPr/>
        </p:nvSpPr>
        <p:spPr>
          <a:xfrm>
            <a:off x="5943600" y="1769899"/>
            <a:ext cx="5696712" cy="2036394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6" name="f143a63c-1cf7-4093-aafd-f649a6594789"/>
          <p:cNvSpPr/>
          <p:nvPr/>
        </p:nvSpPr>
        <p:spPr>
          <a:xfrm>
            <a:off x="6126480" y="1854749"/>
            <a:ext cx="53035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9093</a:t>
            </a:r>
            <a:endParaRPr lang="en-US" sz="1500" dirty="0"/>
          </a:p>
        </p:txBody>
      </p:sp>
      <p:sp>
        <p:nvSpPr>
          <p:cNvPr id="17" name="5b42d2e9-d072-4665-820f-f93494a60a3d"/>
          <p:cNvSpPr/>
          <p:nvPr/>
        </p:nvSpPr>
        <p:spPr>
          <a:xfrm>
            <a:off x="6126480" y="2278998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</a:t>
            </a:r>
            <a:endParaRPr lang="en-US" sz="1200" dirty="0"/>
          </a:p>
        </p:txBody>
      </p:sp>
      <p:sp>
        <p:nvSpPr>
          <p:cNvPr id="18" name="36b2e0b3-bf94-427b-8df5-7074a3e2056c"/>
          <p:cNvSpPr/>
          <p:nvPr/>
        </p:nvSpPr>
        <p:spPr>
          <a:xfrm>
            <a:off x="7772400" y="2278998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200" dirty="0"/>
          </a:p>
        </p:txBody>
      </p:sp>
      <p:sp>
        <p:nvSpPr>
          <p:cNvPr id="19" name="44640440-158a-4d03-912d-e41efb6002b8"/>
          <p:cNvSpPr/>
          <p:nvPr/>
        </p:nvSpPr>
        <p:spPr>
          <a:xfrm>
            <a:off x="9601200" y="2278998"/>
            <a:ext cx="18288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靜態內部帳號</a:t>
            </a:r>
            <a:endParaRPr lang="en-US" sz="1200" dirty="0"/>
          </a:p>
        </p:txBody>
      </p:sp>
      <p:sp>
        <p:nvSpPr>
          <p:cNvPr id="20" name="20bdd05f-f04c-4b24-a5f5-85bc60c6b558"/>
          <p:cNvSpPr/>
          <p:nvPr/>
        </p:nvSpPr>
        <p:spPr>
          <a:xfrm>
            <a:off x="6126480" y="2788096"/>
            <a:ext cx="53035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帳號:kafka-controller · kafka-broker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broker(9092):SCRAM 身分 kafka-controller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授權資料(role binding、使用者→群組)透過 broker 的 RBAC topic 取得</a:t>
            </a:r>
            <a:endParaRPr lang="en-US" sz="1300" dirty="0"/>
          </a:p>
        </p:txBody>
      </p:sp>
      <p:sp>
        <p:nvSpPr>
          <p:cNvPr id="21" name="37a01105-125e-4b30-a141-ba3e2f2c5f24"/>
          <p:cNvSpPr/>
          <p:nvPr/>
        </p:nvSpPr>
        <p:spPr>
          <a:xfrm>
            <a:off x="548640" y="3594169"/>
            <a:ext cx="5029200" cy="933347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2" name="ac8bd9be-32d7-4b7b-ab11-1901633ddfd3"/>
          <p:cNvSpPr/>
          <p:nvPr/>
        </p:nvSpPr>
        <p:spPr>
          <a:xfrm>
            <a:off x="731520" y="3679018"/>
            <a:ext cx="466344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 + super.users</a:t>
            </a:r>
            <a:endParaRPr lang="en-US" sz="1300" dirty="0"/>
          </a:p>
        </p:txBody>
      </p:sp>
      <p:sp>
        <p:nvSpPr>
          <p:cNvPr id="23" name="7ba81df9-7630-4a7b-8947-6e234bb4139f"/>
          <p:cNvSpPr/>
          <p:nvPr/>
        </p:nvSpPr>
        <p:spPr>
          <a:xfrm>
            <a:off x="548640" y="4739640"/>
            <a:ext cx="5029200" cy="8484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4" name="f9b6c620-10cc-43d1-ac7a-9731974a8a86"/>
          <p:cNvSpPr/>
          <p:nvPr/>
        </p:nvSpPr>
        <p:spPr>
          <a:xfrm>
            <a:off x="685800" y="482449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5" name="d08452f8-bb09-4945-9780-de6037312c12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26618" y="4955158"/>
            <a:ext cx="358445" cy="358445"/>
          </a:xfrm>
          <a:prstGeom prst="rect">
            <a:avLst/>
          </a:prstGeom>
        </p:spPr>
      </p:pic>
      <p:sp>
        <p:nvSpPr>
          <p:cNvPr id="26" name="fb8ebdd8-b2ae-4b30-8245-78acd32b780a"/>
          <p:cNvSpPr/>
          <p:nvPr/>
        </p:nvSpPr>
        <p:spPr>
          <a:xfrm>
            <a:off x="1463040" y="4824490"/>
            <a:ext cx="402336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防火牆:9093 只開給 broker / controller 節點</a:t>
            </a:r>
            <a:endParaRPr lang="en-US" sz="1250" dirty="0"/>
          </a:p>
        </p:txBody>
      </p:sp>
      <p:sp>
        <p:nvSpPr>
          <p:cNvPr id="27" name="d897455f-fdf2-4c9f-9f69-c9df38ca03e3"/>
          <p:cNvSpPr/>
          <p:nvPr/>
        </p:nvSpPr>
        <p:spPr>
          <a:xfrm>
            <a:off x="5943600" y="3933568"/>
            <a:ext cx="5696712" cy="1696995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8" name="87034cb3-8660-41c2-8a29-9f20efcd464f"/>
          <p:cNvSpPr/>
          <p:nvPr/>
        </p:nvSpPr>
        <p:spPr>
          <a:xfrm>
            <a:off x="608076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9" name="2e180b6e-15f1-4417-8349-ca1de027fcb7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221578" y="4191511"/>
            <a:ext cx="358445" cy="358445"/>
          </a:xfrm>
          <a:prstGeom prst="rect">
            <a:avLst/>
          </a:prstGeom>
        </p:spPr>
      </p:pic>
      <p:sp>
        <p:nvSpPr>
          <p:cNvPr id="30" name="e2208087-70b6-4a25-9b90-0704d305879b"/>
          <p:cNvSpPr/>
          <p:nvPr/>
        </p:nvSpPr>
        <p:spPr>
          <a:xfrm>
            <a:off x="6903720" y="3992962"/>
            <a:ext cx="4572000" cy="1612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為什麼是 PLAIN 靜態帳號:三種做法逐一排除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不用 SCRAM:官方 SCRAM overview 頁說明 controller listener 不支援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AD:AD 不含服務帳號,而且內部通道一旦依賴 AD,AD 異常時就會牽連叢集本身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mTLS:客戶希望憑證越少越好,不為內部通道另發 client 憑證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因此採用 PLAIN 靜態帳號:帳號寫在 JAAS 設定,不依賴 AD、不另發憑證</a:t>
            </a:r>
            <a:endParaRPr lang="en-US" sz="1400" dirty="0"/>
          </a:p>
        </p:txBody>
      </p:sp>
      <p:sp>
        <p:nvSpPr>
          <p:cNvPr id="31" name="fecc7697-3f26-40d9-94d5-903fd9210920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只認內部帳號;人與服務都不直接連它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Broker:三個 listener,各管一件事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 PLAIN + AD、服務 SCRAM、平台 OAUTHBEARER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8ccbfc3-a6b6-459a-951a-2d13f6726289"/>
          <p:cNvSpPr/>
          <p:nvPr/>
        </p:nvSpPr>
        <p:spPr>
          <a:xfrm>
            <a:off x="548640" y="1727475"/>
            <a:ext cx="2103120" cy="364853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22d5335f-e04e-457f-99f9-0982008e2cae"/>
          <p:cNvSpPr/>
          <p:nvPr/>
        </p:nvSpPr>
        <p:spPr>
          <a:xfrm>
            <a:off x="1051560" y="1897174"/>
            <a:ext cx="1097280" cy="1018197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847289b9-96fc-4eb8-9b84-c9e84efa430b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92962" y="2121177"/>
            <a:ext cx="614477" cy="614477"/>
          </a:xfrm>
          <a:prstGeom prst="rect">
            <a:avLst/>
          </a:prstGeom>
        </p:spPr>
      </p:pic>
      <p:sp>
        <p:nvSpPr>
          <p:cNvPr id="5" name="40f526f5-bbaa-45b2-b5e6-18fa4dfd9108"/>
          <p:cNvSpPr/>
          <p:nvPr/>
        </p:nvSpPr>
        <p:spPr>
          <a:xfrm>
            <a:off x="548640" y="3042645"/>
            <a:ext cx="21031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2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2000" dirty="0"/>
          </a:p>
        </p:txBody>
      </p:sp>
      <p:sp>
        <p:nvSpPr>
          <p:cNvPr id="6" name="aadffb7a-2a54-439f-84a0-e5b24a48cb4a"/>
          <p:cNvSpPr/>
          <p:nvPr/>
        </p:nvSpPr>
        <p:spPr>
          <a:xfrm>
            <a:off x="640080" y="3509319"/>
            <a:ext cx="192024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listener:ssl.client.auth = none</a:t>
            </a:r>
            <a:endParaRPr lang="en-US" sz="1100" dirty="0"/>
          </a:p>
        </p:txBody>
      </p:sp>
      <p:sp>
        <p:nvSpPr>
          <p:cNvPr id="7" name="9e8d029c-b433-4a5a-81cc-4ba81fcb1260"/>
          <p:cNvSpPr/>
          <p:nvPr/>
        </p:nvSpPr>
        <p:spPr>
          <a:xfrm flipV="1">
            <a:off x="2651760" y="2278998"/>
            <a:ext cx="457200" cy="1272746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8" name="6ac96840-05d8-43d8-a732-dd8d65d8f0af"/>
          <p:cNvSpPr/>
          <p:nvPr/>
        </p:nvSpPr>
        <p:spPr>
          <a:xfrm>
            <a:off x="3108960" y="1727475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9" name="a94bf04a-3160-46a1-8e8b-31e82d2e49cc"/>
          <p:cNvSpPr/>
          <p:nvPr/>
        </p:nvSpPr>
        <p:spPr>
          <a:xfrm>
            <a:off x="3246120" y="19820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2b42ecd1-4891-41d5-84fb-1149e0bb91fe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386938" y="2112692"/>
            <a:ext cx="358445" cy="358445"/>
          </a:xfrm>
          <a:prstGeom prst="rect">
            <a:avLst/>
          </a:prstGeom>
        </p:spPr>
      </p:pic>
      <p:sp>
        <p:nvSpPr>
          <p:cNvPr id="11" name="088e1d80-3ee0-4fe8-bbd0-48c264445489"/>
          <p:cNvSpPr/>
          <p:nvPr/>
        </p:nvSpPr>
        <p:spPr>
          <a:xfrm>
            <a:off x="4069080" y="1829294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INTERNAL 9092</a:t>
            </a:r>
            <a:endParaRPr lang="en-US" sz="1700" dirty="0"/>
          </a:p>
        </p:txBody>
      </p:sp>
      <p:sp>
        <p:nvSpPr>
          <p:cNvPr id="12" name="48db5eb9-64d6-44fb-b45a-7fe153671961"/>
          <p:cNvSpPr/>
          <p:nvPr/>
        </p:nvSpPr>
        <p:spPr>
          <a:xfrm>
            <a:off x="4069080" y="2278998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SCRAM-SHA-512</a:t>
            </a:r>
            <a:endParaRPr lang="en-US" sz="1300" dirty="0"/>
          </a:p>
        </p:txBody>
      </p:sp>
      <p:sp>
        <p:nvSpPr>
          <p:cNvPr id="13" name="c2609e30-1ebb-4434-9955-fc0f0f468921"/>
          <p:cNvSpPr/>
          <p:nvPr/>
        </p:nvSpPr>
        <p:spPr>
          <a:xfrm>
            <a:off x="8229600" y="1829294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↔ broker</a:t>
            </a:r>
            <a:endParaRPr lang="en-US" sz="1200" dirty="0"/>
          </a:p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</a:t>
            </a:r>
            <a:endParaRPr lang="en-US" sz="1200" dirty="0"/>
          </a:p>
        </p:txBody>
      </p:sp>
      <p:sp>
        <p:nvSpPr>
          <p:cNvPr id="14" name="abe06e0d-1413-487a-97a4-7e5a051110a9"/>
          <p:cNvSpPr/>
          <p:nvPr/>
        </p:nvSpPr>
        <p:spPr>
          <a:xfrm flipV="1">
            <a:off x="2651760" y="3551744"/>
            <a:ext cx="45720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5" name="e1e1fdd1-1eb7-4fba-bb32-61ec6b9be20d"/>
          <p:cNvSpPr/>
          <p:nvPr/>
        </p:nvSpPr>
        <p:spPr>
          <a:xfrm>
            <a:off x="3108960" y="3000221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6" name="9189dc97-fcf0-40a1-b234-3b43af1ca412"/>
          <p:cNvSpPr/>
          <p:nvPr/>
        </p:nvSpPr>
        <p:spPr>
          <a:xfrm>
            <a:off x="3246120" y="325477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7" name="152a5c5e-adff-47a9-8965-76a1ed768c94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386938" y="3385438"/>
            <a:ext cx="358445" cy="358445"/>
          </a:xfrm>
          <a:prstGeom prst="rect">
            <a:avLst/>
          </a:prstGeom>
        </p:spPr>
      </p:pic>
      <p:sp>
        <p:nvSpPr>
          <p:cNvPr id="18" name="d92239a4-624d-4a60-9ea9-0ee8dcf61bd1"/>
          <p:cNvSpPr/>
          <p:nvPr/>
        </p:nvSpPr>
        <p:spPr>
          <a:xfrm>
            <a:off x="4069080" y="3102040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700" dirty="0"/>
          </a:p>
        </p:txBody>
      </p:sp>
      <p:sp>
        <p:nvSpPr>
          <p:cNvPr id="19" name="69d0e7cf-59d1-4870-90e8-db3403bb23e9"/>
          <p:cNvSpPr/>
          <p:nvPr/>
        </p:nvSpPr>
        <p:spPr>
          <a:xfrm>
            <a:off x="4069080" y="3551744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PLAIN+LDAP / SCRAM / OAUTHBEARER(帶 MDS token)</a:t>
            </a:r>
            <a:endParaRPr lang="en-US" sz="1300" dirty="0"/>
          </a:p>
        </p:txBody>
      </p:sp>
      <p:sp>
        <p:nvSpPr>
          <p:cNvPr id="20" name="62a0accd-2f65-41a1-9f75-bde330a02974"/>
          <p:cNvSpPr/>
          <p:nvPr/>
        </p:nvSpPr>
        <p:spPr>
          <a:xfrm>
            <a:off x="8229600" y="3102040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· 服務 · token</a:t>
            </a:r>
            <a:endParaRPr lang="en-US" sz="1200" dirty="0"/>
          </a:p>
        </p:txBody>
      </p:sp>
      <p:sp>
        <p:nvSpPr>
          <p:cNvPr id="21" name="64ad1729-c751-449c-947e-a0c3a9d68c6a"/>
          <p:cNvSpPr/>
          <p:nvPr/>
        </p:nvSpPr>
        <p:spPr>
          <a:xfrm>
            <a:off x="2651760" y="3551744"/>
            <a:ext cx="457200" cy="1272746"/>
          </a:xfrm>
          <a:prstGeom prst="line">
            <a:avLst/>
          </a:prstGeom>
          <a:noFill/>
          <a:ln w="22225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22" name="b0e483e8-6a8a-49cf-8538-5ac5823f2292"/>
          <p:cNvSpPr/>
          <p:nvPr/>
        </p:nvSpPr>
        <p:spPr>
          <a:xfrm>
            <a:off x="3108960" y="4272966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252ffa83-dc1c-4c36-9ca4-8bb652893723"/>
          <p:cNvSpPr/>
          <p:nvPr/>
        </p:nvSpPr>
        <p:spPr>
          <a:xfrm>
            <a:off x="3246120" y="4527516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1134c7f3-70fd-47bc-8f1d-8f36ffd9260a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3386938" y="4658184"/>
            <a:ext cx="358445" cy="358445"/>
          </a:xfrm>
          <a:prstGeom prst="rect">
            <a:avLst/>
          </a:prstGeom>
        </p:spPr>
      </p:pic>
      <p:sp>
        <p:nvSpPr>
          <p:cNvPr id="25" name="6d33de80-08cf-4395-b186-d8206979b2c9"/>
          <p:cNvSpPr/>
          <p:nvPr/>
        </p:nvSpPr>
        <p:spPr>
          <a:xfrm>
            <a:off x="4069080" y="4374786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8091</a:t>
            </a:r>
            <a:endParaRPr lang="en-US" sz="1700" dirty="0"/>
          </a:p>
        </p:txBody>
      </p:sp>
      <p:sp>
        <p:nvSpPr>
          <p:cNvPr id="26" name="2f16968d-702e-42bd-b181-81d275fa457b"/>
          <p:cNvSpPr/>
          <p:nvPr/>
        </p:nvSpPr>
        <p:spPr>
          <a:xfrm>
            <a:off x="4069080" y="4824490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· Basic(LDAP)/ Bearer / client 憑證(REQUESTED)</a:t>
            </a:r>
            <a:endParaRPr lang="en-US" sz="1300" dirty="0"/>
          </a:p>
        </p:txBody>
      </p:sp>
      <p:sp>
        <p:nvSpPr>
          <p:cNvPr id="27" name="2b7740bc-c9bd-4f0e-8861-24a0a3b310fc"/>
          <p:cNvSpPr/>
          <p:nvPr/>
        </p:nvSpPr>
        <p:spPr>
          <a:xfrm>
            <a:off x="8229600" y="4374786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 · 管理 API</a:t>
            </a:r>
            <a:endParaRPr lang="en-US" sz="1200" dirty="0"/>
          </a:p>
        </p:txBody>
      </p:sp>
      <p:sp>
        <p:nvSpPr>
          <p:cNvPr id="28" name="ad0e3ede-248f-425c-93d6-b07b440e58e8"/>
          <p:cNvSpPr/>
          <p:nvPr/>
        </p:nvSpPr>
        <p:spPr>
          <a:xfrm>
            <a:off x="548640" y="5588137"/>
            <a:ext cx="758952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內部通道不走 AD、不走 mTLS(AD 不含服務帳號、憑證不另發)→ 身分由帳號提供:INTERNAL 用 SCRAM、CONTROLLER 用 PLAIN;LDAP callback 只掛 CLIENT</a:t>
            </a:r>
            <a:endParaRPr lang="en-US" sz="1100" dirty="0"/>
          </a:p>
        </p:txBody>
      </p:sp>
      <p:sp>
        <p:nvSpPr>
          <p:cNvPr id="29" name="ffc22cd3-e7c6-44b9-9a14-5add2bb45a74"/>
          <p:cNvSpPr/>
          <p:nvPr/>
        </p:nvSpPr>
        <p:spPr>
          <a:xfrm>
            <a:off x="8275320" y="5588137"/>
            <a:ext cx="3364992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防火牆:9092 只開給 broker / controller 節點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MDS:RBAC 的中樞(內嵌於 broker)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換 token、管 RBAC、向 AD 查群組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b9c886c-736f-4c70-8d24-859751388ab5"/>
          <p:cNvSpPr/>
          <p:nvPr/>
        </p:nvSpPr>
        <p:spPr>
          <a:xfrm>
            <a:off x="54864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0E2841">
              <a:alpha val="12000"/>
            </a:srgbClr>
          </a:solidFill>
          <a:ln w="19050">
            <a:solidFill>
              <a:srgbClr val="0E2841"/>
            </a:solidFill>
            <a:prstDash val="solid"/>
          </a:ln>
        </p:spPr>
      </p:sp>
      <p:sp>
        <p:nvSpPr>
          <p:cNvPr id="3" name="fc572341-88c1-44a4-a4a7-7ea1094ff3fc"/>
          <p:cNvSpPr/>
          <p:nvPr/>
        </p:nvSpPr>
        <p:spPr>
          <a:xfrm>
            <a:off x="15316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0E2841">
              <a:alpha val="15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4" name="b4537f98-150c-48ef-be57-6a76d6f67dac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652321" y="1966751"/>
            <a:ext cx="307238" cy="307238"/>
          </a:xfrm>
          <a:prstGeom prst="rect">
            <a:avLst/>
          </a:prstGeom>
        </p:spPr>
      </p:pic>
      <p:sp>
        <p:nvSpPr>
          <p:cNvPr id="5" name="3d3dc06a-80c6-406d-bd21-a8f534cff0b4"/>
          <p:cNvSpPr/>
          <p:nvPr/>
        </p:nvSpPr>
        <p:spPr>
          <a:xfrm>
            <a:off x="62179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管理者</a:t>
            </a:r>
            <a:endParaRPr lang="en-US" sz="1400" dirty="0"/>
          </a:p>
        </p:txBody>
      </p:sp>
      <p:sp>
        <p:nvSpPr>
          <p:cNvPr id="6" name="35e3af46-b8ff-4331-ae1b-f1434d885471"/>
          <p:cNvSpPr/>
          <p:nvPr/>
        </p:nvSpPr>
        <p:spPr>
          <a:xfrm>
            <a:off x="64008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 C3 或 API 指派 role binding</a:t>
            </a:r>
            <a:endParaRPr lang="en-US" sz="1150" dirty="0"/>
          </a:p>
        </p:txBody>
      </p:sp>
      <p:sp>
        <p:nvSpPr>
          <p:cNvPr id="7" name="d630d0ac-b1a7-4874-a68d-fbb3c150d9dd"/>
          <p:cNvSpPr/>
          <p:nvPr/>
        </p:nvSpPr>
        <p:spPr>
          <a:xfrm>
            <a:off x="338328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8" name="fed81fc6-7fd7-4db0-9d28-0faad447d159"/>
          <p:cNvSpPr/>
          <p:nvPr/>
        </p:nvSpPr>
        <p:spPr>
          <a:xfrm>
            <a:off x="43662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9" name="77f6dd89-2916-4e20-a34f-e6c6db81f39e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486961" y="1966751"/>
            <a:ext cx="307238" cy="307238"/>
          </a:xfrm>
          <a:prstGeom prst="rect">
            <a:avLst/>
          </a:prstGeom>
        </p:spPr>
      </p:pic>
      <p:sp>
        <p:nvSpPr>
          <p:cNvPr id="10" name="7d22e060-c407-474f-9ec9-74417bbb0119"/>
          <p:cNvSpPr/>
          <p:nvPr/>
        </p:nvSpPr>
        <p:spPr>
          <a:xfrm>
            <a:off x="345643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11" name="357578f4-54c0-4175-9ea4-ff8d90c9da12"/>
          <p:cNvSpPr/>
          <p:nvPr/>
        </p:nvSpPr>
        <p:spPr>
          <a:xfrm>
            <a:off x="347472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認證:Basic(AD)· MDS token(Bearer)· client 憑證(mTLS)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token · 管理 RBAC</a:t>
            </a:r>
            <a:endParaRPr lang="en-US" sz="1150" dirty="0"/>
          </a:p>
        </p:txBody>
      </p:sp>
      <p:sp>
        <p:nvSpPr>
          <p:cNvPr id="12" name="595687c8-8986-42ee-be1e-453ea7f212ed"/>
          <p:cNvSpPr/>
          <p:nvPr/>
        </p:nvSpPr>
        <p:spPr>
          <a:xfrm>
            <a:off x="621792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8bbd29df-504e-41ae-8fd2-d687550840b4"/>
          <p:cNvSpPr/>
          <p:nvPr/>
        </p:nvSpPr>
        <p:spPr>
          <a:xfrm>
            <a:off x="720090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5afdcc04-cc82-46e4-88cc-2dfd16547969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321601" y="1966751"/>
            <a:ext cx="307238" cy="307238"/>
          </a:xfrm>
          <a:prstGeom prst="rect">
            <a:avLst/>
          </a:prstGeom>
        </p:spPr>
      </p:pic>
      <p:sp>
        <p:nvSpPr>
          <p:cNvPr id="15" name="f1e45fc5-63bc-4105-bec7-6a2eeac2e7ff"/>
          <p:cNvSpPr/>
          <p:nvPr/>
        </p:nvSpPr>
        <p:spPr>
          <a:xfrm>
            <a:off x="629107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topic</a:t>
            </a:r>
            <a:endParaRPr lang="en-US" sz="1400" dirty="0"/>
          </a:p>
        </p:txBody>
      </p:sp>
      <p:sp>
        <p:nvSpPr>
          <p:cNvPr id="16" name="00274f4b-2d86-429a-8d71-6965ea0e11a3"/>
          <p:cNvSpPr/>
          <p:nvPr/>
        </p:nvSpPr>
        <p:spPr>
          <a:xfrm>
            <a:off x="630936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role binding 與使用者→群組</a:t>
            </a:r>
            <a:endParaRPr lang="en-US" sz="1150" dirty="0"/>
          </a:p>
        </p:txBody>
      </p:sp>
      <p:sp>
        <p:nvSpPr>
          <p:cNvPr id="17" name="4591592c-18ef-40ab-9adc-d8121d9f3ce8"/>
          <p:cNvSpPr/>
          <p:nvPr/>
        </p:nvSpPr>
        <p:spPr>
          <a:xfrm>
            <a:off x="905256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8" name="f17ad5df-be6d-4e36-baf4-7be9aa68d6be"/>
          <p:cNvSpPr/>
          <p:nvPr/>
        </p:nvSpPr>
        <p:spPr>
          <a:xfrm>
            <a:off x="10035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9" name="7ebbace3-f153-4a04-96d3-aa8883fb26dc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156241" y="1966751"/>
            <a:ext cx="307238" cy="307238"/>
          </a:xfrm>
          <a:prstGeom prst="rect">
            <a:avLst/>
          </a:prstGeom>
        </p:spPr>
      </p:pic>
      <p:sp>
        <p:nvSpPr>
          <p:cNvPr id="20" name="58fda542-2327-46b0-87d6-d62321ead1a0"/>
          <p:cNvSpPr/>
          <p:nvPr/>
        </p:nvSpPr>
        <p:spPr>
          <a:xfrm>
            <a:off x="912571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每台 broker</a:t>
            </a:r>
            <a:endParaRPr lang="en-US" sz="1400" dirty="0"/>
          </a:p>
        </p:txBody>
      </p:sp>
      <p:sp>
        <p:nvSpPr>
          <p:cNvPr id="21" name="310a818c-90bb-4bec-b2c7-49ee71c871cc"/>
          <p:cNvSpPr/>
          <p:nvPr/>
        </p:nvSpPr>
        <p:spPr>
          <a:xfrm>
            <a:off x="914400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讀取並 cache,本地授權</a:t>
            </a:r>
            <a:endParaRPr lang="en-US" sz="1150" dirty="0"/>
          </a:p>
        </p:txBody>
      </p:sp>
      <p:sp>
        <p:nvSpPr>
          <p:cNvPr id="22" name="1726ba2f-86e1-4ec0-b806-80abba345448"/>
          <p:cNvSpPr/>
          <p:nvPr/>
        </p:nvSpPr>
        <p:spPr>
          <a:xfrm>
            <a:off x="306324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8f6be3a3-f004-47a5-a5f5-6fca6fe98d5e"/>
          <p:cNvSpPr/>
          <p:nvPr/>
        </p:nvSpPr>
        <p:spPr>
          <a:xfrm>
            <a:off x="589788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3f1865be-c7a6-40e7-b15d-764482a2030b"/>
          <p:cNvSpPr/>
          <p:nvPr/>
        </p:nvSpPr>
        <p:spPr>
          <a:xfrm>
            <a:off x="873252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1c2c8760-3f48-48ce-a021-8babef20d1a0"/>
          <p:cNvSpPr/>
          <p:nvPr/>
        </p:nvSpPr>
        <p:spPr>
          <a:xfrm>
            <a:off x="3383280" y="3806293"/>
            <a:ext cx="2514600" cy="18666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6" name="b074db06-868c-4437-8085-3e2d65fd866e"/>
          <p:cNvSpPr/>
          <p:nvPr/>
        </p:nvSpPr>
        <p:spPr>
          <a:xfrm>
            <a:off x="436626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7" name="754b270e-491f-4766-9f4d-7cb27e842ac3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486961" y="4045569"/>
            <a:ext cx="307238" cy="307238"/>
          </a:xfrm>
          <a:prstGeom prst="rect">
            <a:avLst/>
          </a:prstGeom>
        </p:spPr>
      </p:pic>
      <p:sp>
        <p:nvSpPr>
          <p:cNvPr id="28" name="e573514c-4d35-4582-a5a0-71ac08f037e8"/>
          <p:cNvSpPr/>
          <p:nvPr/>
        </p:nvSpPr>
        <p:spPr>
          <a:xfrm>
            <a:off x="3456432" y="4527516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AD(LDAP)</a:t>
            </a:r>
            <a:endParaRPr lang="en-US" sz="1400" dirty="0"/>
          </a:p>
        </p:txBody>
      </p:sp>
      <p:sp>
        <p:nvSpPr>
          <p:cNvPr id="29" name="ffc220d0-c274-41ac-87ae-5cfbca9846f5"/>
          <p:cNvSpPr/>
          <p:nvPr/>
        </p:nvSpPr>
        <p:spPr>
          <a:xfrm>
            <a:off x="3474720" y="4909339"/>
            <a:ext cx="2331720" cy="721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唯讀 bind 帳號:搜尋使用者、定期查群組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驗密碼:用使用者自己的 DN + 密碼 simple bind</a:t>
            </a:r>
            <a:endParaRPr lang="en-US" sz="1150" dirty="0"/>
          </a:p>
        </p:txBody>
      </p:sp>
      <p:sp>
        <p:nvSpPr>
          <p:cNvPr id="30" name="d1989de7-6f5d-4612-a1c2-6b6fc23efdcd"/>
          <p:cNvSpPr/>
          <p:nvPr/>
        </p:nvSpPr>
        <p:spPr>
          <a:xfrm>
            <a:off x="4636008" y="3509319"/>
            <a:ext cx="0" cy="296974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a38b6392-9e55-44e7-856f-177077937656"/>
          <p:cNvSpPr/>
          <p:nvPr/>
        </p:nvSpPr>
        <p:spPr>
          <a:xfrm>
            <a:off x="4709160" y="3534774"/>
            <a:ext cx="12801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查詢 / bind</a:t>
            </a:r>
            <a:endParaRPr lang="en-US" sz="1000" dirty="0"/>
          </a:p>
        </p:txBody>
      </p:sp>
      <p:sp>
        <p:nvSpPr>
          <p:cNvPr id="32" name="6fb461e1-a6b7-480f-beac-e34ebef419d6"/>
          <p:cNvSpPr/>
          <p:nvPr/>
        </p:nvSpPr>
        <p:spPr>
          <a:xfrm>
            <a:off x="6217920" y="3806293"/>
            <a:ext cx="5422392" cy="1866694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559ce98f-263a-4d73-9ca9-9a9270cf5987"/>
          <p:cNvSpPr/>
          <p:nvPr/>
        </p:nvSpPr>
        <p:spPr>
          <a:xfrm>
            <a:off x="6400800" y="3891143"/>
            <a:ext cx="50292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重點</a:t>
            </a:r>
            <a:endParaRPr lang="en-US" sz="1500" dirty="0"/>
          </a:p>
        </p:txBody>
      </p:sp>
      <p:sp>
        <p:nvSpPr>
          <p:cNvPr id="34" name="4350869d-7d40-48ed-ba5d-0207a930a1e3"/>
          <p:cNvSpPr/>
          <p:nvPr/>
        </p:nvSpPr>
        <p:spPr>
          <a:xfrm>
            <a:off x="6400800" y="4230542"/>
            <a:ext cx="5074920" cy="144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群組異動在 AD 做,Kafka 端零變更;由一台 broker 擔任 writer 向 AD 查群組(預設 60 秒;demo 5 秒),寫入 RBAC topic,其他 broker 讀取後更新快取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人:Basic(AD 帳密)經 MDS 向 AD 驗證;各 broker 都連 AD,需匯入 AD 的 LDAPS CA root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機器 / 平台元件:client 憑證(mTLS)→ CN 對映成主體 → 向 MDS 換 token;憑證主體只能綁 User:(不支援群組)</a:t>
            </a:r>
            <a:endParaRPr lang="en-US" sz="105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token:JWT,壽命可設(demo 設 1 小時);元件自動重新換;刪除 AD 帳號後,舊 token 到期前仍有效(實測)</a:t>
            </a:r>
            <a:endParaRPr lang="en-US" sz="1050" dirty="0"/>
          </a:p>
        </p:txBody>
      </p:sp>
      <p:sp>
        <p:nvSpPr>
          <p:cNvPr id="35" name="0cc69139-22d3-43b7-aa10-8b097ab99a37"/>
          <p:cNvSpPr/>
          <p:nvPr/>
        </p:nvSpPr>
        <p:spPr>
          <a:xfrm>
            <a:off x="548640" y="3806293"/>
            <a:ext cx="2514600" cy="1866694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6" name="cb01e960-8825-4ac9-b979-24258d2259f6"/>
          <p:cNvSpPr/>
          <p:nvPr/>
        </p:nvSpPr>
        <p:spPr>
          <a:xfrm>
            <a:off x="141732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7" name="05bea127-d3da-4a5b-bed8-c098372e684f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538021" y="4045569"/>
            <a:ext cx="307238" cy="307238"/>
          </a:xfrm>
          <a:prstGeom prst="rect">
            <a:avLst/>
          </a:prstGeom>
        </p:spPr>
      </p:pic>
      <p:sp>
        <p:nvSpPr>
          <p:cNvPr id="38" name="785de319-1f1b-4278-9139-7ff2c1de1ee2"/>
          <p:cNvSpPr/>
          <p:nvPr/>
        </p:nvSpPr>
        <p:spPr>
          <a:xfrm>
            <a:off x="640080" y="4527516"/>
            <a:ext cx="23317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需要 AD 唯讀查詢帳號</a:t>
            </a:r>
            <a:endParaRPr lang="en-US" sz="125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bind DN;不要用真人帳號;建議 LDAPS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AD 群組 → role:依職責分層授權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同一個 AD,不同群組 = 不同權限層級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0dea726-0dd1-4453-ad20-2f13a18b97f7"/>
          <p:cNvSpPr/>
          <p:nvPr/>
        </p:nvSpPr>
        <p:spPr>
          <a:xfrm>
            <a:off x="562356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讀資料</a:t>
            </a:r>
            <a:endParaRPr lang="en-US" sz="1200" dirty="0"/>
          </a:p>
        </p:txBody>
      </p:sp>
      <p:sp>
        <p:nvSpPr>
          <p:cNvPr id="3" name="34992014-20a9-4ed7-8471-8bc20345648d"/>
          <p:cNvSpPr/>
          <p:nvPr/>
        </p:nvSpPr>
        <p:spPr>
          <a:xfrm>
            <a:off x="713232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寫資料</a:t>
            </a:r>
            <a:endParaRPr lang="en-US" sz="1200" dirty="0"/>
          </a:p>
        </p:txBody>
      </p:sp>
      <p:sp>
        <p:nvSpPr>
          <p:cNvPr id="4" name="8e404073-7650-49fe-80aa-850e8a97ad98"/>
          <p:cNvSpPr/>
          <p:nvPr/>
        </p:nvSpPr>
        <p:spPr>
          <a:xfrm>
            <a:off x="864108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 topic(建/刪)</a:t>
            </a:r>
            <a:endParaRPr lang="en-US" sz="1200" dirty="0"/>
          </a:p>
        </p:txBody>
      </p:sp>
      <p:sp>
        <p:nvSpPr>
          <p:cNvPr id="5" name="bf15a228-b734-49f6-9646-1dac631d9ab0"/>
          <p:cNvSpPr/>
          <p:nvPr/>
        </p:nvSpPr>
        <p:spPr>
          <a:xfrm>
            <a:off x="1014984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改授權</a:t>
            </a:r>
            <a:endParaRPr lang="en-US" sz="1200" dirty="0"/>
          </a:p>
        </p:txBody>
      </p:sp>
      <p:sp>
        <p:nvSpPr>
          <p:cNvPr id="6" name="7c459e69-c0b0-4555-a1cf-4449a9faad27"/>
          <p:cNvSpPr/>
          <p:nvPr/>
        </p:nvSpPr>
        <p:spPr>
          <a:xfrm>
            <a:off x="548640" y="2151723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7" name="a42abb76-3d97-4089-9e01-f6116ddac9bf"/>
          <p:cNvSpPr/>
          <p:nvPr/>
        </p:nvSpPr>
        <p:spPr>
          <a:xfrm>
            <a:off x="731520" y="2185663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kafka-developers</a:t>
            </a:r>
            <a:endParaRPr lang="en-US" sz="1300" dirty="0"/>
          </a:p>
        </p:txBody>
      </p:sp>
      <p:sp>
        <p:nvSpPr>
          <p:cNvPr id="8" name="354fb1c8-c1d8-44c5-bf7b-56a7f0ab9e4a"/>
          <p:cNvSpPr/>
          <p:nvPr/>
        </p:nvSpPr>
        <p:spPr>
          <a:xfrm>
            <a:off x="2834640" y="2185663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 / Write(orders. 前綴)</a:t>
            </a:r>
            <a:endParaRPr lang="en-US" sz="1050" dirty="0"/>
          </a:p>
        </p:txBody>
      </p:sp>
      <p:pic>
        <p:nvPicPr>
          <p:cNvPr id="9" name="e6c7e417-b1d0-404a-988d-47a58ca9fff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190488" y="2245058"/>
            <a:ext cx="365760" cy="365760"/>
          </a:xfrm>
          <a:prstGeom prst="rect">
            <a:avLst/>
          </a:prstGeom>
        </p:spPr>
      </p:pic>
      <p:pic>
        <p:nvPicPr>
          <p:cNvPr id="10" name="c8c4aac7-5cb2-40ba-b8b9-8804e96cbfe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699248" y="2245058"/>
            <a:ext cx="365760" cy="365760"/>
          </a:xfrm>
          <a:prstGeom prst="rect">
            <a:avLst/>
          </a:prstGeom>
        </p:spPr>
      </p:pic>
      <p:pic>
        <p:nvPicPr>
          <p:cNvPr id="11" name="4bcf50c6-6689-4c7a-895c-ee47ef4dcf34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208008" y="2245058"/>
            <a:ext cx="365760" cy="365760"/>
          </a:xfrm>
          <a:prstGeom prst="rect">
            <a:avLst/>
          </a:prstGeom>
        </p:spPr>
      </p:pic>
      <p:pic>
        <p:nvPicPr>
          <p:cNvPr id="12" name="a0182605-5c53-48b7-b6f5-b0515bdb18a3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716768" y="2245058"/>
            <a:ext cx="365760" cy="365760"/>
          </a:xfrm>
          <a:prstGeom prst="rect">
            <a:avLst/>
          </a:prstGeom>
        </p:spPr>
      </p:pic>
      <p:sp>
        <p:nvSpPr>
          <p:cNvPr id="13" name="2cf67d6e-6ebc-496d-adad-067b54a743eb"/>
          <p:cNvSpPr/>
          <p:nvPr/>
        </p:nvSpPr>
        <p:spPr>
          <a:xfrm>
            <a:off x="548640" y="2762641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ebd629ba-d75f-4864-b1fd-a655bae75a82"/>
          <p:cNvSpPr/>
          <p:nvPr/>
        </p:nvSpPr>
        <p:spPr>
          <a:xfrm>
            <a:off x="731520" y="2796581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kafka-readonly</a:t>
            </a:r>
            <a:endParaRPr lang="en-US" sz="1300" dirty="0"/>
          </a:p>
        </p:txBody>
      </p:sp>
      <p:sp>
        <p:nvSpPr>
          <p:cNvPr id="15" name="1642a812-e5a6-4c4e-a13b-4fbb6b62538e"/>
          <p:cNvSpPr/>
          <p:nvPr/>
        </p:nvSpPr>
        <p:spPr>
          <a:xfrm>
            <a:off x="2834640" y="2796581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050" dirty="0"/>
          </a:p>
        </p:txBody>
      </p:sp>
      <p:pic>
        <p:nvPicPr>
          <p:cNvPr id="16" name="e20d454f-292c-4719-8335-7b28ba392a8c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190488" y="2855976"/>
            <a:ext cx="365760" cy="365760"/>
          </a:xfrm>
          <a:prstGeom prst="rect">
            <a:avLst/>
          </a:prstGeom>
        </p:spPr>
      </p:pic>
      <p:pic>
        <p:nvPicPr>
          <p:cNvPr id="17" name="a1d41a36-8973-4333-a412-58fe0b716722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699248" y="2855976"/>
            <a:ext cx="365760" cy="365760"/>
          </a:xfrm>
          <a:prstGeom prst="rect">
            <a:avLst/>
          </a:prstGeom>
        </p:spPr>
      </p:pic>
      <p:pic>
        <p:nvPicPr>
          <p:cNvPr id="18" name="c01afbe0-91fe-49cf-902f-ffba980dccc4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9208008" y="2855976"/>
            <a:ext cx="365760" cy="365760"/>
          </a:xfrm>
          <a:prstGeom prst="rect">
            <a:avLst/>
          </a:prstGeom>
        </p:spPr>
      </p:pic>
      <p:pic>
        <p:nvPicPr>
          <p:cNvPr id="19" name="fc37781c-8d3b-40df-a9d2-b59a7ff28dc6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10716768" y="2855976"/>
            <a:ext cx="365760" cy="365760"/>
          </a:xfrm>
          <a:prstGeom prst="rect">
            <a:avLst/>
          </a:prstGeom>
        </p:spPr>
      </p:pic>
      <p:sp>
        <p:nvSpPr>
          <p:cNvPr id="20" name="f6d270ab-1b89-488f-b45b-e5fab088cbc6"/>
          <p:cNvSpPr/>
          <p:nvPr/>
        </p:nvSpPr>
        <p:spPr>
          <a:xfrm>
            <a:off x="548640" y="3373559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a7e39936-2949-48b8-b6e8-d8a58ca9a1d8"/>
          <p:cNvSpPr/>
          <p:nvPr/>
        </p:nvSpPr>
        <p:spPr>
          <a:xfrm>
            <a:off x="731520" y="3407499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</a:t>
            </a:r>
            <a:endParaRPr lang="en-US" sz="1300" dirty="0"/>
          </a:p>
        </p:txBody>
      </p:sp>
      <p:sp>
        <p:nvSpPr>
          <p:cNvPr id="22" name="84d18c83-8ad0-4ac9-bb24-adba1c499083"/>
          <p:cNvSpPr/>
          <p:nvPr/>
        </p:nvSpPr>
        <p:spPr>
          <a:xfrm>
            <a:off x="2834640" y="3407499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 + DeveloperManage(infra. 前綴)</a:t>
            </a:r>
            <a:endParaRPr lang="en-US" sz="1050" dirty="0"/>
          </a:p>
        </p:txBody>
      </p:sp>
      <p:pic>
        <p:nvPicPr>
          <p:cNvPr id="23" name="fb39a63f-2d36-43ef-8fd4-a05d610d8efe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6190488" y="3466894"/>
            <a:ext cx="365760" cy="365760"/>
          </a:xfrm>
          <a:prstGeom prst="rect">
            <a:avLst/>
          </a:prstGeom>
        </p:spPr>
      </p:pic>
      <p:pic>
        <p:nvPicPr>
          <p:cNvPr id="24" name="83687900-e325-4d15-89b8-26d24c3d090f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7699248" y="3466894"/>
            <a:ext cx="365760" cy="365760"/>
          </a:xfrm>
          <a:prstGeom prst="rect">
            <a:avLst/>
          </a:prstGeom>
        </p:spPr>
      </p:pic>
      <p:pic>
        <p:nvPicPr>
          <p:cNvPr id="25" name="106ae917-f122-4f89-b3aa-4cb8a4b6e731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9208008" y="3466894"/>
            <a:ext cx="365760" cy="365760"/>
          </a:xfrm>
          <a:prstGeom prst="rect">
            <a:avLst/>
          </a:prstGeom>
        </p:spPr>
      </p:pic>
      <p:pic>
        <p:nvPicPr>
          <p:cNvPr id="26" name="17ae376b-a9c4-49b5-b163-9c0ff6255430" descr="preencoded.png">    </p:cNvPr>
          <p:cNvPicPr>
            <a:picLocks noChangeAspect="1"/>
          </p:cNvPicPr>
          <p:nvPr/>
        </p:nvPicPr>
        <p:blipFill>
          <a:blip r:embed="rId13-created"/>
          <a:stretch>
            <a:fillRect/>
          </a:stretch>
        </p:blipFill>
        <p:spPr>
          <a:xfrm>
            <a:off x="10716768" y="3466894"/>
            <a:ext cx="365760" cy="365760"/>
          </a:xfrm>
          <a:prstGeom prst="rect">
            <a:avLst/>
          </a:prstGeom>
        </p:spPr>
      </p:pic>
      <p:sp>
        <p:nvSpPr>
          <p:cNvPr id="27" name="d8ba9e81-37ee-4ca6-ad3e-dcfcf537fe34"/>
          <p:cNvSpPr/>
          <p:nvPr/>
        </p:nvSpPr>
        <p:spPr>
          <a:xfrm>
            <a:off x="548640" y="3984477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80291794-b9b8-4a7f-b757-1af4949340cf"/>
          <p:cNvSpPr/>
          <p:nvPr/>
        </p:nvSpPr>
        <p:spPr>
          <a:xfrm>
            <a:off x="731520" y="4018417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kafka-rbac-admins</a:t>
            </a:r>
            <a:endParaRPr lang="en-US" sz="1300" dirty="0"/>
          </a:p>
        </p:txBody>
      </p:sp>
      <p:sp>
        <p:nvSpPr>
          <p:cNvPr id="29" name="35b69267-3132-46f6-b784-2ae0f328047a"/>
          <p:cNvSpPr/>
          <p:nvPr/>
        </p:nvSpPr>
        <p:spPr>
          <a:xfrm>
            <a:off x="2834640" y="4018417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050" dirty="0"/>
          </a:p>
        </p:txBody>
      </p:sp>
      <p:pic>
        <p:nvPicPr>
          <p:cNvPr id="30" name="e79c9095-f309-44be-a986-9d5bddaa17ca" descr="preencoded.png">    </p:cNvPr>
          <p:cNvPicPr>
            <a:picLocks noChangeAspect="1"/>
          </p:cNvPicPr>
          <p:nvPr/>
        </p:nvPicPr>
        <p:blipFill>
          <a:blip r:embed="rId14-created"/>
          <a:stretch>
            <a:fillRect/>
          </a:stretch>
        </p:blipFill>
        <p:spPr>
          <a:xfrm>
            <a:off x="6190488" y="4077812"/>
            <a:ext cx="365760" cy="365760"/>
          </a:xfrm>
          <a:prstGeom prst="rect">
            <a:avLst/>
          </a:prstGeom>
        </p:spPr>
      </p:pic>
      <p:pic>
        <p:nvPicPr>
          <p:cNvPr id="31" name="edcbcf77-4fac-421a-9c22-e898d5c32ef0" descr="preencoded.png">    </p:cNvPr>
          <p:cNvPicPr>
            <a:picLocks noChangeAspect="1"/>
          </p:cNvPicPr>
          <p:nvPr/>
        </p:nvPicPr>
        <p:blipFill>
          <a:blip r:embed="rId15-created"/>
          <a:stretch>
            <a:fillRect/>
          </a:stretch>
        </p:blipFill>
        <p:spPr>
          <a:xfrm>
            <a:off x="7699248" y="4077812"/>
            <a:ext cx="365760" cy="365760"/>
          </a:xfrm>
          <a:prstGeom prst="rect">
            <a:avLst/>
          </a:prstGeom>
        </p:spPr>
      </p:pic>
      <p:pic>
        <p:nvPicPr>
          <p:cNvPr id="32" name="1d256333-a051-48aa-98f1-3e2d58436b46" descr="preencoded.png">    </p:cNvPr>
          <p:cNvPicPr>
            <a:picLocks noChangeAspect="1"/>
          </p:cNvPicPr>
          <p:nvPr/>
        </p:nvPicPr>
        <p:blipFill>
          <a:blip r:embed="rId16-created"/>
          <a:stretch>
            <a:fillRect/>
          </a:stretch>
        </p:blipFill>
        <p:spPr>
          <a:xfrm>
            <a:off x="9208008" y="4077812"/>
            <a:ext cx="365760" cy="365760"/>
          </a:xfrm>
          <a:prstGeom prst="rect">
            <a:avLst/>
          </a:prstGeom>
        </p:spPr>
      </p:pic>
      <p:pic>
        <p:nvPicPr>
          <p:cNvPr id="33" name="0bc46831-c457-4c9f-857d-2521774db9c9" descr="preencoded.png">    </p:cNvPr>
          <p:cNvPicPr>
            <a:picLocks noChangeAspect="1"/>
          </p:cNvPicPr>
          <p:nvPr/>
        </p:nvPicPr>
        <p:blipFill>
          <a:blip r:embed="rId17-created"/>
          <a:stretch>
            <a:fillRect/>
          </a:stretch>
        </p:blipFill>
        <p:spPr>
          <a:xfrm>
            <a:off x="10716768" y="4077812"/>
            <a:ext cx="365760" cy="365760"/>
          </a:xfrm>
          <a:prstGeom prst="rect">
            <a:avLst/>
          </a:prstGeom>
        </p:spPr>
      </p:pic>
      <p:sp>
        <p:nvSpPr>
          <p:cNvPr id="34" name="26833228-c19e-49f6-b599-c92eaa3c1ca2"/>
          <p:cNvSpPr/>
          <p:nvPr/>
        </p:nvSpPr>
        <p:spPr>
          <a:xfrm>
            <a:off x="548640" y="4595395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5" name="e54621c1-5eef-460e-8ec3-5f283da6d3ae"/>
          <p:cNvSpPr/>
          <p:nvPr/>
        </p:nvSpPr>
        <p:spPr>
          <a:xfrm>
            <a:off x="731520" y="4629335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kafka-admins</a:t>
            </a:r>
            <a:endParaRPr lang="en-US" sz="1300" dirty="0"/>
          </a:p>
        </p:txBody>
      </p:sp>
      <p:sp>
        <p:nvSpPr>
          <p:cNvPr id="36" name="d32179e8-1173-402a-937f-1f6319d178e5"/>
          <p:cNvSpPr/>
          <p:nvPr/>
        </p:nvSpPr>
        <p:spPr>
          <a:xfrm>
            <a:off x="2834640" y="4629335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SystemAdmin(break-glass)</a:t>
            </a:r>
            <a:endParaRPr lang="en-US" sz="1050" dirty="0"/>
          </a:p>
        </p:txBody>
      </p:sp>
      <p:pic>
        <p:nvPicPr>
          <p:cNvPr id="37" name="65b3d259-1091-427e-8cf7-1857dcc1fee4" descr="preencoded.png">    </p:cNvPr>
          <p:cNvPicPr>
            <a:picLocks noChangeAspect="1"/>
          </p:cNvPicPr>
          <p:nvPr/>
        </p:nvPicPr>
        <p:blipFill>
          <a:blip r:embed="rId18-created"/>
          <a:stretch>
            <a:fillRect/>
          </a:stretch>
        </p:blipFill>
        <p:spPr>
          <a:xfrm>
            <a:off x="6190488" y="4688730"/>
            <a:ext cx="365760" cy="365760"/>
          </a:xfrm>
          <a:prstGeom prst="rect">
            <a:avLst/>
          </a:prstGeom>
        </p:spPr>
      </p:pic>
      <p:pic>
        <p:nvPicPr>
          <p:cNvPr id="38" name="30c1df9f-37d9-4c11-894b-026093b9bb6f" descr="preencoded.png">    </p:cNvPr>
          <p:cNvPicPr>
            <a:picLocks noChangeAspect="1"/>
          </p:cNvPicPr>
          <p:nvPr/>
        </p:nvPicPr>
        <p:blipFill>
          <a:blip r:embed="rId19-created"/>
          <a:stretch>
            <a:fillRect/>
          </a:stretch>
        </p:blipFill>
        <p:spPr>
          <a:xfrm>
            <a:off x="7699248" y="4688730"/>
            <a:ext cx="365760" cy="365760"/>
          </a:xfrm>
          <a:prstGeom prst="rect">
            <a:avLst/>
          </a:prstGeom>
        </p:spPr>
      </p:pic>
      <p:pic>
        <p:nvPicPr>
          <p:cNvPr id="39" name="4d961320-3b3d-4b0c-a88b-a7e3f21d93c5" descr="preencoded.png">    </p:cNvPr>
          <p:cNvPicPr>
            <a:picLocks noChangeAspect="1"/>
          </p:cNvPicPr>
          <p:nvPr/>
        </p:nvPicPr>
        <p:blipFill>
          <a:blip r:embed="rId20-created"/>
          <a:stretch>
            <a:fillRect/>
          </a:stretch>
        </p:blipFill>
        <p:spPr>
          <a:xfrm>
            <a:off x="9208008" y="4688730"/>
            <a:ext cx="365760" cy="365760"/>
          </a:xfrm>
          <a:prstGeom prst="rect">
            <a:avLst/>
          </a:prstGeom>
        </p:spPr>
      </p:pic>
      <p:pic>
        <p:nvPicPr>
          <p:cNvPr id="40" name="3d6fdd09-65ce-4422-947f-92f7aa3b94df" descr="preencoded.png">    </p:cNvPr>
          <p:cNvPicPr>
            <a:picLocks noChangeAspect="1"/>
          </p:cNvPicPr>
          <p:nvPr/>
        </p:nvPicPr>
        <p:blipFill>
          <a:blip r:embed="rId21-created"/>
          <a:stretch>
            <a:fillRect/>
          </a:stretch>
        </p:blipFill>
        <p:spPr>
          <a:xfrm>
            <a:off x="10716768" y="4688730"/>
            <a:ext cx="365760" cy="365760"/>
          </a:xfrm>
          <a:prstGeom prst="rect">
            <a:avLst/>
          </a:prstGeom>
        </p:spPr>
      </p:pic>
      <p:sp>
        <p:nvSpPr>
          <p:cNvPr id="41" name="8a52972e-5d33-47e2-bd00-6522b9010e24"/>
          <p:cNvSpPr/>
          <p:nvPr/>
        </p:nvSpPr>
        <p:spPr>
          <a:xfrm>
            <a:off x="297180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2" name="4b35988b-e24a-4cf0-bc23-31899d3a6979"/>
          <p:cNvSpPr/>
          <p:nvPr/>
        </p:nvSpPr>
        <p:spPr>
          <a:xfrm>
            <a:off x="54864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加入群組</a:t>
            </a:r>
            <a:endParaRPr lang="en-US" sz="1400" dirty="0"/>
          </a:p>
        </p:txBody>
      </p:sp>
      <p:sp>
        <p:nvSpPr>
          <p:cNvPr id="43" name="d5f2469c-6de4-4971-b4aa-d37df5c59c9a"/>
          <p:cNvSpPr/>
          <p:nvPr/>
        </p:nvSpPr>
        <p:spPr>
          <a:xfrm>
            <a:off x="576072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4" name="bf57b87d-f3de-4e87-98fb-a50d8ebf74da"/>
          <p:cNvSpPr/>
          <p:nvPr/>
        </p:nvSpPr>
        <p:spPr>
          <a:xfrm>
            <a:off x="333756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做事</a:t>
            </a:r>
            <a:endParaRPr lang="en-US" sz="1400" dirty="0"/>
          </a:p>
        </p:txBody>
      </p:sp>
      <p:sp>
        <p:nvSpPr>
          <p:cNvPr id="45" name="921b5be5-fbdb-4049-82e1-b1449bbb3462"/>
          <p:cNvSpPr/>
          <p:nvPr/>
        </p:nvSpPr>
        <p:spPr>
          <a:xfrm>
            <a:off x="854964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6" name="924899c0-ad64-4e86-8bdb-e9c61c7c0ca7"/>
          <p:cNvSpPr/>
          <p:nvPr/>
        </p:nvSpPr>
        <p:spPr>
          <a:xfrm>
            <a:off x="612648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移出群組</a:t>
            </a:r>
            <a:endParaRPr lang="en-US" sz="1400" dirty="0"/>
          </a:p>
        </p:txBody>
      </p:sp>
      <p:sp>
        <p:nvSpPr>
          <p:cNvPr id="47" name="faa5d26a-033a-4940-b8b9-8b99ea73994f"/>
          <p:cNvSpPr/>
          <p:nvPr/>
        </p:nvSpPr>
        <p:spPr>
          <a:xfrm>
            <a:off x="891540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留痕</a:t>
            </a:r>
            <a:endParaRPr lang="en-US" sz="1400" dirty="0"/>
          </a:p>
        </p:txBody>
      </p:sp>
      <p:sp>
        <p:nvSpPr>
          <p:cNvPr id="48" name="59e1f020-6c71-4a16-ab6a-77d894d1cdc4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臨時提權:依單據加進 kafka-ops / kafka-rbac-admins,做完移出;移出後最長約 60 秒(預設刷新)才收回,Kafka 端零變更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十個內建角色,依「綁在叢集」或「綁在資源」分兩類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bdfb9a8a-32bf-4617-bc04-b957699d7b69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3" name="4316a9ea-a82d-41f5-8bfa-283ace9c1c12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" name="a39c08e8-5eee-428b-ae4f-a457cc12aead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2bb4174a-430c-4152-aa87-a127eb79e4be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6" name="aae2828c-20cf-4211-8bc2-13227e5b3a97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d496f985-2318-432e-a3a8-a5107e3aa690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8" name="4fc2e233-f1ca-4c4f-876a-eb94ad3607f0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7e0b5688-4ea4-458f-a544-68dd4c478df4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b988f3b2-d922-4eb7-91b6-d722c71f62df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250de39f-f8e7-427f-b862-1a46cd80af75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009fdffe-d7bd-448b-aa71-742f58794d85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b7b2d85e-e558-4a1f-bf35-b31b05321288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只檢視授權設定,不能改</a:t>
            </a:r>
            <a:endParaRPr lang="en-US" sz="1100" dirty="0"/>
          </a:p>
        </p:txBody>
      </p:sp>
      <p:sp>
        <p:nvSpPr>
          <p:cNvPr id="14" name="a8f26de4-37b2-4194-b334-bc1c38263e4e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37ffdbec-5243-4c53-9eec-3dbec49e725a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ce3a0ea9-706d-46df-a6d9-7cb8e68ef6c0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aaddf554-b569-4d9d-84e8-c618d60464e4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ace49e03-1e4f-47bb-9a91-e5011923da16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f2a8dd53-ca4e-48eb-acd2-1eec99964ef2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7f4bb154-7fb3-486b-9b42-69590a1dc707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b4f1d381-4782-42c9-916e-2f3aa9752ab4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a882a552-c432-4c82-8776-418013159180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1e8236a9-8495-41e1-aa1f-72ed5660ea8b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b4b9ed20-1533-4e7f-b414-afb7ca43ee03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ad8f1965-8bc6-4797-9cbd-17c48212df62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54a996bb-e106-4e07-b952-ce406f934159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a6c05865-eca3-494f-9af5-8cb69387f941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e8d2d6ec-8f6d-49d7-9513-f0ceb77daccf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f33b6a57-8130-473a-8bb8-d98883ccb38c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59e4124b-6a10-4763-a183-82c5a4af9d58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7f304dcf-afad-4b0e-b5a2-5a34813fb801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</a:t>
            </a:r>
            <a:endParaRPr lang="en-US" sz="1200" dirty="0"/>
          </a:p>
        </p:txBody>
      </p:sp>
      <p:sp>
        <p:nvSpPr>
          <p:cNvPr id="32" name="291ebf0e-9750-4677-90ff-5a57b4358eff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0d42c7c6-7f42-45a5-831b-c2b2829292c7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0cfd739c-6908-4691-9dcb-70eb895e8ea8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714ede43-80b7-4cbb-a96c-afecfba98109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334ac4f8-b96d-44e1-b1c8-d423bd76842d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5a3825d3-0fe7-455c-899a-adf5dd7207fb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本專案的例子</a:t>
            </a:r>
            <a:endParaRPr lang="en-US" sz="1100" dirty="0"/>
          </a:p>
        </p:txBody>
      </p:sp>
      <p:sp>
        <p:nvSpPr>
          <p:cNvPr id="38" name="61e7f2e4-b997-475e-ab71-a8c056293b46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Operator @ 叢集</a:t>
            </a:r>
            <a:endParaRPr lang="en-US" sz="1000" dirty="0"/>
          </a:p>
        </p:txBody>
      </p:sp>
      <p:sp>
        <p:nvSpPr>
          <p:cNvPr id="39" name="ad5acd44-354c-4fc9-a4b5-df430c6aa8d8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DeveloperManage @ infra.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服務帳號:SCRAM,不放 AD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沒有服務帳號 → SCRAM + 最小權限 + 輪替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d76236c-8ae4-4b5a-9572-6554aa2d242e"/>
          <p:cNvSpPr/>
          <p:nvPr/>
        </p:nvSpPr>
        <p:spPr>
          <a:xfrm>
            <a:off x="548640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40b08762-7a23-4da5-b84d-ae3c971d2648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c3ee1bc4-5c38-428d-8eae-b81fe1373e30"/>
          <p:cNvSpPr/>
          <p:nvPr/>
        </p:nvSpPr>
        <p:spPr>
          <a:xfrm>
            <a:off x="640080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</a:t>
            </a:r>
            <a:endParaRPr lang="en-US" sz="1400" dirty="0"/>
          </a:p>
        </p:txBody>
      </p:sp>
      <p:sp>
        <p:nvSpPr>
          <p:cNvPr id="5" name="5fd67610-c420-463d-82c3-0b5557503a40"/>
          <p:cNvSpPr/>
          <p:nvPr/>
        </p:nvSpPr>
        <p:spPr>
          <a:xfrm>
            <a:off x="640080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kafka-configs 在 Kafka 內建立</a:t>
            </a:r>
            <a:endParaRPr lang="en-US" sz="1100" dirty="0"/>
          </a:p>
        </p:txBody>
      </p:sp>
      <p:sp>
        <p:nvSpPr>
          <p:cNvPr id="6" name="404c48b8-ce1c-430d-8272-2e5796a4bba5"/>
          <p:cNvSpPr/>
          <p:nvPr/>
        </p:nvSpPr>
        <p:spPr>
          <a:xfrm>
            <a:off x="2560320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c45fe0c7-cc34-4df1-9ff8-e954929d6bc1"/>
          <p:cNvSpPr/>
          <p:nvPr/>
        </p:nvSpPr>
        <p:spPr>
          <a:xfrm>
            <a:off x="2816352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776fb73e-c901-4af4-a11c-fa6b2cc5fa04"/>
          <p:cNvSpPr/>
          <p:nvPr/>
        </p:nvSpPr>
        <p:spPr>
          <a:xfrm>
            <a:off x="2926080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576d0ec8-6bd2-4aa4-a3c8-96d196a941d8"/>
          <p:cNvSpPr/>
          <p:nvPr/>
        </p:nvSpPr>
        <p:spPr>
          <a:xfrm>
            <a:off x="2907792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400" dirty="0"/>
          </a:p>
        </p:txBody>
      </p:sp>
      <p:sp>
        <p:nvSpPr>
          <p:cNvPr id="10" name="eef5bb13-cd1e-4afb-861e-2b6a876b29a8"/>
          <p:cNvSpPr/>
          <p:nvPr/>
        </p:nvSpPr>
        <p:spPr>
          <a:xfrm>
            <a:off x="2907792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綁 User:svc-x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前綴最小權限</a:t>
            </a:r>
            <a:endParaRPr lang="en-US" sz="1100" dirty="0"/>
          </a:p>
        </p:txBody>
      </p:sp>
      <p:sp>
        <p:nvSpPr>
          <p:cNvPr id="11" name="9c3d4834-4aba-4b7e-91d5-2ef80cdb1db7"/>
          <p:cNvSpPr/>
          <p:nvPr/>
        </p:nvSpPr>
        <p:spPr>
          <a:xfrm>
            <a:off x="4828032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7703cd90-f4b8-453a-ad6f-ec456487ee64"/>
          <p:cNvSpPr/>
          <p:nvPr/>
        </p:nvSpPr>
        <p:spPr>
          <a:xfrm>
            <a:off x="5084064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8dd974b3-37d9-4fdf-9099-3a19ccb00f17"/>
          <p:cNvSpPr/>
          <p:nvPr/>
        </p:nvSpPr>
        <p:spPr>
          <a:xfrm>
            <a:off x="5193792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7c97ef2a-d179-4645-a5e1-4a4cae57b6be"/>
          <p:cNvSpPr/>
          <p:nvPr/>
        </p:nvSpPr>
        <p:spPr>
          <a:xfrm>
            <a:off x="5175504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</a:t>
            </a:r>
            <a:endParaRPr lang="en-US" sz="1400" dirty="0"/>
          </a:p>
        </p:txBody>
      </p:sp>
      <p:sp>
        <p:nvSpPr>
          <p:cNvPr id="15" name="4c61e9d7-053e-463f-9b9a-c7a86119accc"/>
          <p:cNvSpPr/>
          <p:nvPr/>
        </p:nvSpPr>
        <p:spPr>
          <a:xfrm>
            <a:off x="5175504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設定檔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權限 600</a:t>
            </a:r>
            <a:endParaRPr lang="en-US" sz="1100" dirty="0"/>
          </a:p>
        </p:txBody>
      </p:sp>
      <p:sp>
        <p:nvSpPr>
          <p:cNvPr id="16" name="63e4cf75-acda-4719-9448-00727bc44321"/>
          <p:cNvSpPr/>
          <p:nvPr/>
        </p:nvSpPr>
        <p:spPr>
          <a:xfrm>
            <a:off x="7095744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7" name="c28ec351-dbb5-437b-bfe4-1fc3ae0cdd98"/>
          <p:cNvSpPr/>
          <p:nvPr/>
        </p:nvSpPr>
        <p:spPr>
          <a:xfrm>
            <a:off x="7351776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bdd1f8e8-4d9f-4c7b-a0d7-8d9d1ddfd1c6"/>
          <p:cNvSpPr/>
          <p:nvPr/>
        </p:nvSpPr>
        <p:spPr>
          <a:xfrm>
            <a:off x="7461504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7c9056fe-6669-43f7-bb5b-0d2e3c5b27ba"/>
          <p:cNvSpPr/>
          <p:nvPr/>
        </p:nvSpPr>
        <p:spPr>
          <a:xfrm>
            <a:off x="7443216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</a:t>
            </a:r>
            <a:endParaRPr lang="en-US" sz="1400" dirty="0"/>
          </a:p>
        </p:txBody>
      </p:sp>
      <p:sp>
        <p:nvSpPr>
          <p:cNvPr id="20" name="de13f471-d5c8-4b1f-93e0-9d08ebf39ac1"/>
          <p:cNvSpPr/>
          <p:nvPr/>
        </p:nvSpPr>
        <p:spPr>
          <a:xfrm>
            <a:off x="7443216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新帳號並行 → 切換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停舊</a:t>
            </a:r>
            <a:endParaRPr lang="en-US" sz="1100" dirty="0"/>
          </a:p>
        </p:txBody>
      </p:sp>
      <p:sp>
        <p:nvSpPr>
          <p:cNvPr id="21" name="12a8bf93-c6f7-477d-9c3b-b795e57207c5"/>
          <p:cNvSpPr/>
          <p:nvPr/>
        </p:nvSpPr>
        <p:spPr>
          <a:xfrm>
            <a:off x="9363456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2" name="220e785b-f59b-441f-83c2-263eb9fc4235"/>
          <p:cNvSpPr/>
          <p:nvPr/>
        </p:nvSpPr>
        <p:spPr>
          <a:xfrm>
            <a:off x="9619488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3" name="b48905a7-0240-4554-bfc9-b6c83276da58"/>
          <p:cNvSpPr/>
          <p:nvPr/>
        </p:nvSpPr>
        <p:spPr>
          <a:xfrm>
            <a:off x="9729216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b964c619-eaef-4102-b6f3-6caa9c08d28e"/>
          <p:cNvSpPr/>
          <p:nvPr/>
        </p:nvSpPr>
        <p:spPr>
          <a:xfrm>
            <a:off x="9710928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保管</a:t>
            </a:r>
            <a:endParaRPr lang="en-US" sz="1400" dirty="0"/>
          </a:p>
        </p:txBody>
      </p:sp>
      <p:sp>
        <p:nvSpPr>
          <p:cNvPr id="25" name="acf2d896-6a6b-4e8f-962a-1c987adafb02"/>
          <p:cNvSpPr/>
          <p:nvPr/>
        </p:nvSpPr>
        <p:spPr>
          <a:xfrm>
            <a:off x="9710928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密碼放密碼庫</a:t>
            </a:r>
            <a:endParaRPr lang="en-US" sz="1100" dirty="0"/>
          </a:p>
        </p:txBody>
      </p:sp>
      <p:sp>
        <p:nvSpPr>
          <p:cNvPr id="26" name="2086c122-2126-4a93-85d5-9d62c4ad7676"/>
          <p:cNvSpPr/>
          <p:nvPr/>
        </p:nvSpPr>
        <p:spPr>
          <a:xfrm>
            <a:off x="54864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7" name="63330813-bbfd-4cea-97af-b3a7cc676944"/>
          <p:cNvSpPr/>
          <p:nvPr/>
        </p:nvSpPr>
        <p:spPr>
          <a:xfrm>
            <a:off x="73152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8" name="4abd426a-dfab-470c-8f65-23b43b8cd9ff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4021811"/>
            <a:ext cx="358445" cy="358445"/>
          </a:xfrm>
          <a:prstGeom prst="rect">
            <a:avLst/>
          </a:prstGeom>
        </p:spPr>
      </p:pic>
      <p:sp>
        <p:nvSpPr>
          <p:cNvPr id="29" name="f11626a1-b8ec-4c6c-963a-856b95dc5331"/>
          <p:cNvSpPr/>
          <p:nvPr/>
        </p:nvSpPr>
        <p:spPr>
          <a:xfrm>
            <a:off x="150876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帳密存在 Kafka(KRaft)內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不在 AD</a:t>
            </a:r>
            <a:endParaRPr lang="en-US" sz="1300" dirty="0"/>
          </a:p>
        </p:txBody>
      </p:sp>
      <p:sp>
        <p:nvSpPr>
          <p:cNvPr id="30" name="01925c25-000d-4cc4-b809-4ea1afca69b2"/>
          <p:cNvSpPr/>
          <p:nvPr/>
        </p:nvSpPr>
        <p:spPr>
          <a:xfrm>
            <a:off x="425196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1" name="ff166c00-85a2-4b46-bf3b-0235bdb3c253"/>
          <p:cNvSpPr/>
          <p:nvPr/>
        </p:nvSpPr>
        <p:spPr>
          <a:xfrm>
            <a:off x="443484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2" name="088dbcf4-6c54-4c52-aabd-84c1729a5a4e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5658" y="4021811"/>
            <a:ext cx="358445" cy="358445"/>
          </a:xfrm>
          <a:prstGeom prst="rect">
            <a:avLst/>
          </a:prstGeom>
        </p:spPr>
      </p:pic>
      <p:sp>
        <p:nvSpPr>
          <p:cNvPr id="33" name="4b92df00-83a1-48ef-bda6-b8b24cfb6db9"/>
          <p:cNvSpPr/>
          <p:nvPr/>
        </p:nvSpPr>
        <p:spPr>
          <a:xfrm>
            <a:off x="521208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密碼不會自動到期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要有輪替流程與提醒</a:t>
            </a:r>
            <a:endParaRPr lang="en-US" sz="1300" dirty="0"/>
          </a:p>
        </p:txBody>
      </p:sp>
      <p:sp>
        <p:nvSpPr>
          <p:cNvPr id="34" name="00ca19af-e465-4eba-8644-664393ec5a33"/>
          <p:cNvSpPr/>
          <p:nvPr/>
        </p:nvSpPr>
        <p:spPr>
          <a:xfrm>
            <a:off x="7955280" y="3721443"/>
            <a:ext cx="3685032" cy="1018197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5" name="1a366573-289c-4d26-9278-f78619f71120"/>
          <p:cNvSpPr/>
          <p:nvPr/>
        </p:nvSpPr>
        <p:spPr>
          <a:xfrm>
            <a:off x="813816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6" name="1d5f2a2a-9992-4bd1-a1c6-12a797943dff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278978" y="4021811"/>
            <a:ext cx="358445" cy="358445"/>
          </a:xfrm>
          <a:prstGeom prst="rect">
            <a:avLst/>
          </a:prstGeom>
        </p:spPr>
      </p:pic>
      <p:sp>
        <p:nvSpPr>
          <p:cNvPr id="37" name="773a0d23-850a-47dd-99d2-b3b84f33efe5"/>
          <p:cNvSpPr/>
          <p:nvPr/>
        </p:nvSpPr>
        <p:spPr>
          <a:xfrm>
            <a:off x="8915400" y="3806293"/>
            <a:ext cx="26517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不走 AD 登入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沒有服務帳號</a:t>
            </a:r>
            <a:endParaRPr lang="en-US" sz="1300" dirty="0"/>
          </a:p>
        </p:txBody>
      </p:sp>
      <p:sp>
        <p:nvSpPr>
          <p:cNvPr id="38" name="5b0d2bce-9b8d-4996-8957-b27d7a7962f6"/>
          <p:cNvSpPr/>
          <p:nvPr/>
        </p:nvSpPr>
        <p:spPr>
          <a:xfrm>
            <a:off x="548640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建新帳號 svc-x-v2</a:t>
            </a:r>
            <a:endParaRPr lang="en-US" sz="1200" dirty="0"/>
          </a:p>
        </p:txBody>
      </p:sp>
      <p:sp>
        <p:nvSpPr>
          <p:cNvPr id="39" name="40387aa7-fe0c-4644-8b14-da8ff4ddc212"/>
          <p:cNvSpPr/>
          <p:nvPr/>
        </p:nvSpPr>
        <p:spPr>
          <a:xfrm>
            <a:off x="3063240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0" name="846066de-1c08-47ae-8d37-eefe517165f4"/>
          <p:cNvSpPr/>
          <p:nvPr/>
        </p:nvSpPr>
        <p:spPr>
          <a:xfrm>
            <a:off x="3410712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重綁相同 role</a:t>
            </a:r>
            <a:endParaRPr lang="en-US" sz="1200" dirty="0"/>
          </a:p>
        </p:txBody>
      </p:sp>
      <p:sp>
        <p:nvSpPr>
          <p:cNvPr id="41" name="5c981300-523f-4cd2-885c-2638e28f6045"/>
          <p:cNvSpPr/>
          <p:nvPr/>
        </p:nvSpPr>
        <p:spPr>
          <a:xfrm>
            <a:off x="5925312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2" name="bbbf574a-de88-4f8d-bf6c-57b52813d3ee"/>
          <p:cNvSpPr/>
          <p:nvPr/>
        </p:nvSpPr>
        <p:spPr>
          <a:xfrm>
            <a:off x="6272784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應用逐步切換</a:t>
            </a:r>
            <a:endParaRPr lang="en-US" sz="1200" dirty="0"/>
          </a:p>
        </p:txBody>
      </p:sp>
      <p:sp>
        <p:nvSpPr>
          <p:cNvPr id="43" name="47da138e-a669-4a8b-ac04-5effc41eb192"/>
          <p:cNvSpPr/>
          <p:nvPr/>
        </p:nvSpPr>
        <p:spPr>
          <a:xfrm>
            <a:off x="8787384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4" name="181748b3-2f07-417e-8fca-23e1ba8fc06e"/>
          <p:cNvSpPr/>
          <p:nvPr/>
        </p:nvSpPr>
        <p:spPr>
          <a:xfrm>
            <a:off x="9134856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刪舊帳號與舊 binding</a:t>
            </a:r>
            <a:endParaRPr lang="en-US" sz="1200" dirty="0"/>
          </a:p>
        </p:txBody>
      </p:sp>
      <p:sp>
        <p:nvSpPr>
          <p:cNvPr id="45" name="c3783ab5-ca68-41d6-9a7a-9fdb7b0a8cfa"/>
          <p:cNvSpPr/>
          <p:nvPr/>
        </p:nvSpPr>
        <p:spPr>
          <a:xfrm>
            <a:off x="548640" y="5460863"/>
            <a:ext cx="11091672" cy="7636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同帳號重設密碼 = 取代:舊密碼立即失效(實測)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不想換帳號名:同帳號可有 SHA-256 + SHA-512 兩組密碼並行(實測可行;需在 broker 設定檔啟用兩機制並重啟)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REST Proxy:legacy app 的入口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人用 Basic、機器用 client 憑證,身分一路傳到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b359d819-e369-4182-8cfd-cc0a8bfecb6d"/>
          <p:cNvSpPr/>
          <p:nvPr/>
        </p:nvSpPr>
        <p:spPr>
          <a:xfrm>
            <a:off x="548640" y="1600200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人(Postman · 手動測試)</a:t>
            </a:r>
            <a:endParaRPr lang="en-US" sz="1400" dirty="0"/>
          </a:p>
        </p:txBody>
      </p:sp>
      <p:sp>
        <p:nvSpPr>
          <p:cNvPr id="3" name="5346df7c-be9b-436e-b93b-1fc93b0d960f"/>
          <p:cNvSpPr/>
          <p:nvPr/>
        </p:nvSpPr>
        <p:spPr>
          <a:xfrm>
            <a:off x="3657600" y="1922629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4" name="3071b144-2a05-4615-a484-4b94fab533a7"/>
          <p:cNvSpPr/>
          <p:nvPr/>
        </p:nvSpPr>
        <p:spPr>
          <a:xfrm>
            <a:off x="3749040" y="1990509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5" name="79962881-485f-4c6a-8d28-93e79da7b6f8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3841577" y="2076377"/>
            <a:ext cx="235549" cy="235549"/>
          </a:xfrm>
          <a:prstGeom prst="rect">
            <a:avLst/>
          </a:prstGeom>
        </p:spPr>
      </p:pic>
      <p:sp>
        <p:nvSpPr>
          <p:cNvPr id="6" name="3eb74fbe-43c5-4039-b727-164358090b8a"/>
          <p:cNvSpPr/>
          <p:nvPr/>
        </p:nvSpPr>
        <p:spPr>
          <a:xfrm>
            <a:off x="4251960" y="1990509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7" name="32777394-d7d5-4369-88a8-f4ac6aa11f57"/>
          <p:cNvSpPr/>
          <p:nvPr/>
        </p:nvSpPr>
        <p:spPr>
          <a:xfrm flipV="1">
            <a:off x="43434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8" name="5a7fa3bb-6c8a-4853-a55d-a63f77e785d1"/>
          <p:cNvSpPr/>
          <p:nvPr/>
        </p:nvSpPr>
        <p:spPr>
          <a:xfrm>
            <a:off x="50292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9" name="aca39c42-921a-4a5c-974a-81ebca7088e9"/>
          <p:cNvSpPr/>
          <p:nvPr/>
        </p:nvSpPr>
        <p:spPr>
          <a:xfrm>
            <a:off x="5852160" y="1854749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REST Proxy 把 Basic 帳密轉給 MDS(/authenticate)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MDS 向 AD 驗證,回 token(不經 /impersonate)</a:t>
            </a:r>
            <a:endParaRPr lang="en-US" sz="1000" dirty="0"/>
          </a:p>
        </p:txBody>
      </p:sp>
      <p:sp>
        <p:nvSpPr>
          <p:cNvPr id="10" name="ff17c4d0-1921-411a-901d-bed4831d1a15"/>
          <p:cNvSpPr/>
          <p:nvPr/>
        </p:nvSpPr>
        <p:spPr>
          <a:xfrm>
            <a:off x="5486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1" name="3b83841f-2714-4a36-8f24-337d0204fb70"/>
          <p:cNvSpPr/>
          <p:nvPr/>
        </p:nvSpPr>
        <p:spPr>
          <a:xfrm>
            <a:off x="6400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2" name="dc0353cb-9199-4041-8f24-a140bffe9e60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44687" y="2825769"/>
            <a:ext cx="266273" cy="266273"/>
          </a:xfrm>
          <a:prstGeom prst="rect">
            <a:avLst/>
          </a:prstGeom>
        </p:spPr>
      </p:pic>
      <p:sp>
        <p:nvSpPr>
          <p:cNvPr id="13" name="f699ed6e-f78d-4cfa-9df0-e5bdec089eb6"/>
          <p:cNvSpPr/>
          <p:nvPr/>
        </p:nvSpPr>
        <p:spPr>
          <a:xfrm>
            <a:off x="11887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300" dirty="0"/>
          </a:p>
        </p:txBody>
      </p:sp>
      <p:sp>
        <p:nvSpPr>
          <p:cNvPr id="14" name="a8e3e24d-40e6-4511-bc50-5e88972edf91"/>
          <p:cNvSpPr/>
          <p:nvPr/>
        </p:nvSpPr>
        <p:spPr>
          <a:xfrm>
            <a:off x="3657600" y="2618397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5" name="df0456ab-4021-467c-905f-1e4fae9f0bab"/>
          <p:cNvSpPr/>
          <p:nvPr/>
        </p:nvSpPr>
        <p:spPr>
          <a:xfrm>
            <a:off x="374904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6" name="175a15df-f114-469f-a102-e7cf6760fc02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853647" y="2825769"/>
            <a:ext cx="266273" cy="266273"/>
          </a:xfrm>
          <a:prstGeom prst="rect">
            <a:avLst/>
          </a:prstGeom>
        </p:spPr>
      </p:pic>
      <p:sp>
        <p:nvSpPr>
          <p:cNvPr id="17" name="dce7f3b3-13b4-47bc-a71d-a80f11217375"/>
          <p:cNvSpPr/>
          <p:nvPr/>
        </p:nvSpPr>
        <p:spPr>
          <a:xfrm>
            <a:off x="4297680" y="2728701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18" name="d1f5b328-5981-4614-849a-a3c389123f01"/>
          <p:cNvSpPr/>
          <p:nvPr/>
        </p:nvSpPr>
        <p:spPr>
          <a:xfrm>
            <a:off x="69494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9" name="2ee9b6a1-4ade-4919-a1cb-6b98e6c597bf"/>
          <p:cNvSpPr/>
          <p:nvPr/>
        </p:nvSpPr>
        <p:spPr>
          <a:xfrm>
            <a:off x="70408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0" name="8bf6e144-279b-4a0b-9b32-a659886cadfe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145487" y="2825769"/>
            <a:ext cx="266273" cy="266273"/>
          </a:xfrm>
          <a:prstGeom prst="rect">
            <a:avLst/>
          </a:prstGeom>
        </p:spPr>
      </p:pic>
      <p:sp>
        <p:nvSpPr>
          <p:cNvPr id="21" name="fddad8fe-bb42-4e69-bc1d-b4d350f9b4b1"/>
          <p:cNvSpPr/>
          <p:nvPr/>
        </p:nvSpPr>
        <p:spPr>
          <a:xfrm>
            <a:off x="75895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22" name="2db8d2b9-2d5b-4338-affa-c2e223207701"/>
          <p:cNvSpPr/>
          <p:nvPr/>
        </p:nvSpPr>
        <p:spPr>
          <a:xfrm>
            <a:off x="2377440" y="2957796"/>
            <a:ext cx="128016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814fcb74-1ebf-4beb-a047-6c1ef89b0d3e"/>
          <p:cNvSpPr/>
          <p:nvPr/>
        </p:nvSpPr>
        <p:spPr>
          <a:xfrm>
            <a:off x="5760720" y="2957796"/>
            <a:ext cx="11887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4" name="35dad219-71f7-4117-aa98-ecf7ed1f3f4f"/>
          <p:cNvSpPr/>
          <p:nvPr/>
        </p:nvSpPr>
        <p:spPr>
          <a:xfrm>
            <a:off x="1554480" y="3339619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Basic(AD 帳密)</a:t>
            </a:r>
            <a:endParaRPr lang="en-US" sz="1000" dirty="0"/>
          </a:p>
        </p:txBody>
      </p:sp>
      <p:sp>
        <p:nvSpPr>
          <p:cNvPr id="25" name="842b13c8-75a5-4981-85fd-cc69b3782678"/>
          <p:cNvSpPr/>
          <p:nvPr/>
        </p:nvSpPr>
        <p:spPr>
          <a:xfrm>
            <a:off x="5532120" y="3339619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OAUTHBEARER(帶 token)</a:t>
            </a:r>
            <a:endParaRPr lang="en-US" sz="1000" dirty="0"/>
          </a:p>
        </p:txBody>
      </p:sp>
      <p:sp>
        <p:nvSpPr>
          <p:cNvPr id="26" name="b8d2fa56-94bc-4142-bd56-2c5cdb29a13a"/>
          <p:cNvSpPr/>
          <p:nvPr/>
        </p:nvSpPr>
        <p:spPr>
          <a:xfrm>
            <a:off x="8915400" y="2703246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27" name="e5027c8f-2593-4a3b-afa4-37a6172ecc6d"/>
          <p:cNvSpPr/>
          <p:nvPr/>
        </p:nvSpPr>
        <p:spPr>
          <a:xfrm>
            <a:off x="548640" y="3636594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機器(legacy app)</a:t>
            </a:r>
            <a:endParaRPr lang="en-US" sz="1400" dirty="0"/>
          </a:p>
        </p:txBody>
      </p:sp>
      <p:sp>
        <p:nvSpPr>
          <p:cNvPr id="28" name="6ebd6032-a786-4806-87b4-8d25491b6ec6"/>
          <p:cNvSpPr/>
          <p:nvPr/>
        </p:nvSpPr>
        <p:spPr>
          <a:xfrm>
            <a:off x="3657600" y="3959022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9" name="555bc68c-77aa-4b6b-b704-f7b57aa22edf"/>
          <p:cNvSpPr/>
          <p:nvPr/>
        </p:nvSpPr>
        <p:spPr>
          <a:xfrm>
            <a:off x="3749040" y="4026902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0" name="064ef1a8-b599-4468-b05a-d406c78c1c2e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3841577" y="4112770"/>
            <a:ext cx="235549" cy="235549"/>
          </a:xfrm>
          <a:prstGeom prst="rect">
            <a:avLst/>
          </a:prstGeom>
        </p:spPr>
      </p:pic>
      <p:sp>
        <p:nvSpPr>
          <p:cNvPr id="31" name="77c2f6f9-164e-4d34-a7e8-6fbc8a6b31ad"/>
          <p:cNvSpPr/>
          <p:nvPr/>
        </p:nvSpPr>
        <p:spPr>
          <a:xfrm>
            <a:off x="4251960" y="4026902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32" name="eaf2fbe7-3bdf-4f62-a0bd-b29c30ad8034"/>
          <p:cNvSpPr/>
          <p:nvPr/>
        </p:nvSpPr>
        <p:spPr>
          <a:xfrm flipV="1">
            <a:off x="43434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3" name="8385dc23-8b79-446d-8583-884cc68712fd"/>
          <p:cNvSpPr/>
          <p:nvPr/>
        </p:nvSpPr>
        <p:spPr>
          <a:xfrm>
            <a:off x="50292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4" name="c3630b32-0472-4bea-a74a-0079a78e1680"/>
          <p:cNvSpPr/>
          <p:nvPr/>
        </p:nvSpPr>
        <p:spPr>
          <a:xfrm>
            <a:off x="5852160" y="3891143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REST Proxy 用自己的 client 憑證(CN=restproxy)向 MDS 認證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POST /impersonate:代為申請 legacy app 的 token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MDS 回 token(sub = app,cp_proxy = restproxy)</a:t>
            </a:r>
            <a:endParaRPr lang="en-US" sz="1000" dirty="0"/>
          </a:p>
        </p:txBody>
      </p:sp>
      <p:sp>
        <p:nvSpPr>
          <p:cNvPr id="35" name="42b37676-b126-4007-8e46-fcd928003146"/>
          <p:cNvSpPr/>
          <p:nvPr/>
        </p:nvSpPr>
        <p:spPr>
          <a:xfrm>
            <a:off x="5486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6" name="08d0aa58-c945-4e16-9dc9-b7aa7c5b22e4"/>
          <p:cNvSpPr/>
          <p:nvPr/>
        </p:nvSpPr>
        <p:spPr>
          <a:xfrm>
            <a:off x="6400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7" name="2e150417-cb4f-4f2f-9c4c-2603a13233b8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44687" y="4862163"/>
            <a:ext cx="266273" cy="266273"/>
          </a:xfrm>
          <a:prstGeom prst="rect">
            <a:avLst/>
          </a:prstGeom>
        </p:spPr>
      </p:pic>
      <p:sp>
        <p:nvSpPr>
          <p:cNvPr id="38" name="a77fd864-2ae0-4b61-8ed4-1c2e0ffc356a"/>
          <p:cNvSpPr/>
          <p:nvPr/>
        </p:nvSpPr>
        <p:spPr>
          <a:xfrm>
            <a:off x="11887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300" dirty="0"/>
          </a:p>
        </p:txBody>
      </p:sp>
      <p:sp>
        <p:nvSpPr>
          <p:cNvPr id="39" name="f6543820-6fff-470f-b8f9-3c20e71c7bad"/>
          <p:cNvSpPr/>
          <p:nvPr/>
        </p:nvSpPr>
        <p:spPr>
          <a:xfrm>
            <a:off x="3657600" y="4654790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0" name="a312e892-dc8b-430e-a7bb-29cd5f1b2c9c"/>
          <p:cNvSpPr/>
          <p:nvPr/>
        </p:nvSpPr>
        <p:spPr>
          <a:xfrm>
            <a:off x="374904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1" name="1f7b609c-e87a-4ce8-92c6-756001075dd9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3853647" y="4862163"/>
            <a:ext cx="266273" cy="266273"/>
          </a:xfrm>
          <a:prstGeom prst="rect">
            <a:avLst/>
          </a:prstGeom>
        </p:spPr>
      </p:pic>
      <p:sp>
        <p:nvSpPr>
          <p:cNvPr id="42" name="f6e33753-cb6d-4c49-a0ce-210a5ef204cd"/>
          <p:cNvSpPr/>
          <p:nvPr/>
        </p:nvSpPr>
        <p:spPr>
          <a:xfrm>
            <a:off x="4297680" y="4765095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43" name="b1138795-ceb5-4b7c-892a-3f47212e2bd6"/>
          <p:cNvSpPr/>
          <p:nvPr/>
        </p:nvSpPr>
        <p:spPr>
          <a:xfrm>
            <a:off x="69494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4" name="104cbf00-1132-4c5b-9a26-fb07ddb71c16"/>
          <p:cNvSpPr/>
          <p:nvPr/>
        </p:nvSpPr>
        <p:spPr>
          <a:xfrm>
            <a:off x="70408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5" name="1bb3c4c3-bcca-419f-8ecb-24fde3f25720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145487" y="4862163"/>
            <a:ext cx="266273" cy="266273"/>
          </a:xfrm>
          <a:prstGeom prst="rect">
            <a:avLst/>
          </a:prstGeom>
        </p:spPr>
      </p:pic>
      <p:sp>
        <p:nvSpPr>
          <p:cNvPr id="46" name="efe6f237-04d7-4742-ae48-ef0b272d5d4b"/>
          <p:cNvSpPr/>
          <p:nvPr/>
        </p:nvSpPr>
        <p:spPr>
          <a:xfrm>
            <a:off x="75895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47" name="89e13294-c667-4664-8f3c-3096fb8d45eb"/>
          <p:cNvSpPr/>
          <p:nvPr/>
        </p:nvSpPr>
        <p:spPr>
          <a:xfrm>
            <a:off x="2377440" y="4994189"/>
            <a:ext cx="128016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8" name="61ec99c0-e904-4f21-977f-4841dc788675"/>
          <p:cNvSpPr/>
          <p:nvPr/>
        </p:nvSpPr>
        <p:spPr>
          <a:xfrm>
            <a:off x="5760720" y="4994189"/>
            <a:ext cx="11887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9" name="d5f55176-03ec-44e8-81a8-e01353839eac"/>
          <p:cNvSpPr/>
          <p:nvPr/>
        </p:nvSpPr>
        <p:spPr>
          <a:xfrm>
            <a:off x="1554480" y="5376013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client 憑證(CN)→ 對映成主體</a:t>
            </a:r>
            <a:endParaRPr lang="en-US" sz="1000" dirty="0"/>
          </a:p>
        </p:txBody>
      </p:sp>
      <p:sp>
        <p:nvSpPr>
          <p:cNvPr id="50" name="f16496f4-abb3-4f86-a729-c324a4cae38e"/>
          <p:cNvSpPr/>
          <p:nvPr/>
        </p:nvSpPr>
        <p:spPr>
          <a:xfrm>
            <a:off x="5532120" y="5376013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⑤ OAUTHBEARER(帶 token)</a:t>
            </a:r>
            <a:endParaRPr lang="en-US" sz="1000" dirty="0"/>
          </a:p>
        </p:txBody>
      </p:sp>
      <p:sp>
        <p:nvSpPr>
          <p:cNvPr id="51" name="ea943cd9-0b18-43d1-9ff2-323ed171be5d"/>
          <p:cNvSpPr/>
          <p:nvPr/>
        </p:nvSpPr>
        <p:spPr>
          <a:xfrm>
            <a:off x="8915400" y="4739640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52" name="67bd7a72-ac83-41e2-bccd-7a44b9b4182c"/>
          <p:cNvSpPr/>
          <p:nvPr/>
        </p:nvSpPr>
        <p:spPr>
          <a:xfrm>
            <a:off x="548640" y="5715412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ssl.client.authentication=REQUESTED:人沒有憑證、機器有憑證,兩者並存 · 憑證身分只能綁 User:</a:t>
            </a:r>
            <a:endParaRPr lang="en-US" sz="1100" dirty="0"/>
          </a:p>
        </p:txBody>
      </p:sp>
      <p:sp>
        <p:nvSpPr>
          <p:cNvPr id="53" name="1ee1a5a1-8ea1-4d9a-94b0-0831e40aaebb"/>
          <p:cNvSpPr/>
          <p:nvPr/>
        </p:nvSpPr>
        <p:spPr>
          <a:xfrm>
            <a:off x="548640" y="6063296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restproxy 憑證可代人 → 特權身分逐一以 User: 列入 protected.users;混入 Group: 整份失效(實測)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 Center:人用本人身分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C3 自己的背景工作才用憑證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3286586-daac-4af7-a8ec-a727e06dc40a"/>
          <p:cNvSpPr/>
          <p:nvPr/>
        </p:nvSpPr>
        <p:spPr>
          <a:xfrm>
            <a:off x="548640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59aa8553-9f94-489b-8561-c4645d40952a"/>
          <p:cNvSpPr/>
          <p:nvPr/>
        </p:nvSpPr>
        <p:spPr>
          <a:xfrm>
            <a:off x="658368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a7470e72-0a07-424d-b20f-141d4a07277b"/>
          <p:cNvSpPr/>
          <p:nvPr/>
        </p:nvSpPr>
        <p:spPr>
          <a:xfrm>
            <a:off x="640080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登入</a:t>
            </a:r>
            <a:endParaRPr lang="en-US" sz="1400" dirty="0"/>
          </a:p>
        </p:txBody>
      </p:sp>
      <p:sp>
        <p:nvSpPr>
          <p:cNvPr id="5" name="5a57e9f6-ee53-44aa-a9e0-f56cb7240193"/>
          <p:cNvSpPr/>
          <p:nvPr/>
        </p:nvSpPr>
        <p:spPr>
          <a:xfrm>
            <a:off x="640080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瀏覽器送 AD 帳密</a:t>
            </a:r>
            <a:endParaRPr lang="en-US" sz="1100" dirty="0"/>
          </a:p>
        </p:txBody>
      </p:sp>
      <p:sp>
        <p:nvSpPr>
          <p:cNvPr id="6" name="f8517696-623c-4207-bee9-e3fea710f7e9"/>
          <p:cNvSpPr/>
          <p:nvPr/>
        </p:nvSpPr>
        <p:spPr>
          <a:xfrm>
            <a:off x="2560320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7" name="5dcf18c7-d330-4fb2-96ba-b8a1e867cc10"/>
          <p:cNvSpPr/>
          <p:nvPr/>
        </p:nvSpPr>
        <p:spPr>
          <a:xfrm>
            <a:off x="2816352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7972c093-47a9-4fb7-a1b6-83640b295e77"/>
          <p:cNvSpPr/>
          <p:nvPr/>
        </p:nvSpPr>
        <p:spPr>
          <a:xfrm>
            <a:off x="2926080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20e7312f-0491-4bce-b302-6791a7e70af7"/>
          <p:cNvSpPr/>
          <p:nvPr/>
        </p:nvSpPr>
        <p:spPr>
          <a:xfrm>
            <a:off x="2907792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轉給 MDS</a:t>
            </a:r>
            <a:endParaRPr lang="en-US" sz="1400" dirty="0"/>
          </a:p>
        </p:txBody>
      </p:sp>
      <p:sp>
        <p:nvSpPr>
          <p:cNvPr id="10" name="3542929d-0293-4039-a741-a8faab3e5cab"/>
          <p:cNvSpPr/>
          <p:nvPr/>
        </p:nvSpPr>
        <p:spPr>
          <a:xfrm>
            <a:off x="2907792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向 AD 驗證</a:t>
            </a:r>
            <a:endParaRPr lang="en-US" sz="1100" dirty="0"/>
          </a:p>
        </p:txBody>
      </p:sp>
      <p:sp>
        <p:nvSpPr>
          <p:cNvPr id="11" name="e24cff94-4d84-48ca-a7c2-7234c3c02b93"/>
          <p:cNvSpPr/>
          <p:nvPr/>
        </p:nvSpPr>
        <p:spPr>
          <a:xfrm>
            <a:off x="4828032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863d7e0f-408f-4095-b31a-9c7f9816f2a0"/>
          <p:cNvSpPr/>
          <p:nvPr/>
        </p:nvSpPr>
        <p:spPr>
          <a:xfrm>
            <a:off x="5084064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2c46b8a6-5d3e-4f34-83af-c61153e84b49"/>
          <p:cNvSpPr/>
          <p:nvPr/>
        </p:nvSpPr>
        <p:spPr>
          <a:xfrm>
            <a:off x="5193792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230bdb06-55d2-4f79-b25a-ccbc1425d18d"/>
          <p:cNvSpPr/>
          <p:nvPr/>
        </p:nvSpPr>
        <p:spPr>
          <a:xfrm>
            <a:off x="5175504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 token</a:t>
            </a:r>
            <a:endParaRPr lang="en-US" sz="1400" dirty="0"/>
          </a:p>
        </p:txBody>
      </p:sp>
      <p:sp>
        <p:nvSpPr>
          <p:cNvPr id="15" name="c3dd9ca4-4129-4f7f-b62a-6ad7bde389ba"/>
          <p:cNvSpPr/>
          <p:nvPr/>
        </p:nvSpPr>
        <p:spPr>
          <a:xfrm>
            <a:off x="5175504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JWT 壽命可設(demo 1 小時),會續期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登入上限預設 6 小時</a:t>
            </a:r>
            <a:endParaRPr lang="en-US" sz="1100" dirty="0"/>
          </a:p>
        </p:txBody>
      </p:sp>
      <p:sp>
        <p:nvSpPr>
          <p:cNvPr id="16" name="0ed116a7-e304-41cb-8db4-e335300e4451"/>
          <p:cNvSpPr/>
          <p:nvPr/>
        </p:nvSpPr>
        <p:spPr>
          <a:xfrm>
            <a:off x="7095744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7" name="68af0be3-2fc7-48e3-b31c-c43ee27fe99d"/>
          <p:cNvSpPr/>
          <p:nvPr/>
        </p:nvSpPr>
        <p:spPr>
          <a:xfrm>
            <a:off x="7351776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b451697f-f255-4d11-ade7-727f174b062b"/>
          <p:cNvSpPr/>
          <p:nvPr/>
        </p:nvSpPr>
        <p:spPr>
          <a:xfrm>
            <a:off x="7461504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624f64fe-41ec-4135-abb0-4edef74fa0f2"/>
          <p:cNvSpPr/>
          <p:nvPr/>
        </p:nvSpPr>
        <p:spPr>
          <a:xfrm>
            <a:off x="7443216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之後帶 Bearer</a:t>
            </a:r>
            <a:endParaRPr lang="en-US" sz="1400" dirty="0"/>
          </a:p>
        </p:txBody>
      </p:sp>
      <p:sp>
        <p:nvSpPr>
          <p:cNvPr id="20" name="510b86e5-7dc4-49c9-be6a-3a9e48360e16"/>
          <p:cNvSpPr/>
          <p:nvPr/>
        </p:nvSpPr>
        <p:spPr>
          <a:xfrm>
            <a:off x="7443216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另有 HttpOnly cookie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優先看 Bearer(實測)</a:t>
            </a:r>
            <a:endParaRPr lang="en-US" sz="1100" dirty="0"/>
          </a:p>
        </p:txBody>
      </p:sp>
      <p:sp>
        <p:nvSpPr>
          <p:cNvPr id="21" name="b0b403b1-77b2-4529-89a3-4583ec4a71e7"/>
          <p:cNvSpPr/>
          <p:nvPr/>
        </p:nvSpPr>
        <p:spPr>
          <a:xfrm>
            <a:off x="9363456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35a6c6e5-861d-4e99-b457-6d849ddf2701"/>
          <p:cNvSpPr/>
          <p:nvPr/>
        </p:nvSpPr>
        <p:spPr>
          <a:xfrm>
            <a:off x="9619488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70ce38f7-45f3-42a9-a8fb-ae5006f852ca"/>
          <p:cNvSpPr/>
          <p:nvPr/>
        </p:nvSpPr>
        <p:spPr>
          <a:xfrm>
            <a:off x="9729216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23e00e92-a5d5-4140-ad7a-ebb9b9b1c2aa"/>
          <p:cNvSpPr/>
          <p:nvPr/>
        </p:nvSpPr>
        <p:spPr>
          <a:xfrm>
            <a:off x="9710928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驗章 + 查範圍</a:t>
            </a:r>
            <a:endParaRPr lang="en-US" sz="1400" dirty="0"/>
          </a:p>
        </p:txBody>
      </p:sp>
      <p:sp>
        <p:nvSpPr>
          <p:cNvPr id="25" name="55894ba4-13f6-49d3-9396-a80ac9e864df"/>
          <p:cNvSpPr/>
          <p:nvPr/>
        </p:nvSpPr>
        <p:spPr>
          <a:xfrm>
            <a:off x="9710928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本地驗章(實測推論)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再向 MDS 查權限</a:t>
            </a:r>
            <a:endParaRPr lang="en-US" sz="1100" dirty="0"/>
          </a:p>
        </p:txBody>
      </p:sp>
      <p:sp>
        <p:nvSpPr>
          <p:cNvPr id="26" name="c228e8ed-9528-4494-a1ca-fdb2666cd5a5"/>
          <p:cNvSpPr/>
          <p:nvPr/>
        </p:nvSpPr>
        <p:spPr>
          <a:xfrm>
            <a:off x="548640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f34d71d5-04f0-4844-9f1c-302e92c9c00f"/>
          <p:cNvSpPr/>
          <p:nvPr/>
        </p:nvSpPr>
        <p:spPr>
          <a:xfrm>
            <a:off x="731520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af3feed1-d9ce-43a3-9627-b33a4202a83d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3936962"/>
            <a:ext cx="358445" cy="358445"/>
          </a:xfrm>
          <a:prstGeom prst="rect">
            <a:avLst/>
          </a:prstGeom>
        </p:spPr>
      </p:pic>
      <p:sp>
        <p:nvSpPr>
          <p:cNvPr id="29" name="e304cba8-310e-4430-bc56-b578dfe1cc6a"/>
          <p:cNvSpPr/>
          <p:nvPr/>
        </p:nvSpPr>
        <p:spPr>
          <a:xfrm>
            <a:off x="1508760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使用者操作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帶「使用者本人」的 token 連 broker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主體 = User:gary / ming</a:t>
            </a:r>
            <a:endParaRPr lang="en-US" sz="1500" dirty="0"/>
          </a:p>
        </p:txBody>
      </p:sp>
      <p:sp>
        <p:nvSpPr>
          <p:cNvPr id="30" name="c8967cbe-ad84-4c1e-a8a7-41f7c1ae7501"/>
          <p:cNvSpPr/>
          <p:nvPr/>
        </p:nvSpPr>
        <p:spPr>
          <a:xfrm>
            <a:off x="6199632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1" name="e5604d3f-cb30-4aad-8151-23f413604490"/>
          <p:cNvSpPr/>
          <p:nvPr/>
        </p:nvSpPr>
        <p:spPr>
          <a:xfrm>
            <a:off x="6382512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2" name="d79f4e45-9c48-49a5-b27d-304e4f75e4a6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3936962"/>
            <a:ext cx="358445" cy="358445"/>
          </a:xfrm>
          <a:prstGeom prst="rect">
            <a:avLst/>
          </a:prstGeom>
        </p:spPr>
      </p:pic>
      <p:sp>
        <p:nvSpPr>
          <p:cNvPr id="33" name="946b8f27-2074-44f8-9738-fa196eaa8b19"/>
          <p:cNvSpPr/>
          <p:nvPr/>
        </p:nvSpPr>
        <p:spPr>
          <a:xfrm>
            <a:off x="7159752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背景工作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憑證向 MDS 換 token = User:c3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官方要求 SystemAdmin</a:t>
            </a:r>
            <a:endParaRPr lang="en-US" sz="1500" dirty="0"/>
          </a:p>
        </p:txBody>
      </p:sp>
      <p:sp>
        <p:nvSpPr>
          <p:cNvPr id="34" name="91217064-8405-4d21-a6a2-12b7684a721c"/>
          <p:cNvSpPr/>
          <p:nvPr/>
        </p:nvSpPr>
        <p:spPr>
          <a:xfrm>
            <a:off x="548640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下 C3 連 Kafka 只支援 OAUTHBEARER(官方)</a:t>
            </a:r>
            <a:endParaRPr lang="en-US" sz="1200" dirty="0"/>
          </a:p>
        </p:txBody>
      </p:sp>
      <p:sp>
        <p:nvSpPr>
          <p:cNvPr id="35" name="0705f147-230c-4d20-a530-eca8d8ec4c74"/>
          <p:cNvSpPr/>
          <p:nvPr/>
        </p:nvSpPr>
        <p:spPr>
          <a:xfrm>
            <a:off x="6199632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管理員:拿掉權限 C3 會退出(實測)</a:t>
            </a:r>
            <a:endParaRPr lang="en-US" sz="1200" dirty="0"/>
          </a:p>
        </p:txBody>
      </p:sp>
      <p:sp>
        <p:nvSpPr>
          <p:cNvPr id="36" name="d4b54cbe-d1c4-4f77-892a-362c60158404"/>
          <p:cNvSpPr/>
          <p:nvPr/>
        </p:nvSpPr>
        <p:spPr>
          <a:xfrm>
            <a:off x="548640" y="5800262"/>
            <a:ext cx="1109167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「使用者操作帶使用者身分」是本專案實測;官方未明說 C3 以誰的身分查詢 Kafka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 周邊:Prometheus · Alertmanager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認證現況與可啟用的保護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91c7c18-3eb3-4810-b921-18c08405c54a"/>
          <p:cNvSpPr/>
          <p:nvPr/>
        </p:nvSpPr>
        <p:spPr>
          <a:xfrm>
            <a:off x="5486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7a01c42b-3f30-4f97-8eca-1b8a973a6de2"/>
          <p:cNvSpPr/>
          <p:nvPr/>
        </p:nvSpPr>
        <p:spPr>
          <a:xfrm>
            <a:off x="1645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9102561d-b41f-44a1-8688-6a380fe3597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766621" y="1966751"/>
            <a:ext cx="307238" cy="307238"/>
          </a:xfrm>
          <a:prstGeom prst="rect">
            <a:avLst/>
          </a:prstGeom>
        </p:spPr>
      </p:pic>
      <p:sp>
        <p:nvSpPr>
          <p:cNvPr id="5" name="500fcd96-08a5-4077-aa90-b98d66207c3b"/>
          <p:cNvSpPr/>
          <p:nvPr/>
        </p:nvSpPr>
        <p:spPr>
          <a:xfrm>
            <a:off x="6217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6" name="e8c449c8-5a27-4e24-a643-4019b92b1572"/>
          <p:cNvSpPr/>
          <p:nvPr/>
        </p:nvSpPr>
        <p:spPr>
          <a:xfrm>
            <a:off x="6400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next-gen 2.x</a:t>
            </a:r>
            <a:endParaRPr lang="en-US" sz="1100" dirty="0"/>
          </a:p>
        </p:txBody>
      </p:sp>
      <p:sp>
        <p:nvSpPr>
          <p:cNvPr id="7" name="687afeb9-5b7f-4af3-85c5-30083a3df26a"/>
          <p:cNvSpPr/>
          <p:nvPr/>
        </p:nvSpPr>
        <p:spPr>
          <a:xfrm>
            <a:off x="42062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80702d19-e024-4251-9d90-bfb93475c1d4"/>
          <p:cNvSpPr/>
          <p:nvPr/>
        </p:nvSpPr>
        <p:spPr>
          <a:xfrm>
            <a:off x="53035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3f4c67fd-3c1b-4d79-9c0c-1b56fbfedee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424221" y="1966751"/>
            <a:ext cx="307238" cy="307238"/>
          </a:xfrm>
          <a:prstGeom prst="rect">
            <a:avLst/>
          </a:prstGeom>
        </p:spPr>
      </p:pic>
      <p:sp>
        <p:nvSpPr>
          <p:cNvPr id="10" name="7f0e4dc5-8f59-4a97-af76-f53babbbab51"/>
          <p:cNvSpPr/>
          <p:nvPr/>
        </p:nvSpPr>
        <p:spPr>
          <a:xfrm>
            <a:off x="42793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11" name="15407a53-344d-4d30-9f4b-6ee6835d8087"/>
          <p:cNvSpPr/>
          <p:nvPr/>
        </p:nvSpPr>
        <p:spPr>
          <a:xfrm>
            <a:off x="42976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指標</a:t>
            </a:r>
            <a:endParaRPr lang="en-US" sz="1100" dirty="0"/>
          </a:p>
        </p:txBody>
      </p:sp>
      <p:sp>
        <p:nvSpPr>
          <p:cNvPr id="12" name="f25915b3-8c7d-45db-9ce1-88626bbfc72a"/>
          <p:cNvSpPr/>
          <p:nvPr/>
        </p:nvSpPr>
        <p:spPr>
          <a:xfrm>
            <a:off x="78638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c756dae6-e622-41d6-a70b-35966cd6a225"/>
          <p:cNvSpPr/>
          <p:nvPr/>
        </p:nvSpPr>
        <p:spPr>
          <a:xfrm>
            <a:off x="89611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c028255f-8475-4b42-a884-420a5b24f75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081821" y="1966751"/>
            <a:ext cx="307238" cy="307238"/>
          </a:xfrm>
          <a:prstGeom prst="rect">
            <a:avLst/>
          </a:prstGeom>
        </p:spPr>
      </p:pic>
      <p:sp>
        <p:nvSpPr>
          <p:cNvPr id="15" name="bb10230b-cd12-45de-aa0c-e8bffc715c12"/>
          <p:cNvSpPr/>
          <p:nvPr/>
        </p:nvSpPr>
        <p:spPr>
          <a:xfrm>
            <a:off x="79369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400" dirty="0"/>
          </a:p>
        </p:txBody>
      </p:sp>
      <p:sp>
        <p:nvSpPr>
          <p:cNvPr id="16" name="c29b1cd8-a3a3-459f-afcc-3c02908d96f5"/>
          <p:cNvSpPr/>
          <p:nvPr/>
        </p:nvSpPr>
        <p:spPr>
          <a:xfrm>
            <a:off x="79552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告警 · 靜音</a:t>
            </a:r>
            <a:endParaRPr lang="en-US" sz="1100" dirty="0"/>
          </a:p>
        </p:txBody>
      </p:sp>
      <p:sp>
        <p:nvSpPr>
          <p:cNvPr id="17" name="67089f04-4dd6-445a-b778-c71e4156fcef"/>
          <p:cNvSpPr/>
          <p:nvPr/>
        </p:nvSpPr>
        <p:spPr>
          <a:xfrm>
            <a:off x="3291840" y="2703246"/>
            <a:ext cx="91440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0a855e94-9a3a-4363-b656-191637149dd7"/>
          <p:cNvSpPr/>
          <p:nvPr/>
        </p:nvSpPr>
        <p:spPr>
          <a:xfrm>
            <a:off x="6949440" y="2703246"/>
            <a:ext cx="91440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123b134c-3359-493a-9fbc-8f3613d32147"/>
          <p:cNvSpPr/>
          <p:nvPr/>
        </p:nvSpPr>
        <p:spPr>
          <a:xfrm>
            <a:off x="548640" y="3933568"/>
            <a:ext cx="5486400" cy="1484870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0" name="2e585115-d7c2-47e7-9f54-06d60a6ca22d"/>
          <p:cNvSpPr/>
          <p:nvPr/>
        </p:nvSpPr>
        <p:spPr>
          <a:xfrm>
            <a:off x="73152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1" name="ba7a5260-3e59-4948-beac-40f8326734cc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72338" y="4191511"/>
            <a:ext cx="358445" cy="358445"/>
          </a:xfrm>
          <a:prstGeom prst="rect">
            <a:avLst/>
          </a:prstGeom>
        </p:spPr>
      </p:pic>
      <p:sp>
        <p:nvSpPr>
          <p:cNvPr id="22" name="5e9df4b0-f78b-4fe9-a6d9-3ac7d0105f90"/>
          <p:cNvSpPr/>
          <p:nvPr/>
        </p:nvSpPr>
        <p:spPr>
          <a:xfrm>
            <a:off x="1508760" y="4018417"/>
            <a:ext cx="438912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 demo 未啟用認證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不帶憑證可讀指標;Alertmanager 可無認證建立 / 刪除靜音</a:t>
            </a:r>
            <a:endParaRPr lang="en-US" sz="1400" dirty="0"/>
          </a:p>
        </p:txBody>
      </p:sp>
      <p:sp>
        <p:nvSpPr>
          <p:cNvPr id="23" name="c2963c37-8774-4905-8db5-d665ac108f33"/>
          <p:cNvSpPr/>
          <p:nvPr/>
        </p:nvSpPr>
        <p:spPr>
          <a:xfrm>
            <a:off x="6199632" y="3933568"/>
            <a:ext cx="5440680" cy="1484870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9590e25c-ea49-4d0c-ac67-94deb461daa5"/>
          <p:cNvSpPr/>
          <p:nvPr/>
        </p:nvSpPr>
        <p:spPr>
          <a:xfrm>
            <a:off x="6382512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5" name="e59c54a9-0725-47cc-9b0d-3c45ca98ae9d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23330" y="4191511"/>
            <a:ext cx="358445" cy="358445"/>
          </a:xfrm>
          <a:prstGeom prst="rect">
            <a:avLst/>
          </a:prstGeom>
        </p:spPr>
      </p:pic>
      <p:sp>
        <p:nvSpPr>
          <p:cNvPr id="26" name="b7e9a1cb-3ce8-454d-baf7-f8102e049342"/>
          <p:cNvSpPr/>
          <p:nvPr/>
        </p:nvSpPr>
        <p:spPr>
          <a:xfrm>
            <a:off x="7159752" y="4018417"/>
            <a:ext cx="438912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官方支援 TLS + HTTP Basic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正式環境應啟用;客戶不想管憑證 → 共用 server 憑證做 TLS + Basic 帳密</a:t>
            </a:r>
            <a:endParaRPr lang="en-US" sz="1400" dirty="0"/>
          </a:p>
        </p:txBody>
      </p:sp>
      <p:sp>
        <p:nvSpPr>
          <p:cNvPr id="27" name="f167a5e0-c823-4ad3-ada6-f7976e168807"/>
          <p:cNvSpPr/>
          <p:nvPr/>
        </p:nvSpPr>
        <p:spPr>
          <a:xfrm>
            <a:off x="548640" y="5630562"/>
            <a:ext cx="749808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Schema Registry 未部署 → confluent.controlcenter.schema.registry.enable=false</a:t>
            </a:r>
            <a:endParaRPr lang="en-US" sz="1150" dirty="0"/>
          </a:p>
        </p:txBody>
      </p:sp>
      <p:sp>
        <p:nvSpPr>
          <p:cNvPr id="28" name="0f624607-d744-41b7-bfc0-bedadcd5303b"/>
          <p:cNvSpPr/>
          <p:nvPr/>
        </p:nvSpPr>
        <p:spPr>
          <a:xfrm>
            <a:off x="8229600" y="5630562"/>
            <a:ext cx="341071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啟用後的實測:尚未做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Audit log:誰被拒、誰改了授權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預設只記錄 Management 與 Authorize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19b2220-f473-49f9-9c15-1df651911255"/>
          <p:cNvSpPr/>
          <p:nvPr/>
        </p:nvSpPr>
        <p:spPr>
          <a:xfrm>
            <a:off x="548640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" name="a56570a3-5bb9-4437-ad9b-a89b87ba84b9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4" name="f89b5c15-ba67-43ee-b8c7-1e6127754e7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8e691791-2ffa-4ab2-b30b-5dac465eef6b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官方預設</a:t>
            </a:r>
            <a:endParaRPr lang="en-US" sz="1600" dirty="0"/>
          </a:p>
        </p:txBody>
      </p:sp>
      <p:sp>
        <p:nvSpPr>
          <p:cNvPr id="6" name="06c5be19-337b-4d7c-872c-ff3f332d919f"/>
          <p:cNvSpPr/>
          <p:nvPr/>
        </p:nvSpPr>
        <p:spPr>
          <a:xfrm>
            <a:off x="640080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Management + Authorize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allowed 與 denied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confluent-audit-log-events</a:t>
            </a:r>
            <a:endParaRPr lang="en-US" sz="1200" dirty="0"/>
          </a:p>
        </p:txBody>
      </p:sp>
      <p:sp>
        <p:nvSpPr>
          <p:cNvPr id="7" name="87b5119f-53a9-42fb-b837-e3224726bd13"/>
          <p:cNvSpPr/>
          <p:nvPr/>
        </p:nvSpPr>
        <p:spPr>
          <a:xfrm>
            <a:off x="4325112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222c0bae-315e-4710-80bf-b5da623ef1af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9" name="6b0c8fd9-1b65-4487-82cd-f85a24048b1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f1a827a6-6772-4bcd-bcb4-8d4f890c1a2b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自訂 router</a:t>
            </a:r>
            <a:endParaRPr lang="en-US" sz="1600" dirty="0"/>
          </a:p>
        </p:txBody>
      </p:sp>
      <p:sp>
        <p:nvSpPr>
          <p:cNvPr id="11" name="d24fed43-4e87-4171-8f3a-788f64d8e7df"/>
          <p:cNvSpPr/>
          <p:nvPr/>
        </p:nvSpPr>
        <p:spPr>
          <a:xfrm>
            <a:off x="4416552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topic 前綴記錄 produce / consume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/ describe 的「被拒」事件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被允許的 consume 不記(避免洗版)</a:t>
            </a:r>
            <a:endParaRPr lang="en-US" sz="1200" dirty="0"/>
          </a:p>
        </p:txBody>
      </p:sp>
      <p:sp>
        <p:nvSpPr>
          <p:cNvPr id="12" name="7df112e1-4bfe-4442-bace-b2c650ae4c06"/>
          <p:cNvSpPr/>
          <p:nvPr/>
        </p:nvSpPr>
        <p:spPr>
          <a:xfrm>
            <a:off x="8101584" y="1727475"/>
            <a:ext cx="3538728" cy="216366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3" name="7e3b0ecf-040a-47e9-a2b6-b92fdc1f5064"/>
          <p:cNvSpPr/>
          <p:nvPr/>
        </p:nvSpPr>
        <p:spPr>
          <a:xfrm>
            <a:off x="9596628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4" name="704eb011-238d-425a-a2b6-3f99a9caacf3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17329" y="1966751"/>
            <a:ext cx="307238" cy="307238"/>
          </a:xfrm>
          <a:prstGeom prst="rect">
            <a:avLst/>
          </a:prstGeom>
        </p:spPr>
      </p:pic>
      <p:sp>
        <p:nvSpPr>
          <p:cNvPr id="15" name="ec5ff634-e2b7-4d82-a71c-187bcaeb8395"/>
          <p:cNvSpPr/>
          <p:nvPr/>
        </p:nvSpPr>
        <p:spPr>
          <a:xfrm>
            <a:off x="8174736" y="2448697"/>
            <a:ext cx="3392424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查不到的</a:t>
            </a:r>
            <a:endParaRPr lang="en-US" sz="1600" dirty="0"/>
          </a:p>
        </p:txBody>
      </p:sp>
      <p:sp>
        <p:nvSpPr>
          <p:cNvPr id="16" name="e1ae905a-3804-4cae-96b2-a5bcb8172624"/>
          <p:cNvSpPr/>
          <p:nvPr/>
        </p:nvSpPr>
        <p:spPr>
          <a:xfrm>
            <a:off x="8193024" y="2830521"/>
            <a:ext cx="3355848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部分拒絕(例:缺 IdempotentWrite)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的 actingPrincipal 為空</a:t>
            </a:r>
            <a:endParaRPr lang="en-US" sz="1200" dirty="0"/>
          </a:p>
        </p:txBody>
      </p:sp>
      <p:sp>
        <p:nvSpPr>
          <p:cNvPr id="17" name="b90447a5-8306-448e-a82c-5d78a8786b7f"/>
          <p:cNvSpPr/>
          <p:nvPr/>
        </p:nvSpPr>
        <p:spPr>
          <a:xfrm>
            <a:off x="4069080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3e531a92-5f71-4a88-a7de-92bf7eacc0be"/>
          <p:cNvSpPr/>
          <p:nvPr/>
        </p:nvSpPr>
        <p:spPr>
          <a:xfrm>
            <a:off x="7845552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81677379-5f18-45d9-a87a-b1bf378daabb"/>
          <p:cNvSpPr/>
          <p:nvPr/>
        </p:nvSpPr>
        <p:spPr>
          <a:xfrm>
            <a:off x="548640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能看到:誰被拒(需自訂 router)</a:t>
            </a:r>
            <a:endParaRPr lang="en-US" sz="1250" dirty="0"/>
          </a:p>
        </p:txBody>
      </p:sp>
      <p:sp>
        <p:nvSpPr>
          <p:cNvPr id="20" name="c68765cd-4e8a-4c7c-94a6-7b7d3f8d01e5"/>
          <p:cNvSpPr/>
          <p:nvPr/>
        </p:nvSpPr>
        <p:spPr>
          <a:xfrm>
            <a:off x="6153912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能看到:誰嘗試改授權(DENIED)</a:t>
            </a:r>
            <a:endParaRPr lang="en-US" sz="1250" dirty="0"/>
          </a:p>
        </p:txBody>
      </p:sp>
      <p:sp>
        <p:nvSpPr>
          <p:cNvPr id="21" name="a6bcf595-62ea-4948-96f2-bbe2539cf971"/>
          <p:cNvSpPr/>
          <p:nvPr/>
        </p:nvSpPr>
        <p:spPr>
          <a:xfrm>
            <a:off x="548640" y="4697215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共用帳號 → audit 只剩一個名字;個人身分 → 看得到是誰</a:t>
            </a:r>
            <a:endParaRPr lang="en-US" sz="1250" dirty="0"/>
          </a:p>
        </p:txBody>
      </p:sp>
      <p:sp>
        <p:nvSpPr>
          <p:cNvPr id="22" name="bc24957f-c37b-4701-9303-92ec7bd3346b"/>
          <p:cNvSpPr/>
          <p:nvPr/>
        </p:nvSpPr>
        <p:spPr>
          <a:xfrm>
            <a:off x="548640" y="52063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不能假設所有拒絕都查得到:稽核需求要另外盤點</a:t>
            </a:r>
            <a:endParaRPr lang="en-US" sz="1300" dirty="0"/>
          </a:p>
        </p:txBody>
      </p:sp>
      <p:sp>
        <p:nvSpPr>
          <p:cNvPr id="23" name="92badb2c-a07d-4a67-82a1-19fcb7ab5674"/>
          <p:cNvSpPr/>
          <p:nvPr/>
        </p:nvSpPr>
        <p:spPr>
          <a:xfrm>
            <a:off x="548640" y="567298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官方建議:produce / consume 只對最敏感的 topic 開;audit 送到另一個叢集、依法遵保存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整合起來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全景 · 人與機器的完整路徑 · 要管理的憑證 · 導入步驟 · 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全景整合圖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人與機器如何進入,由 MDS 的 RBAC 集中判斷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ebe8822-1237-44a5-8007-ad46b10ad26b"/>
          <p:cNvSpPr/>
          <p:nvPr/>
        </p:nvSpPr>
        <p:spPr>
          <a:xfrm>
            <a:off x="457200" y="1642625"/>
            <a:ext cx="2560320" cy="1824269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fab381b0-2f5e-45cb-80cc-42696aa67d0e"/>
          <p:cNvSpPr/>
          <p:nvPr/>
        </p:nvSpPr>
        <p:spPr>
          <a:xfrm>
            <a:off x="594360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6b020b30-70c0-4a14-b2d7-a5189592a09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35178" y="1900568"/>
            <a:ext cx="358445" cy="358445"/>
          </a:xfrm>
          <a:prstGeom prst="rect">
            <a:avLst/>
          </a:prstGeom>
        </p:spPr>
      </p:pic>
      <p:sp>
        <p:nvSpPr>
          <p:cNvPr id="5" name="46b7b15a-3934-4ec6-a2fa-4660fd27f019"/>
          <p:cNvSpPr/>
          <p:nvPr/>
        </p:nvSpPr>
        <p:spPr>
          <a:xfrm>
            <a:off x="1325880" y="1769899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800" dirty="0"/>
          </a:p>
        </p:txBody>
      </p:sp>
      <p:sp>
        <p:nvSpPr>
          <p:cNvPr id="6" name="a774c3d4-8f9c-446e-a394-0aa06efdaded"/>
          <p:cNvSpPr/>
          <p:nvPr/>
        </p:nvSpPr>
        <p:spPr>
          <a:xfrm>
            <a:off x="594360" y="2491122"/>
            <a:ext cx="233172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gary · yujie · ming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 · CLI · Postman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身分來自 AD</a:t>
            </a:r>
            <a:endParaRPr lang="en-US" sz="1200" dirty="0"/>
          </a:p>
        </p:txBody>
      </p:sp>
      <p:sp>
        <p:nvSpPr>
          <p:cNvPr id="7" name="7aa2e310-5c44-4674-88a2-1bf1cc26d039"/>
          <p:cNvSpPr/>
          <p:nvPr/>
        </p:nvSpPr>
        <p:spPr>
          <a:xfrm>
            <a:off x="457200" y="3721443"/>
            <a:ext cx="2560320" cy="18666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4ef8ddf5-30f6-4a73-b66f-fcab3949f255"/>
          <p:cNvSpPr/>
          <p:nvPr/>
        </p:nvSpPr>
        <p:spPr>
          <a:xfrm>
            <a:off x="594360" y="38487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58771fd9-b2ee-4001-9f3b-2cba7376122e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35178" y="3979386"/>
            <a:ext cx="358445" cy="358445"/>
          </a:xfrm>
          <a:prstGeom prst="rect">
            <a:avLst/>
          </a:prstGeom>
        </p:spPr>
      </p:pic>
      <p:sp>
        <p:nvSpPr>
          <p:cNvPr id="10" name="f2f71253-bfbb-4ea7-b738-76981e2ab6f6"/>
          <p:cNvSpPr/>
          <p:nvPr/>
        </p:nvSpPr>
        <p:spPr>
          <a:xfrm>
            <a:off x="1325880" y="3848718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</a:t>
            </a:r>
            <a:endParaRPr lang="en-US" sz="1800" dirty="0"/>
          </a:p>
        </p:txBody>
      </p:sp>
      <p:sp>
        <p:nvSpPr>
          <p:cNvPr id="11" name="6fda0df8-5d95-41a5-85ec-31d848e86987"/>
          <p:cNvSpPr/>
          <p:nvPr/>
        </p:nvSpPr>
        <p:spPr>
          <a:xfrm>
            <a:off x="594360" y="4569941"/>
            <a:ext cx="233172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應用(SCRAM)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app(client 憑證)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連 Kafka;憑證連 REST Proxy</a:t>
            </a:r>
            <a:endParaRPr lang="en-US" sz="1200" dirty="0"/>
          </a:p>
        </p:txBody>
      </p:sp>
      <p:sp>
        <p:nvSpPr>
          <p:cNvPr id="12" name="e916f749-cd58-4e5d-973f-d71b99d75dd4"/>
          <p:cNvSpPr/>
          <p:nvPr/>
        </p:nvSpPr>
        <p:spPr>
          <a:xfrm>
            <a:off x="3611880" y="1642625"/>
            <a:ext cx="2331720" cy="3945512"/>
          </a:xfrm>
          <a:prstGeom prst="roundRect">
            <a:avLst>
              <a:gd name="adj" fmla="val 9000"/>
            </a:avLst>
          </a:prstGeom>
          <a:solidFill>
            <a:srgbClr val="0F9ED5">
              <a:alpha val="12000"/>
            </a:srgbClr>
          </a:solidFill>
          <a:ln w="19050">
            <a:solidFill>
              <a:srgbClr val="0F9ED5"/>
            </a:solidFill>
            <a:prstDash val="solid"/>
          </a:ln>
        </p:spPr>
      </p:sp>
      <p:sp>
        <p:nvSpPr>
          <p:cNvPr id="13" name="c99076dc-096c-4c90-a54d-31b9384b4bab"/>
          <p:cNvSpPr/>
          <p:nvPr/>
        </p:nvSpPr>
        <p:spPr>
          <a:xfrm>
            <a:off x="3611880" y="1702020"/>
            <a:ext cx="23317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0F9ED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入口</a:t>
            </a:r>
            <a:endParaRPr lang="en-US" sz="1500" dirty="0"/>
          </a:p>
        </p:txBody>
      </p:sp>
      <p:sp>
        <p:nvSpPr>
          <p:cNvPr id="14" name="2a745600-9a33-4304-b797-070abb8233a9"/>
          <p:cNvSpPr/>
          <p:nvPr/>
        </p:nvSpPr>
        <p:spPr>
          <a:xfrm>
            <a:off x="3794760" y="2109298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 → token</a:t>
            </a:r>
            <a:endParaRPr lang="en-US" sz="1300" dirty="0"/>
          </a:p>
        </p:txBody>
      </p:sp>
      <p:sp>
        <p:nvSpPr>
          <p:cNvPr id="15" name="842bdf1d-ede0-46b2-a6a5-b8f49bdb53ab"/>
          <p:cNvSpPr/>
          <p:nvPr/>
        </p:nvSpPr>
        <p:spPr>
          <a:xfrm>
            <a:off x="3794760" y="3339619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app:憑證</a:t>
            </a:r>
            <a:endParaRPr lang="en-US" sz="1300" dirty="0"/>
          </a:p>
        </p:txBody>
      </p:sp>
      <p:sp>
        <p:nvSpPr>
          <p:cNvPr id="16" name="56bb325b-7b26-448f-849a-3d4e8baee7b1"/>
          <p:cNvSpPr/>
          <p:nvPr/>
        </p:nvSpPr>
        <p:spPr>
          <a:xfrm>
            <a:off x="3794760" y="4569941"/>
            <a:ext cx="1965960" cy="8909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CLI:PLAIN+LDAP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應用:SCRAM</a:t>
            </a:r>
            <a:endParaRPr lang="en-US" sz="1300" dirty="0"/>
          </a:p>
        </p:txBody>
      </p:sp>
      <p:sp>
        <p:nvSpPr>
          <p:cNvPr id="17" name="a16e28ed-f5db-431f-a373-1b7677ce44b7"/>
          <p:cNvSpPr/>
          <p:nvPr/>
        </p:nvSpPr>
        <p:spPr>
          <a:xfrm>
            <a:off x="3017520" y="2703246"/>
            <a:ext cx="594360" cy="0"/>
          </a:xfrm>
          <a:prstGeom prst="line">
            <a:avLst/>
          </a:prstGeom>
          <a:noFill/>
          <a:ln w="381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8" name="19dbcdca-f4e6-4676-83cc-a996fa2e4848"/>
          <p:cNvSpPr/>
          <p:nvPr/>
        </p:nvSpPr>
        <p:spPr>
          <a:xfrm>
            <a:off x="3017520" y="4654790"/>
            <a:ext cx="594360" cy="0"/>
          </a:xfrm>
          <a:prstGeom prst="line">
            <a:avLst/>
          </a:prstGeom>
          <a:noFill/>
          <a:ln w="381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eb79e0dc-d9e2-42a5-bbb7-a2de3c35b054"/>
          <p:cNvSpPr/>
          <p:nvPr/>
        </p:nvSpPr>
        <p:spPr>
          <a:xfrm>
            <a:off x="6492240" y="1642625"/>
            <a:ext cx="3566160" cy="3945512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0" name="4fcdc753-bd89-4a56-84f8-449f7a9a9c55"/>
          <p:cNvSpPr/>
          <p:nvPr/>
        </p:nvSpPr>
        <p:spPr>
          <a:xfrm>
            <a:off x="6675120" y="1702020"/>
            <a:ext cx="32004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叢集</a:t>
            </a:r>
            <a:endParaRPr lang="en-US" sz="1500" dirty="0"/>
          </a:p>
        </p:txBody>
      </p:sp>
      <p:sp>
        <p:nvSpPr>
          <p:cNvPr id="21" name="cf9f04a8-2152-4612-b756-425b49e0f300"/>
          <p:cNvSpPr/>
          <p:nvPr/>
        </p:nvSpPr>
        <p:spPr>
          <a:xfrm>
            <a:off x="6675120" y="2109298"/>
            <a:ext cx="150876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1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2" name="e5d6c3f6-7cbe-481f-9f37-250c68819a80"/>
          <p:cNvSpPr/>
          <p:nvPr/>
        </p:nvSpPr>
        <p:spPr>
          <a:xfrm>
            <a:off x="8275320" y="2109298"/>
            <a:ext cx="160020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2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3" name="24ca3f8c-5afd-4bea-ba2b-5a4af3279a4b"/>
          <p:cNvSpPr/>
          <p:nvPr/>
        </p:nvSpPr>
        <p:spPr>
          <a:xfrm>
            <a:off x="6675120" y="3424469"/>
            <a:ext cx="3200400" cy="678798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controller(正式 3 個)</a:t>
            </a:r>
            <a:endParaRPr lang="en-US" sz="1250" dirty="0"/>
          </a:p>
        </p:txBody>
      </p:sp>
      <p:sp>
        <p:nvSpPr>
          <p:cNvPr id="24" name="e843444a-fdef-4e7f-8b37-1dcbc513993a"/>
          <p:cNvSpPr/>
          <p:nvPr/>
        </p:nvSpPr>
        <p:spPr>
          <a:xfrm>
            <a:off x="6675120" y="4315391"/>
            <a:ext cx="320040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授權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topic:_confluent-metadata-auth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本地 cache</a:t>
            </a:r>
            <a:endParaRPr lang="en-US" sz="1300" dirty="0"/>
          </a:p>
        </p:txBody>
      </p:sp>
      <p:sp>
        <p:nvSpPr>
          <p:cNvPr id="25" name="22be2bf1-6459-4520-931a-c3e0d4583929"/>
          <p:cNvSpPr/>
          <p:nvPr/>
        </p:nvSpPr>
        <p:spPr>
          <a:xfrm>
            <a:off x="5943600" y="3594169"/>
            <a:ext cx="54864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6" name="8a673b9f-1eb4-4847-ba44-7bd59b93eb51"/>
          <p:cNvSpPr/>
          <p:nvPr/>
        </p:nvSpPr>
        <p:spPr>
          <a:xfrm>
            <a:off x="10607040" y="1642625"/>
            <a:ext cx="1143000" cy="1612145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c34d2a83-6609-472c-a8e6-086d85a0307d"/>
          <p:cNvSpPr/>
          <p:nvPr/>
        </p:nvSpPr>
        <p:spPr>
          <a:xfrm>
            <a:off x="10863072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a5f35369-411d-4350-b6b3-04c9e92874e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1003890" y="1900568"/>
            <a:ext cx="358445" cy="358445"/>
          </a:xfrm>
          <a:prstGeom prst="rect">
            <a:avLst/>
          </a:prstGeom>
        </p:spPr>
      </p:pic>
      <p:sp>
        <p:nvSpPr>
          <p:cNvPr id="29" name="6a9443c8-4091-4759-9bd5-7caa410fc418"/>
          <p:cNvSpPr/>
          <p:nvPr/>
        </p:nvSpPr>
        <p:spPr>
          <a:xfrm>
            <a:off x="10607040" y="2491122"/>
            <a:ext cx="11430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LDAP</a:t>
            </a:r>
            <a:endParaRPr lang="en-US" sz="1400" dirty="0"/>
          </a:p>
        </p:txBody>
      </p:sp>
      <p:sp>
        <p:nvSpPr>
          <p:cNvPr id="30" name="eb177b18-5a8b-40bc-a5d8-1556eb10749d"/>
          <p:cNvSpPr/>
          <p:nvPr/>
        </p:nvSpPr>
        <p:spPr>
          <a:xfrm>
            <a:off x="10058400" y="2448697"/>
            <a:ext cx="548640" cy="0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830f62ef-9ed0-4204-9079-239775e5f901"/>
          <p:cNvSpPr/>
          <p:nvPr/>
        </p:nvSpPr>
        <p:spPr>
          <a:xfrm>
            <a:off x="10607040" y="3551744"/>
            <a:ext cx="1143000" cy="20363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2" name="053713df-4ec4-4a23-b09e-aec22e159573"/>
          <p:cNvSpPr/>
          <p:nvPr/>
        </p:nvSpPr>
        <p:spPr>
          <a:xfrm>
            <a:off x="10863072" y="36790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3" name="b3b3feb5-dddb-4afe-9cb2-c3b33cb50c0e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1003890" y="3809687"/>
            <a:ext cx="358445" cy="358445"/>
          </a:xfrm>
          <a:prstGeom prst="rect">
            <a:avLst/>
          </a:prstGeom>
        </p:spPr>
      </p:pic>
      <p:sp>
        <p:nvSpPr>
          <p:cNvPr id="34" name="c4d352e5-89e4-43ec-870f-9407e6febe1c"/>
          <p:cNvSpPr/>
          <p:nvPr/>
        </p:nvSpPr>
        <p:spPr>
          <a:xfrm>
            <a:off x="10607040" y="4357816"/>
            <a:ext cx="114300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(C3 用)</a:t>
            </a:r>
            <a:endParaRPr lang="en-US" sz="1000" dirty="0"/>
          </a:p>
        </p:txBody>
      </p:sp>
      <p:sp>
        <p:nvSpPr>
          <p:cNvPr id="35" name="2b1d44a0-f355-4681-9c12-1a608c20e124"/>
          <p:cNvSpPr/>
          <p:nvPr/>
        </p:nvSpPr>
        <p:spPr>
          <a:xfrm>
            <a:off x="457200" y="5800262"/>
            <a:ext cx="91440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100" dirty="0"/>
          </a:p>
        </p:txBody>
      </p:sp>
      <p:sp>
        <p:nvSpPr>
          <p:cNvPr id="36" name="a5046c7d-fe40-4f3c-96b2-1a0b1ec8d0fe"/>
          <p:cNvSpPr/>
          <p:nvPr/>
        </p:nvSpPr>
        <p:spPr>
          <a:xfrm>
            <a:off x="1508760" y="5800262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 / 服務</a:t>
            </a:r>
            <a:endParaRPr lang="en-US" sz="1100" dirty="0"/>
          </a:p>
        </p:txBody>
      </p:sp>
      <p:sp>
        <p:nvSpPr>
          <p:cNvPr id="37" name="2c19db17-cc62-43d1-82c7-619c76dfa74d"/>
          <p:cNvSpPr/>
          <p:nvPr/>
        </p:nvSpPr>
        <p:spPr>
          <a:xfrm>
            <a:off x="32004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 / 平台</a:t>
            </a:r>
            <a:endParaRPr lang="en-US" sz="1100" dirty="0"/>
          </a:p>
        </p:txBody>
      </p:sp>
      <p:sp>
        <p:nvSpPr>
          <p:cNvPr id="38" name="7e47e889-9b64-4d34-babf-e77f8a1d116b"/>
          <p:cNvSpPr/>
          <p:nvPr/>
        </p:nvSpPr>
        <p:spPr>
          <a:xfrm>
            <a:off x="48006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/ RBAC</a:t>
            </a:r>
            <a:endParaRPr lang="en-US" sz="1100" dirty="0"/>
          </a:p>
        </p:txBody>
      </p:sp>
      <p:sp>
        <p:nvSpPr>
          <p:cNvPr id="39" name="859f2adb-8753-486f-bd39-87acfedd10b0"/>
          <p:cNvSpPr/>
          <p:nvPr/>
        </p:nvSpPr>
        <p:spPr>
          <a:xfrm>
            <a:off x="6583680" y="5800262"/>
            <a:ext cx="5120640" cy="356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授權集中在 MDS 的 RBAC;人綁 AD 群組,服務綁 User: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三條路徑,同一套 AD 群組授權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4d1669c-f528-45c9-b7f2-15807db299c2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9726828d-0903-4e60-8bdb-afd9c4d4981c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82a69a79-eb52-4834-8d73-0301e305da4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0cbcf9d1-bbd0-4c1e-b496-f549b124e100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</a:t>
            </a:r>
            <a:endParaRPr lang="en-US" sz="1400" dirty="0"/>
          </a:p>
        </p:txBody>
      </p:sp>
      <p:sp>
        <p:nvSpPr>
          <p:cNvPr id="6" name="fe88a2c0-008e-47fb-b52b-266aa421c138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MDS(LDAP)</a:t>
            </a:r>
            <a:endParaRPr lang="en-US" sz="1100" dirty="0"/>
          </a:p>
        </p:txBody>
      </p:sp>
      <p:sp>
        <p:nvSpPr>
          <p:cNvPr id="7" name="73540cfc-5d0d-4af4-82b0-d7990d103def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8" name="4422bfaa-9af5-49f8-9cb8-9ce6af733245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(JWT,壽命可設)</a:t>
            </a:r>
            <a:endParaRPr lang="en-US" sz="1100" dirty="0"/>
          </a:p>
        </p:txBody>
      </p:sp>
      <p:sp>
        <p:nvSpPr>
          <p:cNvPr id="9" name="b9bc2666-aa3d-47f2-80e8-f33abe3314c8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0" name="6eb44982-7673-44de-acc7-ddbd11ef3073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Bearer 帶本人身分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11" name="1c6add2d-43a7-4736-a87c-fa147297056b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9270fa4a-53f6-4569-8058-8ddd735fc776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13" name="aaadae06-cd92-46ce-ab51-a89fceed20b2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6a4ee1f9-a169-45d8-b20a-ea6508cf3508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e8c76c1b-1e25-4d0b-a5bd-c2f8db091b96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4d5b8315-b68a-449c-b4ef-cfb0f717eb9e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 直連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400" dirty="0"/>
          </a:p>
        </p:txBody>
      </p:sp>
      <p:sp>
        <p:nvSpPr>
          <p:cNvPr id="17" name="c690d889-5cf7-4f2c-b844-44b778c8ce08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</a:t>
            </a:r>
            <a:endParaRPr lang="en-US" sz="1100" dirty="0"/>
          </a:p>
        </p:txBody>
      </p:sp>
      <p:sp>
        <p:nvSpPr>
          <p:cNvPr id="18" name="c1dc5488-0915-4579-aec0-ea9ada39684e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9" name="fb9bc76f-747e-49e7-89b3-810c1c1e6e4c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轉 LDAP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驗證並取群組</a:t>
            </a:r>
            <a:endParaRPr lang="en-US" sz="1100" dirty="0"/>
          </a:p>
        </p:txBody>
      </p:sp>
      <p:sp>
        <p:nvSpPr>
          <p:cNvPr id="20" name="c1fc5892-6b77-4679-956e-d242127b6117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1" name="fb8d96a1-9144-40df-9284-97b6d3d8f784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22" name="43674b87-3575-4dce-9ead-7b6d7a4493db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9ad163bb-d0f1-4525-91d9-300980ae0d4f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留痕</a:t>
            </a:r>
            <a:endParaRPr lang="en-US" sz="1100" dirty="0"/>
          </a:p>
        </p:txBody>
      </p:sp>
      <p:sp>
        <p:nvSpPr>
          <p:cNvPr id="24" name="aa23a716-b6a7-4b1a-837a-8721b04273b0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5" name="330f0825-a27f-4ff4-b5c7-cc7b2120c2b7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6" name="049d939e-375e-4ff5-b92b-52055b621389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0045d5f8-6ef3-448f-a672-4622789b15a1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</a:t>
            </a:r>
            <a:endParaRPr lang="en-US" sz="1400" dirty="0"/>
          </a:p>
        </p:txBody>
      </p:sp>
      <p:sp>
        <p:nvSpPr>
          <p:cNvPr id="28" name="812b74c6-1cc7-4d36-8b20-707ee5b77057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</p:txBody>
      </p:sp>
      <p:sp>
        <p:nvSpPr>
          <p:cNvPr id="29" name="cc118cf4-63ef-43b9-9cf9-1adae00ed461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0" name="3e253306-5178-419f-a4c4-587bd25bdd10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驗證 → token</a:t>
            </a:r>
            <a:endParaRPr lang="en-US" sz="1100" dirty="0"/>
          </a:p>
        </p:txBody>
      </p:sp>
      <p:sp>
        <p:nvSpPr>
          <p:cNvPr id="31" name="16b6cc6d-967c-4bf6-a52d-e46de6b0006c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2" name="6d42e0ec-2812-4393-9124-22d5b66ed479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33" name="cbd45bee-1a44-4661-9d41-070f99eb09e8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4" name="658f0272-c552-402b-914b-a6dbb287052c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35" name="11db69cb-8bea-4f04-a98f-5b0ebeb30515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三條路徑最後都由 RBAC 依「AD 群組」授權:人員異動只改 AD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機器的完整路徑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身分在 Kafka 內或憑證,RBAC 綁 User: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d676d5ce-8386-4415-8e52-17cc7b09581f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d94a4b3b-1c06-4904-90f8-0fea06129318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" name="012019f9-d3b8-4101-ba8b-27952cacbf0d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814baf30-f372-4bd9-836c-dd38f7826fcd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應用服務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</a:t>
            </a:r>
            <a:endParaRPr lang="en-US" sz="1400" dirty="0"/>
          </a:p>
        </p:txBody>
      </p:sp>
      <p:sp>
        <p:nvSpPr>
          <p:cNvPr id="6" name="028c0c25-aa6d-4283-945d-0d2f1c3e9560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SASL/SCRAM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帳號密碼</a:t>
            </a:r>
            <a:endParaRPr lang="en-US" sz="1100" dirty="0"/>
          </a:p>
        </p:txBody>
      </p:sp>
      <p:sp>
        <p:nvSpPr>
          <p:cNvPr id="7" name="ecfba2f1-5598-4a67-954a-a882c2a8c6b8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8" name="4731fe30-e342-40c5-bcbd-d137bc5b959f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驗證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(帳密在 KRaft)</a:t>
            </a:r>
            <a:endParaRPr lang="en-US" sz="1100" dirty="0"/>
          </a:p>
        </p:txBody>
      </p:sp>
      <p:sp>
        <p:nvSpPr>
          <p:cNvPr id="9" name="99697cd4-463e-42dd-bc7f-48320f5eb6fd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0" name="d7e9c0a6-a086-419b-8e74-bc90fde5176d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User:svc-x</a:t>
            </a:r>
            <a:endParaRPr lang="en-US" sz="1100" dirty="0"/>
          </a:p>
        </p:txBody>
      </p:sp>
      <p:sp>
        <p:nvSpPr>
          <p:cNvPr id="11" name="863721d6-5e9f-41fc-88df-cc4a42867d7f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3b1c2722-f071-4024-8dd2-1488d098025d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留痕</a:t>
            </a:r>
            <a:endParaRPr lang="en-US" sz="1100" dirty="0"/>
          </a:p>
        </p:txBody>
      </p:sp>
      <p:sp>
        <p:nvSpPr>
          <p:cNvPr id="13" name="eba3adde-3eab-44c7-baa4-2b0e5f3500eb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4" name="4edfd07b-c45b-48c0-b004-0d50e4f138c7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e467488a-e508-410c-b59c-d5bc6a26a098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fa10354f-3fee-4532-97e5-6ab3eab9836f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</a:t>
            </a:r>
            <a:endParaRPr lang="en-US" sz="1400" dirty="0"/>
          </a:p>
        </p:txBody>
      </p:sp>
      <p:sp>
        <p:nvSpPr>
          <p:cNvPr id="17" name="c9ace8f4-7639-4be1-a8ba-ac8f72696612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 = 主體)</a:t>
            </a:r>
            <a:endParaRPr lang="en-US" sz="1100" dirty="0"/>
          </a:p>
        </p:txBody>
      </p:sp>
      <p:sp>
        <p:nvSpPr>
          <p:cNvPr id="18" name="a6643334-f5bb-49a4-b027-82d1271da916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084e5b82-908b-4578-ab10-e7c825a53081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對映 DN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/impersonate</a:t>
            </a:r>
            <a:endParaRPr lang="en-US" sz="1100" dirty="0"/>
          </a:p>
        </p:txBody>
      </p:sp>
      <p:sp>
        <p:nvSpPr>
          <p:cNvPr id="20" name="7628c7d4-7125-486a-866c-1bf9dbcadf33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0a73c75d-f76e-46cf-acaf-d050d222877e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</p:txBody>
      </p:sp>
      <p:sp>
        <p:nvSpPr>
          <p:cNvPr id="22" name="1f6862b6-5058-46c9-a303-fd4df7b7b769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3" name="690ae082-b69e-4ba8-917f-be13167890cd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User:app</a:t>
            </a:r>
            <a:endParaRPr lang="en-US" sz="1100" dirty="0"/>
          </a:p>
        </p:txBody>
      </p:sp>
      <p:sp>
        <p:nvSpPr>
          <p:cNvPr id="24" name="29c5e69b-518a-4b71-be48-812ec071f095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5" name="1444e41c-6b06-4f11-b389-0de1a8690ea6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47eef3c3-988d-4d24-8e77-385735853fee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38e79ca6-707d-48d7-ad23-c8a40d72d8e3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</a:t>
            </a:r>
            <a:endParaRPr lang="en-US" sz="1400" dirty="0"/>
          </a:p>
        </p:txBody>
      </p:sp>
      <p:sp>
        <p:nvSpPr>
          <p:cNvPr id="28" name="7df9ac4c-0aa3-424d-9afb-8bdc41574562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(CN=c3 / restproxy)</a:t>
            </a:r>
            <a:endParaRPr lang="en-US" sz="1100" dirty="0"/>
          </a:p>
        </p:txBody>
      </p:sp>
      <p:sp>
        <p:nvSpPr>
          <p:cNvPr id="29" name="65cd4b5a-35ec-4826-a59f-b7b68dd1551e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0" name="fe0ecd0c-f93b-4799-a0cb-8feadd7e5a49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換 token</a:t>
            </a:r>
            <a:endParaRPr lang="en-US" sz="1100" dirty="0"/>
          </a:p>
        </p:txBody>
      </p:sp>
      <p:sp>
        <p:nvSpPr>
          <p:cNvPr id="31" name="cf0e7d84-25d7-433a-8fdd-24c6c1a53e3e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2" name="499d44fa-634f-416c-8c53-829d04b29600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或專屬 role</a:t>
            </a:r>
            <a:endParaRPr lang="en-US" sz="1100" dirty="0"/>
          </a:p>
        </p:txBody>
      </p:sp>
      <p:sp>
        <p:nvSpPr>
          <p:cNvPr id="33" name="98b36469-87e5-4377-b03f-2ac02ce254e2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4" name="7a90e066-32e3-4958-95d0-db6721e24390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protected.users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防被冒充</a:t>
            </a:r>
            <a:endParaRPr lang="en-US" sz="1100" dirty="0"/>
          </a:p>
        </p:txBody>
      </p:sp>
      <p:sp>
        <p:nvSpPr>
          <p:cNvPr id="35" name="36914497-f7bd-4120-8150-a4605da19178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機器不進 AD:身分在 Kafka 內(SCRAM)或憑證(CN),RBAC 綁 User: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要管理的憑證與帳號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客戶實際要維運的清單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2" name="90792500-c890-45cd-97e3-fc715b20dbb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3566160"/>
                <a:gridCol w="35021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數量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存放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 / 備註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憑證(共用)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所有節點 secrets 目錄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涵蓋全部;逐台換;換 CA 時 truststore 先信任新舊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3(c3 · restproxy · bootstrap)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對應主機;bootstrap 離線保管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 CN,CN 不變則不用重綁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app 1 張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app 主機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可省:若客戶能建一般 AD user,改 Basic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服務帳號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每個服務 1 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內;密碼放密碼庫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密碼不自動到期 → 輪替流程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唯讀查詢帳號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設定(權限 600)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只讀 user / group OU;建議 LDAPS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SCRAM 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內;密碼封存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與 bootstrap 憑證同名的 super user;break-glass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人員異動只改 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ea762982-d140-4325-9534-e53ee4875bfd"/>
          <p:cNvSpPr/>
          <p:nvPr/>
        </p:nvSpPr>
        <p:spPr>
          <a:xfrm>
            <a:off x="548640" y="584268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最少化:1 server 憑證 + 2 長期 client 憑證 + 1 備用(bootstrap)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導入步驟(RHEL 9 手動部署)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沒有 Ansible:先標準化手動流程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da8522ff-33f0-4f40-946b-d6ffe3570e9b"/>
          <p:cNvSpPr/>
          <p:nvPr/>
        </p:nvSpPr>
        <p:spPr>
          <a:xfrm>
            <a:off x="5486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5f4216d3-7494-498f-9f34-5328bf99dac3"/>
          <p:cNvSpPr/>
          <p:nvPr/>
        </p:nvSpPr>
        <p:spPr>
          <a:xfrm>
            <a:off x="11887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294d7c0d-f656-43e1-a3aa-4753e997264b"/>
          <p:cNvSpPr/>
          <p:nvPr/>
        </p:nvSpPr>
        <p:spPr>
          <a:xfrm>
            <a:off x="10972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5c6f3229-58fd-43e7-b000-5b6390b6348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28039" y="2485183"/>
            <a:ext cx="332842" cy="332842"/>
          </a:xfrm>
          <a:prstGeom prst="rect">
            <a:avLst/>
          </a:prstGeom>
        </p:spPr>
      </p:pic>
      <p:sp>
        <p:nvSpPr>
          <p:cNvPr id="6" name="361dcb31-bcf9-4e7f-931d-039f8fae1fd7"/>
          <p:cNvSpPr/>
          <p:nvPr/>
        </p:nvSpPr>
        <p:spPr>
          <a:xfrm>
            <a:off x="6217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憑證與 truststore</a:t>
            </a:r>
            <a:endParaRPr lang="en-US" sz="1250" dirty="0"/>
          </a:p>
        </p:txBody>
      </p:sp>
      <p:sp>
        <p:nvSpPr>
          <p:cNvPr id="7" name="6ac84855-c234-442a-b4fc-d16b9b131515"/>
          <p:cNvSpPr/>
          <p:nvPr/>
        </p:nvSpPr>
        <p:spPr>
          <a:xfrm>
            <a:off x="6400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AD 的 LDAPS CA</a:t>
            </a:r>
            <a:endParaRPr lang="en-US" sz="1050" dirty="0"/>
          </a:p>
        </p:txBody>
      </p:sp>
      <p:sp>
        <p:nvSpPr>
          <p:cNvPr id="8" name="3487697a-2f3d-4c67-b061-d15ea0fd8c76"/>
          <p:cNvSpPr/>
          <p:nvPr/>
        </p:nvSpPr>
        <p:spPr>
          <a:xfrm>
            <a:off x="224028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" name="e95bca73-51a5-45c3-a22e-d2f3dc54309c"/>
          <p:cNvSpPr/>
          <p:nvPr/>
        </p:nvSpPr>
        <p:spPr>
          <a:xfrm>
            <a:off x="242316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0" name="69d15e5c-b6ab-4ef4-b826-10e94a59ed89"/>
          <p:cNvSpPr/>
          <p:nvPr/>
        </p:nvSpPr>
        <p:spPr>
          <a:xfrm>
            <a:off x="306324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0b30242a-b4c9-43dd-a30a-887fc499bebb"/>
          <p:cNvSpPr/>
          <p:nvPr/>
        </p:nvSpPr>
        <p:spPr>
          <a:xfrm>
            <a:off x="297180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e3d18dde-b309-4318-b066-2ae7cefb893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102559" y="2485183"/>
            <a:ext cx="332842" cy="332842"/>
          </a:xfrm>
          <a:prstGeom prst="rect">
            <a:avLst/>
          </a:prstGeom>
        </p:spPr>
      </p:pic>
      <p:sp>
        <p:nvSpPr>
          <p:cNvPr id="13" name="b2845d0f-d5b1-4482-871d-46ddfcdc9ded"/>
          <p:cNvSpPr/>
          <p:nvPr/>
        </p:nvSpPr>
        <p:spPr>
          <a:xfrm>
            <a:off x="249631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50" dirty="0"/>
          </a:p>
        </p:txBody>
      </p:sp>
      <p:sp>
        <p:nvSpPr>
          <p:cNvPr id="14" name="5b344049-ac7b-4471-a09f-bc9d9da856ac"/>
          <p:cNvSpPr/>
          <p:nvPr/>
        </p:nvSpPr>
        <p:spPr>
          <a:xfrm>
            <a:off x="251460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format + add-scram</a:t>
            </a:r>
            <a:endParaRPr lang="en-US" sz="1050" dirty="0"/>
          </a:p>
        </p:txBody>
      </p:sp>
      <p:sp>
        <p:nvSpPr>
          <p:cNvPr id="15" name="1a07c67a-b322-4400-9f01-3cdc24a314a0"/>
          <p:cNvSpPr/>
          <p:nvPr/>
        </p:nvSpPr>
        <p:spPr>
          <a:xfrm>
            <a:off x="411480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" name="9eb1dfbd-c051-4ec6-b07a-4e0c9589d575"/>
          <p:cNvSpPr/>
          <p:nvPr/>
        </p:nvSpPr>
        <p:spPr>
          <a:xfrm>
            <a:off x="429768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7" name="0518f00c-a90d-43ef-9abd-15197dc3730e"/>
          <p:cNvSpPr/>
          <p:nvPr/>
        </p:nvSpPr>
        <p:spPr>
          <a:xfrm>
            <a:off x="493776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b35d33fe-6c3e-4db2-b53d-e159000aa958"/>
          <p:cNvSpPr/>
          <p:nvPr/>
        </p:nvSpPr>
        <p:spPr>
          <a:xfrm>
            <a:off x="484632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da18ac3f-4e1b-4384-9f13-a0ffee14b73e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977079" y="2485183"/>
            <a:ext cx="332842" cy="332842"/>
          </a:xfrm>
          <a:prstGeom prst="rect">
            <a:avLst/>
          </a:prstGeom>
        </p:spPr>
      </p:pic>
      <p:sp>
        <p:nvSpPr>
          <p:cNvPr id="20" name="247436c9-46e6-464a-bed2-b82a7a1f56c4"/>
          <p:cNvSpPr/>
          <p:nvPr/>
        </p:nvSpPr>
        <p:spPr>
          <a:xfrm>
            <a:off x="437083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+ MDS + LDAP</a:t>
            </a:r>
            <a:endParaRPr lang="en-US" sz="1250" dirty="0"/>
          </a:p>
        </p:txBody>
      </p:sp>
      <p:sp>
        <p:nvSpPr>
          <p:cNvPr id="21" name="2bcd6931-fcba-4007-9a22-bda860bde5c4"/>
          <p:cNvSpPr/>
          <p:nvPr/>
        </p:nvSpPr>
        <p:spPr>
          <a:xfrm>
            <a:off x="438912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 listener</a:t>
            </a:r>
            <a:endParaRPr lang="en-US" sz="1050" dirty="0"/>
          </a:p>
        </p:txBody>
      </p:sp>
      <p:sp>
        <p:nvSpPr>
          <p:cNvPr id="22" name="7bbb98b6-aac2-4b1c-8c3f-417e196fafe7"/>
          <p:cNvSpPr/>
          <p:nvPr/>
        </p:nvSpPr>
        <p:spPr>
          <a:xfrm>
            <a:off x="598932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f187f813-9b4a-435a-86d6-c036b1c545db"/>
          <p:cNvSpPr/>
          <p:nvPr/>
        </p:nvSpPr>
        <p:spPr>
          <a:xfrm>
            <a:off x="617220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abf08e97-166d-454f-8522-c420e8da1500"/>
          <p:cNvSpPr/>
          <p:nvPr/>
        </p:nvSpPr>
        <p:spPr>
          <a:xfrm>
            <a:off x="681228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fb5cab93-0ceb-4cc3-a6f2-c82bebc6016d"/>
          <p:cNvSpPr/>
          <p:nvPr/>
        </p:nvSpPr>
        <p:spPr>
          <a:xfrm>
            <a:off x="672084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e3318965-9488-4e48-86f0-7ef3916266b8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851599" y="2485183"/>
            <a:ext cx="332842" cy="332842"/>
          </a:xfrm>
          <a:prstGeom prst="rect">
            <a:avLst/>
          </a:prstGeom>
        </p:spPr>
      </p:pic>
      <p:sp>
        <p:nvSpPr>
          <p:cNvPr id="27" name="3bb3a124-c164-4932-b4e6-d660f24e0425"/>
          <p:cNvSpPr/>
          <p:nvPr/>
        </p:nvSpPr>
        <p:spPr>
          <a:xfrm>
            <a:off x="624535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第一批 role binding</a:t>
            </a:r>
            <a:endParaRPr lang="en-US" sz="1250" dirty="0"/>
          </a:p>
        </p:txBody>
      </p:sp>
      <p:sp>
        <p:nvSpPr>
          <p:cNvPr id="28" name="46f966d6-b4a6-4e79-86a7-8cbb615cb50a"/>
          <p:cNvSpPr/>
          <p:nvPr/>
        </p:nvSpPr>
        <p:spPr>
          <a:xfrm>
            <a:off x="626364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 → kafka-admins</a:t>
            </a:r>
            <a:endParaRPr lang="en-US" sz="1050" dirty="0"/>
          </a:p>
        </p:txBody>
      </p:sp>
      <p:sp>
        <p:nvSpPr>
          <p:cNvPr id="29" name="78eb8b68-414b-40fe-864a-4bc9bc35875c"/>
          <p:cNvSpPr/>
          <p:nvPr/>
        </p:nvSpPr>
        <p:spPr>
          <a:xfrm>
            <a:off x="786384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0" name="993f5d3f-2907-403a-a372-6f2f7f7f6a36"/>
          <p:cNvSpPr/>
          <p:nvPr/>
        </p:nvSpPr>
        <p:spPr>
          <a:xfrm>
            <a:off x="804672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1" name="1f562e68-82ef-40ea-bfad-71850edbd52e"/>
          <p:cNvSpPr/>
          <p:nvPr/>
        </p:nvSpPr>
        <p:spPr>
          <a:xfrm>
            <a:off x="868680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9c7ecdde-5ac0-4fc6-b5c9-0a1e521d55da"/>
          <p:cNvSpPr/>
          <p:nvPr/>
        </p:nvSpPr>
        <p:spPr>
          <a:xfrm>
            <a:off x="859536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3" name="429dd07e-db9d-42da-aa78-d94ce4cb7305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8726119" y="2485183"/>
            <a:ext cx="332842" cy="332842"/>
          </a:xfrm>
          <a:prstGeom prst="rect">
            <a:avLst/>
          </a:prstGeom>
        </p:spPr>
      </p:pic>
      <p:sp>
        <p:nvSpPr>
          <p:cNvPr id="34" name="7faa8cd3-b12b-4f91-83fb-51392a37e967"/>
          <p:cNvSpPr/>
          <p:nvPr/>
        </p:nvSpPr>
        <p:spPr>
          <a:xfrm>
            <a:off x="811987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· C3 · 監控</a:t>
            </a:r>
            <a:endParaRPr lang="en-US" sz="1250" dirty="0"/>
          </a:p>
        </p:txBody>
      </p:sp>
      <p:sp>
        <p:nvSpPr>
          <p:cNvPr id="35" name="bc3140bf-22b2-4171-bb0d-6e1ae67e8488"/>
          <p:cNvSpPr/>
          <p:nvPr/>
        </p:nvSpPr>
        <p:spPr>
          <a:xfrm>
            <a:off x="813816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 + Alertmanager</a:t>
            </a:r>
            <a:endParaRPr lang="en-US" sz="1050" dirty="0"/>
          </a:p>
        </p:txBody>
      </p:sp>
      <p:sp>
        <p:nvSpPr>
          <p:cNvPr id="36" name="d5ab2fb9-17f0-45e4-a5b8-039839a9c8c5"/>
          <p:cNvSpPr/>
          <p:nvPr/>
        </p:nvSpPr>
        <p:spPr>
          <a:xfrm>
            <a:off x="973836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7" name="b9ab4dc1-55a0-4251-8b43-d77402e352ab"/>
          <p:cNvSpPr/>
          <p:nvPr/>
        </p:nvSpPr>
        <p:spPr>
          <a:xfrm>
            <a:off x="99212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1a91d746-20ba-48f3-956e-be04ce02e199"/>
          <p:cNvSpPr/>
          <p:nvPr/>
        </p:nvSpPr>
        <p:spPr>
          <a:xfrm>
            <a:off x="105613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8afb7aef-25ef-4ed9-af66-e2a7787107c1"/>
          <p:cNvSpPr/>
          <p:nvPr/>
        </p:nvSpPr>
        <p:spPr>
          <a:xfrm>
            <a:off x="104698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086466a1-972c-4f2c-9195-6458b543b83f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0600639" y="2485183"/>
            <a:ext cx="332842" cy="332842"/>
          </a:xfrm>
          <a:prstGeom prst="rect">
            <a:avLst/>
          </a:prstGeom>
        </p:spPr>
      </p:pic>
      <p:sp>
        <p:nvSpPr>
          <p:cNvPr id="41" name="ecae5beb-451d-4403-b5b5-f63c12d93373"/>
          <p:cNvSpPr/>
          <p:nvPr/>
        </p:nvSpPr>
        <p:spPr>
          <a:xfrm>
            <a:off x="99943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與驗證</a:t>
            </a:r>
            <a:endParaRPr lang="en-US" sz="1250" dirty="0"/>
          </a:p>
        </p:txBody>
      </p:sp>
      <p:sp>
        <p:nvSpPr>
          <p:cNvPr id="42" name="c7cba4eb-7dce-470e-b013-8852918edcc8"/>
          <p:cNvSpPr/>
          <p:nvPr/>
        </p:nvSpPr>
        <p:spPr>
          <a:xfrm>
            <a:off x="100126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路由 + 逐項驗證</a:t>
            </a:r>
            <a:endParaRPr lang="en-US" sz="1050" dirty="0"/>
          </a:p>
        </p:txBody>
      </p:sp>
      <p:sp>
        <p:nvSpPr>
          <p:cNvPr id="43" name="f91b0caa-e3a1-4db4-aa40-4a43a958e4ab"/>
          <p:cNvSpPr/>
          <p:nvPr/>
        </p:nvSpPr>
        <p:spPr>
          <a:xfrm>
            <a:off x="548640" y="452751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順序錯誤需重新 format:controller 要在 broker 啟動前預建 SCRAM 憑證</a:t>
            </a:r>
            <a:endParaRPr lang="en-US" sz="1300" dirty="0"/>
          </a:p>
        </p:txBody>
      </p:sp>
      <p:sp>
        <p:nvSpPr>
          <p:cNvPr id="44" name="69a061fe-4e93-4fe8-98fe-28c208c191e4"/>
          <p:cNvSpPr/>
          <p:nvPr/>
        </p:nvSpPr>
        <p:spPr>
          <a:xfrm>
            <a:off x="548640" y="50366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改設定:systemctl 逐台滾動重啟;demo 曾因強殺 controller 留下空 snapshot 而遺失 SCRAM 憑證 → 停止逾時要足夠</a:t>
            </a:r>
            <a:endParaRPr lang="en-US" sz="1200" dirty="0"/>
          </a:p>
        </p:txBody>
      </p:sp>
      <p:sp>
        <p:nvSpPr>
          <p:cNvPr id="45" name="780d874e-f3e0-4430-861f-d4f44ea53bde"/>
          <p:cNvSpPr/>
          <p:nvPr/>
        </p:nvSpPr>
        <p:spPr>
          <a:xfrm>
            <a:off x="548640" y="5588137"/>
            <a:ext cx="11091672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的 14 個章節對應每一步的驗證;路徑與 systemd 單元需在 RHEL 實機核對(本專案未在 RHEL 實機驗證)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六個主要風險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91ceb29-1385-48f8-8e1d-f20d28135bcf"/>
          <p:cNvSpPr/>
          <p:nvPr/>
        </p:nvSpPr>
        <p:spPr>
          <a:xfrm>
            <a:off x="548640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b6aa1ab1-701f-4495-8ace-b12fdff04cbb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12143014-7b3e-44d8-804e-f506e38eb30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ce70f071-800d-446d-9cef-4b6263acd3eb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</a:t>
            </a:r>
            <a:endParaRPr lang="en-US" sz="1350" dirty="0"/>
          </a:p>
        </p:txBody>
      </p:sp>
      <p:sp>
        <p:nvSpPr>
          <p:cNvPr id="6" name="8070b7a9-5add-4e49-bc2d-76e07f31478e"/>
          <p:cNvSpPr/>
          <p:nvPr/>
        </p:nvSpPr>
        <p:spPr>
          <a:xfrm>
            <a:off x="685800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發現:能建立 / 刪除 role binding;拿掉權限 C3 會退出(實測)</a:t>
            </a:r>
            <a:endParaRPr lang="en-US" sz="1050" dirty="0"/>
          </a:p>
        </p:txBody>
      </p:sp>
      <p:sp>
        <p:nvSpPr>
          <p:cNvPr id="7" name="560cb4ac-ef93-46fd-9d3b-cde21f6f1410"/>
          <p:cNvSpPr/>
          <p:nvPr/>
        </p:nvSpPr>
        <p:spPr>
          <a:xfrm>
            <a:off x="685800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對策:保護私鑰與檔案權限;列入保護清單</a:t>
            </a:r>
            <a:endParaRPr lang="en-US" sz="1050" dirty="0"/>
          </a:p>
        </p:txBody>
      </p:sp>
      <p:sp>
        <p:nvSpPr>
          <p:cNvPr id="8" name="b60c9c5f-d70f-46b4-806b-d31992248d29"/>
          <p:cNvSpPr/>
          <p:nvPr/>
        </p:nvSpPr>
        <p:spPr>
          <a:xfrm>
            <a:off x="4325112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87b911c7-7e85-4d56-b937-c821b7718333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d46024ee-fa9c-4640-89ef-4c10c84e980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14034f4f-0243-46f0-8d77-d930d1f7f6d0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 憑證可代人</a:t>
            </a:r>
            <a:endParaRPr lang="en-US" sz="1350" dirty="0"/>
          </a:p>
        </p:txBody>
      </p:sp>
      <p:sp>
        <p:nvSpPr>
          <p:cNvPr id="12" name="fc7fe010-30a2-478c-9544-65b220c73615"/>
          <p:cNvSpPr/>
          <p:nvPr/>
        </p:nvSpPr>
        <p:spPr>
          <a:xfrm>
            <a:off x="4462272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發現:可代不在保護清單的使用者;混入 Group: 整份失效</a:t>
            </a:r>
            <a:endParaRPr lang="en-US" sz="1050" dirty="0"/>
          </a:p>
        </p:txBody>
      </p:sp>
      <p:sp>
        <p:nvSpPr>
          <p:cNvPr id="13" name="849920c1-6a49-4f30-8631-8e0d696576c2"/>
          <p:cNvSpPr/>
          <p:nvPr/>
        </p:nvSpPr>
        <p:spPr>
          <a:xfrm>
            <a:off x="4462272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對策:特權身分逐一以 User: 列入</a:t>
            </a:r>
            <a:endParaRPr lang="en-US" sz="1050" dirty="0"/>
          </a:p>
        </p:txBody>
      </p:sp>
      <p:sp>
        <p:nvSpPr>
          <p:cNvPr id="14" name="72c4c34d-4d1c-4297-b32b-dc18e2438b36"/>
          <p:cNvSpPr/>
          <p:nvPr/>
        </p:nvSpPr>
        <p:spPr>
          <a:xfrm>
            <a:off x="8101584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e55fa498-391d-4f16-9384-7710ff60b342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d0b86c53-0f33-4491-bfa7-ec3695927a4f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6977b270-e57a-4721-9b0e-d964feaa9ee3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server 私鑰</a:t>
            </a:r>
            <a:endParaRPr lang="en-US" sz="1350" dirty="0"/>
          </a:p>
        </p:txBody>
      </p:sp>
      <p:sp>
        <p:nvSpPr>
          <p:cNvPr id="18" name="d71fa59e-9d5e-4264-a255-b5d63c93ad6b"/>
          <p:cNvSpPr/>
          <p:nvPr/>
        </p:nvSpPr>
        <p:spPr>
          <a:xfrm>
            <a:off x="8238744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發現:外洩 = 可偽裝伺服器,也能以共用身分向 MDS 認證(無權限)</a:t>
            </a:r>
            <a:endParaRPr lang="en-US" sz="1050" dirty="0"/>
          </a:p>
        </p:txBody>
      </p:sp>
      <p:sp>
        <p:nvSpPr>
          <p:cNvPr id="19" name="c8f3b32a-e285-421b-a0e4-7248b636168c"/>
          <p:cNvSpPr/>
          <p:nvPr/>
        </p:nvSpPr>
        <p:spPr>
          <a:xfrm>
            <a:off x="8238744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對策:權限 600;最小化存放;輪替計畫;該身分不綁 role</a:t>
            </a:r>
            <a:endParaRPr lang="en-US" sz="1050" dirty="0"/>
          </a:p>
        </p:txBody>
      </p:sp>
      <p:sp>
        <p:nvSpPr>
          <p:cNvPr id="20" name="4f3066bb-0824-4781-91a2-14df436d3ae2"/>
          <p:cNvSpPr/>
          <p:nvPr/>
        </p:nvSpPr>
        <p:spPr>
          <a:xfrm>
            <a:off x="548640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7262292d-f6d7-4601-8caa-b74894028e3f"/>
          <p:cNvSpPr/>
          <p:nvPr/>
        </p:nvSpPr>
        <p:spPr>
          <a:xfrm>
            <a:off x="685800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2" name="7ed53aa2-d3fc-4509-9c2a-b88281734607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96442" y="4222905"/>
            <a:ext cx="281635" cy="281635"/>
          </a:xfrm>
          <a:prstGeom prst="rect">
            <a:avLst/>
          </a:prstGeom>
        </p:spPr>
      </p:pic>
      <p:sp>
        <p:nvSpPr>
          <p:cNvPr id="23" name="1368532a-c57a-44ed-b286-a1d55a68c3db"/>
          <p:cNvSpPr/>
          <p:nvPr/>
        </p:nvSpPr>
        <p:spPr>
          <a:xfrm>
            <a:off x="1280160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密碼不到期</a:t>
            </a:r>
            <a:endParaRPr lang="en-US" sz="1350" dirty="0"/>
          </a:p>
        </p:txBody>
      </p:sp>
      <p:sp>
        <p:nvSpPr>
          <p:cNvPr id="24" name="e3548640-74a1-4e6f-8f46-5e9afef1b660"/>
          <p:cNvSpPr/>
          <p:nvPr/>
        </p:nvSpPr>
        <p:spPr>
          <a:xfrm>
            <a:off x="685800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發現:長期不換 → 外洩風險累積</a:t>
            </a:r>
            <a:endParaRPr lang="en-US" sz="1050" dirty="0"/>
          </a:p>
        </p:txBody>
      </p:sp>
      <p:sp>
        <p:nvSpPr>
          <p:cNvPr id="25" name="35f303c4-75d7-48da-92a6-ce8356f731eb"/>
          <p:cNvSpPr/>
          <p:nvPr/>
        </p:nvSpPr>
        <p:spPr>
          <a:xfrm>
            <a:off x="685800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對策:密碼庫 + 輪替流程 + 提醒</a:t>
            </a:r>
            <a:endParaRPr lang="en-US" sz="1050" dirty="0"/>
          </a:p>
        </p:txBody>
      </p:sp>
      <p:sp>
        <p:nvSpPr>
          <p:cNvPr id="26" name="4e25728e-1a8e-4144-a461-0406a1c0405e"/>
          <p:cNvSpPr/>
          <p:nvPr/>
        </p:nvSpPr>
        <p:spPr>
          <a:xfrm>
            <a:off x="4325112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8b199b41-a5ca-484d-8323-738ad3ea08aa"/>
          <p:cNvSpPr/>
          <p:nvPr/>
        </p:nvSpPr>
        <p:spPr>
          <a:xfrm>
            <a:off x="4462272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8" name="11205ea3-5705-4d03-87b4-2ced704322cf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572914" y="4222905"/>
            <a:ext cx="281635" cy="281635"/>
          </a:xfrm>
          <a:prstGeom prst="rect">
            <a:avLst/>
          </a:prstGeom>
        </p:spPr>
      </p:pic>
      <p:sp>
        <p:nvSpPr>
          <p:cNvPr id="29" name="527064e7-4407-4091-9020-5c9d2891f0b8"/>
          <p:cNvSpPr/>
          <p:nvPr/>
        </p:nvSpPr>
        <p:spPr>
          <a:xfrm>
            <a:off x="5056632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監控元件預設未認證</a:t>
            </a:r>
            <a:endParaRPr lang="en-US" sz="1350" dirty="0"/>
          </a:p>
        </p:txBody>
      </p:sp>
      <p:sp>
        <p:nvSpPr>
          <p:cNvPr id="30" name="92d9e994-cbe3-438d-8366-49ccaab5b8d1"/>
          <p:cNvSpPr/>
          <p:nvPr/>
        </p:nvSpPr>
        <p:spPr>
          <a:xfrm>
            <a:off x="4462272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發現:Prometheus / Alertmanager 可無認證讀寫</a:t>
            </a:r>
            <a:endParaRPr lang="en-US" sz="1050" dirty="0"/>
          </a:p>
        </p:txBody>
      </p:sp>
      <p:sp>
        <p:nvSpPr>
          <p:cNvPr id="31" name="b5d02710-c447-4fcd-bc87-e8f02e628101"/>
          <p:cNvSpPr/>
          <p:nvPr/>
        </p:nvSpPr>
        <p:spPr>
          <a:xfrm>
            <a:off x="4462272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對策:啟用 TLS + Basic;未啟用時網路隔離</a:t>
            </a:r>
            <a:endParaRPr lang="en-US" sz="1050" dirty="0"/>
          </a:p>
        </p:txBody>
      </p:sp>
      <p:sp>
        <p:nvSpPr>
          <p:cNvPr id="32" name="c0a55a15-4ee5-452f-a802-08eea34ff136"/>
          <p:cNvSpPr/>
          <p:nvPr/>
        </p:nvSpPr>
        <p:spPr>
          <a:xfrm>
            <a:off x="8101584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71a812bf-c413-4716-8fde-3d02c1353ee4"/>
          <p:cNvSpPr/>
          <p:nvPr/>
        </p:nvSpPr>
        <p:spPr>
          <a:xfrm>
            <a:off x="8238744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4" name="35a2c7a2-b325-4f03-84cc-ac977e4f7db4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8349386" y="4222905"/>
            <a:ext cx="281635" cy="281635"/>
          </a:xfrm>
          <a:prstGeom prst="rect">
            <a:avLst/>
          </a:prstGeom>
        </p:spPr>
      </p:pic>
      <p:sp>
        <p:nvSpPr>
          <p:cNvPr id="35" name="abe53da5-8934-46bc-811a-9e43e6afcd75"/>
          <p:cNvSpPr/>
          <p:nvPr/>
        </p:nvSpPr>
        <p:spPr>
          <a:xfrm>
            <a:off x="8833104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不是全記</a:t>
            </a:r>
            <a:endParaRPr lang="en-US" sz="1350" dirty="0"/>
          </a:p>
        </p:txBody>
      </p:sp>
      <p:sp>
        <p:nvSpPr>
          <p:cNvPr id="36" name="4215e554-44af-402b-a017-f90daa66ca54"/>
          <p:cNvSpPr/>
          <p:nvPr/>
        </p:nvSpPr>
        <p:spPr>
          <a:xfrm>
            <a:off x="8238744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發現:部分拒絕查不到;成功的 consume 預設不記(避免洗版)</a:t>
            </a:r>
            <a:endParaRPr lang="en-US" sz="1050" dirty="0"/>
          </a:p>
        </p:txBody>
      </p:sp>
      <p:sp>
        <p:nvSpPr>
          <p:cNvPr id="37" name="d162279b-41ba-4ead-8f5f-9a4efda62766"/>
          <p:cNvSpPr/>
          <p:nvPr/>
        </p:nvSpPr>
        <p:spPr>
          <a:xfrm>
            <a:off x="8238744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對策:稽核需求另外盤點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風險與對策(續)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最需要補驗證的項目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ee95ea6-8734-4c7d-bc2a-063a251556f6"/>
          <p:cNvSpPr/>
          <p:nvPr/>
        </p:nvSpPr>
        <p:spPr>
          <a:xfrm>
            <a:off x="548640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d940ba02-3661-443c-97eb-11cc29fd7a93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06cf52f8-61d9-466a-b55f-6f0ace0b965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197f5385-1355-45b4-b78b-c29aef631320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 cookie 優先於 Basic</a:t>
            </a:r>
            <a:endParaRPr lang="en-US" sz="1350" dirty="0"/>
          </a:p>
        </p:txBody>
      </p:sp>
      <p:sp>
        <p:nvSpPr>
          <p:cNvPr id="6" name="f9c2c4d4-448a-4ecc-9e43-fe5f874e22d7"/>
          <p:cNvSpPr/>
          <p:nvPr/>
        </p:nvSpPr>
        <p:spPr>
          <a:xfrm>
            <a:off x="685800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發現:MDS 驗證後回 auth_token cookie,優先於 Basic:同一 session 換身分仍以前一人執行(實測:誤新增 role binding)</a:t>
            </a:r>
            <a:endParaRPr lang="en-US" sz="1050" dirty="0"/>
          </a:p>
        </p:txBody>
      </p:sp>
      <p:sp>
        <p:nvSpPr>
          <p:cNvPr id="7" name="06d44dd4-c37e-4974-9b4e-9546261eb16f"/>
          <p:cNvSpPr/>
          <p:nvPr/>
        </p:nvSpPr>
        <p:spPr>
          <a:xfrm>
            <a:off x="685800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對策:換身分前清除 cookie;collection 層級 pre-request 清除</a:t>
            </a:r>
            <a:endParaRPr lang="en-US" sz="1050" dirty="0"/>
          </a:p>
        </p:txBody>
      </p:sp>
      <p:sp>
        <p:nvSpPr>
          <p:cNvPr id="8" name="a74a9f47-4624-49b5-a7dc-c02eff7e45d3"/>
          <p:cNvSpPr/>
          <p:nvPr/>
        </p:nvSpPr>
        <p:spPr>
          <a:xfrm>
            <a:off x="4325112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54d9fd79-18fa-4041-8c18-2a99f1c0cb57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f8e74c02-2edf-4606-bebb-08c039a211f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f0bae9e1-2250-4e0b-9394-9df924128a42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移出群組後的延遲</a:t>
            </a:r>
            <a:endParaRPr lang="en-US" sz="1350" dirty="0"/>
          </a:p>
        </p:txBody>
      </p:sp>
      <p:sp>
        <p:nvSpPr>
          <p:cNvPr id="12" name="344372c1-127c-4eca-bfaa-b9eace226885"/>
          <p:cNvSpPr/>
          <p:nvPr/>
        </p:nvSpPr>
        <p:spPr>
          <a:xfrm>
            <a:off x="4462272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發現:移出群組最長約 60 秒收回;刪除 AD 帳號後,已簽發 token 到期前仍有效(實測)</a:t>
            </a:r>
            <a:endParaRPr lang="en-US" sz="1050" dirty="0"/>
          </a:p>
        </p:txBody>
      </p:sp>
      <p:sp>
        <p:nvSpPr>
          <p:cNvPr id="13" name="e5a405ab-0d6d-4346-a9d0-72e8c7f40939"/>
          <p:cNvSpPr/>
          <p:nvPr/>
        </p:nvSpPr>
        <p:spPr>
          <a:xfrm>
            <a:off x="4462272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對策:預留刷新時間;離職:停用 AD 帳號,並視需要縮短 token 壽命(token.max.lifetime.ms)</a:t>
            </a:r>
            <a:endParaRPr lang="en-US" sz="1050" dirty="0"/>
          </a:p>
        </p:txBody>
      </p:sp>
      <p:sp>
        <p:nvSpPr>
          <p:cNvPr id="14" name="7aa62d2f-a152-4c76-a3ca-d72d1f150eff"/>
          <p:cNvSpPr/>
          <p:nvPr/>
        </p:nvSpPr>
        <p:spPr>
          <a:xfrm>
            <a:off x="8101584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4002a566-f155-4d27-9e62-690eba519558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2a84fa18-875d-4075-b5b1-65e994b7ac9a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d2f341ef-8127-45e5-b42f-e9d9ec688792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 controller 的機制</a:t>
            </a:r>
            <a:endParaRPr lang="en-US" sz="1350" dirty="0"/>
          </a:p>
        </p:txBody>
      </p:sp>
      <p:sp>
        <p:nvSpPr>
          <p:cNvPr id="18" name="c9d11fac-b348-48b5-8031-b353743009d4"/>
          <p:cNvSpPr/>
          <p:nvPr/>
        </p:nvSpPr>
        <p:spPr>
          <a:xfrm>
            <a:off x="8238744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發現:官方說明 controller listener 不支援 SCRAM,採 PLAIN;PLAIN 已實測(機制),未含 TLS / RBAC</a:t>
            </a:r>
            <a:endParaRPr lang="en-US" sz="1050" dirty="0"/>
          </a:p>
        </p:txBody>
      </p:sp>
      <p:sp>
        <p:nvSpPr>
          <p:cNvPr id="19" name="a27552b8-1b4a-435d-a028-10bba3483c76"/>
          <p:cNvSpPr/>
          <p:nvPr/>
        </p:nvSpPr>
        <p:spPr>
          <a:xfrm>
            <a:off x="8238744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對策:導入前在實機以 TLS + RBAC 實測</a:t>
            </a:r>
            <a:endParaRPr lang="en-US" sz="1050" dirty="0"/>
          </a:p>
        </p:txBody>
      </p:sp>
      <p:sp>
        <p:nvSpPr>
          <p:cNvPr id="20" name="f56fe15c-db3e-4d23-83f1-df6d55e6a6e4"/>
          <p:cNvSpPr/>
          <p:nvPr/>
        </p:nvSpPr>
        <p:spPr>
          <a:xfrm>
            <a:off x="548640" y="448509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這三項是這份方案目前最需要補驗證的地方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Live Demo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七個情境,直接下指令看結果(每頁左:指令與預期,右:實際畫面)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1:沒有身分就進不來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72f52b3-ff7d-4365-9965-f546c0d2eb40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ch01</a:t>
            </a:r>
            <a:endParaRPr lang="en-US" sz="1200" dirty="0"/>
          </a:p>
        </p:txBody>
      </p:sp>
      <p:sp>
        <p:nvSpPr>
          <p:cNvPr id="3" name="5e1082e6-db5d-4b91-ba69-7c96fb469bbb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yujie</a:t>
            </a:r>
            <a:endParaRPr lang="en-US" sz="1200" dirty="0"/>
          </a:p>
        </p:txBody>
      </p:sp>
      <p:sp>
        <p:nvSpPr>
          <p:cNvPr id="4" name="0a3ff8ee-bd86-46d8-9466-d844c31ac4b3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3303cdd8-4add-43fc-ba90-384a509da96b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kafka-topics --bootstrap-server broker1:9094 --command-config yujie.properties --list</a:t>
            </a:r>
            <a:endParaRPr lang="en-US" sz="1100" dirty="0"/>
          </a:p>
        </p:txBody>
      </p:sp>
      <p:sp>
        <p:nvSpPr>
          <p:cNvPr id="6" name="5f99a802-56e8-44c7-9a57-dc372efcbbfc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21c00b70-2889-43bf-977f-202d9179df52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帳密正確 → 認證成功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但尚未授權 → 看得到的 topic:0 個</a:t>
            </a:r>
            <a:endParaRPr lang="en-US" sz="1300" dirty="0"/>
          </a:p>
        </p:txBody>
      </p:sp>
      <p:sp>
        <p:nvSpPr>
          <p:cNvPr id="8" name="a19479f6-1639-4036-9cce-64b3433dc0d2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證明:預設全拒絕;認證成功不等於有權限</a:t>
            </a:r>
            <a:endParaRPr lang="en-US" sz="1200" dirty="0"/>
          </a:p>
        </p:txBody>
      </p:sp>
      <p:sp>
        <p:nvSpPr>
          <p:cNvPr id="9" name="5fe0fa02-75f5-4b67-a07b-1e19ac7ce3c6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1a4b747e-3bfb-45b8-b5d4-ff740f2ee642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6153f8e9-2a53-41e9-bb69-ca32e1d58d25" descr="C:\Users\user\IdeaProjects\untitled6\deck\demo-shots\ch01-04-valid-no-perm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98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2:AD 群組決定權限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65c4248-2b74-42a0-81b4-e433aefaae6f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ch03</a:t>
            </a:r>
            <a:endParaRPr lang="en-US" sz="1200" dirty="0"/>
          </a:p>
        </p:txBody>
      </p:sp>
      <p:sp>
        <p:nvSpPr>
          <p:cNvPr id="3" name="340e98bd-5de2-4a7f-8448-4807b4539b98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ming</a:t>
            </a:r>
            <a:endParaRPr lang="en-US" sz="1200" dirty="0"/>
          </a:p>
        </p:txBody>
      </p:sp>
      <p:sp>
        <p:nvSpPr>
          <p:cNvPr id="4" name="eb06a65e-fa78-4072-a3b6-713dc9cc9eb9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d727b023-62e8-4627-85da-fdda147dd9a0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echo hi | kafka-console-producer --command-config ming.properties --topic orders.events</a:t>
            </a:r>
            <a:endParaRPr lang="en-US" sz="1100" dirty="0"/>
          </a:p>
        </p:txBody>
      </p:sp>
      <p:sp>
        <p:nvSpPr>
          <p:cNvPr id="6" name="4b3cae30-bbbe-4d10-9b33-46cbb346d0ea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b64836b1-b119-42ff-be41-9c3577accfec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不在群組:TOPIC_AUTHORIZATION_FAILED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加入 AD 群組後約 4 秒:寫入成功</a:t>
            </a:r>
            <a:endParaRPr lang="en-US" sz="1300" dirty="0"/>
          </a:p>
        </p:txBody>
      </p:sp>
      <p:sp>
        <p:nvSpPr>
          <p:cNvPr id="8" name="1eedbae2-49f7-43f0-ad41-941735e775b2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證明:授權跟著群組走,Kafka 端零變更</a:t>
            </a:r>
            <a:endParaRPr lang="en-US" sz="1200" dirty="0"/>
          </a:p>
        </p:txBody>
      </p:sp>
      <p:sp>
        <p:nvSpPr>
          <p:cNvPr id="9" name="ac98d076-261b-4ff9-a364-334c9859773e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933377db-d2a0-4108-b8fb-2859dcf51f2e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b884a318-6c1c-46a9-84bc-0711662d3ceb" descr="C:\Users\user\IdeaProjects\untitled6\deck\demo-shots\ch03-05-ming-deni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186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3:依群組分層:唯讀只是一層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c5d30d1-a34f-4e06-bf1c-ab390b9b14f9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ch04</a:t>
            </a:r>
            <a:endParaRPr lang="en-US" sz="1200" dirty="0"/>
          </a:p>
        </p:txBody>
      </p:sp>
      <p:sp>
        <p:nvSpPr>
          <p:cNvPr id="3" name="455dc03a-1198-426e-b8ee-1656b0c7cf11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ming(唯讀群組)</a:t>
            </a:r>
            <a:endParaRPr lang="en-US" sz="1200" dirty="0"/>
          </a:p>
        </p:txBody>
      </p:sp>
      <p:sp>
        <p:nvSpPr>
          <p:cNvPr id="4" name="f1f71148-022d-406b-8589-e99acda1dbba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48271e2f-9e68-48a1-a610-e82c16c59916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echo oops | kafka-console-producer --command-config ming.properties --topic orders.events</a:t>
            </a:r>
            <a:endParaRPr lang="en-US" sz="1100" dirty="0"/>
          </a:p>
        </p:txBody>
      </p:sp>
      <p:sp>
        <p:nvSpPr>
          <p:cNvPr id="6" name="c46cb640-dde5-4f90-8c97-a2c20bc595fb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b8a274ef-9634-4a0e-9a1d-c3bc4468b65d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寫入被拒:Cluster authorization failed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讀取仍可成功</a:t>
            </a:r>
            <a:endParaRPr lang="en-US" sz="1300" dirty="0"/>
          </a:p>
        </p:txBody>
      </p:sp>
      <p:sp>
        <p:nvSpPr>
          <p:cNvPr id="8" name="a7ba6861-6311-467e-935a-d8b160b16e3d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證明:同一個 AD,不同群組 = 不同權限層級</a:t>
            </a:r>
            <a:endParaRPr lang="en-US" sz="1200" dirty="0"/>
          </a:p>
        </p:txBody>
      </p:sp>
      <p:sp>
        <p:nvSpPr>
          <p:cNvPr id="9" name="ad442cb4-0913-4dd2-8676-4f49bcf7b3fb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bfc7f1d5-e4ff-4075-b869-89ac66e53cf3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ab377aaa-e86c-4cf4-99e2-289e51ec0ffa" descr="C:\Users\user\IdeaProjects\untitled6\deck\demo-shots\ch04-05-ming-write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169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4:服務帳號:最小權限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c2d6d9e-ecab-4780-8913-2314a7ea9812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ch07</a:t>
            </a:r>
            <a:endParaRPr lang="en-US" sz="1200" dirty="0"/>
          </a:p>
        </p:txBody>
      </p:sp>
      <p:sp>
        <p:nvSpPr>
          <p:cNvPr id="3" name="bc9603a4-590d-45dc-acf9-0ad4a353d536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svc-orders</a:t>
            </a:r>
            <a:endParaRPr lang="en-US" sz="1200" dirty="0"/>
          </a:p>
        </p:txBody>
      </p:sp>
      <p:sp>
        <p:nvSpPr>
          <p:cNvPr id="4" name="0d7c26d8-a1f4-4a17-8fff-13cdbc502df9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b0a65c36-9656-408f-9973-75c9dcc3416e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echo x | kafka-console-producer --command-config svc-orders.properties --topic payments.events</a:t>
            </a:r>
            <a:endParaRPr lang="en-US" sz="1100" dirty="0"/>
          </a:p>
        </p:txBody>
      </p:sp>
      <p:sp>
        <p:nvSpPr>
          <p:cNvPr id="6" name="9f65ce5c-188f-4700-bd13-9ea3f1f677ff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cfc36a1c-d85b-4dbc-b9c0-3010854c5e47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可寫入;payments.* → 被拒</a:t>
            </a:r>
            <a:endParaRPr lang="en-US" sz="1300" dirty="0"/>
          </a:p>
        </p:txBody>
      </p:sp>
      <p:sp>
        <p:nvSpPr>
          <p:cNvPr id="8" name="1dd97be0-545c-4835-b2e1-b4f179639d46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證明:服務走 SCRAM + RBAC,只拿到需要的範圍</a:t>
            </a:r>
            <a:endParaRPr lang="en-US" sz="1200" dirty="0"/>
          </a:p>
        </p:txBody>
      </p:sp>
      <p:sp>
        <p:nvSpPr>
          <p:cNvPr id="9" name="9ff65af4-dd5c-47f8-bce2-a8668720fc0f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70607736-9add-46e7-8423-25b8877d2e9f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9accad4f-61f7-448f-8539-b92456ead8f5" descr="C:\Users\user\IdeaProjects\untitled6\deck\demo-shots\ch07-05-svc-deni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2040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5:維運分權:能管不能讀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a2dd232-f429-43b8-93cd-d1ca747f2717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ch11</a:t>
            </a:r>
            <a:endParaRPr lang="en-US" sz="1200" dirty="0"/>
          </a:p>
        </p:txBody>
      </p:sp>
      <p:sp>
        <p:nvSpPr>
          <p:cNvPr id="3" name="0bf3e1bf-0611-45b4-b0cb-56f9c4f50ffc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yujie(kafka-ops)</a:t>
            </a:r>
            <a:endParaRPr lang="en-US" sz="1200" dirty="0"/>
          </a:p>
        </p:txBody>
      </p:sp>
      <p:sp>
        <p:nvSpPr>
          <p:cNvPr id="4" name="07d44742-29db-42b7-a78f-5b3ccc145351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a46ccd35-ca31-4108-b95d-86ead12ddaf0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kafka-console-consumer --command-config yujie.properties --topic infra.ops-demo --from-beginning</a:t>
            </a:r>
            <a:endParaRPr lang="en-US" sz="1100" dirty="0"/>
          </a:p>
        </p:txBody>
      </p:sp>
      <p:sp>
        <p:nvSpPr>
          <p:cNvPr id="6" name="3e2191c3-2710-41c4-b713-c513f8c797db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6743fbef-bf31-42a6-8d87-303ed9d08516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維運可建立 / 管理 topic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但讀取資料 → 被拒,處理 0 筆</a:t>
            </a:r>
            <a:endParaRPr lang="en-US" sz="1300" dirty="0"/>
          </a:p>
        </p:txBody>
      </p:sp>
      <p:sp>
        <p:nvSpPr>
          <p:cNvPr id="8" name="fc778b72-b8cb-45cf-8781-ae5a2813c099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證明:管理權與資料權分離</a:t>
            </a:r>
            <a:endParaRPr lang="en-US" sz="1200" dirty="0"/>
          </a:p>
        </p:txBody>
      </p:sp>
      <p:sp>
        <p:nvSpPr>
          <p:cNvPr id="9" name="77b9c53d-d430-4da7-82de-ab1efe4206c3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7e8731b0-c180-4b35-a001-f347ae8e0601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a4308b1c-c7ba-4b75-8638-1cf2e7c5fdaf" descr="C:\Users\user\IdeaProjects\untitled6\deck\demo-shots\ch11-07-ops-norea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310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6:legacy app:憑證與 REST Proxy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4dcebe7-ca59-447e-8035-74707f81b92b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ch12</a:t>
            </a:r>
            <a:endParaRPr lang="en-US" sz="1200" dirty="0"/>
          </a:p>
        </p:txBody>
      </p:sp>
      <p:sp>
        <p:nvSpPr>
          <p:cNvPr id="3" name="80b57716-c553-420f-8fc0-7c40eeb1b374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legacy-orders</a:t>
            </a:r>
            <a:endParaRPr lang="en-US" sz="1200" dirty="0"/>
          </a:p>
        </p:txBody>
      </p:sp>
      <p:sp>
        <p:nvSpPr>
          <p:cNvPr id="4" name="0fedd1a1-0f96-4a97-9dc4-8f0e2ad4db29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5886d8ee-091e-446a-927e-125d5464e503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curl --cert client-legacy-orders.pem -X POST https://restproxy:8086/topics/orders.events</a:t>
            </a:r>
            <a:endParaRPr lang="en-US" sz="1100" dirty="0"/>
          </a:p>
        </p:txBody>
      </p:sp>
      <p:sp>
        <p:nvSpPr>
          <p:cNvPr id="6" name="c7976a89-4059-4048-b790-412525a20fed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efc2fb53-d126-4752-8a68-e736cd6932c1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授權後 HTTP 200,回傳 offset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偽造憑證:TLS 握手即被拒</a:t>
            </a:r>
            <a:endParaRPr lang="en-US" sz="1300" dirty="0"/>
          </a:p>
        </p:txBody>
      </p:sp>
      <p:sp>
        <p:nvSpPr>
          <p:cNvPr id="8" name="f123aa0e-44b9-4aab-8fe4-02e4e602920f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證明:REST Proxy 以憑證辨識機器,自簽憑證進不來</a:t>
            </a:r>
            <a:endParaRPr lang="en-US" sz="1200" dirty="0"/>
          </a:p>
        </p:txBody>
      </p:sp>
      <p:sp>
        <p:nvSpPr>
          <p:cNvPr id="9" name="b1a67170-d629-4deb-938f-d19757b6b897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911d9964-39f8-4705-a8b4-8b6faedec54a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07451ccd-a3ff-4a38-99f3-3842c6bedbf3" descr="C:\Users\user\IdeaProjects\untitled6\deck\demo-shots\ch12-04-ok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133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7:C3 實際用誰的身分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dde4cfb-2e60-4d5a-a389-4bccca091b32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ch13</a:t>
            </a:r>
            <a:endParaRPr lang="en-US" sz="1200" dirty="0"/>
          </a:p>
        </p:txBody>
      </p:sp>
      <p:sp>
        <p:nvSpPr>
          <p:cNvPr id="3" name="de40eec5-6599-4080-b813-504388a9fd94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操作員</a:t>
            </a:r>
            <a:endParaRPr lang="en-US" sz="1200" dirty="0"/>
          </a:p>
        </p:txBody>
      </p:sp>
      <p:sp>
        <p:nvSpPr>
          <p:cNvPr id="4" name="51edae35-e06f-49d2-a291-22e41ed1a8e9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06232f4d-6d9d-466b-8f35-f6e12cb08338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docker logs broker | grep "User Principal: ming"</a:t>
            </a:r>
            <a:endParaRPr lang="en-US" sz="1100" dirty="0"/>
          </a:p>
        </p:txBody>
      </p:sp>
      <p:sp>
        <p:nvSpPr>
          <p:cNvPr id="6" name="aa8b681d-fa06-4d99-9f81-53c8e761e00c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bc1fe3ec-f8cc-4003-b3a8-013c8a53b817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日誌的呼叫主體是 ming 本人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不是 c3</a:t>
            </a:r>
            <a:endParaRPr lang="en-US" sz="1300" dirty="0"/>
          </a:p>
        </p:txBody>
      </p:sp>
      <p:sp>
        <p:nvSpPr>
          <p:cNvPr id="8" name="0762dc51-e857-435f-b695-fb143c836d11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證明:人操作 C3 時,身分一路帶到 MDS</a:t>
            </a:r>
            <a:endParaRPr lang="en-US" sz="1200" dirty="0"/>
          </a:p>
        </p:txBody>
      </p:sp>
      <p:sp>
        <p:nvSpPr>
          <p:cNvPr id="9" name="f6807b79-c022-4b90-932a-0c332c7c9a14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f6d9d704-48b4-42a0-8668-bc40a42b96cd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ac5e4fc2-107d-4aaa-9e3e-71f82b5d6b9e" descr="C:\Users\user\IdeaProjects\untitled6\deck\demo-shots\ch13-02-mds-as-user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169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已驗證 vs 待驗證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誠實呈現目前的驗證範圍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380bbc4-6645-4087-8dc5-3b355e5013f7"/>
          <p:cNvSpPr/>
          <p:nvPr/>
        </p:nvSpPr>
        <p:spPr>
          <a:xfrm>
            <a:off x="548640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19b66692-cb88-40a5-b32b-585f8364b61b"/>
          <p:cNvSpPr/>
          <p:nvPr/>
        </p:nvSpPr>
        <p:spPr>
          <a:xfrm>
            <a:off x="731520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896c608d-8cbf-4062-aa73-273c771bab4c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1942993"/>
            <a:ext cx="358445" cy="358445"/>
          </a:xfrm>
          <a:prstGeom prst="rect">
            <a:avLst/>
          </a:prstGeom>
        </p:spPr>
      </p:pic>
      <p:sp>
        <p:nvSpPr>
          <p:cNvPr id="5" name="67b7f044-0bd2-4cf4-a84d-69ae0f2b93a1"/>
          <p:cNvSpPr/>
          <p:nvPr/>
        </p:nvSpPr>
        <p:spPr>
          <a:xfrm>
            <a:off x="1508760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已實跑驗證</a:t>
            </a:r>
            <a:endParaRPr lang="en-US" sz="1700" dirty="0"/>
          </a:p>
        </p:txBody>
      </p:sp>
      <p:sp>
        <p:nvSpPr>
          <p:cNvPr id="6" name="be6d9190-be5c-4903-9311-ad11edefb1f7"/>
          <p:cNvSpPr/>
          <p:nvPr/>
        </p:nvSpPr>
        <p:spPr>
          <a:xfrm>
            <a:off x="777240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 RBAC:加入群組數秒生效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群組分層授權:唯讀 / 維運 / 授權管理(含臨時提權)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服務帳號 SCRAM 與輪替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人機並存:REST Proxy / legacy app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C3 人與機器流程、風險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audit 事件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LDAPS 信任庫 · 3 controller PLAIN · SCRAM 並行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憑證更換三情境與元件順序(單節點 + demo 全元件)</a:t>
            </a:r>
            <a:endParaRPr lang="en-US" sz="1300" dirty="0"/>
          </a:p>
        </p:txBody>
      </p:sp>
      <p:sp>
        <p:nvSpPr>
          <p:cNvPr id="7" name="d58ee585-c8aa-42aa-9eef-1056f023e9ba"/>
          <p:cNvSpPr/>
          <p:nvPr/>
        </p:nvSpPr>
        <p:spPr>
          <a:xfrm>
            <a:off x="6199632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49817418-3b07-4315-b66a-8ceab5ee34eb"/>
          <p:cNvSpPr/>
          <p:nvPr/>
        </p:nvSpPr>
        <p:spPr>
          <a:xfrm>
            <a:off x="6382512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614fdb9a-2c98-4380-a062-e52b76f7b98e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1942993"/>
            <a:ext cx="358445" cy="358445"/>
          </a:xfrm>
          <a:prstGeom prst="rect">
            <a:avLst/>
          </a:prstGeom>
        </p:spPr>
      </p:pic>
      <p:sp>
        <p:nvSpPr>
          <p:cNvPr id="10" name="42d12dd3-f308-4d29-925b-a0674a0c8f5f"/>
          <p:cNvSpPr/>
          <p:nvPr/>
        </p:nvSpPr>
        <p:spPr>
          <a:xfrm>
            <a:off x="7159752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待驗證 / 待確認</a:t>
            </a:r>
            <a:endParaRPr lang="en-US" sz="1700" dirty="0"/>
          </a:p>
        </p:txBody>
      </p:sp>
      <p:sp>
        <p:nvSpPr>
          <p:cNvPr id="11" name="d633713d-f2bc-4a45-a500-7fba5e9381f2"/>
          <p:cNvSpPr/>
          <p:nvPr/>
        </p:nvSpPr>
        <p:spPr>
          <a:xfrm>
            <a:off x="6428232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真實 AD:巢狀群組、大小寫、UPN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多 controller 搭配 TLS + RBAC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RHEL 實機:systemd、firewalld、路徑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長駐 client 是否需重啟才重載信任庫;中繼 CA 的更換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Prometheus / Alertmanager 啟用 TLS + Basic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Java 21(demo 映像為 Java 25)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縮短 token 壽命對元件換 token 頻率的影響</a:t>
            </a:r>
            <a:endParaRPr lang="en-US" sz="1300" dirty="0"/>
          </a:p>
        </p:txBody>
      </p:sp>
      <p:sp>
        <p:nvSpPr>
          <p:cNvPr id="12" name="e0c70270-12a9-4810-8f30-4e78a85b1d8f"/>
          <p:cNvSpPr/>
          <p:nvPr/>
        </p:nvSpPr>
        <p:spPr>
          <a:xfrm>
            <a:off x="548640" y="5630562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使用 OpenLDAP 模擬 AD;商用功能(RBAC、audit、C3)需 license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導入前請客戶確認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八件需要客戶回覆的事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b5ef6073-35aa-4274-9e2f-3ca553902fe9"/>
          <p:cNvSpPr/>
          <p:nvPr/>
        </p:nvSpPr>
        <p:spPr>
          <a:xfrm>
            <a:off x="54864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0940df96-302d-41a5-ba5e-3dcbd845a6e1"/>
          <p:cNvSpPr/>
          <p:nvPr/>
        </p:nvSpPr>
        <p:spPr>
          <a:xfrm>
            <a:off x="68580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c35e338c-34fd-4d01-92ae-25d6b7ba1d64"/>
          <p:cNvSpPr/>
          <p:nvPr/>
        </p:nvSpPr>
        <p:spPr>
          <a:xfrm>
            <a:off x="132588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1a0e8a04-4e6d-4f23-8132-daa71c083e3e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446581" y="1941296"/>
            <a:ext cx="307238" cy="307238"/>
          </a:xfrm>
          <a:prstGeom prst="rect">
            <a:avLst/>
          </a:prstGeom>
        </p:spPr>
      </p:pic>
      <p:sp>
        <p:nvSpPr>
          <p:cNvPr id="6" name="0eefd8cc-4018-4909-a786-65707ddbbe2f"/>
          <p:cNvSpPr/>
          <p:nvPr/>
        </p:nvSpPr>
        <p:spPr>
          <a:xfrm>
            <a:off x="205740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唯讀查詢帳號(bind DN)與 LDAPS</a:t>
            </a:r>
            <a:endParaRPr lang="en-US" sz="1300" dirty="0"/>
          </a:p>
        </p:txBody>
      </p:sp>
      <p:sp>
        <p:nvSpPr>
          <p:cNvPr id="7" name="c489ba12-e502-4a08-bb16-8c4d7ac8875c"/>
          <p:cNvSpPr/>
          <p:nvPr/>
        </p:nvSpPr>
        <p:spPr>
          <a:xfrm>
            <a:off x="617220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f31304e8-16e0-41d3-a312-ee6db87e9f06"/>
          <p:cNvSpPr/>
          <p:nvPr/>
        </p:nvSpPr>
        <p:spPr>
          <a:xfrm>
            <a:off x="630936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61fe7acb-7ec3-4d0e-9dfa-4bb1a6359c90"/>
          <p:cNvSpPr/>
          <p:nvPr/>
        </p:nvSpPr>
        <p:spPr>
          <a:xfrm>
            <a:off x="694944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abd91425-928b-48d7-97ab-15b0ec9d334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070141" y="1941296"/>
            <a:ext cx="307238" cy="307238"/>
          </a:xfrm>
          <a:prstGeom prst="rect">
            <a:avLst/>
          </a:prstGeom>
        </p:spPr>
      </p:pic>
      <p:sp>
        <p:nvSpPr>
          <p:cNvPr id="11" name="d3a99b58-a6c8-41d3-93cf-316ef85fefd5"/>
          <p:cNvSpPr/>
          <p:nvPr/>
        </p:nvSpPr>
        <p:spPr>
          <a:xfrm>
            <a:off x="768096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有無 AD CS(內部 CA)與根憑證散佈方式</a:t>
            </a:r>
            <a:endParaRPr lang="en-US" sz="1300" dirty="0"/>
          </a:p>
        </p:txBody>
      </p:sp>
      <p:sp>
        <p:nvSpPr>
          <p:cNvPr id="12" name="be12eb98-4636-4b5a-8a17-3ebaffeb67ae"/>
          <p:cNvSpPr/>
          <p:nvPr/>
        </p:nvSpPr>
        <p:spPr>
          <a:xfrm>
            <a:off x="54864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2052196e-eb41-44cf-bd9e-621a2b8374e3"/>
          <p:cNvSpPr/>
          <p:nvPr/>
        </p:nvSpPr>
        <p:spPr>
          <a:xfrm>
            <a:off x="68580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83e1d524-d5c6-4c4f-8d4c-79a2b56dc601"/>
          <p:cNvSpPr/>
          <p:nvPr/>
        </p:nvSpPr>
        <p:spPr>
          <a:xfrm>
            <a:off x="132588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ee00863c-2eae-42d6-9d86-91bc786cccd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446581" y="2959493"/>
            <a:ext cx="307238" cy="307238"/>
          </a:xfrm>
          <a:prstGeom prst="rect">
            <a:avLst/>
          </a:prstGeom>
        </p:spPr>
      </p:pic>
      <p:sp>
        <p:nvSpPr>
          <p:cNvPr id="16" name="0c0785fd-4a42-4345-a67f-fde7c6f0e3c2"/>
          <p:cNvSpPr/>
          <p:nvPr/>
        </p:nvSpPr>
        <p:spPr>
          <a:xfrm>
            <a:off x="205740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能否建幾個一般 AD user 給 legacy app</a:t>
            </a:r>
            <a:endParaRPr lang="en-US" sz="1300" dirty="0"/>
          </a:p>
        </p:txBody>
      </p:sp>
      <p:sp>
        <p:nvSpPr>
          <p:cNvPr id="17" name="2e4ba452-47aa-4b36-8766-236f21d22f25"/>
          <p:cNvSpPr/>
          <p:nvPr/>
        </p:nvSpPr>
        <p:spPr>
          <a:xfrm>
            <a:off x="617220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8" name="8b8d72ae-527f-4992-af2e-0d3a1bbfa896"/>
          <p:cNvSpPr/>
          <p:nvPr/>
        </p:nvSpPr>
        <p:spPr>
          <a:xfrm>
            <a:off x="630936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03d0c6f0-40ff-4c4c-b557-5efc4567065f"/>
          <p:cNvSpPr/>
          <p:nvPr/>
        </p:nvSpPr>
        <p:spPr>
          <a:xfrm>
            <a:off x="694944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0" name="db7c89a7-80a0-4e7b-b7af-47f6293837ba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070141" y="2959493"/>
            <a:ext cx="307238" cy="307238"/>
          </a:xfrm>
          <a:prstGeom prst="rect">
            <a:avLst/>
          </a:prstGeom>
        </p:spPr>
      </p:pic>
      <p:sp>
        <p:nvSpPr>
          <p:cNvPr id="21" name="1da04247-d22a-449a-8a11-b2b2df20d997"/>
          <p:cNvSpPr/>
          <p:nvPr/>
        </p:nvSpPr>
        <p:spPr>
          <a:xfrm>
            <a:off x="768096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license 是否涵蓋 RBAC / audit / C3</a:t>
            </a:r>
            <a:endParaRPr lang="en-US" sz="1300" dirty="0"/>
          </a:p>
        </p:txBody>
      </p:sp>
      <p:sp>
        <p:nvSpPr>
          <p:cNvPr id="22" name="c93916d0-84d5-4e7d-9488-b72696a1cd81"/>
          <p:cNvSpPr/>
          <p:nvPr/>
        </p:nvSpPr>
        <p:spPr>
          <a:xfrm>
            <a:off x="54864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60cc6e97-0d0b-48fb-88ae-ffdcde620826"/>
          <p:cNvSpPr/>
          <p:nvPr/>
        </p:nvSpPr>
        <p:spPr>
          <a:xfrm>
            <a:off x="68580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e706cff5-5e98-457a-bba6-cb4c43aad246"/>
          <p:cNvSpPr/>
          <p:nvPr/>
        </p:nvSpPr>
        <p:spPr>
          <a:xfrm>
            <a:off x="132588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5" name="6f2d2fce-0f4c-40c5-bf77-9029764a8c83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1446581" y="3977689"/>
            <a:ext cx="307238" cy="307238"/>
          </a:xfrm>
          <a:prstGeom prst="rect">
            <a:avLst/>
          </a:prstGeom>
        </p:spPr>
      </p:pic>
      <p:sp>
        <p:nvSpPr>
          <p:cNvPr id="26" name="71c232f9-a10c-4fd3-803c-defcd522f14a"/>
          <p:cNvSpPr/>
          <p:nvPr/>
        </p:nvSpPr>
        <p:spPr>
          <a:xfrm>
            <a:off x="205740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群組是否巢狀、帳號大小寫與命名</a:t>
            </a:r>
            <a:endParaRPr lang="en-US" sz="1300" dirty="0"/>
          </a:p>
        </p:txBody>
      </p:sp>
      <p:sp>
        <p:nvSpPr>
          <p:cNvPr id="27" name="579f2fd2-db07-49c2-aaa8-3eb4efcbf4f2"/>
          <p:cNvSpPr/>
          <p:nvPr/>
        </p:nvSpPr>
        <p:spPr>
          <a:xfrm>
            <a:off x="617220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ec816d2b-d568-45a3-9769-04787deda5c8"/>
          <p:cNvSpPr/>
          <p:nvPr/>
        </p:nvSpPr>
        <p:spPr>
          <a:xfrm>
            <a:off x="630936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f4d9147e-48e0-4110-9369-ed97c824d9e1"/>
          <p:cNvSpPr/>
          <p:nvPr/>
        </p:nvSpPr>
        <p:spPr>
          <a:xfrm>
            <a:off x="694944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30" name="df211689-351b-441c-a974-0aff23d9eb64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070141" y="3977689"/>
            <a:ext cx="307238" cy="307238"/>
          </a:xfrm>
          <a:prstGeom prst="rect">
            <a:avLst/>
          </a:prstGeom>
        </p:spPr>
      </p:pic>
      <p:sp>
        <p:nvSpPr>
          <p:cNvPr id="31" name="91630703-3cc2-491e-ab8c-a3a5baaf12ba"/>
          <p:cNvSpPr/>
          <p:nvPr/>
        </p:nvSpPr>
        <p:spPr>
          <a:xfrm>
            <a:off x="768096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Java 版本(建議 21)與 Prometheus / Alertmanager 部署</a:t>
            </a:r>
            <a:endParaRPr lang="en-US" sz="1300" dirty="0"/>
          </a:p>
        </p:txBody>
      </p:sp>
      <p:sp>
        <p:nvSpPr>
          <p:cNvPr id="32" name="9b9b1ff1-a9e3-44d9-8f49-0ea144e0134c"/>
          <p:cNvSpPr/>
          <p:nvPr/>
        </p:nvSpPr>
        <p:spPr>
          <a:xfrm>
            <a:off x="54864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3" name="d57aef1d-c868-41a0-966c-44bdcfe11d62"/>
          <p:cNvSpPr/>
          <p:nvPr/>
        </p:nvSpPr>
        <p:spPr>
          <a:xfrm>
            <a:off x="68580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500" dirty="0"/>
          </a:p>
        </p:txBody>
      </p:sp>
      <p:sp>
        <p:nvSpPr>
          <p:cNvPr id="34" name="20251c56-06c5-443a-8905-f5d48b956b64"/>
          <p:cNvSpPr/>
          <p:nvPr/>
        </p:nvSpPr>
        <p:spPr>
          <a:xfrm>
            <a:off x="132588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5" name="1ffb0cba-322d-4f72-a0a8-a30b417cef9a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1446581" y="4995886"/>
            <a:ext cx="307238" cy="307238"/>
          </a:xfrm>
          <a:prstGeom prst="rect">
            <a:avLst/>
          </a:prstGeom>
        </p:spPr>
      </p:pic>
      <p:sp>
        <p:nvSpPr>
          <p:cNvPr id="36" name="dbf62a2d-b911-4153-b9df-f531d4423593"/>
          <p:cNvSpPr/>
          <p:nvPr/>
        </p:nvSpPr>
        <p:spPr>
          <a:xfrm>
            <a:off x="205740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是否有多台 DC(高可用):LDAP 停擺超過 24 小時,授權器會失效</a:t>
            </a:r>
            <a:endParaRPr lang="en-US" sz="1300" dirty="0"/>
          </a:p>
        </p:txBody>
      </p:sp>
      <p:sp>
        <p:nvSpPr>
          <p:cNvPr id="37" name="0a40c3eb-8be5-426a-b8dc-a2b423ffadb0"/>
          <p:cNvSpPr/>
          <p:nvPr/>
        </p:nvSpPr>
        <p:spPr>
          <a:xfrm>
            <a:off x="617220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1d5854b3-58e1-42a7-9055-d7971c3005e8"/>
          <p:cNvSpPr/>
          <p:nvPr/>
        </p:nvSpPr>
        <p:spPr>
          <a:xfrm>
            <a:off x="630936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500" dirty="0"/>
          </a:p>
        </p:txBody>
      </p:sp>
      <p:sp>
        <p:nvSpPr>
          <p:cNvPr id="39" name="c3a0bf7e-92a6-4469-ac45-a565921fc710"/>
          <p:cNvSpPr/>
          <p:nvPr/>
        </p:nvSpPr>
        <p:spPr>
          <a:xfrm>
            <a:off x="694944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ef513ade-a11d-4d51-a3b0-443a406e1c1d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070141" y="4995886"/>
            <a:ext cx="307238" cy="307238"/>
          </a:xfrm>
          <a:prstGeom prst="rect">
            <a:avLst/>
          </a:prstGeom>
        </p:spPr>
      </p:pic>
      <p:sp>
        <p:nvSpPr>
          <p:cNvPr id="41" name="a292dca3-5536-42c8-8f26-ad3aed40d42f"/>
          <p:cNvSpPr/>
          <p:nvPr/>
        </p:nvSpPr>
        <p:spPr>
          <a:xfrm>
            <a:off x="768096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的 LDAPS 憑證由誰簽發(根 CA、有無中繼 CA)</a:t>
            </a:r>
            <a:endParaRPr lang="en-US" sz="1300" dirty="0"/>
          </a:p>
        </p:txBody>
      </p:sp>
      <p:sp>
        <p:nvSpPr>
          <p:cNvPr id="42" name="f25a0f0b-32cb-438b-9262-c492a6e3fbea"/>
          <p:cNvSpPr/>
          <p:nvPr/>
        </p:nvSpPr>
        <p:spPr>
          <a:xfrm>
            <a:off x="548640" y="575783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3 項若可行:legacy app 走 Basic,不需要 client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下一步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接下來的三件事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b94a79f-dd8f-405b-a800-a36fa595d30c"/>
          <p:cNvSpPr/>
          <p:nvPr/>
        </p:nvSpPr>
        <p:spPr>
          <a:xfrm>
            <a:off x="548640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450f92f3-a16c-402f-ae58-37accffd1a9e"/>
          <p:cNvSpPr/>
          <p:nvPr/>
        </p:nvSpPr>
        <p:spPr>
          <a:xfrm>
            <a:off x="2034540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e6654089-5d83-4d69-a2c1-cea6adcd9f0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2178875"/>
            <a:ext cx="307238" cy="307238"/>
          </a:xfrm>
          <a:prstGeom prst="rect">
            <a:avLst/>
          </a:prstGeom>
        </p:spPr>
      </p:pic>
      <p:sp>
        <p:nvSpPr>
          <p:cNvPr id="5" name="5fdf204b-73b3-42d1-ad09-01acdfd276ea"/>
          <p:cNvSpPr/>
          <p:nvPr/>
        </p:nvSpPr>
        <p:spPr>
          <a:xfrm>
            <a:off x="621792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客戶確認</a:t>
            </a:r>
            <a:endParaRPr lang="en-US" sz="1800" dirty="0"/>
          </a:p>
        </p:txBody>
      </p:sp>
      <p:sp>
        <p:nvSpPr>
          <p:cNvPr id="6" name="84598924-f394-4a01-89ad-b0f690fbeeb0"/>
          <p:cNvSpPr/>
          <p:nvPr/>
        </p:nvSpPr>
        <p:spPr>
          <a:xfrm>
            <a:off x="640080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回覆前一頁的八件事</a:t>
            </a:r>
            <a:endParaRPr lang="en-US" sz="1300" dirty="0"/>
          </a:p>
        </p:txBody>
      </p:sp>
      <p:sp>
        <p:nvSpPr>
          <p:cNvPr id="7" name="13593f61-530a-4f23-b394-ea35fe6528cc"/>
          <p:cNvSpPr/>
          <p:nvPr/>
        </p:nvSpPr>
        <p:spPr>
          <a:xfrm>
            <a:off x="4069080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85cd21e8-5490-4589-8396-62d9a59d53ef"/>
          <p:cNvSpPr/>
          <p:nvPr/>
        </p:nvSpPr>
        <p:spPr>
          <a:xfrm>
            <a:off x="4325112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2dba3638-c447-4373-b9ce-e62b146cd8b1"/>
          <p:cNvSpPr/>
          <p:nvPr/>
        </p:nvSpPr>
        <p:spPr>
          <a:xfrm>
            <a:off x="5811012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4e35a769-452a-4491-84f5-ec6a1974dae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2178875"/>
            <a:ext cx="307238" cy="307238"/>
          </a:xfrm>
          <a:prstGeom prst="rect">
            <a:avLst/>
          </a:prstGeom>
        </p:spPr>
      </p:pic>
      <p:sp>
        <p:nvSpPr>
          <p:cNvPr id="11" name="e760d698-e06f-4348-aedb-2151c9b20ef6"/>
          <p:cNvSpPr/>
          <p:nvPr/>
        </p:nvSpPr>
        <p:spPr>
          <a:xfrm>
            <a:off x="4398264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調整方案</a:t>
            </a:r>
            <a:endParaRPr lang="en-US" sz="1800" dirty="0"/>
          </a:p>
        </p:txBody>
      </p:sp>
      <p:sp>
        <p:nvSpPr>
          <p:cNvPr id="12" name="b3a529af-3cfa-44dd-aff4-daa56222085c"/>
          <p:cNvSpPr/>
          <p:nvPr/>
        </p:nvSpPr>
        <p:spPr>
          <a:xfrm>
            <a:off x="4416552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依客戶回覆更新設計</a:t>
            </a:r>
            <a:endParaRPr lang="en-US" sz="1300" dirty="0"/>
          </a:p>
        </p:txBody>
      </p:sp>
      <p:sp>
        <p:nvSpPr>
          <p:cNvPr id="13" name="e9d53da0-1767-403e-9e97-72fe783465ce"/>
          <p:cNvSpPr/>
          <p:nvPr/>
        </p:nvSpPr>
        <p:spPr>
          <a:xfrm>
            <a:off x="7845552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6d4e7110-0b72-464f-8a4b-7ced48219c8a"/>
          <p:cNvSpPr/>
          <p:nvPr/>
        </p:nvSpPr>
        <p:spPr>
          <a:xfrm>
            <a:off x="8101584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5" name="a86ffa0e-8c8d-4947-b2a4-7190283159a3"/>
          <p:cNvSpPr/>
          <p:nvPr/>
        </p:nvSpPr>
        <p:spPr>
          <a:xfrm>
            <a:off x="9587484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6" name="b86a52b1-728b-4c35-90cb-4cec28f05b31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2178875"/>
            <a:ext cx="307238" cy="307238"/>
          </a:xfrm>
          <a:prstGeom prst="rect">
            <a:avLst/>
          </a:prstGeom>
        </p:spPr>
      </p:pic>
      <p:sp>
        <p:nvSpPr>
          <p:cNvPr id="17" name="b62c136c-c189-4f06-867e-a40f27c20cb6"/>
          <p:cNvSpPr/>
          <p:nvPr/>
        </p:nvSpPr>
        <p:spPr>
          <a:xfrm>
            <a:off x="8174736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實機驗證</a:t>
            </a:r>
            <a:endParaRPr lang="en-US" sz="1800" dirty="0"/>
          </a:p>
        </p:txBody>
      </p:sp>
      <p:sp>
        <p:nvSpPr>
          <p:cNvPr id="18" name="a3323992-0615-417f-b744-524460c4b5c7"/>
          <p:cNvSpPr/>
          <p:nvPr/>
        </p:nvSpPr>
        <p:spPr>
          <a:xfrm>
            <a:off x="8193024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補上目前未驗證的項目</a:t>
            </a:r>
            <a:endParaRPr lang="en-US" sz="1300" dirty="0"/>
          </a:p>
        </p:txBody>
      </p:sp>
      <p:sp>
        <p:nvSpPr>
          <p:cNvPr id="19" name="c35f1c37-3901-4e27-a394-772183a0ddca"/>
          <p:cNvSpPr/>
          <p:nvPr/>
        </p:nvSpPr>
        <p:spPr>
          <a:xfrm>
            <a:off x="548640" y="440024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與 Word 手冊可作為每一步的實作與證據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