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87" r:id="rId20"/>
    <p:sldId id="271" r:id="rId21"/>
    <p:sldId id="272" r:id="rId22"/>
    <p:sldId id="289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6" r:id="rId3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78" autoAdjust="0"/>
    <p:restoredTop sz="83135" autoAdjust="0"/>
  </p:normalViewPr>
  <p:slideViewPr>
    <p:cSldViewPr snapToGrid="0">
      <p:cViewPr varScale="1">
        <p:scale>
          <a:sx n="94" d="100"/>
          <a:sy n="94" d="100"/>
        </p:scale>
        <p:origin x="11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封面。客戶前提:RHEL 9 手動部署、AD 只有 user 與 group。範圍:Kafka(含 controller 與 MDS RBAC)、REST Proxy、Control Center。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1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39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.png"/><Relationship Id="rId5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依客戶前提設計:AD 僅有 user / group</a:t>
            </a:r>
          </a:p>
        </p:txBody>
      </p:sp>
      <p:sp>
        <p:nvSpPr>
          <p:cNvPr id="4" name="40838f03-7c8c-4c10-be32-24224f390bb6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marL="0" indent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2" name="e2e0b32b-25c5-42d2-aaaa-5279064c3c6e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2" name="2952fb88-da12-435e-9a1d-0d874fc437ae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dc6df3c4-6ee1-435d-a21a-5d1c15f7ac8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f13e8332-19a8-4b10-85b2-4ab98aca39ae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34" name="5faac112-a409-4419-9692-8e3ca7ad6c0f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322d39c6-d05a-4620-96bc-992da8a4a55c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5" name="242d1bc1-ec01-4dc6-b012-1edd8679644d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5b3c1574-9c49-43ac-9ad3-0b77549705b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fccdfde2-cd29-4c3b-9ebd-1ff7db9ad783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zh-TW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</a:t>
            </a: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憑證管理簡化</a:t>
            </a:r>
            <a:endParaRPr lang="en-US" sz="1700" dirty="0"/>
          </a:p>
        </p:txBody>
      </p:sp>
      <p:sp>
        <p:nvSpPr>
          <p:cNvPr id="11" name="5a70c971-702b-4ae6-b719-4148fd406a84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</a:rPr>
              <a:t>憑證越少越方便管</a:t>
            </a:r>
            <a:endParaRPr lang="en-US" sz="1300" dirty="0"/>
          </a:p>
        </p:txBody>
      </p:sp>
      <p:sp>
        <p:nvSpPr>
          <p:cNvPr id="12" name="32af1b70-43b4-4a46-b564-383cbce55cae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6d326428-3e9e-431f-b095-5c9a116b5738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e2179149-6e55-4de6-929a-1595aafadb9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c4562ac8-a37f-457b-99c8-7f347ab6cb46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腳本安裝</a:t>
            </a:r>
            <a:endParaRPr lang="en-US" sz="1700" dirty="0"/>
          </a:p>
        </p:txBody>
      </p:sp>
      <p:sp>
        <p:nvSpPr>
          <p:cNvPr id="16" name="3553e549-10fe-4219-bced-4983e8e2e97f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目前無 Ansible </a:t>
            </a:r>
            <a:r>
              <a:rPr lang="en-US" altLang="zh-TW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, </a:t>
            </a: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未來添購後可 </a:t>
            </a:r>
            <a:r>
              <a:rPr lang="en-US" altLang="zh-TW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migration</a:t>
            </a:r>
            <a:endParaRPr lang="en-US" sz="1300" dirty="0"/>
          </a:p>
        </p:txBody>
      </p:sp>
      <p:sp>
        <p:nvSpPr>
          <p:cNvPr id="17" name="20f80ad0-b634-4e13-8356-6ffdaf373e54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b1464039-a655-4837-a13d-b1571a5a6f01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06ba20d5-b298-4163-81eb-96933496f0bf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a72bc040-9fc3-41df-823f-61685e1460e1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31536264-e73d-4cb0-8906-b4a4d1c856b6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94c08bca-13a3-44c9-bbdf-cc5d105c9a9a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596f3850-6c20-4bdd-954b-1ceb1cbaa2ad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cc1dfabc-9a05-4d9b-97dc-771d3e93364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700e6d2e-1b01-4d9b-9040-aef27e6c78d5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700" dirty="0"/>
          </a:p>
        </p:txBody>
      </p:sp>
      <p:sp>
        <p:nvSpPr>
          <p:cNvPr id="26" name="b12b6cb2-57cd-43d1-9748-01aa86c52986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群組綁定 </a:t>
            </a:r>
            <a:r>
              <a:rPr lang="en-US" altLang="zh-TW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</a:t>
            </a: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角色</a:t>
            </a:r>
            <a:endParaRPr lang="en-US" sz="1300" dirty="0"/>
          </a:p>
        </p:txBody>
      </p:sp>
      <p:sp>
        <p:nvSpPr>
          <p:cNvPr id="27" name="5d3dbdd2-6500-4a5a-86b4-6a6257405b6a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28466e80-4465-49fe-ac6a-805744b30391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5efcb52c-e321-45c5-8c31-f9004ed3238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8d9aa41f-eac3-489a-84b4-b3a1deafbf34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32ede23e-7e5f-4bab-9079-36c696d9fd12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SCRAM 或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b9c2563-c16d-4cea-9b57-c69f02faca45"/>
          <p:cNvSpPr/>
          <p:nvPr/>
        </p:nvSpPr>
        <p:spPr>
          <a:xfrm>
            <a:off x="548640" y="1709319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bb1373d4-f690-49cd-892c-d031e20d0fbc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ae7cdcc4-d006-41a9-b79a-f33f615f18a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0f107990-a9bb-4a0b-8c0c-1b3cba78acd1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25" name="fc440f45-7d24-4bb7-8409-5f5ca7bb006a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marL="0" indent="0" algn="l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a925d789-5211-4bc1-9cac-dd3ef56d993b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26" name="d0c2dcc6-cfca-4e06-a74d-c2c801dc8f9f"/>
          <p:cNvSpPr/>
          <p:nvPr/>
        </p:nvSpPr>
        <p:spPr>
          <a:xfrm>
            <a:off x="7342632" y="1709319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2d84cd50-fefe-45cb-aee6-956db1dc1297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97f60c8c-0175-4aef-8278-e8f3a4575c9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c797ca31-33b2-4148-afcf-bbf0e8f2c180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243ef521-8ada-475a-85cc-ac73a27d81f3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</a:t>
            </a:r>
            <a:r>
              <a:rPr lang="en-US" altLang="zh-TW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</a:t>
            </a: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帳密</a:t>
            </a:r>
            <a:endParaRPr lang="en-US" sz="1600" dirty="0"/>
          </a:p>
          <a:p>
            <a:pPr marL="0" indent="0" algn="l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marL="0" indent="0" algn="l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32100420-cabb-437b-8b89-8ff5034cc769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a45ca126-a8ab-408f-86d6-30e87123a7b9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6c5e6e24-e680-4656-ae09-5943251ddc11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0be5f481-7738-4bf3-a5f2-5078a1a89e9f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74fb87f4-923e-41b1-976e-d3424494878d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f0fbbd19-1b4a-4073-a40d-1153eed2385e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集中管理授權規則</a:t>
            </a:r>
            <a:endParaRPr lang="en-US" sz="1100" dirty="0"/>
          </a:p>
        </p:txBody>
      </p:sp>
      <p:sp>
        <p:nvSpPr>
          <p:cNvPr id="19" name="d823b693-0b8e-4482-bbe4-cda194be724b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036c8731-445f-4e8d-af64-6656994a7af3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af65c034-3c53-405b-b88a-87e7934de926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2fbcc01b-2b92-4bfc-98a2-c94d39b4ec15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方案總覽:組件與安全機制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各組件怎麼認證、授權,以及貫穿全案的機制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sp>
        <p:nvSpPr>
          <p:cNvPr id="2" name="fa360abf-1713-45c7-880b-817b1436752e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47" name="d5d198f1-fc1d-42f9-8631-6f9c8af225f7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8" name="ab148557-90c9-478d-97c8-e85f86cec95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71dd4983-3ab2-4000-ad65-eb5fd9492af1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49" name="6905ded4-294e-43ae-ae27-5b711ef1381f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</a:t>
            </a:r>
            <a:r>
              <a:rPr lang="en-US" altLang="zh-TW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</a:t>
            </a: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設定檔靜態帳號</a:t>
            </a:r>
            <a:endParaRPr lang="en-US" sz="1200" dirty="0"/>
          </a:p>
        </p:txBody>
      </p:sp>
      <p:sp>
        <p:nvSpPr>
          <p:cNvPr id="7" name="23ace5ea-2a9d-4dd9-af7a-b17a97b52b07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50" name="0f6442ff-88e7-468f-b6e2-abd0e2406b3c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44b18027-b407-4f80-b2a7-8c94d08916a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6bf8a706-e9ac-49e4-bbcf-c5c75487f827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e7cab62a-0b8d-440e-9bdf-6cc278dc145e"/>
          <p:cNvSpPr/>
          <p:nvPr/>
        </p:nvSpPr>
        <p:spPr>
          <a:xfrm>
            <a:off x="4427220" y="2718208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zh-TW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</a:t>
            </a: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</a:t>
            </a:r>
            <a:r>
              <a:rPr lang="en-US" altLang="zh-TW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</a:t>
            </a: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· </a:t>
            </a:r>
            <a:r>
              <a:rPr lang="en-US" altLang="zh-TW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SASL/OAUTHBEARER</a:t>
            </a:r>
            <a:endParaRPr lang="en-US" sz="1200" dirty="0"/>
          </a:p>
        </p:txBody>
      </p:sp>
      <p:sp>
        <p:nvSpPr>
          <p:cNvPr id="12" name="23f0b2eb-d2ab-44ad-bfd1-8553508322c8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3" name="97e9a362-b25d-4f40-8e7e-93f6ae9955ac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304cb17f-2729-4464-bb2e-243ff39b6baf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f7a845c8-8297-49a8-b7e3-96bf9cd71e63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c6cbc19b-180d-427f-b63e-93c9f1aa375a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</a:t>
            </a:r>
            <a:r>
              <a:rPr lang="en-US" altLang="zh-TW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Auth </a:t>
            </a: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· 服務</a:t>
            </a:r>
            <a:r>
              <a:rPr lang="en-US" altLang="zh-TW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MTLS</a:t>
            </a:r>
            <a:endParaRPr lang="en-US" sz="1200" dirty="0"/>
          </a:p>
        </p:txBody>
      </p:sp>
      <p:sp>
        <p:nvSpPr>
          <p:cNvPr id="17" name="639146ac-df1e-4cf2-a9af-b500190c86ed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31e6e64e-63e5-4f5f-9a56-28bc70b912e9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32b47487-4594-49f8-9163-f3bd348fb0a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4455377b-68db-4de7-9fd2-a80bb13373c4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0055114f-29ae-48a6-a4dc-e71875b27ee6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5c506c6e-7587-43b9-9ff7-1a9143846881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50bf5ca0-0f1a-44be-8d97-6e32c5cb097c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5c380f2a-b416-4031-ab80-5b413737b2c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be140707-56f5-43f6-8be4-a56b1bf46cc4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42883e3f-ad50-415c-8758-e15d7ad58258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a1d114fd-08d2-4d39-8952-8801541ed266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4d30d015-78f6-4a47-b20d-1346d2cdc183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b12ec713-1fe6-4e87-98b2-452b4edd51c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8d87ace1-e8cb-4d12-b171-33e0b7485bf1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8c318e6f-dd20-40d3-a7bf-e10ea702431c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7a92c169-c055-4b81-bfa2-bde44c6ef8c7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3221c708-ca43-44da-853b-f53a52d344c1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301c847b-8238-404e-bdb9-ec9fd0d2366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6394b986-0d83-4f3b-bf48-4629b90f7ea3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3cdac013-a924-4b5a-a2d5-c6067c71e1c3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zh-TW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</a:t>
            </a: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1dea6c17-1352-4cf4-9455-36fbcace8890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53b6cc99-4f5e-430c-a357-8e434bcd21ac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2cb0ac8d-a525-44bf-a02f-37e457c31a6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a760b57f-0d8c-493c-a1ce-2231bbeffe13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4cc6bb9e-7e8e-4826-9b97-c328b7692c54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aaf265bc-4537-4edb-bbdb-ce6e8ba62593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e2b72db3-c00d-4776-abf0-8a1990e52fd7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6222dbba-2788-43fd-a0c4-1cef637c871b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e7a082b5-e03a-4b73-9cee-75f3805edfb0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3622aab9-ad77-4da3-8493-28a960f61753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逐項介紹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6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每一項:傳輸加密 · 認證 · 授權 · 注意事項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組,只做加密傳輸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憑證只加密傳輸;平台元件的 client 憑證用來換 </a:t>
            </a:r>
            <a:r>
              <a:rPr lang="en-US" altLang="zh-TW" sz="1600" dirty="0"/>
              <a:t>MDS </a:t>
            </a:r>
            <a:r>
              <a:rPr lang="zh-TW" altLang="en-US" sz="1600" dirty="0"/>
              <a:t>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7</a:t>
            </a:fld>
            <a:endParaRPr lang="zh-TW" altLang="en-US" sz="900"/>
          </a:p>
        </p:txBody>
      </p:sp>
      <p:sp>
        <p:nvSpPr>
          <p:cNvPr id="2" name="7e22daf2-5a21-4d0e-892a-711da497aee5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1" name="318243f6-bdf3-4abf-ae42-fdbcf4d4ae7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32" name="c46ef6ad-5b11-479c-b266-09108d3db374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aac6e446-609b-4721-bc1d-7251015accb8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33" name="92294430-254a-494c-a4e6-74fc22179364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83089b2e-8924-4b7a-926f-5927d2c3e427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34" name="51a03519-a7c2-42b8-8563-51db52116365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4ea2fac1-dc6b-4f61-a049-60df652057a8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77e5f352-bb07-418d-9b24-0ee94ab76762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b118c885-636d-4bc3-9efc-0f40627eff06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96c242a8-4f3f-4cea-a75d-76f65dbef368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c4efaaa2-a260-42ba-a307-40bfe4880685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a6a855a0-6c94-43dd-8321-92cd0e19fafc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04425d03-e102-4910-8e83-64e9f16fe2c7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375bdb3b-7a46-448e-b060-30b5bb54653a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e0e6c947-1c0f-4df6-b3a4-5bcbb854ecc2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5c750a3f-3a39-483f-a0e8-2094f0679672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a8a4bd14-f61f-47a8-9349-a6933bdbdb6c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root </a:t>
            </a:r>
            <a:r>
              <a:rPr lang="en-US" altLang="zh-TW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</a:t>
            </a: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)</a:t>
            </a:r>
            <a:endParaRPr lang="en-US" sz="1200" dirty="0"/>
          </a:p>
        </p:txBody>
      </p:sp>
      <p:sp>
        <p:nvSpPr>
          <p:cNvPr id="20" name="92aef46d-7b56-4947-b7f7-f2e4f3b69a14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broker(含 MDS):匯入 AD </a:t>
            </a:r>
            <a:r>
              <a:rPr lang="en-US" altLang="zh-TW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root </a:t>
            </a: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,一份設定即可</a:t>
            </a:r>
            <a:endParaRPr lang="en-US" sz="1200" dirty="0"/>
          </a:p>
        </p:txBody>
      </p:sp>
      <p:sp>
        <p:nvSpPr>
          <p:cNvPr id="21" name="b9e821b2-d16b-4525-985d-6524241b2ea8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51f929a2-78ec-4e72-8c48-52e22ae76cda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efe2b683-a58c-4771-9db2-2c7793036ec3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a3891d02-d85e-4a67-8b98-e6f2406439b6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996bc3f7-9bd8-4e8d-ad49-c25668385c21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1ef7b253-3471-48ea-b464-62da044b90ce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marL="0" indent="0" algn="l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a785bdc7-64a6-4a04-b8e0-6ff16a945cc4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6397b94e-740d-4e93-b85e-afc75c21c63c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897ee796-9d05-4af6-8757-f57035a7f926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</a:t>
            </a:r>
            <a:endParaRPr lang="en-US" altLang="zh-TW" sz="1100" dirty="0">
              <a:solidFill>
                <a:srgbClr val="1A1A1A"/>
              </a:solidFill>
              <a:latin typeface="微軟正黑體" pitchFamily="34" charset="0"/>
              <a:ea typeface="微軟正黑體" pitchFamily="34" charset="-122"/>
              <a:cs typeface="微軟正黑體" pitchFamily="34" charset="-120"/>
            </a:endParaRPr>
          </a:p>
          <a:p>
            <a:pPr>
              <a:spcAft>
                <a:spcPts val="300"/>
              </a:spcAft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共用 </a:t>
            </a:r>
            <a:r>
              <a:rPr lang="en-US" altLang="zh-TW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</a:t>
            </a: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憑證對應的身分(CN)永遠不綁任何 role </a:t>
            </a:r>
            <a:r>
              <a:rPr lang="en-US" altLang="zh-TW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</a:t>
            </a: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不要拿來當 </a:t>
            </a:r>
            <a:r>
              <a:rPr lang="en-US" altLang="zh-TW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</a:t>
            </a: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</a:t>
            </a:r>
            <a:r>
              <a:rPr lang="en-US" altLang="zh-TW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)</a:t>
            </a:r>
            <a:endParaRPr lang="en-US" sz="1100" dirty="0"/>
          </a:p>
          <a:p>
            <a:pPr marL="0" indent="0" algn="l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 , 而 truststore 不動</a:t>
            </a:r>
            <a:endParaRPr lang="en-US" sz="1100" dirty="0"/>
          </a:p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 </a:t>
            </a:r>
            <a:r>
              <a:rPr lang="en-US" altLang="zh-TW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</a:t>
            </a:r>
            <a:endParaRPr lang="en-US" sz="1100" dirty="0"/>
          </a:p>
        </p:txBody>
      </p:sp>
      <p:sp>
        <p:nvSpPr>
          <p:cNvPr id="30" name="0d872fcb-bf37-4c90-95ba-805bcc8713ce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共用憑證只負責傳輸加密;身分另外處理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8</a:t>
            </a:fld>
            <a:endParaRPr lang="zh-TW" altLang="en-US" sz="900"/>
          </a:p>
        </p:txBody>
      </p:sp>
      <p:sp>
        <p:nvSpPr>
          <p:cNvPr id="2" name="b5b658d7-d501-4a03-b5f3-6134d1f48b12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0" name="60806164-c091-4721-9840-8b2c1d1479d2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1" name="ab0bfcdf-6d84-43c2-8708-edbd1247248b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9e66d7ff-f8de-43dd-9058-9f00c661785c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42" name="20dcde2a-4694-4877-a885-9e533815d4be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0b5ba104-f83f-4f9f-850b-cefacb02a209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43" name="b520e2ce-3cab-41b5-abb1-f7396b7eb414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3014a954-3a90-4a38-9caf-5b44446c8556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178d2d03-e0be-4dca-acb7-24b96258c08c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70432c11-4e3f-41ca-bc4e-5cb8a57a8e4f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c157bf9b-4c5d-4284-b1fb-ee46435420c4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7806e3b6-5626-4c90-9122-208dda4b4b36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b8aebe2a-fa5a-4824-9f2d-7880bfa275ae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80cdea7f-3fe3-4ac6-8549-790e9e44c28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18153486-4c17-4705-a027-501ab3bea2d0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7381fc5a-39b9-4f64-87da-b0933ab364a6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d51e7a65-4994-4141-abec-d6664c42b088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信任庫換成新根憑證</a:t>
            </a:r>
            <a:endParaRPr lang="en-US" sz="1150" dirty="0"/>
          </a:p>
        </p:txBody>
      </p:sp>
      <p:sp>
        <p:nvSpPr>
          <p:cNvPr id="19" name="59bb3aef-8899-440e-8f89-e831ebc7034d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f7d7cbe4-c08d-4731-9c28-40cd7f9578b2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10e0c175-1011-447e-b466-9ae5e13611cf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eef78b46-441d-489a-9307-6b7249202cf8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decb388c-491b-4e9b-acd4-c76e0766badb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實測:信任庫換成新根憑證,舊的 server / client 憑證照常通過</a:t>
            </a:r>
            <a:endParaRPr lang="en-US" sz="1050" dirty="0"/>
          </a:p>
        </p:txBody>
      </p:sp>
      <p:sp>
        <p:nvSpPr>
          <p:cNvPr id="24" name="70c1fcfb-e974-4ff7-9621-4b2cdbb16fd2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0105e6e4-9852-44a1-9367-04987edda48a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d4ac9399-23ca-4f65-bc47-4f295980693a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c9e234bb-98da-4e50-8d5a-504dbacecbe8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0d3a0cdc-f6c4-4c72-9d5d-482ed37de6bc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新根憑證、新金鑰:所有憑證都要重簽</a:t>
            </a:r>
            <a:endParaRPr lang="en-US" sz="1100" dirty="0"/>
          </a:p>
        </p:txBody>
      </p:sp>
      <p:sp>
        <p:nvSpPr>
          <p:cNvPr id="29" name="32dec10e-9e9f-43ef-b393-c463d42159f1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1a6dcdc2-7e64-4165-b194-b0becadba2d8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所有信任庫先放「新舊兩個根憑證」(server + client)</a:t>
            </a:r>
            <a:endParaRPr lang="en-US" sz="1100" dirty="0"/>
          </a:p>
        </p:txBody>
      </p:sp>
      <p:sp>
        <p:nvSpPr>
          <p:cNvPr id="31" name="febc18fe-ae19-4f69-92d6-dfc7ab7af9d4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8b9620aa-1313-45f3-9950-d1c2b635d4bf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b51a0d35-751a-4baa-bc79-56efa353a88a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d62f8fde-9e5b-40b1-8fcc-85cabe7032c3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9d7dac0d-dbee-4ccb-b710-07b85797464f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3809acfd-f2c2-4881-9aac-7ec54a57aec7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全部確認後,才移除舊根憑證</a:t>
            </a:r>
            <a:endParaRPr lang="en-US" sz="1100" dirty="0"/>
          </a:p>
        </p:txBody>
      </p:sp>
      <p:sp>
        <p:nvSpPr>
          <p:cNvPr id="37" name="9c772b41-c702-4b37-b73f-ae2e0a1c6077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還沒信任新根憑證 → PKIX 失敗(實測)</a:t>
            </a:r>
            <a:endParaRPr lang="en-US" sz="1000" dirty="0"/>
          </a:p>
        </p:txBody>
      </p:sp>
      <p:sp>
        <p:nvSpPr>
          <p:cNvPr id="38" name="741d4aa4-46d2-4ded-b6e5-31f27908f99a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移除舊根憑證後,舊 CA 簽發且未重簽的 client 憑證被拒(實測)</a:t>
            </a:r>
            <a:endParaRPr lang="en-US" sz="1000" dirty="0"/>
          </a:p>
        </p:txBody>
      </p:sp>
      <p:sp>
        <p:nvSpPr>
          <p:cNvPr id="39" name="037c57e5-e8bc-4866-b63e-8f1688933fb8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官方文件建議:先更新所有信任庫、再換憑證、逐台重啟,每個元件就緒再做下一個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9</a:t>
            </a:fld>
            <a:endParaRPr lang="zh-TW" altLang="en-US" sz="900"/>
          </a:p>
        </p:txBody>
      </p:sp>
      <p:sp>
        <p:nvSpPr>
          <p:cNvPr id="2" name="d03e3654-0390-476a-8576-d31022c60832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43" name="4e1e8c48-4d6b-4167-ab12-3b1393d03c53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4" name="052ac1c5-0e20-416e-8de9-92f728134279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4346aefd-b849-491a-b8c8-e49a1013a209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45" name="1c8a8c41-392a-4d05-8159-fb2bc0d8806b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0651bca6-eb58-4248-a911-96c75bc50e9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46" name="e6b092fd-e21c-404b-90d8-46e4c6952fa6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05d56732-c3ab-4aa6-b5e6-5635fd22cf3b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0" name="e5db244e-8c6c-4c46-bf57-247b7c9934d6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1" name="9432f9d6-8953-4ee6-aea6-07e2c3c102a9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9ca68e67-9331-4e17-83c5-de139e336ee3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3" name="e03b8bb8-fd40-44fb-920d-321b7f7adc65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124b5a79-bc86-4fd0-9d5f-b395d90f3bd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e7ab9a01-5605-499b-91e9-ecce5ad92323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4e58625f-9bf8-4ae1-b7c1-943ce07b2d72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3a2eaa0f-193e-4a50-bec7-53e78a50e35a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746c860d-a17d-4bc4-ae7e-d0922a0731f8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e1cd2013-2d18-437a-984c-6fd5f9d1bcfd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beb57519-65f9-42fd-922a-d848bec8ac6c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cc995ffb-a346-40f2-93c8-b33ba5177f6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a789dad1-5c66-4567-bdee-5f6e16f525ba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59a430a5-0f14-446b-8b3a-c204fa09ca64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4" name="b1a8f9ee-8f7c-48ce-8adc-6c6cd4cce50d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5" name="75f4b408-697a-4a9d-acf7-12def7b5758f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6" name="69284730-18d2-40dd-8440-08fc71c59529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7" name="2c416bfd-f7cc-4f8c-8b71-d795816a54f8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5a46e90e-e278-437e-9f25-ad1945736deb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a99964eb-53ae-4651-8e6e-ece6e10f91da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77616a10-ecce-4a27-893a-8d538e3a843b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e334c313-ca24-477d-9469-b7aa7fbddf29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34b9a73e-b50c-4014-b37c-e269616ce592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ba840338-2a47-4008-8317-8cdda6cf112c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e9da1b00-716d-42e2-a106-fd48f4ed586e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ad52f974-01f2-4559-ac7d-ec370efe635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6a2e4af8-bf1e-4c06-a1eb-816cfc0df004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8e21c375-f413-4ffb-beca-9763369d86b8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5bbc823b-c165-4402-a626-c681ac94610b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c7fa59cb-3221-4ed3-afee-78585da37514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9a62b517-d470-46a5-82bf-b52a9bf1658f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f6587235-e54e-409f-b4f7-3d2528fe1e40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每階段:controller(逐台)→ broker(逐台)→ REST Proxy → C3,就緒才做下一個</a:t>
            </a:r>
            <a:endParaRPr lang="en-US" sz="1150" dirty="0"/>
          </a:p>
          <a:p>
            <a:pPr marL="0" indent="0" algn="l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官方文件:信任庫先於憑證、每階段全部元件做完 · 元件順序:參考升級文件</a:t>
            </a:r>
            <a:endParaRPr lang="en-US" sz="1150" dirty="0"/>
          </a:p>
        </p:txBody>
      </p:sp>
      <p:sp>
        <p:nvSpPr>
          <p:cNvPr id="42" name="0f1a48e7-c3fd-454b-ae83-277103704ab9"/>
          <p:cNvSpPr/>
          <p:nvPr/>
        </p:nvSpPr>
        <p:spPr>
          <a:xfrm>
            <a:off x="620268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只換檔沒重啟,各元件仍出示舊憑證(實測)</a:t>
            </a:r>
            <a:endParaRPr lang="en-US" sz="1150" dirty="0"/>
          </a:p>
          <a:p>
            <a:pPr marL="0" indent="0" algn="l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10</a:t>
            </a:fld>
            <a:endParaRPr lang="zh-TW" altLang="en-US" sz="900"/>
          </a:p>
        </p:txBody>
      </p:sp>
      <p:sp>
        <p:nvSpPr>
          <p:cNvPr id="2" name="a3070395-d15f-4b20-8719-ccdd0e4ca5a6"/>
          <p:cNvSpPr/>
          <p:nvPr/>
        </p:nvSpPr>
        <p:spPr>
          <a:xfrm>
            <a:off x="548640" y="191982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2" name="491557c7-a831-4115-b71e-1c206d35c466"/>
          <p:cNvSpPr/>
          <p:nvPr/>
        </p:nvSpPr>
        <p:spPr>
          <a:xfrm>
            <a:off x="1051560" y="200467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3" name="3d98e11e-566b-4662-a76d-519d65482b1a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261" y="2116681"/>
            <a:ext cx="307238" cy="307238"/>
          </a:xfrm>
          <a:prstGeom prst="rect">
            <a:avLst/>
          </a:prstGeom>
        </p:spPr>
      </p:pic>
      <p:sp>
        <p:nvSpPr>
          <p:cNvPr id="5" name="2138429f-f937-416a-9237-c3ebf55caa0f"/>
          <p:cNvSpPr/>
          <p:nvPr/>
        </p:nvSpPr>
        <p:spPr>
          <a:xfrm>
            <a:off x="548640" y="259862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34" name="9fc264a2-dec2-4b80-8c84-8e024f36b319"/>
          <p:cNvSpPr/>
          <p:nvPr/>
        </p:nvSpPr>
        <p:spPr>
          <a:xfrm>
            <a:off x="2286000" y="191982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8020cca3-2f06-454f-b14b-8da0f852e0e3"/>
          <p:cNvSpPr/>
          <p:nvPr/>
        </p:nvSpPr>
        <p:spPr>
          <a:xfrm>
            <a:off x="2788920" y="200467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5" name="a6b2b62e-88d6-4f11-9d42-0df132d7559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621" y="2116681"/>
            <a:ext cx="307238" cy="307238"/>
          </a:xfrm>
          <a:prstGeom prst="rect">
            <a:avLst/>
          </a:prstGeom>
        </p:spPr>
      </p:pic>
      <p:sp>
        <p:nvSpPr>
          <p:cNvPr id="9" name="620730ed-e480-4637-beeb-f8b4e4214dc6"/>
          <p:cNvSpPr/>
          <p:nvPr/>
        </p:nvSpPr>
        <p:spPr>
          <a:xfrm>
            <a:off x="2286000" y="259862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1a40814e-6c03-451e-867d-df7af6b9e9b4"/>
          <p:cNvSpPr/>
          <p:nvPr/>
        </p:nvSpPr>
        <p:spPr>
          <a:xfrm>
            <a:off x="4023360" y="191982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9ce813bb-08bb-4dad-a7ce-6a78565027ff"/>
          <p:cNvSpPr/>
          <p:nvPr/>
        </p:nvSpPr>
        <p:spPr>
          <a:xfrm>
            <a:off x="4526280" y="200467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ec61574b-1b83-4d71-9bb8-877f1ead1a0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81" y="2116681"/>
            <a:ext cx="307238" cy="307238"/>
          </a:xfrm>
          <a:prstGeom prst="rect">
            <a:avLst/>
          </a:prstGeom>
        </p:spPr>
      </p:pic>
      <p:sp>
        <p:nvSpPr>
          <p:cNvPr id="13" name="98b86a0e-486c-48cf-b1a2-66f35790cd5f"/>
          <p:cNvSpPr/>
          <p:nvPr/>
        </p:nvSpPr>
        <p:spPr>
          <a:xfrm>
            <a:off x="4023360" y="259862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5" name="107176a2-15ab-4ac3-85b1-1dbea3e67fe5"/>
          <p:cNvSpPr/>
          <p:nvPr/>
        </p:nvSpPr>
        <p:spPr>
          <a:xfrm>
            <a:off x="276555" y="3344150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f1d0a9e7-5968-45c0-a3ce-571649871352"/>
          <p:cNvSpPr/>
          <p:nvPr/>
        </p:nvSpPr>
        <p:spPr>
          <a:xfrm>
            <a:off x="459435" y="3429000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8" name="b8857263-ed8b-4070-8a9b-952aa5a01219"/>
          <p:cNvSpPr/>
          <p:nvPr/>
        </p:nvSpPr>
        <p:spPr>
          <a:xfrm>
            <a:off x="2203603" y="388765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c52fab2f-4f56-40bc-a668-adb99da31f17"/>
          <p:cNvSpPr/>
          <p:nvPr/>
        </p:nvSpPr>
        <p:spPr>
          <a:xfrm>
            <a:off x="4023360" y="3888895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設定檔靜態帳號</a:t>
            </a:r>
            <a:endParaRPr lang="en-US" sz="1200" dirty="0"/>
          </a:p>
        </p:txBody>
      </p:sp>
      <p:sp>
        <p:nvSpPr>
          <p:cNvPr id="20" name="25f21af0-ca43-4c88-854e-c85b2d73239a"/>
          <p:cNvSpPr/>
          <p:nvPr/>
        </p:nvSpPr>
        <p:spPr>
          <a:xfrm>
            <a:off x="459435" y="4362347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3" name="80825f6c-0537-4b2b-9ad4-35fe5d005987"/>
          <p:cNvSpPr/>
          <p:nvPr/>
        </p:nvSpPr>
        <p:spPr>
          <a:xfrm>
            <a:off x="6221578" y="1975573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7ed77618-9920-4108-9aaa-df79f1f45ebc"/>
          <p:cNvSpPr/>
          <p:nvPr/>
        </p:nvSpPr>
        <p:spPr>
          <a:xfrm>
            <a:off x="6358738" y="206042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a0d487e0-323a-4d65-9a67-85f331d3b59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556" y="2191091"/>
            <a:ext cx="358445" cy="358445"/>
          </a:xfrm>
          <a:prstGeom prst="rect">
            <a:avLst/>
          </a:prstGeom>
        </p:spPr>
      </p:pic>
      <p:sp>
        <p:nvSpPr>
          <p:cNvPr id="26" name="e9ab49fe-4305-4324-a30a-55d1b8f1e1f1"/>
          <p:cNvSpPr/>
          <p:nvPr/>
        </p:nvSpPr>
        <p:spPr>
          <a:xfrm>
            <a:off x="7135978" y="2060423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12ee54fa-1a4e-4710-97e8-dea3b5ffce2c"/>
          <p:cNvSpPr/>
          <p:nvPr/>
        </p:nvSpPr>
        <p:spPr>
          <a:xfrm>
            <a:off x="6192520" y="3459883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a8361ffd-6096-4d51-ab51-a7f90c7ab08a"/>
          <p:cNvSpPr/>
          <p:nvPr/>
        </p:nvSpPr>
        <p:spPr>
          <a:xfrm>
            <a:off x="6329680" y="3587157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f2475d3b-287a-4465-8c39-f96693f4a10b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0498" y="3717826"/>
            <a:ext cx="358445" cy="358445"/>
          </a:xfrm>
          <a:prstGeom prst="rect">
            <a:avLst/>
          </a:prstGeom>
        </p:spPr>
      </p:pic>
      <p:sp>
        <p:nvSpPr>
          <p:cNvPr id="30" name="ee014f35-29ed-4c04-8b6b-4d6cd046114d"/>
          <p:cNvSpPr/>
          <p:nvPr/>
        </p:nvSpPr>
        <p:spPr>
          <a:xfrm>
            <a:off x="7152640" y="3519277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</a:t>
            </a:r>
            <a:r>
              <a:rPr lang="en-US" altLang="zh-TW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</a:t>
            </a: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 靜態帳號:三種做法逐一排除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</a:t>
            </a:r>
            <a:r>
              <a:rPr lang="en-US" altLang="zh-TW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</a:t>
            </a: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SCRAM:官方 </a:t>
            </a:r>
            <a:r>
              <a:rPr lang="en-US" altLang="zh-TW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</a:t>
            </a: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overview 頁說明 controller listener 不支援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marL="0" indent="0" algn="l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靜態帳號:帳號寫在設定檔</a:t>
            </a:r>
            <a:endParaRPr lang="en-US" sz="1400" dirty="0"/>
          </a:p>
        </p:txBody>
      </p:sp>
      <p:sp>
        <p:nvSpPr>
          <p:cNvPr id="31" name="f80aaf84-0f6f-414a-94c9-b6e303c7db1e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  <p:sp>
        <p:nvSpPr>
          <p:cNvPr id="36" name="b8857263-ed8b-4070-8a9b-952aa5a01219">
            <a:extLst>
              <a:ext uri="{FF2B5EF4-FFF2-40B4-BE49-F238E27FC236}">
                <a16:creationId xmlns:a16="http://schemas.microsoft.com/office/drawing/2014/main" id="{66C9A271-0B9E-6777-33C7-3CA2C1AF7DB8}"/>
              </a:ext>
            </a:extLst>
          </p:cNvPr>
          <p:cNvSpPr/>
          <p:nvPr/>
        </p:nvSpPr>
        <p:spPr>
          <a:xfrm>
            <a:off x="393497" y="388765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</a:t>
            </a:r>
            <a:r>
              <a:rPr lang="en-US" altLang="zh-TW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_SSL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Broker:三個入口,各管一件事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</a:t>
            </a:r>
            <a:r>
              <a:rPr lang="en-US" altLang="zh-TW" sz="1600" dirty="0"/>
              <a:t>SASL/</a:t>
            </a:r>
            <a:r>
              <a:rPr lang="zh-TW" altLang="en-US" sz="1600" dirty="0"/>
              <a:t>PLAIN + AD、服務 </a:t>
            </a:r>
            <a:r>
              <a:rPr lang="en-US" altLang="zh-TW" sz="1600" dirty="0"/>
              <a:t>SASL/</a:t>
            </a:r>
            <a:r>
              <a:rPr lang="zh-TW" altLang="en-US" sz="1600" dirty="0"/>
              <a:t>SCRAM、平台 </a:t>
            </a:r>
            <a:r>
              <a:rPr lang="en-US" altLang="zh-TW" sz="1600" dirty="0"/>
              <a:t>SASL/</a:t>
            </a:r>
            <a:r>
              <a:rPr lang="zh-TW" altLang="en-US" sz="1600" dirty="0"/>
              <a:t>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11</a:t>
            </a:fld>
            <a:endParaRPr lang="zh-TW" altLang="en-US" sz="900"/>
          </a:p>
        </p:txBody>
      </p:sp>
      <p:sp>
        <p:nvSpPr>
          <p:cNvPr id="2" name="a90edfad-65e6-494f-b7a3-4e9f34f5fba4"/>
          <p:cNvSpPr/>
          <p:nvPr/>
        </p:nvSpPr>
        <p:spPr>
          <a:xfrm>
            <a:off x="525780" y="2377234"/>
            <a:ext cx="2103120" cy="201640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0" name="fd5c7be8-0928-4066-87f7-c37addf59897"/>
          <p:cNvSpPr/>
          <p:nvPr/>
        </p:nvSpPr>
        <p:spPr>
          <a:xfrm>
            <a:off x="1028700" y="2546933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1" name="80fcb5b5-d131-4155-b047-8dff2b3feaf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102" y="2770936"/>
            <a:ext cx="614477" cy="614477"/>
          </a:xfrm>
          <a:prstGeom prst="rect">
            <a:avLst/>
          </a:prstGeom>
        </p:spPr>
      </p:pic>
      <p:sp>
        <p:nvSpPr>
          <p:cNvPr id="5" name="88893b6f-7af4-4140-85e0-eb2e99859cd8"/>
          <p:cNvSpPr/>
          <p:nvPr/>
        </p:nvSpPr>
        <p:spPr>
          <a:xfrm>
            <a:off x="525780" y="3692404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7" name="9f09ca8d-7890-4f3a-9016-c50d18450cd5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3" name="d3eb3366-4022-447b-99c1-f6e23b3574a3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fa46a782-27ab-4e1d-a6fe-6f8c7f2a630b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e19a02d6-d354-43b7-ab90-3763196a263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a5bc5b9f-d34e-4689-9591-adda1b60fc19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6100f5a7-473c-441a-a618-f0f54d1695c5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fa2886ef-01c4-448d-a8f6-b7478cbafa37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marL="0" indent="0" algn="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4ee4067b-74a9-4f6e-9ff9-9ecdbcff168e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9d3dd308-1f16-438b-8983-5c8b2bce5434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a5c20428-8e35-47cf-9576-1da2a49702ad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a574c010-096b-4e22-9f48-6cb5d4ab8ea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5b5272dc-5eb0-4a7e-a5c0-87aa17867c4f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0f606a55-3b89-4625-875e-f169f1a0924b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</a:t>
            </a:r>
            <a:r>
              <a:rPr lang="en-US" altLang="zh-TW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-SHA-512</a:t>
            </a: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/ OAUTHBEARER(帶 MDS token)</a:t>
            </a:r>
            <a:endParaRPr lang="en-US" sz="1300" dirty="0"/>
          </a:p>
        </p:txBody>
      </p:sp>
      <p:sp>
        <p:nvSpPr>
          <p:cNvPr id="20" name="07e54b45-3c86-4c22-90c0-b85297125ff6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f5a53e2d-e4a3-4d0d-9d52-f5691a60e779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8ab417cf-4180-4959-b656-8befc52df043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85aef63d-75ae-4e27-b862-4c91ed7965c0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6f6a3a20-9220-495e-9ba8-de51f24d7bd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50190d42-5581-4c75-ab89-ac1606b70ead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d3de33da-6fde-48d9-b404-bf34eabc54f0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4487682b-264e-4cfc-a720-8650d7f6d7d0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0f0cd855-be0e-4e04-9f78-4f66ecef74c0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a3520901-596c-46c9-bc65-cfce842eb073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12</a:t>
            </a:fld>
            <a:endParaRPr lang="zh-TW" altLang="en-US" sz="900"/>
          </a:p>
        </p:txBody>
      </p:sp>
      <p:sp>
        <p:nvSpPr>
          <p:cNvPr id="2" name="03685dab-583d-447c-b8a5-620a17852a7d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9" name="a8524c40-bcb8-4611-8043-c02c26b5f821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0" name="86732edf-6a44-4fef-a2e1-79f7a7c71f1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bb3476d2-73c5-45f2-9f6c-38721917a49e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41" name="a10e0418-94b8-40ec-990c-6b3ce850454b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</a:t>
            </a:r>
            <a:r>
              <a:rPr lang="en-US" altLang="zh-TW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,</a:t>
            </a: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</a:t>
            </a:r>
            <a:r>
              <a:rPr lang="en-US" altLang="zh-TW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 </a:t>
            </a: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API 或 </a:t>
            </a:r>
            <a:r>
              <a:rPr lang="en-US" altLang="zh-TW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</a:t>
            </a: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指派 role binding</a:t>
            </a:r>
            <a:endParaRPr lang="en-US" sz="1150" dirty="0"/>
          </a:p>
        </p:txBody>
      </p:sp>
      <p:sp>
        <p:nvSpPr>
          <p:cNvPr id="7" name="3ffc56ed-f9a0-4af1-9281-e9eb6201be4f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2" name="1dbb40e1-b71c-4b4b-90fa-0c94311ccd8b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2dbc10f6-c242-4158-afba-83d3e2e44f3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6f764307-7e0b-4aa1-b532-6ae22da425b5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28baec8d-8fbe-4b38-909d-d320ea9c72dc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marL="0" indent="0" algn="ctr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b1bd120a-2cc3-43d2-ba3d-9b99dd910a13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e413f615-4ec6-4ba1-a353-34f036b9198e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e8977c50-8c97-4426-a680-2a670b1babf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1be722af-69cd-46a9-9bd6-24bd3a36e3ad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4d802ded-978e-4aa4-bcda-bd109210a85c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f47366ca-8d03-46d2-a0a4-a7be41117eb3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8227f39f-7f18-4e40-8d5e-7cfa789c738b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5689fd36-3cca-489f-9738-4b69a4197c4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1b662994-e051-4ad8-98a7-0cd72488070c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210c6037-eb79-4c08-977d-c2a42183ff6a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777caaed-634b-4703-8ca5-6c234b0e0de1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4b1ee9c7-83cc-467a-a3d4-fc60dc09e426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b1aa51ef-46d4-48ed-b0b4-4bc23d7801ef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75b61a21-6674-4d48-a0ed-a6b566bfd870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3ce4690e-77e8-4ab7-953b-ab6acc70a26f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210cb63d-fc3d-4ead-986f-510e296164dd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d9a032c0-04dc-40bc-8e9b-7ae7c3bc3f3d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626e4f69-763d-494a-973a-29ee8d358c23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 </a:t>
            </a:r>
            <a:r>
              <a:rPr lang="en-US" altLang="zh-TW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DN</a:t>
            </a: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、定期查群組及其成員</a:t>
            </a:r>
            <a:endParaRPr lang="en-US" sz="1150" dirty="0"/>
          </a:p>
          <a:p>
            <a:pPr marL="0" indent="0" algn="ctr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 DN + 密碼 simple bind</a:t>
            </a:r>
            <a:endParaRPr lang="en-US" sz="1150" dirty="0"/>
          </a:p>
        </p:txBody>
      </p:sp>
      <p:sp>
        <p:nvSpPr>
          <p:cNvPr id="30" name="59e96bb5-c986-4d90-b7bc-1adb8e07457e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e1e6ebce-7f01-4c36-ad75-4672d880eb8f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54d86c66-de4f-4654-b61d-4d6d47f13526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deecb617-566b-44a5-a956-b794116fdbea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9dff045d-1dd9-4918-b3b4-d070360a50f3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做;由一個 </a:t>
            </a:r>
            <a:r>
              <a:rPr lang="en-US" altLang="zh-TW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</a:t>
            </a: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 </a:t>
            </a:r>
            <a:r>
              <a:rPr lang="en-US" altLang="zh-TW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writer 向 AD 定期查群組(預設 60 秒),寫入 RBAC topic,其他 broker 讀取後更新快取</a:t>
            </a: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驗證並取得 </a:t>
            </a:r>
            <a:r>
              <a:rPr lang="en-US" altLang="zh-TW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token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marL="0" indent="0" algn="l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</a:t>
            </a:r>
            <a:r>
              <a:rPr lang="en-US" altLang="zh-TW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</a:t>
            </a: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token:JWT,過期時長可設;元件自動更換 </a:t>
            </a:r>
            <a:r>
              <a:rPr lang="en-US" altLang="zh-TW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;刪除 AD 帳號後,舊 token 到期前仍有效(實測)</a:t>
            </a:r>
            <a:endParaRPr lang="en-US" sz="1050" dirty="0"/>
          </a:p>
        </p:txBody>
      </p:sp>
      <p:sp>
        <p:nvSpPr>
          <p:cNvPr id="35" name="42068258-ec12-41c1-bb1a-80df44a25733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33dc4f03-b07f-4aea-8030-07dc23dba8bc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06b30e71-34fb-41e7-b687-8b37e84f9bb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40a7d969-1e3e-4019-be13-96855ac0e2b8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 </a:t>
            </a:r>
            <a:r>
              <a:rPr lang="en-US" altLang="zh-TW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&amp; Password; </a:t>
            </a: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不要用真人帳號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13</a:t>
            </a:fld>
            <a:endParaRPr lang="zh-TW" altLang="en-US" sz="900"/>
          </a:p>
        </p:txBody>
      </p:sp>
      <p:sp>
        <p:nvSpPr>
          <p:cNvPr id="2" name="f91cb87f-2636-4ad6-b639-e0f4200f0b9f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49" name="3539abd6-8a17-46d4-b496-98535b23992d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50" name="0ce23e9a-4e3b-4dfb-a2b7-5df28b1927cd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7f252182-f987-4abc-86f1-22c5e03af061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51" name="0796b029-c751-40cf-acd8-9f2f4192fe58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7" name="ef96c2d0-ab42-4fd1-9312-031e6acc1768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52" name="4300b2d2-5c2c-48f4-aaf4-1626e04b48de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0791b7e7-63bd-403c-9275-9d1554164a5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f383b6a1-0d2e-4970-a8af-ce86a3d02da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a7adcd86-0a67-4b5e-ae2e-771d287e229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b5e9e6e6-ffc4-4b98-bf25-de89b4e9fb0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b3977971-110f-4856-bd15-00b1c57c29f0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7de81326-f1cc-4db4-af2d-669de7dee5d4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d4da83fa-98dd-4cbd-85ff-493a1bac7e98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1880627b-6de3-43ca-8b9f-038127345cd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d9cbfd22-fc6e-4736-8e67-bec431a3c3dc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d099313d-7ffa-42a8-9f65-70fcd6a97da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eb515a5e-5a0b-43de-9426-416862f8afca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c74a0b20-d680-4042-aa1d-77a9aa641c13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21" name="8e2eaab2-b037-479e-bfef-645049ed83c6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f2e3b13f-0861-46ed-af3c-939993fb6f5e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36ff0774-81f4-41e4-8194-9f1934cd60ba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ba52e6ef-8dd5-496d-90aa-60f832ee8ba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b430bc23-d878-4043-8425-629e5c165ac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d70a2766-f320-4f63-8047-2af95210d94a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59329db3-c555-4384-9e71-2bfae9e7eabc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fc30bcf5-9737-400b-85d0-840e2f70f35d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468ae1ac-2913-410e-a3f0-335cf43b099e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f0952cd8-9657-48b8-87f4-c898bfd4622f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028a4e54-400a-476a-8a6e-bdebdd0f8d2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311b487d-c4a2-4253-8b1e-739d6bf1697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b790aa1c-7b09-4c13-b9e1-4188a9d592fb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3981fcb9-a391-492b-99e6-28668a8b1948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b6b96e03-2004-4438-8dad-95ca412c7683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b9e3ea3b-589d-4210-a7cc-a914f6055980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fe43c039-5c05-41d5-ad20-500e30f75fc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73fee6dd-2bc2-4329-996f-d71e88a4fd1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dacf893c-e37f-4de7-8f64-84af638e09ca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96888b36-b7e2-4eca-9399-4f810c2b0f9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37af8aee-e834-4dc2-b94e-479d8091d38c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99831f91-6abc-4a02-97be-f2e750a04269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c30b4c92-3d75-4abb-bd59-b5fec613b39d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fcb95bd4-bcc9-438b-88a6-33cd9d6b7b29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0d8a1dc3-2316-425a-bb89-994f5ab9c3c3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11b17ffc-f4db-43ab-85bd-3685dbc0df41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61eb0d87-20ca-4c51-ab96-7f8807e05c6b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f0bac62b-836e-493d-bf66-4e2ed0844594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14</a:t>
            </a:fld>
            <a:endParaRPr lang="zh-TW" altLang="en-US" sz="900"/>
          </a:p>
        </p:txBody>
      </p:sp>
      <p:sp>
        <p:nvSpPr>
          <p:cNvPr id="2" name="8aa2edbd-bd17-48c9-9587-8de61c1c57c2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40" name="36e2282d-c43f-4960-aebd-dcf1a5953cb9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1" name="e190dc11-1ab5-4988-a7bd-2274eba16a15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18157e54-fff3-4f8e-b112-d057576ae77e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42" name="e2a702b9-e7df-4ddd-8417-43251f24642b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8b725f01-1541-4136-b52f-d34ea9deac0e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43" name="5b8b8a6c-da13-4fb1-8a09-2c4d609f278c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7ad2a11f-3549-48fe-905a-50ec0141e75f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3775598c-f234-4c0c-b2e5-45f66199ca4b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0b810a37-2a4e-4c24-b7fb-1b9e647d0711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3a1e4c5d-891d-4a46-963a-08f38f70dc77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dc2dc8ac-8863-4211-92ee-12eb90aa634e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cf73964f-fbdf-4d48-9cdc-bfe3ee857320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646ce2d7-060f-4b61-977a-82693c0d7d7c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d21e6201-c882-42c3-ab5b-20dc1648e4d7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7" name="7d2c85a4-328a-45d6-8f33-9a57e3eb3187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76dcee8c-b773-4bf6-a80e-f566984bd00c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e8d4d835-15b9-433a-aa04-e8706bf82e93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0ceff4f3-83b7-4fac-b522-52b61d6c6014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3d9b38cc-0600-4768-bf1b-2eede7165be3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77730e49-5e90-4001-b332-a25e08cfbbbb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9633e244-d59c-4103-abcf-75f5823a593e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befad660-4ec4-4b6a-bda6-47c70fa838f4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73e27dc2-896c-4731-8826-89271322d7f0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21aae15b-a481-4e76-bde3-795dfc8bc51f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a5ce548d-2136-4651-88f5-49b71ecf7606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12854a36-73e3-4d94-8420-8377ff9c134c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b60671ed-6f25-47d2-962a-3108bca7e276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cfab4c31-e6f3-40f9-ac19-91440354eee7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dc7ce285-b572-486a-8910-f8f93cb6540d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bed001d8-8466-4e5e-8df7-c243d127a220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f1b9469c-15af-44a6-9d27-5a4d2fe071c8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72b4e7e2-138b-4d10-a2bb-8d44cc2ab9b4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588401f6-0361-4193-bc55-ca5f89c1c134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83cc545e-596b-4961-a2bf-0ee7a75a6e65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fd622c19-14c8-4078-bac3-7e94da68e7b3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7af78c17-f744-4aa5-908a-436eb8ae2a99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62c3a8b6-63ee-4180-8c2f-46939bb3b8c5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</a:t>
            </a:r>
            <a:r>
              <a:rPr lang="en-US" altLang="zh-TW" sz="2800" dirty="0"/>
              <a:t>SASL/</a:t>
            </a:r>
            <a:r>
              <a:rPr lang="zh-TW" altLang="en-US" sz="2800" dirty="0"/>
              <a:t>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</a:t>
            </a:r>
            <a:r>
              <a:rPr lang="en-US" altLang="zh-TW" sz="1600" dirty="0"/>
              <a:t>SASL/</a:t>
            </a:r>
            <a:r>
              <a:rPr lang="zh-TW" altLang="en-US" sz="1600" dirty="0"/>
              <a:t>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15</a:t>
            </a:fld>
            <a:endParaRPr lang="zh-TW" altLang="en-US" sz="900"/>
          </a:p>
        </p:txBody>
      </p:sp>
      <p:sp>
        <p:nvSpPr>
          <p:cNvPr id="2" name="95a9b27f-024f-4f28-993a-7faadc911a57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6" name="abb7d460-0276-46bd-900f-47bf39a45608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7" name="848d27e2-c97d-4eed-92b5-3a946d040671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9f0622a1-2415-498b-b7f6-10e991c9af20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48" name="45b738e7-4d29-4d0b-b2c9-efb0e15c047b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094b0930-157f-40e4-9de0-fc7aaf8b02fb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9" name="8b7329c2-8e99-4fed-81bf-785a39f7393d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46fc2023-1651-4507-8666-ec5b3b75927b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10" name="ab086ef3-2366-41c7-99aa-36467271f862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11" name="9daa2eab-c139-403e-aac1-241c5bc930e0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bbccd54a-6c8d-475f-bb44-5c365d069b63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676c6098-3630-4809-b517-28fe8d61123b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9208b15b-4470-4631-943f-cad710301591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5" name="4c822b42-fa06-4830-b3eb-cf9310e01725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6" name="72044bc9-d07c-4a9d-a907-1458764f1fd0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ed401fc3-5a90-4f86-9f0b-718486956219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a3c311f0-3ed3-405b-bf08-f397d13bff43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cac91f2c-7caf-4789-8f8e-c134fc8a4c47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20" name="ebd1de66-12bb-492d-8c9b-bf457aee309b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21" name="dc2f5626-7f5c-4c7a-830c-7a047eda7488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b546250f-b8de-44d3-9df7-58f41e56e02b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58425df3-63ea-443b-9c72-e17ce66d04e1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4c6b67f8-68b1-4936-824e-300bd0742411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5" name="37eb071a-dc15-4cd8-b3e1-e7aab225399b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client 換新密碼</a:t>
            </a:r>
            <a:endParaRPr lang="en-US" sz="1100" dirty="0"/>
          </a:p>
        </p:txBody>
      </p:sp>
      <p:sp>
        <p:nvSpPr>
          <p:cNvPr id="26" name="fce71e6a-4248-4b55-b677-b1e7d2dade77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82f17c02-a574-474d-8a76-b2fa5b82b327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62dd1a6a-d820-465b-b22f-cc64f5b400e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13828bfd-33ab-4a69-b016-f650d227f7f3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marL="0" indent="0" algn="l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6b330bee-c192-4227-8c18-9603f35b4534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475a17b2-ef00-441a-abce-57ff414c2592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6fbc5ab4-d2d2-448a-b38b-7824b4f9ff4c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752f8aca-3c45-4d99-a63a-298e4894b1fa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marL="0" indent="0" algn="l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ba2d5473-e81e-4f26-a4d3-569868313a0b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bbebaff2-0e2c-46d5-bc65-10739605ae66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8c3b005d-cc5b-43b6-b0a2-488e373c233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b10f4ea1-0e8e-4266-8ba9-f61675440c63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官方:SCRAM 搭配 TLS</a:t>
            </a:r>
            <a:endParaRPr lang="en-US" sz="1300" dirty="0"/>
          </a:p>
          <a:p>
            <a:pPr marL="0" indent="0" algn="l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300" dirty="0"/>
          </a:p>
        </p:txBody>
      </p:sp>
      <p:sp>
        <p:nvSpPr>
          <p:cNvPr id="38" name="4cce627f-4e65-4965-ad32-786afd6c92d3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端改密碼</a:t>
            </a:r>
            <a:endParaRPr lang="en-US" sz="1200" dirty="0"/>
          </a:p>
        </p:txBody>
      </p:sp>
      <p:sp>
        <p:nvSpPr>
          <p:cNvPr id="39" name="a8ebdb59-66fc-46ef-9cf1-5760c12207c9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9ff4725b-37d3-48f8-9764-adb172197818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client 換新密碼並重啟</a:t>
            </a:r>
            <a:endParaRPr lang="en-US" sz="1200" dirty="0"/>
          </a:p>
        </p:txBody>
      </p:sp>
      <p:sp>
        <p:nvSpPr>
          <p:cNvPr id="41" name="37226702-a57b-427f-a8d4-b703b0555cd0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856f7f54-d2ed-4bfe-a17b-f291778bfd6a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驗證新密碼可用</a:t>
            </a:r>
            <a:endParaRPr lang="en-US" sz="1200" dirty="0"/>
          </a:p>
        </p:txBody>
      </p:sp>
      <p:sp>
        <p:nvSpPr>
          <p:cNvPr id="43" name="ff912df6-a654-4800-819f-a6f1f1ab4f0b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667a7627-2572-4b9e-a498-3b3501fd829b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驗證舊密碼已失效</a:t>
            </a:r>
            <a:endParaRPr lang="en-US" sz="1200" dirty="0"/>
          </a:p>
        </p:txBody>
      </p:sp>
      <p:sp>
        <p:nvSpPr>
          <p:cNvPr id="45" name="d968a8c3-34f1-4e22-98d6-39866821bacb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 = 取代:舊密碼對新連線立即失效(實測)</a:t>
            </a:r>
            <a:endParaRPr lang="en-US" sz="1300" dirty="0"/>
          </a:p>
          <a:p>
            <a:pPr marL="0" indent="0" algn="ctr">
              <a:buNone/>
            </a:pPr>
            <a:r>
              <a:rPr lang="zh-TW" alt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已連線的 client 不受影響;改完立刻換 client,換好之前重新連線的會失敗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09722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特例:不能有失敗窗口的服務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新帳號並行:新舊同時有效,代價是 client 要改帳號、role 要重綁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16</a:t>
            </a:fld>
            <a:endParaRPr lang="zh-TW" altLang="en-US" sz="900"/>
          </a:p>
        </p:txBody>
      </p:sp>
      <p:sp>
        <p:nvSpPr>
          <p:cNvPr id="2" name="eafd26ea-d975-49a2-b970-98e7c4ead2ec"/>
          <p:cNvSpPr/>
          <p:nvPr/>
        </p:nvSpPr>
        <p:spPr>
          <a:xfrm>
            <a:off x="548640" y="1685050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上一頁的做法,會有一段失敗窗口</a:t>
            </a:r>
            <a:endParaRPr lang="en-US" sz="1400" dirty="0"/>
          </a:p>
        </p:txBody>
      </p:sp>
      <p:sp>
        <p:nvSpPr>
          <p:cNvPr id="23" name="df0adda9-953a-4bcb-9d14-a220c36f51ae"/>
          <p:cNvSpPr/>
          <p:nvPr/>
        </p:nvSpPr>
        <p:spPr>
          <a:xfrm>
            <a:off x="548640" y="2066874"/>
            <a:ext cx="2926080" cy="848497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端改密碼</a:t>
            </a:r>
            <a:endParaRPr lang="en-US" sz="1400" dirty="0"/>
          </a:p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舊密碼對新連線立即失效</a:t>
            </a:r>
            <a:endParaRPr lang="en-US" sz="1400" dirty="0"/>
          </a:p>
        </p:txBody>
      </p:sp>
      <p:sp>
        <p:nvSpPr>
          <p:cNvPr id="24" name="e14bc38e-b74c-4391-b772-6f48ac8bd02e"/>
          <p:cNvSpPr/>
          <p:nvPr/>
        </p:nvSpPr>
        <p:spPr>
          <a:xfrm>
            <a:off x="3474720" y="2491122"/>
            <a:ext cx="36576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" name="05fa9118-b244-4b33-b31b-28f852a3d58c"/>
          <p:cNvSpPr/>
          <p:nvPr/>
        </p:nvSpPr>
        <p:spPr>
          <a:xfrm>
            <a:off x="3840480" y="2066874"/>
            <a:ext cx="4572000" cy="848497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失敗窗口</a:t>
            </a:r>
            <a:endParaRPr lang="en-US" sz="1400" dirty="0"/>
          </a:p>
          <a:p>
            <a:pPr marL="0" indent="0" algn="ctr">
              <a:buNone/>
            </a:pPr>
            <a:r>
              <a:rPr lang="zh-TW" altLang="en-US" sz="11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還沒換新密碼、就重新連線 → 失敗</a:t>
            </a:r>
            <a:endParaRPr lang="en-US" sz="1400" dirty="0"/>
          </a:p>
        </p:txBody>
      </p:sp>
      <p:sp>
        <p:nvSpPr>
          <p:cNvPr id="25" name="a1128b62-99ed-40e2-a699-270d863687ce"/>
          <p:cNvSpPr/>
          <p:nvPr/>
        </p:nvSpPr>
        <p:spPr>
          <a:xfrm>
            <a:off x="8412480" y="2491122"/>
            <a:ext cx="36576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7" name="ccb95dae-0f97-45c9-b78b-7e547889998c"/>
          <p:cNvSpPr/>
          <p:nvPr/>
        </p:nvSpPr>
        <p:spPr>
          <a:xfrm>
            <a:off x="8778240" y="2066874"/>
            <a:ext cx="2862072" cy="848497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換好新密碼</a:t>
            </a:r>
            <a:endParaRPr lang="en-US" sz="1400" dirty="0"/>
          </a:p>
        </p:txBody>
      </p:sp>
      <p:sp>
        <p:nvSpPr>
          <p:cNvPr id="26" name="ae71ab92-396c-4250-a50f-f76b43787db4"/>
          <p:cNvSpPr/>
          <p:nvPr/>
        </p:nvSpPr>
        <p:spPr>
          <a:xfrm>
            <a:off x="548640" y="3212345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不能承受窗口的服務:改用新帳號並行(新舊同時有效)</a:t>
            </a:r>
            <a:endParaRPr lang="en-US" sz="1400" dirty="0"/>
          </a:p>
        </p:txBody>
      </p:sp>
      <p:sp>
        <p:nvSpPr>
          <p:cNvPr id="9" name="cf2c68c8-c70d-4a28-af39-184de312427d"/>
          <p:cNvSpPr/>
          <p:nvPr/>
        </p:nvSpPr>
        <p:spPr>
          <a:xfrm>
            <a:off x="548640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建新帳號 svc-x-v2</a:t>
            </a:r>
            <a:endParaRPr lang="en-US" sz="1200" dirty="0"/>
          </a:p>
        </p:txBody>
      </p:sp>
      <p:sp>
        <p:nvSpPr>
          <p:cNvPr id="10" name="2b58ba83-fb17-49c0-97fc-37633e954449"/>
          <p:cNvSpPr/>
          <p:nvPr/>
        </p:nvSpPr>
        <p:spPr>
          <a:xfrm>
            <a:off x="3063240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377b2651-e733-437a-a358-d79f64004d40"/>
          <p:cNvSpPr/>
          <p:nvPr/>
        </p:nvSpPr>
        <p:spPr>
          <a:xfrm>
            <a:off x="3410712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重綁相同 role</a:t>
            </a:r>
            <a:endParaRPr lang="en-US" sz="1200" dirty="0"/>
          </a:p>
        </p:txBody>
      </p:sp>
      <p:sp>
        <p:nvSpPr>
          <p:cNvPr id="12" name="e290d633-8dcc-4b62-bbcc-d4acda16c81f"/>
          <p:cNvSpPr/>
          <p:nvPr/>
        </p:nvSpPr>
        <p:spPr>
          <a:xfrm>
            <a:off x="5925312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993ac847-4917-4ea9-9594-64fa9a9a0cb8"/>
          <p:cNvSpPr/>
          <p:nvPr/>
        </p:nvSpPr>
        <p:spPr>
          <a:xfrm>
            <a:off x="6272784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client 改帳號與密碼</a:t>
            </a:r>
            <a:endParaRPr lang="en-US" sz="1200" dirty="0"/>
          </a:p>
        </p:txBody>
      </p:sp>
      <p:sp>
        <p:nvSpPr>
          <p:cNvPr id="14" name="e908f358-092a-4948-95e7-85cbf5a1ca8b"/>
          <p:cNvSpPr/>
          <p:nvPr/>
        </p:nvSpPr>
        <p:spPr>
          <a:xfrm>
            <a:off x="8787384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83fa43c9-7cfb-4be3-a66f-1276f091ab98"/>
          <p:cNvSpPr/>
          <p:nvPr/>
        </p:nvSpPr>
        <p:spPr>
          <a:xfrm>
            <a:off x="9134856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刪舊帳號與舊 binding</a:t>
            </a:r>
            <a:endParaRPr lang="en-US" sz="1200" dirty="0"/>
          </a:p>
        </p:txBody>
      </p:sp>
      <p:sp>
        <p:nvSpPr>
          <p:cNvPr id="16" name="d64bd352-44ca-4fbe-b53e-5893274b1c3f"/>
          <p:cNvSpPr/>
          <p:nvPr/>
        </p:nvSpPr>
        <p:spPr>
          <a:xfrm>
            <a:off x="548640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舊帳號仍可使用</a:t>
            </a:r>
            <a:endParaRPr lang="en-US" sz="1100" dirty="0"/>
          </a:p>
        </p:txBody>
      </p:sp>
      <p:sp>
        <p:nvSpPr>
          <p:cNvPr id="17" name="8fa435df-5ed6-4b1f-8957-c27b565a204c"/>
          <p:cNvSpPr/>
          <p:nvPr/>
        </p:nvSpPr>
        <p:spPr>
          <a:xfrm>
            <a:off x="3410712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綁的是帳號名稱</a:t>
            </a:r>
            <a:endParaRPr lang="en-US" sz="1100" dirty="0"/>
          </a:p>
        </p:txBody>
      </p:sp>
      <p:sp>
        <p:nvSpPr>
          <p:cNvPr id="18" name="b5e609ae-2adc-41a8-ba96-3f165bfefcf1"/>
          <p:cNvSpPr/>
          <p:nvPr/>
        </p:nvSpPr>
        <p:spPr>
          <a:xfrm>
            <a:off x="6272784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逐步切換,新舊並存</a:t>
            </a:r>
            <a:endParaRPr lang="en-US" sz="1100" dirty="0"/>
          </a:p>
        </p:txBody>
      </p:sp>
      <p:sp>
        <p:nvSpPr>
          <p:cNvPr id="19" name="aa808951-0f05-45da-8681-7591ac809033"/>
          <p:cNvSpPr/>
          <p:nvPr/>
        </p:nvSpPr>
        <p:spPr>
          <a:xfrm>
            <a:off x="9134856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全部切完才刪</a:t>
            </a:r>
            <a:endParaRPr lang="en-US" sz="1100" dirty="0"/>
          </a:p>
        </p:txBody>
      </p:sp>
      <p:sp>
        <p:nvSpPr>
          <p:cNvPr id="20" name="d19fd421-5acc-498a-a7e3-3dbea628ae57"/>
          <p:cNvSpPr/>
          <p:nvPr/>
        </p:nvSpPr>
        <p:spPr>
          <a:xfrm>
            <a:off x="548640" y="4612365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代價:每次輪替,client 都要改帳號名稱並重啟</a:t>
            </a:r>
            <a:endParaRPr lang="en-US" sz="1200" dirty="0"/>
          </a:p>
        </p:txBody>
      </p:sp>
      <p:sp>
        <p:nvSpPr>
          <p:cNvPr id="21" name="e274eb2f-4ef7-4586-a0ec-b35874ea7ed5"/>
          <p:cNvSpPr/>
          <p:nvPr/>
        </p:nvSpPr>
        <p:spPr>
          <a:xfrm>
            <a:off x="6199632" y="4612365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代價:新帳號的 role binding 要重綁</a:t>
            </a:r>
            <a:endParaRPr lang="en-US" sz="1200" dirty="0"/>
          </a:p>
        </p:txBody>
      </p:sp>
      <p:sp>
        <p:nvSpPr>
          <p:cNvPr id="22" name="802fcad8-06d9-40c1-ac6d-e536fdc66c28"/>
          <p:cNvSpPr/>
          <p:nvPr/>
        </p:nvSpPr>
        <p:spPr>
          <a:xfrm>
            <a:off x="548640" y="5376013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只有不能承受失敗窗口的服務才用;日常輪替仍用同帳號改密碼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39022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Basic、服務用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17</a:t>
            </a:fld>
            <a:endParaRPr lang="zh-TW" altLang="en-US" sz="900"/>
          </a:p>
        </p:txBody>
      </p:sp>
      <p:sp>
        <p:nvSpPr>
          <p:cNvPr id="2" name="f06a1601-e25d-42ec-9b97-cc55c4fdb5e3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54" name="9e5467b1-a952-4d17-ac1d-ecc42e824782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55" name="c95326d7-36b7-4eb6-aefa-c7658b27a2bf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977c3026-6fa5-480b-9e85-f0dc99c864e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56" name="a4a66711-c1e0-4d57-b533-5186d3c79ce2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8dcc3eee-8489-4456-8e86-1b7a44084b9b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57" name="e84abdde-7842-4d61-9d09-3f651e798443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7f1a2be1-25ea-409c-a593-99b52aa58244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marL="0" indent="0" algn="l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09597857-7873-4532-a7f6-21db556cd070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00477917-6187-4f6f-b015-5105e515c9a0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02e5a00f-2ca0-4013-8aad-69f28ee0760d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75958fa9-59f0-4822-8cf2-f529e1c7812d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c660a53b-2ed7-4701-af13-29574ca801c7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d1d82d5f-cb44-4578-ae21-2f15433880d8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2e91533c-5479-44fa-8228-4bd5e8e1559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4b256857-fe33-4920-9e4d-c197d9b28dcd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a5a2ae42-615c-4699-afbe-bedf6bf35afd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3acf868a-120a-435c-a74f-198bdef55fbe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36d11fd8-20e8-4380-acb3-5908409f542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1e8db3d3-a28d-4359-87f9-b141e5093c07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8758072c-c11e-4f4b-b22a-990be974c64c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f0431d95-d4fa-4f72-94f0-26053e31cc90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4163fccd-8753-497f-99cf-73cf53bcbc77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9423c0fb-c533-4b6d-9358-d5d07e26147c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ffd75129-153e-4814-8dd3-12d17bb20302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marL="0" indent="0" algn="l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f1962f71-cb8e-4a0b-9877-b5b5103c4aec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服務(legacy app)</a:t>
            </a:r>
            <a:endParaRPr lang="en-US" sz="1400" dirty="0"/>
          </a:p>
        </p:txBody>
      </p:sp>
      <p:sp>
        <p:nvSpPr>
          <p:cNvPr id="28" name="ef6c9a7a-ab6e-4ff3-afef-67be0a76525c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a16e7a51-5447-4466-81bd-e927816e805a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c6686178-b020-4d54-80b2-9e5dc6e4510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47607931-d87f-4385-a1e5-16b8a5073bf7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463bedc1-39b4-4884-90e8-d2a0a52c44d0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bc20d397-d630-431c-88cf-f8548f58458e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56716de7-0ebf-423d-9469-9cdbf0e4eb46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marL="0" indent="0" algn="l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marL="0" indent="0" algn="l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55caa0f3-6cff-4132-9c33-18a29ab2a973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31ac6972-6fd1-4d5a-9f79-0e980aa8a020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5ece5209-1c57-45ba-9b32-53a39e875f3d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7b149800-da18-48fe-8efc-82935e65e94c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ee190158-ff85-4b97-affe-5ad6d2bc42d3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adfaa970-bc78-4cc0-8020-cba8a7608129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bd098fd5-8907-4e25-a903-691e25cb537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a9211fdd-8fb6-4e87-8751-675128b42e37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67ea3f4d-7ce2-4a71-8947-c03023a404e9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2f2b336b-175d-4f39-9be9-4cd8c8546f98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b71d3850-f36d-48f8-ab78-464173d4be8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0c48cf19-8958-4ef2-a07f-4dd06f4848b5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869a13fd-1d50-464f-8610-5f2639fd9fe8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134b8986-994c-4491-8f38-1347f00751ec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5738a04d-a1aa-437f-9478-d37c0258e0f7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40635a02-b49f-4d2e-89e2-7b89777ea896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6801023e-89ea-429b-aab9-fd7346bd6cad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marL="0" indent="0" algn="l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9df95763-29c6-45df-b926-5495af19670a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端 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8fa9f05b-fc35-40c6-8bbe-56bb7517b51e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18</a:t>
            </a:fld>
            <a:endParaRPr lang="zh-TW" altLang="en-US" sz="900"/>
          </a:p>
        </p:txBody>
      </p:sp>
      <p:sp>
        <p:nvSpPr>
          <p:cNvPr id="2" name="541f2a83-2fbc-441d-b9b5-0e4a2aea7f04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7" name="3ca3c1bf-7feb-4246-a74d-7165628cc299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4e07bd04-596d-48f0-9109-4cb709064b64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24b3cd4a-e1a9-4de9-92c9-04792799394c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39" name="29a52033-ec2e-4d19-a2de-629bf7994da7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e7ab2746-0292-4876-898c-2e99287ce24e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40" name="e9f8291d-20c1-474d-afb6-0b133075cedf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31c77d38-4c0b-4fa7-9bca-b3bae33a51e1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769c1c6c-ec12-43d1-bbc7-0e57c9eebc4c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210bee05-21b1-4778-bea7-087550678bbc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14e6c17c-b2ef-46b7-8b15-91486ce782e0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faf1bc38-26cf-469e-b347-46c0bb8ff461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7cce78ec-add2-41ad-8832-941429796861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fd9a90b8-f84c-4c12-88dd-79c7f4d904d6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過期時長可設</a:t>
            </a:r>
            <a:endParaRPr lang="en-US" sz="1100" dirty="0"/>
          </a:p>
        </p:txBody>
      </p:sp>
      <p:sp>
        <p:nvSpPr>
          <p:cNvPr id="16" name="d60975b6-8fc1-4379-9782-76347bee44c7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992f4d33-2a7d-434d-929d-f0770aaf3cda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31ca707c-eb28-446c-b793-9ea5cc604225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78f33ee1-76f8-4282-a608-9070549fe07f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8c4a38f1-a9ff-4ad4-a34a-6dfff0a00c82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6" name="2c27976a-6816-4bf9-bc26-71a0d13597bb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1d4a7727-0f62-4c12-9151-51e8546e9f70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d5ef8259-76b6-4b7d-8f0a-45356b4c331f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93d06901-38ab-4999-bfee-f5a25c8dca08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marL="0" indent="0" algn="l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marL="0" indent="0" algn="l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0faa0309-4e39-41a3-ae56-3156b2f75eec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6dcd0943-78e6-4a2e-ac33-85e3d8c2542a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1052b284-35f2-439c-954b-3feb676e945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1aa6dbd6-c6aa-4be3-97f5-a72b73b9c19a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marL="0" indent="0" algn="l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marL="0" indent="0" algn="l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a429f181-5a4b-4c52-80a9-51434e2dfc73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d230b868-62b1-4e5d-906f-3d2b2bd90c71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44b4bef1-e686-4c69-a4fc-4e8f9f4936c6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  <p:sp>
        <p:nvSpPr>
          <p:cNvPr id="46" name="deb5628c-7cb5-4dc6-b2b5-3a1dc6523d36">
            <a:extLst>
              <a:ext uri="{FF2B5EF4-FFF2-40B4-BE49-F238E27FC236}">
                <a16:creationId xmlns:a16="http://schemas.microsoft.com/office/drawing/2014/main" id="{2897C0CE-1474-1332-7F84-8843EF20C14B}"/>
              </a:ext>
            </a:extLst>
          </p:cNvPr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47" name="b9f1892b-4c04-45a7-abd4-b0c6bc734737">
            <a:extLst>
              <a:ext uri="{FF2B5EF4-FFF2-40B4-BE49-F238E27FC236}">
                <a16:creationId xmlns:a16="http://schemas.microsoft.com/office/drawing/2014/main" id="{72D7171E-5282-8B2D-00FE-E1B5A76FEF92}"/>
              </a:ext>
            </a:extLst>
          </p:cNvPr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48" name="a84ea4fe-49ac-405c-8932-d5259937b7f7">
            <a:extLst>
              <a:ext uri="{FF2B5EF4-FFF2-40B4-BE49-F238E27FC236}">
                <a16:creationId xmlns:a16="http://schemas.microsoft.com/office/drawing/2014/main" id="{76EC74CA-30A3-F338-6FE2-899867D94E12}"/>
              </a:ext>
            </a:extLst>
          </p:cNvPr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49" name="af115248-2e80-42dc-ae26-e54f4a1a014f">
            <a:extLst>
              <a:ext uri="{FF2B5EF4-FFF2-40B4-BE49-F238E27FC236}">
                <a16:creationId xmlns:a16="http://schemas.microsoft.com/office/drawing/2014/main" id="{D70BBE9A-DC23-FAD2-E0F7-93968C476129}"/>
              </a:ext>
            </a:extLst>
          </p:cNvPr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</a:t>
            </a:r>
            <a:endParaRPr lang="en-US" sz="1400" dirty="0"/>
          </a:p>
        </p:txBody>
      </p:sp>
      <p:sp>
        <p:nvSpPr>
          <p:cNvPr id="50" name="3401eb07-b5d9-4055-a0d8-fd8b7f1c31d0">
            <a:extLst>
              <a:ext uri="{FF2B5EF4-FFF2-40B4-BE49-F238E27FC236}">
                <a16:creationId xmlns:a16="http://schemas.microsoft.com/office/drawing/2014/main" id="{0CBC88AB-D186-981A-4281-91FEAE5455DF}"/>
              </a:ext>
            </a:extLst>
          </p:cNvPr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自己的 API: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轉給 MDS 的請求: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由 MDS 驗證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指標與告警的四條連線,都要 TLS + Basic(實測通過)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19</a:t>
            </a:fld>
            <a:endParaRPr lang="zh-TW" altLang="en-US" sz="900"/>
          </a:p>
        </p:txBody>
      </p:sp>
      <p:sp>
        <p:nvSpPr>
          <p:cNvPr id="2" name="0dc11bd5-601b-4fc5-9ea1-f136fc9d0ac8"/>
          <p:cNvSpPr/>
          <p:nvPr/>
        </p:nvSpPr>
        <p:spPr>
          <a:xfrm>
            <a:off x="548640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aa59be5a-33d4-44de-9f66-0f632be0ae7b"/>
          <p:cNvSpPr/>
          <p:nvPr/>
        </p:nvSpPr>
        <p:spPr>
          <a:xfrm>
            <a:off x="164592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9" name="7f590ea4-1e2b-451b-894e-b324569ff56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621" y="1924326"/>
            <a:ext cx="307238" cy="307238"/>
          </a:xfrm>
          <a:prstGeom prst="rect">
            <a:avLst/>
          </a:prstGeom>
        </p:spPr>
      </p:pic>
      <p:sp>
        <p:nvSpPr>
          <p:cNvPr id="5" name="5b40be09-c909-4960-8b41-2d5fb71ce72c"/>
          <p:cNvSpPr/>
          <p:nvPr/>
        </p:nvSpPr>
        <p:spPr>
          <a:xfrm>
            <a:off x="621792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40" name="513aa6b0-ac68-4b76-bf90-8ab90ddb99c7"/>
          <p:cNvSpPr/>
          <p:nvPr/>
        </p:nvSpPr>
        <p:spPr>
          <a:xfrm>
            <a:off x="640080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telemetry exporter</a:t>
            </a:r>
            <a:endParaRPr lang="en-US" sz="1100" dirty="0"/>
          </a:p>
        </p:txBody>
      </p:sp>
      <p:sp>
        <p:nvSpPr>
          <p:cNvPr id="7" name="a381cf7f-8f49-4f56-a024-fd35b80df629"/>
          <p:cNvSpPr/>
          <p:nvPr/>
        </p:nvSpPr>
        <p:spPr>
          <a:xfrm>
            <a:off x="4754880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1" name="de3d5602-da0b-42a3-a020-094bf7921c9e"/>
          <p:cNvSpPr/>
          <p:nvPr/>
        </p:nvSpPr>
        <p:spPr>
          <a:xfrm>
            <a:off x="585216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2f02f54d-1d7b-46d4-9e84-fc52cce295b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861" y="1924326"/>
            <a:ext cx="307238" cy="307238"/>
          </a:xfrm>
          <a:prstGeom prst="rect">
            <a:avLst/>
          </a:prstGeom>
        </p:spPr>
      </p:pic>
      <p:sp>
        <p:nvSpPr>
          <p:cNvPr id="10" name="c72aea9b-073f-4242-8805-5addff684e31"/>
          <p:cNvSpPr/>
          <p:nvPr/>
        </p:nvSpPr>
        <p:spPr>
          <a:xfrm>
            <a:off x="4828032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d4faf5bd-9580-4a65-b684-5074ede417b7"/>
          <p:cNvSpPr/>
          <p:nvPr/>
        </p:nvSpPr>
        <p:spPr>
          <a:xfrm>
            <a:off x="4846320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 · 9090</a:t>
            </a:r>
            <a:endParaRPr lang="en-US" sz="1100" dirty="0"/>
          </a:p>
        </p:txBody>
      </p:sp>
      <p:sp>
        <p:nvSpPr>
          <p:cNvPr id="12" name="f1d9c406-e8d8-434d-abeb-797756b099f6"/>
          <p:cNvSpPr/>
          <p:nvPr/>
        </p:nvSpPr>
        <p:spPr>
          <a:xfrm>
            <a:off x="8897112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901a7ff9-9652-4c0a-8ba6-433ddc92fa27"/>
          <p:cNvSpPr/>
          <p:nvPr/>
        </p:nvSpPr>
        <p:spPr>
          <a:xfrm>
            <a:off x="999439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f4707bc8-a24c-434e-ab9e-13032329028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5093" y="1924326"/>
            <a:ext cx="307238" cy="307238"/>
          </a:xfrm>
          <a:prstGeom prst="rect">
            <a:avLst/>
          </a:prstGeom>
        </p:spPr>
      </p:pic>
      <p:sp>
        <p:nvSpPr>
          <p:cNvPr id="15" name="3c7b1dda-e601-4d6c-a6e0-cab549df065e"/>
          <p:cNvSpPr/>
          <p:nvPr/>
        </p:nvSpPr>
        <p:spPr>
          <a:xfrm>
            <a:off x="8970264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9df2c0ef-59cc-4ae3-8350-998ad1a4caae"/>
          <p:cNvSpPr/>
          <p:nvPr/>
        </p:nvSpPr>
        <p:spPr>
          <a:xfrm>
            <a:off x="8988552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 · 9093</a:t>
            </a:r>
            <a:endParaRPr lang="en-US" sz="1100" dirty="0"/>
          </a:p>
        </p:txBody>
      </p:sp>
      <p:sp>
        <p:nvSpPr>
          <p:cNvPr id="17" name="de7cf660-127a-435c-8ff1-92f88973d03e"/>
          <p:cNvSpPr/>
          <p:nvPr/>
        </p:nvSpPr>
        <p:spPr>
          <a:xfrm>
            <a:off x="4754880" y="3763868"/>
            <a:ext cx="2743200" cy="127274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da9560c5-447d-40ac-bee2-8741010a661a"/>
          <p:cNvSpPr/>
          <p:nvPr/>
        </p:nvSpPr>
        <p:spPr>
          <a:xfrm>
            <a:off x="5852160" y="3891143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89d95d25-ae2c-41ee-b44d-798f57ee056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2861" y="4003144"/>
            <a:ext cx="307238" cy="307238"/>
          </a:xfrm>
          <a:prstGeom prst="rect">
            <a:avLst/>
          </a:prstGeom>
        </p:spPr>
      </p:pic>
      <p:sp>
        <p:nvSpPr>
          <p:cNvPr id="20" name="4d5be64b-d424-4c96-b449-a406b3946871"/>
          <p:cNvSpPr/>
          <p:nvPr/>
        </p:nvSpPr>
        <p:spPr>
          <a:xfrm>
            <a:off x="4828032" y="4485091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21" name="132a5504-dc63-4fd7-9018-c0caeb1f35b7"/>
          <p:cNvSpPr/>
          <p:nvPr/>
        </p:nvSpPr>
        <p:spPr>
          <a:xfrm>
            <a:off x="4846320" y="4866915"/>
            <a:ext cx="2560320" cy="12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</a:t>
            </a:r>
            <a:endParaRPr lang="en-US" sz="1100" dirty="0"/>
          </a:p>
        </p:txBody>
      </p:sp>
      <p:sp>
        <p:nvSpPr>
          <p:cNvPr id="22" name="d2a982d0-4182-4220-aa1d-6180089828cf"/>
          <p:cNvSpPr/>
          <p:nvPr/>
        </p:nvSpPr>
        <p:spPr>
          <a:xfrm>
            <a:off x="3291840" y="2448697"/>
            <a:ext cx="1463040" cy="0"/>
          </a:xfrm>
          <a:prstGeom prst="line">
            <a:avLst/>
          </a:prstGeom>
          <a:noFill/>
          <a:ln w="3175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23" name="c82ccbfd-702f-407b-8356-112a02b7d86d"/>
          <p:cNvSpPr/>
          <p:nvPr/>
        </p:nvSpPr>
        <p:spPr>
          <a:xfrm>
            <a:off x="3337560" y="1982024"/>
            <a:ext cx="1371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推指標</a:t>
            </a:r>
            <a:endParaRPr lang="en-US" sz="1200" dirty="0"/>
          </a:p>
        </p:txBody>
      </p:sp>
      <p:sp>
        <p:nvSpPr>
          <p:cNvPr id="24" name="a2ace526-542e-4bda-9da3-089c27239fc4"/>
          <p:cNvSpPr/>
          <p:nvPr/>
        </p:nvSpPr>
        <p:spPr>
          <a:xfrm>
            <a:off x="3337560" y="2533547"/>
            <a:ext cx="1371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25" name="c6f699f2-7897-4a4a-813f-5aa8820b9439"/>
          <p:cNvSpPr/>
          <p:nvPr/>
        </p:nvSpPr>
        <p:spPr>
          <a:xfrm>
            <a:off x="7498080" y="2448697"/>
            <a:ext cx="1399032" cy="0"/>
          </a:xfrm>
          <a:prstGeom prst="line">
            <a:avLst/>
          </a:prstGeom>
          <a:noFill/>
          <a:ln w="317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6" name="986fdbdd-e5e0-45ee-9b85-1c9087bbca3a"/>
          <p:cNvSpPr/>
          <p:nvPr/>
        </p:nvSpPr>
        <p:spPr>
          <a:xfrm>
            <a:off x="7543800" y="1982024"/>
            <a:ext cx="1325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送告警</a:t>
            </a:r>
            <a:endParaRPr lang="en-US" sz="1200" dirty="0"/>
          </a:p>
        </p:txBody>
      </p:sp>
      <p:sp>
        <p:nvSpPr>
          <p:cNvPr id="27" name="1911134a-52b7-4bc2-bac3-d1f81406c594"/>
          <p:cNvSpPr/>
          <p:nvPr/>
        </p:nvSpPr>
        <p:spPr>
          <a:xfrm>
            <a:off x="7543800" y="2533547"/>
            <a:ext cx="1325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28" name="9feb6502-4cfb-43d2-bb73-6a0c6eb9ff09"/>
          <p:cNvSpPr/>
          <p:nvPr/>
        </p:nvSpPr>
        <p:spPr>
          <a:xfrm flipV="1">
            <a:off x="6126480" y="3254770"/>
            <a:ext cx="0" cy="509098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9" name="73aa5a6a-dd2d-4c73-a801-dc15937e0468"/>
          <p:cNvSpPr/>
          <p:nvPr/>
        </p:nvSpPr>
        <p:spPr>
          <a:xfrm>
            <a:off x="6217920" y="3339619"/>
            <a:ext cx="15544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查指標 · 重載規則</a:t>
            </a:r>
            <a:endParaRPr lang="en-US" sz="1200" dirty="0"/>
          </a:p>
        </p:txBody>
      </p:sp>
      <p:sp>
        <p:nvSpPr>
          <p:cNvPr id="30" name="84c289a6-8463-4727-aeb0-4a62f2cfcc8a"/>
          <p:cNvSpPr/>
          <p:nvPr/>
        </p:nvSpPr>
        <p:spPr>
          <a:xfrm>
            <a:off x="6217920" y="3551744"/>
            <a:ext cx="155448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31" name="54e1d797-cd4e-429d-9ed9-af86c2850565"/>
          <p:cNvSpPr/>
          <p:nvPr/>
        </p:nvSpPr>
        <p:spPr>
          <a:xfrm flipV="1">
            <a:off x="7498080" y="3254770"/>
            <a:ext cx="2743200" cy="1018197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e6c01c11-2e9c-4c3a-a585-1a478172f258"/>
          <p:cNvSpPr/>
          <p:nvPr/>
        </p:nvSpPr>
        <p:spPr>
          <a:xfrm>
            <a:off x="8732520" y="4018417"/>
            <a:ext cx="23774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狀態 · 重載設定</a:t>
            </a:r>
            <a:endParaRPr lang="en-US" sz="1200" dirty="0"/>
          </a:p>
        </p:txBody>
      </p:sp>
      <p:sp>
        <p:nvSpPr>
          <p:cNvPr id="33" name="4794e74b-be84-4b72-afa1-193f16028121"/>
          <p:cNvSpPr/>
          <p:nvPr/>
        </p:nvSpPr>
        <p:spPr>
          <a:xfrm>
            <a:off x="8732520" y="4230542"/>
            <a:ext cx="237744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34" name="a9da2a29-fb31-4ad4-b6f1-c24dd270eb61"/>
          <p:cNvSpPr/>
          <p:nvPr/>
        </p:nvSpPr>
        <p:spPr>
          <a:xfrm>
            <a:off x="2928112" y="5442020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Basic 不用 mTLS:客戶希望憑證越少越好,不另發 client 憑證</a:t>
            </a:r>
            <a:endParaRPr lang="en-US" sz="1100" dirty="0"/>
          </a:p>
        </p:txBody>
      </p:sp>
      <p:sp>
        <p:nvSpPr>
          <p:cNvPr id="37" name="0511e69c-bb40-4a12-9a3b-d21e4a05733c"/>
          <p:cNvSpPr/>
          <p:nvPr/>
        </p:nvSpPr>
        <p:spPr>
          <a:xfrm>
            <a:off x="2928112" y="5985058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日誌會印出 Basic 標頭(Base64 即帳密)→ 日誌要保護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30240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20</a:t>
            </a:fld>
            <a:endParaRPr lang="zh-TW" altLang="en-US" sz="900"/>
          </a:p>
        </p:txBody>
      </p:sp>
      <p:sp>
        <p:nvSpPr>
          <p:cNvPr id="2" name="fe5133e5-e34b-4e63-8bdd-17c94eaf6850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4" name="68150071-473f-48f2-98fa-8854489c868a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5" name="b60f672b-6cdc-4aff-991a-cdfa0d860bd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975ed15d-262c-477c-833a-507e2fd4fbab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26" name="7958e8fc-2951-4963-a77d-521d9c12d740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badcb0b3-874f-4434-afc6-d6a01b5f4a6a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7" name="8163026b-00ff-433b-a59d-90811cc43cab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3764a57e-4bf2-4277-9b39-f5c4527131bd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233fae32-fa87-4092-bd60-624ec0b110f3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62ae4220-6e72-41fb-981c-550c5da5ca08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e2f3483e-aa8b-4f25-8046-f9f5cc3e5c31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87df41d4-d840-4567-a348-c6e99fddbfa5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7ac6aba6-02cd-453e-8972-ecf01b96643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23f387a5-c789-47a7-bafa-177db404b5d6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cd498330-6b16-4aaa-854f-24752f18b2b3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7e807c32-e13c-4543-9ad6-e4801cb45473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8ba16bb9-d2d4-4401-ade0-a4661bf35df9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9e42e1cb-0d2d-4118-934b-0bb08d1961fa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b6c8d51e-d6d3-4ec7-a2d5-e5b156ba7fac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c2de0d1a-ddba-4d63-8072-73f512cc5931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adcda461-be90-4bcd-b5e9-b15497c2e953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ba9367f4-23fd-4c03-b51b-f88a90e8bc9d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21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22</a:t>
            </a:fld>
            <a:endParaRPr lang="zh-TW" altLang="en-US" sz="900"/>
          </a:p>
        </p:txBody>
      </p:sp>
      <p:sp>
        <p:nvSpPr>
          <p:cNvPr id="2" name="e18b1696-845b-43ed-b46c-7b707e53e777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40" name="492b52fc-5693-4400-bc0f-8c6a7247dcef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1" name="05818d48-4e11-4bd6-a0d8-d1000efb5a3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d7cfc661-14bb-40ea-b453-33bab4e3e2fe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42" name="a4bbdbbc-e74c-4aec-9fc4-65ff8f21cfe9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marL="0" indent="0" algn="l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marL="0" indent="0" algn="l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cc52c2d3-8f7d-4868-b680-27282d86d142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3" name="0fa83bf0-5e0e-41f9-93b1-50d21e724967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ded8ca21-0804-4338-a516-0aa1048fc47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19176970-5f62-42d4-878e-370222578087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8c6c304e-0c07-41ee-a1b2-4623aff3882e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marL="0" indent="0" algn="l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7890a113-1118-447d-90ec-8259e4b6a0a2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886a3149-41a0-483b-85a1-e8a312a40fdb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7973c30d-d5bb-484a-8f86-e66de057d442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9938a2a8-08c0-48ca-8a76-ecdd67fb2ceb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bcf2213d-a281-4299-a2cb-1e1fd6589f5a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a06b2dee-d458-47f3-8243-4946969d9e44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0ef5d037-4d10-4b03-9de4-06f53bfa4498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93562cc1-145e-4d52-b405-265c3c802df2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3d6427b4-e0a4-490a-9d5f-6fc6008e8d5e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6a95a5d9-3c0f-44f8-b77e-9b5aaf592f4c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marL="0" indent="0" algn="ctr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43c6cb0f-fb85-419f-81ef-4eb620420c0d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marL="0" indent="0" algn="ctr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448677f8-f076-4acc-b863-63d78e261ad0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a1cd760a-be5d-4fd2-948f-5af48af11843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18c15637-7aa7-4921-9c7c-6ee999a7bd98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4e4e66aa-266f-4072-9abc-ca33de5eadbe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ed43f9b7-4393-4218-9676-07021ce3b598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4832b2f5-935d-420a-803b-4bbb1723003a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418bf5d7-2519-4b66-bd03-51fdb231d4c7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87ad2779-52da-49f2-9ce7-9bbce16f6eed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41305cc6-a68d-4173-a5aa-6a00cf15807e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c7077bd6-8495-414b-939f-bbe38f6cf604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88e26865-84b2-424d-b862-a3492905a03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6b9cbf93-fc79-47d1-8928-6756cbb192c8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marL="0" indent="0" algn="ctr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marL="0" indent="0" algn="ctr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eb1fdc16-ba9f-4f2d-a472-eea5aef817bb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88112d5a-bf86-4b28-9e43-41b3c8873bfb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0b037796-8109-42c8-a630-36d927e2d881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e94998a0-5db6-4f63-90ef-4d170c016b31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48872ef6-fb41-4fe5-8f81-e41f41ab2ee3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23</a:t>
            </a:fld>
            <a:endParaRPr lang="zh-TW" altLang="en-US" sz="900"/>
          </a:p>
        </p:txBody>
      </p:sp>
      <p:sp>
        <p:nvSpPr>
          <p:cNvPr id="2" name="04e789af-44f4-4617-8daa-2a86390313c2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6" name="3eeecba1-250b-4c5c-8bc8-18890db0994d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7" name="e5db01f5-78b3-4d14-9251-62b63400266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6688411e-3645-4edd-afdd-ff80f688b276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marL="0" indent="0" algn="l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38" name="757a0447-4567-4b60-9ba3-f2aa51e17582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ff8d6e42-d2da-4a3e-ac78-14075bd0a904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9" name="b749db00-0e7f-4195-a766-e9433072a798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(JWT,過期時長可設)</a:t>
            </a:r>
            <a:endParaRPr lang="en-US" sz="1100" dirty="0"/>
          </a:p>
        </p:txBody>
      </p:sp>
      <p:sp>
        <p:nvSpPr>
          <p:cNvPr id="9" name="b2a10177-91ed-4625-a92b-1c70002a3fe5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a819afa3-5d87-4b09-a9e9-665bec1c1b8b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72454273-d471-4b12-9c16-c0f59d04047f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fa27ff4f-6cfb-4ad4-a1c2-5906c40508c7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d4a58593-8042-4428-9253-c9acead917b2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7bb0752b-bd75-4f38-b254-291b7b85e71f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03e93a9f-d018-42a4-a5bb-0421a193bf0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d70d3a9b-fcd0-450b-82c4-31308fc8ceaa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marL="0" indent="0" algn="l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32fd12e9-8d49-454d-bf05-fb72e11b51e4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5c2c5941-6e8c-4585-ba27-efda7e5d3b5d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ca24c6ce-aa4b-4900-b627-1325556b17bc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驗證密碼</a:t>
            </a:r>
            <a:endParaRPr lang="en-US" sz="1100" dirty="0"/>
          </a:p>
        </p:txBody>
      </p:sp>
      <p:sp>
        <p:nvSpPr>
          <p:cNvPr id="20" name="313f7c96-3a53-42d7-90be-617e8b369b94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61b0f41b-76d8-4824-97bc-84beb0722af6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本人帳號</a:t>
            </a:r>
            <a:endParaRPr lang="en-US" sz="1100" dirty="0"/>
          </a:p>
        </p:txBody>
      </p:sp>
      <p:sp>
        <p:nvSpPr>
          <p:cNvPr id="22" name="f5e957c2-6fbb-4069-be56-e0a0978f1531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1bd10ca8-1380-49ae-87d5-9937bdfebc16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4" name="ef8b5dfd-5680-4521-bd56-53245681b25f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c69c4bd9-245d-4bb5-b5a1-c426007227ff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07c1ba55-2cc7-4efc-becf-1d57bda389a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6e65857a-a116-4738-9445-65f42069b109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marL="0" indent="0" algn="l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22f9c62c-72e8-4e7d-bff9-80228dfc5a5f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eca6cd6e-ef75-4be0-a869-291b41bf7915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e0fbdcb8-d30e-446d-b3ec-c984edbab3e5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0e3550ce-619e-4cf6-807b-063f432171d3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99bc303e-e64b-4c26-b343-7751c9899f99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69a00e6f-64e7-4b17-bd55-e88e2376c19d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62fd5e56-fc39-42c8-a35f-d393a8f14d39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e6ec506a-6fd1-4388-ba0a-33f3a68ddd13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群組」授權並留 audit:人員異動只改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24</a:t>
            </a:fld>
            <a:endParaRPr lang="zh-TW" altLang="en-US" sz="900"/>
          </a:p>
        </p:txBody>
      </p:sp>
      <p:sp>
        <p:nvSpPr>
          <p:cNvPr id="2" name="cab69c86-4fbf-4f2f-82a5-83a6b42edd54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8833df2e-2f77-4e9a-9e0c-bc767ceb4afc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a8583945-c592-49c3-86d7-5ef0add40dcc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89c7aa12-1eb1-4b31-9276-40d70d18de67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marL="0" indent="0" algn="l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38" name="b1925ac3-3a68-4fcb-9203-64d4f4c4db19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5aedff26-1d02-4b3b-b3c1-f8462796b5fc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39" name="9fc0870a-09b3-4483-b190-52737fc68fed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2c038f01-011a-4b75-920e-8a5567256192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32b4efc0-c63c-4fac-b1cc-539d4497cb69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svc-x</a:t>
            </a:r>
            <a:endParaRPr lang="en-US" sz="1100" dirty="0"/>
          </a:p>
        </p:txBody>
      </p:sp>
      <p:sp>
        <p:nvSpPr>
          <p:cNvPr id="11" name="911e1a21-7358-4af8-8ab0-2b4d4de88fc0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c65468e5-fd9c-4203-a931-9d2c967499c5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3" name="ac62c2bb-94ea-4e73-b431-ed9e3d2e1ded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4c7030a2-c1a9-44b7-b75e-4c1bd44ec07a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8a18762e-16c3-44c4-9269-dd4c54ab802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8414e5b8-780e-4680-aa82-939647e23620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marL="0" indent="0" algn="l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95ead269-ec77-4a3e-b395-d320cecb7f16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f2aaf394-c060-4428-9810-c6cd9fce01b3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a6e38824-bd91-4b69-af79-f8ec39376019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275d8eb4-037c-4d59-9d29-5ccfecc127e6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02fa1621-ad29-4e6d-9dad-6bd2aed5b736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c933344c-7c75-4221-aa25-63f83f2cde9c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d528351f-7ca4-4d20-8c63-da4aafa99b43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7c08cde7-88af-4af6-befc-9d2ddbf06060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d5397c87-46f2-40ac-814b-5faafd31ed93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d168e1a6-a237-4634-b602-149e1ad460d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e3b791f7-b348-480f-852c-d057a40325de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marL="0" indent="0" algn="l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bccf11cd-fa13-4148-a3ea-e06b850bcf29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fdb99995-afff-4771-9170-a71f01d2c4cd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ca79d210-30fe-43e6-957b-968e066bccca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e3de20fd-841c-49b4-8ed2-8a11335475e3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b74234f9-4c45-4651-be2f-e90197c20096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C3:SystemAdmin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Proxy:專屬 role</a:t>
            </a:r>
            <a:endParaRPr lang="en-US" sz="1100" dirty="0"/>
          </a:p>
        </p:txBody>
      </p:sp>
      <p:sp>
        <p:nvSpPr>
          <p:cNvPr id="33" name="5caf21fd-d60b-44f8-8226-b50fd7c9014f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3346c97a-a544-44f8-acbe-be76199d2683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marL="0" indent="0" algn="ctr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86d97341-4998-4daa-bf4e-d37247c008a6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User:,授權事件皆留 audit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25</a:t>
            </a:fld>
            <a:endParaRPr lang="zh-TW" altLang="en-US" sz="900"/>
          </a:p>
        </p:txBody>
      </p:sp>
      <p:graphicFrame>
        <p:nvGraphicFramePr>
          <p:cNvPr id="22" name="0ac5eadb-137c-4b48-a8e8-e6449f6204f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4055821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可省:若客戶能建專用 AD 帳號,改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簽章金鑰對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私鑰:MDS broker 與 controller;公鑰:broker · REST Proxy · C3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 = 可偽造 token;輪替未驗證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8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唯讀帳號與 LDAPS 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 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LDAPS;AD 憑證更換時更新信任庫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8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內部與 break-glass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+ JAAS 設定檔;bootstrap 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kafka-broker · kafka-controller · bootstrap(break-glass);輪替未驗證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8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ad3b3e6c-0d4d-44fb-a34f-12b0a89908f5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26</a:t>
            </a:fld>
            <a:endParaRPr lang="zh-TW" altLang="en-US" sz="900"/>
          </a:p>
        </p:txBody>
      </p:sp>
      <p:sp>
        <p:nvSpPr>
          <p:cNvPr id="2" name="bbbd0b88-4413-4b71-8f65-b15b8d37a1b7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46" name="6a2b7abc-1519-46d3-bd93-31ac1c24e14b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7" name="f0ebe76e-50dd-4f55-86b1-2aeea770c4ee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69b0a3ac-6fa2-46e8-bfdd-b1b41a3f0b6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48" name="34a83f62-a01d-48db-a912-cf1f9699808a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2e386b0c-4e9d-4ad7-9c0c-3741d25d920b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 與 MDS 金鑰對</a:t>
            </a:r>
            <a:endParaRPr lang="en-US" sz="1050" dirty="0"/>
          </a:p>
        </p:txBody>
      </p:sp>
      <p:sp>
        <p:nvSpPr>
          <p:cNvPr id="49" name="41cb84b9-067b-46c7-8883-681a93a17166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e73bce2c-36cd-4de6-880e-6831ed1087fb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f2d5daa5-3b9b-4f06-bf62-41bf44d70e53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cd7aa1f2-dc20-4618-9b43-0ed466fef496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6e5de607-2b8b-46fe-b5a0-f72cc1d8ddc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3f4c3a28-962b-4738-aaf0-1cfc876dbb92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b3e2c8bd-d0db-4e0c-9204-b52071dc7fd6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4b85ea4a-e962-465a-b74f-c54782daeb6d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004da6bb-d409-4a52-ac74-3bcfdc6959b9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efa93821-d916-42f9-98e4-0ce592b222c3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dfb0f309-20c1-4d0d-90ce-27fc3cb2c735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d1d9279c-8f54-4e86-b000-765b07b2bec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f823d46f-e13d-4273-98f6-06c28e9bb1d2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5af0fa25-2086-4be5-a82c-1784694f19f2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三個入口</a:t>
            </a:r>
            <a:endParaRPr lang="en-US" sz="1050" dirty="0"/>
          </a:p>
        </p:txBody>
      </p:sp>
      <p:sp>
        <p:nvSpPr>
          <p:cNvPr id="22" name="60696a2c-a5ff-46d3-a1a8-9e7b3824831f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901d6a27-e380-4184-8b60-64d2a41676ee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a583d3a8-ee5c-40fc-8a4f-20014be6eb30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937604fb-35a7-4891-b6d9-f2abe674f0c1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3a380c29-c15a-4851-9be0-97b2f5ade85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d1955fed-061c-4f87-867f-3921271108e5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bdbdb6f5-db8e-43df-9c67-6f27b72394b7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2418e31a-720d-4d7c-8e71-dd41088b2a70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5b420529-7369-4b3c-9b12-d0f80c9d6ad3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2a59b30c-87a4-4174-8daf-1d8eb3b072b6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27a83841-0f51-47f4-be19-eaf25e3b277c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61440235-0128-4a5e-a829-9a0d4eb6b3e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ceaa709f-3c46-4276-bafd-46e2ade48090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</a:t>
            </a:r>
            <a:endParaRPr lang="en-US" sz="1250" dirty="0"/>
          </a:p>
        </p:txBody>
      </p:sp>
      <p:sp>
        <p:nvSpPr>
          <p:cNvPr id="35" name="b6ccb266-7046-477f-86fe-43109bdd6684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Prometheus + Alertmanager</a:t>
            </a:r>
            <a:endParaRPr lang="en-US" sz="1050" dirty="0"/>
          </a:p>
        </p:txBody>
      </p:sp>
      <p:sp>
        <p:nvSpPr>
          <p:cNvPr id="36" name="f8764dd3-3997-4c26-a8f5-e130ca5b6cdb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f5df594d-b263-4277-8f60-77bb6799466a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7d7df31e-38b2-4c27-b84c-30e1eabda893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6a32fc86-fa72-4db4-8340-ad222e7fc50e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9c00efe2-3b11-4214-9ffc-27080c6e1e4b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a3dfd3e0-81ff-467e-b371-c3b8bc449107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2bc11a92-cd2c-4f10-8ab9-c89c7b95a243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d97e8720-ff29-4d13-9019-62408cc4d8ef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要在 format 時預建 kafka-broker / kafka-controller 的 SCRAM 憑證,否則授權器起不來(實測)</a:t>
            </a:r>
            <a:endParaRPr lang="en-US" sz="1300" dirty="0"/>
          </a:p>
        </p:txBody>
      </p:sp>
      <p:sp>
        <p:nvSpPr>
          <p:cNvPr id="44" name="9906585a-9748-414a-8f74-c4670a242005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27</a:t>
            </a:fld>
            <a:endParaRPr lang="zh-TW" altLang="en-US" sz="900"/>
          </a:p>
        </p:txBody>
      </p:sp>
      <p:sp>
        <p:nvSpPr>
          <p:cNvPr id="2" name="35cb86bf-4ed4-4055-89bf-9094480678af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8" name="8bc66788-abfc-456c-86a0-1616f8688473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9" name="e9f95561-aa51-46c1-8d47-5b77c5681dd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993068c7-a3bf-44b3-ae88-a152bbadabb0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40" name="97f06dab-b8a3-47af-8093-0f19eb88f23c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a58e561e-2182-428f-a567-ef9b5a40d6fc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41" name="b7592490-ad97-4d47-9140-dc2bb8a54280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8f0d8f3c-0768-49ac-a7dd-a8dcdd5b2636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775dc66d-10be-4c57-bb39-496a3ea7b93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31d6d888-c1a4-406f-bc95-17643ef54187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ed5ca94e-6942-4cef-98ed-b575852421b1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a4cefada-4f5b-4501-afe3-4d25fa2b6966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944f042b-67ad-4ac5-8e33-5ae167335605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7afac242-bc77-4246-a2c3-22658b2b4d95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e5428df0-7ec1-4822-88d8-70a76c1e6e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08130755-9143-4cad-b42e-761fd13a2b80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私鑰外洩(server · token)</a:t>
            </a:r>
            <a:endParaRPr lang="en-US" sz="1350" dirty="0"/>
          </a:p>
        </p:txBody>
      </p:sp>
      <p:sp>
        <p:nvSpPr>
          <p:cNvPr id="18" name="ff9007f2-5066-492f-af9a-3cdf83d54cd8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發現:server 私鑰外洩 = 可偽裝伺服器;token 簽章私鑰外洩 = 可偽造任何人的 token</a:t>
            </a:r>
            <a:endParaRPr lang="en-US" sz="1050" dirty="0"/>
          </a:p>
        </p:txBody>
      </p:sp>
      <p:sp>
        <p:nvSpPr>
          <p:cNvPr id="19" name="adad9d60-cc82-4693-80d2-fd1d1407eb23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600;最小化存放;輪替計畫;共用身分不綁 role</a:t>
            </a:r>
            <a:endParaRPr lang="en-US" sz="1050" dirty="0"/>
          </a:p>
        </p:txBody>
      </p:sp>
      <p:sp>
        <p:nvSpPr>
          <p:cNvPr id="20" name="d90ce1e2-c4ba-467d-90d3-71a0cd965378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7f9831fa-5d31-4877-9c0b-d67357a14522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29a1de7a-c3b6-4764-8585-0e336124936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256c4133-7f04-4c27-bc88-876dbc4a802c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73cfb0d6-8fe2-4893-a7f5-a990ab5f9d4b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0516fbfa-ee97-4144-b899-2882a51e3d3d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997aa872-26eb-41e5-8e47-a593fb34ed27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a1f1dccf-7529-4a66-8231-8b85e7e735d1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6c5a3412-99f2-4d90-9de7-0b1a010d8d0d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173cc429-3942-4047-9725-4d00c6fcf409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8e1cd3df-948c-487e-b151-17e66c02e3dd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ce148237-ff89-4793-86a4-e4db0118abd8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646d3ebb-5fc9-403b-91f0-1a6ca782f6f4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60116e2e-2009-45b0-8693-02cd8bc757e1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e37e1276-d716-46b1-a188-af919b6a98b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f473e0ed-29da-49b6-b5f7-dc305d328013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e128ee5f-76c6-4c09-a5d8-d9763c4ce84b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631fa566-2af7-4a6d-9c3a-4e1ca1556523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6D8F05-3EF5-4272-8592-C532046A55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8E66D0B-AA1B-4EED-A6EC-86D221198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43090-462e-4483-8fee-104e11aaa7c6"/>
    <ds:schemaRef ds:uri="81fbc0a5-bf19-4add-b132-07e20741a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6279918-8EC7-4ECB-A798-E15F186ABB7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6947</TotalTime>
  <Words>4722</Words>
  <Application>Microsoft Office PowerPoint</Application>
  <PresentationFormat>寬螢幕</PresentationFormat>
  <Paragraphs>648</Paragraphs>
  <Slides>28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4" baseType="lpstr">
      <vt:lpstr>微軟正黑體</vt:lpstr>
      <vt:lpstr>Aptos</vt:lpstr>
      <vt:lpstr>Arial</vt:lpstr>
      <vt:lpstr>Arial Black</vt:lpstr>
      <vt:lpstr>Wingdings</vt:lpstr>
      <vt:lpstr>Office 佈景主題</vt:lpstr>
      <vt:lpstr>Confluent 安全解決方案</vt:lpstr>
      <vt:lpstr>客戶前提與設計原則</vt:lpstr>
      <vt:lpstr>客戶前提</vt:lpstr>
      <vt:lpstr>設計原則:兩個身分平面</vt:lpstr>
      <vt:lpstr>方案總覽:組件與安全機制</vt:lpstr>
      <vt:lpstr>逐項介紹</vt:lpstr>
      <vt:lpstr>TLS 與憑證:共用 1 組,只做加密傳輸</vt:lpstr>
      <vt:lpstr>憑證更換:三種情境,順序不能錯</vt:lpstr>
      <vt:lpstr>元件更換順序:先信任、後出示、最後移除</vt:lpstr>
      <vt:lpstr>Controller(KRaft)</vt:lpstr>
      <vt:lpstr>Broker:三個入口,各管一件事</vt:lpstr>
      <vt:lpstr>MDS:RBAC 的中樞(內嵌於 broker)</vt:lpstr>
      <vt:lpstr>AD 群組 → role:依職責分層授權</vt:lpstr>
      <vt:lpstr>Confluent 內建角色與 scope</vt:lpstr>
      <vt:lpstr>服務帳號:SASL/SCRAM,不放 AD</vt:lpstr>
      <vt:lpstr>特例:不能有失敗窗口的服務</vt:lpstr>
      <vt:lpstr>REST Proxy:legacy app 的入口</vt:lpstr>
      <vt:lpstr>Control Center:人用本人身分</vt:lpstr>
      <vt:lpstr>C3 周邊:Prometheus · Alertmanager</vt:lpstr>
      <vt:lpstr>Audit log:誰被拒、誰改了授權</vt:lpstr>
      <vt:lpstr>整合起來</vt:lpstr>
      <vt:lpstr>全景整合圖</vt:lpstr>
      <vt:lpstr>人的完整路徑</vt:lpstr>
      <vt:lpstr>服務的完整路徑</vt:lpstr>
      <vt:lpstr>要管理的憑證與帳號</vt:lpstr>
      <vt:lpstr>導入步驟(RHEL 9 手動部署)</vt:lpstr>
      <vt:lpstr>風險與對策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user</cp:lastModifiedBy>
  <cp:revision>322</cp:revision>
  <dcterms:created xsi:type="dcterms:W3CDTF">2025-04-18T08:33:56Z</dcterms:created>
  <dcterms:modified xsi:type="dcterms:W3CDTF">2026-10-05T04:42:49Z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