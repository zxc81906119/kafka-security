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0189b15f-3a13-dfbf-521b-0c36c84d76a9}">
          <p14:sldIdLst>
            <p14:sldId id="256"/>
          </p14:sldIdLst>
        </p14:section>
        <p14:section name="客戶前提與設計原則" id="{4093bf77-9a21-513b-8f2c-701949fcf47a}">
          <p14:sldIdLst>
            <p14:sldId id="257"/>
            <p14:sldId id="258"/>
            <p14:sldId id="259"/>
            <p14:sldId id="260"/>
          </p14:sldIdLst>
        </p14:section>
        <p14:section name="逐一介紹組件" id="{4aad5813-d7ac-c08f-a90b-0fd449f30b2f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整合起來" id="{6a4708ee-00b8-ae55-591c-d195cbccf727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封面。這是第一版草稿,內容依客戶前提設計;之後會依回饋調整並套用公司模板。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六個前提:AD 只有 user/group(沒有服務帳號);希望全部共用一組 PK+憑證;RHEL 9 手動部署、尚無 Ansible;legacy app 只能 HTTP;權限要依 AD 群組 + RBAC 分層(不同職責不同權限,唯讀只是其中一層);範圍限於 Kafka、REST Proxy、C3。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核心主張:AD 管人,Kafka 管機器。人與服務用不同的身分來源,但授權都集中在 MDS 的 RBAC。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接下來依序介紹 8 個面向,最後是整合。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 端共用一組 PK+憑證,SAN 要涵蓋所有組件對外連線的網域/IP;客戶內部 CA 簽發。client 只需 truststore。需要 client 憑證的只有平台元件(c3、restproxy、bootstrap)與經 REST Proxy 的 legacy app。第 8 章實測:共用憑證當 client 身分,MDS 看到的主體都一樣。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官方:SCRAM overview 頁說 KRaft controller 之間不支援 SCRAM、broker→controller 可用;但 KRaft security 頁的寫法不同,官方文件間不一致,本簡報以 SCRAM overview 為準。本 demo 僅 1 個 controller,controller 間的 PLAIN 未實測。另:官方 MDS 設定頁說 RBAC 下 controller 應設 confluent.metadata.server.kraft.controller.enabled=true,且只有 MDS writer broker 連 LDAP;本 demo 的 controller 卻需要 ldap.* 才能解析群組,差異未解,導入時請與 Confluent 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人用 SASL/PLAIN,broker 把帳密交給 LDAP(AD)驗證並取得群組;服務用 SCRAM;平台元件用 OAUTHBEARER(MDS token)。INTERNAL 埠只是另一個 SASL 埠,任何有效 SCRAM 帳號都能「認證」進去(授權仍生效),所以必須用防火牆限制。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官方:MDS 在異動 RBAC 時把最新資訊寫入 topic,broker 讀取後 cache 在本地授權;群組同步只有 MDS writer broker 週期性向 LDAP 取。注意:使用者認證(MDS 以使用者帳密 bind、CLIENT 埠 PLAIN+LDAP callback)由各 broker 自己連 AD,所以 AD 防火牆來源要涵蓋所有 broker(demo 實測 controller 也需要 LDAP 設定)。客戶前提:需要 AD 唯讀查詢帳號(bind DN,只讀 user/group OU,建議 LDAPS);使用者密碼由 simple bind 以使用者自己的 DN 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服務身分用 SASL/SCRAM-SHA-512,不放 AD(AD 沒有服務帳號)。SCRAM 的缺點是密碼無自動到期,所以配套:密碼庫、新帳號並行再停舊帳號的輪替流程(第 9 章實測)。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token。官方 AuthenticationHandler 範例是 REQUIRED(純 mTLS);人機並存用 REQUESTED 是本專案實測組合。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登入時瀏覽器第一個呼叫帶 Basic(C3 代轉 MDS),之後都帶 Bearer;同時有 HttpOnly auth_token cookie,伺服器優先看 Bearer。C3 看起來在本地用 MDS 公鑰驗章(實測推論:偽造 token 被擋時 MDS 沒有對應 401 紀錄),但仍會以使用者 token 呼叫 MDS 查可見範圍。登入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C3 next-gen 需要 Prometheus 與 Alertmanager 另外部署。官方支援 C3 與它們之間的 TLS + HTTP Basic(7.5 以後)與 mTLS。本 demo 沒啟用,所以實測看到無認證;啟用後的設定與效果尚未實測。沒有 Schema Registry 時,C3 預設連 localhost:8081,把 schema.registry.enable 設為 false 可關閉該連線。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broker 內建 Admin REST 未設定安全擴充時完全沒有認證(日誌:REST security extensions are not configured)。依官方 kafka.rest. 前綴設定(注意屬性名有雙重前綴,例如 kafka.rest.kafka.rest.resource.extension.class;InstallBearerOrBasicSecurityHandler、KafkaRestSecurityResourceExtension、public.key.path、MDS 連線),本專案另需 kafka.rest.bootstrap.servers 指向支援 OAUTHBEARER 的 CLIENT 埠(官方頁未列,實測補丁)。官方範例的 MDS 認證用帳密,本專案用 restproxy 憑證。實測匿名 401、依使用者身分授權。「預設無認證」與崩潰皆為本 demo 實測,崩潰與 demo 的 SASL_SSL-only 設定有關。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查不到,原因未明;c3 的事件在本 demo 為降噪而排除(實測不排除時 C3 每幾秒產生 ListOffsets/OffsetFetch,洗版審計 topic)。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broker(demo 實測 controller 也需 LDAP 設定)。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人的三條路徑:C3(Basic→token→Bearer)、CLI 直連 broker(SASL/PLAIN + LDAP callback)、REST Proxy(Basic 轉 MDS 換 token)。授權都依 AD 群組。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機器三條路徑:應用用 SCRAM 直連;legacy app 用 client 憑證經 REST Proxy;平台元件(C3、REST Proxy)用 client 憑證向 MDS 換 token。憑證身分只能綁 User:,不能綁群組。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憑證最少化:1 組 server 憑證 + c3、restproxy 兩張長期 client 憑證 + 1 張備用(bootstrap)。legacy app 的憑證可省,前提是客戶能建幾個一般 AD user 讓 app 走 Basic。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六個主要風險與對策。前兩項是平台元件憑證的風險(c3 憑證=管理員、restproxy 憑證可代人),都是實測發現。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 的影響(token 未到期時授權是否依現在群組)本專案尚未實測。多 controller:官方 SCRAM overview 與 KRaft security 頁說法不一致。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如實呈現:左邊是 demo 已實跑驗證的項目;右邊是尚未驗證或需在客戶環境確認的項目。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請客戶確認的六件事。第 3 項決定 legacy app 要不要 client 憑證;第 2 項決定憑證如何簽發與散佈。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2011680"/>
            <a:ext cx="76809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65760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</a:rPr>
              <a:t>Confluent Platform 安全解決方案 · 草稿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slideLayout" Target="../slideLayouts/slideLayout4.xml"/><Relationship Id="rId2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20116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3800" b="1" dirty="0">
                <a:solidFill>
                  <a:schemeClr val="tx2"/>
                </a:solidFill>
              </a:rPr>
              <a:t>Confluent Platform 安全解決方案</a:t>
            </a:r>
            <a:endParaRPr lang="zh-TW" sz="3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3657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依客戶前提設計:AD 僅有 user / group · 共用單一 server 憑證 · RHEL 9 手動部署</a:t>
            </a:r>
            <a:endParaRPr lang="zh-TW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1463040"/>
            <a:ext cx="1371600" cy="137160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2" y="1764792"/>
            <a:ext cx="768096" cy="7680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332720" y="2286000"/>
            <a:ext cx="1097280" cy="10972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122" y="2527402"/>
            <a:ext cx="614477" cy="61447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052560" y="3200400"/>
            <a:ext cx="1097280" cy="109728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962" y="3441802"/>
            <a:ext cx="614477" cy="61447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424160" y="3840480"/>
            <a:ext cx="914400" cy="91440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28" y="4041648"/>
            <a:ext cx="512064" cy="51206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22960" y="5120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dirty="0">
                <a:solidFill>
                  <a:schemeClr val="tx1">
                    <a:alpha val="62000"/>
                  </a:schemeClr>
                </a:solidFill>
              </a:rPr>
              <a:t>範圍:Kafka(broker / controller / MDS)· REST Proxy · Control Center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草稿 v0.1 — 待調整後套用公司模板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3800" b="1" dirty="0">
                <a:solidFill>
                  <a:schemeClr val="bg1"/>
                </a:solidFill>
              </a:rPr>
              <a:t>客戶前提與設計原則</a:t>
            </a:r>
            <a:endParaRPr lang="zh-TW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chemeClr val="bg2"/>
                </a:solidFill>
              </a:rPr>
              <a:t>先把限制說清楚,方案才站得住</a:t>
            </a:r>
            <a:endParaRPr lang="zh-TW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客戶前提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454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24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1945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1"/>
                </a:solidFill>
              </a:rPr>
              <a:t>AD 只有人與群組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060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沒有服務帳號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25112" y="141732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11012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713" y="16751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98264" y="21945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2"/>
                </a:solidFill>
              </a:rPr>
              <a:t>共用 1 組 PK + 憑證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416552" y="26060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希望憑證管理最小化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01584" y="141732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87484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185" y="16751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74736" y="21945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3"/>
                </a:solidFill>
              </a:rPr>
              <a:t>RHEL 9 VM · 手動安裝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193024" y="26060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目前沒有 Ansible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034540" y="40233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241" y="414406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1792" y="46634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2"/>
                </a:solidFill>
              </a:rPr>
              <a:t>legacy app 只能 HTTP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50749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不能用 Kafka client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325112" y="388620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811012" y="40233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713" y="414406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398264" y="46634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1"/>
                </a:solidFill>
              </a:rPr>
              <a:t>依 AD 群組 + RBAC 分層授權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416552" y="50749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不同職責,不同權限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101584" y="388620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9587484" y="40233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8185" y="414406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174736" y="46634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5"/>
                </a:solidFill>
              </a:rPr>
              <a:t>範圍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193024" y="50749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Kafka · REST Proxy · C3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設計原則:兩個身分平面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297680" cy="338328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176113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chemeClr val="accent1"/>
                </a:solidFill>
              </a:rPr>
              <a:t>人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登入 C3 · 手動腳本 · Postman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3749040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授權跟著 AD 群組走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42632" y="1417320"/>
            <a:ext cx="4297680" cy="338328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71232" y="160020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166" y="176113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85632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chemeClr val="accent2"/>
                </a:solidFill>
              </a:rPr>
              <a:t>服務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7616952" y="25146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應用 · 排程 · C3 / REST Proxy 背景程序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616952" y="4069080"/>
            <a:ext cx="374904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授權綁 User:服務名稱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120640" y="2103120"/>
            <a:ext cx="1947672" cy="1737360"/>
          </a:xfrm>
          <a:prstGeom prst="roundRect">
            <a:avLst>
              <a:gd name="adj" fmla="val 90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824728" y="22402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429" y="236098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66360" y="288036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5"/>
                </a:solidFill>
              </a:rPr>
              <a:t>MDS · RBAC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212080" y="329184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集中授權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46320" y="2971800"/>
            <a:ext cx="27432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 flipH="1">
            <a:off x="7068312" y="2971800"/>
            <a:ext cx="27432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Text 17"/>
          <p:cNvSpPr/>
          <p:nvPr/>
        </p:nvSpPr>
        <p:spPr>
          <a:xfrm>
            <a:off x="548640" y="5074920"/>
            <a:ext cx="11091672" cy="640080"/>
          </a:xfrm>
          <a:prstGeom prst="roundRect">
            <a:avLst>
              <a:gd name="adj" fmla="val 9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bg1"/>
                </a:solidFill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腳本由手動轉成排程 → 必須改用服務身分,不借用人的帳號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方案總覽:逐一介紹每個組件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4540" y="1508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241" y="16294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1488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3"/>
                </a:solidFill>
              </a:rPr>
              <a:t>TLS 與憑證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60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共用 1 組 server 憑證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25112" y="137160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11012" y="1508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713" y="16294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98264" y="21488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3"/>
                </a:solidFill>
              </a:rPr>
              <a:t>Controller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416552" y="2560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SASL/PLAIN · 內部帳號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01584" y="137160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87484" y="1508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185" y="16294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74736" y="21488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Broker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193024" y="2560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PLAIN+LDAP · SCRAM · token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06324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034540" y="320040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241" y="332110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1792" y="384048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5"/>
                </a:solidFill>
              </a:rPr>
              <a:t>MDS · RBAC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4251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AD 群組 → role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325112" y="306324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811012" y="320040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713" y="332110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398264" y="384048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2"/>
                </a:solidFill>
              </a:rPr>
              <a:t>服務帳號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416552" y="4251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SCRAM + 最小權限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101584" y="306324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9587484" y="320040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8185" y="332110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174736" y="384048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2"/>
                </a:solidFill>
              </a:rPr>
              <a:t>REST Proxy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8193024" y="4251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人 Basic · 機器憑證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548640" y="475488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2034540" y="489204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5241" y="5012741"/>
            <a:ext cx="307238" cy="30723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21792" y="553212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Control Center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640080" y="5943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人用本人身分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4325112" y="475488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5811012" y="489204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1713" y="5012741"/>
            <a:ext cx="307238" cy="30723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4398264" y="553212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5"/>
                </a:solidFill>
              </a:rPr>
              <a:t>Audit log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4416552" y="5943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誰被拒、誰改授權</a:t>
            </a:r>
            <a:endParaRPr lang="en-US" sz="1200" dirty="0"/>
          </a:p>
        </p:txBody>
      </p:sp>
      <p:sp>
        <p:nvSpPr>
          <p:cNvPr id="43" name="Shape 33"/>
          <p:cNvSpPr/>
          <p:nvPr/>
        </p:nvSpPr>
        <p:spPr>
          <a:xfrm>
            <a:off x="8101584" y="475488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9587484" y="489204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8185" y="5012741"/>
            <a:ext cx="307238" cy="307238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174736" y="553212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3"/>
                </a:solidFill>
              </a:rPr>
              <a:t>整合與導入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8193024" y="5943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全景 · 步驟 · 風險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3800" b="1" dirty="0">
                <a:solidFill>
                  <a:schemeClr val="bg1"/>
                </a:solidFill>
              </a:rPr>
              <a:t>逐一介紹組件</a:t>
            </a:r>
            <a:endParaRPr lang="zh-TW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chemeClr val="bg2"/>
                </a:solidFill>
              </a:rPr>
              <a:t>每個組件:角色 · 怎麼認證 · 怎麼授權 · 要注意什麼</a:t>
            </a:r>
            <a:endParaRPr lang="zh-TW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TLS 與憑證:共用 1 組,只做加密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1188720" cy="118872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" y="1861718"/>
            <a:ext cx="665683" cy="66568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1 組 PK + 憑證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SAN 涵蓋所有組件的網域 / IP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 flipV="1">
            <a:off x="2148840" y="1600200"/>
            <a:ext cx="868680" cy="59436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3017520" y="1417320"/>
            <a:ext cx="1828800" cy="365760"/>
          </a:xfrm>
          <a:prstGeom prst="roundRect">
            <a:avLst>
              <a:gd name="adj" fmla="val 45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controller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flipV="1">
            <a:off x="2148840" y="2057400"/>
            <a:ext cx="868680" cy="13716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3017520" y="1874520"/>
            <a:ext cx="1828800" cy="365760"/>
          </a:xfrm>
          <a:prstGeom prst="roundRect">
            <a:avLst>
              <a:gd name="adj" fmla="val 45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broker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48840" y="2194560"/>
            <a:ext cx="868680" cy="3200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3017520" y="2331720"/>
            <a:ext cx="1828800" cy="365760"/>
          </a:xfrm>
          <a:prstGeom prst="roundRect">
            <a:avLst>
              <a:gd name="adj" fmla="val 45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MDS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148840" y="2194560"/>
            <a:ext cx="868680" cy="7772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3017520" y="2788920"/>
            <a:ext cx="1828800" cy="365760"/>
          </a:xfrm>
          <a:prstGeom prst="roundRect">
            <a:avLst>
              <a:gd name="adj" fmla="val 45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REST Proxy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148840" y="2194560"/>
            <a:ext cx="868680" cy="12344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3017520" y="3246120"/>
            <a:ext cx="1828800" cy="365760"/>
          </a:xfrm>
          <a:prstGeom prst="roundRect">
            <a:avLst>
              <a:gd name="adj" fmla="val 45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C3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01752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server 端啟動 TLS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4114800"/>
            <a:ext cx="5486400" cy="146304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client 端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31520" y="4617720"/>
            <a:ext cx="5120640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只需 truststore(匯入 CA root)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" y="5074920"/>
            <a:ext cx="5120640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AD 的 LDAPS CA 也要匯入 Java truststore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0" y="1371600"/>
            <a:ext cx="5239512" cy="233172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8368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2"/>
                </a:solidFill>
              </a:rPr>
              <a:t>需要 client 憑證的只有「平台元件」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583680" y="1965960"/>
            <a:ext cx="137160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c3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046720" y="1965960"/>
            <a:ext cx="155448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restproxy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692640" y="1965960"/>
            <a:ext cx="173736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bootstrap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583680" y="2514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+ 每個經 REST Proxy 的 legacy app 各 1 張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綁 RBAC 的是 CN:換憑證只要 CN 不變,不用重綁權限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0" y="3886200"/>
            <a:ext cx="5239512" cy="1691640"/>
          </a:xfrm>
          <a:prstGeom prst="roundRect">
            <a:avLst>
              <a:gd name="adj" fmla="val 90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6"/>
                </a:solidFill>
              </a:rPr>
              <a:t>要請客戶簽認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583680" y="4389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•  共用私鑰外洩 → 可偽裝伺服器(不是偽裝 client)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•  共用憑證不能當 client 身分:同一個 DN = 同一個 principal(實測)</a:t>
            </a:r>
            <a:endParaRPr lang="en-US" sz="125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•  輪替:同一個 CA 換憑證逐台換;換 CA 時 truststore 先同時信任新舊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9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共用憑證只負責「加密」;身分另外處理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Controller(KRaft)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554480" cy="118872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controller 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0" y="1463040"/>
            <a:ext cx="1554480" cy="118872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8892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621" y="167518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28600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controller 2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23360" y="1463040"/>
            <a:ext cx="1554480" cy="118872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2628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81" y="167518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2336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controller 3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chemeClr val="accent2"/>
                </a:solidFill>
              </a:rPr>
              <a:t>Raft quorum:正式環境 3 個;本 demo 只驗證 1 個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943600" y="1463040"/>
            <a:ext cx="5696712" cy="237744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12648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3"/>
                </a:solidFill>
              </a:rPr>
              <a:t>CONTROLLER 埠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126480" y="2011680"/>
            <a:ext cx="155448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SASL_SSL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772400" y="2011680"/>
            <a:ext cx="173736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SASL/PLAIN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601200" y="2011680"/>
            <a:ext cx="182880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靜態內部帳號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126480" y="25603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帳號:kafka-controller · kafka-broker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不接受 AD 帳密認證(實測);授權時需解析 AD 群組:demo 需設 LDAP,官方未明載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3429000"/>
            <a:ext cx="5029200" cy="1005840"/>
          </a:xfrm>
          <a:prstGeom prst="roundRect">
            <a:avLst>
              <a:gd name="adj" fmla="val 540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31520" y="35204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accent3"/>
                </a:solidFill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ConfluentServerAuthorizer + super.users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48640" y="4663440"/>
            <a:ext cx="5029200" cy="914400"/>
          </a:xfrm>
          <a:prstGeom prst="roundRect">
            <a:avLst>
              <a:gd name="adj" fmla="val 90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85800" y="475488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8" y="4895698"/>
            <a:ext cx="358445" cy="35844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63040" y="47548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chemeClr val="accent6"/>
                </a:solidFill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943600" y="4023360"/>
            <a:ext cx="5696712" cy="155448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080760" y="411480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578" y="4255618"/>
            <a:ext cx="358445" cy="35844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03720" y="40690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待確認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dirty="0">
                <a:solidFill>
                  <a:schemeClr val="tx1"/>
                </a:solidFill>
              </a:rPr>
              <a:t>controller 間不支援 SCRAM(SCRAM overview 頁);KRaft security 頁寫法不同,官方文件不一致;多 controller 間 PLAIN 未實測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chemeClr val="tx1"/>
                </a:solidFill>
              </a:rPr>
              <a:t>demo 的 controller 需設 LDAP;官方建議 confluent.metadata.server.kraft.controller.enabled=true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9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controller 只認內部帳號;人與服務都不直接連它(授權仍需解析群組)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Broker:三個 listener,各管一件事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103120" cy="393192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00200"/>
            <a:ext cx="1097280" cy="10972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962" y="1841602"/>
            <a:ext cx="614477" cy="61447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chemeClr val="accent1"/>
                </a:solidFill>
              </a:rPr>
              <a:t>broker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375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ConfluentServerAuthorizer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Kafka listener:ssl.client.auth = none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 flipV="1">
            <a:off x="2651760" y="2011680"/>
            <a:ext cx="457200" cy="137160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108960" y="1417320"/>
            <a:ext cx="8531352" cy="1188720"/>
          </a:xfrm>
          <a:prstGeom prst="roundRect">
            <a:avLst>
              <a:gd name="adj" fmla="val 54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16916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938" y="183245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5270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chemeClr val="accent3"/>
                </a:solidFill>
              </a:rPr>
              <a:t>INTERNAL 9092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069080" y="20116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SASL_SSL · SCRAM-SHA-512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0" y="15270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broker ↔ broker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 flipV="1">
            <a:off x="2651760" y="3383280"/>
            <a:ext cx="45720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108960" y="2788920"/>
            <a:ext cx="8531352" cy="1188720"/>
          </a:xfrm>
          <a:prstGeom prst="roundRect">
            <a:avLst>
              <a:gd name="adj" fmla="val 54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246120" y="30632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938" y="320405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069080" y="2898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chemeClr val="accent1"/>
                </a:solidFill>
              </a:rPr>
              <a:t>CLIENT 9094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4069080" y="33832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SASL_SSL · PLAIN+LDAP / SCRAM / OAUTHBEARER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0" y="28986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人 · 服務 · token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2651760" y="3383280"/>
            <a:ext cx="457200" cy="13716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3108960" y="4160520"/>
            <a:ext cx="8531352" cy="1188720"/>
          </a:xfrm>
          <a:prstGeom prst="roundRect">
            <a:avLst>
              <a:gd name="adj" fmla="val 54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246120" y="44348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938" y="4575658"/>
            <a:ext cx="358445" cy="35844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069080" y="4270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chemeClr val="accent5"/>
                </a:solidFill>
              </a:rPr>
              <a:t>MDS 8091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4069080" y="47548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8229600" y="42702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C3 · REST Proxy · 管理 API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5623560"/>
            <a:ext cx="7498080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6"/>
                </a:solidFill>
              </a:rPr>
              <a:t>LDAP callback 只掛 CLIENT:官方不建議 inter-broker 用 PLAIN + LDAP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229600" y="5623560"/>
            <a:ext cx="3410712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6"/>
                </a:solidFill>
              </a:rPr>
              <a:t>防火牆:9092 只開給叢集節點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MDS:RBAC 的中樞(內嵌於 broker)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514600" cy="1920240"/>
          </a:xfrm>
          <a:prstGeom prst="roundRect">
            <a:avLst>
              <a:gd name="adj" fmla="val 7200"/>
            </a:avLst>
          </a:prstGeom>
          <a:solidFill>
            <a:schemeClr val="tx2">
              <a:alpha val="12000"/>
            </a:schemeClr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3162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tx2">
              <a:alpha val="15000"/>
            </a:schemeClr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32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19456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tx2"/>
                </a:solidFill>
              </a:rPr>
              <a:t>管理者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06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在 C3 或 API 指派 role binding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83280" y="1417320"/>
            <a:ext cx="2514600" cy="192024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6626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961" y="16751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56432" y="219456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5"/>
                </a:solidFill>
              </a:rPr>
              <a:t>MDS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606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換 token · 管理 RBAC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17920" y="1417320"/>
            <a:ext cx="251460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0090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601" y="16751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91072" y="219456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RBAC topic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606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_confluent-metadata-auth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052560" y="1417320"/>
            <a:ext cx="2514600" cy="192024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03554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6241" y="167518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25712" y="219456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每台 broker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9144000" y="2606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讀取並 cache,本地授權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3063240" y="2377440"/>
            <a:ext cx="32004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5897880" y="2377440"/>
            <a:ext cx="32004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8732520" y="2377440"/>
            <a:ext cx="32004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3383280" y="3657600"/>
            <a:ext cx="2514600" cy="201168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366260" y="3794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961" y="3915461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456432" y="443484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AD(LDAP)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3474720" y="48463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MDS 用唯讀查詢帳號查群組;使用者密碼用 simple bind 驗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636008" y="333756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Text 25"/>
          <p:cNvSpPr txBox="1"/>
          <p:nvPr/>
        </p:nvSpPr>
        <p:spPr>
          <a:xfrm>
            <a:off x="470916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查詢 / bind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217920" y="3657600"/>
            <a:ext cx="5422392" cy="2011680"/>
          </a:xfrm>
          <a:prstGeom prst="roundRect">
            <a:avLst>
              <a:gd name="adj" fmla="val 90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5"/>
                </a:solidFill>
              </a:rPr>
              <a:t>重點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6400800" y="4160520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•  群組異動在 AD 做,Kafka 端零變更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•  群組同步:只有 MDS writer broker;預設每 60 秒重讀(demo 5 秒)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•  使用者認證(MDS Basic、PLAIN+LDAP):各 broker 都會連 AD</a:t>
            </a:r>
            <a:endParaRPr lang="en-US" sz="125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•  token:JWT,預設 1 小時;平台元件可用 client 憑證換 token(7.8+)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548640" y="3657600"/>
            <a:ext cx="2514600" cy="2011680"/>
          </a:xfrm>
          <a:prstGeom prst="roundRect">
            <a:avLst>
              <a:gd name="adj" fmla="val 90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417320" y="3794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8021" y="3915461"/>
            <a:ext cx="307238" cy="30723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40080" y="44348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chemeClr val="accent6"/>
                </a:solidFill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bind DN;不要用真人帳號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AD 群組 → role:依職責分層授權</a:t>
            </a:r>
            <a:endParaRPr lang="zh-TW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2356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讀資料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13232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寫資料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4108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管 topic(建/刪)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改授權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0927080" cy="566928"/>
          </a:xfrm>
          <a:prstGeom prst="roundRect">
            <a:avLst>
              <a:gd name="adj" fmla="val 108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110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2"/>
                </a:solidFill>
              </a:rPr>
              <a:t>kafka-developers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91109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DeveloperRead / Write(orders. 前綴)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488" y="1975104"/>
            <a:ext cx="365760" cy="36576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1975104"/>
            <a:ext cx="365760" cy="36576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08" y="1975104"/>
            <a:ext cx="365760" cy="36576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975104"/>
            <a:ext cx="365760" cy="36576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48640" y="2532888"/>
            <a:ext cx="10927080" cy="566928"/>
          </a:xfrm>
          <a:prstGeom prst="roundRect">
            <a:avLst>
              <a:gd name="adj" fmla="val 108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31520" y="25694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kafka-readonly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2834640" y="25694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DeveloperRead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2633472"/>
            <a:ext cx="365760" cy="36576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248" y="2633472"/>
            <a:ext cx="365760" cy="365760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8008" y="2633472"/>
            <a:ext cx="365760" cy="365760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6768" y="2633472"/>
            <a:ext cx="365760" cy="365760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548640" y="3191256"/>
            <a:ext cx="10927080" cy="566928"/>
          </a:xfrm>
          <a:prstGeom prst="roundRect">
            <a:avLst>
              <a:gd name="adj" fmla="val 108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2" name="Text 12"/>
          <p:cNvSpPr txBox="1"/>
          <p:nvPr/>
        </p:nvSpPr>
        <p:spPr>
          <a:xfrm>
            <a:off x="731520" y="3227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3"/>
                </a:solidFill>
              </a:rPr>
              <a:t>kafka-ops</a:t>
            </a:r>
            <a:endParaRPr lang="en-US" sz="1300" dirty="0"/>
          </a:p>
        </p:txBody>
      </p:sp>
      <p:sp>
        <p:nvSpPr>
          <p:cNvPr id="23" name="Text 13"/>
          <p:cNvSpPr txBox="1"/>
          <p:nvPr/>
        </p:nvSpPr>
        <p:spPr>
          <a:xfrm>
            <a:off x="2834640" y="3227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0488" y="3291840"/>
            <a:ext cx="365760" cy="365760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9248" y="3291840"/>
            <a:ext cx="365760" cy="365760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8008" y="3291840"/>
            <a:ext cx="365760" cy="365760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16768" y="3291840"/>
            <a:ext cx="365760" cy="365760"/>
          </a:xfrm>
          <a:prstGeom prst="rect">
            <a:avLst/>
          </a:prstGeom>
        </p:spPr>
      </p:pic>
      <p:sp>
        <p:nvSpPr>
          <p:cNvPr id="28" name="Shape 14"/>
          <p:cNvSpPr/>
          <p:nvPr/>
        </p:nvSpPr>
        <p:spPr>
          <a:xfrm>
            <a:off x="548640" y="3849624"/>
            <a:ext cx="10927080" cy="566928"/>
          </a:xfrm>
          <a:prstGeom prst="roundRect">
            <a:avLst>
              <a:gd name="adj" fmla="val 108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9" name="Text 15"/>
          <p:cNvSpPr txBox="1"/>
          <p:nvPr/>
        </p:nvSpPr>
        <p:spPr>
          <a:xfrm>
            <a:off x="73152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5"/>
                </a:solidFill>
              </a:rPr>
              <a:t>kafka-rbac-admins</a:t>
            </a:r>
            <a:endParaRPr lang="en-US" sz="1300" dirty="0"/>
          </a:p>
        </p:txBody>
      </p:sp>
      <p:sp>
        <p:nvSpPr>
          <p:cNvPr id="30" name="Text 16"/>
          <p:cNvSpPr txBox="1"/>
          <p:nvPr/>
        </p:nvSpPr>
        <p:spPr>
          <a:xfrm>
            <a:off x="2834640" y="3886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UserAdmin</a:t>
            </a:r>
            <a:endParaRPr lang="en-US" sz="1050" dirty="0"/>
          </a:p>
        </p:txBody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0488" y="3950208"/>
            <a:ext cx="365760" cy="365760"/>
          </a:xfrm>
          <a:prstGeom prst="rect">
            <a:avLst/>
          </a:prstGeom>
        </p:spPr>
      </p:pic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9248" y="3950208"/>
            <a:ext cx="365760" cy="365760"/>
          </a:xfrm>
          <a:prstGeom prst="rect">
            <a:avLst/>
          </a:prstGeom>
        </p:spPr>
      </p:pic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08008" y="3950208"/>
            <a:ext cx="365760" cy="365760"/>
          </a:xfrm>
          <a:prstGeom prst="rect">
            <a:avLst/>
          </a:prstGeom>
        </p:spPr>
      </p:pic>
      <p:pic>
        <p:nvPicPr>
          <p:cNvPr id="3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16768" y="3950208"/>
            <a:ext cx="365760" cy="365760"/>
          </a:xfrm>
          <a:prstGeom prst="rect">
            <a:avLst/>
          </a:prstGeom>
        </p:spPr>
      </p:pic>
      <p:sp>
        <p:nvSpPr>
          <p:cNvPr id="35" name="Shape 17"/>
          <p:cNvSpPr/>
          <p:nvPr/>
        </p:nvSpPr>
        <p:spPr>
          <a:xfrm>
            <a:off x="548640" y="4507992"/>
            <a:ext cx="10927080" cy="566928"/>
          </a:xfrm>
          <a:prstGeom prst="roundRect">
            <a:avLst>
              <a:gd name="adj" fmla="val 108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36" name="Text 18"/>
          <p:cNvSpPr txBox="1"/>
          <p:nvPr/>
        </p:nvSpPr>
        <p:spPr>
          <a:xfrm>
            <a:off x="731520" y="4544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kafka-admins</a:t>
            </a:r>
            <a:endParaRPr lang="en-US" sz="1300" dirty="0"/>
          </a:p>
        </p:txBody>
      </p:sp>
      <p:sp>
        <p:nvSpPr>
          <p:cNvPr id="37" name="Text 19"/>
          <p:cNvSpPr txBox="1"/>
          <p:nvPr/>
        </p:nvSpPr>
        <p:spPr>
          <a:xfrm>
            <a:off x="2834640" y="45445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SystemAdmin(break-glass)</a:t>
            </a:r>
            <a:endParaRPr lang="en-US" sz="1050" dirty="0"/>
          </a:p>
        </p:txBody>
      </p:sp>
      <p:pic>
        <p:nvPicPr>
          <p:cNvPr id="3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90488" y="4608576"/>
            <a:ext cx="365760" cy="365760"/>
          </a:xfrm>
          <a:prstGeom prst="rect">
            <a:avLst/>
          </a:prstGeom>
        </p:spPr>
      </p:pic>
      <p:pic>
        <p:nvPicPr>
          <p:cNvPr id="3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99248" y="4608576"/>
            <a:ext cx="365760" cy="365760"/>
          </a:xfrm>
          <a:prstGeom prst="rect">
            <a:avLst/>
          </a:prstGeom>
        </p:spPr>
      </p:pic>
      <p:pic>
        <p:nvPicPr>
          <p:cNvPr id="4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08008" y="4608576"/>
            <a:ext cx="365760" cy="365760"/>
          </a:xfrm>
          <a:prstGeom prst="rect">
            <a:avLst/>
          </a:prstGeom>
        </p:spPr>
      </p:pic>
      <p:pic>
        <p:nvPicPr>
          <p:cNvPr id="4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716768" y="4608576"/>
            <a:ext cx="365760" cy="365760"/>
          </a:xfrm>
          <a:prstGeom prst="rect">
            <a:avLst/>
          </a:prstGeom>
        </p:spPr>
      </p:pic>
      <p:sp>
        <p:nvSpPr>
          <p:cNvPr id="42" name="Shape 20"/>
          <p:cNvSpPr/>
          <p:nvPr/>
        </p:nvSpPr>
        <p:spPr>
          <a:xfrm>
            <a:off x="2971800" y="5440680"/>
            <a:ext cx="3657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3" name="Text 21"/>
          <p:cNvSpPr/>
          <p:nvPr/>
        </p:nvSpPr>
        <p:spPr>
          <a:xfrm>
            <a:off x="548640" y="5166360"/>
            <a:ext cx="2423160" cy="548640"/>
          </a:xfrm>
          <a:prstGeom prst="roundRect">
            <a:avLst>
              <a:gd name="adj" fmla="val 36000"/>
            </a:avLst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AD 加入群組</a:t>
            </a:r>
            <a:endParaRPr lang="en-US" sz="1400" dirty="0"/>
          </a:p>
        </p:txBody>
      </p:sp>
      <p:sp>
        <p:nvSpPr>
          <p:cNvPr id="44" name="Shape 22"/>
          <p:cNvSpPr/>
          <p:nvPr/>
        </p:nvSpPr>
        <p:spPr>
          <a:xfrm>
            <a:off x="5760720" y="5440680"/>
            <a:ext cx="3657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5" name="Text 23"/>
          <p:cNvSpPr/>
          <p:nvPr/>
        </p:nvSpPr>
        <p:spPr>
          <a:xfrm>
            <a:off x="3337560" y="5166360"/>
            <a:ext cx="2423160" cy="548640"/>
          </a:xfrm>
          <a:prstGeom prst="roundRect">
            <a:avLst>
              <a:gd name="adj" fmla="val 36000"/>
            </a:avLst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做事</a:t>
            </a:r>
            <a:endParaRPr lang="en-US" sz="1400" dirty="0"/>
          </a:p>
        </p:txBody>
      </p:sp>
      <p:sp>
        <p:nvSpPr>
          <p:cNvPr id="46" name="Shape 24"/>
          <p:cNvSpPr/>
          <p:nvPr/>
        </p:nvSpPr>
        <p:spPr>
          <a:xfrm>
            <a:off x="8549640" y="5440680"/>
            <a:ext cx="3657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7" name="Text 25"/>
          <p:cNvSpPr/>
          <p:nvPr/>
        </p:nvSpPr>
        <p:spPr>
          <a:xfrm>
            <a:off x="6126480" y="5166360"/>
            <a:ext cx="2423160" cy="548640"/>
          </a:xfrm>
          <a:prstGeom prst="roundRect">
            <a:avLst>
              <a:gd name="adj" fmla="val 36000"/>
            </a:avLst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AD 移出群組</a:t>
            </a:r>
            <a:endParaRPr lang="en-US" sz="1400" dirty="0"/>
          </a:p>
        </p:txBody>
      </p:sp>
      <p:sp>
        <p:nvSpPr>
          <p:cNvPr id="48" name="Text 26"/>
          <p:cNvSpPr/>
          <p:nvPr/>
        </p:nvSpPr>
        <p:spPr>
          <a:xfrm>
            <a:off x="8915400" y="5166360"/>
            <a:ext cx="2423160" cy="548640"/>
          </a:xfrm>
          <a:prstGeom prst="roundRect">
            <a:avLst>
              <a:gd name="adj" fmla="val 36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audit 留痕</a:t>
            </a:r>
            <a:endParaRPr lang="en-US" sz="1400" dirty="0"/>
          </a:p>
        </p:txBody>
      </p:sp>
      <p:sp>
        <p:nvSpPr>
          <p:cNvPr id="49" name="Text 2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服務帳號:SCRAM,不放 AD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01168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57276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建立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kafka-configs 在 Kafka 內建立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2423160"/>
            <a:ext cx="25603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16352" y="1463040"/>
            <a:ext cx="201168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57276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授權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前綴最小權限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8032" y="2423160"/>
            <a:ext cx="25603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84064" y="1463040"/>
            <a:ext cx="201168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157276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使用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75504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權限 600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95744" y="2423160"/>
            <a:ext cx="25603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51776" y="1463040"/>
            <a:ext cx="201168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1504" y="157276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43216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輪替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443216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新帳號並行 → 切換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→ 停舊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63456" y="2423160"/>
            <a:ext cx="25603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19488" y="1463040"/>
            <a:ext cx="201168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29216" y="157276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710928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保管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710928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密碼放密碼庫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749040"/>
            <a:ext cx="3520440" cy="146304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88620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4027018"/>
            <a:ext cx="358445" cy="35844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508760" y="38862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不在 AD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251960" y="3749040"/>
            <a:ext cx="3520440" cy="1463040"/>
          </a:xfrm>
          <a:prstGeom prst="roundRect">
            <a:avLst>
              <a:gd name="adj" fmla="val 90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34840" y="388620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658" y="4027018"/>
            <a:ext cx="358445" cy="358445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5212080" y="388620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要有輪替流程與提醒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7955280" y="3749040"/>
            <a:ext cx="3685032" cy="146304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138160" y="388620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4027018"/>
            <a:ext cx="358445" cy="358445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8915400" y="388620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不能用 AD 方式登入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PLAIN → LDAP 驗證會失敗(實測)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548640" y="5486400"/>
            <a:ext cx="11091672" cy="548640"/>
          </a:xfrm>
          <a:prstGeom prst="roundRect">
            <a:avLst>
              <a:gd name="adj" fmla="val 9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廢棄舊帳號即立刻失效(舊密碼連線立即被拒,實測)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REST Proxy:legacy app 的入口</a:t>
            </a:r>
            <a:endParaRPr lang="zh-TW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人(Postman · 手動測試)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0" y="1627632"/>
            <a:ext cx="2103120" cy="566928"/>
          </a:xfrm>
          <a:prstGeom prst="roundRect">
            <a:avLst>
              <a:gd name="adj" fmla="val 90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0" y="1700784"/>
            <a:ext cx="420624" cy="420624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1577" y="1793321"/>
            <a:ext cx="235549" cy="2355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251960" y="17007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MDS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 flipV="1">
            <a:off x="4343400" y="2194560"/>
            <a:ext cx="0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029200" y="2194560"/>
            <a:ext cx="0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5852160" y="15544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5"/>
                </a:solidFill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5"/>
                </a:solidFill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377440"/>
            <a:ext cx="1828800" cy="73152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49631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87" y="2600919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249631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人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657600" y="2377440"/>
            <a:ext cx="2103120" cy="73152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749040" y="249631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647" y="2600919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297680" y="249631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REST Proxy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949440" y="2377440"/>
            <a:ext cx="1828800" cy="73152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40880" y="249631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5487" y="2600919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89520" y="249631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broker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2377440" y="2743200"/>
            <a:ext cx="128016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5760720" y="2743200"/>
            <a:ext cx="118872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Text 19"/>
          <p:cNvSpPr txBox="1"/>
          <p:nvPr/>
        </p:nvSpPr>
        <p:spPr>
          <a:xfrm>
            <a:off x="155448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Basic(AD 帳密)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5532120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OAUTHBEARER(帶 token)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891540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主體 = token 的 sub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3474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機器(legacy app)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3657600" y="3822192"/>
            <a:ext cx="2103120" cy="566928"/>
          </a:xfrm>
          <a:prstGeom prst="roundRect">
            <a:avLst>
              <a:gd name="adj" fmla="val 90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749040" y="3895344"/>
            <a:ext cx="420624" cy="420624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1577" y="3987881"/>
            <a:ext cx="235549" cy="235549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251960" y="38953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MDS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 flipV="1">
            <a:off x="4343400" y="4389120"/>
            <a:ext cx="0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5029200" y="4389120"/>
            <a:ext cx="0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Text 28"/>
          <p:cNvSpPr txBox="1"/>
          <p:nvPr/>
        </p:nvSpPr>
        <p:spPr>
          <a:xfrm>
            <a:off x="5852160" y="3749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5"/>
                </a:solidFill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5"/>
                </a:solidFill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5"/>
                </a:solidFill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548640" y="4572000"/>
            <a:ext cx="1828800" cy="73152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40080" y="469087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687" y="4795479"/>
            <a:ext cx="266273" cy="266273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188720" y="469087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legacy app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3657600" y="4572000"/>
            <a:ext cx="2103120" cy="73152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3749040" y="469087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3647" y="4795479"/>
            <a:ext cx="266273" cy="266273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4297680" y="469087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REST Proxy</a:t>
            </a:r>
            <a:endParaRPr lang="en-US" sz="1300" dirty="0"/>
          </a:p>
        </p:txBody>
      </p:sp>
      <p:sp>
        <p:nvSpPr>
          <p:cNvPr id="44" name="Shape 35"/>
          <p:cNvSpPr/>
          <p:nvPr/>
        </p:nvSpPr>
        <p:spPr>
          <a:xfrm>
            <a:off x="6949440" y="4572000"/>
            <a:ext cx="1828800" cy="73152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7040880" y="469087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5487" y="4795479"/>
            <a:ext cx="266273" cy="266273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7589520" y="469087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broker</a:t>
            </a:r>
            <a:endParaRPr lang="en-US" sz="1300" dirty="0"/>
          </a:p>
        </p:txBody>
      </p:sp>
      <p:sp>
        <p:nvSpPr>
          <p:cNvPr id="48" name="Shape 38"/>
          <p:cNvSpPr/>
          <p:nvPr/>
        </p:nvSpPr>
        <p:spPr>
          <a:xfrm>
            <a:off x="2377440" y="4937760"/>
            <a:ext cx="128016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9" name="Shape 39"/>
          <p:cNvSpPr/>
          <p:nvPr/>
        </p:nvSpPr>
        <p:spPr>
          <a:xfrm>
            <a:off x="5760720" y="4937760"/>
            <a:ext cx="118872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0" name="Text 40"/>
          <p:cNvSpPr txBox="1"/>
          <p:nvPr/>
        </p:nvSpPr>
        <p:spPr>
          <a:xfrm>
            <a:off x="1554480" y="5349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① client 憑證(CN)→ 對映成主體</a:t>
            </a:r>
            <a:endParaRPr lang="en-US" sz="1000" dirty="0"/>
          </a:p>
        </p:txBody>
      </p:sp>
      <p:sp>
        <p:nvSpPr>
          <p:cNvPr id="51" name="Text 41"/>
          <p:cNvSpPr txBox="1"/>
          <p:nvPr/>
        </p:nvSpPr>
        <p:spPr>
          <a:xfrm>
            <a:off x="5532120" y="5349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⑤ OAUTHBEARER(帶 token)</a:t>
            </a:r>
            <a:endParaRPr lang="en-US" sz="1000" dirty="0"/>
          </a:p>
        </p:txBody>
      </p:sp>
      <p:sp>
        <p:nvSpPr>
          <p:cNvPr id="52" name="Text 42"/>
          <p:cNvSpPr txBox="1"/>
          <p:nvPr/>
        </p:nvSpPr>
        <p:spPr>
          <a:xfrm>
            <a:off x="8915400" y="4663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主體 = token 的 sub</a:t>
            </a:r>
            <a:endParaRPr lang="en-US" sz="1000" dirty="0"/>
          </a:p>
        </p:txBody>
      </p:sp>
      <p:sp>
        <p:nvSpPr>
          <p:cNvPr id="53" name="Text 43"/>
          <p:cNvSpPr/>
          <p:nvPr/>
        </p:nvSpPr>
        <p:spPr>
          <a:xfrm>
            <a:off x="548640" y="5715000"/>
            <a:ext cx="11091672" cy="347472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AuthenticationHandler + ssl.client.authentication=REQUESTED(本專案實測組合)・憑證身分只能綁 User:</a:t>
            </a:r>
            <a:endParaRPr lang="en-US" sz="1100" dirty="0"/>
          </a:p>
        </p:txBody>
      </p:sp>
      <p:sp>
        <p:nvSpPr>
          <p:cNvPr id="54" name="Text 44"/>
          <p:cNvSpPr/>
          <p:nvPr/>
        </p:nvSpPr>
        <p:spPr>
          <a:xfrm>
            <a:off x="548640" y="6089904"/>
            <a:ext cx="11091672" cy="347472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6"/>
                </a:solidFill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Control Center:人用本人身分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011680" cy="182880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52704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Basic 登入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瀏覽器送 AD 帳密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2331720"/>
            <a:ext cx="256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16352" y="1417320"/>
            <a:ext cx="2011680" cy="182880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52704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C3 轉給 MDS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MDS 向 AD 驗證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8032" y="2331720"/>
            <a:ext cx="256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84064" y="1417320"/>
            <a:ext cx="2011680" cy="182880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152704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回 token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75504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JWT 1 小時,會續期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C3 登入上限預設 6 小時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95744" y="2331720"/>
            <a:ext cx="256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51776" y="1417320"/>
            <a:ext cx="2011680" cy="182880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1504" y="152704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43216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之後帶 Bearer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443216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優先看 Bearer(實測)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63456" y="2331720"/>
            <a:ext cx="256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19488" y="1417320"/>
            <a:ext cx="2011680" cy="182880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29216" y="152704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710928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驗章 + 查範圍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710928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本地驗章(實測推論)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再向 MDS 查權限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520440"/>
            <a:ext cx="5440680" cy="137160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65760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3798418"/>
            <a:ext cx="358445" cy="35844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508760" y="36118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audit 主體 = User:gary / ming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199632" y="3520440"/>
            <a:ext cx="5440680" cy="137160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82512" y="365760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0" y="3798418"/>
            <a:ext cx="358445" cy="358445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7159752" y="36118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chemeClr val="accent2"/>
                </a:solidFill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官方要求 SystemAdmin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548640" y="5257800"/>
            <a:ext cx="544068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6199632" y="5257800"/>
            <a:ext cx="5440680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6"/>
                </a:solidFill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C3 周邊:Prometheus · Alertmanager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743200" cy="210312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662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19456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Control Center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06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next-gen 2.x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06240" y="1417320"/>
            <a:ext cx="2743200" cy="210312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0352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221" y="16751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79392" y="219456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Prometheus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297680" y="2606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指標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863840" y="1417320"/>
            <a:ext cx="2743200" cy="210312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96112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821" y="16751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936992" y="219456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Alertmanager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955280" y="2606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告警 · 靜音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291840" y="246888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949440" y="246888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548640" y="3794760"/>
            <a:ext cx="5486400" cy="1600200"/>
          </a:xfrm>
          <a:prstGeom prst="roundRect">
            <a:avLst>
              <a:gd name="adj" fmla="val 90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" y="393192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4072738"/>
            <a:ext cx="358445" cy="35844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08760" y="38862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chemeClr val="accent6"/>
                </a:solidFill>
              </a:rPr>
              <a:t>本 demo 未啟用認證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不帶憑證可讀指標;Alertmanager 可無認證建立 / 刪除靜音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199632" y="3794760"/>
            <a:ext cx="5440680" cy="160020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382512" y="393192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30" y="4072738"/>
            <a:ext cx="358445" cy="35844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159752" y="38862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官方支援 TLS + HTTP Basic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正式環境應啟用;客戶不想管憑證 → 共用 server 憑證做 TLS + Basic 帳密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48640" y="5623560"/>
            <a:ext cx="7498080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1"/>
                </a:solidFill>
              </a:rPr>
              <a:t>Schema Registry 未部署 → confluent.controlcenter.schema.registry.enable=false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8229600" y="5623560"/>
            <a:ext cx="3410712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2"/>
                </a:solidFill>
              </a:rPr>
              <a:t>啟用後的實測:尚未做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Broker 內建 Admin REST:預設無認證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3246120"/>
          </a:xfrm>
          <a:prstGeom prst="roundRect">
            <a:avLst>
              <a:gd name="adj" fmla="val 90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chemeClr val="accent6"/>
                </a:solidFill>
              </a:rPr>
              <a:t>未設定(預設)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5074920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6"/>
                </a:solidFill>
              </a:rPr>
              <a:t>匿名 GET /kafka/v3/clusters → 直接進入(本 demo 實測)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5074920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6"/>
                </a:solidFill>
              </a:rPr>
              <a:t>本 demo 的設定下曾使 broker OOM 崩潰(2 次)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5074920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6"/>
                </a:solidFill>
              </a:rPr>
              <a:t>只加固定 SCRAM 身分 → 人人變超級使用者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576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chemeClr val="accent6"/>
                </a:solidFill>
              </a:rPr>
              <a:t>與 MDS 共用 listener(demo 為 8091):不能用防火牆整個擋掉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440680" cy="324612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82512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chemeClr val="accent3"/>
                </a:solidFill>
              </a:rPr>
              <a:t>依官方 kafka.rest. 設定後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82512" y="2103120"/>
            <a:ext cx="507492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匿名 / 錯誤密碼 → 401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82512" y="2606040"/>
            <a:ext cx="507492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gary(AD 帳密)→ 列 topic、produce 成功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82512" y="3108960"/>
            <a:ext cx="507492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ming(無 role)→ 清單空、寫入被拒 40301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36576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官方:安全擴充 + 公鑰 + MDS 連線(成組設定)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本專案另需(實測):kafka.rest.bootstrap.servers 指向 CLIENT 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2"/>
                </a:solidFill>
              </a:rPr>
              <a:t>⚠ 被拒時 HTTP 狀態仍是 200,錯誤在內容裡:監控要看 error_code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實測:demo 第 14 章;屬性依官方 Admin REST security 頁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Audit log:誰被拒、誰改了授權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33172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454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24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1945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accent5"/>
                </a:solidFill>
              </a:rPr>
              <a:t>官方預設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060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→ confluent-audit-log-events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25112" y="1417320"/>
            <a:ext cx="3520440" cy="233172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11012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713" y="16751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98264" y="21945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accent3"/>
                </a:solidFill>
              </a:rPr>
              <a:t>自訂 router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416552" y="26060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加開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/ describe(依 topic 前綴)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排除 c3 等內部主體(降噪)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01584" y="1417320"/>
            <a:ext cx="3538728" cy="23317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96628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329" y="16751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74736" y="219456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accent6"/>
                </a:solidFill>
              </a:rPr>
              <a:t>查不到的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193024" y="2606040"/>
            <a:ext cx="3355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REST Proxy 的 actingPrincipal 為空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069080" y="2560320"/>
            <a:ext cx="256032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845552" y="2560320"/>
            <a:ext cx="256032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15"/>
          <p:cNvSpPr/>
          <p:nvPr/>
        </p:nvSpPr>
        <p:spPr>
          <a:xfrm>
            <a:off x="548640" y="4069080"/>
            <a:ext cx="548640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accent3"/>
                </a:solidFill>
              </a:rPr>
              <a:t>能看到:誰被拒(需自訂 router)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153912" y="4069080"/>
            <a:ext cx="548640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accent3"/>
                </a:solidFill>
              </a:rPr>
              <a:t>能看到:誰嘗試改授權(DENIED)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48640" y="461772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48640" y="516636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3800" b="1" dirty="0">
                <a:solidFill>
                  <a:schemeClr val="bg1"/>
                </a:solidFill>
              </a:rPr>
              <a:t>整合起來</a:t>
            </a:r>
            <a:endParaRPr lang="zh-TW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chemeClr val="bg2"/>
                </a:solidFill>
              </a:rPr>
              <a:t>全景 · 人與機器的完整路徑 · 要管理的憑證 · 導入步驟 · 風險</a:t>
            </a:r>
            <a:endParaRPr lang="zh-TW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全景整合圖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60320" cy="196596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630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60385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</a:rPr>
              <a:t>人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240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身分來自 AD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3566160"/>
            <a:ext cx="2560320" cy="201168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370332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384413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3703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chemeClr val="accent2"/>
                </a:solidFill>
              </a:rPr>
              <a:t>機器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4480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2"/>
                </a:solidFill>
              </a:rPr>
              <a:t>SCRAM 連 Kafka;憑證連 REST Proxy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611880" y="1325880"/>
            <a:ext cx="2331720" cy="4251960"/>
          </a:xfrm>
          <a:prstGeom prst="roundRect">
            <a:avLst>
              <a:gd name="adj" fmla="val 9000"/>
            </a:avLst>
          </a:prstGeom>
          <a:solidFill>
            <a:schemeClr val="accent4">
              <a:alpha val="12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611880" y="1389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4"/>
                </a:solidFill>
              </a:rPr>
              <a:t>入口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94760" y="1828800"/>
            <a:ext cx="1965960" cy="1143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人:Basic → token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794760" y="3154680"/>
            <a:ext cx="1965960" cy="1143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legacy app:憑證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794760" y="4480560"/>
            <a:ext cx="1965960" cy="96012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應用:SCRAM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017520" y="2468880"/>
            <a:ext cx="5943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3017520" y="4572000"/>
            <a:ext cx="59436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492240" y="1325880"/>
            <a:ext cx="3566160" cy="425196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675120" y="1389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3"/>
                </a:solidFill>
              </a:rPr>
              <a:t>Kafka 叢集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675120" y="1828800"/>
            <a:ext cx="1508760" cy="118872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5"/>
                </a:solidFill>
              </a:rPr>
              <a:t>+ MDS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8275320" y="1828800"/>
            <a:ext cx="1600200" cy="118872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5"/>
                </a:solidFill>
              </a:rPr>
              <a:t>+ MDS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675120" y="3246120"/>
            <a:ext cx="3200400" cy="73152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controller(正式 3 個)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675120" y="4206240"/>
            <a:ext cx="3200400" cy="1143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accent5"/>
                </a:solidFill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broker 本地 cache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943600" y="3429000"/>
            <a:ext cx="54864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10607040" y="1325880"/>
            <a:ext cx="1143000" cy="173736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0863072" y="14630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890" y="1603858"/>
            <a:ext cx="358445" cy="35844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0607040" y="22402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LDAP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10058400" y="2194560"/>
            <a:ext cx="5486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10607040" y="3383280"/>
            <a:ext cx="1143000" cy="219456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0863072" y="35204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890" y="3661258"/>
            <a:ext cx="358445" cy="35844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0607040" y="425196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chemeClr val="tx1">
                    <a:alpha val="62000"/>
                  </a:schemeClr>
                </a:solidFill>
              </a:rPr>
              <a:t>(C3 用)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57200" y="5806440"/>
            <a:ext cx="914400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人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1508760" y="5806440"/>
            <a:ext cx="155448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2"/>
                </a:solidFill>
              </a:rPr>
              <a:t>機器 / 服務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3200400" y="5806440"/>
            <a:ext cx="146304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叢集 / 平台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4800600" y="5806440"/>
            <a:ext cx="1463040" cy="384048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5"/>
                </a:solidFill>
              </a:rPr>
              <a:t>MDS / RBAC</a:t>
            </a:r>
            <a:endParaRPr lang="en-US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6583680" y="58064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chemeClr val="tx2"/>
                </a:solidFill>
              </a:rPr>
              <a:t>授權集中在 MDS 的 RBAC;人綁 AD 群組,服務綁 User: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人的完整路徑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85257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瀏覽器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0896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→ MDS(LDAP)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37760" y="207568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525780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(JWT 1 小時)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86600" y="207568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740664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連 broker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235440" y="207568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955548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(AD 群組)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92608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20040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" y="3361334"/>
            <a:ext cx="409651" cy="40965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554480" y="3246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broker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10896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帳密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937760" y="358444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Text 16"/>
          <p:cNvSpPr/>
          <p:nvPr/>
        </p:nvSpPr>
        <p:spPr>
          <a:xfrm>
            <a:off x="525780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驗證並取群組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086600" y="358444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Text 18"/>
          <p:cNvSpPr/>
          <p:nvPr/>
        </p:nvSpPr>
        <p:spPr>
          <a:xfrm>
            <a:off x="740664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(AD 群組)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235440" y="358444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Text 20"/>
          <p:cNvSpPr/>
          <p:nvPr/>
        </p:nvSpPr>
        <p:spPr>
          <a:xfrm>
            <a:off x="955548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audit 留痕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48640" y="443484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85800" y="470916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4870094"/>
            <a:ext cx="409651" cy="40965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55448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Postman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310896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Basic 帳密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937760" y="509320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Text 26"/>
          <p:cNvSpPr/>
          <p:nvPr/>
        </p:nvSpPr>
        <p:spPr>
          <a:xfrm>
            <a:off x="525780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MDS 驗證 → token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7086600" y="509320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3" name="Text 28"/>
          <p:cNvSpPr/>
          <p:nvPr/>
        </p:nvSpPr>
        <p:spPr>
          <a:xfrm>
            <a:off x="740664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連 broker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9235440" y="509320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5" name="Text 30"/>
          <p:cNvSpPr/>
          <p:nvPr/>
        </p:nvSpPr>
        <p:spPr>
          <a:xfrm>
            <a:off x="955548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(AD 群組)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三條路徑最後都由 RBAC 依「AD 群組」授權:人員異動只改 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機器的完整路徑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85257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SCRAM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0896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帳號密碼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37760" y="207568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525780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(帳密在 KRaft)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86600" y="207568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740664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User:svc-x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235440" y="207568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955548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audit 留痕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92608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20040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" y="3361334"/>
            <a:ext cx="409651" cy="40965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554480" y="3246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HTTP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10896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(CN = 主體)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937760" y="358444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Text 16"/>
          <p:cNvSpPr/>
          <p:nvPr/>
        </p:nvSpPr>
        <p:spPr>
          <a:xfrm>
            <a:off x="525780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→ /impersonate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086600" y="358444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Text 18"/>
          <p:cNvSpPr/>
          <p:nvPr/>
        </p:nvSpPr>
        <p:spPr>
          <a:xfrm>
            <a:off x="740664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OAUTHBEARER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235440" y="358444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Text 20"/>
          <p:cNvSpPr/>
          <p:nvPr/>
        </p:nvSpPr>
        <p:spPr>
          <a:xfrm>
            <a:off x="955548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User:app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48640" y="443484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85800" y="470916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4870094"/>
            <a:ext cx="409651" cy="40965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55448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C3 · REST Proxy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310896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(CN=c3 / restproxy)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937760" y="5093208"/>
            <a:ext cx="3200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1" name="Text 26"/>
          <p:cNvSpPr/>
          <p:nvPr/>
        </p:nvSpPr>
        <p:spPr>
          <a:xfrm>
            <a:off x="525780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MDS 換 token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7086600" y="5093208"/>
            <a:ext cx="3200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3" name="Text 28"/>
          <p:cNvSpPr/>
          <p:nvPr/>
        </p:nvSpPr>
        <p:spPr>
          <a:xfrm>
            <a:off x="740664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或專屬 role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9235440" y="5093208"/>
            <a:ext cx="3200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5" name="Text 30"/>
          <p:cNvSpPr/>
          <p:nvPr/>
        </p:nvSpPr>
        <p:spPr>
          <a:xfrm>
            <a:off x="955548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防被冒充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機器不進 AD:身分在 Kafka 內(SCRAM)或憑證(CN),RBAC 綁 User: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要管理的憑證與帳號</a:t>
            </a:r>
            <a:endParaRPr lang="zh-TW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9144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bg1"/>
                          </a:solidFill>
                        </a:rPr>
                        <a:t>項目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bg1"/>
                          </a:solidFill>
                        </a:rPr>
                        <a:t>數量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bg1"/>
                          </a:solidFill>
                        </a:rPr>
                        <a:t>存放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bg1"/>
                          </a:solidFill>
                        </a:rPr>
                        <a:t>輪替 / 備註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server 憑證(共用)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1 組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所有節點 secrets 目錄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SAN 涵蓋全部;逐台換;換 CA 時 truststore 先信任新舊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平台 client 憑證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3(c3 · restproxy · bootstrap)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對應主機;bootstrap 離線保管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RBAC 綁 CN,CN 不變則不用重綁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legacy app client 憑證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每個 app 1 張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app 主機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可省:若客戶能建一般 AD user,改 Basic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SCRAM 服務帳號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每個服務 1 個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KRaft 內;密碼放密碼庫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密碼不自動到期 → 輪替流程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AD 唯讀查詢帳號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broker 設定(權限 600)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只讀 user / group OU;建議 LDAPS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bootstrap SCRAM 帳號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KRaft 內;密碼封存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與 bootstrap 憑證同名的 super user;break-glass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AD 群組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人員異動只改 AD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85216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3"/>
                </a:solidFill>
              </a:rPr>
              <a:t>最少化:1 server 憑證 + 2 長期 client 憑證 + 1 備用(bootstrap)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導入步驟(RHEL 9 手動部署)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039" y="22338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憑證與 truststore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含 AD 的 LDAPS CA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40280" y="2743200"/>
            <a:ext cx="1828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42316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6324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97180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559" y="223387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49631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controller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251460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format + add-scram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114800" y="2743200"/>
            <a:ext cx="1828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29768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3776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84632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079" y="2233879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37083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broker + MDS + LDAP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438912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三個 listener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989320" y="2743200"/>
            <a:ext cx="1828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617220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81228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72084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599" y="2233879"/>
            <a:ext cx="332842" cy="33284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24535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第一批 role binding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626364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bootstrap → kafka-admins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863840" y="2743200"/>
            <a:ext cx="1828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804672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68680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859536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6119" y="2233879"/>
            <a:ext cx="332842" cy="33284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11987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REST Proxy · C3 · 監控</a:t>
            </a:r>
            <a:endParaRPr lang="en-US" sz="1250" dirty="0"/>
          </a:p>
        </p:txBody>
      </p:sp>
      <p:sp>
        <p:nvSpPr>
          <p:cNvPr id="36" name="Text 29"/>
          <p:cNvSpPr txBox="1"/>
          <p:nvPr/>
        </p:nvSpPr>
        <p:spPr>
          <a:xfrm>
            <a:off x="813816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Prometheus + Alertmanager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9738360" y="2743200"/>
            <a:ext cx="1828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992124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1056132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1046988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0639" y="2233879"/>
            <a:ext cx="332842" cy="332842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99439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audit 與驗證</a:t>
            </a:r>
            <a:endParaRPr lang="en-US" sz="1250" dirty="0"/>
          </a:p>
        </p:txBody>
      </p:sp>
      <p:sp>
        <p:nvSpPr>
          <p:cNvPr id="43" name="Text 35"/>
          <p:cNvSpPr txBox="1"/>
          <p:nvPr/>
        </p:nvSpPr>
        <p:spPr>
          <a:xfrm>
            <a:off x="1001268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路由 + 逐項驗證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548640" y="443484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順序錯誤需重新 format:controller 要在 broker 啟動前預建 SCRAM 憑證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548640" y="498348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風險與對策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591970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c3 憑證 = 管理員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21031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29077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3716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2272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914" y="159197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56632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restproxy 憑證可代人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62272" y="21031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462272" y="29077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對策:特權身分逐一以 User: 列入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01584" y="13716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38744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386" y="1591970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33104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共用 server 私鑰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38744" y="21031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發現:外洩 = 可偽裝伺服器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238744" y="29077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對策:權限 600;最小化存放;輪替計畫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38862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85800" y="39959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" y="4106570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80160" y="39959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SCRAM 密碼不到期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85800" y="46177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85800" y="54223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對策:密碼庫 + 輪替流程 + 提醒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325112" y="38862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462272" y="39959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914" y="4106570"/>
            <a:ext cx="281635" cy="28163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056632" y="39959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監控元件預設未認證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4462272" y="46177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4462272" y="54223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8101584" y="38862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238744" y="39959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9386" y="4106570"/>
            <a:ext cx="281635" cy="28163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833104" y="39959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audit 不是全記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8238744" y="46177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發現:部分拒絕查不到;c3 事件為降噪而排除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8238744" y="54223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對策:稽核需求另外盤點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風險與對策(續)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65176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591970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Postman cookie 優先於 Basic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2103120"/>
            <a:ext cx="3246120" cy="105156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3246120"/>
            <a:ext cx="3246120" cy="6400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371600"/>
            <a:ext cx="3520440" cy="265176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2272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914" y="159197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56632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移出群組後的延遲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62272" y="2103120"/>
            <a:ext cx="3246120" cy="105156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發現:移出 AD 群組後最長約 60 秒(預設刷新)才收回;已簽發 token 的剩餘壽命影響尚未實測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462272" y="3246120"/>
            <a:ext cx="3246120" cy="6400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對策:預留刷新時間;離職流程同時停用 AD 帳號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01584" y="1371600"/>
            <a:ext cx="3520440" cy="265176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38744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386" y="1591970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33104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多 controller 的機制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38744" y="2103120"/>
            <a:ext cx="3246120" cy="105156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發現:官方文件間寫法不一致;多 controller 間 SASL/PLAIN 本專案未實測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238744" y="3246120"/>
            <a:ext cx="3246120" cy="6400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對策:導入前以 3 個 controller 實測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48640" y="438912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這三項是這份方案目前最需要補驗證的地方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已驗證 vs 待驗證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402336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164957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chemeClr val="accent3"/>
                </a:solidFill>
              </a:rPr>
              <a:t>demo 已實跑驗證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317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AD 群組 RBAC:加入群組數秒生效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broker Admin REST 保護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audit 事件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99632" y="1371600"/>
            <a:ext cx="5440680" cy="402336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2512" y="150876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0" y="164957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59752" y="1554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chemeClr val="accent2"/>
                </a:solidFill>
              </a:rPr>
              <a:t>待驗證 / 待確認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28232" y="23317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多 controller(demo 只有 1 個)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controller 設定與官方的差異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562356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demo 使用 OpenLDAP 模擬 AD;商用功能(RBAC、audit、C3)需 license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導入前請客戶確認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118872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783080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25880" y="1709928"/>
            <a:ext cx="603504" cy="603504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651" y="1842699"/>
            <a:ext cx="337962" cy="3379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1554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AD 唯讀查詢帳號(bind DN)與 LDAPS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440680" cy="118872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1783080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949440" y="1709928"/>
            <a:ext cx="603504" cy="603504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211" y="1842699"/>
            <a:ext cx="337962" cy="3379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26680" y="1554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有無 AD CS(內部 CA)與根憑證散佈方式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2834640"/>
            <a:ext cx="5440680" cy="118872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5800" y="3200400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325880" y="3127248"/>
            <a:ext cx="603504" cy="603504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651" y="3260019"/>
            <a:ext cx="337962" cy="33796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103120" y="29718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能否建幾個一般 AD user 給 legacy app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172200" y="2834640"/>
            <a:ext cx="5440680" cy="118872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309360" y="3200400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5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949440" y="3127248"/>
            <a:ext cx="603504" cy="603504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211" y="3260019"/>
            <a:ext cx="337962" cy="33796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26680" y="29718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license 是否涵蓋 RBAC / audit / C3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48640" y="4251960"/>
            <a:ext cx="5440680" cy="118872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85800" y="4617720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1325880" y="4544568"/>
            <a:ext cx="603504" cy="603504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651" y="4677339"/>
            <a:ext cx="337962" cy="33796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103120" y="43891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AD 群組是否巢狀、帳號大小寫與命名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6172200" y="4251960"/>
            <a:ext cx="5440680" cy="118872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309360" y="4617720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6949440" y="4544568"/>
            <a:ext cx="603504" cy="603504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2211" y="4677339"/>
            <a:ext cx="337962" cy="33796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726680" y="43891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Java 版本(建議 21)與 Prometheus / Alertmanager 部署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548640" y="576072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3"/>
                </a:solidFill>
              </a:rPr>
              <a:t>第 3 項若可行:legacy app 走 Basic,不需要 client 憑證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下一步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20440" cy="219456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4540" y="17830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241" y="19037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4231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</a:rPr>
              <a:t>調整內容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346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依你的回饋修改這份草稿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69080" y="2743200"/>
            <a:ext cx="256032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325112" y="1645920"/>
            <a:ext cx="3520440" cy="219456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11012" y="17830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713" y="19037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98264" y="24231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2"/>
                </a:solidFill>
              </a:rPr>
              <a:t>套用公司模板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416552" y="28346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標題與顏色會跟著模板走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845552" y="2743200"/>
            <a:ext cx="256032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101584" y="1645920"/>
            <a:ext cx="3520440" cy="219456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587484" y="17830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185" y="190378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74736" y="24231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3"/>
                </a:solidFill>
              </a:rPr>
              <a:t>RHEL 實機驗證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193024" y="28346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補上目前未驗證的項目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429768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5"/>
                </a:solidFill>
              </a:rPr>
              <a:t>Demo 與 Word 手冊可作為每一步的實作與證據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luent Security Draft">
  <a:themeElements>
    <a:clrScheme name="Confluent Security Draft">
      <a:dk1>
        <a:srgbClr val="1A1A1A"/>
      </a:dk1>
      <a:lt1>
        <a:srgbClr val="FFFFFF"/>
      </a:lt1>
      <a:dk2>
        <a:srgbClr val="0E2841"/>
      </a:dk2>
      <a:lt2>
        <a:srgbClr val="F2F4F7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7A4EAB"/>
      </a:accent5>
      <a:accent6>
        <a:srgbClr val="B3261E"/>
      </a:accent6>
      <a:hlink>
        <a:srgbClr val="156082"/>
      </a:hlink>
      <a:folHlink>
        <a:srgbClr val="7A4EAB"/>
      </a:folHlink>
    </a:clrScheme>
    <a:fontScheme name="Confluent Security Draft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Confluent Platform 安全解決方案(草稿)</dc:title>
  <dc:subject>PptxGenJS Presentation</dc:subject>
  <dc:creator/>
  <cp:lastModifiedBy/>
  <cp:revision>1</cp:revision>
  <dcterms:created xsi:type="dcterms:W3CDTF">2026-10-03T14:59:34Z</dcterms:created>
  <dcterms:modified xsi:type="dcterms:W3CDTF">2026-10-03T14:59:34Z</dcterms:modified>
</cp:coreProperties>
</file>