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  <p:sldId r:id="rId50-created" id="287"/>
    <p:sldId r:id="rId51-created" id="288"/>
    <p:sldId r:id="rId52-created" id="28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Relationship Id="rId50-created" Type="http://schemas.openxmlformats.org/officeDocument/2006/relationships/slide" Target="slides/slide39.xml"/><Relationship Id="rId51-created" Type="http://schemas.openxmlformats.org/officeDocument/2006/relationships/slide" Target="slides/slide40.xml"/><Relationship Id="rId52-created" Type="http://schemas.openxmlformats.org/officeDocument/2006/relationships/slide" Target="slides/slide4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8-created" Type="http://schemas.openxmlformats.org/officeDocument/2006/relationships/image" Target="../media/media15.png"/><Relationship Id="rId9-created" Type="http://schemas.openxmlformats.org/officeDocument/2006/relationships/image" Target="../media/media16.png"/><Relationship Id="rId10-created" Type="http://schemas.openxmlformats.org/officeDocument/2006/relationships/image" Target="../media/media17.png"/><Relationship Id="rId11-created" Type="http://schemas.openxmlformats.org/officeDocument/2006/relationships/image" Target="../media/media18.png"/><Relationship Id="rId12-created" Type="http://schemas.openxmlformats.org/officeDocument/2006/relationships/image" Target="../media/media1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安全整合建議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依客戶前提的整體方案,與行內 CyberArk 的整合方式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客戶前提與本方案的對應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每一項前提都有一個明確的做法;細節在後面各章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f9a60dd9-066f-45fc-870e-a582b0347c9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客戶前提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本方案的做法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只有 user 與 group;使用者名稱 = CN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人用 AD 帳號登入,授權綁在 AD 群組;服務與平台元件不佔用 AD 帳號;身分名稱以 AD 記錄為準(登入不分大小寫)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憑證要少:共用一張 server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 server 憑證只做傳輸加密、不當身分;需要身分的元件各一張 client 憑證(C3、REST Proxy、初始化用的 bootstrap、經 REST Proxy 的應用系統)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RHEL 9 VM,手動安裝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設定檔 + systemd;維運選單(OP menu)放跳板機;不依賴自動化工具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有系統只能用 HTTP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Proxy;以 client 憑證為身分,REST Proxy 代為向 MDS 取 token,身分一路傳到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人只能唯讀,依 AD 群組分層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7 個 AD 群組對應角色;需要變更時臨時加入群組、做完移出,Kafka 端零變更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負載平衡用 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只放在 REST Proxy 前面,L4 透傳;REST Proxy 連 MDS 設多台即可,不需要 LB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 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當「秘密管理層」:人的特權存取、主機帳號輪替、應用程式取密碼;不改變身分與授權設計(第五章)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一、整體架構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元件、連線與四條身分路徑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整體架構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正式環境的元件與主要連線;內部埠只開給 broker 與 controller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919f22e-a982-4e02-9fab-bad55a4d5f10"/>
          <p:cNvSpPr/>
          <p:nvPr/>
        </p:nvSpPr>
        <p:spPr>
          <a:xfrm>
            <a:off x="548640" y="172747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c3554cd0-74d0-46bc-943b-61805bc4d8ad"/>
          <p:cNvSpPr/>
          <p:nvPr/>
        </p:nvSpPr>
        <p:spPr>
          <a:xfrm>
            <a:off x="12344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2e0c895e-cd15-4c76-a8d5-b48b073156d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355141" y="1966751"/>
            <a:ext cx="307238" cy="307238"/>
          </a:xfrm>
          <a:prstGeom prst="rect">
            <a:avLst/>
          </a:prstGeom>
        </p:spPr>
      </p:pic>
      <p:sp>
        <p:nvSpPr>
          <p:cNvPr id="5" name="52e87748-fd5b-4594-9c33-b803516fb026"/>
          <p:cNvSpPr/>
          <p:nvPr/>
        </p:nvSpPr>
        <p:spPr>
          <a:xfrm>
            <a:off x="621792" y="2448697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</a:t>
            </a:r>
            <a:endParaRPr lang="en-US" sz="1400" dirty="0"/>
          </a:p>
        </p:txBody>
      </p:sp>
      <p:sp>
        <p:nvSpPr>
          <p:cNvPr id="6" name="813e5ca2-f562-4296-b45a-e0a54bcd435a"/>
          <p:cNvSpPr/>
          <p:nvPr/>
        </p:nvSpPr>
        <p:spPr>
          <a:xfrm>
            <a:off x="640080" y="2830521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帳號;瀏覽器、工具、腳本</a:t>
            </a:r>
            <a:endParaRPr lang="en-US" sz="1050" dirty="0"/>
          </a:p>
        </p:txBody>
      </p:sp>
      <p:sp>
        <p:nvSpPr>
          <p:cNvPr id="7" name="891d1d7f-ae49-4f28-99cb-814f9c4011e8"/>
          <p:cNvSpPr/>
          <p:nvPr/>
        </p:nvSpPr>
        <p:spPr>
          <a:xfrm>
            <a:off x="548640" y="321234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ea71ed89-05a8-4aeb-8b36-5689a9f67560"/>
          <p:cNvSpPr/>
          <p:nvPr/>
        </p:nvSpPr>
        <p:spPr>
          <a:xfrm>
            <a:off x="1234440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39bfbd1e-cea0-4ef1-ac02-7450be9ac22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1355141" y="3451621"/>
            <a:ext cx="307238" cy="307238"/>
          </a:xfrm>
          <a:prstGeom prst="rect">
            <a:avLst/>
          </a:prstGeom>
        </p:spPr>
      </p:pic>
      <p:sp>
        <p:nvSpPr>
          <p:cNvPr id="10" name="79f77c0b-058b-4403-9596-1874ca1cca04"/>
          <p:cNvSpPr/>
          <p:nvPr/>
        </p:nvSpPr>
        <p:spPr>
          <a:xfrm>
            <a:off x="621792" y="3933568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應用系統</a:t>
            </a:r>
            <a:endParaRPr lang="en-US" sz="1400" dirty="0"/>
          </a:p>
        </p:txBody>
      </p:sp>
      <p:sp>
        <p:nvSpPr>
          <p:cNvPr id="11" name="460f02a1-48b3-4f39-a288-d88569adca64"/>
          <p:cNvSpPr/>
          <p:nvPr/>
        </p:nvSpPr>
        <p:spPr>
          <a:xfrm>
            <a:off x="640080" y="4315391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帳號或 client 憑證</a:t>
            </a:r>
            <a:endParaRPr lang="en-US" sz="1050" dirty="0"/>
          </a:p>
        </p:txBody>
      </p:sp>
      <p:sp>
        <p:nvSpPr>
          <p:cNvPr id="12" name="aaa57a9b-4800-4ecb-8871-c12eaee10450"/>
          <p:cNvSpPr/>
          <p:nvPr/>
        </p:nvSpPr>
        <p:spPr>
          <a:xfrm>
            <a:off x="548640" y="4697215"/>
            <a:ext cx="1920240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c82441b6-6f08-4bab-a8c4-aad4111c7c8c"/>
          <p:cNvSpPr/>
          <p:nvPr/>
        </p:nvSpPr>
        <p:spPr>
          <a:xfrm>
            <a:off x="1234440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3f96db69-705f-4b7e-bb4d-53db36ae344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355141" y="4936491"/>
            <a:ext cx="307238" cy="307238"/>
          </a:xfrm>
          <a:prstGeom prst="rect">
            <a:avLst/>
          </a:prstGeom>
        </p:spPr>
      </p:pic>
      <p:sp>
        <p:nvSpPr>
          <p:cNvPr id="15" name="76d84ad8-41d3-4ac5-85d3-acdcd2ba10c2"/>
          <p:cNvSpPr/>
          <p:nvPr/>
        </p:nvSpPr>
        <p:spPr>
          <a:xfrm>
            <a:off x="621792" y="5418438"/>
            <a:ext cx="17739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跳板機 + OP menu</a:t>
            </a:r>
            <a:endParaRPr lang="en-US" sz="1300" dirty="0"/>
          </a:p>
        </p:txBody>
      </p:sp>
      <p:sp>
        <p:nvSpPr>
          <p:cNvPr id="16" name="b96efed2-710c-4547-a4cc-3cc08fa225f9"/>
          <p:cNvSpPr/>
          <p:nvPr/>
        </p:nvSpPr>
        <p:spPr>
          <a:xfrm>
            <a:off x="640080" y="5800262"/>
            <a:ext cx="17373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本人 AD 身分</a:t>
            </a:r>
            <a:endParaRPr lang="en-US" sz="1050" dirty="0"/>
          </a:p>
        </p:txBody>
      </p:sp>
      <p:sp>
        <p:nvSpPr>
          <p:cNvPr id="17" name="73eb0318-c4b8-4ecf-910c-d303daece22e"/>
          <p:cNvSpPr/>
          <p:nvPr/>
        </p:nvSpPr>
        <p:spPr>
          <a:xfrm>
            <a:off x="3017520" y="172747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f394117c-3a64-43dc-9b19-efaf86b27a8e"/>
          <p:cNvSpPr/>
          <p:nvPr/>
        </p:nvSpPr>
        <p:spPr>
          <a:xfrm>
            <a:off x="37490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212f1735-ea85-4791-857c-6696443ca750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869741" y="1966751"/>
            <a:ext cx="307238" cy="307238"/>
          </a:xfrm>
          <a:prstGeom prst="rect">
            <a:avLst/>
          </a:prstGeom>
        </p:spPr>
      </p:pic>
      <p:sp>
        <p:nvSpPr>
          <p:cNvPr id="20" name="7a01f81d-36ca-412f-94ea-411291289049"/>
          <p:cNvSpPr/>
          <p:nvPr/>
        </p:nvSpPr>
        <p:spPr>
          <a:xfrm>
            <a:off x="3090672" y="2448697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21" name="25ae06fb-a357-43fb-93d5-fc3336f576b1"/>
          <p:cNvSpPr/>
          <p:nvPr/>
        </p:nvSpPr>
        <p:spPr>
          <a:xfrm>
            <a:off x="3108960" y="2830521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HTTPS;人用 AD,自身用憑證</a:t>
            </a:r>
            <a:endParaRPr lang="en-US" sz="1050" dirty="0"/>
          </a:p>
        </p:txBody>
      </p:sp>
      <p:sp>
        <p:nvSpPr>
          <p:cNvPr id="22" name="e36ff69d-f5df-4495-874d-73f905aecb3d"/>
          <p:cNvSpPr/>
          <p:nvPr/>
        </p:nvSpPr>
        <p:spPr>
          <a:xfrm>
            <a:off x="3017520" y="321234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3" name="0ac3bedb-cd76-4bd7-ae26-870c051facab"/>
          <p:cNvSpPr/>
          <p:nvPr/>
        </p:nvSpPr>
        <p:spPr>
          <a:xfrm>
            <a:off x="3749040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4" name="9760c81b-e098-4a9d-beca-278aca03786a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69741" y="3451621"/>
            <a:ext cx="307238" cy="307238"/>
          </a:xfrm>
          <a:prstGeom prst="rect">
            <a:avLst/>
          </a:prstGeom>
        </p:spPr>
      </p:pic>
      <p:sp>
        <p:nvSpPr>
          <p:cNvPr id="25" name="f50a0fbc-0984-4e8f-b496-d44a7aa4c686"/>
          <p:cNvSpPr/>
          <p:nvPr/>
        </p:nvSpPr>
        <p:spPr>
          <a:xfrm>
            <a:off x="3090672" y="3933568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F5 → REST Proxy</a:t>
            </a:r>
            <a:endParaRPr lang="en-US" sz="1400" dirty="0"/>
          </a:p>
        </p:txBody>
      </p:sp>
      <p:sp>
        <p:nvSpPr>
          <p:cNvPr id="26" name="65a6d3d0-5fd7-492c-ba58-738928d0b6ab"/>
          <p:cNvSpPr/>
          <p:nvPr/>
        </p:nvSpPr>
        <p:spPr>
          <a:xfrm>
            <a:off x="3108960" y="4315391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L4 透傳;帳密或 client 憑證</a:t>
            </a:r>
            <a:endParaRPr lang="en-US" sz="1050" dirty="0"/>
          </a:p>
        </p:txBody>
      </p:sp>
      <p:sp>
        <p:nvSpPr>
          <p:cNvPr id="27" name="e70132c0-fb3e-49b4-bdc4-9b803b5bedcf"/>
          <p:cNvSpPr/>
          <p:nvPr/>
        </p:nvSpPr>
        <p:spPr>
          <a:xfrm>
            <a:off x="3017520" y="4697215"/>
            <a:ext cx="2011680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2903bac6-6d06-45bd-9003-e87a875dc67d"/>
          <p:cNvSpPr/>
          <p:nvPr/>
        </p:nvSpPr>
        <p:spPr>
          <a:xfrm>
            <a:off x="3749040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9" name="6b43a473-eae3-4dce-8e3e-611728d34ade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3869741" y="4936491"/>
            <a:ext cx="307238" cy="307238"/>
          </a:xfrm>
          <a:prstGeom prst="rect">
            <a:avLst/>
          </a:prstGeom>
        </p:spPr>
      </p:pic>
      <p:sp>
        <p:nvSpPr>
          <p:cNvPr id="30" name="9109f73d-ad9a-4809-8ffe-9e0ed0b2b762"/>
          <p:cNvSpPr/>
          <p:nvPr/>
        </p:nvSpPr>
        <p:spPr>
          <a:xfrm>
            <a:off x="3090672" y="5418438"/>
            <a:ext cx="18653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</a:t>
            </a:r>
            <a:endParaRPr lang="en-US" sz="1400" dirty="0"/>
          </a:p>
        </p:txBody>
      </p:sp>
      <p:sp>
        <p:nvSpPr>
          <p:cNvPr id="31" name="bf912566-0b61-4825-8d47-bc181a691c94"/>
          <p:cNvSpPr/>
          <p:nvPr/>
        </p:nvSpPr>
        <p:spPr>
          <a:xfrm>
            <a:off x="3108960" y="5800262"/>
            <a:ext cx="182880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+ 帳密</a:t>
            </a:r>
            <a:endParaRPr lang="en-US" sz="1050" dirty="0"/>
          </a:p>
        </p:txBody>
      </p:sp>
      <p:sp>
        <p:nvSpPr>
          <p:cNvPr id="32" name="ce5a212d-823a-49c1-8cc8-55b4e9909c38"/>
          <p:cNvSpPr/>
          <p:nvPr/>
        </p:nvSpPr>
        <p:spPr>
          <a:xfrm>
            <a:off x="5669280" y="1727475"/>
            <a:ext cx="3657600" cy="441218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dd91e7a4-16c1-4bc5-8003-41fda7123e51"/>
          <p:cNvSpPr/>
          <p:nvPr/>
        </p:nvSpPr>
        <p:spPr>
          <a:xfrm>
            <a:off x="5760720" y="1769899"/>
            <a:ext cx="3474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34" name="83cac363-898b-4a30-b63e-e80fd37aa90a"/>
          <p:cNvSpPr/>
          <p:nvPr/>
        </p:nvSpPr>
        <p:spPr>
          <a:xfrm>
            <a:off x="5852160" y="2151723"/>
            <a:ext cx="3291840" cy="1357596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5" name="cff6a795-8fb7-4dd8-8b32-afafd555af25"/>
          <p:cNvSpPr/>
          <p:nvPr/>
        </p:nvSpPr>
        <p:spPr>
          <a:xfrm>
            <a:off x="7223760" y="227899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6" name="5a276845-3197-407c-a250-2b6ac7551867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7344461" y="2390999"/>
            <a:ext cx="307238" cy="307238"/>
          </a:xfrm>
          <a:prstGeom prst="rect">
            <a:avLst/>
          </a:prstGeom>
        </p:spPr>
      </p:pic>
      <p:sp>
        <p:nvSpPr>
          <p:cNvPr id="37" name="690b7c95-6ca4-4a71-af65-cc1c5e666b0e"/>
          <p:cNvSpPr/>
          <p:nvPr/>
        </p:nvSpPr>
        <p:spPr>
          <a:xfrm>
            <a:off x="5925312" y="2872946"/>
            <a:ext cx="31455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×N(內建 MDS)</a:t>
            </a:r>
            <a:endParaRPr lang="en-US" sz="1300" dirty="0"/>
          </a:p>
        </p:txBody>
      </p:sp>
      <p:sp>
        <p:nvSpPr>
          <p:cNvPr id="38" name="a59758ac-d1e2-4260-a498-5e0ba5d0c213"/>
          <p:cNvSpPr/>
          <p:nvPr/>
        </p:nvSpPr>
        <p:spPr>
          <a:xfrm>
            <a:off x="5943600" y="3254770"/>
            <a:ext cx="31089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對外埠:AD 帳密、SCRAM、token</a:t>
            </a:r>
            <a:endParaRPr lang="en-US" sz="1050" dirty="0"/>
          </a:p>
        </p:txBody>
      </p:sp>
      <p:sp>
        <p:nvSpPr>
          <p:cNvPr id="39" name="89ac7a82-6b02-499e-b569-17057afc3677"/>
          <p:cNvSpPr/>
          <p:nvPr/>
        </p:nvSpPr>
        <p:spPr>
          <a:xfrm>
            <a:off x="5852160" y="3636594"/>
            <a:ext cx="3291840" cy="1357596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0" name="aaa7f13e-5beb-4246-b75a-214b428318a7"/>
          <p:cNvSpPr/>
          <p:nvPr/>
        </p:nvSpPr>
        <p:spPr>
          <a:xfrm>
            <a:off x="7223760" y="37638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1" name="3aaa04d9-98b8-4695-a58b-d015e6e1c647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344461" y="3875870"/>
            <a:ext cx="307238" cy="307238"/>
          </a:xfrm>
          <a:prstGeom prst="rect">
            <a:avLst/>
          </a:prstGeom>
        </p:spPr>
      </p:pic>
      <p:sp>
        <p:nvSpPr>
          <p:cNvPr id="42" name="70b6fe94-3621-4063-8414-8165a3154f0f"/>
          <p:cNvSpPr/>
          <p:nvPr/>
        </p:nvSpPr>
        <p:spPr>
          <a:xfrm>
            <a:off x="5925312" y="4357816"/>
            <a:ext cx="31455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×3</a:t>
            </a:r>
            <a:endParaRPr lang="en-US" sz="1300" dirty="0"/>
          </a:p>
        </p:txBody>
      </p:sp>
      <p:sp>
        <p:nvSpPr>
          <p:cNvPr id="43" name="7c5098ad-074e-4819-8122-8ae53904d880"/>
          <p:cNvSpPr/>
          <p:nvPr/>
        </p:nvSpPr>
        <p:spPr>
          <a:xfrm>
            <a:off x="5943600" y="4739640"/>
            <a:ext cx="310896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內部憑證(mTLS);只接 broker</a:t>
            </a:r>
            <a:endParaRPr lang="en-US" sz="1050" dirty="0"/>
          </a:p>
        </p:txBody>
      </p:sp>
      <p:sp>
        <p:nvSpPr>
          <p:cNvPr id="44" name="5d476b31-a7a0-4581-9cd7-a7c3b9513389"/>
          <p:cNvSpPr/>
          <p:nvPr/>
        </p:nvSpPr>
        <p:spPr>
          <a:xfrm>
            <a:off x="5852160" y="5079039"/>
            <a:ext cx="3291840" cy="97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內部連線:mTLS,broker 與 controller 共用一張內部憑證(身分是 super user);MDS 負責驗證、授權、簽 token</a:t>
            </a:r>
            <a:endParaRPr lang="en-US" sz="1050" dirty="0"/>
          </a:p>
        </p:txBody>
      </p:sp>
      <p:sp>
        <p:nvSpPr>
          <p:cNvPr id="45" name="0b2f2aef-9d52-426e-b512-9463d2552cfd"/>
          <p:cNvSpPr/>
          <p:nvPr/>
        </p:nvSpPr>
        <p:spPr>
          <a:xfrm>
            <a:off x="9692640" y="172747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46" name="eb0470bb-42f4-4d55-bcc6-a24d95ac6f75"/>
          <p:cNvSpPr/>
          <p:nvPr/>
        </p:nvSpPr>
        <p:spPr>
          <a:xfrm>
            <a:off x="10392156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7" name="77f41635-9b7f-4e88-b116-4ba24f4239cb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10512857" y="1966751"/>
            <a:ext cx="307238" cy="307238"/>
          </a:xfrm>
          <a:prstGeom prst="rect">
            <a:avLst/>
          </a:prstGeom>
        </p:spPr>
      </p:pic>
      <p:sp>
        <p:nvSpPr>
          <p:cNvPr id="48" name="43325e89-49cf-47f0-9ecc-097fbbe7d8da"/>
          <p:cNvSpPr/>
          <p:nvPr/>
        </p:nvSpPr>
        <p:spPr>
          <a:xfrm>
            <a:off x="9765792" y="2448697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</p:txBody>
      </p:sp>
      <p:sp>
        <p:nvSpPr>
          <p:cNvPr id="49" name="76bfeba9-abe1-45f2-a172-50a55bcebd91"/>
          <p:cNvSpPr/>
          <p:nvPr/>
        </p:nvSpPr>
        <p:spPr>
          <a:xfrm>
            <a:off x="9784080" y="2830521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使用者與群組;加密連線</a:t>
            </a:r>
            <a:endParaRPr lang="en-US" sz="1050" dirty="0"/>
          </a:p>
        </p:txBody>
      </p:sp>
      <p:sp>
        <p:nvSpPr>
          <p:cNvPr id="50" name="bba2cb82-252b-4000-8479-23fb8d8fd980"/>
          <p:cNvSpPr/>
          <p:nvPr/>
        </p:nvSpPr>
        <p:spPr>
          <a:xfrm>
            <a:off x="9692640" y="321234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51" name="8c04d2cf-c2c4-4d8a-b40f-f21ac9a39a39"/>
          <p:cNvSpPr/>
          <p:nvPr/>
        </p:nvSpPr>
        <p:spPr>
          <a:xfrm>
            <a:off x="10392156" y="333961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52" name="2591d13d-e975-45d4-8912-f6082616c3b7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10512857" y="3451621"/>
            <a:ext cx="307238" cy="307238"/>
          </a:xfrm>
          <a:prstGeom prst="rect">
            <a:avLst/>
          </a:prstGeom>
        </p:spPr>
      </p:pic>
      <p:sp>
        <p:nvSpPr>
          <p:cNvPr id="53" name="61b2fc6a-00e6-49b5-9231-c4cf7ec18ab9"/>
          <p:cNvSpPr/>
          <p:nvPr/>
        </p:nvSpPr>
        <p:spPr>
          <a:xfrm>
            <a:off x="9765792" y="3933568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</a:t>
            </a:r>
            <a:endParaRPr lang="en-US" sz="1400" dirty="0"/>
          </a:p>
        </p:txBody>
      </p:sp>
      <p:sp>
        <p:nvSpPr>
          <p:cNvPr id="54" name="c4b3306f-bf51-4303-b114-357b5ca89efa"/>
          <p:cNvSpPr/>
          <p:nvPr/>
        </p:nvSpPr>
        <p:spPr>
          <a:xfrm>
            <a:off x="9784080" y="4315391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PSM、CPM、CCP</a:t>
            </a:r>
            <a:endParaRPr lang="en-US" sz="1050" dirty="0"/>
          </a:p>
        </p:txBody>
      </p:sp>
      <p:sp>
        <p:nvSpPr>
          <p:cNvPr id="55" name="31fb1a54-c58d-49ba-9773-9e6fb476980f"/>
          <p:cNvSpPr/>
          <p:nvPr/>
        </p:nvSpPr>
        <p:spPr>
          <a:xfrm>
            <a:off x="9692640" y="4697215"/>
            <a:ext cx="1947672" cy="1357596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56" name="90ab69cc-1a57-4b89-8c00-f88d3644a012"/>
          <p:cNvSpPr/>
          <p:nvPr/>
        </p:nvSpPr>
        <p:spPr>
          <a:xfrm>
            <a:off x="10392156" y="4824490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57" name="6d128ce6-e9e3-4747-97e9-dd607fc53eb8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10512857" y="4936491"/>
            <a:ext cx="307238" cy="307238"/>
          </a:xfrm>
          <a:prstGeom prst="rect">
            <a:avLst/>
          </a:prstGeom>
        </p:spPr>
      </p:pic>
      <p:sp>
        <p:nvSpPr>
          <p:cNvPr id="58" name="0efd785f-8739-4668-95c4-7342dac52ddc"/>
          <p:cNvSpPr/>
          <p:nvPr/>
        </p:nvSpPr>
        <p:spPr>
          <a:xfrm>
            <a:off x="9765792" y="5418438"/>
            <a:ext cx="1801368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</a:t>
            </a:r>
            <a:endParaRPr lang="en-US" sz="1400" dirty="0"/>
          </a:p>
        </p:txBody>
      </p:sp>
      <p:sp>
        <p:nvSpPr>
          <p:cNvPr id="59" name="de4b3ed0-db65-4802-b35f-4d9a410553ff"/>
          <p:cNvSpPr/>
          <p:nvPr/>
        </p:nvSpPr>
        <p:spPr>
          <a:xfrm>
            <a:off x="9784080" y="5800262"/>
            <a:ext cx="1764792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內部埠只開給叢集</a:t>
            </a:r>
            <a:endParaRPr lang="en-US" sz="1050" dirty="0"/>
          </a:p>
        </p:txBody>
      </p:sp>
      <p:sp>
        <p:nvSpPr>
          <p:cNvPr id="60" name="54dd65f7-6487-4efd-93ec-e9cf6d746af5"/>
          <p:cNvSpPr/>
          <p:nvPr/>
        </p:nvSpPr>
        <p:spPr>
          <a:xfrm>
            <a:off x="2468880" y="2406272"/>
            <a:ext cx="54864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61" name="2a89a994-c1bb-4b97-931b-ad0c74446b92"/>
          <p:cNvSpPr/>
          <p:nvPr/>
        </p:nvSpPr>
        <p:spPr>
          <a:xfrm>
            <a:off x="2468880" y="3891143"/>
            <a:ext cx="54864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62" name="942e4338-6ebe-4d04-a5b7-fd2769004a41"/>
          <p:cNvSpPr/>
          <p:nvPr/>
        </p:nvSpPr>
        <p:spPr>
          <a:xfrm>
            <a:off x="5029200" y="2406272"/>
            <a:ext cx="640080" cy="212124"/>
          </a:xfrm>
          <a:prstGeom prst="line">
            <a:avLst/>
          </a:prstGeom>
          <a:noFill/>
          <a:ln w="2857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63" name="7863541d-4c3f-4da3-bb5c-09a2bf5ddcf8"/>
          <p:cNvSpPr/>
          <p:nvPr/>
        </p:nvSpPr>
        <p:spPr>
          <a:xfrm flipV="1">
            <a:off x="5029200" y="3212345"/>
            <a:ext cx="640080" cy="678798"/>
          </a:xfrm>
          <a:prstGeom prst="line">
            <a:avLst/>
          </a:prstGeom>
          <a:noFill/>
          <a:ln w="2857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64" name="f085a5a5-9e31-47f0-b237-16cde57d9164"/>
          <p:cNvSpPr/>
          <p:nvPr/>
        </p:nvSpPr>
        <p:spPr>
          <a:xfrm flipV="1">
            <a:off x="9235440" y="2406272"/>
            <a:ext cx="457200" cy="296974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65" name="0d7d975c-a0dc-4e42-9d55-85a7fb0289b8"/>
          <p:cNvSpPr/>
          <p:nvPr/>
        </p:nvSpPr>
        <p:spPr>
          <a:xfrm flipH="1">
            <a:off x="9235440" y="3891143"/>
            <a:ext cx="457200" cy="0"/>
          </a:xfrm>
          <a:prstGeom prst="line">
            <a:avLst/>
          </a:prstGeom>
          <a:noFill/>
          <a:ln w="28575">
            <a:solidFill>
              <a:srgbClr val="B3261E"/>
            </a:solidFill>
            <a:prstDash val="dash"/>
            <a:tailEnd type="triangle"/>
          </a:ln>
        </p:spPr>
      </p:sp>
      <p:sp>
        <p:nvSpPr>
          <p:cNvPr id="66" name="b8f18647-4898-4cf9-ae1c-0c9da9db893a"/>
          <p:cNvSpPr/>
          <p:nvPr/>
        </p:nvSpPr>
        <p:spPr>
          <a:xfrm>
            <a:off x="2468880" y="5376013"/>
            <a:ext cx="3200400" cy="42425"/>
          </a:xfrm>
          <a:prstGeom prst="line">
            <a:avLst/>
          </a:prstGeom>
          <a:noFill/>
          <a:ln w="28575">
            <a:solidFill>
              <a:srgbClr val="156082"/>
            </a:solidFill>
            <a:prstDash val="dash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四條身分路徑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誰用什麼身分進來;最後都由 broker 的 RBAC 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f245f35b-83a9-4825-8249-ea1c34e720e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200400"/>
                <a:gridCol w="31363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密碼或憑證放哪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 → MDS 向 AD 驗證 → 簽發 1 小時 token;C3 與 REST Proxy 以本人身分連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 AD 群組;依「現在」的群組判斷,異動立即生效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AD;不經 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服務(直連)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內建 SCRAM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角色綁在帳號上;只開放自己的 topic 與 consumer group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 + 應用端;密碼由 CyberArk 保管與取用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憑證(C3、REST Proxy、bootstrap)向 MDS 換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必須是 SystemAdmin(官方要求);REST Proxy 可代為申請,受保護清單擋特權身分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各主機 0600;私鑰可由 CyberArk 保管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 HTTP 的系統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憑證經 REST Proxy,代為向 MDS 取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角色綁在憑證的名稱上;broker 看到的是該系統,不是 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應用端;私鑰可由 CyberArk 保管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6da3390b-a8ff-4f00-8c08-7f8d4fc08247"/>
          <p:cNvSpPr/>
          <p:nvPr/>
        </p:nvSpPr>
        <p:spPr>
          <a:xfrm>
            <a:off x="548640" y="567298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server 憑證只做傳輸加密;把它當身分會讓所有持有者變成同一個人(實測),所以不綁任何角色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二、人與授權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AD 帳號、7 個群組、唯讀與臨時提權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人:AD 帳號登入,授權跟著群組走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帳號與群組都在 AD;人員異動只改 AD,Kafka 端不用改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99008cc3-4d70-41af-a90b-eaf412493df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Proxy、工具、OP menu 都用 AD 帳密;登入大小寫不分,系統內的身分名稱以 AD 記錄的 CN 為準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 AD 群組;加入群組約數秒生效(MDS 定期重讀群組);移出群組後已發出的 token 立刻失去權限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離職與調動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只改 AD;帳號停用前,已發出的 token 在到期前仍能通過認證但沒有任何權限,所以離職要同時停用 AD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角色綁定的主體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群組用 Group:名稱;個人與憑證用 User:名稱,區分大小寫,要寫 AD 記錄的寫法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唯讀原則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正式環境人只有讀取權;建 topic、改授權、看叢集狀態分給三個維運群組,臨時加入、做完移出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fd7b4eb3-8861-4779-b242-f7dd987143fc"/>
          <p:cNvSpPr/>
          <p:nvPr/>
        </p:nvSpPr>
        <p:spPr>
          <a:xfrm>
            <a:off x="548640" y="558813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 AD 密碼不經 CyberArk;CyberArk 管的是「主機登入」與「機器密碼」(第五章)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群組與角色(7 組)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高權限群組平常是空的;每個群組指定負責人,定期覆核成員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aeaafab7-bc51-48b7-82ba-a1e2d9d85c6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908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對應的角色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實際能做什麼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DeveloperRead(該系統的 topic)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topic、讀資料;正式環境人的日常權限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看叢集狀態;建不了 topic、讀不到資料、改不了授權,連 topic 細節也看不到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ResourceOwner(Topic、Group)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 與 consumer group,讀得到資料,並能在自己範圍內改授權 → 強角色,只臨時加入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kafka-cluster-admin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叢集設定、建立應用系統的 SCRAM 帳號;不能讀寫資料、不能改授權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只管授權(指派、移除角色),不能建 topic、不能讀資料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SecurityAdmin、AuditAdmin、audit 紀錄的讀取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檢視授權設定、audit 設定與紀錄;不能改授權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66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全部權限;平常沒有人,緊急時經核准臨時加入,事後移出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e5b714c5-c0f6-44b1-9f5a-83af9b21c539"/>
          <p:cNvSpPr/>
          <p:nvPr/>
        </p:nvSpPr>
        <p:spPr>
          <a:xfrm>
            <a:off x="548640" y="5715412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「能做什麼」是實測結果,不是推論;topic-admin 比直覺強,所以列為臨時角色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人只能唯讀:臨時提權與收回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需要變更時的流程;全程只動 AD,Kafka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70feace-a054-42bd-853a-c706742890dc"/>
          <p:cNvSpPr/>
          <p:nvPr/>
        </p:nvSpPr>
        <p:spPr>
          <a:xfrm>
            <a:off x="548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44cfbc6e-e6b4-4254-aa9d-e20aad8ae85c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b01b36c4-7cda-4426-9c58-71db93fc6162"/>
          <p:cNvSpPr/>
          <p:nvPr/>
        </p:nvSpPr>
        <p:spPr>
          <a:xfrm>
            <a:off x="640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申請</a:t>
            </a:r>
            <a:endParaRPr lang="en-US" sz="1400" dirty="0"/>
          </a:p>
        </p:txBody>
      </p:sp>
      <p:sp>
        <p:nvSpPr>
          <p:cNvPr id="5" name="34537c65-69ba-49d8-95d7-e33436f91fd9"/>
          <p:cNvSpPr/>
          <p:nvPr/>
        </p:nvSpPr>
        <p:spPr>
          <a:xfrm>
            <a:off x="640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依現行核准方式提出;指定群組與時限</a:t>
            </a:r>
            <a:endParaRPr lang="en-US" sz="1100" dirty="0"/>
          </a:p>
        </p:txBody>
      </p:sp>
      <p:sp>
        <p:nvSpPr>
          <p:cNvPr id="6" name="b50045ec-a6c8-4682-b37b-585aa422ee43"/>
          <p:cNvSpPr/>
          <p:nvPr/>
        </p:nvSpPr>
        <p:spPr>
          <a:xfrm>
            <a:off x="2834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d3019869-cfcc-4bc9-b9e1-8c5faf9a9660"/>
          <p:cNvSpPr/>
          <p:nvPr/>
        </p:nvSpPr>
        <p:spPr>
          <a:xfrm>
            <a:off x="2944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a3691493-e577-443d-a3fd-a32fac4fb8ee"/>
          <p:cNvSpPr/>
          <p:nvPr/>
        </p:nvSpPr>
        <p:spPr>
          <a:xfrm>
            <a:off x="2926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加入 AD 群組</a:t>
            </a:r>
            <a:endParaRPr lang="en-US" sz="1400" dirty="0"/>
          </a:p>
        </p:txBody>
      </p:sp>
      <p:sp>
        <p:nvSpPr>
          <p:cNvPr id="9" name="5d4327f3-f20a-48c6-bb4e-233e81f36d50"/>
          <p:cNvSpPr/>
          <p:nvPr/>
        </p:nvSpPr>
        <p:spPr>
          <a:xfrm>
            <a:off x="2926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管理員把人加進 kafka-topic-admin 等群組</a:t>
            </a:r>
            <a:endParaRPr lang="en-US" sz="1100" dirty="0"/>
          </a:p>
        </p:txBody>
      </p:sp>
      <p:sp>
        <p:nvSpPr>
          <p:cNvPr id="10" name="3ed11917-5440-4611-b0b0-6e63339954bf"/>
          <p:cNvSpPr/>
          <p:nvPr/>
        </p:nvSpPr>
        <p:spPr>
          <a:xfrm>
            <a:off x="5120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c937f8fe-eb47-4479-8f95-a0c9cc2925a9"/>
          <p:cNvSpPr/>
          <p:nvPr/>
        </p:nvSpPr>
        <p:spPr>
          <a:xfrm>
            <a:off x="5230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9dea2a9d-5fc9-4852-bc7c-fd73ba1ca0aa"/>
          <p:cNvSpPr/>
          <p:nvPr/>
        </p:nvSpPr>
        <p:spPr>
          <a:xfrm>
            <a:off x="5212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數秒內生效</a:t>
            </a:r>
            <a:endParaRPr lang="en-US" sz="1400" dirty="0"/>
          </a:p>
        </p:txBody>
      </p:sp>
      <p:sp>
        <p:nvSpPr>
          <p:cNvPr id="13" name="fbbc4509-2c0e-4950-90c3-847b00a6c81a"/>
          <p:cNvSpPr/>
          <p:nvPr/>
        </p:nvSpPr>
        <p:spPr>
          <a:xfrm>
            <a:off x="5212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定期重讀群組;本人用同一個帳號操作</a:t>
            </a:r>
            <a:endParaRPr lang="en-US" sz="1100" dirty="0"/>
          </a:p>
        </p:txBody>
      </p:sp>
      <p:sp>
        <p:nvSpPr>
          <p:cNvPr id="14" name="a5d3c96e-c52e-4b87-94ff-3d788b7f5d3b"/>
          <p:cNvSpPr/>
          <p:nvPr/>
        </p:nvSpPr>
        <p:spPr>
          <a:xfrm>
            <a:off x="7406640" y="1769899"/>
            <a:ext cx="2103120" cy="19515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fd2a6347-aa21-4efa-9295-c9d3715cffb8"/>
          <p:cNvSpPr/>
          <p:nvPr/>
        </p:nvSpPr>
        <p:spPr>
          <a:xfrm>
            <a:off x="7516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5e954477-fbc1-45c2-8a2f-dbe624b36818"/>
          <p:cNvSpPr/>
          <p:nvPr/>
        </p:nvSpPr>
        <p:spPr>
          <a:xfrm>
            <a:off x="7498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做完移出</a:t>
            </a:r>
            <a:endParaRPr lang="en-US" sz="1400" dirty="0"/>
          </a:p>
        </p:txBody>
      </p:sp>
      <p:sp>
        <p:nvSpPr>
          <p:cNvPr id="17" name="56f595c1-449c-42d9-b526-76432ecd6350"/>
          <p:cNvSpPr/>
          <p:nvPr/>
        </p:nvSpPr>
        <p:spPr>
          <a:xfrm>
            <a:off x="7498080" y="2745671"/>
            <a:ext cx="192024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時限到或工作完成即移出;已發出的 token 立刻失去權限</a:t>
            </a:r>
            <a:endParaRPr lang="en-US" sz="1100" dirty="0"/>
          </a:p>
        </p:txBody>
      </p:sp>
      <p:sp>
        <p:nvSpPr>
          <p:cNvPr id="18" name="9d4cb12d-5073-4e71-a578-20fb468f547d"/>
          <p:cNvSpPr/>
          <p:nvPr/>
        </p:nvSpPr>
        <p:spPr>
          <a:xfrm>
            <a:off x="9692640" y="1769899"/>
            <a:ext cx="1947672" cy="19515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9" name="1a5f3eba-ba6b-4fdd-8509-8e11498077ed"/>
          <p:cNvSpPr/>
          <p:nvPr/>
        </p:nvSpPr>
        <p:spPr>
          <a:xfrm>
            <a:off x="9802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742b68f1-8484-4f9e-ad06-a5e0613b17de"/>
          <p:cNvSpPr/>
          <p:nvPr/>
        </p:nvSpPr>
        <p:spPr>
          <a:xfrm>
            <a:off x="9784080" y="2295968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事後可查</a:t>
            </a:r>
            <a:endParaRPr lang="en-US" sz="1400" dirty="0"/>
          </a:p>
        </p:txBody>
      </p:sp>
      <p:sp>
        <p:nvSpPr>
          <p:cNvPr id="21" name="a833b652-e5f3-474a-bb2c-c5b9995673e2"/>
          <p:cNvSpPr/>
          <p:nvPr/>
        </p:nvSpPr>
        <p:spPr>
          <a:xfrm>
            <a:off x="9784080" y="2745671"/>
            <a:ext cx="1764792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紀錄:誰、什麼時候、對什麼做了什麼、結果</a:t>
            </a:r>
            <a:endParaRPr lang="en-US" sz="1100" dirty="0"/>
          </a:p>
        </p:txBody>
      </p:sp>
      <p:sp>
        <p:nvSpPr>
          <p:cNvPr id="22" name="6d27ad3c-c5b1-45f9-bdd6-9e41b893573f"/>
          <p:cNvSpPr/>
          <p:nvPr/>
        </p:nvSpPr>
        <p:spPr>
          <a:xfrm>
            <a:off x="2651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371d5691-ea4f-4732-9ef1-f5e4d0e08f01"/>
          <p:cNvSpPr/>
          <p:nvPr/>
        </p:nvSpPr>
        <p:spPr>
          <a:xfrm>
            <a:off x="4937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011e1cb7-7425-48d1-b87d-0da9f75efbb9"/>
          <p:cNvSpPr/>
          <p:nvPr/>
        </p:nvSpPr>
        <p:spPr>
          <a:xfrm>
            <a:off x="7223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f287c277-bf24-497a-9ac5-cac555389618"/>
          <p:cNvSpPr/>
          <p:nvPr/>
        </p:nvSpPr>
        <p:spPr>
          <a:xfrm>
            <a:off x="9509760" y="274567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graphicFrame>
        <p:nvGraphicFramePr>
          <p:cNvPr id="7" name="288907cf-354c-44d0-a79f-6e4ea82cb0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0842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3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加入哪個群組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看叢集健康、分割區狀態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kafka-ops(看得到、改不了)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topic、重設 consumer 讀取位置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kafka-topic-admin(強角色,做完立刻移出)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新系統上線要授權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kafka-rbac-admin(只管授權)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建立應用系統帳號、叢集設定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kafka-cluster-admin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三、應用系統、平台元件與線路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SCRAM、client 憑證、F5、傳輸加密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應用系統:兩種連線方式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能用 Kafka 用戶端的直連;只能 HTTP 的經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94340dbf-34f9-4d73-811a-93c3fe57b0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帳號(Kafka 內建,不佔 AD)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憑證;REST Proxy 以自己的憑證向 MDS 代為申請該系統的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角色綁在帳號上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角色綁在憑證的名稱上;broker 與 audit 看到的是該系統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最小權限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只開放自己的 topic 與 consumer group;碰別的 topic 被拒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上線流程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建帳號 → 綁角色 → 密碼交付(建議經 CyberArk)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簽憑證 → 綁角色 → 私鑰交付(建議經 CyberArk)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密碼或憑證更換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新帳號並行 → 應用切換 → 停舊,不中斷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憑證到期前換發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必要的保護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密碼不落地:啟動時從 CyberArk 取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受保護清單:管理員與平台身分不可被代為申請;清單區分大小寫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345fe892-03b7-47a1-a452-a927b589cd56"/>
          <p:cNvSpPr/>
          <p:nvPr/>
        </p:nvSpPr>
        <p:spPr>
          <a:xfrm>
            <a:off x="548640" y="567298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的憑證可以代任何不在受保護清單的身分,所以清單要列入所有特權身分,寫法要與 AD 記錄一致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平台元件與憑證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憑證總數:一張共用 server 憑證 + 一張內部憑證 + 各元件一張 client 憑證 + 經 REST Proxy 的系統各一張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2e6512f3-7ef6-4402-838c-675100fbaee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2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要注意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憑證(1 張)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所有元件的 TLS 加密;名稱要涵蓋所有主機與 F5 的名稱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只做加密、不當身分、不綁任何角色;不要收斂憑證用途(C3 內部會出示它)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自身向 MDS 認證;該身分必須是 SystemAdmin(官方要求)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拿到私鑰等於管理員:檔案權限、不入版本庫、列入受保護清單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代應用系統向 MDS 申請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同上;受保護清單擋特權身分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內部憑證(1 張,broker 與 controller 共用)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內部埠與 controller 埠的 mTLS;身分是 super user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拿到私鑰等於叢集管理員:每台 0600、不入版本庫;稽核分不出是哪一台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的 client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初始化第一批授權;平常不用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封存,建議由 CyberArk 保管、依單借出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 HTTP 的系統各一張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該系統的身分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隨系統數增加;命名規範先定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c8a0ed2b-bccb-4a86-9d01-71cc5ea787c5"/>
          <p:cNvSpPr/>
          <p:nvPr/>
        </p:nvSpPr>
        <p:spPr>
          <a:xfrm>
            <a:off x="548640" y="567298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可用行內既有的 AD CS;若 CyberArk 含 Certificate Manager 也可由它簽發與續期(選配)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負載平衡(F5)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只放在 REST Proxy 前面;其他連線不需要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0" name="5634cd40-08ae-4372-9481-72fea2298e2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做法與依據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 → F5 → REST Proxy ×N;broker、MDS、C3 不經 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L4(TCP)透傳。F5 不終止 TLS:終止會讓 REST Proxy 看不到 client 憑證,憑證身分全部失效(實測 401)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危險設定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 終止 TLS 再用固定憑證連後端:所有呼叫者(含沒憑證的)都變成同一個身分(實測)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名稱要含 F5 的虛擬伺服器名稱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consumer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的 consumer 實例綁在某一台,需要 sticky(同一來源固定到同一台);producer 不需要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→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設定多台 MDS 位址即可自動切換(實測:停一台仍全部成功,首次切換約 8 秒),不需要 LB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要確認的 F5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虛擬伺服器類型、後端 TLS session 復用、persistence、idle timeout、SNAT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傳輸加密與入口保護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每一條線都加密;每一個入口都要認證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1" name="ae7a3014-d5a8-44c0-841d-3ea4f11602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5935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線路或入口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→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加密連線(636 埠),信任行內 CA;只有連 AD 的 broker 需要信任庫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憑證若有中繼 CA,信任庫要放進中繼 CA(實測)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 →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 HTTPS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使用者端要信任行內 CA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Prometheus、Alertmanager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 + 帳密;C3 與 broker 推送指標都帶帳密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沒有細部授權:帳密依用途分開;日誌會印出帳密標頭,要保護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內建 Admin REST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依官方設定安全擴充:匿名擋下、依使用者角色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未設定時完全沒有認證;與 MDS 共用埠,不能靠防火牆擋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內部埠(broker 互連、controller)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mTLS:broker 與 controller 共用一張內部憑證;防火牆只開給叢集節點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憑證身分是 super user,私鑰要保護;稽核分不出是哪一台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應用與工具 → broker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TLS;人用 AD 帳密、服務用 SCRAM、元件用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同一個對外埠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帳號被偷之後:六道防線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假設某個帳密外洩,多久被發現、能做多少事、多久失效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2" name="d545d9b6-0e9f-4c1d-9274-cb7afbf89a7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  <a:gridCol w="3017520"/>
                <a:gridCol w="258775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效果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測試環境結果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重新認證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 re-authentication:長連線每隔一段時間重新驗證(建議 1 小時)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帳號被停用或改密碼後,既有長連線在期限內被切斷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改密碼後舊連線被切斷(測試值 60 秒)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認證失敗告警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認證失敗次數的告警規則(Prometheus)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密碼被猜、被撞庫時能發現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連續失敗觸發告警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 版本與套件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 TLS 1.3 / 1.2 與 AEAD 套件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擋掉老舊、較弱的套件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設定前 broker 接受舊的 CBC 套件;設定後被拒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單一來源連線上限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每個來源 IP 的連線數上限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一個來源不能開無限條連線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超過上限的連線被拒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流量配額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quota(位元組/秒)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被偷的帳號最多能灌多少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超過配額即被限速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帳戶鎖定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的鎖定原則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擋暴力猜密碼;但鎖定也能被拿來鎖別人的帳號(雙面刃)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鎖定後 MDS 與 Kafka 同時失敗;緊急路徑與機器帳號不受影響;解鎖即恢復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SCRAM 帳號:停用,不要刪除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Apache Kafka 已知問題;影響 Confluent Platform 8.3.x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3" name="32b61974-a6eb-4981-bb69-8f4629b6c7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971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已知問題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刪除 SCRAM 憑證後,broker 重放 metadata 時會丟掉整組 SCRAM 使用者(KAFKA-20774);修復在 Kafka 4.5.0(尚未發行),Confluent Platform 8.3.x 內含 Kafka 4.3.x,受影響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症狀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內部通道用 SCRAM:broker 重啟後起不來。內部通道用 mTLS:broker 起得來,但對外埠所有 SCRAM 登入失敗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何時發生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全新叢集刪除一個 SCRAM 帳號後重啟 broker 即重現;跑很久、已有 metadata 快照的叢集不一定重現——沒重現不代表安全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本方案的做法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停用 = 覆寫成隨機密碼 + 解除角色,一律不刪除;內部通道採 mTLS,降低 broker 起不來的風險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已經刪過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重建被刪的同名帳號(任何密碼),再滾動重啟 broker 即恢復;不必清資料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Schema Registry 與欄位級加密(CSFLE)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授權沿用同一套身分與群組;欄位加密本身需要加購授權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4" name="a493445e-1c1e-4ff7-bf76-129d250aa1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519672"/>
                <a:gridCol w="2468880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做法與結果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要帳密:不帶或密碼錯 401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subject 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跟 AD 群組走:訂單群組只能碰 orders. 開頭的 subject,其他被拒;列出 subject 只看到有權限的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金鑰加密金鑰(KEK)管理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只有 security 群組能建;應用群組只被授權讀;無角色者被拒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Schema Registry 自身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以 client 憑證向 MDS 換 token 連 Kafka,不佔 AD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規則沒生效的風險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沒開規則 extension 時,加密規則被默默丟掉、資料以明文寫入;上線前與每次改規則後,要讀 topic 原始位元組確認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測試環境已驗證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欄位實際加密與解密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註冊帶加密規則的 schema 需要企業版加 CSFLE 加購授權,否則回 402;加密、解密、金鑰輪替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未驗證(待授權)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解密權限與 KMS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由 KMS 控制,不是 Kafka 的 RBAC;內建支援 AWS、Azure、GCP、HashiCorp Vault;地端 HSM 需自訂 Java 驅動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依官方文件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監控、告警與稽核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看得到、告得了、查得到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5" name="f94ce0a0-0cdb-4477-ada9-6fd8efa6a6f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3135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監控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搭配 Prometheus;指標由 broker 推送;維護前用 OP menu 對該節點靜音告警,做完即結束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告警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Alertmanager 路由;靜音與告警變更要有人看(有帳密就能靜音,所以帳密分開)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稽核(audit)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寫入 audit 事件:誰、什麼時候、對什麼、允許或拒絕;授權變更(含非管理員的嘗試)都有紀錄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定期覆核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匯出權限清單(角色、主體、資源範圍)供覆核;SystemAdmin 保持最少人數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紀錄保護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每個動作留紀錄並集中到 syslog;C3、Prometheus 日誌含帳密標頭,權限要收緊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四、日常維運與緊急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OP menu、跳板機與主機、初始化與緊急模式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OP menu:分層與真正的門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操作員只從選單執行審核過的作業;選單不判斷權限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6" name="1b077489-a4e7-4b8f-85ee-f948f6796be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  <a:gridCol w="4480560"/>
                <a:gridCol w="24963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誰用(AD 群組)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真正的門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值班查看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健康檢查(含身分鏈)、topic 狀態、consumer 落後量、磁碟、憑證到期日、leader 分布、生效設定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RBAC:唯讀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重啟單一 broker、滾動重啟、維護模式、查看服務日誌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各節點 sudo 規則;一次一台,每台等叢集恢復才換下一台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變更作業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kafka-topic-admin;kafka-cluster-admin + kafka-rbac-admin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topic、應用系統帳號上線與下架、更換密碼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RBAC;執行前顯示影響並要求確認;可限制時段、同一時間只允許一人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87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授權與緊急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kafka-rbac-admin、kafka-security;緊急模式依 sudo 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指派權限、匯出與查詢 audit、匯出權限清單、緊急模式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RBAC;緊急模式經 sudo 切換專用帳號,逐條記錄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30187e6c-a868-432b-93e7-5316d36b9cea"/>
          <p:cNvSpPr/>
          <p:nvPr/>
        </p:nvSpPr>
        <p:spPr>
          <a:xfrm>
            <a:off x="548640" y="5418438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的動作由 RBAC 依本人 AD 帳號判斷;主機的動作由 sudo 規則判斷;每次執行留紀錄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跳板機與主機:兩種情況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不影響 Kafka 本身(broker 查 AD 不需要主機加入網域);只影響人怎麼登入主機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7" name="01933da0-d647-424b-8888-a168d849f83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34840"/>
                <a:gridCol w="44622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主機有加入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主機沒有加入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登入跳板機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帳號;OP menu 直接取登入者,不再問帳密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本機帳號(或經 CyberArk PSM 代登入);OP menu 自己問 AD 帳密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sudo 規則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直接引用 AD 群組;人員異動只改 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維護本機帳號與群組,或把 PSM 當門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→ 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操作員用本人身分 ssh;主機日誌直接看得到是誰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用自動化帳號 ssh(key 由 CyberArk 保管與輪替、執行時取);「是誰」靠 OP menu 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份量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 root 與 breakglass、PSM 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加上日常 ssh 身分也靠它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93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較簡單、稽核直接;若客戶可做,建議這條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可行;多一個自動化帳號要管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7a970720-9f3d-41cf-b4f4-e96159629c20"/>
          <p:cNvSpPr/>
          <p:nvPr/>
        </p:nvSpPr>
        <p:spPr>
          <a:xfrm>
            <a:off x="548640" y="5588137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 menu 兩種情況都支援,只差一個設定;待客戶回答:主機與跳板機是否加入 AD、人連主機是否一律經 PSM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初始化與緊急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bootstrap 只用於初始化;緊急時用自己的身分加 breakglass 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ad84542-f6b5-4715-94c3-54c83bcef24b"/>
          <p:cNvSpPr/>
          <p:nvPr/>
        </p:nvSpPr>
        <p:spPr>
          <a:xfrm>
            <a:off x="54864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1c79c989-29f5-42dc-8f1a-fd6f2f94bf92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852defd0-d9c6-4681-a6d3-6cce37c31e20"/>
          <p:cNvSpPr/>
          <p:nvPr/>
        </p:nvSpPr>
        <p:spPr>
          <a:xfrm>
            <a:off x="64008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初始化</a:t>
            </a:r>
            <a:endParaRPr lang="en-US" sz="1400" dirty="0"/>
          </a:p>
        </p:txBody>
      </p:sp>
      <p:sp>
        <p:nvSpPr>
          <p:cNvPr id="5" name="f74c226d-0265-47fc-a93b-46aca0829542"/>
          <p:cNvSpPr/>
          <p:nvPr/>
        </p:nvSpPr>
        <p:spPr>
          <a:xfrm>
            <a:off x="64008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bootstrap 憑證建立第一批授權:C3、REST Proxy、7 個群組</a:t>
            </a:r>
            <a:endParaRPr lang="en-US" sz="1100" dirty="0"/>
          </a:p>
        </p:txBody>
      </p:sp>
      <p:sp>
        <p:nvSpPr>
          <p:cNvPr id="6" name="6a0cc1f0-74c5-4f6d-b4e8-f12575f01672"/>
          <p:cNvSpPr/>
          <p:nvPr/>
        </p:nvSpPr>
        <p:spPr>
          <a:xfrm>
            <a:off x="338328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fd3e540a-384c-4f41-8887-d6ceae1febb7"/>
          <p:cNvSpPr/>
          <p:nvPr/>
        </p:nvSpPr>
        <p:spPr>
          <a:xfrm>
            <a:off x="349300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42a462f6-0770-448a-aa83-b5eb6d7d49d5"/>
          <p:cNvSpPr/>
          <p:nvPr/>
        </p:nvSpPr>
        <p:spPr>
          <a:xfrm>
            <a:off x="347472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驗收</a:t>
            </a:r>
            <a:endParaRPr lang="en-US" sz="1400" dirty="0"/>
          </a:p>
        </p:txBody>
      </p:sp>
      <p:sp>
        <p:nvSpPr>
          <p:cNvPr id="9" name="e7bc9c78-1a67-41b0-b780-2b83cccee179"/>
          <p:cNvSpPr/>
          <p:nvPr/>
        </p:nvSpPr>
        <p:spPr>
          <a:xfrm>
            <a:off x="347472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AD 身分確認:rbac-admin 能改授權、ops 不能變更、無群組被拒</a:t>
            </a:r>
            <a:endParaRPr lang="en-US" sz="1100" dirty="0"/>
          </a:p>
        </p:txBody>
      </p:sp>
      <p:sp>
        <p:nvSpPr>
          <p:cNvPr id="10" name="83152e15-95a5-4886-8480-e3d317c14bbb"/>
          <p:cNvSpPr/>
          <p:nvPr/>
        </p:nvSpPr>
        <p:spPr>
          <a:xfrm>
            <a:off x="6217920" y="1769899"/>
            <a:ext cx="2651760" cy="1781844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1" name="de49a95f-b7ae-4efd-853a-933682f375d2"/>
          <p:cNvSpPr/>
          <p:nvPr/>
        </p:nvSpPr>
        <p:spPr>
          <a:xfrm>
            <a:off x="632764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bb8edbbf-3d15-433d-bae7-d3000249fe44"/>
          <p:cNvSpPr/>
          <p:nvPr/>
        </p:nvSpPr>
        <p:spPr>
          <a:xfrm>
            <a:off x="6309360" y="2295968"/>
            <a:ext cx="246888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封存</a:t>
            </a:r>
            <a:endParaRPr lang="en-US" sz="1400" dirty="0"/>
          </a:p>
        </p:txBody>
      </p:sp>
      <p:sp>
        <p:nvSpPr>
          <p:cNvPr id="13" name="4cd31f12-e434-4730-b416-4883d4500d71"/>
          <p:cNvSpPr/>
          <p:nvPr/>
        </p:nvSpPr>
        <p:spPr>
          <a:xfrm>
            <a:off x="6309360" y="2745671"/>
            <a:ext cx="2468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憑證私鑰離線保管(建議 CyberArk);日常不使用</a:t>
            </a:r>
            <a:endParaRPr lang="en-US" sz="1100" dirty="0"/>
          </a:p>
        </p:txBody>
      </p:sp>
      <p:sp>
        <p:nvSpPr>
          <p:cNvPr id="14" name="37bbac2a-f9a8-423d-81a4-480cdd392c81"/>
          <p:cNvSpPr/>
          <p:nvPr/>
        </p:nvSpPr>
        <p:spPr>
          <a:xfrm>
            <a:off x="9052560" y="1769899"/>
            <a:ext cx="2587752" cy="1781844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5" name="c2905a02-e58d-4353-afec-3d37ec7449ea"/>
          <p:cNvSpPr/>
          <p:nvPr/>
        </p:nvSpPr>
        <p:spPr>
          <a:xfrm>
            <a:off x="916228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5a298502-ced3-4b8a-a42c-4edcdcc21d23"/>
          <p:cNvSpPr/>
          <p:nvPr/>
        </p:nvSpPr>
        <p:spPr>
          <a:xfrm>
            <a:off x="9144000" y="2295968"/>
            <a:ext cx="24048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緊急</a:t>
            </a:r>
            <a:endParaRPr lang="en-US" sz="1400" dirty="0"/>
          </a:p>
        </p:txBody>
      </p:sp>
      <p:sp>
        <p:nvSpPr>
          <p:cNvPr id="17" name="44757db5-f8f9-48e1-8f83-3b08cea435d5"/>
          <p:cNvSpPr/>
          <p:nvPr/>
        </p:nvSpPr>
        <p:spPr>
          <a:xfrm>
            <a:off x="9144000" y="2745671"/>
            <a:ext cx="2404872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經核准臨時加入 kafka-breakglass,用本人身分操作;事後移出並查 audit</a:t>
            </a:r>
            <a:endParaRPr lang="en-US" sz="1100" dirty="0"/>
          </a:p>
        </p:txBody>
      </p:sp>
      <p:sp>
        <p:nvSpPr>
          <p:cNvPr id="18" name="c11d4e6c-b56d-427b-ad63-9a99803348f2"/>
          <p:cNvSpPr/>
          <p:nvPr/>
        </p:nvSpPr>
        <p:spPr>
          <a:xfrm>
            <a:off x="320040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2c32d8e6-5aea-4111-bd66-858731e1148e"/>
          <p:cNvSpPr/>
          <p:nvPr/>
        </p:nvSpPr>
        <p:spPr>
          <a:xfrm>
            <a:off x="603504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04a8116e-f957-43a5-830f-800d6a35523f"/>
          <p:cNvSpPr/>
          <p:nvPr/>
        </p:nvSpPr>
        <p:spPr>
          <a:xfrm>
            <a:off x="8869680" y="2660822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graphicFrame>
        <p:nvGraphicFramePr>
          <p:cNvPr id="18" name="756bec0c-33c2-4844-bb34-c5700dcacd4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06293"/>
          <a:ext cx="6858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393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情境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或 MDS 身分機制失效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憑證經 OP menu 緊急模式(sudo 切換專用帳號)執行單一指令,逐條記錄;事後輪替憑證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 人數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保持最少;平常 kafka-breakglass 是空的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緊急模式每一條指令都記錄;CyberArk PSM 可加錄影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五、CyberArk 整合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先懂元件,再看接在哪裡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CyberArk 是什麼:會用到的元件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一套「特權存取與秘密管理」平台;不同模組解決不同問題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9" name="ae40f5ba-c209-4a55-852b-fa095807b8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41422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我們用在哪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Vault + PVWA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加密保存密碼、私鑰等「秘密」;PVWA 是管理與申請的網頁介面(核准流程、借出紀錄)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保管 bootstrap 私鑰、root 密碼、breakglass 相關;依單借出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自動定期更換被納管帳號的密碼或 SSH key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輪替跳板機與各主機的 root、本機帳號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 / PSM for SSH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人連主機時由它代登入(密碼不經手)並錄影;可當跳板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人登入跳板機與主機;緊急操作有錄影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應用程式用的取密碼 API:以應用識別 + 主機或憑證認證,回傳密碼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應用系統啟動時取 SCRAM 密碼;平台元件啟動前取設定檔密碼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Conjur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新一代的秘密管理(含 Kubernetes、CI/CD);host 身分換短效 token 取秘密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若客戶已採用,可取代 CCP 的角色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小工具:啟動程式前把秘密變成環境變數,不改程式碼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不方便改程式的應用或腳本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Certificate Manager(選配)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憑證簽發、到期追蹤與自動續期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憑證與 client 憑證的生命週期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CyberArk 整合總圖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身分與授權不變;CyberArk 只接管「密碼與私鑰放哪、誰能拿、怎麼輪替、怎麼錄影」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0" name="7093e45f-58bc-4cb4-9f7f-cfba0609f0c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00400"/>
                <a:gridCol w="4389120"/>
                <a:gridCol w="158191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現有機制(不變)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接入點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帳密換 token;角色綁 AD 群組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不經 CyberArk;只有「登入跳板機」這段可先過 PSM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+ OP menu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身分 + sudo;動作留紀錄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 代登入與錄影;sudo 引用 AD 群組;緊急操作有錄影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PSM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 OS 帳號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本機帳號 + sudoers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 定期輪替 root 與本機帳號;人要用時經 PSM 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CPM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/ 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 0600;群組平常空的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私鑰存 Vault,依單核准借出、用完換發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Vault + PVWA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帳密或 client 憑證 + 最小權限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啟動時向 CCP 取密碼或私鑰,在記憶體使用、不落地;不改程式用 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 / Conjur / Summon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平台元件設定檔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設定檔內的密碼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Confluent Secret Protection 加密設定檔,主金鑰啟動時向 CCP 取;或啟動前取密碼寫 0600 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CCP + Secret Protection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15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 server 憑證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一張憑證只做加密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(選配)Certificate Manager 簽發與續期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Cert Manager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189861ce-2e91-4b47-bb64-357aad8cd2fd"/>
          <p:cNvSpPr/>
          <p:nvPr/>
        </p:nvSpPr>
        <p:spPr>
          <a:xfrm>
            <a:off x="548640" y="5715412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的 SCRAM 密碼沒有現成的 CPM 平台:用「新帳號並行 → 切換 → 停舊」腳本,由 CPM 自訂平台或排程呼叫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人連主機的三種模式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決定 OP menu 的 ssh 身分怎麼設計;要向客戶確認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1" name="78cf6584-e3cc-4e7b-8c1b-cb2d0fa34a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291840"/>
                <a:gridCol w="23134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人怎麼連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 → 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 OP menu 的影響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A. PSM 就是跳板機(最常見)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人用 AD 帳號連 PSM for SSH,由它取主機帳密開 session、錄影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 22 埠通常只開給 PSM;原本的跳板機變成被納管的主機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用自動化帳號 ssh 各主機,key 由 CyberArk 保管、執行時取;人仍以 AD 身分登入選單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B. PSM 在跳板機前面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人經 PSM 進跳板機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維持跳板機直連主機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幾乎不用改;補上 CyberArk 管理的 key 與集中紀錄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909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C. 兩層都經 PSM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人經 PSM 進跳板機,再經 PSM 連主機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繞兩次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ssh 要改成經 PSM,複雜,不建議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9a2dea5c-aa3b-4022-90d8-f59985669938"/>
          <p:cNvSpPr/>
          <p:nvPr/>
        </p:nvSpPr>
        <p:spPr>
          <a:xfrm>
            <a:off x="548640" y="5163889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建議:A 或 B 皆可;重點是「主機 22 埠允許哪些來源」與「跳板機是否加入 AD」,兩個答案決定做法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應用程式取密碼與輪替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密碼不落地;換密碼不中斷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9c1b850-f0ed-4a47-983d-aa4a07c15cec"/>
          <p:cNvSpPr/>
          <p:nvPr/>
        </p:nvSpPr>
        <p:spPr>
          <a:xfrm>
            <a:off x="548640" y="1685050"/>
            <a:ext cx="548640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取密碼(每次啟動)</a:t>
            </a:r>
            <a:endParaRPr lang="en-US" sz="1350" dirty="0"/>
          </a:p>
        </p:txBody>
      </p:sp>
      <p:sp>
        <p:nvSpPr>
          <p:cNvPr id="3" name="039ac288-1d82-4ce7-98c8-1b96d8f3b2e6"/>
          <p:cNvSpPr/>
          <p:nvPr/>
        </p:nvSpPr>
        <p:spPr>
          <a:xfrm>
            <a:off x="5486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" name="83a17fa0-94d1-42be-b925-ece7ffaf2501"/>
          <p:cNvSpPr/>
          <p:nvPr/>
        </p:nvSpPr>
        <p:spPr>
          <a:xfrm>
            <a:off x="6583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e11f4ac3-9856-4ff4-bccb-35eb01ac2109"/>
          <p:cNvSpPr/>
          <p:nvPr/>
        </p:nvSpPr>
        <p:spPr>
          <a:xfrm>
            <a:off x="6400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</a:t>
            </a:r>
            <a:endParaRPr lang="en-US" sz="1400" dirty="0"/>
          </a:p>
        </p:txBody>
      </p:sp>
      <p:sp>
        <p:nvSpPr>
          <p:cNvPr id="6" name="23c2de8e-ecde-4b15-9752-82639a9b47c3"/>
          <p:cNvSpPr/>
          <p:nvPr/>
        </p:nvSpPr>
        <p:spPr>
          <a:xfrm>
            <a:off x="6400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應用以 AppID + 主機或憑證向 CCP 認證</a:t>
            </a:r>
            <a:endParaRPr lang="en-US" sz="1100" dirty="0"/>
          </a:p>
        </p:txBody>
      </p:sp>
      <p:sp>
        <p:nvSpPr>
          <p:cNvPr id="7" name="59ef1745-6d16-4ec0-8cbd-dd378ee3d3ec"/>
          <p:cNvSpPr/>
          <p:nvPr/>
        </p:nvSpPr>
        <p:spPr>
          <a:xfrm>
            <a:off x="32918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68c96d23-e94d-4eae-9678-0e595735d955"/>
          <p:cNvSpPr/>
          <p:nvPr/>
        </p:nvSpPr>
        <p:spPr>
          <a:xfrm>
            <a:off x="34015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80a24d81-e65a-4d8e-bd60-512a3ae8434a"/>
          <p:cNvSpPr/>
          <p:nvPr/>
        </p:nvSpPr>
        <p:spPr>
          <a:xfrm>
            <a:off x="33832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取密碼</a:t>
            </a:r>
            <a:endParaRPr lang="en-US" sz="1400" dirty="0"/>
          </a:p>
        </p:txBody>
      </p:sp>
      <p:sp>
        <p:nvSpPr>
          <p:cNvPr id="10" name="f18b5d55-1282-4237-8899-66e5af22affa"/>
          <p:cNvSpPr/>
          <p:nvPr/>
        </p:nvSpPr>
        <p:spPr>
          <a:xfrm>
            <a:off x="33832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取得 SCRAM 帳密(或憑證私鑰)</a:t>
            </a:r>
            <a:endParaRPr lang="en-US" sz="1100" dirty="0"/>
          </a:p>
        </p:txBody>
      </p:sp>
      <p:sp>
        <p:nvSpPr>
          <p:cNvPr id="11" name="c3926e33-3f43-428e-a498-5d060b5111fd"/>
          <p:cNvSpPr/>
          <p:nvPr/>
        </p:nvSpPr>
        <p:spPr>
          <a:xfrm>
            <a:off x="6035040" y="2024449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2" name="a4bd9530-e01d-4bcc-a8d0-166bfe747599"/>
          <p:cNvSpPr/>
          <p:nvPr/>
        </p:nvSpPr>
        <p:spPr>
          <a:xfrm>
            <a:off x="61447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a0c5f4b8-3f27-4b88-a06b-042fadf5c030"/>
          <p:cNvSpPr/>
          <p:nvPr/>
        </p:nvSpPr>
        <p:spPr>
          <a:xfrm>
            <a:off x="6126480" y="2550517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記憶體使用</a:t>
            </a:r>
            <a:endParaRPr lang="en-US" sz="1400" dirty="0"/>
          </a:p>
        </p:txBody>
      </p:sp>
      <p:sp>
        <p:nvSpPr>
          <p:cNvPr id="14" name="8a76cdb6-f9f9-4d34-9f0b-cb7559827ac0"/>
          <p:cNvSpPr/>
          <p:nvPr/>
        </p:nvSpPr>
        <p:spPr>
          <a:xfrm>
            <a:off x="6126480" y="3000221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組成連線設定,不寫入磁碟</a:t>
            </a:r>
            <a:endParaRPr lang="en-US" sz="1100" dirty="0"/>
          </a:p>
        </p:txBody>
      </p:sp>
      <p:sp>
        <p:nvSpPr>
          <p:cNvPr id="15" name="6ae12d5a-2b4e-491f-8760-82d69e23e162"/>
          <p:cNvSpPr/>
          <p:nvPr/>
        </p:nvSpPr>
        <p:spPr>
          <a:xfrm>
            <a:off x="8778240" y="2024449"/>
            <a:ext cx="2862072" cy="16121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6" name="95a4c29b-e8e2-4088-ab7a-1ab35852b56d"/>
          <p:cNvSpPr/>
          <p:nvPr/>
        </p:nvSpPr>
        <p:spPr>
          <a:xfrm>
            <a:off x="8887968" y="2126268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04cc94a3-4089-47e7-aaba-244cbc2575d3"/>
          <p:cNvSpPr/>
          <p:nvPr/>
        </p:nvSpPr>
        <p:spPr>
          <a:xfrm>
            <a:off x="8869680" y="2550517"/>
            <a:ext cx="26791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400" dirty="0"/>
          </a:p>
        </p:txBody>
      </p:sp>
      <p:sp>
        <p:nvSpPr>
          <p:cNvPr id="18" name="4878d5df-0dfc-4672-b384-b8532e893fab"/>
          <p:cNvSpPr/>
          <p:nvPr/>
        </p:nvSpPr>
        <p:spPr>
          <a:xfrm>
            <a:off x="8869680" y="3000221"/>
            <a:ext cx="2679192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認證;broker RBAC 判斷</a:t>
            </a:r>
            <a:endParaRPr lang="en-US" sz="1100" dirty="0"/>
          </a:p>
        </p:txBody>
      </p:sp>
      <p:sp>
        <p:nvSpPr>
          <p:cNvPr id="19" name="cc3fb7ad-7242-46d3-a5f7-51c7c20240af"/>
          <p:cNvSpPr/>
          <p:nvPr/>
        </p:nvSpPr>
        <p:spPr>
          <a:xfrm>
            <a:off x="31089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8a2e4949-58df-48ea-ac3b-ab169bb3aadc"/>
          <p:cNvSpPr/>
          <p:nvPr/>
        </p:nvSpPr>
        <p:spPr>
          <a:xfrm>
            <a:off x="58521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1" name="22519f3f-a343-43a0-9280-f01711340754"/>
          <p:cNvSpPr/>
          <p:nvPr/>
        </p:nvSpPr>
        <p:spPr>
          <a:xfrm>
            <a:off x="8595360" y="2830521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2" name="21d83f5c-adf4-4503-84c0-70582b1f00eb"/>
          <p:cNvSpPr/>
          <p:nvPr/>
        </p:nvSpPr>
        <p:spPr>
          <a:xfrm>
            <a:off x="548640" y="3848718"/>
            <a:ext cx="548640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輪替(定期或事件觸發)</a:t>
            </a:r>
            <a:endParaRPr lang="en-US" sz="1350" dirty="0"/>
          </a:p>
        </p:txBody>
      </p:sp>
      <p:sp>
        <p:nvSpPr>
          <p:cNvPr id="23" name="c46476cf-a7c0-471d-beb5-abaa0e8b67cb"/>
          <p:cNvSpPr/>
          <p:nvPr/>
        </p:nvSpPr>
        <p:spPr>
          <a:xfrm>
            <a:off x="5486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01023f15-a880-4bf0-8471-808c11e9035c"/>
          <p:cNvSpPr/>
          <p:nvPr/>
        </p:nvSpPr>
        <p:spPr>
          <a:xfrm>
            <a:off x="6583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cd7fc7ca-83ba-44c6-9af8-a3ce14665c22"/>
          <p:cNvSpPr/>
          <p:nvPr/>
        </p:nvSpPr>
        <p:spPr>
          <a:xfrm>
            <a:off x="6400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建新帳號</a:t>
            </a:r>
            <a:endParaRPr lang="en-US" sz="1400" dirty="0"/>
          </a:p>
        </p:txBody>
      </p:sp>
      <p:sp>
        <p:nvSpPr>
          <p:cNvPr id="26" name="2015c166-2097-4aea-ba74-427c8c594423"/>
          <p:cNvSpPr/>
          <p:nvPr/>
        </p:nvSpPr>
        <p:spPr>
          <a:xfrm>
            <a:off x="6400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 v2 帳號並綁同樣角色,寫回 Vault</a:t>
            </a:r>
            <a:endParaRPr lang="en-US" sz="1100" dirty="0"/>
          </a:p>
        </p:txBody>
      </p:sp>
      <p:sp>
        <p:nvSpPr>
          <p:cNvPr id="27" name="8cd5651c-0a16-48cf-8cc7-0135fce364f1"/>
          <p:cNvSpPr/>
          <p:nvPr/>
        </p:nvSpPr>
        <p:spPr>
          <a:xfrm>
            <a:off x="32918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04ca828e-1f57-4e6c-9510-9c14587804a2"/>
          <p:cNvSpPr/>
          <p:nvPr/>
        </p:nvSpPr>
        <p:spPr>
          <a:xfrm>
            <a:off x="34015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ef7abd4c-9776-4d84-92c5-1b350c3ffc5c"/>
          <p:cNvSpPr/>
          <p:nvPr/>
        </p:nvSpPr>
        <p:spPr>
          <a:xfrm>
            <a:off x="33832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並行</a:t>
            </a:r>
            <a:endParaRPr lang="en-US" sz="1400" dirty="0"/>
          </a:p>
        </p:txBody>
      </p:sp>
      <p:sp>
        <p:nvSpPr>
          <p:cNvPr id="30" name="98adf82e-a718-4d45-bf0f-50b749f9fb31"/>
          <p:cNvSpPr/>
          <p:nvPr/>
        </p:nvSpPr>
        <p:spPr>
          <a:xfrm>
            <a:off x="33832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新舊同時可用,應用逐批重啟切換</a:t>
            </a:r>
            <a:endParaRPr lang="en-US" sz="1100" dirty="0"/>
          </a:p>
        </p:txBody>
      </p:sp>
      <p:sp>
        <p:nvSpPr>
          <p:cNvPr id="31" name="a77d794b-b44f-4319-8e93-e48b94d2f1f9"/>
          <p:cNvSpPr/>
          <p:nvPr/>
        </p:nvSpPr>
        <p:spPr>
          <a:xfrm>
            <a:off x="6035040" y="4188117"/>
            <a:ext cx="2560320" cy="16121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2" name="9893aa5e-8c8b-4de8-bb7f-2924f32781ed"/>
          <p:cNvSpPr/>
          <p:nvPr/>
        </p:nvSpPr>
        <p:spPr>
          <a:xfrm>
            <a:off x="61447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78b1dc62-6c55-459a-8cc6-36589df90269"/>
          <p:cNvSpPr/>
          <p:nvPr/>
        </p:nvSpPr>
        <p:spPr>
          <a:xfrm>
            <a:off x="6126480" y="4714185"/>
            <a:ext cx="23774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停舊</a:t>
            </a:r>
            <a:endParaRPr lang="en-US" sz="1400" dirty="0"/>
          </a:p>
        </p:txBody>
      </p:sp>
      <p:sp>
        <p:nvSpPr>
          <p:cNvPr id="34" name="5b1be28b-f9b6-4ca1-846c-a941aa75f629"/>
          <p:cNvSpPr/>
          <p:nvPr/>
        </p:nvSpPr>
        <p:spPr>
          <a:xfrm>
            <a:off x="6126480" y="5163889"/>
            <a:ext cx="237744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全部切換後停用舊帳號,舊密碼立刻失效</a:t>
            </a:r>
            <a:endParaRPr lang="en-US" sz="1100" dirty="0"/>
          </a:p>
        </p:txBody>
      </p:sp>
      <p:sp>
        <p:nvSpPr>
          <p:cNvPr id="35" name="1fc3de79-626e-4a38-9ee6-b2b31a11dff7"/>
          <p:cNvSpPr/>
          <p:nvPr/>
        </p:nvSpPr>
        <p:spPr>
          <a:xfrm>
            <a:off x="8778240" y="4188117"/>
            <a:ext cx="2862072" cy="1612145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487f531e-c510-41a7-baa2-5c5bfb75c859"/>
          <p:cNvSpPr/>
          <p:nvPr/>
        </p:nvSpPr>
        <p:spPr>
          <a:xfrm>
            <a:off x="8887968" y="4289936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c6d97d12-2492-4348-a996-ddba110a4409"/>
          <p:cNvSpPr/>
          <p:nvPr/>
        </p:nvSpPr>
        <p:spPr>
          <a:xfrm>
            <a:off x="8869680" y="4714185"/>
            <a:ext cx="26791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誰來做</a:t>
            </a:r>
            <a:endParaRPr lang="en-US" sz="1400" dirty="0"/>
          </a:p>
        </p:txBody>
      </p:sp>
      <p:sp>
        <p:nvSpPr>
          <p:cNvPr id="38" name="f7e4e513-79c8-4588-ad50-57fa67c16065"/>
          <p:cNvSpPr/>
          <p:nvPr/>
        </p:nvSpPr>
        <p:spPr>
          <a:xfrm>
            <a:off x="8869680" y="5163889"/>
            <a:ext cx="2679192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CPM 自訂平台呼叫腳本,或排程;全程 audit 可查</a:t>
            </a:r>
            <a:endParaRPr lang="en-US" sz="1100" dirty="0"/>
          </a:p>
        </p:txBody>
      </p:sp>
      <p:sp>
        <p:nvSpPr>
          <p:cNvPr id="39" name="e5c2d607-3c0d-492e-aa24-7790b5be3b8b"/>
          <p:cNvSpPr/>
          <p:nvPr/>
        </p:nvSpPr>
        <p:spPr>
          <a:xfrm>
            <a:off x="31089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0" name="b6614079-1601-416b-a0ae-d3b40927b949"/>
          <p:cNvSpPr/>
          <p:nvPr/>
        </p:nvSpPr>
        <p:spPr>
          <a:xfrm>
            <a:off x="58521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1" name="59ffe891-c648-4cef-b451-a973522d8a7c"/>
          <p:cNvSpPr/>
          <p:nvPr/>
        </p:nvSpPr>
        <p:spPr>
          <a:xfrm>
            <a:off x="8595360" y="4994189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設定檔密碼加密:輪替與重啟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Confluent Secret Protection;主金鑰由 CyberArk 保管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3" name="26826845-2ddc-405d-85f7-91e05d57fca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80567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做法與結果(測試環境實測)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兩層金鑰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主金鑰(CyberArk 保管,啟動時取)加密資料金鑰;資料金鑰加密設定檔裡的密碼。叢集共用同一把主金鑰、同一份密文檔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輪替主金鑰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只重包資料金鑰,值的密文不變;需要「目前的」與「新的」passphrase(也要保管,只讓管理員讀);新主金鑰只顯示一次,要立刻寫回 CyberArk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輪替資料金鑰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只需要目前的 passphrase;所有值重新加密;主金鑰不變,CyberArk 不用動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檔與主金鑰要成對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新檔配舊金鑰、舊檔配新金鑰都解不開;不成對時 broker 起不來。輪替前先備好舊檔與舊主金鑰以便退回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一定要重啟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啟動時才讀。維護窗口內一台一台做:換檔 → 取新主金鑰 → 重啟 → 確認健康 → 下一台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重啟期間服務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測試環境 2 台 broker、副本 2:輪替並滾動重啟期間持續寫入 1200 筆,全部寫入、零遺失;正式環境建議副本 3、最小同步副本 2,controller 也逐台重啟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passphrase 在這個版本的指令只能直接放在指令列(不讀檔),輪替要在受控的管理主機上做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六、待確認、限制與導入順序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/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要向客戶確認的事項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答案會決定幾個分支的做法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4" name="9aa97d75-cb88-4788-8c79-42be258bc8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754880"/>
                <a:gridCol w="322783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問題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使用者名稱與 CN 是否完全相同(含大小寫);Kafka 群組放哪個 OU;群組人數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群組查詢設定、主體寫法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跳板機與各主機是否加入 AD;人連主機是否一律經 PSM;主機 22 埠允許哪些來源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登入與 sudo 設計、OP menu 的 ssh 身分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有哪些模組(PSM、CPM、CCP、Conjur、Summon、Certificate Manager);應用主機與 Kafka 節點能否連到 CCP / PSM;AppID 用 IP 還是憑證認;輪替週期與負責人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第五章每一列的做法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虛擬伺服器類型(L4)、後端 TLS session 復用、persistence、idle timeout、SNAT;REST Proxy 幾台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憑證名稱、sticky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變更管理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變更核准方式;維運作業項目清單;現有 OP menu 樣貌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 menu 的核准檢查與項目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CA 由誰簽(AD CS 或 Certificate Manager);有效期政策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憑證生命週期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資料保護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是否需要欄位級加密(CSFLE);取得加購授權的方式;地端 KMS 或 HSM 的型號與是否有 Java 驅動;重新認證間隔、連線上限與配額的政策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CSFLE 能否導入、金鑰放哪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未驗證與限制(如實說明)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已實測的以外,這些尚未在客戶環境驗證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5" name="10db3336-07a2-4408-8486-55c264290ef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CyberArk:秘密管理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已用 CyberArk 的開源版 Conjur 實測「應用程式取密碼、輪替、OP menu 取帳密、設定檔密碼不落地」;商業版 CCP / Conjur 的 API 細節以客戶版本文件為準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CyberArk:PAM(PSM、CPM、PVWA)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無法在測試環境重現,整合方式為通用模式;需在客戶環境 PoC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真實 AD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巢狀群組、群組異動的實際延遲、AD 憑證鏈(中繼 CA)要以客戶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以同類負載平衡器實測 L4 透傳可行、L7 終止不可;F5 本身的行為要以客戶設定驗證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 controller 與 RHEL 部署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設計依官方文件;以本方案的測試環境為準,未在客戶 VM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經 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未驗證;建議 C3 不經 F5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密碼輪替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已實測新舊並行流程(建新帳號、驗證、隔離、看 audit、才停用舊帳號,停用是覆寫成隨機密碼、不刪除);由 CPM 自訂平台或排程觸發同一支腳本,需在客戶環境確認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停用帳號對已連線的影響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實測:只停用 SCRAM 憑證擋不住已連著的連線,必須先解除角色;長連線的應用要能在失敗時重新取帳密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Conjur 可用性與根的秘密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取不到帳密應用與 broker 起不來,要規劃高可用與重試;機器 API key(secret zero)的保護與輪替未示範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未驗證與限制(續)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資料保護、金鑰管理與參數值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6" name="9f91173f-ca4c-49e0-8e4f-28782b92cd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8271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狀態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欄位級加密(CSFLE)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需要企業版加 CSFLE 加購授權;測試環境的試用授權註冊加密規則會被拒(HTTP 402),所以加密、解密、金鑰輪替都未驗證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地端 KMS 與 HSM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內建只支援 AWS、Azure、GCP、HashiCorp Vault;HSM 需自訂 Java 驅動(官方有介面說明,未見 HSM 範例);廠商是否有現成驅動未確認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CyberArk 能否當 KMS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開源版 Conjur 是秘密管理,不是 KMS(它把秘密交出去,不代為加解密);PAM 等其他模組是否提供 KMS 式服務未確認,要問客戶的 CyberArk 窗口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主金鑰輪替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已實測單台與兩台共用同一把金鑰的逐台重啟;更多台與 controller 的流程依官方文件與同樣原則,正式環境要在維護窗口內演練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刪除問題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 Apache Kafka 回報與測試環境實測;升級到含修復的版本(4.5.0 以上)前維持「停用不刪除」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防線參數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重新認證 60 秒、連線上限 2、配額等是測試值;正式值要依客戶的應用特性與容量評估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導入順序建議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先把身分與授權做對,再接 CyberArk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1ad85d9-e43f-4a1f-b8f0-b8b0c4d841c0"/>
          <p:cNvSpPr/>
          <p:nvPr/>
        </p:nvSpPr>
        <p:spPr>
          <a:xfrm>
            <a:off x="548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678bc559-240c-4d63-9d3c-7d3772f8a092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2dab967d-682c-4fd7-b347-33e67f571953"/>
          <p:cNvSpPr/>
          <p:nvPr/>
        </p:nvSpPr>
        <p:spPr>
          <a:xfrm>
            <a:off x="640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基礎</a:t>
            </a:r>
            <a:endParaRPr lang="en-US" sz="1400" dirty="0"/>
          </a:p>
        </p:txBody>
      </p:sp>
      <p:sp>
        <p:nvSpPr>
          <p:cNvPr id="5" name="c7ec011d-0d08-4d98-a087-a2a98e1edd34"/>
          <p:cNvSpPr/>
          <p:nvPr/>
        </p:nvSpPr>
        <p:spPr>
          <a:xfrm>
            <a:off x="640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群組與唯讀查詢帳號;憑證;叢集與 TLS;初始授權與驗收</a:t>
            </a:r>
            <a:endParaRPr lang="en-US" sz="1100" dirty="0"/>
          </a:p>
        </p:txBody>
      </p:sp>
      <p:sp>
        <p:nvSpPr>
          <p:cNvPr id="6" name="97a1288f-3bd8-41a7-b990-08bbfd623b5a"/>
          <p:cNvSpPr/>
          <p:nvPr/>
        </p:nvSpPr>
        <p:spPr>
          <a:xfrm>
            <a:off x="2834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7" name="9db4c8f1-5dd3-4598-9520-89159f0cfc07"/>
          <p:cNvSpPr/>
          <p:nvPr/>
        </p:nvSpPr>
        <p:spPr>
          <a:xfrm>
            <a:off x="2944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ca91bfdf-9ecf-46a5-9ccc-db98e0f182e9"/>
          <p:cNvSpPr/>
          <p:nvPr/>
        </p:nvSpPr>
        <p:spPr>
          <a:xfrm>
            <a:off x="2926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人與系統上線</a:t>
            </a:r>
            <a:endParaRPr lang="en-US" sz="1400" dirty="0"/>
          </a:p>
        </p:txBody>
      </p:sp>
      <p:sp>
        <p:nvSpPr>
          <p:cNvPr id="9" name="7aedc24c-4115-4a9e-a750-e37bcc23b2f1"/>
          <p:cNvSpPr/>
          <p:nvPr/>
        </p:nvSpPr>
        <p:spPr>
          <a:xfrm>
            <a:off x="2926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C3、REST Proxy、F5;應用系統帳號與憑證;命名規範</a:t>
            </a:r>
            <a:endParaRPr lang="en-US" sz="1100" dirty="0"/>
          </a:p>
        </p:txBody>
      </p:sp>
      <p:sp>
        <p:nvSpPr>
          <p:cNvPr id="10" name="d71d71d5-4df2-4e50-a411-ab3f05a3e313"/>
          <p:cNvSpPr/>
          <p:nvPr/>
        </p:nvSpPr>
        <p:spPr>
          <a:xfrm>
            <a:off x="5120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1" name="8bf26231-918b-420a-b6d2-13282d8cdbcf"/>
          <p:cNvSpPr/>
          <p:nvPr/>
        </p:nvSpPr>
        <p:spPr>
          <a:xfrm>
            <a:off x="5230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98493704-01c6-4fe7-b073-96d465171f12"/>
          <p:cNvSpPr/>
          <p:nvPr/>
        </p:nvSpPr>
        <p:spPr>
          <a:xfrm>
            <a:off x="5212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維運</a:t>
            </a:r>
            <a:endParaRPr lang="en-US" sz="1400" dirty="0"/>
          </a:p>
        </p:txBody>
      </p:sp>
      <p:sp>
        <p:nvSpPr>
          <p:cNvPr id="13" name="ad87cead-76bc-4fc1-aef9-87760732de6f"/>
          <p:cNvSpPr/>
          <p:nvPr/>
        </p:nvSpPr>
        <p:spPr>
          <a:xfrm>
            <a:off x="5212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 menu、監控告警、audit 匯出與覆核;緊急流程演練</a:t>
            </a:r>
            <a:endParaRPr lang="en-US" sz="1100" dirty="0"/>
          </a:p>
        </p:txBody>
      </p:sp>
      <p:sp>
        <p:nvSpPr>
          <p:cNvPr id="14" name="82164c96-808a-4e74-a2b8-ae788c1a327a"/>
          <p:cNvSpPr/>
          <p:nvPr/>
        </p:nvSpPr>
        <p:spPr>
          <a:xfrm>
            <a:off x="7406640" y="1769899"/>
            <a:ext cx="2103120" cy="2206093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5" name="304294db-8a14-4e9d-9f44-5a32f0d3fcad"/>
          <p:cNvSpPr/>
          <p:nvPr/>
        </p:nvSpPr>
        <p:spPr>
          <a:xfrm>
            <a:off x="7516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7f087087-7e4e-4348-9ee7-68d81b594ebd"/>
          <p:cNvSpPr/>
          <p:nvPr/>
        </p:nvSpPr>
        <p:spPr>
          <a:xfrm>
            <a:off x="7498080" y="2295968"/>
            <a:ext cx="192024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 第一階段</a:t>
            </a:r>
            <a:endParaRPr lang="en-US" sz="1400" dirty="0"/>
          </a:p>
        </p:txBody>
      </p:sp>
      <p:sp>
        <p:nvSpPr>
          <p:cNvPr id="17" name="cd5f03b0-8ef6-4cdf-916a-e13dc78ee0ed"/>
          <p:cNvSpPr/>
          <p:nvPr/>
        </p:nvSpPr>
        <p:spPr>
          <a:xfrm>
            <a:off x="7498080" y="2745671"/>
            <a:ext cx="1920240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PSM 代登入與錄影;CPM 輪替主機帳號;bootstrap 私鑰入 Vault</a:t>
            </a:r>
            <a:endParaRPr lang="en-US" sz="1100" dirty="0"/>
          </a:p>
        </p:txBody>
      </p:sp>
      <p:sp>
        <p:nvSpPr>
          <p:cNvPr id="18" name="cd8e66b8-0535-40e5-95fb-eaeb4e34678b"/>
          <p:cNvSpPr/>
          <p:nvPr/>
        </p:nvSpPr>
        <p:spPr>
          <a:xfrm>
            <a:off x="9692640" y="1769899"/>
            <a:ext cx="1947672" cy="2206093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9" name="a188a97d-d22a-4e1d-8954-f495ecf2d119"/>
          <p:cNvSpPr/>
          <p:nvPr/>
        </p:nvSpPr>
        <p:spPr>
          <a:xfrm>
            <a:off x="9802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B3261E"/>
          </a:solidFill>
          <a:ln w="19050">
            <a:solidFill>
              <a:srgbClr val="B326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2135d918-03fd-4cb5-ab56-c7913902e378"/>
          <p:cNvSpPr/>
          <p:nvPr/>
        </p:nvSpPr>
        <p:spPr>
          <a:xfrm>
            <a:off x="9784080" y="2295968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CyberArk 第二階段</a:t>
            </a:r>
            <a:endParaRPr lang="en-US" sz="1400" dirty="0"/>
          </a:p>
        </p:txBody>
      </p:sp>
      <p:sp>
        <p:nvSpPr>
          <p:cNvPr id="21" name="3ea23d51-a257-4b1f-a154-9cb4ca2bf1b2"/>
          <p:cNvSpPr/>
          <p:nvPr/>
        </p:nvSpPr>
        <p:spPr>
          <a:xfrm>
            <a:off x="9784080" y="2745671"/>
            <a:ext cx="1764792" cy="1187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應用程式經 CCP 取密碼;設定檔密碼不落地;SCRAM 輪替自動化</a:t>
            </a:r>
            <a:endParaRPr lang="en-US" sz="1100" dirty="0"/>
          </a:p>
        </p:txBody>
      </p:sp>
      <p:sp>
        <p:nvSpPr>
          <p:cNvPr id="22" name="8d7237da-a763-40ea-83f8-73933872b846"/>
          <p:cNvSpPr/>
          <p:nvPr/>
        </p:nvSpPr>
        <p:spPr>
          <a:xfrm>
            <a:off x="2651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7c759bc9-ad21-4cab-87d4-d15fcf20da4f"/>
          <p:cNvSpPr/>
          <p:nvPr/>
        </p:nvSpPr>
        <p:spPr>
          <a:xfrm>
            <a:off x="4937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563e3f85-daab-4ae2-8ad0-c2a0139b6d9d"/>
          <p:cNvSpPr/>
          <p:nvPr/>
        </p:nvSpPr>
        <p:spPr>
          <a:xfrm>
            <a:off x="7223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abed4dfc-838d-41fb-9fe2-0e888344dccd"/>
          <p:cNvSpPr/>
          <p:nvPr/>
        </p:nvSpPr>
        <p:spPr>
          <a:xfrm>
            <a:off x="9509760" y="2872946"/>
            <a:ext cx="1828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58838f4f-2704-498f-87e1-b609216fa20c"/>
          <p:cNvSpPr/>
          <p:nvPr/>
        </p:nvSpPr>
        <p:spPr>
          <a:xfrm>
            <a:off x="548640" y="4400241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1 到 3 步已在測試環境完整驗證;第 4、5 步依客戶回答的 CyberArk 模組決定範圍</a:t>
            </a:r>
            <a:endParaRPr lang="en-US" sz="1250" dirty="0"/>
          </a:p>
        </p:txBody>
      </p:sp>
      <p:sp>
        <p:nvSpPr>
          <p:cNvPr id="27" name="ec74951d-b8f7-4b60-8606-4759c436f0fa"/>
          <p:cNvSpPr/>
          <p:nvPr/>
        </p:nvSpPr>
        <p:spPr>
          <a:xfrm>
            <a:off x="548640" y="4909339"/>
            <a:ext cx="11091672" cy="39030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每一步都有驗收標準:身分對、權限對、紀錄查得到;不過關不進下一步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