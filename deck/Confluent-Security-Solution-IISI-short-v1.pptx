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結論版,只講做法與結果。出處、實測依據與限制在各頁備忘稿,完整版有逐項前提與驗證狀態。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401。C3 畫面建立 trigger 與 email action 已實測:C3 把 trigger 寫成 Prometheus 規則檔(trigger_rules-generated.yml)並通知 Prometheus 重新載入,由 Prometheus 評估並送告警給 Alertmanager;action 寫進 alertmanager-generated.yml(receiver 與依 alertname 的路由),再對 Alertmanager 發 POST /-/reload(帶 Basic),實測重新載入成功、Alertmanager 執行中的設定出現新 receiver。C3 沒有靜音功能(告警區只有 Overview、History、Triggers、Actions),靜音只能直接對 Alertmanager 的 API 操作。C3 的 INFO 日誌會印出請求標頭,包含 Authorization: Basic(Base64 解開即帳密),日誌檔需要保護。未驗證:C3 建立的 trigger 實際觸發並寄出通知(demo 用假的 SMTP)、mTLS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 為什麼用 Basic 不用 mTLS:官方兩種都支援(TLS + Basic 自 7.5,另有 mTLS 設定頁);依客戶前提(憑證越少越好),mTLS 要替 broker、C3、Prometheus、Alertmanager 各發 client 憑證,Basic 只要帳號密碼,所以選 Basic;帳密的代價見下。防火牆:Prometheus 9090 要開給 broker(推指標)與 C3;Alertmanager 9093 要開給 C3 與 Prometheus(送告警);這四條以外不用開。新增的要管理項目:Prometheus 與 Alertmanager 各一組 Basic 帳密(demo 用同名 c3),bcrypt 雜湊在 web-config,明文放在 broker 設定(api.secret)與 C3 設定(basic.auth.user.info),輪替流程未驗證,應列入「要管理的憑證與帳號」清單;共用 server 憑證的私鑰也要放到 Prometheus 與 Alertmanager 的主機,私鑰的存放處變多,外洩風險範圍變大。Basic 沒有唯讀與寫入的分級:broker、C3 查指標、C3 重載規則都用同一組帳密(官方也沒有提供分級)。未驗證:KRaft controller 是否也要設 telemetry exporter(demo 的 controller 沒設,正式環境有 3 個 controller)、Prometheus 與 Alertmanager 更換共用憑證時是否要重啟、email 告警帶 SMTP 帳密時帳密如何寫進 alertmanager-generated.yml、帶 Basic 的使用者能否呼叫 Prometheus 的 /-/quit(映像啟動時有開 --web.enable-lifecycle)、人用瀏覽器直接開 Prometheus 或 Alertmanager 網頁的體驗。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風險與待確認合成一頁。逐項前提、驗證狀態(已驗證與待驗證)在完整版第 26 到 30 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2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4.png"/><Relationship Id="rId4-created" Type="http://schemas.openxmlformats.org/officeDocument/2006/relationships/image" Target="../media/media15.png"/><Relationship Id="rId5-created" Type="http://schemas.openxmlformats.org/officeDocument/2006/relationships/image" Target="../media/media16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1.png"/><Relationship Id="rId8-created" Type="http://schemas.openxmlformats.org/officeDocument/2006/relationships/image" Target="../media/media18.png"/><Relationship Id="rId9-created" Type="http://schemas.openxmlformats.org/officeDocument/2006/relationships/image" Target="../media/media19.png"/><Relationship Id="rId10-created" Type="http://schemas.openxmlformats.org/officeDocument/2006/relationships/image" Target="../media/media20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21.png"/><Relationship Id="rId4-created" Type="http://schemas.openxmlformats.org/officeDocument/2006/relationships/image" Target="../media/media22.png"/><Relationship Id="rId5-created" Type="http://schemas.openxmlformats.org/officeDocument/2006/relationships/image" Target="../media/media22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22.png"/><Relationship Id="rId8-created" Type="http://schemas.openxmlformats.org/officeDocument/2006/relationships/image" Target="../media/media22.png"/><Relationship Id="rId9-created" Type="http://schemas.openxmlformats.org/officeDocument/2006/relationships/image" Target="../media/media22.png"/><Relationship Id="rId10-created" Type="http://schemas.openxmlformats.org/officeDocument/2006/relationships/image" Target="../media/media22.png"/><Relationship Id="rId11-created" Type="http://schemas.openxmlformats.org/officeDocument/2006/relationships/image" Target="../media/media22.png"/><Relationship Id="rId12-created" Type="http://schemas.openxmlformats.org/officeDocument/2006/relationships/image" Target="../media/media21.png"/><Relationship Id="rId13-created" Type="http://schemas.openxmlformats.org/officeDocument/2006/relationships/image" Target="../media/media22.png"/><Relationship Id="rId14-created" Type="http://schemas.openxmlformats.org/officeDocument/2006/relationships/image" Target="../media/media22.png"/><Relationship Id="rId15-created" Type="http://schemas.openxmlformats.org/officeDocument/2006/relationships/image" Target="../media/media22.png"/><Relationship Id="rId16-created" Type="http://schemas.openxmlformats.org/officeDocument/2006/relationships/image" Target="../media/media22.png"/><Relationship Id="rId17-created" Type="http://schemas.openxmlformats.org/officeDocument/2006/relationships/image" Target="../media/media21.png"/><Relationship Id="rId18-created" Type="http://schemas.openxmlformats.org/officeDocument/2006/relationships/image" Target="../media/media21.png"/><Relationship Id="rId19-created" Type="http://schemas.openxmlformats.org/officeDocument/2006/relationships/image" Target="../media/media21.png"/><Relationship Id="rId20-created" Type="http://schemas.openxmlformats.org/officeDocument/2006/relationships/image" Target="../media/media21.png"/><Relationship Id="rId21-created" Type="http://schemas.openxmlformats.org/officeDocument/2006/relationships/image" Target="../media/media21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3.png"/><Relationship Id="rId3-created" Type="http://schemas.openxmlformats.org/officeDocument/2006/relationships/image" Target="../media/media24.png"/><Relationship Id="rId4-created" Type="http://schemas.openxmlformats.org/officeDocument/2006/relationships/image" Target="../media/media25.png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1.png"/><Relationship Id="rId3-created" Type="http://schemas.openxmlformats.org/officeDocument/2006/relationships/image" Target="../media/media9.png"/><Relationship Id="rId4-created" Type="http://schemas.openxmlformats.org/officeDocument/2006/relationships/image" Target="../media/media15.png"/><Relationship Id="rId5-created" Type="http://schemas.openxmlformats.org/officeDocument/2006/relationships/image" Target="../media/media14.png"/><Relationship Id="rId6-created" Type="http://schemas.openxmlformats.org/officeDocument/2006/relationships/image" Target="../media/media11.png"/><Relationship Id="rId7-created" Type="http://schemas.openxmlformats.org/officeDocument/2006/relationships/image" Target="../media/media26.png"/><Relationship Id="rId8-created" Type="http://schemas.openxmlformats.org/officeDocument/2006/relationships/image" Target="../media/media27.png"/><Relationship Id="rId9-created" Type="http://schemas.openxmlformats.org/officeDocument/2006/relationships/image" Target="../media/media28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30.png"/><Relationship Id="rId4-created" Type="http://schemas.openxmlformats.org/officeDocument/2006/relationships/image" Target="../media/media31.png"/><Relationship Id="rId5-created" Type="http://schemas.openxmlformats.org/officeDocument/2006/relationships/image" Target="../media/media16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2.png"/><Relationship Id="rId4-created" Type="http://schemas.openxmlformats.org/officeDocument/2006/relationships/image" Target="../media/media2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結論版:每個元件怎麼做</a:t>
            </a:r>
          </a:p>
        </p:txBody>
      </p:sp>
      <p:sp>
        <p:nvSpPr>
          <p:cNvPr id="2" name="c62710db-9aca-4630-853c-62ed6cd1abb7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c1ee749-d609-44d1-8d36-a0144aee45ad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17190bc-567a-4547-b5d5-12278f89e9b2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ead65d3-3596-4e8f-b95d-c8cbce0d1e9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99651cbf-d6e9-491a-b023-a53d87acfa36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6a45a90f-a11d-49d4-bcfc-562bb6834e63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da83ebc8-9141-4c15-b4cb-adcfd57c975e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3e0b0701-50e3-477b-8156-77e6355e217d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5f4ad050-e7a0-47ae-bda6-50363197d129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e8e6d991-4165-44a4-a001-3e21b91e5c6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e110c347-1b5b-4dee-b7e1-b378390ce130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66e4d2ed-0b44-490d-9323-d25eac128793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543c4465-31cd-46d4-91cf-f15615b86695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a5f4101e-8a6a-4eef-bf1a-bec9df719144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6ed3f312-f246-46f1-9d8b-8efced4f036f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2e6092e0-1b7e-4576-81fc-cd209de1e02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db333f29-ae95-451a-820e-f02e863cc116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d317b5bd-1a79-485e-92ea-2df072041e9a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6e35b24f-719a-4ab3-a25f-b7e98d693fbc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6447a68f-2160-4e3c-9371-81663050d0ea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94d3d4a8-89ca-4ab0-8caf-cac0dde3e0a9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f799c450-51b8-44f2-8d16-8e4bec484592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共用一組憑證,只做加密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不承載權限;身分另外處理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730aad5-8e64-4df5-b79c-29c89aca08bf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1c8a81bf-e5e7-495a-baef-3b0566bd4f3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34a62270-66ac-472d-80c4-f15b9343099a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621b0a97-143e-4c0e-aeb1-f2f63ed06d95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62c8f53e-08c5-45e9-abe9-879a0f0ca4eb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74ad0a8b-932a-4b44-b068-61df601ec5e4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abfe5742-0a4d-43f7-9aac-ac2b7f8dd03f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08ec56fe-4648-444b-b6ad-018c6bf1b326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1d9575e5-747c-4924-8972-fbec0feeeb21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412e9e35-dd49-4c86-90fe-4ee5c2e404ed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e3a04bbb-5d8e-4207-9446-4db204d9136f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72dd0127-008d-46a1-930b-566ecd751cd9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38d30309-8ad1-48d5-8d89-e12ae0955a87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971f2291-71fe-417b-91b3-3aab70e6ccf1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730e1b59-8b49-460a-8eef-c2210382bcef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2448ebc5-d386-4f24-93fb-14cba0c37460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4c23e9f2-70b4-4c5a-914b-a8da49b96a55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6da24d5a-d2dd-4c8a-ba8b-fb1561d2ebf1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涵蓋所有元件主機名稱(含 Prometheus、Alertmanager)</a:t>
            </a:r>
            <a:endParaRPr lang="en-US" sz="1200" dirty="0"/>
          </a:p>
        </p:txBody>
      </p:sp>
      <p:sp>
        <p:nvSpPr>
          <p:cNvPr id="20" name="50b36470-a75b-4688-9c85-1eb6a3ce0da7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dcc16024-1d39-410c-a760-2a240295d69d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藍色是組件,紫色是貫穿全案的安全機制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0a3c359-e30e-4720-a098-204d347b1603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9e0eec1-82f5-46ae-8b59-3536be6a99af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d8529f5-d5a9-46c3-b5ea-fc4c7ecb803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a777239a-d05c-4080-b04b-fac444a3443a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2c12ded1-8ef5-4e59-8991-18f166259e22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79f07296-9dab-46a5-a4af-feaddd9df231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43045dfc-f522-4714-b077-7a53e8e7db21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2ee56345-c754-4d63-97e7-f6688f2871d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c77c7cbb-3285-4d7c-bad6-fb7b96bed5b1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41651b4e-0ff9-443e-90db-cd3722135a81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cfaebb17-f6cd-46c2-886f-fa980fa7b5ca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8c26f042-6875-42a2-b822-5c10cc142116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3fc51553-2279-4fd4-a4a3-f8b901333ae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5dddec46-e7e3-4f05-b02a-ad2b516c2fce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8ed3c70b-307e-42f5-ab07-ea874ef543c2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dd7ee912-01af-479a-9158-95177c539276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b5a115e1-7f3d-428f-a90a-8f2cc90fbfc1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1bdf8404-c249-45b3-941a-135bdfd6139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98c71c84-acd1-47fe-82c9-ed426218d9a3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86cea1b5-f6c0-4b81-9079-f390b9d6864a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604e4ffb-1548-48a6-be09-8f493eef022d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549050bb-b507-4f6a-82db-658983e0b983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c3b012b8-8d47-4d51-82dd-ee509859bbf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b5ff7d09-6c85-4682-865d-a24b8b688241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fd6c5a5e-c7ac-42b1-a81d-13bfbc92b2db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558c2488-6bab-4e9d-8cc9-19dc50d2c4b6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5ce2707e-da5e-4417-b82f-536a53c536d3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f2ca40d-f463-4f44-bcd1-c3973f353e3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908b4610-ed72-4e6a-a589-9c5ea33c75eb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edde13bc-3f10-4120-acbd-5567467836d5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6bbc2b85-f804-4914-a2f4-6e53912410c1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5ef7aae5-5120-43b5-b1c6-1f2ec71fbed7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e14a89f5-420e-49f3-b08e-f445c072e2ae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380e03d7-3feb-4683-8447-c04ba62e42b6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7e3ec6eb-caaf-47db-8d23-e6c07bd8fb76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0cf480ab-e5c5-4058-85af-dea79828fc8f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dae54449-b81d-42a8-890b-902e459f0d9c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b3844dd0-e9b1-4238-8433-76b5fee0025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8c8eab15-8448-4f98-87c8-494d25ca1688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4d444d5f-ba20-4877-891a-4ec9a483fb06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7ba43f3d-aed7-4f5c-b0f9-974bc662e5af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d96bc48d-9791-4bb4-ae82-9c49da228b8d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fef0ee09-625f-4e5b-b928-29b264c711ed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aa8133f4-9d36-4d28-8b61-3e35069a495f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d3f1bb96-7f5d-4ddb-aa48-689a304401b4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771acfe-1e25-4ab4-bb5a-5db71af81f91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38a24361-a201-4ce4-9778-1346702bd241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23d0df4f-523d-40b3-82d2-1dfac7d8717c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53d81079-9d59-4bda-87e9-76bc091db095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6b16b49b-e8a1-4de9-98b5-abe9e8314c20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4b7f1de5-3e9e-4eaf-b2a4-4183dbfb5eb5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564f91d3-fe27-4ce9-87ff-22346d29f1ce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4998bd98-961b-4d59-b959-10af42afe0f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e7eaf552-5810-46a1-8ec6-f5967cbcde6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3f153a63-e1c2-4d80-a4bc-7e5b33f6f9f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6876a3ae-69a8-470d-9e70-f65f89a75a6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31d43a12-d7fc-4f07-850c-74fe97873981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27ea1596-1712-458d-b097-b00baf4933cb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094cd1a5-0862-44d4-8780-73b1a1d8a893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283c2d92-2272-4d86-9a7c-93df8c5c328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05878d7f-5d7c-4ca7-bf92-8777aab335d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258de72b-2a4c-4820-986c-f80556da90ae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d9cebaf9-e713-4b0a-84f2-cc855289362f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5a485e9a-0da6-40f1-a736-38c2992552a8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5a8477de-01f7-4215-999f-7a8cd2fbdfe0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c39810fd-1d13-4f98-a75f-0ad2d2cd056b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a42c9df5-cddc-46f2-9378-060470153734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4accc13e-d599-4dc1-8614-1e247a61e173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a801968a-1af2-412d-bfd0-88b3b6d32a0b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b03ab8aa-76b9-4796-bf27-7c986c351bab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6405d558-2415-498e-ad4c-8cd67e594d48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bd3c7cfa-fead-4c2a-b45b-6b4d5e7ae10a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cefa6b30-f332-44f7-b0df-293f0b60a031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b4978928-35f1-4791-9e22-22d92bbd1738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f4baf2e3-1dea-4fcd-95bc-13c0930c95ba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f8a5ae33-7c95-4947-a68e-ad4c690bb27d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26a00bab-4172-414f-af10-8da946de0083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69250cfb-fe76-49ad-a0b2-353cdca47f81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0700b612-b116-41a1-85ec-c45c2fec67c1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632f8d37-05eb-44e5-9a97-66266fec7fd2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53df6a0f-4758-4afb-9c40-5b264df30ccc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46777836-9113-4021-b3ef-28e4a44bd1d7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5819cea8-a818-4c83-967c-de2de14fe700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f74fc0d4-ecaa-4b67-84e0-c40f4692cb4a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de964ff1-78df-416e-a30f-b5f48a374319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7ca41472-2656-4e4c-888a-6cdd6a6ef2d5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99793044-11c5-4e85-ab98-a716c36f761e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148668ca-34d1-41d0-9b4c-dbc4af440e1b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5b050fe2-4dd0-4726-8369-f195f467235b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f40493ec-2b60-4bee-b15f-1db716dcf705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97970d08-9a2c-4a38-a7aa-4cc49e7a1cf8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bc879267-a739-4d45-9d25-406a4284ea79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30ac0da-67c9-4486-9062-a0843e51adb8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86f15769-ecbc-437c-8f71-30e170dadb26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e988c96f-e313-40a9-b880-cf38c5cb888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4b1cbb67-d171-496e-b9b2-813792d3e538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6" name="e80f491c-04ba-4f12-8069-8641981b07f3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1cde8bc9-c38c-4e76-a3c1-6e99cbffc1f9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efea202c-2e32-4668-865a-fa3370f7b327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61097ef4-0737-4b58-8b99-8626454de2d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d20d0e11-2322-4b34-bebb-a8da7a8193ad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a2091b3e-b920-4c6d-ba35-a9b6348094e1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962eb7af-af75-460b-a436-69ba597ca33d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953be73b-90ce-4cd3-b5db-67280e2603b9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dae68e38-2ee0-4319-bf2c-c2627b0b8a7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2fb8dffe-1d77-4477-9814-f021d4f5e712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36659547-3a54-4dca-86ff-eca32d9f4ff7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9fc31e60-7014-4d36-b9b4-d2cde2c33c54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630383a1-4e70-40f0-98a6-ef9cbf0584e1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a249634a-5727-42f1-b0aa-0430bfa431f3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04b7116f-8daa-4aee-ba49-dae7f6d83a25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5c26a437-e8eb-42a9-b179-29f1c8c7b4d8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90bd4ecc-e94b-4203-a658-38d21b8a9b4c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3ef765ca-69cc-46c1-ad5e-26b46e593dd3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f08e1da2-d15c-4b58-a559-ca0b6f77ff61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3170c95c-847b-4c50-9544-5b32681f6bd9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d913ccf2-7acb-4401-9729-8db756549ce9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1ecef8d-0d94-40eb-aad2-eb5e9d00281b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1b8d3db4-a353-43da-9a15-9cedf1f1d924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baaf7c83-3bc7-4a24-8b3d-45d84557453a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6281df3b-d4ab-44aa-8fe5-daba425d8a0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6c8f4774-8fcb-4bf0-8992-c16d3c08bcd8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f8d3ef56-d149-4c94-bf94-d593ae845e61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72a14cba-53a4-4d1d-946e-cfcb74bb61ad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268ec014-6f0f-4671-8b17-540e97f64d97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6fd50940-16a7-4730-bb72-9bc3ae446c83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b4df551c-3d54-415b-aa6f-69a8dd1b0d4d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c4fce656-e25d-41ca-beaf-cee7cfc2793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d6d176b0-955a-4c9e-a14f-d05fcfb415ad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1fa4ce7f-e010-4497-8aec-68b47b18b233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3229a7e5-b098-45ba-a0f2-7a3b594fbd95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6f444ebb-13ae-41f3-9412-8b49accae1f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4188fca0-1396-4358-85d7-53e63d8c8876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7cd943d6-0020-440f-8d2c-484ef1544c11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123a483e-4723-41cd-88ee-1d321ef59654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056c3ffb-a2cc-471d-a36c-87273326f30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08977a18-f882-4547-ba03-e159fa1949c6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4cdb1d75-0488-441c-8540-6363900c600e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81d9b841-a2cc-4a5d-9726-9ef9db3bf623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1d698d47-1736-4852-9c89-19fc0a5c562c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7eef178d-9bee-4c2c-93c3-560d799875ee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d40ec96a-0f40-435f-ac2d-d2d136342270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33d36cf7-f03f-4202-a2e7-4d1af8950638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d8700fc6-8191-4eef-a8bb-c3f3c6fe6745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56d2b16e-6706-4c9d-930d-71b99cd0ee27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a88e8b82-3289-4138-9e19-bb26fe0ad34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47a205bd-b32d-415c-8cc4-e2f8a77983ed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71cf96fb-9b5b-4df1-ac41-1acf2d603ffa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d675b80b-a6e5-4dc1-9b9a-be971f15ee00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b9ae3f97-4c5a-4ef0-a680-e0837774f1a9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cbacb27e-8b5e-4f7c-b11d-05312a5ce13d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9f509b99-9c7b-40c2-8707-0b6464e388ea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e1c5e525-5b11-467f-b08b-441f041d196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7e5b8ffa-2393-40a7-9da7-60437162d7f5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6e0088ce-2a22-45b4-bb8d-e22c19ecacbd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b5040f14-90d0-4639-9182-9177ad3394b2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178d6ba2-0db8-4480-bad4-ff2fe30913f2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ee183809-5d25-4dce-a8c4-922fdda17274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93dd19a2-e338-4613-9fd9-7ed7c0d8e1ea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2a899368-4a94-4861-8ac6-1713018ea7c7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194ff6d6-b67f-4b4b-bd88-b937382679b1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45f5d512-a980-463e-9c18-70f41b3d5223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4d30d914-8dfe-4415-863b-a09c27f8629b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9e7b52b4-ae19-43c4-8900-59dc05ca0484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d5eb9d34-df43-4baa-b356-3f870a09fd80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bf7d3eab-3c26-4f25-a4e3-334769fa238b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b24be56b-db82-4d23-96ac-61f5de8ec0eb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993c8cf5-a5bd-4c85-8971-e527cecc011e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6dca7168-7265-428e-89ed-5465cff3adda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背景工作用 c3 憑證換 token(官方要求 SystemAdmin)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61d3733-ada0-48ad-813b-a2d2d35cc3bf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738b376-82e3-496d-b6c7-80f326ded04c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9e0a1839-5dec-4341-8d93-17bcdf15b97d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c7f302a2-4d7c-40be-ba5e-c434712ce232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f85b5aa4-7edd-4a6a-9f83-76557c69597f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9cd1da57-68c3-4068-8092-88c864bb9999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a458d89d-3626-4673-9d62-2bbf55c01971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50404b9d-d461-464e-9001-232f88e79b4c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6e72a5b8-b780-48a7-8d58-0b2f95376a08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f8ac005c-e19e-4c27-9146-e3964491369b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7e97c7ea-e6b5-4b5b-82a8-e8a97faf5ba3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f230034-f4ee-4ade-919f-fa821a9593b3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47d77105-1564-47d9-bd9b-caa598e0f674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45871ffb-b199-49ea-98fb-68d9870d88ad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359c3fef-7eb0-4e15-8d85-d22d60739577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7a8d2211-1e7f-41b5-8098-748fec0f1e3f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22546e4f-2e08-4ea3-8129-9234163e1954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c1b3ed69-a5e8-4a68-b5ce-810a70f60ce7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97e07924-70e5-44fa-9ffc-d092ba660ea9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8f368a1b-985d-455e-90cb-9ac98ac61de9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b4b68af2-bd26-4700-bf37-5801a47df6c4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6dab358c-094d-4303-9ab0-3586a51018a3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24a7455d-d145-494b-ba35-d56963de4eeb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</a:t>
            </a:r>
            <a:endParaRPr lang="en-US" sz="1400" dirty="0"/>
          </a:p>
        </p:txBody>
      </p:sp>
      <p:sp>
        <p:nvSpPr>
          <p:cNvPr id="25" name="342bb9db-f11d-488a-a8b8-5bd488c554ab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自己的 API: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轉給 MDS 的請求: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 MDS 驗證</a:t>
            </a:r>
            <a:endParaRPr lang="en-US" sz="1100" dirty="0"/>
          </a:p>
        </p:txBody>
      </p:sp>
      <p:sp>
        <p:nvSpPr>
          <p:cNvPr id="26" name="8bf8bb55-df3d-44c5-970e-572b96cd47c1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00ee9876-2e97-4a33-a113-0cf975bb301c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afc8fe13-6b4d-4466-b9c2-073ee2d579b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13c29b44-5bc3-4dd9-8cc1-254fe9f04ebc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f1cadcad-6a25-4d64-8647-6661228f10fd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6fc14a95-b1da-4a47-abd2-b0bf6eac58c0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98c18ed3-a26a-4da7-a4ea-89bec3f9902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2f636158-522e-4ca3-add8-9bde48d91aff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0a301936-a32e-45ec-a1bb-47e2d03f7a49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3607084a-56e2-4c6b-aad7-1f47fc76c664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1442f027-80b6-4402-9262-06c83b59a507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監控元件啟用 TLS + Basic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指標與告警的四條連線,都實測通過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d98b072-81a9-41f0-8031-75890b9567ad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943f87c7-6eb9-4c1a-a6ba-c741496b9617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c090b5d-fd53-4d46-93bf-3daf629e005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ca648d1b-748a-47d1-a48d-7019cd044109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 / 2</a:t>
            </a:r>
            <a:endParaRPr lang="en-US" sz="1400" dirty="0"/>
          </a:p>
        </p:txBody>
      </p:sp>
      <p:sp>
        <p:nvSpPr>
          <p:cNvPr id="6" name="7122c2d2-453b-4f37-959f-e22a149cb659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de36c49e-55e2-4326-af07-e2910205d89e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e7e27ad-b19d-4c96-9a84-8f0cb0ac25db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1aeb221-9f8f-486e-8ee5-803648573db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f3eb93c1-3d24-48eb-b177-16aac2abbd0d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459220ef-efa2-4acd-966b-90aba7ae4294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 · 9090</a:t>
            </a:r>
            <a:endParaRPr lang="en-US" sz="1100" dirty="0"/>
          </a:p>
        </p:txBody>
      </p:sp>
      <p:sp>
        <p:nvSpPr>
          <p:cNvPr id="12" name="0e858645-e777-481b-a9a2-ff35e2e62100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a579e71-66aa-4593-ad98-a6dc6adcad4b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f4368a1f-0521-49ec-8edf-4203d3db998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2d2198e0-a871-4220-a79e-347635481203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d644a323-5409-4a87-a88c-f3ad151f96f9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 · 9093</a:t>
            </a:r>
            <a:endParaRPr lang="en-US" sz="1100" dirty="0"/>
          </a:p>
        </p:txBody>
      </p:sp>
      <p:sp>
        <p:nvSpPr>
          <p:cNvPr id="17" name="fa9cc6e6-05f4-4c84-b07d-49149955e5a0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a91d6215-28c0-441f-a021-84b8b1e748d1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a6184af5-0dfa-4d30-880a-600ef071f86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fa145ca9-5f9b-4d26-aee0-640a8b4321b7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acfec872-ed83-4a19-be38-1c83beb08a91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9d437fb0-71a7-4cae-8519-57cba61f1fad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281843d5-a73f-4954-8d5b-b20fb6b413bf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ad562fac-b13c-4e9c-accf-ec47e9cca572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6a837c68-69a8-411f-a176-a9e347731586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2f4131d6-0fb7-4797-a6d7-fe379b466ce4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3e5678e0-639a-4010-957f-3226f328359e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5eae5370-0c1c-4a0e-b607-c7030e6fdab8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0aac04f4-5aa5-4360-8f28-169445ca673e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 · 重載規則</a:t>
            </a:r>
            <a:endParaRPr lang="en-US" sz="1200" dirty="0"/>
          </a:p>
        </p:txBody>
      </p:sp>
      <p:sp>
        <p:nvSpPr>
          <p:cNvPr id="30" name="5c6d55de-14a9-4cda-9f63-c1f7f69a95fb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a201f5e5-d4d1-4737-b430-5a47fd5409f0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3ffa1aea-aa46-4447-914f-e5aa21090615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重載設定</a:t>
            </a:r>
            <a:endParaRPr lang="en-US" sz="1200" dirty="0"/>
          </a:p>
        </p:txBody>
      </p:sp>
      <p:sp>
        <p:nvSpPr>
          <p:cNvPr id="33" name="e2b2fee9-5aa5-4078-bc3f-f9603449f108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cdd70f8b-e8f4-4162-bab2-99cf99303b8d"/>
          <p:cNvSpPr/>
          <p:nvPr/>
        </p:nvSpPr>
        <p:spPr>
          <a:xfrm>
            <a:off x="548640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Basic 不用 mTLS:客戶希望憑證越少越好,不另發 client 憑證</a:t>
            </a:r>
            <a:endParaRPr lang="en-US" sz="1100" dirty="0"/>
          </a:p>
        </p:txBody>
      </p:sp>
      <p:sp>
        <p:nvSpPr>
          <p:cNvPr id="35" name="fd1af49c-b3ac-45c6-ac1e-d8d40b49dba4"/>
          <p:cNvSpPr/>
          <p:nvPr/>
        </p:nvSpPr>
        <p:spPr>
          <a:xfrm>
            <a:off x="6199632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要補 prometheus、alertmanager(實測:否則主機名稱驗證失敗)</a:t>
            </a:r>
            <a:endParaRPr lang="en-US" sz="1100" dirty="0"/>
          </a:p>
        </p:txBody>
      </p:sp>
      <p:sp>
        <p:nvSpPr>
          <p:cNvPr id="36" name="a0b98295-cd6d-4b5a-be1c-6e8b3b0b9d64"/>
          <p:cNvSpPr/>
          <p:nvPr/>
        </p:nvSpPr>
        <p:spPr>
          <a:xfrm>
            <a:off x="548640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的 alerting 要設 https + 帳密 + CA(官方頁未寫,實測必要)</a:t>
            </a:r>
            <a:endParaRPr lang="en-US" sz="1100" dirty="0"/>
          </a:p>
        </p:txBody>
      </p:sp>
      <p:sp>
        <p:nvSpPr>
          <p:cNvPr id="37" name="62ad1494-36f2-4bfa-ad89-ca7f43522d55"/>
          <p:cNvSpPr/>
          <p:nvPr/>
        </p:nvSpPr>
        <p:spPr>
          <a:xfrm>
            <a:off x="6199632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日誌會印出 Basic 標頭(Base64 即帳密)→ 日誌要保護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看得到被拒,但不是全記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部分拒絕查不到,稽核需求要另外盤點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2c4c070-9423-4da9-8d94-09dfbd2bd6b4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8336ccd2-a602-4613-b79e-f6c0b76ce89a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8637b8dd-7808-47fd-b181-ebb6efd07ab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b9c8c988-3dd0-45c5-9be9-5d4dc6bd41b9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54e6a580-38d8-4b39-a8ae-b94800bb3d57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ba487865-7eb5-4e80-a260-3d8e151dc468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f3ca172f-a6ea-475f-b13f-5214d1929990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f70b7092-553d-44b5-9597-a71efcef993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8387fac7-6f60-4dac-8b79-2fca3016f0ff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4354a0c1-d53d-4570-858e-d498d2925a5a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0518c898-c501-411b-90f4-310e39c6c01c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48a9c49d-1920-4af9-b5e5-b78659f9bd2a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961becae-751e-431b-9238-dd0595f1649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a1a966f8-6d8e-41e9-b815-fb9d2ba3e87d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44a49e9c-5e0b-4b7d-a9b1-64046346924e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d0938b2a-d88c-4965-8ba7-bfbf457c2e65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13d20f96-febb-43b1-921c-e2889c36b7c2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aa39654f-efda-4581-8a33-a2d7a34c8690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8afcf845-a0f7-43c9-b04f-c0eae36e398b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2ac8ee1d-7a8e-40ba-be87-fb6e19cddc89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a0681452-23fb-4403-9e73-455d2543d00b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b2409782-b87b-4b3b-a253-16a34505d524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風險與導入前要確認的事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五個要留意的風險,與六件需要客戶回覆的事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552b038-5299-4193-9d33-da0354cd73db"/>
          <p:cNvSpPr/>
          <p:nvPr/>
        </p:nvSpPr>
        <p:spPr>
          <a:xfrm>
            <a:off x="548640" y="1685050"/>
            <a:ext cx="54406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要留意的風險</a:t>
            </a:r>
            <a:endParaRPr lang="en-US" sz="1500" dirty="0"/>
          </a:p>
        </p:txBody>
      </p:sp>
      <p:sp>
        <p:nvSpPr>
          <p:cNvPr id="3" name="b580d812-2bcf-4b93-a41d-85a5753dd765"/>
          <p:cNvSpPr/>
          <p:nvPr/>
        </p:nvSpPr>
        <p:spPr>
          <a:xfrm>
            <a:off x="548640" y="2109298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憑證等於管理員,私鑰要保護</a:t>
            </a:r>
            <a:endParaRPr lang="en-US" sz="1150" dirty="0"/>
          </a:p>
        </p:txBody>
      </p:sp>
      <p:sp>
        <p:nvSpPr>
          <p:cNvPr id="4" name="818668c0-89ef-447f-b5ad-3b00b4b76d95"/>
          <p:cNvSpPr/>
          <p:nvPr/>
        </p:nvSpPr>
        <p:spPr>
          <a:xfrm>
            <a:off x="548640" y="2771126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憑證可代人,特權身分列入保護清單</a:t>
            </a:r>
            <a:endParaRPr lang="en-US" sz="1150" dirty="0"/>
          </a:p>
        </p:txBody>
      </p:sp>
      <p:sp>
        <p:nvSpPr>
          <p:cNvPr id="5" name="55036e1e-be8a-45e3-aaa2-1a6c75ae31fb"/>
          <p:cNvSpPr/>
          <p:nvPr/>
        </p:nvSpPr>
        <p:spPr>
          <a:xfrm>
            <a:off x="548640" y="3432954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私鑰外洩(server、token 簽章)可偽造身分</a:t>
            </a:r>
            <a:endParaRPr lang="en-US" sz="1150" dirty="0"/>
          </a:p>
        </p:txBody>
      </p:sp>
      <p:sp>
        <p:nvSpPr>
          <p:cNvPr id="6" name="d78c15bc-3ae8-4119-ad75-f6d0c7428f4e"/>
          <p:cNvSpPr/>
          <p:nvPr/>
        </p:nvSpPr>
        <p:spPr>
          <a:xfrm>
            <a:off x="548640" y="4094782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密碼不到期,要有輪替流程</a:t>
            </a:r>
            <a:endParaRPr lang="en-US" sz="1150" dirty="0"/>
          </a:p>
        </p:txBody>
      </p:sp>
      <p:sp>
        <p:nvSpPr>
          <p:cNvPr id="7" name="fead3144-01c0-46c5-b6bb-ecbcaf0174f9"/>
          <p:cNvSpPr/>
          <p:nvPr/>
        </p:nvSpPr>
        <p:spPr>
          <a:xfrm>
            <a:off x="548640" y="4756610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不是全記,稽核需求另外盤點</a:t>
            </a:r>
            <a:endParaRPr lang="en-US" sz="1150" dirty="0"/>
          </a:p>
        </p:txBody>
      </p:sp>
      <p:sp>
        <p:nvSpPr>
          <p:cNvPr id="8" name="0126d26d-00a9-45ae-bd46-253d61884bfc"/>
          <p:cNvSpPr/>
          <p:nvPr/>
        </p:nvSpPr>
        <p:spPr>
          <a:xfrm>
            <a:off x="6199632" y="1685050"/>
            <a:ext cx="54406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請客戶確認</a:t>
            </a:r>
            <a:endParaRPr lang="en-US" sz="1500" dirty="0"/>
          </a:p>
        </p:txBody>
      </p:sp>
      <p:sp>
        <p:nvSpPr>
          <p:cNvPr id="9" name="456280b4-b882-4ba8-a39b-3e6062f74650"/>
          <p:cNvSpPr/>
          <p:nvPr/>
        </p:nvSpPr>
        <p:spPr>
          <a:xfrm>
            <a:off x="6199632" y="2109298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唯讀查詢帳號與 LDAPS</a:t>
            </a:r>
            <a:endParaRPr lang="en-US" sz="1150" dirty="0"/>
          </a:p>
        </p:txBody>
      </p:sp>
      <p:sp>
        <p:nvSpPr>
          <p:cNvPr id="10" name="8cb27f0e-d7a6-4e8a-ac17-6eec0c5d4d3c"/>
          <p:cNvSpPr/>
          <p:nvPr/>
        </p:nvSpPr>
        <p:spPr>
          <a:xfrm>
            <a:off x="6199632" y="2660822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憑證與 AD 的 LDAPS 憑證由誰簽發</a:t>
            </a:r>
            <a:endParaRPr lang="en-US" sz="1150" dirty="0"/>
          </a:p>
        </p:txBody>
      </p:sp>
      <p:sp>
        <p:nvSpPr>
          <p:cNvPr id="11" name="733430ec-01ff-4f21-8a49-22c0eafebe6b"/>
          <p:cNvSpPr/>
          <p:nvPr/>
        </p:nvSpPr>
        <p:spPr>
          <a:xfrm>
            <a:off x="6199632" y="3212345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</a:t>
            </a:r>
            <a:endParaRPr lang="en-US" sz="1150" dirty="0"/>
          </a:p>
        </p:txBody>
      </p:sp>
      <p:sp>
        <p:nvSpPr>
          <p:cNvPr id="12" name="790f24da-93b9-4531-ada2-75f228b687eb"/>
          <p:cNvSpPr/>
          <p:nvPr/>
        </p:nvSpPr>
        <p:spPr>
          <a:xfrm>
            <a:off x="6199632" y="3763868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RBAC、audit、C3</a:t>
            </a:r>
            <a:endParaRPr lang="en-US" sz="1150" dirty="0"/>
          </a:p>
        </p:txBody>
      </p:sp>
      <p:sp>
        <p:nvSpPr>
          <p:cNvPr id="13" name="599782fb-767d-42e1-b3a5-380e5ea3e8ff"/>
          <p:cNvSpPr/>
          <p:nvPr/>
        </p:nvSpPr>
        <p:spPr>
          <a:xfrm>
            <a:off x="6199632" y="4315391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DC(LDAP 停擺超過 24 小時,授權器會失效)</a:t>
            </a:r>
            <a:endParaRPr lang="en-US" sz="1150" dirty="0"/>
          </a:p>
        </p:txBody>
      </p:sp>
      <p:sp>
        <p:nvSpPr>
          <p:cNvPr id="14" name="0af2cfdf-750f-494c-b5b5-5f787f03f268"/>
          <p:cNvSpPr/>
          <p:nvPr/>
        </p:nvSpPr>
        <p:spPr>
          <a:xfrm>
            <a:off x="6199632" y="4866915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