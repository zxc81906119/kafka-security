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結論版,只講做法與結果。出處、實測依據與限制在各頁備忘稿,完整版有逐項前提與驗證狀態。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 為什麼用 Basic 不用 mTLS:官方兩種都支援(TLS + Basic 自 7.5,另有 mTLS 設定頁);依客戶前提(憑證越少越好),mTLS 要替 broker、C3、Prometheus、Alertmanager 各發 client 憑證,Basic 只要帳號密碼,所以選 Basic;帳密的代價見下。防火牆:Prometheus 9090 要開給 broker(推指標)與 C3;Alertmanager 9093 要開給 C3 與 Prometheus(送告警);這四條以外不用開。新增的要管理項目:Prometheus 與 Alertmanager 各一組 Basic 帳密(demo 用同名 c3),bcrypt 雜湊在 web-config,明文放在 broker 設定(api.secret)與 C3 設定(basic.auth.user.info),輪替流程未驗證,應列入「要管理的憑證與帳號」清單;共用 server 憑證的私鑰也要放到 Prometheus 與 Alertmanager 的主機,私鑰的存放處變多,外洩風險範圍變大。Basic 沒有唯讀與寫入的分級:broker、C3 查指標、C3 重載規則都用同一組帳密(官方也沒有提供分級)。未驗證:KRaft controller 是否也要設 telemetry exporter(demo 的 controller 沒設,正式環境有 3 個 controller)、Prometheus 與 Alertmanager 更換共用憑證時是否要重啟、email 告警帶 SMTP 帳密時帳密如何寫進 alertmanager-generated.yml、帶 Basic 的使用者能否呼叫 Prometheus 的 /-/quit(映像啟動時有開 --web.enable-lifecycle)、人用瀏覽器直接開 Prometheus 或 Alertmanager 網頁的體驗。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風險與待確認合成一頁。逐項前提、驗證狀態(已驗證與待驗證)在完整版第 26 到 30 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2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15.png"/><Relationship Id="rId5-created" Type="http://schemas.openxmlformats.org/officeDocument/2006/relationships/image" Target="../media/media16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1.png"/><Relationship Id="rId8-created" Type="http://schemas.openxmlformats.org/officeDocument/2006/relationships/image" Target="../media/media18.png"/><Relationship Id="rId9-created" Type="http://schemas.openxmlformats.org/officeDocument/2006/relationships/image" Target="../media/media19.png"/><Relationship Id="rId10-created" Type="http://schemas.openxmlformats.org/officeDocument/2006/relationships/image" Target="../media/media20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21.png"/><Relationship Id="rId4-created" Type="http://schemas.openxmlformats.org/officeDocument/2006/relationships/image" Target="../media/media22.png"/><Relationship Id="rId5-created" Type="http://schemas.openxmlformats.org/officeDocument/2006/relationships/image" Target="../media/media22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22.png"/><Relationship Id="rId8-created" Type="http://schemas.openxmlformats.org/officeDocument/2006/relationships/image" Target="../media/media22.png"/><Relationship Id="rId9-created" Type="http://schemas.openxmlformats.org/officeDocument/2006/relationships/image" Target="../media/media22.png"/><Relationship Id="rId10-created" Type="http://schemas.openxmlformats.org/officeDocument/2006/relationships/image" Target="../media/media22.png"/><Relationship Id="rId11-created" Type="http://schemas.openxmlformats.org/officeDocument/2006/relationships/image" Target="../media/media22.png"/><Relationship Id="rId12-created" Type="http://schemas.openxmlformats.org/officeDocument/2006/relationships/image" Target="../media/media21.png"/><Relationship Id="rId13-created" Type="http://schemas.openxmlformats.org/officeDocument/2006/relationships/image" Target="../media/media22.png"/><Relationship Id="rId14-created" Type="http://schemas.openxmlformats.org/officeDocument/2006/relationships/image" Target="../media/media22.png"/><Relationship Id="rId15-created" Type="http://schemas.openxmlformats.org/officeDocument/2006/relationships/image" Target="../media/media22.png"/><Relationship Id="rId16-created" Type="http://schemas.openxmlformats.org/officeDocument/2006/relationships/image" Target="../media/media22.png"/><Relationship Id="rId17-created" Type="http://schemas.openxmlformats.org/officeDocument/2006/relationships/image" Target="../media/media21.png"/><Relationship Id="rId18-created" Type="http://schemas.openxmlformats.org/officeDocument/2006/relationships/image" Target="../media/media21.png"/><Relationship Id="rId19-created" Type="http://schemas.openxmlformats.org/officeDocument/2006/relationships/image" Target="../media/media21.png"/><Relationship Id="rId20-created" Type="http://schemas.openxmlformats.org/officeDocument/2006/relationships/image" Target="../media/media21.png"/><Relationship Id="rId21-created" Type="http://schemas.openxmlformats.org/officeDocument/2006/relationships/image" Target="../media/media21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3.png"/><Relationship Id="rId3-created" Type="http://schemas.openxmlformats.org/officeDocument/2006/relationships/image" Target="../media/media24.png"/><Relationship Id="rId4-created" Type="http://schemas.openxmlformats.org/officeDocument/2006/relationships/image" Target="../media/media25.png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27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16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結論版:每個元件怎麼做</a:t>
            </a:r>
          </a:p>
        </p:txBody>
      </p:sp>
      <p:sp>
        <p:nvSpPr>
          <p:cNvPr id="2" name="1688377a-04f3-4c2e-9d09-a9925797d1c3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57a89ed-a03f-40e9-a477-cc1380a0249c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5f8c36e-c176-43d0-b352-f25befb0f72c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54e2c31-369d-4ed2-a344-ffa6a5bf6f6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74a114d7-bcae-4890-855e-475125a71bca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fce18abb-9bc7-4bff-96b2-23eec82153af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e9f64e18-b67d-47b3-8856-a8671d271db2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e5f6e3eb-de5d-474e-951c-c43433f2c801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b60f5a7c-ae84-4bf5-b2bc-9f18a21738f6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afd6edb2-0a9b-4790-9c08-79e59defe41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a46a64b9-ed31-4262-b03e-44a465f99956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f2b25b8f-e382-407f-9e55-1d5f5fdbb525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e2dbdb37-bc47-4de7-be0f-7de30f31ed9e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79bd74ec-c32a-4464-b6be-6b59f2a6a023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7a5b3c8f-8c07-4741-8c0c-b368bcb210ed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edcb2251-d745-4ecc-a1df-99d7ed85144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9b6c9505-6b95-4a00-8409-72ee55780af5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8060824f-8cf5-4d0e-8d8f-4e771405bfde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0711094d-0e70-4e49-8f36-5757f44c53a3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2ce00336-c10f-4abe-8e63-c738b17fcea4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b9420185-a645-4940-b44b-07a6c8aae789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b431def7-41f6-465f-ab5d-76b22c4b4f8f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共用一組憑證,只做加密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不承載權限;身分另外處理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52c8cb3-d90f-4ba9-a77b-a6bdcbd452cd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962d4169-c47e-4079-8a62-290d0be3201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60375b3e-f742-45a0-8502-c01edff9c697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54518ac1-a07b-4608-9027-67457ac64df5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940e1e7-9294-47ce-8bef-0367f96736ab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adee8153-1a12-4572-9ef0-a26512a92641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30dee900-25e9-45f2-b93c-e82c40b4f4d7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bf5770f4-142e-4f35-a399-f566a945f274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d96a2ca1-df89-41c5-8b9c-f3842a3ed7dc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074a2d08-81bb-4150-aadc-debadc973f6b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822ad654-1a75-4aa3-9935-abc241c81346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06de06c6-12ac-4c88-9816-626042ae4a70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fd16e339-ca47-4e30-a8e5-2a67b19df39f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833e98c0-945a-4d8d-b81a-54bd0896b270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c9da57cd-e77c-43e5-a59f-bbcc263bb2d7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fe845d08-25bc-4b75-b940-ade1a050be99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0ca0af03-fb29-43fb-9e7a-d6b6f0935e96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25ae0912-dda6-4460-b2b1-29f7e841f9cf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涵蓋所有元件主機名稱(含 Prometheus、Alertmanager)</a:t>
            </a:r>
            <a:endParaRPr lang="en-US" sz="1200" dirty="0"/>
          </a:p>
        </p:txBody>
      </p:sp>
      <p:sp>
        <p:nvSpPr>
          <p:cNvPr id="20" name="228a853b-4fa2-4ee5-b58d-733ba0072421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987a3095-6519-4c47-ac7b-887fafd5c02f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藍色是組件,紫色是貫穿全案的安全機制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2538a8e-85ab-42c5-913b-9c4a1243ea95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6cf250b-37f9-4398-82e7-8479360a2e1c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f866fff-0d0a-4784-87c5-1a33e820435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21c7426a-8789-4783-a029-3c43741c11ab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61914765-5028-48d7-be36-df9590c49cde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0f247c4d-dcdd-4cd1-a500-209bf3f63cf1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0e4c755a-a18c-43bd-951e-406c4fe96ce9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14b996a5-f19b-4ffb-a7b6-9bd3d4f07f7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7692155d-ea33-48b6-940a-18ac6b5b901a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39f88530-bee6-47d8-896f-ba4422c1c72d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ad06814e-3e23-413b-bf1a-4c1b0c7a7bde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746bf284-f512-4bc6-ade8-2b03e6817a72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559896c7-a1d8-4459-8cc7-bcf9d868787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216face6-7e57-48c2-b684-eadd245eb550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0d7b660f-92f3-4417-a931-83ee7db355c3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e7eaf470-7781-447e-a95a-34a67fff604b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25e3eb48-b2a2-46a1-a040-6805449ee62a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0903dbd8-6465-4515-8029-5b221c31b8e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10e3a473-dfff-4d17-85d5-b5a2bfd4abce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1e91a7a6-6988-421a-a77b-995ad362f4ae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c0f3b004-b1f0-4ee0-a1d6-0565d0d27c48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d0b97943-fa9e-4f2f-a237-f8ed9b5f222d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4fd09ead-3fb1-480b-8c06-dbe4ca74f6b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0daf8f86-1109-4fed-b463-95d910e17606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9c87d921-2bb3-4c20-9834-641ad04aecf8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c0439455-25c5-4bdd-bddc-c08497a4ca9a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c4a0b7fc-3359-4f52-8fd5-58516cb656d9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444e99fc-3bc4-4003-80f3-0d631db4ff7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2d9e3095-a0ce-4bf5-ba18-df13db4b2d49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5cecd7ab-e348-411b-a4f0-31f20f7adc5e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11b4e084-ae48-4d78-84cf-0106d8e90970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5cfe4d1e-0df4-42cc-85ef-fa6aab4ed747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137ef791-5ac2-4f31-a58f-533e967a588f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ce5e1f34-24b5-4b06-979d-7fac3d255a18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f2835286-fb6a-4ec5-8816-45bd56afe5e6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7800029c-bf09-4a34-9806-40a8d850a497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6ea35e9e-b75e-4e48-8104-d6e7a4183215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bc62c807-620b-41ed-8b49-87fb3e538fe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4dc6bddb-3bcb-489c-a995-dd46bd56e6b6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b48ce277-bbae-492b-beec-8c0494f25209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f392550a-1c1d-4b25-9215-cc4297f910eb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1a4b511d-9c7a-473a-99fb-ca0d2c6c0f06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634bf5d3-cf82-4437-a866-09354f767987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c6b65aa6-35da-4cc8-9a4d-d1f459c3eab5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d8566c42-c6e2-47c2-949c-5f409efc172c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8ad0a8c-01b2-4bf7-933c-0a476a152b33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d1a6f8c-0064-4963-9f21-bfa01661001a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53e5a4d8-f538-47dc-b93b-923aa876b08f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f83a38fc-163f-40fe-bb2e-cce1f6d85fff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3d0b723c-7b61-471d-8b82-816c7a5e2b25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a36d959e-d252-47ab-87a9-42baab5aa5c7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d204af49-c62a-4890-84a0-9d740ff49b2d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b4d0c4cf-51f4-4771-b957-75dd8f52254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8690a2fe-6d3b-4cd8-b3a4-28f2411220c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82d13090-2de2-4c33-ad4c-068be156df9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eb435372-b300-487f-9a92-1ce77ba9759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677cb3cc-b95e-4e63-ace3-e3ff2ca6685b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9af5bd8-206b-4d4a-ab98-5ec7e93a2a0e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5baaaa17-0331-4f88-bb67-fd9a1b4fb26a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561af541-cc25-4599-9acb-76b7502cdab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f5272556-6152-4f26-bf54-ea02f7bc80a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9ab836bc-3232-49eb-b31c-7b5212052087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a3d667f6-787d-488a-8cd9-3a04f18a88c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370b4dcc-e70b-446b-a71f-8b5adbdaa164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78667e03-81a0-45c6-a3b1-b6ab01a12d28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30b210a8-adf6-4af0-bbaf-6461d38c5d46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e8876be7-1701-46e5-be43-c391dd10e5e5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317b2e61-12a7-4d21-ada2-c849439a360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ed5c4932-16a2-426e-a58b-6842f6371e06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784f70cc-3737-4eed-8091-24a0708955dc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4a43bca1-2e1d-4169-a768-185ae9d2cd22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c40635ca-a605-4d05-ae3b-ac7f0af166e7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aac4e94a-2b92-42af-b756-0b932389d34c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54a76a19-8a31-42ac-ace7-6844085f473f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36300051-a770-4669-88ba-77c20a55b6ec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3a1cee24-5954-4d36-bbd9-e670cf2e9b78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012a5cb8-1dd8-4518-984f-edd5f5d5c362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8dbbb5b5-fd36-4c4b-8a02-22babf119f62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588146ed-5290-4c42-8829-9e0d364d0c01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0dcf38e2-da1c-4881-ac24-622247d499b7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39d2618e-adcf-4d91-9f7a-b81cb7b47953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1ba4b364-7110-47b2-9df4-17711387a4b0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da7e5758-c7c9-4bdc-97b2-7f21ac01c636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8f512239-fa38-407a-85fd-a6a763fe928b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7cafbe4b-3efb-49cc-b0ae-d91898bd76a6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373256ba-ac6d-44f2-9032-d9c5dac9757d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f0f78ac7-bfa4-476e-b35b-459851abb3f6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81eb6100-9a3c-47bd-9911-b2f49ff0e6a1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ba28aa40-5a83-4d95-838c-769a54eaefd3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25922982-f84a-4f0b-b99a-ebcdc1afd01b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c3fb90ba-e83b-423b-9ac9-76384519ef03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974e8d0c-d230-4606-b5a6-3db8eb256a69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0a0275f-06b6-4e6c-92f8-17c373cd222c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2ad71d95-fcd0-44b8-956e-edbf5c467a4f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0090ea09-56e5-4c5d-a935-47ab0bd65ac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e481b999-5587-427f-94dc-67791315ef4d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1daa827c-31fc-4572-b242-1da3c3c1c267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5cef0ae5-7f36-4d45-8b61-87c321315155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f26ca755-8350-48ae-a7bc-64a0dca317af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f41dfa31-78b9-46bd-bbc0-cd31575ca42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350c0f0f-fd93-4d8f-9d83-950a1268b2f1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5b899578-1c3e-4fda-bb22-00b1f8599e2c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b98a3eb0-de4b-4064-b0d7-8701122e3f17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3d8fd3c2-bdb1-4052-88f0-cce41bc89494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919417aa-bf49-4e43-b514-d85d69800ea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edf5425f-672a-414c-981b-6696ea29ed28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e85a2eed-32bf-4c0b-9c6b-3a96209274f8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3b4fd0d0-d37a-45c3-a8bb-7cdb6de6a90d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f4003d4d-3adc-4218-bc16-43aa2534882e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f4ce5321-1c0a-4b5b-bd46-371373a09593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47504db1-4220-42b6-a9e7-6777a958742b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d65177e6-a9cd-4020-93b2-fde28c7fb505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342c358b-ecc5-4d44-9525-915c9b666891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ec4346d4-53bf-47bb-9146-e6e9a6400878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8accf2ef-ae76-4e05-b8f3-9e4e2b2d8d11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1c93ba74-800f-4dc5-ae11-c0e31c98ed67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86dbee7a-c80a-4e39-b87a-f7224f0bc266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a4d03a3-ff56-4583-8a8e-6b41a225998f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a5b1b70-00a8-47dc-af4c-6aa6e19765ee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a18fee5d-fcc0-4228-bb76-e2365bc8985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19fd4292-daa0-4608-bf14-2473a89c19b3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6" name="7e8daa33-a0d9-47c9-a936-934629114c29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7b9c33ae-32a9-4a10-9ee0-533569043274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c00036f0-8bca-4caa-a6aa-a4bb2b32986b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e423604a-d516-4da5-8b19-3c200151b0d1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7b68ba1e-9dbd-4663-a88d-6cd54f7799b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3d8ff2ba-ee18-47cc-a360-1961b9f24f40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59ea615a-4ecd-4182-8964-c164647f9e75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9f2e4a44-c047-47b5-8f84-cc1cc816ba36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6cd81c67-85bb-4181-bbef-8746be236c94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79b5dec3-8917-406a-96ab-9a20a25839bf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4449b13c-0b87-4ac7-8feb-07d9dd4d921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c78d4cc8-27d6-4d66-9a05-f57ae3def20f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e6f252b7-a6d9-41ed-884b-27552fa1ffcf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a66b6aa6-512e-433a-82cc-163215d86a54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9c5de1c5-dd51-4631-b13d-4157939b04e9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e8ddc034-2dbb-42be-a24e-52126e44364d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5368aea0-280d-4502-8195-49d47c927d4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2d6d1e16-245f-4fbf-a9c4-0acf67386841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2fa58e7b-1ea9-47eb-9a7c-f359fff93f27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79e4964b-93c5-410b-947f-0dd191eda161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a961b14b-73fc-485f-9df6-edc893259dbb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518d3d92-d28e-4292-b0b8-ce601502d3fb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5771aca-86af-49a9-8917-1a2ef6926ffc"/>
          <p:cNvSpPr/>
          <p:nvPr/>
        </p:nvSpPr>
        <p:spPr>
          <a:xfrm>
            <a:off x="548640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dcdc4df-593d-4769-a433-025ca4f0f839"/>
          <p:cNvSpPr/>
          <p:nvPr/>
        </p:nvSpPr>
        <p:spPr>
          <a:xfrm>
            <a:off x="777240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daf2a94-1d12-453e-bab9-7663ad8c83e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88934"/>
            <a:ext cx="409651" cy="409651"/>
          </a:xfrm>
          <a:prstGeom prst="rect">
            <a:avLst/>
          </a:prstGeom>
        </p:spPr>
      </p:pic>
      <p:sp>
        <p:nvSpPr>
          <p:cNvPr id="5" name="046f3361-0fdc-4bac-8eb7-2d9e983b684b"/>
          <p:cNvSpPr/>
          <p:nvPr/>
        </p:nvSpPr>
        <p:spPr>
          <a:xfrm>
            <a:off x="1691640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2000" dirty="0"/>
          </a:p>
        </p:txBody>
      </p:sp>
      <p:sp>
        <p:nvSpPr>
          <p:cNvPr id="6" name="786493d1-88fc-46e3-89cf-8ccd4771eba7"/>
          <p:cNvSpPr/>
          <p:nvPr/>
        </p:nvSpPr>
        <p:spPr>
          <a:xfrm>
            <a:off x="822960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帳密登入,取得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帶本人的 token 連 broker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看到的是本人</a:t>
            </a:r>
            <a:endParaRPr lang="en-US" sz="1400" dirty="0"/>
          </a:p>
        </p:txBody>
      </p:sp>
      <p:sp>
        <p:nvSpPr>
          <p:cNvPr id="7" name="c0ed0d51-9d39-46d3-bb15-66e4302ed7de"/>
          <p:cNvSpPr/>
          <p:nvPr/>
        </p:nvSpPr>
        <p:spPr>
          <a:xfrm>
            <a:off x="6199632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539d138-a80b-4473-acf7-fe3ac4ca9426"/>
          <p:cNvSpPr/>
          <p:nvPr/>
        </p:nvSpPr>
        <p:spPr>
          <a:xfrm>
            <a:off x="6428232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cbad980a-fae1-4793-bf28-523f4653c8f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9166" y="2088934"/>
            <a:ext cx="409651" cy="409651"/>
          </a:xfrm>
          <a:prstGeom prst="rect">
            <a:avLst/>
          </a:prstGeom>
        </p:spPr>
      </p:pic>
      <p:sp>
        <p:nvSpPr>
          <p:cNvPr id="10" name="8eeca5f3-59c1-413c-b928-aa0982686097"/>
          <p:cNvSpPr/>
          <p:nvPr/>
        </p:nvSpPr>
        <p:spPr>
          <a:xfrm>
            <a:off x="7342632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2000" dirty="0"/>
          </a:p>
        </p:txBody>
      </p:sp>
      <p:sp>
        <p:nvSpPr>
          <p:cNvPr id="11" name="b42a7957-0c71-4c8e-9e33-94a52469b661"/>
          <p:cNvSpPr/>
          <p:nvPr/>
        </p:nvSpPr>
        <p:spPr>
          <a:xfrm>
            <a:off x="6473952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身分是 User:c3,需要 SystemAdmin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不依賴任何人的帳號</a:t>
            </a:r>
            <a:endParaRPr lang="en-US" sz="1400" dirty="0"/>
          </a:p>
        </p:txBody>
      </p:sp>
      <p:sp>
        <p:nvSpPr>
          <p:cNvPr id="12" name="ce419918-f528-4adb-9fe4-1ba629c7fe7b"/>
          <p:cNvSpPr/>
          <p:nvPr/>
        </p:nvSpPr>
        <p:spPr>
          <a:xfrm>
            <a:off x="548640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憑證等於管理員:私鑰要保護</a:t>
            </a:r>
            <a:endParaRPr lang="en-US" sz="1300" dirty="0"/>
          </a:p>
        </p:txBody>
      </p:sp>
      <p:sp>
        <p:nvSpPr>
          <p:cNvPr id="13" name="4b6ca166-a639-4899-b87f-5e4c26699d5e"/>
          <p:cNvSpPr/>
          <p:nvPr/>
        </p:nvSpPr>
        <p:spPr>
          <a:xfrm>
            <a:off x="6199632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只用 OAUTHBEARER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監控元件啟用 TLS + Basic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0079be6-feb9-4b3a-81f1-14609b2d349c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71ce854-7775-4163-8cc3-a652d7ab289f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97ea0bb8-2cdc-4d1d-9d28-bea0f3de593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7c56b3d3-c9ef-45fd-b77f-1683de21e8e8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4e39a3db-ef97-48bc-b175-868eae4a5e1b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3928013c-7ae3-4e87-900d-cde4ef2ba23c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7c0fdfad-59df-4806-8927-1d78cd106c01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f9f935b9-292d-4705-a2ad-05f6ee34973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97efc157-c057-46f1-8eff-c10bd5ebaa60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db7a299d-03b5-491d-b007-0be0cbb8244d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 · 9090</a:t>
            </a:r>
            <a:endParaRPr lang="en-US" sz="1100" dirty="0"/>
          </a:p>
        </p:txBody>
      </p:sp>
      <p:sp>
        <p:nvSpPr>
          <p:cNvPr id="12" name="ccb62e52-2e2c-43e6-adc6-36842c6191c1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7c1da8f2-3c95-4fa7-8911-2f3e81746e79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2b23f477-d438-44f0-aec9-dd2c6b8c28d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a6108c3e-9e74-4ccb-a75b-b41c204aac75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41e3bbb8-1aa7-401a-84ea-2036674bc3a7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 · 9093</a:t>
            </a:r>
            <a:endParaRPr lang="en-US" sz="1100" dirty="0"/>
          </a:p>
        </p:txBody>
      </p:sp>
      <p:sp>
        <p:nvSpPr>
          <p:cNvPr id="17" name="d70ac494-a3a1-4a00-9251-5a7443ed6266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e46c167d-26a9-47b4-a6dd-c67488a1b1fe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a996378f-06ab-4633-b508-5115a76dc84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5cbdab3e-5582-4e2b-a067-0cb31ad0701a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ed92fb6a-fdf4-4374-b6a8-fb4d77c539b0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45eecad9-4f82-418b-8c04-c9db752e1137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cb5d7eee-46d7-48e9-9240-75f365fdc903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4ed2cf88-5ec2-4c05-9111-67ef4eda3ef3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1271b27c-5327-44af-8aed-757fd2484e0e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65bb35e2-ae16-4ed4-b7c3-6e4ea1459058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82b6f4e8-48fc-4fc0-93de-caaf551dd45e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cfab81f0-6b4d-4812-872e-e7251f9b3ca8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0b19361e-49e2-4c87-89ee-d49139e3a1cc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5ca4227f-56a6-48a1-a328-2462d890c5df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904da1e7-d531-40b6-a769-976ee209cf0e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50781635-882d-49cc-833d-8f54a7b7f82b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3b5417d9-c9b4-4699-a791-2ffc0dd9af8f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edb52e15-2ec6-422a-aca7-42f638b8453a"/>
          <p:cNvSpPr/>
          <p:nvPr/>
        </p:nvSpPr>
        <p:spPr>
          <a:xfrm>
            <a:off x="548640" y="5248738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四條連線都用 TLS + Basic,不另發 client 憑證</a:t>
            </a:r>
            <a:endParaRPr lang="en-US" sz="1200" dirty="0"/>
          </a:p>
        </p:txBody>
      </p:sp>
      <p:sp>
        <p:nvSpPr>
          <p:cNvPr id="35" name="daec0db7-8ea2-40d9-bc9f-440fcc5642ab"/>
          <p:cNvSpPr/>
          <p:nvPr/>
        </p:nvSpPr>
        <p:spPr>
          <a:xfrm>
            <a:off x="6199632" y="5248738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日誌會印出帳密標頭,日誌要保護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看得到被拒,但不是全記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稽核需求要另外盤點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f011f0c-ce74-49de-8318-e3222dada7df"/>
          <p:cNvSpPr/>
          <p:nvPr/>
        </p:nvSpPr>
        <p:spPr>
          <a:xfrm>
            <a:off x="548640" y="1769899"/>
            <a:ext cx="5440680" cy="50909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5a17f885-1261-484b-80c7-85ff75252966"/>
          <p:cNvSpPr/>
          <p:nvPr/>
        </p:nvSpPr>
        <p:spPr>
          <a:xfrm>
            <a:off x="731520" y="1837779"/>
            <a:ext cx="502920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看得到</a:t>
            </a:r>
            <a:endParaRPr lang="en-US" sz="1700" dirty="0"/>
          </a:p>
        </p:txBody>
      </p:sp>
      <p:sp>
        <p:nvSpPr>
          <p:cNvPr id="4" name="c597a95c-3a4d-45db-a91e-0540c96e75d3"/>
          <p:cNvSpPr/>
          <p:nvPr/>
        </p:nvSpPr>
        <p:spPr>
          <a:xfrm>
            <a:off x="548640" y="2448697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誰被拒絕</a:t>
            </a:r>
            <a:endParaRPr lang="en-US" sz="1400" dirty="0"/>
          </a:p>
        </p:txBody>
      </p:sp>
      <p:sp>
        <p:nvSpPr>
          <p:cNvPr id="5" name="2ab3e472-b0ed-4da2-81e7-cb30faf574ca"/>
          <p:cNvSpPr/>
          <p:nvPr/>
        </p:nvSpPr>
        <p:spPr>
          <a:xfrm>
            <a:off x="548640" y="3127495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誰嘗試改授權</a:t>
            </a:r>
            <a:endParaRPr lang="en-US" sz="1400" dirty="0"/>
          </a:p>
        </p:txBody>
      </p:sp>
      <p:sp>
        <p:nvSpPr>
          <p:cNvPr id="6" name="7a929fa1-9b18-4092-8f0e-68905099893b"/>
          <p:cNvSpPr/>
          <p:nvPr/>
        </p:nvSpPr>
        <p:spPr>
          <a:xfrm>
            <a:off x="548640" y="3806293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誰讀寫了哪個 topic(需設定規則)</a:t>
            </a:r>
            <a:endParaRPr lang="en-US" sz="1400" dirty="0"/>
          </a:p>
        </p:txBody>
      </p:sp>
      <p:sp>
        <p:nvSpPr>
          <p:cNvPr id="7" name="5061100a-f771-47de-83af-a611b3a3537e"/>
          <p:cNvSpPr/>
          <p:nvPr/>
        </p:nvSpPr>
        <p:spPr>
          <a:xfrm>
            <a:off x="6199632" y="1769899"/>
            <a:ext cx="5440680" cy="509098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39d353be-fb38-4d44-bb25-e84ab22a3b2f"/>
          <p:cNvSpPr/>
          <p:nvPr/>
        </p:nvSpPr>
        <p:spPr>
          <a:xfrm>
            <a:off x="6382512" y="1837779"/>
            <a:ext cx="502920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看不到</a:t>
            </a:r>
            <a:endParaRPr lang="en-US" sz="1700" dirty="0"/>
          </a:p>
        </p:txBody>
      </p:sp>
      <p:sp>
        <p:nvSpPr>
          <p:cNvPr id="9" name="4db71bac-d0dd-4fac-8c33-2011784eb19a"/>
          <p:cNvSpPr/>
          <p:nvPr/>
        </p:nvSpPr>
        <p:spPr>
          <a:xfrm>
            <a:off x="6199632" y="2448697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部分被拒的動作(例:缺冪等寫入權限)</a:t>
            </a:r>
            <a:endParaRPr lang="en-US" sz="1400" dirty="0"/>
          </a:p>
        </p:txBody>
      </p:sp>
      <p:sp>
        <p:nvSpPr>
          <p:cNvPr id="10" name="514abf9d-c35c-4e5d-99b8-7c751204c13b"/>
          <p:cNvSpPr/>
          <p:nvPr/>
        </p:nvSpPr>
        <p:spPr>
          <a:xfrm>
            <a:off x="6199632" y="3127495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 REST Proxy 代為操作的身分</a:t>
            </a:r>
            <a:endParaRPr lang="en-US" sz="1400" dirty="0"/>
          </a:p>
        </p:txBody>
      </p:sp>
      <p:sp>
        <p:nvSpPr>
          <p:cNvPr id="11" name="0694f97d-dad9-48b3-a9d9-329430ea86b0"/>
          <p:cNvSpPr/>
          <p:nvPr/>
        </p:nvSpPr>
        <p:spPr>
          <a:xfrm>
            <a:off x="6199632" y="3806293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共用帳號只剩一個名字,要用個人身分</a:t>
            </a:r>
            <a:endParaRPr lang="en-US" sz="1400" dirty="0"/>
          </a:p>
        </p:txBody>
      </p:sp>
      <p:sp>
        <p:nvSpPr>
          <p:cNvPr id="12" name="0c00b7f4-943b-49fe-ab86-8d9332ed3086"/>
          <p:cNvSpPr/>
          <p:nvPr/>
        </p:nvSpPr>
        <p:spPr>
          <a:xfrm>
            <a:off x="548640" y="473964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不能假設所有拒絕都查得到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風險與導入前要確認的事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五個要留意的風險,與六件需要客戶回覆的事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38fa945-5a70-4176-a67d-1a5e58d3068f"/>
          <p:cNvSpPr/>
          <p:nvPr/>
        </p:nvSpPr>
        <p:spPr>
          <a:xfrm>
            <a:off x="548640" y="1685050"/>
            <a:ext cx="54406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要留意的風險</a:t>
            </a:r>
            <a:endParaRPr lang="en-US" sz="1500" dirty="0"/>
          </a:p>
        </p:txBody>
      </p:sp>
      <p:sp>
        <p:nvSpPr>
          <p:cNvPr id="3" name="f5df8eee-2d95-4a25-b69b-b742d484f4a3"/>
          <p:cNvSpPr/>
          <p:nvPr/>
        </p:nvSpPr>
        <p:spPr>
          <a:xfrm>
            <a:off x="548640" y="2109298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憑證等於管理員,私鑰要保護</a:t>
            </a:r>
            <a:endParaRPr lang="en-US" sz="1150" dirty="0"/>
          </a:p>
        </p:txBody>
      </p:sp>
      <p:sp>
        <p:nvSpPr>
          <p:cNvPr id="4" name="57ea6bf9-b0f7-4e1f-88fc-1a18fda5ec2e"/>
          <p:cNvSpPr/>
          <p:nvPr/>
        </p:nvSpPr>
        <p:spPr>
          <a:xfrm>
            <a:off x="548640" y="2771126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憑證可代人,特權身分列入保護清單</a:t>
            </a:r>
            <a:endParaRPr lang="en-US" sz="1150" dirty="0"/>
          </a:p>
        </p:txBody>
      </p:sp>
      <p:sp>
        <p:nvSpPr>
          <p:cNvPr id="5" name="be46bd0d-45fc-46d0-a7c7-65c7a6850f11"/>
          <p:cNvSpPr/>
          <p:nvPr/>
        </p:nvSpPr>
        <p:spPr>
          <a:xfrm>
            <a:off x="548640" y="3432954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私鑰外洩(server、token 簽章)可偽造身分</a:t>
            </a:r>
            <a:endParaRPr lang="en-US" sz="1150" dirty="0"/>
          </a:p>
        </p:txBody>
      </p:sp>
      <p:sp>
        <p:nvSpPr>
          <p:cNvPr id="6" name="44c170cb-936f-4514-9021-89c00a8e0a0d"/>
          <p:cNvSpPr/>
          <p:nvPr/>
        </p:nvSpPr>
        <p:spPr>
          <a:xfrm>
            <a:off x="548640" y="4094782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密碼不到期,要有輪替流程</a:t>
            </a:r>
            <a:endParaRPr lang="en-US" sz="1150" dirty="0"/>
          </a:p>
        </p:txBody>
      </p:sp>
      <p:sp>
        <p:nvSpPr>
          <p:cNvPr id="7" name="6b7fe445-4bcd-4db1-8fc7-5594bde82262"/>
          <p:cNvSpPr/>
          <p:nvPr/>
        </p:nvSpPr>
        <p:spPr>
          <a:xfrm>
            <a:off x="548640" y="4756610"/>
            <a:ext cx="5440680" cy="49212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不是全記,稽核需求另外盤點</a:t>
            </a:r>
            <a:endParaRPr lang="en-US" sz="1150" dirty="0"/>
          </a:p>
        </p:txBody>
      </p:sp>
      <p:sp>
        <p:nvSpPr>
          <p:cNvPr id="8" name="b5d5c1d8-9ca4-4871-918c-0b9633475bb8"/>
          <p:cNvSpPr/>
          <p:nvPr/>
        </p:nvSpPr>
        <p:spPr>
          <a:xfrm>
            <a:off x="6199632" y="1685050"/>
            <a:ext cx="54406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請客戶確認</a:t>
            </a:r>
            <a:endParaRPr lang="en-US" sz="1500" dirty="0"/>
          </a:p>
        </p:txBody>
      </p:sp>
      <p:sp>
        <p:nvSpPr>
          <p:cNvPr id="9" name="386387e4-2958-4403-9268-3430624154e9"/>
          <p:cNvSpPr/>
          <p:nvPr/>
        </p:nvSpPr>
        <p:spPr>
          <a:xfrm>
            <a:off x="6199632" y="2109298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唯讀查詢帳號與 LDAPS</a:t>
            </a:r>
            <a:endParaRPr lang="en-US" sz="1150" dirty="0"/>
          </a:p>
        </p:txBody>
      </p:sp>
      <p:sp>
        <p:nvSpPr>
          <p:cNvPr id="10" name="fc12ae0c-9103-4761-8cc1-ea11f28d9228"/>
          <p:cNvSpPr/>
          <p:nvPr/>
        </p:nvSpPr>
        <p:spPr>
          <a:xfrm>
            <a:off x="6199632" y="2660822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憑證與 AD 的 LDAPS 憑證由誰簽發</a:t>
            </a:r>
            <a:endParaRPr lang="en-US" sz="1150" dirty="0"/>
          </a:p>
        </p:txBody>
      </p:sp>
      <p:sp>
        <p:nvSpPr>
          <p:cNvPr id="11" name="3d4bb995-b11f-4ca2-8b77-ac6189fb2a0f"/>
          <p:cNvSpPr/>
          <p:nvPr/>
        </p:nvSpPr>
        <p:spPr>
          <a:xfrm>
            <a:off x="6199632" y="3212345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</a:t>
            </a:r>
            <a:endParaRPr lang="en-US" sz="1150" dirty="0"/>
          </a:p>
        </p:txBody>
      </p:sp>
      <p:sp>
        <p:nvSpPr>
          <p:cNvPr id="12" name="34baae6e-a07b-4a78-9641-10f201603694"/>
          <p:cNvSpPr/>
          <p:nvPr/>
        </p:nvSpPr>
        <p:spPr>
          <a:xfrm>
            <a:off x="6199632" y="3763868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RBAC、audit、C3</a:t>
            </a:r>
            <a:endParaRPr lang="en-US" sz="1150" dirty="0"/>
          </a:p>
        </p:txBody>
      </p:sp>
      <p:sp>
        <p:nvSpPr>
          <p:cNvPr id="13" name="fcf3f76c-2c20-4887-acf7-a16bbd1d4dc7"/>
          <p:cNvSpPr/>
          <p:nvPr/>
        </p:nvSpPr>
        <p:spPr>
          <a:xfrm>
            <a:off x="6199632" y="4315391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DC(LDAP 停擺超過 24 小時,授權器會失效)</a:t>
            </a:r>
            <a:endParaRPr lang="en-US" sz="1150" dirty="0"/>
          </a:p>
        </p:txBody>
      </p:sp>
      <p:sp>
        <p:nvSpPr>
          <p:cNvPr id="14" name="55acc5ca-081d-49a2-b954-b5820914d10d"/>
          <p:cNvSpPr/>
          <p:nvPr/>
        </p:nvSpPr>
        <p:spPr>
          <a:xfrm>
            <a:off x="6199632" y="4866915"/>
            <a:ext cx="544068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