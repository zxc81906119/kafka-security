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5.png"/><Relationship Id="rId9-created" Type="http://schemas.openxmlformats.org/officeDocument/2006/relationships/image" Target="../media/media16.png"/><Relationship Id="rId10-created" Type="http://schemas.openxmlformats.org/officeDocument/2006/relationships/image" Target="../media/media17.png"/><Relationship Id="rId11-created" Type="http://schemas.openxmlformats.org/officeDocument/2006/relationships/image" Target="../media/media18.png"/><Relationship Id="rId12-created" Type="http://schemas.openxmlformats.org/officeDocument/2006/relationships/image" Target="../media/media1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安全整合建議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依客戶前提的整體方案,與行內 CyberArk 的整合方式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客戶前提與本方案的對應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每一項前提都有一個明確的做法;細節在後面各章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c997a511-b9a1-4735-a130-bc675d2901f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 user 與 group;使用者名稱 =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帳號登入,授權綁在 AD 群組;服務與平台元件不佔用 AD 帳號;身分名稱以 AD 記錄為準(登入不分大小寫)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憑證要少:共用一張 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 server 憑證只做傳輸加密、不當身分;需要身分的元件各一張 client 憑證(C3、REST Proxy、初始化用的 bootstrap、經 REST Proxy 的應用系統)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VM,手動安裝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 + systemd;維運選單(OP menu)放跳板機;不依賴自動化工具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有系統只能用 HTTP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Proxy;以 client 憑證為身分,REST Proxy 代為向 MDS 取 token,身分一路傳到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人只能唯讀,依 AD 群組分層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 個 AD 群組對應角色;需要變更時臨時加入群組、做完移出,Kafka 端零變更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負載平衡用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只放在 REST Proxy 前面,L4 透傳;REST Proxy 連 MDS 設多台即可,不需要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當「秘密管理層」:人的特權存取、主機帳號輪替、應用程式取密碼;不改變身分與授權設計(第五章)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元件、連線與四條身分路徑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整體架構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正式環境的元件與主要連線;內部埠只開給 broker 與 controller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5fcd96f-7f8b-49e7-b854-8db58fc96c20"/>
          <p:cNvSpPr/>
          <p:nvPr/>
        </p:nvSpPr>
        <p:spPr>
          <a:xfrm>
            <a:off x="548640" y="172747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6dc9b99-42f0-453c-8979-3749f58d8640"/>
          <p:cNvSpPr/>
          <p:nvPr/>
        </p:nvSpPr>
        <p:spPr>
          <a:xfrm>
            <a:off x="12344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427730ec-b76d-400a-b364-22c4a978039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55141" y="1966751"/>
            <a:ext cx="307238" cy="307238"/>
          </a:xfrm>
          <a:prstGeom prst="rect">
            <a:avLst/>
          </a:prstGeom>
        </p:spPr>
      </p:pic>
      <p:sp>
        <p:nvSpPr>
          <p:cNvPr id="5" name="8c149b94-bc98-48f8-bdb5-ba0962d9b120"/>
          <p:cNvSpPr/>
          <p:nvPr/>
        </p:nvSpPr>
        <p:spPr>
          <a:xfrm>
            <a:off x="621792" y="2448697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</a:t>
            </a:r>
            <a:endParaRPr lang="en-US" sz="1400" dirty="0"/>
          </a:p>
        </p:txBody>
      </p:sp>
      <p:sp>
        <p:nvSpPr>
          <p:cNvPr id="6" name="434a9bc5-018a-436d-ae43-2ef0dbd27d40"/>
          <p:cNvSpPr/>
          <p:nvPr/>
        </p:nvSpPr>
        <p:spPr>
          <a:xfrm>
            <a:off x="640080" y="283052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帳號;瀏覽器、工具、腳本</a:t>
            </a:r>
            <a:endParaRPr lang="en-US" sz="1050" dirty="0"/>
          </a:p>
        </p:txBody>
      </p:sp>
      <p:sp>
        <p:nvSpPr>
          <p:cNvPr id="7" name="eeb39dd7-45a6-48ba-8ac7-ec96ce381146"/>
          <p:cNvSpPr/>
          <p:nvPr/>
        </p:nvSpPr>
        <p:spPr>
          <a:xfrm>
            <a:off x="548640" y="321234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bb1a1cd-d138-44d5-a292-ed329a0c5f7d"/>
          <p:cNvSpPr/>
          <p:nvPr/>
        </p:nvSpPr>
        <p:spPr>
          <a:xfrm>
            <a:off x="12344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60fee404-938e-4797-aa54-d8340bbbf6c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355141" y="3451621"/>
            <a:ext cx="307238" cy="307238"/>
          </a:xfrm>
          <a:prstGeom prst="rect">
            <a:avLst/>
          </a:prstGeom>
        </p:spPr>
      </p:pic>
      <p:sp>
        <p:nvSpPr>
          <p:cNvPr id="10" name="80023d41-4e86-44b9-84d5-74ad14f14784"/>
          <p:cNvSpPr/>
          <p:nvPr/>
        </p:nvSpPr>
        <p:spPr>
          <a:xfrm>
            <a:off x="621792" y="393356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應用系統</a:t>
            </a:r>
            <a:endParaRPr lang="en-US" sz="1400" dirty="0"/>
          </a:p>
        </p:txBody>
      </p:sp>
      <p:sp>
        <p:nvSpPr>
          <p:cNvPr id="11" name="2236a98f-ba4b-4767-a7f2-d95cc1084857"/>
          <p:cNvSpPr/>
          <p:nvPr/>
        </p:nvSpPr>
        <p:spPr>
          <a:xfrm>
            <a:off x="640080" y="431539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帳號或 client 憑證</a:t>
            </a:r>
            <a:endParaRPr lang="en-US" sz="1050" dirty="0"/>
          </a:p>
        </p:txBody>
      </p:sp>
      <p:sp>
        <p:nvSpPr>
          <p:cNvPr id="12" name="b07ff816-7825-4a4a-9ce4-f16eb9adcf18"/>
          <p:cNvSpPr/>
          <p:nvPr/>
        </p:nvSpPr>
        <p:spPr>
          <a:xfrm>
            <a:off x="548640" y="469721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d50ce357-465b-424a-a65b-45f3cccafe3f"/>
          <p:cNvSpPr/>
          <p:nvPr/>
        </p:nvSpPr>
        <p:spPr>
          <a:xfrm>
            <a:off x="12344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55678d10-db03-4ab2-a410-9597b0d2a61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55141" y="4936491"/>
            <a:ext cx="307238" cy="307238"/>
          </a:xfrm>
          <a:prstGeom prst="rect">
            <a:avLst/>
          </a:prstGeom>
        </p:spPr>
      </p:pic>
      <p:sp>
        <p:nvSpPr>
          <p:cNvPr id="15" name="576e2c0e-447f-4436-9627-92562b667c70"/>
          <p:cNvSpPr/>
          <p:nvPr/>
        </p:nvSpPr>
        <p:spPr>
          <a:xfrm>
            <a:off x="621792" y="541843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OP menu</a:t>
            </a:r>
            <a:endParaRPr lang="en-US" sz="1300" dirty="0"/>
          </a:p>
        </p:txBody>
      </p:sp>
      <p:sp>
        <p:nvSpPr>
          <p:cNvPr id="16" name="ed22cc4c-2ad6-4aad-8d9b-3dcd005dd932"/>
          <p:cNvSpPr/>
          <p:nvPr/>
        </p:nvSpPr>
        <p:spPr>
          <a:xfrm>
            <a:off x="640080" y="5800262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 AD 身分</a:t>
            </a:r>
            <a:endParaRPr lang="en-US" sz="1050" dirty="0"/>
          </a:p>
        </p:txBody>
      </p:sp>
      <p:sp>
        <p:nvSpPr>
          <p:cNvPr id="17" name="d02f509a-ca0b-4dfa-9a16-c59532ef4760"/>
          <p:cNvSpPr/>
          <p:nvPr/>
        </p:nvSpPr>
        <p:spPr>
          <a:xfrm>
            <a:off x="3017520" y="172747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ae058618-14af-4f5d-b391-b6e1bc5cf4e5"/>
          <p:cNvSpPr/>
          <p:nvPr/>
        </p:nvSpPr>
        <p:spPr>
          <a:xfrm>
            <a:off x="37490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1568f60c-9d9c-45f3-95fc-db062aeb7b5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869741" y="1966751"/>
            <a:ext cx="307238" cy="307238"/>
          </a:xfrm>
          <a:prstGeom prst="rect">
            <a:avLst/>
          </a:prstGeom>
        </p:spPr>
      </p:pic>
      <p:sp>
        <p:nvSpPr>
          <p:cNvPr id="20" name="accea3a3-be87-48ab-b138-be1fd74513da"/>
          <p:cNvSpPr/>
          <p:nvPr/>
        </p:nvSpPr>
        <p:spPr>
          <a:xfrm>
            <a:off x="3090672" y="2448697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d3b430cd-4f0d-449d-8101-0650d29e3308"/>
          <p:cNvSpPr/>
          <p:nvPr/>
        </p:nvSpPr>
        <p:spPr>
          <a:xfrm>
            <a:off x="3108960" y="283052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HTTPS;人用 AD,自身用憑證</a:t>
            </a:r>
            <a:endParaRPr lang="en-US" sz="1050" dirty="0"/>
          </a:p>
        </p:txBody>
      </p:sp>
      <p:sp>
        <p:nvSpPr>
          <p:cNvPr id="22" name="4d2bcae4-9573-419d-b793-f710a6c6979a"/>
          <p:cNvSpPr/>
          <p:nvPr/>
        </p:nvSpPr>
        <p:spPr>
          <a:xfrm>
            <a:off x="3017520" y="321234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3" name="850fc466-81d9-4df5-b263-cc23c588aefd"/>
          <p:cNvSpPr/>
          <p:nvPr/>
        </p:nvSpPr>
        <p:spPr>
          <a:xfrm>
            <a:off x="37490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84b4e12a-0378-4cd1-aaab-adb76cca65d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69741" y="3451621"/>
            <a:ext cx="307238" cy="307238"/>
          </a:xfrm>
          <a:prstGeom prst="rect">
            <a:avLst/>
          </a:prstGeom>
        </p:spPr>
      </p:pic>
      <p:sp>
        <p:nvSpPr>
          <p:cNvPr id="25" name="6d3027c9-d75c-44ea-a2c2-4c810b04ff43"/>
          <p:cNvSpPr/>
          <p:nvPr/>
        </p:nvSpPr>
        <p:spPr>
          <a:xfrm>
            <a:off x="3090672" y="393356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F5 → REST Proxy</a:t>
            </a:r>
            <a:endParaRPr lang="en-US" sz="1400" dirty="0"/>
          </a:p>
        </p:txBody>
      </p:sp>
      <p:sp>
        <p:nvSpPr>
          <p:cNvPr id="26" name="e280a397-38c7-4dc5-8f3d-136fc44d7133"/>
          <p:cNvSpPr/>
          <p:nvPr/>
        </p:nvSpPr>
        <p:spPr>
          <a:xfrm>
            <a:off x="3108960" y="431539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透傳;帳密或 client 憑證</a:t>
            </a:r>
            <a:endParaRPr lang="en-US" sz="1050" dirty="0"/>
          </a:p>
        </p:txBody>
      </p:sp>
      <p:sp>
        <p:nvSpPr>
          <p:cNvPr id="27" name="74c340e1-e9df-4a38-bb03-b476a0ea8ad7"/>
          <p:cNvSpPr/>
          <p:nvPr/>
        </p:nvSpPr>
        <p:spPr>
          <a:xfrm>
            <a:off x="3017520" y="469721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2dccc49e-5741-4edb-af16-bc5b04c8e82e"/>
          <p:cNvSpPr/>
          <p:nvPr/>
        </p:nvSpPr>
        <p:spPr>
          <a:xfrm>
            <a:off x="37490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9" name="dba30f02-bc8f-45ab-8f3e-dcfcd049793b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3869741" y="4936491"/>
            <a:ext cx="307238" cy="307238"/>
          </a:xfrm>
          <a:prstGeom prst="rect">
            <a:avLst/>
          </a:prstGeom>
        </p:spPr>
      </p:pic>
      <p:sp>
        <p:nvSpPr>
          <p:cNvPr id="30" name="dc20205b-ea26-4b14-8a3a-4cd0a07c873b"/>
          <p:cNvSpPr/>
          <p:nvPr/>
        </p:nvSpPr>
        <p:spPr>
          <a:xfrm>
            <a:off x="3090672" y="541843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</a:t>
            </a:r>
            <a:endParaRPr lang="en-US" sz="1400" dirty="0"/>
          </a:p>
        </p:txBody>
      </p:sp>
      <p:sp>
        <p:nvSpPr>
          <p:cNvPr id="31" name="670bf05e-98cb-4db1-9800-3fefb2519767"/>
          <p:cNvSpPr/>
          <p:nvPr/>
        </p:nvSpPr>
        <p:spPr>
          <a:xfrm>
            <a:off x="3108960" y="5800262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+ 帳密</a:t>
            </a:r>
            <a:endParaRPr lang="en-US" sz="1050" dirty="0"/>
          </a:p>
        </p:txBody>
      </p:sp>
      <p:sp>
        <p:nvSpPr>
          <p:cNvPr id="32" name="edbea06d-ac9a-4eca-8394-081e3a5bca5c"/>
          <p:cNvSpPr/>
          <p:nvPr/>
        </p:nvSpPr>
        <p:spPr>
          <a:xfrm>
            <a:off x="5669280" y="1727475"/>
            <a:ext cx="3657600" cy="441218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029c43fe-c1ab-4665-b2e1-189bead5c426"/>
          <p:cNvSpPr/>
          <p:nvPr/>
        </p:nvSpPr>
        <p:spPr>
          <a:xfrm>
            <a:off x="5760720" y="1769899"/>
            <a:ext cx="3474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34" name="52dca1f9-db65-4f98-99ef-36955065b6bc"/>
          <p:cNvSpPr/>
          <p:nvPr/>
        </p:nvSpPr>
        <p:spPr>
          <a:xfrm>
            <a:off x="5852160" y="2151723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5" name="7abbf89a-f4b2-4aac-a58b-476803695fbb"/>
          <p:cNvSpPr/>
          <p:nvPr/>
        </p:nvSpPr>
        <p:spPr>
          <a:xfrm>
            <a:off x="7223760" y="227899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6" name="61385df2-1f14-46b6-ad1f-4c2fecf18b7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344461" y="2390999"/>
            <a:ext cx="307238" cy="307238"/>
          </a:xfrm>
          <a:prstGeom prst="rect">
            <a:avLst/>
          </a:prstGeom>
        </p:spPr>
      </p:pic>
      <p:sp>
        <p:nvSpPr>
          <p:cNvPr id="37" name="2d6fe5e6-f45e-4e3c-8173-863e35af493c"/>
          <p:cNvSpPr/>
          <p:nvPr/>
        </p:nvSpPr>
        <p:spPr>
          <a:xfrm>
            <a:off x="5925312" y="287294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×N(內建 MDS)</a:t>
            </a:r>
            <a:endParaRPr lang="en-US" sz="1300" dirty="0"/>
          </a:p>
        </p:txBody>
      </p:sp>
      <p:sp>
        <p:nvSpPr>
          <p:cNvPr id="38" name="1a94b12c-4bd8-4db1-b71e-788993a3dd26"/>
          <p:cNvSpPr/>
          <p:nvPr/>
        </p:nvSpPr>
        <p:spPr>
          <a:xfrm>
            <a:off x="5943600" y="325477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對外埠:AD 帳密、SCRAM、token</a:t>
            </a:r>
            <a:endParaRPr lang="en-US" sz="1050" dirty="0"/>
          </a:p>
        </p:txBody>
      </p:sp>
      <p:sp>
        <p:nvSpPr>
          <p:cNvPr id="39" name="9bc95583-63e1-4975-b162-ca1584fd864c"/>
          <p:cNvSpPr/>
          <p:nvPr/>
        </p:nvSpPr>
        <p:spPr>
          <a:xfrm>
            <a:off x="5852160" y="3636594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0" name="eb4312c2-d32d-4a8f-a886-6f4eec8567ab"/>
          <p:cNvSpPr/>
          <p:nvPr/>
        </p:nvSpPr>
        <p:spPr>
          <a:xfrm>
            <a:off x="7223760" y="37638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1" name="90aba0f6-6e43-4346-8430-c7548b6d1eb8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44461" y="3875870"/>
            <a:ext cx="307238" cy="307238"/>
          </a:xfrm>
          <a:prstGeom prst="rect">
            <a:avLst/>
          </a:prstGeom>
        </p:spPr>
      </p:pic>
      <p:sp>
        <p:nvSpPr>
          <p:cNvPr id="42" name="a46bf5b9-98b1-4582-94e8-5a78b53036dc"/>
          <p:cNvSpPr/>
          <p:nvPr/>
        </p:nvSpPr>
        <p:spPr>
          <a:xfrm>
            <a:off x="5925312" y="435781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×3</a:t>
            </a:r>
            <a:endParaRPr lang="en-US" sz="1300" dirty="0"/>
          </a:p>
        </p:txBody>
      </p:sp>
      <p:sp>
        <p:nvSpPr>
          <p:cNvPr id="43" name="c8c690fa-d1ac-4f06-abdd-ed45c43be797"/>
          <p:cNvSpPr/>
          <p:nvPr/>
        </p:nvSpPr>
        <p:spPr>
          <a:xfrm>
            <a:off x="5943600" y="473964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內部帳號;只接 broker</a:t>
            </a:r>
            <a:endParaRPr lang="en-US" sz="1050" dirty="0"/>
          </a:p>
        </p:txBody>
      </p:sp>
      <p:sp>
        <p:nvSpPr>
          <p:cNvPr id="44" name="aea8f519-0fbd-4b38-95a6-99154b54a55e"/>
          <p:cNvSpPr/>
          <p:nvPr/>
        </p:nvSpPr>
        <p:spPr>
          <a:xfrm>
            <a:off x="5852160" y="5079039"/>
            <a:ext cx="3291840" cy="97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內部連線:內部帳號(super user);全部 TLS,共用 server 憑證;MDS 負責驗證、授權、簽 token</a:t>
            </a:r>
            <a:endParaRPr lang="en-US" sz="1050" dirty="0"/>
          </a:p>
        </p:txBody>
      </p:sp>
      <p:sp>
        <p:nvSpPr>
          <p:cNvPr id="45" name="43c75fe5-df6b-46dd-818f-9a0f0c59fba1"/>
          <p:cNvSpPr/>
          <p:nvPr/>
        </p:nvSpPr>
        <p:spPr>
          <a:xfrm>
            <a:off x="9692640" y="172747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9b25e1b5-1484-4b8b-8df9-1bae8f38fc66"/>
          <p:cNvSpPr/>
          <p:nvPr/>
        </p:nvSpPr>
        <p:spPr>
          <a:xfrm>
            <a:off x="10392156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7" name="0d570e21-d42a-4877-bd40-0af40d59723a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512857" y="1966751"/>
            <a:ext cx="307238" cy="307238"/>
          </a:xfrm>
          <a:prstGeom prst="rect">
            <a:avLst/>
          </a:prstGeom>
        </p:spPr>
      </p:pic>
      <p:sp>
        <p:nvSpPr>
          <p:cNvPr id="48" name="7000bb20-2664-4366-bcde-e36553a0328b"/>
          <p:cNvSpPr/>
          <p:nvPr/>
        </p:nvSpPr>
        <p:spPr>
          <a:xfrm>
            <a:off x="9765792" y="2448697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</p:txBody>
      </p:sp>
      <p:sp>
        <p:nvSpPr>
          <p:cNvPr id="49" name="a2db69ea-ada6-49ce-b971-36065bfa2bd2"/>
          <p:cNvSpPr/>
          <p:nvPr/>
        </p:nvSpPr>
        <p:spPr>
          <a:xfrm>
            <a:off x="9784080" y="283052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使用者與群組;加密連線</a:t>
            </a:r>
            <a:endParaRPr lang="en-US" sz="1050" dirty="0"/>
          </a:p>
        </p:txBody>
      </p:sp>
      <p:sp>
        <p:nvSpPr>
          <p:cNvPr id="50" name="d17e408e-28d5-4e35-b8d1-2c4596f944eb"/>
          <p:cNvSpPr/>
          <p:nvPr/>
        </p:nvSpPr>
        <p:spPr>
          <a:xfrm>
            <a:off x="9692640" y="321234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1" name="141a4330-8dce-423c-a688-cd013196b524"/>
          <p:cNvSpPr/>
          <p:nvPr/>
        </p:nvSpPr>
        <p:spPr>
          <a:xfrm>
            <a:off x="10392156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2" name="de00a3f3-e7dc-4d55-aa30-68aec6cce5f5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10512857" y="3451621"/>
            <a:ext cx="307238" cy="307238"/>
          </a:xfrm>
          <a:prstGeom prst="rect">
            <a:avLst/>
          </a:prstGeom>
        </p:spPr>
      </p:pic>
      <p:sp>
        <p:nvSpPr>
          <p:cNvPr id="53" name="db09c26b-ab47-42c3-9acc-554290556975"/>
          <p:cNvSpPr/>
          <p:nvPr/>
        </p:nvSpPr>
        <p:spPr>
          <a:xfrm>
            <a:off x="9765792" y="393356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</a:t>
            </a:r>
            <a:endParaRPr lang="en-US" sz="1400" dirty="0"/>
          </a:p>
        </p:txBody>
      </p:sp>
      <p:sp>
        <p:nvSpPr>
          <p:cNvPr id="54" name="641242dc-5ffa-4d73-a60e-1879a38e3104"/>
          <p:cNvSpPr/>
          <p:nvPr/>
        </p:nvSpPr>
        <p:spPr>
          <a:xfrm>
            <a:off x="9784080" y="431539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PSM、CPM、CCP</a:t>
            </a:r>
            <a:endParaRPr lang="en-US" sz="1050" dirty="0"/>
          </a:p>
        </p:txBody>
      </p:sp>
      <p:sp>
        <p:nvSpPr>
          <p:cNvPr id="55" name="3c8d376b-8128-4a26-b947-fb5c0fe3ee41"/>
          <p:cNvSpPr/>
          <p:nvPr/>
        </p:nvSpPr>
        <p:spPr>
          <a:xfrm>
            <a:off x="9692640" y="469721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56" name="eb25b7b7-a585-4724-8bc3-09b2b25eb835"/>
          <p:cNvSpPr/>
          <p:nvPr/>
        </p:nvSpPr>
        <p:spPr>
          <a:xfrm>
            <a:off x="10392156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57" name="3facf38e-a021-41f5-8a45-5e57b9d86770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10512857" y="4936491"/>
            <a:ext cx="307238" cy="307238"/>
          </a:xfrm>
          <a:prstGeom prst="rect">
            <a:avLst/>
          </a:prstGeom>
        </p:spPr>
      </p:pic>
      <p:sp>
        <p:nvSpPr>
          <p:cNvPr id="58" name="4b6c1a27-8386-45fc-aaed-64a697c63abd"/>
          <p:cNvSpPr/>
          <p:nvPr/>
        </p:nvSpPr>
        <p:spPr>
          <a:xfrm>
            <a:off x="9765792" y="541843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</a:t>
            </a:r>
            <a:endParaRPr lang="en-US" sz="1400" dirty="0"/>
          </a:p>
        </p:txBody>
      </p:sp>
      <p:sp>
        <p:nvSpPr>
          <p:cNvPr id="59" name="799dbcae-254a-4000-ab52-3470ecf0612b"/>
          <p:cNvSpPr/>
          <p:nvPr/>
        </p:nvSpPr>
        <p:spPr>
          <a:xfrm>
            <a:off x="9784080" y="5800262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內部埠只開給叢集</a:t>
            </a:r>
            <a:endParaRPr lang="en-US" sz="1050" dirty="0"/>
          </a:p>
        </p:txBody>
      </p:sp>
      <p:sp>
        <p:nvSpPr>
          <p:cNvPr id="60" name="d3b9a498-8062-44db-89c1-9c7f0902dba4"/>
          <p:cNvSpPr/>
          <p:nvPr/>
        </p:nvSpPr>
        <p:spPr>
          <a:xfrm>
            <a:off x="2468880" y="2406272"/>
            <a:ext cx="5486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1" name="0b787e6c-26fb-44b7-9c30-34f4b798227e"/>
          <p:cNvSpPr/>
          <p:nvPr/>
        </p:nvSpPr>
        <p:spPr>
          <a:xfrm>
            <a:off x="2468880" y="3891143"/>
            <a:ext cx="5486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2" name="895f95f4-3469-48e2-a4d5-2f65d4b14b72"/>
          <p:cNvSpPr/>
          <p:nvPr/>
        </p:nvSpPr>
        <p:spPr>
          <a:xfrm>
            <a:off x="5029200" y="2406272"/>
            <a:ext cx="640080" cy="212124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3" name="7da6c213-bdd7-4dc1-8f11-9d0900281632"/>
          <p:cNvSpPr/>
          <p:nvPr/>
        </p:nvSpPr>
        <p:spPr>
          <a:xfrm flipV="1">
            <a:off x="5029200" y="3212345"/>
            <a:ext cx="640080" cy="678798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4" name="d83e3213-d6d0-4443-8920-f920d8c11d58"/>
          <p:cNvSpPr/>
          <p:nvPr/>
        </p:nvSpPr>
        <p:spPr>
          <a:xfrm flipV="1">
            <a:off x="9235440" y="2406272"/>
            <a:ext cx="457200" cy="296974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5" name="15d7c65b-a9ed-41e6-84bc-69cb23ddd2c9"/>
          <p:cNvSpPr/>
          <p:nvPr/>
        </p:nvSpPr>
        <p:spPr>
          <a:xfrm flipH="1">
            <a:off x="9235440" y="3891143"/>
            <a:ext cx="457200" cy="0"/>
          </a:xfrm>
          <a:prstGeom prst="line">
            <a:avLst/>
          </a:prstGeom>
          <a:noFill/>
          <a:ln w="285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6" name="a8b3040e-8265-4b42-bb88-5f6b3ec47e24"/>
          <p:cNvSpPr/>
          <p:nvPr/>
        </p:nvSpPr>
        <p:spPr>
          <a:xfrm>
            <a:off x="2468880" y="5376013"/>
            <a:ext cx="3200400" cy="42425"/>
          </a:xfrm>
          <a:prstGeom prst="line">
            <a:avLst/>
          </a:prstGeom>
          <a:noFill/>
          <a:ln w="28575">
            <a:solidFill>
              <a:srgbClr val="15608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四條身分路徑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誰用什麼身分進來;最後都由 broker 的 RBAC 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be1d06a1-421d-4a0e-a8e2-af3cf6fce7b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00400"/>
                <a:gridCol w="31363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 → MDS 向 AD 驗證 → 簽發 1 小時 token;C3 與 REST Proxy 以本人身分連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群組;依「現在」的群組判斷,異動立即生效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AD;不經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服務(直連)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內建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角色綁在帳號上;只開放自己的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 + 應用端;密碼由 CyberArk 保管與取用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 Proxy、bootstrap)向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必須是 SystemAdmin(官方要求);REST Proxy 可代為申請,受保護清單擋特權身分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各主機 0600;私鑰可由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憑證經 REST Proxy,代為向 MDS 取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看到的是該系統,不是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應用端;私鑰可由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d9ab14d0-0332-4402-8a5f-8acdf4a4b13b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憑證只做傳輸加密;把它當身分會讓所有持有者變成同一個人(實測),所以不綁任何角色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二、人與授權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AD 帳號、7 個群組、唯讀與臨時提權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人:AD 帳號登入,授權跟著群組走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帳號與群組都在 AD;人員異動只改 AD,Kafka 端不用改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51bfe332-3944-4f36-aaa7-11a2273fe2e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Proxy、工具、OP menu 都用 AD 帳密;登入大小寫不分,系統內的身分名稱以 AD 記錄的 CN 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群組;加入群組約數秒生效(MDS 定期重讀群組);移出群組後已發出的 token 立刻失去權限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離職與調動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 AD;帳號停用前,已發出的 token 在到期前仍能通過認證但沒有任何權限,所以離職要同時停用 AD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角色綁定的主體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群組用 Group:名稱;個人與憑證用 User:名稱,區分大小寫,要寫 AD 記錄的寫法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唯讀原則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正式環境人只有讀取權;建 topic、改授權、看叢集狀態分給三個維運群組,臨時加入、做完移出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4545ebd8-921b-4b29-bda9-9ab204a88137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 AD 密碼不經 CyberArk;CyberArk 管的是「主機登入」與「機器密碼」(第五章)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群組與角色(7 組)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高權限群組平常是空的;每個群組指定負責人,定期覆核成員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1968cf2a-844f-4d0c-88c2-4b5d0d8c1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實際能做什麼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DeveloperRead(該系統的 topic)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topic、讀資料;正式環境人的日常權限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看叢集狀態;建不了 topic、讀不到資料、改不了授權,連 topic 細節也看不到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group,讀得到資料,並能在自己範圍內改授權 → 強角色,只臨時加入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叢集設定、建立應用系統的 SCRAM 帳號;不能讀寫資料、不能改授權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只管授權(指派、移除角色),不能建 topic、不能讀資料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紀錄的讀取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設定與紀錄;不能改授權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全部權限;平常沒有人,緊急時經核准臨時加入,事後移出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ae003183-a02d-4416-b3d5-8dc74d661534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「能做什麼」是實測結果,不是推論;topic-admin 比直覺強,所以列為臨時角色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人只能唯讀:臨時提權與收回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需要變更時的流程;全程只動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ec48864-9671-454b-845c-7f59ea9504f5"/>
          <p:cNvSpPr/>
          <p:nvPr/>
        </p:nvSpPr>
        <p:spPr>
          <a:xfrm>
            <a:off x="548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91af5d0-06fc-474d-b160-db5601d3ce83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8dd00932-c443-4d90-b873-e5c73cfbffa8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</a:t>
            </a:r>
            <a:endParaRPr lang="en-US" sz="1400" dirty="0"/>
          </a:p>
        </p:txBody>
      </p:sp>
      <p:sp>
        <p:nvSpPr>
          <p:cNvPr id="5" name="e3ae16e1-4ac1-4dfc-9ba5-9329ba126c50"/>
          <p:cNvSpPr/>
          <p:nvPr/>
        </p:nvSpPr>
        <p:spPr>
          <a:xfrm>
            <a:off x="640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依現行核准方式提出;指定群組與時限</a:t>
            </a:r>
            <a:endParaRPr lang="en-US" sz="1100" dirty="0"/>
          </a:p>
        </p:txBody>
      </p:sp>
      <p:sp>
        <p:nvSpPr>
          <p:cNvPr id="6" name="e704aec3-15f7-4a91-b7cb-3f6b8e35888b"/>
          <p:cNvSpPr/>
          <p:nvPr/>
        </p:nvSpPr>
        <p:spPr>
          <a:xfrm>
            <a:off x="2834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a42db040-f549-4e68-b7e8-062ce5f973a0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2201ff9e-f992-4ced-ac7b-0f5c15c31920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</a:t>
            </a:r>
            <a:endParaRPr lang="en-US" sz="1400" dirty="0"/>
          </a:p>
        </p:txBody>
      </p:sp>
      <p:sp>
        <p:nvSpPr>
          <p:cNvPr id="9" name="07af0376-5444-4905-8bfe-d0b62108c712"/>
          <p:cNvSpPr/>
          <p:nvPr/>
        </p:nvSpPr>
        <p:spPr>
          <a:xfrm>
            <a:off x="2926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管理員把人加進 kafka-topic-admin 等群組</a:t>
            </a:r>
            <a:endParaRPr lang="en-US" sz="1100" dirty="0"/>
          </a:p>
        </p:txBody>
      </p:sp>
      <p:sp>
        <p:nvSpPr>
          <p:cNvPr id="10" name="c2d8b41e-ad6d-4177-8032-4e8e97920e86"/>
          <p:cNvSpPr/>
          <p:nvPr/>
        </p:nvSpPr>
        <p:spPr>
          <a:xfrm>
            <a:off x="5120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b2af8b64-6039-4aae-aecc-ffbeb855fd8a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62610690-2373-454a-8dfc-9f0b693a5ff5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數秒內生效</a:t>
            </a:r>
            <a:endParaRPr lang="en-US" sz="1400" dirty="0"/>
          </a:p>
        </p:txBody>
      </p:sp>
      <p:sp>
        <p:nvSpPr>
          <p:cNvPr id="13" name="a48ef774-01b4-4079-87b3-e4cc56319777"/>
          <p:cNvSpPr/>
          <p:nvPr/>
        </p:nvSpPr>
        <p:spPr>
          <a:xfrm>
            <a:off x="5212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定期重讀群組;本人用同一個帳號操作</a:t>
            </a:r>
            <a:endParaRPr lang="en-US" sz="1100" dirty="0"/>
          </a:p>
        </p:txBody>
      </p:sp>
      <p:sp>
        <p:nvSpPr>
          <p:cNvPr id="14" name="5e80d6b8-b867-464a-bd14-e2d92e29ed3f"/>
          <p:cNvSpPr/>
          <p:nvPr/>
        </p:nvSpPr>
        <p:spPr>
          <a:xfrm>
            <a:off x="7406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040439b9-4574-4a7a-9bc5-e5b4528181fd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3e3e0b74-0fe7-412d-b071-2e24310e84da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做完移出</a:t>
            </a:r>
            <a:endParaRPr lang="en-US" sz="1400" dirty="0"/>
          </a:p>
        </p:txBody>
      </p:sp>
      <p:sp>
        <p:nvSpPr>
          <p:cNvPr id="17" name="37ef0fac-d75b-41df-b4ac-8b2d89b018ba"/>
          <p:cNvSpPr/>
          <p:nvPr/>
        </p:nvSpPr>
        <p:spPr>
          <a:xfrm>
            <a:off x="7498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時限到或工作完成即移出;已發出的 token 立刻失去權限</a:t>
            </a:r>
            <a:endParaRPr lang="en-US" sz="1100" dirty="0"/>
          </a:p>
        </p:txBody>
      </p:sp>
      <p:sp>
        <p:nvSpPr>
          <p:cNvPr id="18" name="70361fed-dbbc-40c1-9da8-c89361df7322"/>
          <p:cNvSpPr/>
          <p:nvPr/>
        </p:nvSpPr>
        <p:spPr>
          <a:xfrm>
            <a:off x="9692640" y="1769899"/>
            <a:ext cx="1947672" cy="19515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9" name="9a6c50d8-eb61-4b8c-b2f8-20c663fec362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d0d2f885-1cd2-4d86-a1b9-72cf51f59623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事後可查</a:t>
            </a:r>
            <a:endParaRPr lang="en-US" sz="1400" dirty="0"/>
          </a:p>
        </p:txBody>
      </p:sp>
      <p:sp>
        <p:nvSpPr>
          <p:cNvPr id="21" name="ee999e81-53b4-4a28-8259-0a7075ff89d5"/>
          <p:cNvSpPr/>
          <p:nvPr/>
        </p:nvSpPr>
        <p:spPr>
          <a:xfrm>
            <a:off x="9784080" y="2745671"/>
            <a:ext cx="1764792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紀錄:誰、什麼時候、對什麼做了什麼、結果</a:t>
            </a:r>
            <a:endParaRPr lang="en-US" sz="1100" dirty="0"/>
          </a:p>
        </p:txBody>
      </p:sp>
      <p:sp>
        <p:nvSpPr>
          <p:cNvPr id="22" name="4a8b1d63-4088-4eee-a244-490bb21471b0"/>
          <p:cNvSpPr/>
          <p:nvPr/>
        </p:nvSpPr>
        <p:spPr>
          <a:xfrm>
            <a:off x="2651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bb1ea3ad-2406-4e6a-a13d-a570379a8a36"/>
          <p:cNvSpPr/>
          <p:nvPr/>
        </p:nvSpPr>
        <p:spPr>
          <a:xfrm>
            <a:off x="4937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51ece43b-d971-4406-85f9-0bebd3f14b09"/>
          <p:cNvSpPr/>
          <p:nvPr/>
        </p:nvSpPr>
        <p:spPr>
          <a:xfrm>
            <a:off x="7223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9323c261-2f0e-43d2-9b68-3eb66f355edb"/>
          <p:cNvSpPr/>
          <p:nvPr/>
        </p:nvSpPr>
        <p:spPr>
          <a:xfrm>
            <a:off x="9509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7" name="3d293e49-76cf-4c61-b2d0-9a4b5c75d6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加入哪個群組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看叢集健康、分割區狀態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kafka-ops(看得到、改不了)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kafka-topic-admin(強角色,做完立刻移出)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kafka-rbac-admin(只管授權)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建立應用系統帳號、叢集設定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三、應用系統、平台元件與線路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SCRAM、client 憑證、F5、傳輸加密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應用系統:兩種連線方式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能用 Kafka 用戶端的直連;只能 HTTP 的經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9094e4ea-c10b-4e08-9b7c-11bec39885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帳號(Kafka 內建,不佔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憑證;REST Proxy 以自己的憑證向 MDS 代為申請該系統的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與 audit 看到的是該系統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最小權限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group;碰別的 topic 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上線流程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建帳號 → 綁角色 → 密碼交付(建議經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簽憑證 → 綁角色 → 私鑰交付(建議經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密碼或憑證更換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 → 應用切換 → 停舊,不中斷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憑證到期前換發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必要的保護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密碼不落地:啟動時從 CyberArk 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受保護清單:管理員與平台身分不可被代為申請;清單區分大小寫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1aa42a8d-54f4-4634-ab74-d093ad9db0fd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的憑證可以代任何不在受保護清單的身分,所以清單要列入所有特權身分,寫法要與 AD 記錄一致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憑證總數:一張共用 server 憑證 + 各元件一張 client 憑證 + 經 REST Proxy 的系統各一張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5f871003-a1e2-4d64-b995-8bb4702f8f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要注意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憑證(1 張)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所有元件的 TLS 加密;名稱要涵蓋所有主機與 F5 的名稱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只做加密、不當身分、不綁任何角色;不要收斂憑證用途(C3 內部會出示它)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自身向 MDS 認證;該身分必須是 SystemAdmin(官方要求)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拿到私鑰等於管理員:檔案權限、不入版本庫、列入受保護清單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代應用系統向 MDS 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同上;受保護清單擋特權身分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初始化第一批授權;平常不用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封存,建議由 CyberArk 保管、依單借出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30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的系統各一張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該系統的身分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隨系統數增加;命名規範先定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8598328-75ae-45f9-b34c-5ce283d588c8"/>
          <p:cNvSpPr/>
          <p:nvPr/>
        </p:nvSpPr>
        <p:spPr>
          <a:xfrm>
            <a:off x="548640" y="5460863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可用行內既有的 AD CS;若 CyberArk 含 Certificate Manager 也可由它簽發與續期(選配)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負載平衡(F5)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只放在 REST Proxy 前面;其他連線不需要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86f99c81-1788-4ef3-a4c6-ab9407634e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 → F5 → REST Proxy ×N;broker、MDS、C3 不經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L4(TCP)透傳。F5 不終止 TLS:終止會讓 REST Proxy 看不到 client 憑證,憑證身分全部失效(實測 401)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危險設定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 終止 TLS 再用固定憑證連後端:所有呼叫者(含沒憑證的)都變成同一個身分(實測)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名稱要含 F5 的虛擬伺服器名稱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consumer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consumer 實例綁在某一台,需要 sticky(同一來源固定到同一台);producer 不需要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設定多台 MDS 位址即可自動切換(實測:停一台仍全部成功,首次切換約 8 秒),不需要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要確認的 F5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虛擬伺服器類型、後端 TLS session 復用、persistence、idle timeout、SNAT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傳輸加密與入口保護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每一條線都加密;每一個入口都要認證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bb415598-21df-423a-aa4e-8f64347f566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線路或入口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加密連線(636 埠),信任行內 CA;只有連 AD 的 broker 需要信任庫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憑證若有中繼 CA,信任庫要放進中繼 CA(實測)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 →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HTTPS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使用者端要信任行內 CA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+ 帳密;C3 與 broker 推送指標都帶帳密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沒有細部授權:帳密依用途分開;日誌會印出帳密標頭,要保護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內建 Admin REST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依官方設定安全擴充:匿名擋下、依使用者角色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未設定時完全沒有認證;與 MDS 共用埠,不能靠防火牆擋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內部埠(broker 互連、controller)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防火牆只開給叢集節點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應用與工具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TLS;人用 AD 帳密、服務用 SCRAM、元件用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同一個對外埠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監控、告警與稽核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看得到、告得了、查得到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f961dd68-e925-4fa0-97fc-418a1b4fe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搭配 Prometheus;指標由 broker 推送;維護前用 OP menu 對該節點靜音告警,做完即結束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路由;靜音與告警變更要有人看(有帳密就能靜音,所以帳密分開)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稽核(audit)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寫入 audit 事件:誰、什麼時候、對什麼、允許或拒絕;授權變更(含非管理員的嘗試)都有紀錄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定期覆核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匯出權限清單(角色、主體、資源範圍)供覆核;SystemAdmin 保持最少人數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每個動作留紀錄並集中到 syslog;C3、Prometheus 日誌含帳密標頭,權限要收緊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四、日常維運與緊急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OP menu、跳板機與主機、初始化與緊急模式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OP menu:分層與真正的門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操作員只從選單執行審核過的作業;選單不判斷權限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d7483b5f-a0ff-47bb-ba9a-5737883165d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480560"/>
                <a:gridCol w="24963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分布、生效設定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規則;一次一台,每台等叢集恢復才換下一台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kafka-topic-admin;kafka-cluster-admin + 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topic、應用系統帳號上線與下架、更換密碼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RBAC;執行前顯示影響並要求確認;可限制時段、同一時間只允許一人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指派權限、匯出與查詢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RBAC;緊急模式經 sudo 切換專用帳號,逐條記錄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9b70b8f-9775-418c-9322-53a72e6d8c9c"/>
          <p:cNvSpPr/>
          <p:nvPr/>
        </p:nvSpPr>
        <p:spPr>
          <a:xfrm>
            <a:off x="548640" y="5418438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依本人 AD 帳號判斷;主機的動作由 sudo 規則判斷;每次執行留紀錄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跳板機與主機:兩種情況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不影響 Kafka 本身(broker 查 AD 不需要主機加入網域);只影響人怎麼登入主機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899637ec-de5a-47cb-aa57-2cc86ac6fc6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主機沒有加入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帳號;OP menu 直接取登入者,不再問帳密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本機帳號(或經 CyberArk PSM 代登入);OP menu 自己問 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直接引用 AD 群組;人員異動只改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維護本機帳號與群組,或把 PSM 當門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操作員用本人身分 ssh;主機日誌直接看得到是誰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用自動化帳號 ssh(key 由 CyberArk 保管與輪替、執行時取);「是誰」靠 OP menu 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份量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root 與 breakglass、PSM 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加上日常 ssh 身分也靠它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較簡單、稽核直接;若客戶可做,建議這條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可行;多一個自動化帳號要管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2785b0b-1bc8-42cf-9354-538d0a73f1eb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 兩種情況都支援,只差一個設定;待客戶回答:主機與跳板機是否加入 AD、人連主機是否一律經 PSM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初始化與緊急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bootstrap 只用於初始化;緊急時用自己的身分加 breakglass 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a397615-9cc9-4603-ae77-5341c8bbd06f"/>
          <p:cNvSpPr/>
          <p:nvPr/>
        </p:nvSpPr>
        <p:spPr>
          <a:xfrm>
            <a:off x="54864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fc573a73-2467-4100-89d8-f206a11586bb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1e773497-e657-4e83-822b-23e270d1fa62"/>
          <p:cNvSpPr/>
          <p:nvPr/>
        </p:nvSpPr>
        <p:spPr>
          <a:xfrm>
            <a:off x="64008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5" name="e7e9a9ae-520d-45f9-9384-91c70b9c1d33"/>
          <p:cNvSpPr/>
          <p:nvPr/>
        </p:nvSpPr>
        <p:spPr>
          <a:xfrm>
            <a:off x="64008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bootstrap 憑證建立第一批授權:C3、REST Proxy、7 個群組</a:t>
            </a:r>
            <a:endParaRPr lang="en-US" sz="1100" dirty="0"/>
          </a:p>
        </p:txBody>
      </p:sp>
      <p:sp>
        <p:nvSpPr>
          <p:cNvPr id="6" name="650bd5b5-e469-4210-a7dc-927974856fc1"/>
          <p:cNvSpPr/>
          <p:nvPr/>
        </p:nvSpPr>
        <p:spPr>
          <a:xfrm>
            <a:off x="338328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9af4bd8f-e219-4909-b555-dd4b6ef30f6b"/>
          <p:cNvSpPr/>
          <p:nvPr/>
        </p:nvSpPr>
        <p:spPr>
          <a:xfrm>
            <a:off x="349300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cd014d00-65d7-460f-8f8e-cd40606192cb"/>
          <p:cNvSpPr/>
          <p:nvPr/>
        </p:nvSpPr>
        <p:spPr>
          <a:xfrm>
            <a:off x="347472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驗收</a:t>
            </a:r>
            <a:endParaRPr lang="en-US" sz="1400" dirty="0"/>
          </a:p>
        </p:txBody>
      </p:sp>
      <p:sp>
        <p:nvSpPr>
          <p:cNvPr id="9" name="50727968-71fe-4a99-9269-403b4072088f"/>
          <p:cNvSpPr/>
          <p:nvPr/>
        </p:nvSpPr>
        <p:spPr>
          <a:xfrm>
            <a:off x="347472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AD 身分確認:rbac-admin 能改授權、ops 不能變更、無群組被拒</a:t>
            </a:r>
            <a:endParaRPr lang="en-US" sz="1100" dirty="0"/>
          </a:p>
        </p:txBody>
      </p:sp>
      <p:sp>
        <p:nvSpPr>
          <p:cNvPr id="10" name="217982dd-8c95-4a17-81c0-502053105b86"/>
          <p:cNvSpPr/>
          <p:nvPr/>
        </p:nvSpPr>
        <p:spPr>
          <a:xfrm>
            <a:off x="621792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1" name="f0ca783f-7816-4f46-9158-ad3c0c96a912"/>
          <p:cNvSpPr/>
          <p:nvPr/>
        </p:nvSpPr>
        <p:spPr>
          <a:xfrm>
            <a:off x="632764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815eef0b-1614-4416-b705-982f154d0a72"/>
          <p:cNvSpPr/>
          <p:nvPr/>
        </p:nvSpPr>
        <p:spPr>
          <a:xfrm>
            <a:off x="630936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封存</a:t>
            </a:r>
            <a:endParaRPr lang="en-US" sz="1400" dirty="0"/>
          </a:p>
        </p:txBody>
      </p:sp>
      <p:sp>
        <p:nvSpPr>
          <p:cNvPr id="13" name="66221e12-d911-48fa-984b-b97b78ddb72c"/>
          <p:cNvSpPr/>
          <p:nvPr/>
        </p:nvSpPr>
        <p:spPr>
          <a:xfrm>
            <a:off x="630936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憑證私鑰離線保管(建議 CyberArk);日常不使用</a:t>
            </a:r>
            <a:endParaRPr lang="en-US" sz="1100" dirty="0"/>
          </a:p>
        </p:txBody>
      </p:sp>
      <p:sp>
        <p:nvSpPr>
          <p:cNvPr id="14" name="d009d516-3e73-4c4a-bacc-555790117bba"/>
          <p:cNvSpPr/>
          <p:nvPr/>
        </p:nvSpPr>
        <p:spPr>
          <a:xfrm>
            <a:off x="9052560" y="1769899"/>
            <a:ext cx="2587752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5bdc1986-6dd2-4bc4-a180-181566327365"/>
          <p:cNvSpPr/>
          <p:nvPr/>
        </p:nvSpPr>
        <p:spPr>
          <a:xfrm>
            <a:off x="916228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e71c9568-48e5-431c-b9e0-49951f2a6a56"/>
          <p:cNvSpPr/>
          <p:nvPr/>
        </p:nvSpPr>
        <p:spPr>
          <a:xfrm>
            <a:off x="9144000" y="2295968"/>
            <a:ext cx="24048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緊急</a:t>
            </a:r>
            <a:endParaRPr lang="en-US" sz="1400" dirty="0"/>
          </a:p>
        </p:txBody>
      </p:sp>
      <p:sp>
        <p:nvSpPr>
          <p:cNvPr id="17" name="85e47cc2-5001-47ea-a279-ecfeac54eb19"/>
          <p:cNvSpPr/>
          <p:nvPr/>
        </p:nvSpPr>
        <p:spPr>
          <a:xfrm>
            <a:off x="9144000" y="2745671"/>
            <a:ext cx="2404872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經核准臨時加入 kafka-breakglass,用本人身分操作;事後移出並查 audit</a:t>
            </a:r>
            <a:endParaRPr lang="en-US" sz="1100" dirty="0"/>
          </a:p>
        </p:txBody>
      </p:sp>
      <p:sp>
        <p:nvSpPr>
          <p:cNvPr id="18" name="7096b8e3-a5d5-41fe-8188-be87288a7907"/>
          <p:cNvSpPr/>
          <p:nvPr/>
        </p:nvSpPr>
        <p:spPr>
          <a:xfrm>
            <a:off x="320040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b1fc4f7f-5b02-4f37-a274-86a1ce17a5f8"/>
          <p:cNvSpPr/>
          <p:nvPr/>
        </p:nvSpPr>
        <p:spPr>
          <a:xfrm>
            <a:off x="603504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37da520c-e125-45f0-a2bc-32298490f474"/>
          <p:cNvSpPr/>
          <p:nvPr/>
        </p:nvSpPr>
        <p:spPr>
          <a:xfrm>
            <a:off x="886968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15" name="4748b2fd-0aac-49e1-b7c8-35202662067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6293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或 MDS 身分機制失效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憑證經 OP menu 緊急模式(sudo 切換專用帳號)執行單一指令,逐條記錄;事後輪替憑證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 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保持最少;平常 kafka-breakglass 是空的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緊急模式每一條指令都記錄;CyberArk PSM 可加錄影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五、CyberArk 整合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先懂元件,再看接在哪裡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是什麼:會用到的元件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一套「特權存取與秘密管理」平台;不同模組解決不同問題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6" name="d612b0cb-a929-46a8-94be-b76b853d65a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加密保存密碼、私鑰等「秘密」;PVWA 是管理與申請的網頁介面(核准流程、借出紀錄)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 bootstrap 私鑰、root 密碼、breakglass 相關;依單借出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自動定期更換被納管帳號的密碼或 SSH key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輪替跳板機與各主機的 root、本機帳號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/ PSM for SSH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人連主機時由它代登入(密碼不經手)並錄影;可當跳板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人登入跳板機與主機;緊急操作有錄影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應用程式用的取密碼 API:以應用識別 + 主機或憑證認證,回傳密碼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應用系統啟動時取 SCRAM 密碼;平台元件啟動前取設定檔密碼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新一代的秘密管理(含 Kubernetes、CI/CD);host 身分換短效 token 取秘密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若客戶已採用,可取代 CCP 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小工具:啟動程式前把秘密變成環境變數,不改程式碼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不方便改程式的應用或腳本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Certificate Manager(選配)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憑證簽發、到期追蹤與自動續期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 client 憑證的生命週期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整合總圖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身分與授權不變;CyberArk 只接管「密碼與私鑰放哪、誰能拿、怎麼輪替、怎麼錄影」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7" name="7689ae3a-f2b8-484b-82c2-dc8a394647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4389120"/>
                <a:gridCol w="15819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現有機制(不變)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接入點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帳密換 token;角色綁 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不經 CyberArk;只有「登入跳板機」這段可先過 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+ OP menu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身分 + sudo;動作留紀錄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代登入與錄影;sudo 引用 AD 群組;緊急操作有錄影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OS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 + sudoers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 定期輪替 root 與本機帳號;人要用時經 PSM 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/ 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 0600;群組平常空的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私鑰存 Vault,依單核准借出、用完換發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帳密或 client 憑證 + 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啟動時向 CCP 取密碼或私鑰,在記憶體使用、不落地;不改程式用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/ Conjur /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平台元件設定檔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設定檔內的密碼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Secret Protection 加密設定檔,主金鑰啟動時向 CCP 取;或啟動前取密碼寫 0600 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+ Secret Protection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一張憑證只做加密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(選配)Certificate Manager 簽發與續期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 Manager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051ff83b-e514-4836-b1d0-83fc5c7cc3f9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 SCRAM 密碼沒有現成的 CPM 平台:用「新帳號並行 → 切換 → 停舊」腳本,由 CPM 自訂平台或排程呼叫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人連主機的三種模式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決定 OP menu 的 ssh 身分怎麼設計;要向客戶確認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8" name="723b1d81-3bdc-4a93-a674-f073f831477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3134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人怎麼連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 OP menu 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A. PSM 就是跳板機(最常見)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帳號連 PSM for SSH,由它取主機帳密開 session、錄影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22 埠通常只開給 PSM;原本的跳板機變成被納管的主機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用自動化帳號 ssh 各主機,key 由 CyberArk 保管、執行時取;人仍以 AD 身分登入選單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B. PSM 在跳板機前面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維持跳板機直連主機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幾乎不用改;補上 CyberArk 管理的 key 與集中紀錄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C. 兩層都經 PSM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進跳板機,再經 PSM 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繞兩次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ssh 要改成經 PSM,複雜,不建議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aa83679-bc68-4041-956a-31734ea6b2b2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建議:A 或 B 皆可;重點是「主機 22 埠允許哪些來源」與「跳板機是否加入 AD」,兩個答案決定做法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應用程式取密碼與輪替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密碼不落地;換密碼不中斷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84daad7-77c3-40c5-bae9-cd1fceacc25e"/>
          <p:cNvSpPr/>
          <p:nvPr/>
        </p:nvSpPr>
        <p:spPr>
          <a:xfrm>
            <a:off x="548640" y="1685050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取密碼(每次啟動)</a:t>
            </a:r>
            <a:endParaRPr lang="en-US" sz="1350" dirty="0"/>
          </a:p>
        </p:txBody>
      </p:sp>
      <p:sp>
        <p:nvSpPr>
          <p:cNvPr id="3" name="e473c267-8e9f-46f9-886f-9b5c561d0e73"/>
          <p:cNvSpPr/>
          <p:nvPr/>
        </p:nvSpPr>
        <p:spPr>
          <a:xfrm>
            <a:off x="5486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" name="71871286-5856-4c95-882a-b221a35aaf68"/>
          <p:cNvSpPr/>
          <p:nvPr/>
        </p:nvSpPr>
        <p:spPr>
          <a:xfrm>
            <a:off x="6583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3d045e48-9f1e-470d-9a2e-f9c46b4f6a72"/>
          <p:cNvSpPr/>
          <p:nvPr/>
        </p:nvSpPr>
        <p:spPr>
          <a:xfrm>
            <a:off x="6400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</a:t>
            </a:r>
            <a:endParaRPr lang="en-US" sz="1400" dirty="0"/>
          </a:p>
        </p:txBody>
      </p:sp>
      <p:sp>
        <p:nvSpPr>
          <p:cNvPr id="6" name="37333388-a009-41de-b9d6-6e4c05a95379"/>
          <p:cNvSpPr/>
          <p:nvPr/>
        </p:nvSpPr>
        <p:spPr>
          <a:xfrm>
            <a:off x="6400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應用以 AppID + 主機或憑證向 CCP 認證</a:t>
            </a:r>
            <a:endParaRPr lang="en-US" sz="1100" dirty="0"/>
          </a:p>
        </p:txBody>
      </p:sp>
      <p:sp>
        <p:nvSpPr>
          <p:cNvPr id="7" name="51935128-20ca-473e-b249-44019557e173"/>
          <p:cNvSpPr/>
          <p:nvPr/>
        </p:nvSpPr>
        <p:spPr>
          <a:xfrm>
            <a:off x="32918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2160af5-b873-413c-95e9-cd4a6f2b3080"/>
          <p:cNvSpPr/>
          <p:nvPr/>
        </p:nvSpPr>
        <p:spPr>
          <a:xfrm>
            <a:off x="34015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5c53f67-e55e-4200-b766-59ce3db0b646"/>
          <p:cNvSpPr/>
          <p:nvPr/>
        </p:nvSpPr>
        <p:spPr>
          <a:xfrm>
            <a:off x="33832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</a:t>
            </a:r>
            <a:endParaRPr lang="en-US" sz="1400" dirty="0"/>
          </a:p>
        </p:txBody>
      </p:sp>
      <p:sp>
        <p:nvSpPr>
          <p:cNvPr id="10" name="0f4db34d-6974-4d5c-8e00-64991c1e9078"/>
          <p:cNvSpPr/>
          <p:nvPr/>
        </p:nvSpPr>
        <p:spPr>
          <a:xfrm>
            <a:off x="33832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取得 SCRAM 帳密(或憑證私鑰)</a:t>
            </a:r>
            <a:endParaRPr lang="en-US" sz="1100" dirty="0"/>
          </a:p>
        </p:txBody>
      </p:sp>
      <p:sp>
        <p:nvSpPr>
          <p:cNvPr id="11" name="43307d93-93a0-4076-9172-dba42466e9e5"/>
          <p:cNvSpPr/>
          <p:nvPr/>
        </p:nvSpPr>
        <p:spPr>
          <a:xfrm>
            <a:off x="60350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2" name="3d1b431a-8103-4c05-89f9-c2041c22f615"/>
          <p:cNvSpPr/>
          <p:nvPr/>
        </p:nvSpPr>
        <p:spPr>
          <a:xfrm>
            <a:off x="61447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97d1369e-8ab8-48b3-9d31-91ec22c72cef"/>
          <p:cNvSpPr/>
          <p:nvPr/>
        </p:nvSpPr>
        <p:spPr>
          <a:xfrm>
            <a:off x="61264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記憶體使用</a:t>
            </a:r>
            <a:endParaRPr lang="en-US" sz="1400" dirty="0"/>
          </a:p>
        </p:txBody>
      </p:sp>
      <p:sp>
        <p:nvSpPr>
          <p:cNvPr id="14" name="759805c7-f8f0-4846-b251-83017c0b5efa"/>
          <p:cNvSpPr/>
          <p:nvPr/>
        </p:nvSpPr>
        <p:spPr>
          <a:xfrm>
            <a:off x="61264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組成連線設定,不寫入磁碟</a:t>
            </a:r>
            <a:endParaRPr lang="en-US" sz="1100" dirty="0"/>
          </a:p>
        </p:txBody>
      </p:sp>
      <p:sp>
        <p:nvSpPr>
          <p:cNvPr id="15" name="37b67760-582d-4c45-90c4-19b59ff978b4"/>
          <p:cNvSpPr/>
          <p:nvPr/>
        </p:nvSpPr>
        <p:spPr>
          <a:xfrm>
            <a:off x="8778240" y="2024449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6" name="58194613-d7f9-4f61-982b-24c044ee0a09"/>
          <p:cNvSpPr/>
          <p:nvPr/>
        </p:nvSpPr>
        <p:spPr>
          <a:xfrm>
            <a:off x="88879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f89d33f5-df8a-4abf-8f8d-0f2521811542"/>
          <p:cNvSpPr/>
          <p:nvPr/>
        </p:nvSpPr>
        <p:spPr>
          <a:xfrm>
            <a:off x="8869680" y="2550517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400" dirty="0"/>
          </a:p>
        </p:txBody>
      </p:sp>
      <p:sp>
        <p:nvSpPr>
          <p:cNvPr id="18" name="4dcc94a0-8090-4ea5-99f9-d544f7fefe53"/>
          <p:cNvSpPr/>
          <p:nvPr/>
        </p:nvSpPr>
        <p:spPr>
          <a:xfrm>
            <a:off x="8869680" y="3000221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認證;broker RBAC 判斷</a:t>
            </a:r>
            <a:endParaRPr lang="en-US" sz="1100" dirty="0"/>
          </a:p>
        </p:txBody>
      </p:sp>
      <p:sp>
        <p:nvSpPr>
          <p:cNvPr id="19" name="4de5bf79-b454-42fe-8710-614e1885e868"/>
          <p:cNvSpPr/>
          <p:nvPr/>
        </p:nvSpPr>
        <p:spPr>
          <a:xfrm>
            <a:off x="31089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7c236dbc-6a17-4e28-b008-2c5b34948004"/>
          <p:cNvSpPr/>
          <p:nvPr/>
        </p:nvSpPr>
        <p:spPr>
          <a:xfrm>
            <a:off x="58521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7d58013c-1959-46bc-b336-bf46ebb6abd4"/>
          <p:cNvSpPr/>
          <p:nvPr/>
        </p:nvSpPr>
        <p:spPr>
          <a:xfrm>
            <a:off x="85953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2d9abdec-3b80-4367-8e8a-c49eb2ad7fa9"/>
          <p:cNvSpPr/>
          <p:nvPr/>
        </p:nvSpPr>
        <p:spPr>
          <a:xfrm>
            <a:off x="548640" y="3848718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輪替(定期或事件觸發)</a:t>
            </a:r>
            <a:endParaRPr lang="en-US" sz="1350" dirty="0"/>
          </a:p>
        </p:txBody>
      </p:sp>
      <p:sp>
        <p:nvSpPr>
          <p:cNvPr id="23" name="719df94c-782e-4e44-a06f-8dd974a881ab"/>
          <p:cNvSpPr/>
          <p:nvPr/>
        </p:nvSpPr>
        <p:spPr>
          <a:xfrm>
            <a:off x="5486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a8b38073-7ee4-40c8-b2e5-685a4aa9f7fc"/>
          <p:cNvSpPr/>
          <p:nvPr/>
        </p:nvSpPr>
        <p:spPr>
          <a:xfrm>
            <a:off x="6583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22aae182-1b1f-4b9f-bc6d-ea3031589d54"/>
          <p:cNvSpPr/>
          <p:nvPr/>
        </p:nvSpPr>
        <p:spPr>
          <a:xfrm>
            <a:off x="6400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建新帳號</a:t>
            </a:r>
            <a:endParaRPr lang="en-US" sz="1400" dirty="0"/>
          </a:p>
        </p:txBody>
      </p:sp>
      <p:sp>
        <p:nvSpPr>
          <p:cNvPr id="26" name="c53dcb05-b405-4da1-be97-4758f728d434"/>
          <p:cNvSpPr/>
          <p:nvPr/>
        </p:nvSpPr>
        <p:spPr>
          <a:xfrm>
            <a:off x="6400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v2 帳號並綁同樣角色,寫回 Vault</a:t>
            </a:r>
            <a:endParaRPr lang="en-US" sz="1100" dirty="0"/>
          </a:p>
        </p:txBody>
      </p:sp>
      <p:sp>
        <p:nvSpPr>
          <p:cNvPr id="27" name="8795f5df-6b2d-4aa1-b8d4-125a5be9beff"/>
          <p:cNvSpPr/>
          <p:nvPr/>
        </p:nvSpPr>
        <p:spPr>
          <a:xfrm>
            <a:off x="32918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5a9d9dfd-86e0-4f7f-9c7e-c459b0f51437"/>
          <p:cNvSpPr/>
          <p:nvPr/>
        </p:nvSpPr>
        <p:spPr>
          <a:xfrm>
            <a:off x="34015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8935a6e7-75f8-4a56-88fe-3fa033186992"/>
          <p:cNvSpPr/>
          <p:nvPr/>
        </p:nvSpPr>
        <p:spPr>
          <a:xfrm>
            <a:off x="33832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並行</a:t>
            </a:r>
            <a:endParaRPr lang="en-US" sz="1400" dirty="0"/>
          </a:p>
        </p:txBody>
      </p:sp>
      <p:sp>
        <p:nvSpPr>
          <p:cNvPr id="30" name="fdaf27f8-37e9-4070-999f-e2d3ebdce17f"/>
          <p:cNvSpPr/>
          <p:nvPr/>
        </p:nvSpPr>
        <p:spPr>
          <a:xfrm>
            <a:off x="33832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新舊同時可用,應用逐批重啟切換</a:t>
            </a:r>
            <a:endParaRPr lang="en-US" sz="1100" dirty="0"/>
          </a:p>
        </p:txBody>
      </p:sp>
      <p:sp>
        <p:nvSpPr>
          <p:cNvPr id="31" name="ff7634a6-95c5-4412-be94-3571f7643fe3"/>
          <p:cNvSpPr/>
          <p:nvPr/>
        </p:nvSpPr>
        <p:spPr>
          <a:xfrm>
            <a:off x="60350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318b2c19-ceee-4569-9a62-8620b47266fa"/>
          <p:cNvSpPr/>
          <p:nvPr/>
        </p:nvSpPr>
        <p:spPr>
          <a:xfrm>
            <a:off x="61447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cc2841c7-4c5b-4669-9392-8efa5e12bd8d"/>
          <p:cNvSpPr/>
          <p:nvPr/>
        </p:nvSpPr>
        <p:spPr>
          <a:xfrm>
            <a:off x="61264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停舊</a:t>
            </a:r>
            <a:endParaRPr lang="en-US" sz="1400" dirty="0"/>
          </a:p>
        </p:txBody>
      </p:sp>
      <p:sp>
        <p:nvSpPr>
          <p:cNvPr id="34" name="ed96cf28-2efd-4017-a36e-a32e9e07070d"/>
          <p:cNvSpPr/>
          <p:nvPr/>
        </p:nvSpPr>
        <p:spPr>
          <a:xfrm>
            <a:off x="61264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全部切換後停用舊帳號,舊密碼立刻失效</a:t>
            </a:r>
            <a:endParaRPr lang="en-US" sz="1100" dirty="0"/>
          </a:p>
        </p:txBody>
      </p:sp>
      <p:sp>
        <p:nvSpPr>
          <p:cNvPr id="35" name="8dcf11a1-9b9a-46ac-9243-ea67210f212e"/>
          <p:cNvSpPr/>
          <p:nvPr/>
        </p:nvSpPr>
        <p:spPr>
          <a:xfrm>
            <a:off x="8778240" y="4188117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e24c7666-3643-4f02-95c3-3dcd8d80ee58"/>
          <p:cNvSpPr/>
          <p:nvPr/>
        </p:nvSpPr>
        <p:spPr>
          <a:xfrm>
            <a:off x="88879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8de5d387-4471-49a8-bec7-3e47e39a87ef"/>
          <p:cNvSpPr/>
          <p:nvPr/>
        </p:nvSpPr>
        <p:spPr>
          <a:xfrm>
            <a:off x="8869680" y="4714185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誰來做</a:t>
            </a:r>
            <a:endParaRPr lang="en-US" sz="1400" dirty="0"/>
          </a:p>
        </p:txBody>
      </p:sp>
      <p:sp>
        <p:nvSpPr>
          <p:cNvPr id="38" name="90dbf84a-2fff-43d2-b4da-85768fa0b1c7"/>
          <p:cNvSpPr/>
          <p:nvPr/>
        </p:nvSpPr>
        <p:spPr>
          <a:xfrm>
            <a:off x="8869680" y="5163889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CPM 自訂平台呼叫腳本,或排程;全程 audit 可查</a:t>
            </a:r>
            <a:endParaRPr lang="en-US" sz="1100" dirty="0"/>
          </a:p>
        </p:txBody>
      </p:sp>
      <p:sp>
        <p:nvSpPr>
          <p:cNvPr id="39" name="7258b538-a88b-4a65-9098-44cf24d42953"/>
          <p:cNvSpPr/>
          <p:nvPr/>
        </p:nvSpPr>
        <p:spPr>
          <a:xfrm>
            <a:off x="31089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2b0d803e-60b8-4974-acbc-bf516b2dc768"/>
          <p:cNvSpPr/>
          <p:nvPr/>
        </p:nvSpPr>
        <p:spPr>
          <a:xfrm>
            <a:off x="58521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9926d279-b7d5-4801-b688-6ceed349d2e0"/>
          <p:cNvSpPr/>
          <p:nvPr/>
        </p:nvSpPr>
        <p:spPr>
          <a:xfrm>
            <a:off x="85953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六、待確認、限制與導入順序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/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要向客戶確認的事項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答案會決定幾個分支的做法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0" name="f04b8e88-0cf6-4327-87b2-7f601e85e6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使用者名稱與 CN 是否完全相同(含大小寫);Kafka 群組放哪個 OU;群組人數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群組查詢設定、主體寫法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跳板機與各主機是否加入 AD;人連主機是否一律經 PSM;主機 22 埠允許哪些來源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登入與 sudo 設計、OP menu 的 ssh 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有哪些模組(PSM、CPM、CCP、Conjur、Summon、Certificate Manager);應用主機與 Kafka 節點能否連到 CCP / PSM;AppID 用 IP 還是憑證認;輪替週期與負責人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第五章每一列的做法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虛擬伺服器類型(L4)、後端 TLS session 復用、persistence、idle timeout、SNAT;REST Proxy 幾台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憑證名稱、sticky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變更核准方式;維運作業項目清單;現有 OP menu 樣貌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的核准檢查與項目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由誰簽(AD CS 或 Certificate Manager);有效期政策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憑證生命週期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未驗證與限制(如實說明)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已實測的以外,這些尚未在客戶環境驗證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1" name="448beb00-63f5-40b8-bd1a-272dd8433a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本身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整合方式為通用模式,尚未與任何 CyberArk 環境對接;API 細節以客戶版本文件為準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真實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巢狀群組、群組異動的實際延遲、AD 憑證鏈(中繼 CA)要以客戶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以同類負載平衡器實測 L4 透傳可行、L7 終止不可;F5 本身的行為要以客戶設定驗證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controller 與 RHEL 部署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設計依官方文件;以本方案的測試環境為準,未在客戶 VM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未驗證;建議 C3 不經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密碼由 CPM 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需自訂 CPM 平台或排程腳本,未實作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導入順序建議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先把身分與授權做對,再接 CyberArk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f56fa33-4e43-4094-a454-6a0b00ba5101"/>
          <p:cNvSpPr/>
          <p:nvPr/>
        </p:nvSpPr>
        <p:spPr>
          <a:xfrm>
            <a:off x="548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7324799d-bb71-4e30-bd02-31abbea56c39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7f8c1d54-5072-433a-89b8-45ad27dd76c1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基礎</a:t>
            </a:r>
            <a:endParaRPr lang="en-US" sz="1400" dirty="0"/>
          </a:p>
        </p:txBody>
      </p:sp>
      <p:sp>
        <p:nvSpPr>
          <p:cNvPr id="5" name="83a15696-4b5d-4a74-969f-8d1b9c211d15"/>
          <p:cNvSpPr/>
          <p:nvPr/>
        </p:nvSpPr>
        <p:spPr>
          <a:xfrm>
            <a:off x="640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群組與唯讀查詢帳號;憑證;叢集與 TLS;初始授權與驗收</a:t>
            </a:r>
            <a:endParaRPr lang="en-US" sz="1100" dirty="0"/>
          </a:p>
        </p:txBody>
      </p:sp>
      <p:sp>
        <p:nvSpPr>
          <p:cNvPr id="6" name="fefd874d-6abf-4889-872e-f4f994edb71c"/>
          <p:cNvSpPr/>
          <p:nvPr/>
        </p:nvSpPr>
        <p:spPr>
          <a:xfrm>
            <a:off x="2834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349d276d-0321-46b5-85d4-48c6caffff6b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efbeb2b2-767f-4418-bf66-2d4256b65d94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人與系統上線</a:t>
            </a:r>
            <a:endParaRPr lang="en-US" sz="1400" dirty="0"/>
          </a:p>
        </p:txBody>
      </p:sp>
      <p:sp>
        <p:nvSpPr>
          <p:cNvPr id="9" name="a6a16e05-e2b1-4d98-9555-4c5cc8396ae5"/>
          <p:cNvSpPr/>
          <p:nvPr/>
        </p:nvSpPr>
        <p:spPr>
          <a:xfrm>
            <a:off x="2926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C3、REST Proxy、F5;應用系統帳號與憑證;命名規範</a:t>
            </a:r>
            <a:endParaRPr lang="en-US" sz="1100" dirty="0"/>
          </a:p>
        </p:txBody>
      </p:sp>
      <p:sp>
        <p:nvSpPr>
          <p:cNvPr id="10" name="23bff972-dde2-44db-9f82-ae0cb9b37193"/>
          <p:cNvSpPr/>
          <p:nvPr/>
        </p:nvSpPr>
        <p:spPr>
          <a:xfrm>
            <a:off x="5120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eb0f235c-4493-4d24-b03e-5cdd080046aa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25501098-a562-4c47-af2a-f6a1c8dbc65a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</a:t>
            </a:r>
            <a:endParaRPr lang="en-US" sz="1400" dirty="0"/>
          </a:p>
        </p:txBody>
      </p:sp>
      <p:sp>
        <p:nvSpPr>
          <p:cNvPr id="13" name="707e9ed4-1712-4399-839c-e53ee51772de"/>
          <p:cNvSpPr/>
          <p:nvPr/>
        </p:nvSpPr>
        <p:spPr>
          <a:xfrm>
            <a:off x="5212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menu、監控告警、audit 匯出與覆核;緊急流程演練</a:t>
            </a:r>
            <a:endParaRPr lang="en-US" sz="1100" dirty="0"/>
          </a:p>
        </p:txBody>
      </p:sp>
      <p:sp>
        <p:nvSpPr>
          <p:cNvPr id="14" name="a9984a7e-c57c-4927-9634-b64f95d2cba2"/>
          <p:cNvSpPr/>
          <p:nvPr/>
        </p:nvSpPr>
        <p:spPr>
          <a:xfrm>
            <a:off x="7406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ce2bdbda-d694-49ee-94c5-61d5eebb61e1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995b8b2f-b42f-4d1d-b514-62a06833a834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第一階段</a:t>
            </a:r>
            <a:endParaRPr lang="en-US" sz="1400" dirty="0"/>
          </a:p>
        </p:txBody>
      </p:sp>
      <p:sp>
        <p:nvSpPr>
          <p:cNvPr id="17" name="a141d3f1-40f0-41de-b0d4-33da32b3d9cd"/>
          <p:cNvSpPr/>
          <p:nvPr/>
        </p:nvSpPr>
        <p:spPr>
          <a:xfrm>
            <a:off x="7498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 代登入與錄影;CPM 輪替主機帳號;bootstrap 私鑰入 Vault</a:t>
            </a:r>
            <a:endParaRPr lang="en-US" sz="1100" dirty="0"/>
          </a:p>
        </p:txBody>
      </p:sp>
      <p:sp>
        <p:nvSpPr>
          <p:cNvPr id="18" name="ce89e16f-58d8-4fa4-b3d8-3123de32aba4"/>
          <p:cNvSpPr/>
          <p:nvPr/>
        </p:nvSpPr>
        <p:spPr>
          <a:xfrm>
            <a:off x="9692640" y="1769899"/>
            <a:ext cx="1947672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9" name="cb360844-ba01-44af-80cb-9c5f71c09709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15e12cf9-67e0-4999-8c61-b6ae51ba8ba3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第二階段</a:t>
            </a:r>
            <a:endParaRPr lang="en-US" sz="1400" dirty="0"/>
          </a:p>
        </p:txBody>
      </p:sp>
      <p:sp>
        <p:nvSpPr>
          <p:cNvPr id="21" name="fa686b2c-d7d7-4952-b4f6-278b8cea92a9"/>
          <p:cNvSpPr/>
          <p:nvPr/>
        </p:nvSpPr>
        <p:spPr>
          <a:xfrm>
            <a:off x="9784080" y="2745671"/>
            <a:ext cx="1764792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應用程式經 CCP 取密碼;設定檔密碼不落地;SCRAM 輪替自動化</a:t>
            </a:r>
            <a:endParaRPr lang="en-US" sz="1100" dirty="0"/>
          </a:p>
        </p:txBody>
      </p:sp>
      <p:sp>
        <p:nvSpPr>
          <p:cNvPr id="22" name="f2ee925d-6faf-4d19-9d60-7a26f0480ec7"/>
          <p:cNvSpPr/>
          <p:nvPr/>
        </p:nvSpPr>
        <p:spPr>
          <a:xfrm>
            <a:off x="2651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463c5d45-424e-46af-90dc-11c68b1e21ae"/>
          <p:cNvSpPr/>
          <p:nvPr/>
        </p:nvSpPr>
        <p:spPr>
          <a:xfrm>
            <a:off x="4937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930efd4e-c1b9-49c8-906e-8266bb45d40f"/>
          <p:cNvSpPr/>
          <p:nvPr/>
        </p:nvSpPr>
        <p:spPr>
          <a:xfrm>
            <a:off x="7223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a26abf33-ed5c-4e94-bd72-1e1397a663f7"/>
          <p:cNvSpPr/>
          <p:nvPr/>
        </p:nvSpPr>
        <p:spPr>
          <a:xfrm>
            <a:off x="9509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0f3b8047-7283-4f71-a8a6-ddf355fbd6bd"/>
          <p:cNvSpPr/>
          <p:nvPr/>
        </p:nvSpPr>
        <p:spPr>
          <a:xfrm>
            <a:off x="548640" y="440024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到 3 步已在測試環境完整驗證;第 4、5 步依客戶回答的 CyberArk 模組決定範圍</a:t>
            </a:r>
            <a:endParaRPr lang="en-US" sz="1250" dirty="0"/>
          </a:p>
        </p:txBody>
      </p:sp>
      <p:sp>
        <p:nvSpPr>
          <p:cNvPr id="27" name="1e523955-ba32-4eba-a09d-afc060f62012"/>
          <p:cNvSpPr/>
          <p:nvPr/>
        </p:nvSpPr>
        <p:spPr>
          <a:xfrm>
            <a:off x="548640" y="490933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每一步都有驗收標準:身分對、權限對、紀錄查得到;不過關不進下一步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